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89" r:id="rId3"/>
    <p:sldId id="290"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74285E-1BF0-403E-B799-7B69E5973741}" v="1" dt="2026-09-26T04:37:27.3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4" d="100"/>
          <a:sy n="144" d="100"/>
        </p:scale>
        <p:origin x="312"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Mlynarski" userId="5c8c5ce1edfe4dd6" providerId="LiveId" clId="{EA34CD77-B017-48F4-80DC-E98A38773462}"/>
    <pc:docChg chg="addSld modSld">
      <pc:chgData name="Jacob Mlynarski" userId="5c8c5ce1edfe4dd6" providerId="LiveId" clId="{EA34CD77-B017-48F4-80DC-E98A38773462}" dt="2026-09-26T04:37:27.372" v="1"/>
      <pc:docMkLst>
        <pc:docMk/>
      </pc:docMkLst>
      <pc:sldChg chg="modSp mod">
        <pc:chgData name="Jacob Mlynarski" userId="5c8c5ce1edfe4dd6" providerId="LiveId" clId="{EA34CD77-B017-48F4-80DC-E98A38773462}" dt="2026-09-24T12:32:11.616" v="0" actId="1076"/>
        <pc:sldMkLst>
          <pc:docMk/>
          <pc:sldMk cId="3281361232" sldId="268"/>
        </pc:sldMkLst>
      </pc:sldChg>
      <pc:sldChg chg="add">
        <pc:chgData name="Jacob Mlynarski" userId="5c8c5ce1edfe4dd6" providerId="LiveId" clId="{EA34CD77-B017-48F4-80DC-E98A38773462}" dt="2026-09-26T04:37:27.372" v="1"/>
        <pc:sldMkLst>
          <pc:docMk/>
          <pc:sldMk cId="2971916663" sldId="289"/>
        </pc:sldMkLst>
      </pc:sldChg>
      <pc:sldChg chg="add">
        <pc:chgData name="Jacob Mlynarski" userId="5c8c5ce1edfe4dd6" providerId="LiveId" clId="{EA34CD77-B017-48F4-80DC-E98A38773462}" dt="2026-09-26T04:37:27.372" v="1"/>
        <pc:sldMkLst>
          <pc:docMk/>
          <pc:sldMk cId="980374444" sldId="290"/>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725" b="1">
                <a:solidFill>
                  <a:srgbClr val="111111"/>
                </a:solidFill>
                <a:latin typeface="Aptos"/>
                <a:ea typeface="Aptos"/>
                <a:cs typeface="Aptos"/>
              </a:rPr>
              <a:t>Supplier A</a:t>
            </a:r>
          </a:p>
        </c:rich>
      </c:tx>
      <c:overlay val="0"/>
    </c:title>
    <c:autoTitleDeleted val="0"/>
    <c:plotArea>
      <c:layout/>
      <c:scatterChart>
        <c:scatterStyle val="lineMarker"/>
        <c:varyColors val="1"/>
        <c:ser>
          <c:idx val="0"/>
          <c:order val="0"/>
          <c:tx>
            <c:v>Delivery</c:v>
          </c:tx>
          <c:spPr>
            <a:ln w="0">
              <a:noFill/>
            </a:ln>
          </c:spPr>
          <c:marker>
            <c:symbol val="circle"/>
            <c:size val="8"/>
            <c:spPr>
              <a:noFill/>
            </c:spPr>
          </c:marker>
          <c:xVal>
            <c:numRef>
              <c:f>'Chart Data'!$A$2:$A$31</c:f>
              <c:numCache>
                <c:formatCode>General</c:formatCode>
                <c:ptCount val="30"/>
                <c:pt idx="0">
                  <c:v>36</c:v>
                </c:pt>
                <c:pt idx="1">
                  <c:v>49</c:v>
                </c:pt>
                <c:pt idx="2">
                  <c:v>45</c:v>
                </c:pt>
                <c:pt idx="3">
                  <c:v>54</c:v>
                </c:pt>
                <c:pt idx="4">
                  <c:v>41</c:v>
                </c:pt>
                <c:pt idx="5">
                  <c:v>31</c:v>
                </c:pt>
                <c:pt idx="6">
                  <c:v>43</c:v>
                </c:pt>
                <c:pt idx="7">
                  <c:v>38</c:v>
                </c:pt>
                <c:pt idx="8">
                  <c:v>68</c:v>
                </c:pt>
                <c:pt idx="9">
                  <c:v>46</c:v>
                </c:pt>
                <c:pt idx="10">
                  <c:v>50</c:v>
                </c:pt>
                <c:pt idx="11">
                  <c:v>65</c:v>
                </c:pt>
                <c:pt idx="12">
                  <c:v>40</c:v>
                </c:pt>
                <c:pt idx="13">
                  <c:v>39</c:v>
                </c:pt>
                <c:pt idx="14">
                  <c:v>45</c:v>
                </c:pt>
                <c:pt idx="15">
                  <c:v>60</c:v>
                </c:pt>
                <c:pt idx="16">
                  <c:v>52</c:v>
                </c:pt>
                <c:pt idx="17">
                  <c:v>35</c:v>
                </c:pt>
                <c:pt idx="18">
                  <c:v>44</c:v>
                </c:pt>
                <c:pt idx="19">
                  <c:v>42</c:v>
                </c:pt>
                <c:pt idx="20">
                  <c:v>51</c:v>
                </c:pt>
                <c:pt idx="21">
                  <c:v>47</c:v>
                </c:pt>
                <c:pt idx="22">
                  <c:v>33</c:v>
                </c:pt>
                <c:pt idx="23">
                  <c:v>62</c:v>
                </c:pt>
                <c:pt idx="24">
                  <c:v>55</c:v>
                </c:pt>
                <c:pt idx="25">
                  <c:v>43</c:v>
                </c:pt>
                <c:pt idx="26">
                  <c:v>48</c:v>
                </c:pt>
                <c:pt idx="27">
                  <c:v>28</c:v>
                </c:pt>
                <c:pt idx="28">
                  <c:v>56</c:v>
                </c:pt>
                <c:pt idx="29">
                  <c:v>58</c:v>
                </c:pt>
              </c:numCache>
            </c:numRef>
          </c:xVal>
          <c:yVal>
            <c:numRef>
              <c:f>'Chart Data'!$B$2:$B$31</c:f>
              <c:numCache>
                <c:formatCode>General</c:formatCode>
                <c:ptCount val="30"/>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2</c:v>
                </c:pt>
                <c:pt idx="15">
                  <c:v>1</c:v>
                </c:pt>
                <c:pt idx="16">
                  <c:v>1</c:v>
                </c:pt>
                <c:pt idx="17">
                  <c:v>1</c:v>
                </c:pt>
                <c:pt idx="18">
                  <c:v>1</c:v>
                </c:pt>
                <c:pt idx="19">
                  <c:v>1</c:v>
                </c:pt>
                <c:pt idx="20">
                  <c:v>1</c:v>
                </c:pt>
                <c:pt idx="21">
                  <c:v>1</c:v>
                </c:pt>
                <c:pt idx="22">
                  <c:v>1</c:v>
                </c:pt>
                <c:pt idx="23">
                  <c:v>1</c:v>
                </c:pt>
                <c:pt idx="24">
                  <c:v>1</c:v>
                </c:pt>
                <c:pt idx="25">
                  <c:v>2</c:v>
                </c:pt>
                <c:pt idx="26">
                  <c:v>1</c:v>
                </c:pt>
                <c:pt idx="27">
                  <c:v>1</c:v>
                </c:pt>
                <c:pt idx="28">
                  <c:v>1</c:v>
                </c:pt>
                <c:pt idx="29">
                  <c:v>1</c:v>
                </c:pt>
              </c:numCache>
            </c:numRef>
          </c:yVal>
          <c:smooth val="1"/>
          <c:extLst>
            <c:ext xmlns:c16="http://schemas.microsoft.com/office/drawing/2014/chart" uri="{C3380CC4-5D6E-409C-BE32-E72D297353CC}">
              <c16:uniqueId val="{00000000-5226-4F6E-A0DC-A2B78BD8E650}"/>
            </c:ext>
          </c:extLst>
        </c:ser>
        <c:ser>
          <c:idx val="1"/>
          <c:order val="1"/>
          <c:tx>
            <c:v>48-hour deadline</c:v>
          </c:tx>
          <c:spPr>
            <a:ln w="16193">
              <a:solidFill>
                <a:srgbClr val="D6171D"/>
              </a:solidFill>
            </a:ln>
          </c:spPr>
          <c:marker>
            <c:symbol val="none"/>
          </c:marker>
          <c:xVal>
            <c:numRef>
              <c:f>'Chart Data'!$C$2:$C$3</c:f>
              <c:numCache>
                <c:formatCode>General</c:formatCode>
                <c:ptCount val="2"/>
                <c:pt idx="0">
                  <c:v>48</c:v>
                </c:pt>
                <c:pt idx="1">
                  <c:v>48</c:v>
                </c:pt>
              </c:numCache>
            </c:numRef>
          </c:xVal>
          <c:yVal>
            <c:numRef>
              <c:f>'Chart Data'!$D$2:$D$3</c:f>
              <c:numCache>
                <c:formatCode>General</c:formatCode>
                <c:ptCount val="2"/>
                <c:pt idx="0">
                  <c:v>0</c:v>
                </c:pt>
                <c:pt idx="1">
                  <c:v>4.7</c:v>
                </c:pt>
              </c:numCache>
            </c:numRef>
          </c:yVal>
          <c:smooth val="1"/>
          <c:extLst>
            <c:ext xmlns:c16="http://schemas.microsoft.com/office/drawing/2014/chart" uri="{C3380CC4-5D6E-409C-BE32-E72D297353CC}">
              <c16:uniqueId val="{00000001-5226-4F6E-A0DC-A2B78BD8E650}"/>
            </c:ext>
          </c:extLst>
        </c:ser>
        <c:ser>
          <c:idx val="2"/>
          <c:order val="2"/>
          <c:tx>
            <c:v>54-hour deadline</c:v>
          </c:tx>
          <c:spPr>
            <a:ln w="16193">
              <a:solidFill>
                <a:srgbClr val="455F75"/>
              </a:solidFill>
            </a:ln>
          </c:spPr>
          <c:marker>
            <c:symbol val="none"/>
          </c:marker>
          <c:xVal>
            <c:numRef>
              <c:f>'Chart Data'!$E$2:$E$3</c:f>
              <c:numCache>
                <c:formatCode>General</c:formatCode>
                <c:ptCount val="2"/>
                <c:pt idx="0">
                  <c:v>54</c:v>
                </c:pt>
                <c:pt idx="1">
                  <c:v>54</c:v>
                </c:pt>
              </c:numCache>
            </c:numRef>
          </c:xVal>
          <c:yVal>
            <c:numRef>
              <c:f>'Chart Data'!$F$2:$F$3</c:f>
              <c:numCache>
                <c:formatCode>General</c:formatCode>
                <c:ptCount val="2"/>
                <c:pt idx="0">
                  <c:v>0</c:v>
                </c:pt>
                <c:pt idx="1">
                  <c:v>4.7</c:v>
                </c:pt>
              </c:numCache>
            </c:numRef>
          </c:yVal>
          <c:smooth val="1"/>
          <c:extLst>
            <c:ext xmlns:c16="http://schemas.microsoft.com/office/drawing/2014/chart" uri="{C3380CC4-5D6E-409C-BE32-E72D297353CC}">
              <c16:uniqueId val="{00000002-5226-4F6E-A0DC-A2B78BD8E650}"/>
            </c:ext>
          </c:extLst>
        </c:ser>
        <c:dLbls>
          <c:showLegendKey val="0"/>
          <c:showVal val="0"/>
          <c:showCatName val="0"/>
          <c:showSerName val="0"/>
          <c:showPercent val="0"/>
          <c:showBubbleSize val="0"/>
        </c:dLbls>
        <c:axId val="48650112"/>
        <c:axId val="48672768"/>
      </c:scatterChart>
      <c:valAx>
        <c:axId val="48672768"/>
        <c:scaling>
          <c:orientation val="minMax"/>
          <c:max val="5"/>
          <c:min val="0"/>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50112"/>
        <c:crosses val="autoZero"/>
        <c:crossBetween val="midCat"/>
      </c:valAx>
      <c:valAx>
        <c:axId val="48650112"/>
        <c:scaling>
          <c:orientation val="minMax"/>
          <c:max val="70"/>
          <c:min val="25"/>
        </c:scaling>
        <c:delete val="0"/>
        <c:axPos val="b"/>
        <c:numFmt formatCode="General" sourceLinked="1"/>
        <c:majorTickMark val="none"/>
        <c:minorTickMark val="none"/>
        <c:tickLblPos val="nextTo"/>
        <c:spPr>
          <a:ln w="9525">
            <a:solidFill>
              <a:srgbClr val="777777"/>
            </a:solidFill>
          </a:ln>
        </c:spPr>
        <c:txPr>
          <a:bodyPr anchorCtr="1"/>
          <a:lstStyle/>
          <a:p>
            <a:pPr>
              <a:defRPr sz="1425">
                <a:solidFill>
                  <a:srgbClr val="111111"/>
                </a:solidFill>
                <a:latin typeface="Aptos"/>
                <a:ea typeface="Aptos"/>
                <a:cs typeface="Aptos"/>
              </a:defRPr>
            </a:pPr>
            <a:endParaRPr lang="en-US"/>
          </a:p>
        </c:txPr>
        <c:crossAx val="48672768"/>
        <c:crosses val="autoZero"/>
        <c:crossBetween val="midCat"/>
        <c:majorUnit val="5"/>
      </c:valAx>
      <c:spPr>
        <a:solidFill>
          <a:srgbClr val="FFFFFF"/>
        </a:solidFill>
      </c:spPr>
    </c:plotArea>
    <c:legend>
      <c:legendPos val="r"/>
      <c:overlay val="0"/>
      <c:txPr>
        <a:bodyPr anchorCtr="1"/>
        <a:lstStyle/>
        <a:p>
          <a:pPr>
            <a:defRPr sz="1350">
              <a:solidFill>
                <a:srgbClr val="111111"/>
              </a:solidFill>
              <a:latin typeface="Aptos"/>
              <a:ea typeface="Aptos"/>
              <a:cs typeface="Aptos"/>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725" b="1">
                <a:solidFill>
                  <a:srgbClr val="111111"/>
                </a:solidFill>
                <a:latin typeface="Aptos"/>
                <a:ea typeface="Aptos"/>
                <a:cs typeface="Aptos"/>
              </a:rPr>
              <a:t>Supplier B</a:t>
            </a:r>
          </a:p>
        </c:rich>
      </c:tx>
      <c:overlay val="0"/>
    </c:title>
    <c:autoTitleDeleted val="0"/>
    <c:plotArea>
      <c:layout/>
      <c:scatterChart>
        <c:scatterStyle val="lineMarker"/>
        <c:varyColors val="1"/>
        <c:ser>
          <c:idx val="0"/>
          <c:order val="0"/>
          <c:tx>
            <c:v>Delivery</c:v>
          </c:tx>
          <c:spPr>
            <a:ln w="0">
              <a:noFill/>
            </a:ln>
          </c:spPr>
          <c:marker>
            <c:symbol val="circle"/>
            <c:size val="8"/>
            <c:spPr>
              <a:noFill/>
            </c:spPr>
          </c:marker>
          <c:xVal>
            <c:numRef>
              <c:f>'Chart Data'!$A$2:$A$31</c:f>
              <c:numCache>
                <c:formatCode>General</c:formatCode>
                <c:ptCount val="30"/>
                <c:pt idx="0">
                  <c:v>51</c:v>
                </c:pt>
                <c:pt idx="1">
                  <c:v>44</c:v>
                </c:pt>
                <c:pt idx="2">
                  <c:v>49</c:v>
                </c:pt>
                <c:pt idx="3">
                  <c:v>47</c:v>
                </c:pt>
                <c:pt idx="4">
                  <c:v>48</c:v>
                </c:pt>
                <c:pt idx="5">
                  <c:v>49</c:v>
                </c:pt>
                <c:pt idx="6">
                  <c:v>51</c:v>
                </c:pt>
                <c:pt idx="7">
                  <c:v>28</c:v>
                </c:pt>
                <c:pt idx="8">
                  <c:v>68</c:v>
                </c:pt>
                <c:pt idx="9">
                  <c:v>52</c:v>
                </c:pt>
                <c:pt idx="10">
                  <c:v>56</c:v>
                </c:pt>
                <c:pt idx="11">
                  <c:v>49</c:v>
                </c:pt>
                <c:pt idx="12">
                  <c:v>46</c:v>
                </c:pt>
                <c:pt idx="13">
                  <c:v>52</c:v>
                </c:pt>
                <c:pt idx="14">
                  <c:v>50</c:v>
                </c:pt>
                <c:pt idx="15">
                  <c:v>55</c:v>
                </c:pt>
                <c:pt idx="16">
                  <c:v>47</c:v>
                </c:pt>
                <c:pt idx="17">
                  <c:v>45</c:v>
                </c:pt>
                <c:pt idx="18">
                  <c:v>50</c:v>
                </c:pt>
                <c:pt idx="19">
                  <c:v>47</c:v>
                </c:pt>
                <c:pt idx="20">
                  <c:v>53</c:v>
                </c:pt>
                <c:pt idx="21">
                  <c:v>48</c:v>
                </c:pt>
                <c:pt idx="22">
                  <c:v>48</c:v>
                </c:pt>
                <c:pt idx="23">
                  <c:v>46</c:v>
                </c:pt>
                <c:pt idx="24">
                  <c:v>54</c:v>
                </c:pt>
                <c:pt idx="25">
                  <c:v>45</c:v>
                </c:pt>
                <c:pt idx="26">
                  <c:v>50</c:v>
                </c:pt>
                <c:pt idx="27">
                  <c:v>53</c:v>
                </c:pt>
                <c:pt idx="28">
                  <c:v>44</c:v>
                </c:pt>
                <c:pt idx="29">
                  <c:v>51</c:v>
                </c:pt>
              </c:numCache>
            </c:numRef>
          </c:xVal>
          <c:yVal>
            <c:numRef>
              <c:f>'Chart Data'!$B$2:$B$31</c:f>
              <c:numCache>
                <c:formatCode>General</c:formatCode>
                <c:ptCount val="30"/>
                <c:pt idx="0">
                  <c:v>1</c:v>
                </c:pt>
                <c:pt idx="1">
                  <c:v>1</c:v>
                </c:pt>
                <c:pt idx="2">
                  <c:v>1</c:v>
                </c:pt>
                <c:pt idx="3">
                  <c:v>1</c:v>
                </c:pt>
                <c:pt idx="4">
                  <c:v>1</c:v>
                </c:pt>
                <c:pt idx="5">
                  <c:v>2</c:v>
                </c:pt>
                <c:pt idx="6">
                  <c:v>2</c:v>
                </c:pt>
                <c:pt idx="7">
                  <c:v>1</c:v>
                </c:pt>
                <c:pt idx="8">
                  <c:v>1</c:v>
                </c:pt>
                <c:pt idx="9">
                  <c:v>1</c:v>
                </c:pt>
                <c:pt idx="10">
                  <c:v>1</c:v>
                </c:pt>
                <c:pt idx="11">
                  <c:v>3</c:v>
                </c:pt>
                <c:pt idx="12">
                  <c:v>1</c:v>
                </c:pt>
                <c:pt idx="13">
                  <c:v>2</c:v>
                </c:pt>
                <c:pt idx="14">
                  <c:v>1</c:v>
                </c:pt>
                <c:pt idx="15">
                  <c:v>1</c:v>
                </c:pt>
                <c:pt idx="16">
                  <c:v>2</c:v>
                </c:pt>
                <c:pt idx="17">
                  <c:v>1</c:v>
                </c:pt>
                <c:pt idx="18">
                  <c:v>2</c:v>
                </c:pt>
                <c:pt idx="19">
                  <c:v>3</c:v>
                </c:pt>
                <c:pt idx="20">
                  <c:v>1</c:v>
                </c:pt>
                <c:pt idx="21">
                  <c:v>2</c:v>
                </c:pt>
                <c:pt idx="22">
                  <c:v>3</c:v>
                </c:pt>
                <c:pt idx="23">
                  <c:v>2</c:v>
                </c:pt>
                <c:pt idx="24">
                  <c:v>1</c:v>
                </c:pt>
                <c:pt idx="25">
                  <c:v>2</c:v>
                </c:pt>
                <c:pt idx="26">
                  <c:v>3</c:v>
                </c:pt>
                <c:pt idx="27">
                  <c:v>2</c:v>
                </c:pt>
                <c:pt idx="28">
                  <c:v>2</c:v>
                </c:pt>
                <c:pt idx="29">
                  <c:v>3</c:v>
                </c:pt>
              </c:numCache>
            </c:numRef>
          </c:yVal>
          <c:smooth val="1"/>
          <c:extLst>
            <c:ext xmlns:c16="http://schemas.microsoft.com/office/drawing/2014/chart" uri="{C3380CC4-5D6E-409C-BE32-E72D297353CC}">
              <c16:uniqueId val="{00000000-63A8-45AE-BBCB-430184F66118}"/>
            </c:ext>
          </c:extLst>
        </c:ser>
        <c:ser>
          <c:idx val="1"/>
          <c:order val="1"/>
          <c:tx>
            <c:v>48-hour deadline</c:v>
          </c:tx>
          <c:spPr>
            <a:ln w="16193">
              <a:solidFill>
                <a:srgbClr val="D6171D"/>
              </a:solidFill>
            </a:ln>
          </c:spPr>
          <c:marker>
            <c:symbol val="none"/>
          </c:marker>
          <c:xVal>
            <c:numRef>
              <c:f>'Chart Data'!$C$2:$C$3</c:f>
              <c:numCache>
                <c:formatCode>General</c:formatCode>
                <c:ptCount val="2"/>
                <c:pt idx="0">
                  <c:v>48</c:v>
                </c:pt>
                <c:pt idx="1">
                  <c:v>48</c:v>
                </c:pt>
              </c:numCache>
            </c:numRef>
          </c:xVal>
          <c:yVal>
            <c:numRef>
              <c:f>'Chart Data'!$D$2:$D$3</c:f>
              <c:numCache>
                <c:formatCode>General</c:formatCode>
                <c:ptCount val="2"/>
                <c:pt idx="0">
                  <c:v>0</c:v>
                </c:pt>
                <c:pt idx="1">
                  <c:v>4.7</c:v>
                </c:pt>
              </c:numCache>
            </c:numRef>
          </c:yVal>
          <c:smooth val="1"/>
          <c:extLst>
            <c:ext xmlns:c16="http://schemas.microsoft.com/office/drawing/2014/chart" uri="{C3380CC4-5D6E-409C-BE32-E72D297353CC}">
              <c16:uniqueId val="{00000001-63A8-45AE-BBCB-430184F66118}"/>
            </c:ext>
          </c:extLst>
        </c:ser>
        <c:ser>
          <c:idx val="2"/>
          <c:order val="2"/>
          <c:tx>
            <c:v>54-hour deadline</c:v>
          </c:tx>
          <c:spPr>
            <a:ln w="16193">
              <a:solidFill>
                <a:srgbClr val="455F75"/>
              </a:solidFill>
            </a:ln>
          </c:spPr>
          <c:marker>
            <c:symbol val="none"/>
          </c:marker>
          <c:xVal>
            <c:numRef>
              <c:f>'Chart Data'!$E$2:$E$3</c:f>
              <c:numCache>
                <c:formatCode>General</c:formatCode>
                <c:ptCount val="2"/>
                <c:pt idx="0">
                  <c:v>54</c:v>
                </c:pt>
                <c:pt idx="1">
                  <c:v>54</c:v>
                </c:pt>
              </c:numCache>
            </c:numRef>
          </c:xVal>
          <c:yVal>
            <c:numRef>
              <c:f>'Chart Data'!$F$2:$F$3</c:f>
              <c:numCache>
                <c:formatCode>General</c:formatCode>
                <c:ptCount val="2"/>
                <c:pt idx="0">
                  <c:v>0</c:v>
                </c:pt>
                <c:pt idx="1">
                  <c:v>4.7</c:v>
                </c:pt>
              </c:numCache>
            </c:numRef>
          </c:yVal>
          <c:smooth val="1"/>
          <c:extLst>
            <c:ext xmlns:c16="http://schemas.microsoft.com/office/drawing/2014/chart" uri="{C3380CC4-5D6E-409C-BE32-E72D297353CC}">
              <c16:uniqueId val="{00000002-63A8-45AE-BBCB-430184F66118}"/>
            </c:ext>
          </c:extLst>
        </c:ser>
        <c:dLbls>
          <c:showLegendKey val="0"/>
          <c:showVal val="0"/>
          <c:showCatName val="0"/>
          <c:showSerName val="0"/>
          <c:showPercent val="0"/>
          <c:showBubbleSize val="0"/>
        </c:dLbls>
        <c:axId val="48650112"/>
        <c:axId val="48672768"/>
      </c:scatterChart>
      <c:valAx>
        <c:axId val="48672768"/>
        <c:scaling>
          <c:orientation val="minMax"/>
          <c:max val="5"/>
          <c:min val="0"/>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50112"/>
        <c:crosses val="autoZero"/>
        <c:crossBetween val="midCat"/>
      </c:valAx>
      <c:valAx>
        <c:axId val="48650112"/>
        <c:scaling>
          <c:orientation val="minMax"/>
          <c:max val="70"/>
          <c:min val="25"/>
        </c:scaling>
        <c:delete val="0"/>
        <c:axPos val="b"/>
        <c:title>
          <c:tx>
            <c:rich>
              <a:bodyPr/>
              <a:lstStyle/>
              <a:p>
                <a:r>
                  <a:rPr sz="1350">
                    <a:solidFill>
                      <a:srgbClr val="111111"/>
                    </a:solidFill>
                    <a:latin typeface="Aptos"/>
                    <a:ea typeface="Aptos"/>
                    <a:cs typeface="Aptos"/>
                  </a:rPr>
                  <a:t>Recorded delivery time (hours)</a:t>
                </a:r>
              </a:p>
            </c:rich>
          </c:tx>
          <c:overlay val="0"/>
        </c:title>
        <c:numFmt formatCode="General" sourceLinked="1"/>
        <c:majorTickMark val="none"/>
        <c:minorTickMark val="none"/>
        <c:tickLblPos val="nextTo"/>
        <c:spPr>
          <a:ln w="9525">
            <a:solidFill>
              <a:srgbClr val="777777"/>
            </a:solidFill>
          </a:ln>
        </c:spPr>
        <c:txPr>
          <a:bodyPr anchorCtr="1"/>
          <a:lstStyle/>
          <a:p>
            <a:pPr>
              <a:defRPr sz="1425">
                <a:solidFill>
                  <a:srgbClr val="111111"/>
                </a:solidFill>
                <a:latin typeface="Aptos"/>
                <a:ea typeface="Aptos"/>
                <a:cs typeface="Aptos"/>
              </a:defRPr>
            </a:pPr>
            <a:endParaRPr lang="en-US"/>
          </a:p>
        </c:txPr>
        <c:crossAx val="48672768"/>
        <c:crosses val="autoZero"/>
        <c:crossBetween val="midCat"/>
        <c:majorUnit val="5"/>
      </c:valAx>
      <c:spPr>
        <a:solidFill>
          <a:srgbClr val="FFFFFF"/>
        </a:solidFill>
      </c:spPr>
    </c:plotArea>
    <c:legend>
      <c:legendPos val="r"/>
      <c:overlay val="0"/>
      <c:txPr>
        <a:bodyPr anchorCtr="1"/>
        <a:lstStyle/>
        <a:p>
          <a:pPr>
            <a:defRPr sz="1350">
              <a:solidFill>
                <a:srgbClr val="111111"/>
              </a:solidFill>
              <a:latin typeface="Aptos"/>
              <a:ea typeface="Aptos"/>
              <a:cs typeface="Aptos"/>
            </a:defRPr>
          </a:pPr>
          <a:endParaRPr lang="en-US"/>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IFY Statistics Week 3 • Class C Paper supplier workshop</a:t>
            </a:r>
          </a:p>
          <a:p>
            <a:r>
              <a:t>Timing block: 0–4 min</a:t>
            </a:r>
          </a:p>
          <a:p>
            <a:endParaRPr/>
          </a:p>
          <a:p>
            <a:r>
              <a:t>60-minute workshop before FA1: 32 core slides and one optional challenge. Give students the printed data sheet, a calculator, and working paper or the activity handout. Every student works on BOTH suppliers, with 30 observations per supplier. Timing: opening 0–4; C1 4–9; C2 9–18; C3 18–40; C4 40–43; C5 43–48; C6 48–57; C7 57–60 minutes. Protect the final 17 minutes for the written decisions, discussion and exit response. Use the calculation checkpoints to keep moving. The dataset is simulated. Do not reveal the urgent-order deadlines during the opening case.</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around 5 minutes for individual revision, followed by a short answer check. Students may use calculators. These eight trial orders are a sample used to understand the supplier's wider delivery performance. The mean, squared-deviation total and quartiles are supplied so students do not repeat a full SD table. Ask for working and units. Use the unrounded SD for CV. Insert these slides after the Class C title, before the print-shop case. If used within the 60-minute session, shorten the opening recap and use the existing calculation checkpoints to protect the final decision-writing block.</a:t>
            </a:r>
          </a:p>
          <a:p>
            <a:endParaRPr/>
          </a:p>
          <a:p>
            <a:r>
              <a:t>Source: Original simulated revision data. Template: user-approved Week 3 Class C supplier workshop. Quartiles use (n+1)p interpolation.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Sample, because the purpose is to estimate wider performance. The sample mean is x-bar and sample SD is s. Population symbols are mu and sigma.</a:t>
            </a:r>
          </a:p>
          <a:p>
            <a:r>
              <a:t>2. Median = (46 + 49)/2 = 47.5 hours. Range = 57 - 40 = 17 hours. The median is generally less sensitive to an extreme delay, but it can still change.</a:t>
            </a:r>
          </a:p>
          <a:p>
            <a:r>
              <a:t>3. IQR = 53.25 - 43.25 = 10 hours, the width of the middle 50%.</a:t>
            </a:r>
          </a:p>
          <a:p>
            <a:r>
              <a:t>4. Deviation = 57 - 48 = +9 hours, meaning this delivery is 9 hours above the mean. One deviation is a signed difference; SD combines information about spread across all observations.</a:t>
            </a:r>
          </a:p>
          <a:p>
            <a:r>
              <a:t>5. Sample variance = 236/7 = 33.714285714 hours squared. Sample SD = sqrt(236/7) = 5.806400409 hours. Report 33.71 hours squared and 5.81 hours. Use n - 1 = 7 when estimating population variance from the sample. This adjustment accounts for estimating the population mean from the same data.</a:t>
            </a:r>
          </a:p>
          <a:p>
            <a:r>
              <a:t>6. CV = 5.806400409/48 × 100% = 12.09666752%, rounded to 12.10%. A smaller CV means less variation relative to the mean. It is not the percentage of late orders and does not automatically identify the best supplier for every deadline.</a:t>
            </a:r>
          </a:p>
          <a:p>
            <a:endParaRPr/>
          </a:p>
          <a:p>
            <a:r>
              <a:t>Source: Original simulated revision data. Template: user-approved Week 3 Class C supplier workshop. Quartiles use (n+1)p interpolation.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The print shop’s problem</a:t>
            </a:r>
          </a:p>
          <a:p>
            <a:r>
              <a:t>Timing block: 0–4 min</a:t>
            </a:r>
          </a:p>
          <a:p>
            <a:endParaRPr/>
          </a:p>
          <a:p>
            <a:r>
              <a:t>Opening, minutes 0–4. Establish the routine-order problem: both suppliers offer the same paper quality, order quantity and total price, including delivery. Running out of paper can interrupt printing and delay customers. Routine orders can be placed a few hours earlier. Ask what the manager would value, but do not reveal either urgent deadline yet.</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What the data represent</a:t>
            </a:r>
          </a:p>
          <a:p>
            <a:r>
              <a:t>Timing block: 0–4 min</a:t>
            </a:r>
          </a:p>
          <a:p>
            <a:endParaRPr/>
          </a:p>
          <a:p>
            <a:r>
              <a:t>Opening, minutes 0–4. Each observation is the elapsed time from order confirmation to arrival, including nights and weekends, rounded to the nearest hour. Read the first row aloud: A took 36 hours; B took 51 hours. Trial numbers label separate orders within each supplier's records; they are not shared dates or matched pairs. Analyse each supplier separately: n = 30 for A and n = 30 for B, not one pooled sample of 60. Every student uses both columns.</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Section 1: Typical delivery times</a:t>
            </a:r>
          </a:p>
          <a:p>
            <a:r>
              <a:t>Timing block: 4–18 min</a:t>
            </a:r>
          </a:p>
          <a:p>
            <a:endParaRPr/>
          </a:p>
          <a:p>
            <a:r>
              <a:t>Brief transition within minutes 4–18. The first question is typical delivery time. Signal the section and move directly to C1; this is not a separate lecture.</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C1: average delivery time</a:t>
            </a:r>
          </a:p>
          <a:p>
            <a:r>
              <a:t>Timing block: 4–9 min</a:t>
            </a:r>
          </a:p>
          <a:p>
            <a:endParaRPr/>
          </a:p>
          <a:p>
            <a:r>
              <a:t>C1, minutes 4–9. Allow about four minutes for students to total all 30 times for each supplier, calculate both means, and check with a partner. Every student calculates both suppliers. Read the symbols: x-bar is the sample mean; x sub i is one delivery time; capital sigma means add; n is the number of observations. Divide each total by 30. Ask students to record their totals and means in hours before revealing the checkpoint.</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C1: mean checkpoint</a:t>
            </a:r>
          </a:p>
          <a:p>
            <a:r>
              <a:t>Timing block: 4–9 min</a:t>
            </a:r>
          </a:p>
          <a:p>
            <a:endParaRPr/>
          </a:p>
          <a:p>
            <a:r>
              <a:t>C1 checkpoint; finish by minute 9. Supplier A: total 1,404 hours, mean 46.8 hours. Supplier B: total 1,476 hours, mean 49.2 hours. A is 2.4 hours faster on average in these records. This says nothing yet about consistency or whether an individual delivery will meet a deadline. If a total differs, check data entry and the count of 30 observations.</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C2: median and range</a:t>
            </a:r>
          </a:p>
          <a:p>
            <a:r>
              <a:t>Timing block: 9–18 min</a:t>
            </a:r>
          </a:p>
          <a:p>
            <a:endParaRPr/>
          </a:p>
          <a:p>
            <a:r>
              <a:t>C2, minutes 9–18. Use about the first three minutes to order both 30-value lists and find each median and range. Every student works on both lists. With 30 values, average the 15th and 16th ordered observations. The range uses only the minimum and maximum. Reveal the ordered-data checkpoint before interpolation so sorting errors do not propagate.</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C2: ordered-data checkpoint</a:t>
            </a:r>
          </a:p>
          <a:p>
            <a:r>
              <a:t>Timing block: 9–18 min</a:t>
            </a:r>
          </a:p>
          <a:p>
            <a:endParaRPr/>
          </a:p>
          <a:p>
            <a:r>
              <a:t>C2 ordered-data checkpoint. Median neighbours: A has 45 and 46 at positions 15 and 16; B has 49 and 49. Under the Class A convention, Q1 is at position 7.75 and Q3 at position 23.25. Q1 neighbours: A 39 and 40; B 46 and 47. Q3 neighbours: A 54 and 55; B 52 and 52. The highlighted cells identify these positions. Stress that a position is not a delivery time. Keep the same (n + 1)p convention throughout.</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C2: the middle 50%</a:t>
            </a:r>
          </a:p>
          <a:p>
            <a:r>
              <a:t>Timing block: 9–18 min</a:t>
            </a:r>
          </a:p>
          <a:p>
            <a:endParaRPr/>
          </a:p>
          <a:p>
            <a:r>
              <a:t>C2: allow about four minutes for quartiles and IQR. Q1 and Q3 bracket the middle half of the ordered data. Position 7.75 lies 75% of the way from the 7th to the 8th observation; position 23.25 lies 25% of the way from the 23rd to the 24th. Model A's Q1: 39 + 0.75(40 − 39) = 39.75 hours. Students calculate the remaining quartiles and both IQRs. B's Q3 is 52 + 0.25(52 − 52) = 52 hours. The fraction applies to the gap between neighbouring values, not to one observed value.</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C2: comparing the results</a:t>
            </a:r>
          </a:p>
          <a:p>
            <a:r>
              <a:t>Timing block: 9–18 min</a:t>
            </a:r>
          </a:p>
          <a:p>
            <a:endParaRPr/>
          </a:p>
          <a:p>
            <a:r>
              <a:t>C2 checkpoint; move on by minute 18. A: median 45.5 h, range 40 h, Q1 39.75 h, Q3 54.25 h, IQR 14.5 h. B: median 49 h, range 40 h, Q1 46.75 h, Q3 52 h, IQR 5.25 h. Both have minimum 28 h and maximum 68 h. The equal ranges hide the much narrower central spread for B. With finite samples and interpolation, avoid claiming that exactly half the observations must lie strictly between the quartiles.</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Section 2: Measuring variation</a:t>
            </a:r>
          </a:p>
          <a:p>
            <a:r>
              <a:t>Timing block: 18–43 min</a:t>
            </a:r>
          </a:p>
          <a:p>
            <a:endParaRPr/>
          </a:p>
          <a:p>
            <a:r>
              <a:t>Brief transition within minutes 18–43. Move from the middle-half spread to variation around each supplier's own mean. This retrieves Class B methods; do not add new theory.</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Deviation and standard deviation</a:t>
            </a:r>
          </a:p>
          <a:p>
            <a:r>
              <a:t>Timing block: 18–40 min</a:t>
            </a:r>
          </a:p>
          <a:p>
            <a:endParaRPr/>
          </a:p>
          <a:p>
            <a:r>
              <a:t>C3, minutes 18–40. Briefly retrieve the distinction: one deviation is one observed time minus its supplier's mean; SD combines the squared deviations into a single measure of spread. Negative deviations are below the mean; positive deviations are above it. Both deviation and SD use hours, but SD cannot be negative. A smaller SD does not guarantee a particular delivery time or deadline result.</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C3: one row, fully explained</a:t>
            </a:r>
          </a:p>
          <a:p>
            <a:r>
              <a:t>Timing block: 18–40 min</a:t>
            </a:r>
          </a:p>
          <a:p>
            <a:endParaRPr/>
          </a:p>
          <a:p>
            <a:r>
              <a:t>C3 worked and guided rows. Model A's first row: 36 − 46.8 = −10.8 h, then (−10.8)² = 116.64 h². The observation is 10.8 hours below A's mean. Students then try B's first row: 51 − 49.2 = +1.8 h, and 1.8² = 3.24 h². Elicit and confirm B's answers aloud before independent work. Subtract the mean first, then square the deviation; do not square the original delivery time.</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C3: your calculation tables</a:t>
            </a:r>
          </a:p>
          <a:p>
            <a:r>
              <a:t>Timing block: 18–40 min</a:t>
            </a:r>
          </a:p>
          <a:p>
            <a:endParaRPr/>
          </a:p>
          <a:p>
            <a:r>
              <a:t>C3 independent practice: hold this slide for about 15–16 minutes. Every student works through both 30-row tables, using A's mean of 46.8 h and B's mean of 49.2 h. Preprinted delivery times reduce copying. Check with a partner after each ten rows, while retaining individual work on both suppliers. Use parentheses when squaring negative deviations. Sum the squared-deviation column. HARD CHECKPOINT: reveal the squared-deviation totals by minute 36 and proceed, even if some students need to use the supplied totals. Do not let unfinished arithmetic consume the final decision work.</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C3: squared-deviation checkpoint</a:t>
            </a:r>
          </a:p>
          <a:p>
            <a:r>
              <a:t>Timing block: 18–40 min</a:t>
            </a:r>
          </a:p>
          <a:p>
            <a:endParaRPr/>
          </a:p>
          <a:p>
            <a:r>
              <a:t>C3 hard checkpoint, at about minute 36. A's sum of squared deviations is 2,910.8 h²; B's is 1,090.8 h². These are totals before division, not variances. The first-row squared deviations, 116.64 and 3.24, are each one of 30 terms. Give these totals to any students who need them so everyone can continue. As an optional arithmetic check, the signed deviations sum to zero because the means 46.8 and 49.2 are exact.</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16. C3: sample variance and SD</a:t>
            </a:r>
          </a:p>
          <a:p>
            <a:r>
              <a:t>Timing block: 18–40 min</a:t>
            </a:r>
          </a:p>
          <a:p>
            <a:endParaRPr/>
          </a:p>
          <a:p>
            <a:r>
              <a:t>C3: treat each set of 30 trial orders as a sample used to estimate wider delivery performance. Therefore use sample variance, dividing each squared-deviation total by n − 1 = 29. The adjustment accounts for estimating the mean from the same data. The mean itself still divides by 30. Sample variance s² has units h²; sample SD s is its square root and has units hours. Students calculate both suppliers and retain full calculator precision.</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17. C3: variance and SD checkpoint</a:t>
            </a:r>
          </a:p>
          <a:p>
            <a:r>
              <a:t>Timing block: 18–40 min</a:t>
            </a:r>
          </a:p>
          <a:p>
            <a:endParaRPr/>
          </a:p>
          <a:p>
            <a:r>
              <a:t>C3 checkpoint; finish by minute 40. A: variance 2,910.8/29 = 100.3724138 h² and SD 10.018603385 h, displayed as 100.37 h² and 10.02 h. B: variance 1,090.8/29 = 37.6137931 h² and SD 6.133008487 h, displayed as 37.61 h² and 6.13 h. Explain the change from squared hours back to hours. Students must store the unrounded SDs for CV. Do not interpret an SD as a guaranteed delivery interval.</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18. C4: coefficient of variation (CV)</a:t>
            </a:r>
          </a:p>
          <a:p>
            <a:r>
              <a:t>Timing block: 40–43 min</a:t>
            </a:r>
          </a:p>
          <a:p>
            <a:endParaRPr/>
          </a:p>
          <a:p>
            <a:r>
              <a:t>C4, minutes 40–43. CV expresses SD as a percentage of the mean, so it describes relative variation. Students calculate both suppliers using the stored, unrounded SDs. A: 10.018603385/46.8 × 100 = 21.40727%, rounded to 21.41%. B: 6.133008487/49.2 × 100 = 12.46546%, rounded to 12.47%. Using B's rounded SD of 6.13 would produce 12.46%, so retain precision until the final answer. CV is not the percentage of late deliveries.</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19. C4: the evidence together</a:t>
            </a:r>
          </a:p>
          <a:p>
            <a:r>
              <a:t>Timing block: 40–43 min</a:t>
            </a:r>
          </a:p>
          <a:p>
            <a:endParaRPr/>
          </a:p>
          <a:p>
            <a:r>
              <a:t>C4 checkpoint; transition to decisions by minute 43. A has the lower mean, while B has the smaller IQR, SD and CV. The CVs are 21.41% and 12.47%. Both suppliers recorded a longest delivery of 68 hours. Do not announce a universal winner: the recommendation depends on the shop's purpose and priorities. Let students select and explain evidence in C5.</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20. Section 3: Routine orders</a:t>
            </a:r>
          </a:p>
          <a:p>
            <a:r>
              <a:t>Timing block: 43–48 min</a:t>
            </a:r>
          </a:p>
          <a:p>
            <a:endParaRPr/>
          </a:p>
          <a:p>
            <a:r>
              <a:t>Brief transition into C5, minutes 43–48. Students now turn the calculations into a routine-order recommendation. Protect this writing and interpretation time; do not reopen unfinished calculation tables.</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21. C5: your recommendation</a:t>
            </a:r>
          </a:p>
          <a:p>
            <a:r>
              <a:t>Timing block: 43–48 min</a:t>
            </a:r>
          </a:p>
          <a:p>
            <a:endParaRPr/>
          </a:p>
          <a:p>
            <a:r>
              <a:t>C5, minutes 43–48. Allow about three minutes of writing with the next slide visible, followed by about one minute of feedback and the model. Every student recommends a supplier, compares the means and SD or IQR with units, explains the business implications, and acknowledges a trade-off. Either supplier can earn credit with coherent reasoning. Require complete sentences, not an unexplained list of statistics. Do not reveal the urgent-order twist yet.</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22. C5: recommendation scaffold</a:t>
            </a:r>
          </a:p>
          <a:p>
            <a:r>
              <a:t>Timing block: 43–48 min</a:t>
            </a:r>
          </a:p>
          <a:p>
            <a:endParaRPr/>
          </a:p>
          <a:p>
            <a:r>
              <a:t>Keep this neutral scaffold visible while students write a short paragraph of three or four sentences. Students choose the supplier themselves and compare both suppliers' evidence. Require hours for the means and SD or IQR. Prompt them to explain how the evidence affects ordering, planning or interrupted printing. The final part should acknowledge the other supplier's advantage and a remaining delivery risk. Do not supply the model's choice before students commit to their own reasoning.</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23. C5: a supported recommendation</a:t>
            </a:r>
          </a:p>
          <a:p>
            <a:r>
              <a:t>Timing block: 43–48 min</a:t>
            </a:r>
          </a:p>
          <a:p>
            <a:endParaRPr/>
          </a:p>
          <a:p>
            <a:r>
              <a:t>C5 model response; show after the writing. B is defensible for routine orders because its smaller spread may help planning and the shop can order earlier to allow for its longer average. Ordering earlier compensates for the longer average, not every possible delay: B still recorded 68 hours. A remains defensible if a student prioritises average speed and acknowledges the greater variability. Discuss a practical delay plan without calculating inventory requirements from SD alone. Move to the urgent case at minute 48.</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24. Section 4: An urgent order</a:t>
            </a:r>
          </a:p>
          <a:p>
            <a:r>
              <a:t>Timing block: 48–57 min</a:t>
            </a:r>
          </a:p>
          <a:p>
            <a:endParaRPr/>
          </a:p>
          <a:p>
            <a:r>
              <a:t>Brief transition into C6, minutes 48–57. Reveal that a new urgent order has a fixed deadline. Keep the later 54-hour change unrevealed until students have completed and checked their 48-hour decision.</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25. C6a: the 48-hour deadline</a:t>
            </a:r>
          </a:p>
          <a:p>
            <a:r>
              <a:t>Timing block: 48–57 min</a:t>
            </a:r>
          </a:p>
          <a:p>
            <a:endParaRPr/>
          </a:p>
          <a:p>
            <a:r>
              <a:t>C6a: the shop must order now and needs delivery within 48 hours. Within means a recorded time of 48 hours or less, including observations equal to 48. Students count both suppliers' qualifying deliveries and calculate the observed percentages. Do not reveal the answers until after the next writing scaffold. Teacher answers: A 18 of 30; B 13 of 30. These sample proportions are evidence, not guaranteed probabilities for the next order.</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26. C6a: response scaffold</a:t>
            </a:r>
          </a:p>
          <a:p>
            <a:r>
              <a:t>Timing block: 48–57 min</a:t>
            </a:r>
          </a:p>
          <a:p>
            <a:endParaRPr/>
          </a:p>
          <a:p>
            <a:r>
              <a:t>Keep this neutral C6a frame visible for a brief written response. Students state a choice, compare both suppliers' counts and percentages, identify a risk, and propose a practical action. Neither the choice nor the counts should be supplied on the frame. Possible actions include obtaining confirmed expedited delivery, arranging a backup supplier, or finding available paper elsewhere. The reasoning must address the 48-hour deadline; ordering this urgent order earlier is no longer possible.</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27. C6a: deadline results</a:t>
            </a:r>
          </a:p>
          <a:p>
            <a:r>
              <a:t>Timing block: 48–57 min</a:t>
            </a:r>
          </a:p>
          <a:p>
            <a:endParaRPr/>
          </a:p>
          <a:p>
            <a:r>
              <a:t>C6a checkpoint. A: 18/30 = 60% within 48 hours, with 12 late. B: 13/30 = 43.33% within 48 hours, with 17 late. A has the stronger observed result at this deadline, but neither record provides strong assurance for a critical job. A qualified preference for A should include a backup or confirmed urgent service. Keep feedback brief so students still have time to reason about the next deadline.</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28. C6b: six more hours</a:t>
            </a:r>
          </a:p>
          <a:p>
            <a:r>
              <a:t>Timing block: 48–57 min</a:t>
            </a:r>
          </a:p>
          <a:p>
            <a:endParaRPr/>
          </a:p>
          <a:p>
            <a:r>
              <a:t>Now reveal C6b: the job starts six hours later, while the order time stays unchanged. The shop therefore has 54 hours. Students recount recorded times of 54 hours or less and reconsider their recommendation. Do not announce that the observed ranking changes. The newly included deliveries lie above 48 and at or below 54 hours: five for A and fourteen for B. Teacher totals are A 23 and B 27; reveal them only after the writing.</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29. C6b: revised-decision scaffold</a:t>
            </a:r>
          </a:p>
          <a:p>
            <a:r>
              <a:t>Timing block: 48–57 min</a:t>
            </a:r>
          </a:p>
          <a:p>
            <a:endParaRPr/>
          </a:p>
          <a:p>
            <a:r>
              <a:t>Keep this neutral C6b frame visible while students write a brief revised decision. Ask whether their recommendation changes or stays the same, using both suppliers' percentages. Their explanation should connect the extra six hours to the additional deliveries now counted as on time. Require reasoning, not only the name of a new supplier. Show the results after students have committed to an answer.</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30. C6b: the comparison changes</a:t>
            </a:r>
          </a:p>
          <a:p>
            <a:r>
              <a:t>Timing block: 48–57 min</a:t>
            </a:r>
          </a:p>
          <a:p>
            <a:endParaRPr/>
          </a:p>
          <a:p>
            <a:r>
              <a:t>C6b checkpoint. At 54 hours, A has 23/30 = 76.67% on time; B has 27/30 = 90%. The six extra hours include five additional A deliveries and fourteen additional B deliveries. B now has the stronger observed deadline result, although three of its deliveries still missed 54 hours. A suitable response explains both the comparison and why it changed. For a critical job, confirmation and a backup remain sensible.</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31. Why the deadline results changed</a:t>
            </a:r>
          </a:p>
          <a:p>
            <a:r>
              <a:t>Timing block: 48–57 min</a:t>
            </a:r>
          </a:p>
          <a:p>
            <a:endParaRPr/>
          </a:p>
          <a:p>
            <a:r>
              <a:t>C6 visual explanation; finish by minute 57. Each dot is one delivery and repeated values stack vertically. The two plots share the same horizontal scale, 25–70 hours. Use the 48- and 54-hour lines to show how many additional B deliveries fall inside the later deadline. B is concentrated around somewhat later times; its genuine short and long observations remain included. SD measures spread around each supplier's own mean. A deadline asks how many observations fall below an external cutoff, so smaller SD need not imply a better result at every deadline.</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32. C7: exit question</a:t>
            </a:r>
          </a:p>
          <a:p>
            <a:r>
              <a:t>Timing block: 57–60 min</a:t>
            </a:r>
          </a:p>
          <a:p>
            <a:endParaRPr/>
          </a:p>
          <a:p>
            <a:r>
              <a:t>C7, minutes 57–60: individual exit response before FA1. The manager's claim is too absolute. A good answer explains that smaller SD means less spread around the mean, but the mean and required deadline also matter. One valid numerical comparison is sufficient: B's SD is 6.13 h versus A's 10.02 h, yet A met 48 hours in 60% of trials versus B's 43.33%. At 54 hours, B achieved 90% versus A's 76.67%. Collect the explanation to check whether students distinguish consistency from deadline performance.</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33. An inconvenient result</a:t>
            </a:r>
          </a:p>
          <a:p>
            <a:r>
              <a:t>Timing block: Outside core60 min</a:t>
            </a:r>
          </a:p>
          <a:p>
            <a:endParaRPr/>
          </a:p>
          <a:p>
            <a:r>
              <a:t>Optional early-finisher or later discussion; outside the required 60 minutes. The 68-hour B delivery happened and was recorded correctly, so it should not be deleted merely to improve the statistics. Investigate its cause and whether the records represent the conditions expected in future. A justified separate analysis may compare results with and without an unusual circumstance transparently; silently discarding an inconvenient delay is not acceptable. Do not let this optional discussion delay FA1.</a:t>
            </a:r>
          </a:p>
          <a:p>
            <a:endParaRPr/>
          </a:p>
          <a:p>
            <a:r>
              <a:t>Source: User-approved simulated supplier data in IFY_Statistics_Week_3_Class_C_Data.xlsx, worksheet Supplier data, C9:D38. Visual template: IFY_Statistics_Week_3_Class_B_Revised_Final.pptx. Quartiles use the (n+1)p interpolation convention from Class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der 3">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4">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5">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1384914"/>
            <a:ext cx="5012602"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ext and image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ext and image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ext and logo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112934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11293444" cy="4330731"/>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1B27F821-23A1-E30C-4CF7-BCB0A54C884C}"/>
              </a:ext>
            </a:extLst>
          </p:cNvPr>
          <p:cNvSpPr>
            <a:spLocks noGrp="1"/>
          </p:cNvSpPr>
          <p:nvPr>
            <p:ph idx="2"/>
          </p:nvPr>
        </p:nvSpPr>
        <p:spPr>
          <a:xfrm>
            <a:off x="6172200" y="1979534"/>
            <a:ext cx="555203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3" y="1979534"/>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Content Placeholder 2">
            <a:extLst>
              <a:ext uri="{FF2B5EF4-FFF2-40B4-BE49-F238E27FC236}">
                <a16:creationId xmlns:a16="http://schemas.microsoft.com/office/drawing/2014/main" id="{39B8B3E1-3E22-853B-33F7-08DB9B6F05C9}"/>
              </a:ext>
            </a:extLst>
          </p:cNvPr>
          <p:cNvSpPr>
            <a:spLocks noGrp="1"/>
          </p:cNvSpPr>
          <p:nvPr>
            <p:ph idx="10"/>
          </p:nvPr>
        </p:nvSpPr>
        <p:spPr>
          <a:xfrm>
            <a:off x="4293873" y="1989591"/>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Content Placeholder 2">
            <a:extLst>
              <a:ext uri="{FF2B5EF4-FFF2-40B4-BE49-F238E27FC236}">
                <a16:creationId xmlns:a16="http://schemas.microsoft.com/office/drawing/2014/main" id="{03F7CAF5-096C-F6FE-105D-033F35B064E8}"/>
              </a:ext>
            </a:extLst>
          </p:cNvPr>
          <p:cNvSpPr>
            <a:spLocks noGrp="1"/>
          </p:cNvSpPr>
          <p:nvPr>
            <p:ph idx="11"/>
          </p:nvPr>
        </p:nvSpPr>
        <p:spPr>
          <a:xfrm>
            <a:off x="8119985" y="1979534"/>
            <a:ext cx="3604253"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ext and stat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8150498"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815049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ext and testimonia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4119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41194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Column with 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Picture Placeholder 4">
            <a:extLst>
              <a:ext uri="{FF2B5EF4-FFF2-40B4-BE49-F238E27FC236}">
                <a16:creationId xmlns:a16="http://schemas.microsoft.com/office/drawing/2014/main" id="{1D4466F3-6EF4-7C6C-700F-D82BD03B0915}"/>
              </a:ext>
            </a:extLst>
          </p:cNvPr>
          <p:cNvSpPr>
            <a:spLocks noGrp="1"/>
          </p:cNvSpPr>
          <p:nvPr>
            <p:ph type="pic" idx="10"/>
          </p:nvPr>
        </p:nvSpPr>
        <p:spPr>
          <a:xfrm>
            <a:off x="6096000" y="1979613"/>
            <a:ext cx="5627688" cy="4351337"/>
          </a:xfrm>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4" name="Chart Placeholder 3">
            <a:extLst>
              <a:ext uri="{FF2B5EF4-FFF2-40B4-BE49-F238E27FC236}">
                <a16:creationId xmlns:a16="http://schemas.microsoft.com/office/drawing/2014/main" id="{06F8C7EE-44FF-25E2-FD85-4A9A4E59F43C}"/>
              </a:ext>
            </a:extLst>
          </p:cNvPr>
          <p:cNvSpPr>
            <a:spLocks noGrp="1"/>
          </p:cNvSpPr>
          <p:nvPr>
            <p:ph type="chart" idx="10"/>
          </p:nvPr>
        </p:nvSpPr>
        <p:spPr>
          <a:xfrm>
            <a:off x="430213" y="1928813"/>
            <a:ext cx="11293475" cy="4354512"/>
          </a:xfrm>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3" name="Table Placeholder 2">
            <a:extLst>
              <a:ext uri="{FF2B5EF4-FFF2-40B4-BE49-F238E27FC236}">
                <a16:creationId xmlns:a16="http://schemas.microsoft.com/office/drawing/2014/main" id="{9F2E8F34-9DD5-6734-21E2-9B7CCAD9F297}"/>
              </a:ext>
            </a:extLst>
          </p:cNvPr>
          <p:cNvSpPr>
            <a:spLocks noGrp="1"/>
          </p:cNvSpPr>
          <p:nvPr>
            <p:ph type="tbl" idx="10"/>
          </p:nvPr>
        </p:nvSpPr>
        <p:spPr>
          <a:xfrm>
            <a:off x="430213" y="1919288"/>
            <a:ext cx="11293475" cy="4391025"/>
          </a:xfrm>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8C7BB9-ED14-2EE7-B747-6D3AC509C6F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C5B5F42-1935-63EA-A56F-BCFFCC5F384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4A4FD98-5FB3-0F33-190B-F09E379EA8D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577B4DDA-DC7A-BA44-95F8-6F5B47B98114}" type="datetimeFigureOut">
              <a:t>9/26/2026</a:t>
            </a:fld>
            <a:endParaRPr/>
          </a:p>
        </p:txBody>
      </p:sp>
      <p:sp>
        <p:nvSpPr>
          <p:cNvPr id="5" name="Footer Placeholder 4">
            <a:extLst>
              <a:ext uri="{FF2B5EF4-FFF2-40B4-BE49-F238E27FC236}">
                <a16:creationId xmlns:a16="http://schemas.microsoft.com/office/drawing/2014/main" id="{34199F5F-1ACA-4A1A-5173-27733EE4567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FB4C4A5E-3279-A2E1-BFFA-8259ABF8BC49}"/>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CF9A60C2-D39C-DE40-8B64-BE745D99ECE8}"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5.xml"/><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5.xml"/><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3.xml"/><Relationship Id="rId1" Type="http://schemas.openxmlformats.org/officeDocument/2006/relationships/slideLayout" Target="../slideLayouts/slideLayout15.xml"/><Relationship Id="rId4" Type="http://schemas.openxmlformats.org/officeDocument/2006/relationships/chart" Target="../charts/char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0EE20-CE2E-3013-3D7D-3F4166CBDECE}"/>
              </a:ext>
            </a:extLst>
          </p:cNvPr>
          <p:cNvSpPr>
            <a:spLocks noGrp="1"/>
          </p:cNvSpPr>
          <p:nvPr>
            <p:ph type="ctrTitle"/>
          </p:nvPr>
        </p:nvSpPr>
        <p:spPr>
          <a:xfrm>
            <a:off x="356140" y="2154460"/>
            <a:ext cx="5626703" cy="4050411"/>
          </a:xfrm>
        </p:spPr>
        <p:txBody>
          <a:bodyPr wrap="square" lIns="0" tIns="0" rIns="0" bIns="0" anchor="t">
            <a:noAutofit/>
          </a:bodyPr>
          <a:lstStyle/>
          <a:p>
            <a:pPr marL="0" marR="0" indent="0" algn="l">
              <a:buNone/>
              <a:defRPr sz="4860" b="0">
                <a:solidFill>
                  <a:srgbClr val="FFFFFF"/>
                </a:solidFill>
                <a:latin typeface="Aptos Display"/>
                <a:ea typeface="Aptos Display"/>
                <a:cs typeface="Aptos Display"/>
              </a:defRPr>
            </a:pPr>
            <a:r>
              <a:rPr sz="4860" b="0">
                <a:solidFill>
                  <a:srgbClr val="FFFFFF"/>
                </a:solidFill>
                <a:latin typeface="Aptos Display"/>
                <a:ea typeface="Aptos Display"/>
                <a:cs typeface="Aptos Display"/>
              </a:rPr>
              <a:t>IFY Statistics</a:t>
            </a:r>
          </a:p>
          <a:p>
            <a:pPr marL="0" marR="0" indent="0" algn="l">
              <a:buNone/>
              <a:defRPr sz="4860" b="0">
                <a:solidFill>
                  <a:srgbClr val="FFFFFF"/>
                </a:solidFill>
                <a:latin typeface="Aptos Display"/>
                <a:ea typeface="Aptos Display"/>
                <a:cs typeface="Aptos Display"/>
              </a:defRPr>
            </a:pPr>
            <a:r>
              <a:rPr sz="4860" b="0">
                <a:solidFill>
                  <a:srgbClr val="FFFFFF"/>
                </a:solidFill>
                <a:latin typeface="Aptos Display"/>
                <a:ea typeface="Aptos Display"/>
                <a:cs typeface="Aptos Display"/>
              </a:rPr>
              <a:t>Week 3 • Class C</a:t>
            </a:r>
          </a:p>
          <a:p>
            <a:pPr marL="0" marR="0" indent="0" algn="l">
              <a:buNone/>
              <a:defRPr sz="4860" b="0">
                <a:solidFill>
                  <a:srgbClr val="FFFFFF"/>
                </a:solidFill>
                <a:latin typeface="Aptos Display"/>
                <a:ea typeface="Aptos Display"/>
                <a:cs typeface="Aptos Display"/>
              </a:defRPr>
            </a:pPr>
            <a:endParaRPr sz="4860" b="0">
              <a:solidFill>
                <a:srgbClr val="FFFFFF"/>
              </a:solidFill>
              <a:latin typeface="Aptos Display"/>
              <a:ea typeface="Aptos Display"/>
              <a:cs typeface="Aptos Display"/>
            </a:endParaRPr>
          </a:p>
          <a:p>
            <a:pPr marL="0" marR="0" indent="0" algn="l">
              <a:buNone/>
              <a:defRPr sz="4860" b="0">
                <a:solidFill>
                  <a:srgbClr val="FFFFFF"/>
                </a:solidFill>
                <a:latin typeface="Aptos Display"/>
                <a:ea typeface="Aptos Display"/>
                <a:cs typeface="Aptos Display"/>
              </a:defRPr>
            </a:pPr>
            <a:r>
              <a:rPr sz="4860" b="0">
                <a:solidFill>
                  <a:srgbClr val="FFFFFF"/>
                </a:solidFill>
                <a:latin typeface="Aptos Display"/>
                <a:ea typeface="Aptos Display"/>
                <a:cs typeface="Aptos Display"/>
              </a:rPr>
              <a:t>Paper supplier</a:t>
            </a:r>
          </a:p>
          <a:p>
            <a:pPr marL="0" marR="0" indent="0" algn="l">
              <a:buNone/>
              <a:defRPr sz="4860" b="0">
                <a:solidFill>
                  <a:srgbClr val="FFFFFF"/>
                </a:solidFill>
                <a:latin typeface="Aptos Display"/>
                <a:ea typeface="Aptos Display"/>
                <a:cs typeface="Aptos Display"/>
              </a:defRPr>
            </a:pPr>
            <a:r>
              <a:rPr sz="4860" b="0">
                <a:solidFill>
                  <a:srgbClr val="FFFFFF"/>
                </a:solidFill>
                <a:latin typeface="Aptos Display"/>
                <a:ea typeface="Aptos Display"/>
                <a:cs typeface="Aptos Display"/>
              </a:rPr>
              <a:t>workshop</a:t>
            </a:r>
          </a:p>
        </p:txBody>
      </p:sp>
    </p:spTree>
    <p:extLst>
      <p:ext uri="{BB962C8B-B14F-4D97-AF65-F5344CB8AC3E}">
        <p14:creationId xmlns:p14="http://schemas.microsoft.com/office/powerpoint/2010/main" val="3742239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Revision: Classes A and B</a:t>
            </a:r>
          </a:p>
        </p:txBody>
      </p:sp>
      <p:sp>
        <p:nvSpPr>
          <p:cNvPr id="3" name="body">
            <a:extLst>
              <a:ext uri="{FF2B5EF4-FFF2-40B4-BE49-F238E27FC236}">
                <a16:creationId xmlns:a16="http://schemas.microsoft.com/office/drawing/2014/main" id="{1F4DE69D-3838-48A8-868F-FDF41121178E}"/>
              </a:ext>
            </a:extLst>
          </p:cNvPr>
          <p:cNvSpPr>
            <a:spLocks noGrp="1"/>
          </p:cNvSpPr>
          <p:nvPr/>
        </p:nvSpPr>
        <p:spPr>
          <a:xfrm>
            <a:off x="428625" y="1981200"/>
            <a:ext cx="11239500" cy="476250"/>
          </a:xfrm>
          <a:prstGeom prst="rect">
            <a:avLst/>
          </a:prstGeom>
          <a:noFill/>
          <a:ln w="0">
            <a:noFill/>
          </a:ln>
        </p:spPr>
        <p:txBody>
          <a:bodyPr wrap="square" lIns="0" tIns="0" rIns="0" bIns="0" anchor="t">
            <a:noAutofit/>
          </a:bodyPr>
          <a:lstStyle/>
          <a:p>
            <a:pPr marL="0" marR="0" indent="0">
              <a:defRPr sz="2175" b="0">
                <a:solidFill>
                  <a:srgbClr val="111111"/>
                </a:solidFill>
                <a:latin typeface="Aptos"/>
                <a:ea typeface="Aptos"/>
                <a:cs typeface="Aptos"/>
              </a:defRPr>
            </a:pPr>
            <a:r>
              <a:rPr sz="2175" b="0">
                <a:solidFill>
                  <a:srgbClr val="111111"/>
                </a:solidFill>
                <a:latin typeface="Aptos"/>
                <a:ea typeface="Aptos"/>
                <a:cs typeface="Aptos"/>
              </a:rPr>
              <a:t>Eight trial orders help us estimate the supplier’s overall delivery performance.</a:t>
            </a:r>
          </a:p>
        </p:txBody>
      </p:sp>
      <p:sp>
        <p:nvSpPr>
          <p:cNvPr id="4" name="body">
            <a:extLst>
              <a:ext uri="{FF2B5EF4-FFF2-40B4-BE49-F238E27FC236}">
                <a16:creationId xmlns:a16="http://schemas.microsoft.com/office/drawing/2014/main" id="{84B56E97-061B-4DFC-BA3E-FC1B5101BC99}"/>
              </a:ext>
            </a:extLst>
          </p:cNvPr>
          <p:cNvSpPr>
            <a:spLocks noGrp="1"/>
          </p:cNvSpPr>
          <p:nvPr/>
        </p:nvSpPr>
        <p:spPr>
          <a:xfrm>
            <a:off x="523875" y="2552700"/>
            <a:ext cx="11144250" cy="457200"/>
          </a:xfrm>
          <a:prstGeom prst="rect">
            <a:avLst/>
          </a:prstGeom>
          <a:noFill/>
          <a:ln w="0">
            <a:noFill/>
          </a:ln>
        </p:spPr>
        <p:txBody>
          <a:bodyPr wrap="square" lIns="0" tIns="0" rIns="0" bIns="0" anchor="t">
            <a:noAutofit/>
          </a:bodyPr>
          <a:lstStyle/>
          <a:p>
            <a:pPr marL="0" marR="0" indent="0">
              <a:defRPr sz="2400" b="1">
                <a:solidFill>
                  <a:srgbClr val="111111"/>
                </a:solidFill>
                <a:latin typeface="Aptos"/>
                <a:ea typeface="Aptos"/>
                <a:cs typeface="Aptos"/>
              </a:defRPr>
            </a:pPr>
            <a:r>
              <a:rPr sz="2400" b="1">
                <a:solidFill>
                  <a:srgbClr val="111111"/>
                </a:solidFill>
                <a:latin typeface="Aptos"/>
                <a:ea typeface="Aptos"/>
                <a:cs typeface="Aptos"/>
              </a:rPr>
              <a:t>Delivery times (h):   40, 43, 44, 46, 49, 51, 54, 57</a:t>
            </a:r>
          </a:p>
        </p:txBody>
      </p:sp>
      <p:pic>
        <p:nvPicPr>
          <p:cNvPr id="5" name="Picture 4"/>
          <p:cNvPicPr>
            <a:picLocks noChangeAspect="1"/>
          </p:cNvPicPr>
          <p:nvPr/>
        </p:nvPicPr>
        <p:blipFill>
          <a:blip r:embed="rId3"/>
          <a:stretch/>
        </p:blipFill>
        <p:spPr>
          <a:xfrm>
            <a:off x="1610612" y="3114675"/>
            <a:ext cx="8970776" cy="466725"/>
          </a:xfrm>
          <a:prstGeom prst="rect">
            <a:avLst/>
          </a:prstGeom>
        </p:spPr>
      </p:pic>
      <p:sp>
        <p:nvSpPr>
          <p:cNvPr id="6" name="Straight Connector 5">
            <a:extLst>
              <a:ext uri="{FF2B5EF4-FFF2-40B4-BE49-F238E27FC236}">
                <a16:creationId xmlns:a16="http://schemas.microsoft.com/office/drawing/2014/main" id="{64D0CB8E-E97B-4370-99D7-6B6502E84C91}"/>
              </a:ext>
            </a:extLst>
          </p:cNvPr>
          <p:cNvSpPr>
            <a:spLocks noGrp="1"/>
          </p:cNvSpPr>
          <p:nvPr/>
        </p:nvSpPr>
        <p:spPr>
          <a:xfrm>
            <a:off x="6076950" y="3771900"/>
            <a:ext cx="0" cy="2038350"/>
          </a:xfrm>
          <a:prstGeom prst="line">
            <a:avLst/>
          </a:prstGeom>
          <a:ln w="9525">
            <a:solidFill>
              <a:srgbClr val="AAB2B7"/>
            </a:solidFill>
          </a:ln>
        </p:spPr>
        <p:txBody>
          <a:bodyPr/>
          <a:lstStyle/>
          <a:p>
            <a:endParaRPr lang="en-US"/>
          </a:p>
        </p:txBody>
      </p:sp>
      <p:sp>
        <p:nvSpPr>
          <p:cNvPr id="7" name="body">
            <a:extLst>
              <a:ext uri="{FF2B5EF4-FFF2-40B4-BE49-F238E27FC236}">
                <a16:creationId xmlns:a16="http://schemas.microsoft.com/office/drawing/2014/main" id="{27C14C6D-4ADC-486A-B957-A21DBE135921}"/>
              </a:ext>
            </a:extLst>
          </p:cNvPr>
          <p:cNvSpPr>
            <a:spLocks noGrp="1"/>
          </p:cNvSpPr>
          <p:nvPr/>
        </p:nvSpPr>
        <p:spPr>
          <a:xfrm>
            <a:off x="523875" y="3743325"/>
            <a:ext cx="5238750" cy="323850"/>
          </a:xfrm>
          <a:prstGeom prst="rect">
            <a:avLst/>
          </a:prstGeom>
          <a:noFill/>
          <a:ln w="0">
            <a:noFill/>
          </a:ln>
        </p:spPr>
        <p:txBody>
          <a:bodyPr wrap="square" lIns="0" tIns="0" rIns="0" bIns="0" anchor="t">
            <a:noAutofit/>
          </a:bodyPr>
          <a:lstStyle/>
          <a:p>
            <a:pPr marL="0" marR="0" indent="0">
              <a:defRPr sz="1875" b="1">
                <a:solidFill>
                  <a:srgbClr val="111111"/>
                </a:solidFill>
                <a:latin typeface="Aptos"/>
                <a:ea typeface="Aptos"/>
                <a:cs typeface="Aptos"/>
              </a:defRPr>
            </a:pPr>
            <a:r>
              <a:rPr sz="1875" b="1">
                <a:solidFill>
                  <a:srgbClr val="111111"/>
                </a:solidFill>
                <a:latin typeface="Aptos"/>
                <a:ea typeface="Aptos"/>
                <a:cs typeface="Aptos"/>
              </a:rPr>
              <a:t>1. Sample or population?</a:t>
            </a:r>
          </a:p>
        </p:txBody>
      </p:sp>
      <p:sp>
        <p:nvSpPr>
          <p:cNvPr id="8" name="body">
            <a:extLst>
              <a:ext uri="{FF2B5EF4-FFF2-40B4-BE49-F238E27FC236}">
                <a16:creationId xmlns:a16="http://schemas.microsoft.com/office/drawing/2014/main" id="{23AB37A3-432D-48A7-A2B5-75291D33596A}"/>
              </a:ext>
            </a:extLst>
          </p:cNvPr>
          <p:cNvSpPr>
            <a:spLocks noGrp="1"/>
          </p:cNvSpPr>
          <p:nvPr/>
        </p:nvSpPr>
        <p:spPr>
          <a:xfrm>
            <a:off x="523875" y="4057650"/>
            <a:ext cx="5238750" cy="552450"/>
          </a:xfrm>
          <a:prstGeom prst="rect">
            <a:avLst/>
          </a:prstGeom>
          <a:noFill/>
          <a:ln w="0">
            <a:noFill/>
          </a:ln>
        </p:spPr>
        <p:txBody>
          <a:bodyPr wrap="square" lIns="0" tIns="0" rIns="0" bIns="0" anchor="t">
            <a:noAutofit/>
          </a:bodyPr>
          <a:lstStyle/>
          <a:p>
            <a:pPr marL="0" marR="0" indent="0">
              <a:defRPr sz="1800" b="0">
                <a:solidFill>
                  <a:srgbClr val="111111"/>
                </a:solidFill>
                <a:latin typeface="Aptos"/>
                <a:ea typeface="Aptos"/>
                <a:cs typeface="Aptos"/>
              </a:defRPr>
            </a:pPr>
            <a:r>
              <a:rPr sz="1800" b="0">
                <a:solidFill>
                  <a:srgbClr val="111111"/>
                </a:solidFill>
                <a:latin typeface="Aptos"/>
                <a:ea typeface="Aptos"/>
                <a:cs typeface="Aptos"/>
              </a:rPr>
              <a:t>Give the symbols for its mean and SD.</a:t>
            </a:r>
          </a:p>
        </p:txBody>
      </p:sp>
      <p:sp>
        <p:nvSpPr>
          <p:cNvPr id="9" name="body">
            <a:extLst>
              <a:ext uri="{FF2B5EF4-FFF2-40B4-BE49-F238E27FC236}">
                <a16:creationId xmlns:a16="http://schemas.microsoft.com/office/drawing/2014/main" id="{71291D89-191E-4C55-AA75-F6C0B448BC2D}"/>
              </a:ext>
            </a:extLst>
          </p:cNvPr>
          <p:cNvSpPr>
            <a:spLocks noGrp="1"/>
          </p:cNvSpPr>
          <p:nvPr/>
        </p:nvSpPr>
        <p:spPr>
          <a:xfrm>
            <a:off x="6477000" y="3743325"/>
            <a:ext cx="5238750" cy="323850"/>
          </a:xfrm>
          <a:prstGeom prst="rect">
            <a:avLst/>
          </a:prstGeom>
          <a:noFill/>
          <a:ln w="0">
            <a:noFill/>
          </a:ln>
        </p:spPr>
        <p:txBody>
          <a:bodyPr wrap="square" lIns="0" tIns="0" rIns="0" bIns="0" anchor="t">
            <a:noAutofit/>
          </a:bodyPr>
          <a:lstStyle/>
          <a:p>
            <a:pPr marL="0" marR="0" indent="0">
              <a:defRPr sz="1875" b="1">
                <a:solidFill>
                  <a:srgbClr val="111111"/>
                </a:solidFill>
                <a:latin typeface="Aptos"/>
                <a:ea typeface="Aptos"/>
                <a:cs typeface="Aptos"/>
              </a:defRPr>
            </a:pPr>
            <a:r>
              <a:rPr sz="1875" b="1">
                <a:solidFill>
                  <a:srgbClr val="111111"/>
                </a:solidFill>
                <a:latin typeface="Aptos"/>
                <a:ea typeface="Aptos"/>
                <a:cs typeface="Aptos"/>
              </a:rPr>
              <a:t>4. Find the deviation for 57 hours.</a:t>
            </a:r>
          </a:p>
        </p:txBody>
      </p:sp>
      <p:sp>
        <p:nvSpPr>
          <p:cNvPr id="10" name="body">
            <a:extLst>
              <a:ext uri="{FF2B5EF4-FFF2-40B4-BE49-F238E27FC236}">
                <a16:creationId xmlns:a16="http://schemas.microsoft.com/office/drawing/2014/main" id="{DEF30C7B-AC99-44FF-B5BD-3635795D3E8F}"/>
              </a:ext>
            </a:extLst>
          </p:cNvPr>
          <p:cNvSpPr>
            <a:spLocks noGrp="1"/>
          </p:cNvSpPr>
          <p:nvPr/>
        </p:nvSpPr>
        <p:spPr>
          <a:xfrm>
            <a:off x="6477000" y="4057650"/>
            <a:ext cx="5238750" cy="552450"/>
          </a:xfrm>
          <a:prstGeom prst="rect">
            <a:avLst/>
          </a:prstGeom>
          <a:noFill/>
          <a:ln w="0">
            <a:noFill/>
          </a:ln>
        </p:spPr>
        <p:txBody>
          <a:bodyPr wrap="square" lIns="0" tIns="0" rIns="0" bIns="0" anchor="t">
            <a:noAutofit/>
          </a:bodyPr>
          <a:lstStyle/>
          <a:p>
            <a:pPr marL="0" marR="0" indent="0">
              <a:defRPr sz="1800" b="0">
                <a:solidFill>
                  <a:srgbClr val="111111"/>
                </a:solidFill>
                <a:latin typeface="Aptos"/>
                <a:ea typeface="Aptos"/>
                <a:cs typeface="Aptos"/>
              </a:defRPr>
            </a:pPr>
            <a:r>
              <a:rPr sz="1800" b="0">
                <a:solidFill>
                  <a:srgbClr val="111111"/>
                </a:solidFill>
                <a:latin typeface="Aptos"/>
                <a:ea typeface="Aptos"/>
                <a:cs typeface="Aptos"/>
              </a:rPr>
              <a:t>How is a deviation different from SD?</a:t>
            </a:r>
          </a:p>
        </p:txBody>
      </p:sp>
      <p:sp>
        <p:nvSpPr>
          <p:cNvPr id="11" name="body">
            <a:extLst>
              <a:ext uri="{FF2B5EF4-FFF2-40B4-BE49-F238E27FC236}">
                <a16:creationId xmlns:a16="http://schemas.microsoft.com/office/drawing/2014/main" id="{0DEEE559-424A-4481-B9B4-3C72F40385AA}"/>
              </a:ext>
            </a:extLst>
          </p:cNvPr>
          <p:cNvSpPr>
            <a:spLocks noGrp="1"/>
          </p:cNvSpPr>
          <p:nvPr/>
        </p:nvSpPr>
        <p:spPr>
          <a:xfrm>
            <a:off x="523875" y="4476750"/>
            <a:ext cx="5238750" cy="323850"/>
          </a:xfrm>
          <a:prstGeom prst="rect">
            <a:avLst/>
          </a:prstGeom>
          <a:noFill/>
          <a:ln w="0">
            <a:noFill/>
          </a:ln>
        </p:spPr>
        <p:txBody>
          <a:bodyPr wrap="square" lIns="0" tIns="0" rIns="0" bIns="0" anchor="t">
            <a:noAutofit/>
          </a:bodyPr>
          <a:lstStyle/>
          <a:p>
            <a:pPr marL="0" marR="0" indent="0">
              <a:defRPr sz="1875" b="1">
                <a:solidFill>
                  <a:srgbClr val="111111"/>
                </a:solidFill>
                <a:latin typeface="Aptos"/>
                <a:ea typeface="Aptos"/>
                <a:cs typeface="Aptos"/>
              </a:defRPr>
            </a:pPr>
            <a:r>
              <a:rPr sz="1875" b="1">
                <a:solidFill>
                  <a:srgbClr val="111111"/>
                </a:solidFill>
                <a:latin typeface="Aptos"/>
                <a:ea typeface="Aptos"/>
                <a:cs typeface="Aptos"/>
              </a:rPr>
              <a:t>2. Find the median and range.</a:t>
            </a:r>
          </a:p>
        </p:txBody>
      </p:sp>
      <p:sp>
        <p:nvSpPr>
          <p:cNvPr id="12" name="body">
            <a:extLst>
              <a:ext uri="{FF2B5EF4-FFF2-40B4-BE49-F238E27FC236}">
                <a16:creationId xmlns:a16="http://schemas.microsoft.com/office/drawing/2014/main" id="{F5386EB2-DE21-45B2-B51A-89364497B439}"/>
              </a:ext>
            </a:extLst>
          </p:cNvPr>
          <p:cNvSpPr>
            <a:spLocks noGrp="1"/>
          </p:cNvSpPr>
          <p:nvPr/>
        </p:nvSpPr>
        <p:spPr>
          <a:xfrm>
            <a:off x="523875" y="4791075"/>
            <a:ext cx="5238750" cy="552450"/>
          </a:xfrm>
          <a:prstGeom prst="rect">
            <a:avLst/>
          </a:prstGeom>
          <a:noFill/>
          <a:ln w="0">
            <a:noFill/>
          </a:ln>
        </p:spPr>
        <p:txBody>
          <a:bodyPr wrap="square" lIns="0" tIns="0" rIns="0" bIns="0" anchor="t">
            <a:noAutofit/>
          </a:bodyPr>
          <a:lstStyle/>
          <a:p>
            <a:pPr marL="0" marR="0" indent="0">
              <a:defRPr sz="1800" b="0">
                <a:solidFill>
                  <a:srgbClr val="111111"/>
                </a:solidFill>
                <a:latin typeface="Aptos"/>
                <a:ea typeface="Aptos"/>
                <a:cs typeface="Aptos"/>
              </a:defRPr>
            </a:pPr>
            <a:r>
              <a:rPr sz="1800" b="0">
                <a:solidFill>
                  <a:srgbClr val="111111"/>
                </a:solidFill>
                <a:latin typeface="Aptos"/>
                <a:ea typeface="Aptos"/>
                <a:cs typeface="Aptos"/>
              </a:rPr>
              <a:t>Extreme delay: mean or median changes less?</a:t>
            </a:r>
          </a:p>
        </p:txBody>
      </p:sp>
      <p:sp>
        <p:nvSpPr>
          <p:cNvPr id="13" name="body">
            <a:extLst>
              <a:ext uri="{FF2B5EF4-FFF2-40B4-BE49-F238E27FC236}">
                <a16:creationId xmlns:a16="http://schemas.microsoft.com/office/drawing/2014/main" id="{4509B694-29CB-4AD7-8F49-F88C6234F9D0}"/>
              </a:ext>
            </a:extLst>
          </p:cNvPr>
          <p:cNvSpPr>
            <a:spLocks noGrp="1"/>
          </p:cNvSpPr>
          <p:nvPr/>
        </p:nvSpPr>
        <p:spPr>
          <a:xfrm>
            <a:off x="6477000" y="4476750"/>
            <a:ext cx="5238750" cy="323850"/>
          </a:xfrm>
          <a:prstGeom prst="rect">
            <a:avLst/>
          </a:prstGeom>
          <a:noFill/>
          <a:ln w="0">
            <a:noFill/>
          </a:ln>
        </p:spPr>
        <p:txBody>
          <a:bodyPr wrap="square" lIns="0" tIns="0" rIns="0" bIns="0" anchor="t">
            <a:noAutofit/>
          </a:bodyPr>
          <a:lstStyle/>
          <a:p>
            <a:pPr marL="0" marR="0" indent="0">
              <a:defRPr sz="1875" b="1">
                <a:solidFill>
                  <a:srgbClr val="111111"/>
                </a:solidFill>
                <a:latin typeface="Aptos"/>
                <a:ea typeface="Aptos"/>
                <a:cs typeface="Aptos"/>
              </a:defRPr>
            </a:pPr>
            <a:r>
              <a:rPr sz="1875" b="1">
                <a:solidFill>
                  <a:srgbClr val="111111"/>
                </a:solidFill>
                <a:latin typeface="Aptos"/>
                <a:ea typeface="Aptos"/>
                <a:cs typeface="Aptos"/>
              </a:rPr>
              <a:t>5. Calculate sample variance and SD.</a:t>
            </a:r>
          </a:p>
        </p:txBody>
      </p:sp>
      <p:sp>
        <p:nvSpPr>
          <p:cNvPr id="14" name="body">
            <a:extLst>
              <a:ext uri="{FF2B5EF4-FFF2-40B4-BE49-F238E27FC236}">
                <a16:creationId xmlns:a16="http://schemas.microsoft.com/office/drawing/2014/main" id="{54C2C285-F114-4AA8-9691-43393B446BA3}"/>
              </a:ext>
            </a:extLst>
          </p:cNvPr>
          <p:cNvSpPr>
            <a:spLocks noGrp="1"/>
          </p:cNvSpPr>
          <p:nvPr/>
        </p:nvSpPr>
        <p:spPr>
          <a:xfrm>
            <a:off x="6477000" y="4791075"/>
            <a:ext cx="5238750" cy="552450"/>
          </a:xfrm>
          <a:prstGeom prst="rect">
            <a:avLst/>
          </a:prstGeom>
          <a:noFill/>
          <a:ln w="0">
            <a:noFill/>
          </a:ln>
        </p:spPr>
        <p:txBody>
          <a:bodyPr wrap="square" lIns="0" tIns="0" rIns="0" bIns="0" anchor="t">
            <a:noAutofit/>
          </a:bodyPr>
          <a:lstStyle/>
          <a:p>
            <a:pPr marL="0" marR="0" indent="0">
              <a:defRPr sz="1800" b="0">
                <a:solidFill>
                  <a:srgbClr val="111111"/>
                </a:solidFill>
                <a:latin typeface="Aptos"/>
                <a:ea typeface="Aptos"/>
                <a:cs typeface="Aptos"/>
              </a:defRPr>
            </a:pPr>
            <a:r>
              <a:rPr sz="1800" b="0">
                <a:solidFill>
                  <a:srgbClr val="111111"/>
                </a:solidFill>
                <a:latin typeface="Aptos"/>
                <a:ea typeface="Aptos"/>
                <a:cs typeface="Aptos"/>
              </a:rPr>
              <a:t>Explain your choice of divisor.</a:t>
            </a:r>
          </a:p>
        </p:txBody>
      </p:sp>
      <p:sp>
        <p:nvSpPr>
          <p:cNvPr id="15" name="body">
            <a:extLst>
              <a:ext uri="{FF2B5EF4-FFF2-40B4-BE49-F238E27FC236}">
                <a16:creationId xmlns:a16="http://schemas.microsoft.com/office/drawing/2014/main" id="{1DBD2411-D367-4821-98A8-7B418323E1CF}"/>
              </a:ext>
            </a:extLst>
          </p:cNvPr>
          <p:cNvSpPr>
            <a:spLocks noGrp="1"/>
          </p:cNvSpPr>
          <p:nvPr/>
        </p:nvSpPr>
        <p:spPr>
          <a:xfrm>
            <a:off x="523875" y="5210175"/>
            <a:ext cx="5238750" cy="323850"/>
          </a:xfrm>
          <a:prstGeom prst="rect">
            <a:avLst/>
          </a:prstGeom>
          <a:noFill/>
          <a:ln w="0">
            <a:noFill/>
          </a:ln>
        </p:spPr>
        <p:txBody>
          <a:bodyPr wrap="square" lIns="0" tIns="0" rIns="0" bIns="0" anchor="t">
            <a:noAutofit/>
          </a:bodyPr>
          <a:lstStyle/>
          <a:p>
            <a:pPr marL="0" marR="0" indent="0">
              <a:defRPr sz="1875" b="1">
                <a:solidFill>
                  <a:srgbClr val="111111"/>
                </a:solidFill>
                <a:latin typeface="Aptos"/>
                <a:ea typeface="Aptos"/>
                <a:cs typeface="Aptos"/>
              </a:defRPr>
            </a:pPr>
            <a:r>
              <a:rPr sz="1875" b="1">
                <a:solidFill>
                  <a:srgbClr val="111111"/>
                </a:solidFill>
                <a:latin typeface="Aptos"/>
                <a:ea typeface="Aptos"/>
                <a:cs typeface="Aptos"/>
              </a:rPr>
              <a:t>3. Find the interquartile range (IQR).</a:t>
            </a:r>
          </a:p>
        </p:txBody>
      </p:sp>
      <p:sp>
        <p:nvSpPr>
          <p:cNvPr id="16" name="body">
            <a:extLst>
              <a:ext uri="{FF2B5EF4-FFF2-40B4-BE49-F238E27FC236}">
                <a16:creationId xmlns:a16="http://schemas.microsoft.com/office/drawing/2014/main" id="{C22BE079-9FA8-4E22-A1FF-88A1049E32A6}"/>
              </a:ext>
            </a:extLst>
          </p:cNvPr>
          <p:cNvSpPr>
            <a:spLocks noGrp="1"/>
          </p:cNvSpPr>
          <p:nvPr/>
        </p:nvSpPr>
        <p:spPr>
          <a:xfrm>
            <a:off x="523875" y="5524500"/>
            <a:ext cx="5238750" cy="552450"/>
          </a:xfrm>
          <a:prstGeom prst="rect">
            <a:avLst/>
          </a:prstGeom>
          <a:noFill/>
          <a:ln w="0">
            <a:noFill/>
          </a:ln>
        </p:spPr>
        <p:txBody>
          <a:bodyPr wrap="square" lIns="0" tIns="0" rIns="0" bIns="0" anchor="t">
            <a:noAutofit/>
          </a:bodyPr>
          <a:lstStyle/>
          <a:p>
            <a:pPr marL="0" marR="0" indent="0">
              <a:defRPr sz="1800" b="0">
                <a:solidFill>
                  <a:srgbClr val="111111"/>
                </a:solidFill>
                <a:latin typeface="Aptos"/>
                <a:ea typeface="Aptos"/>
                <a:cs typeface="Aptos"/>
              </a:defRPr>
            </a:pPr>
            <a:r>
              <a:rPr sz="1800" b="0">
                <a:solidFill>
                  <a:srgbClr val="111111"/>
                </a:solidFill>
                <a:latin typeface="Aptos"/>
                <a:ea typeface="Aptos"/>
                <a:cs typeface="Aptos"/>
              </a:rPr>
              <a:t>Which part of the data does it describe?</a:t>
            </a:r>
          </a:p>
        </p:txBody>
      </p:sp>
      <p:sp>
        <p:nvSpPr>
          <p:cNvPr id="17" name="body">
            <a:extLst>
              <a:ext uri="{FF2B5EF4-FFF2-40B4-BE49-F238E27FC236}">
                <a16:creationId xmlns:a16="http://schemas.microsoft.com/office/drawing/2014/main" id="{62EE1D53-2784-4183-A011-6F1FE8109EB4}"/>
              </a:ext>
            </a:extLst>
          </p:cNvPr>
          <p:cNvSpPr>
            <a:spLocks noGrp="1"/>
          </p:cNvSpPr>
          <p:nvPr/>
        </p:nvSpPr>
        <p:spPr>
          <a:xfrm>
            <a:off x="6477000" y="5210175"/>
            <a:ext cx="5238750" cy="323850"/>
          </a:xfrm>
          <a:prstGeom prst="rect">
            <a:avLst/>
          </a:prstGeom>
          <a:noFill/>
          <a:ln w="0">
            <a:noFill/>
          </a:ln>
        </p:spPr>
        <p:txBody>
          <a:bodyPr wrap="square" lIns="0" tIns="0" rIns="0" bIns="0" anchor="t">
            <a:noAutofit/>
          </a:bodyPr>
          <a:lstStyle/>
          <a:p>
            <a:pPr marL="0" marR="0" indent="0">
              <a:defRPr sz="1875" b="1">
                <a:solidFill>
                  <a:srgbClr val="111111"/>
                </a:solidFill>
                <a:latin typeface="Aptos"/>
                <a:ea typeface="Aptos"/>
                <a:cs typeface="Aptos"/>
              </a:defRPr>
            </a:pPr>
            <a:r>
              <a:rPr sz="1875" b="1">
                <a:solidFill>
                  <a:srgbClr val="111111"/>
                </a:solidFill>
                <a:latin typeface="Aptos"/>
                <a:ea typeface="Aptos"/>
                <a:cs typeface="Aptos"/>
              </a:rPr>
              <a:t>6. Find coefficient of variation (CV).</a:t>
            </a:r>
          </a:p>
        </p:txBody>
      </p:sp>
      <p:sp>
        <p:nvSpPr>
          <p:cNvPr id="18" name="body">
            <a:extLst>
              <a:ext uri="{FF2B5EF4-FFF2-40B4-BE49-F238E27FC236}">
                <a16:creationId xmlns:a16="http://schemas.microsoft.com/office/drawing/2014/main" id="{99A5D37E-0619-4A8E-8C1D-08C5E79A253C}"/>
              </a:ext>
            </a:extLst>
          </p:cNvPr>
          <p:cNvSpPr>
            <a:spLocks noGrp="1"/>
          </p:cNvSpPr>
          <p:nvPr/>
        </p:nvSpPr>
        <p:spPr>
          <a:xfrm>
            <a:off x="6477000" y="5524500"/>
            <a:ext cx="5238750" cy="552450"/>
          </a:xfrm>
          <a:prstGeom prst="rect">
            <a:avLst/>
          </a:prstGeom>
          <a:noFill/>
          <a:ln w="0">
            <a:noFill/>
          </a:ln>
        </p:spPr>
        <p:txBody>
          <a:bodyPr wrap="square" lIns="0" tIns="0" rIns="0" bIns="0" anchor="t">
            <a:noAutofit/>
          </a:bodyPr>
          <a:lstStyle/>
          <a:p>
            <a:pPr marL="0" marR="0" indent="0">
              <a:defRPr sz="1800" b="0">
                <a:solidFill>
                  <a:srgbClr val="111111"/>
                </a:solidFill>
                <a:latin typeface="Aptos"/>
                <a:ea typeface="Aptos"/>
                <a:cs typeface="Aptos"/>
              </a:defRPr>
            </a:pPr>
            <a:r>
              <a:rPr sz="1800" b="0">
                <a:solidFill>
                  <a:srgbClr val="111111"/>
                </a:solidFill>
                <a:latin typeface="Aptos"/>
                <a:ea typeface="Aptos"/>
                <a:cs typeface="Aptos"/>
              </a:rPr>
              <a:t>What would a smaller CV mean?</a:t>
            </a:r>
          </a:p>
        </p:txBody>
      </p:sp>
      <p:sp>
        <p:nvSpPr>
          <p:cNvPr id="19" name="body">
            <a:extLst>
              <a:ext uri="{FF2B5EF4-FFF2-40B4-BE49-F238E27FC236}">
                <a16:creationId xmlns:a16="http://schemas.microsoft.com/office/drawing/2014/main" id="{9475B4BC-38EA-4C27-A631-CAB14486BDFD}"/>
              </a:ext>
            </a:extLst>
          </p:cNvPr>
          <p:cNvSpPr>
            <a:spLocks noGrp="1"/>
          </p:cNvSpPr>
          <p:nvPr/>
        </p:nvSpPr>
        <p:spPr>
          <a:xfrm>
            <a:off x="523875" y="6115050"/>
            <a:ext cx="11144250" cy="24765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Show your method and units. Keep the unrounded SD for the CV calculation.</a:t>
            </a:r>
          </a:p>
        </p:txBody>
      </p:sp>
      <p:sp>
        <p:nvSpPr>
          <p:cNvPr id="20"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REVISION • 5 MIN</a:t>
            </a:r>
          </a:p>
        </p:txBody>
      </p:sp>
    </p:spTree>
    <p:extLst>
      <p:ext uri="{BB962C8B-B14F-4D97-AF65-F5344CB8AC3E}">
        <p14:creationId xmlns:p14="http://schemas.microsoft.com/office/powerpoint/2010/main" val="2971916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Revision: worked answers</a:t>
            </a:r>
          </a:p>
        </p:txBody>
      </p:sp>
      <p:sp>
        <p:nvSpPr>
          <p:cNvPr id="3" name="body">
            <a:extLst>
              <a:ext uri="{FF2B5EF4-FFF2-40B4-BE49-F238E27FC236}">
                <a16:creationId xmlns:a16="http://schemas.microsoft.com/office/drawing/2014/main" id="{2D7ED560-0417-4567-A3F8-6E455BC13DC8}"/>
              </a:ext>
            </a:extLst>
          </p:cNvPr>
          <p:cNvSpPr>
            <a:spLocks noGrp="1"/>
          </p:cNvSpPr>
          <p:nvPr/>
        </p:nvSpPr>
        <p:spPr>
          <a:xfrm>
            <a:off x="428625" y="1981200"/>
            <a:ext cx="11239500" cy="45720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Check the method, the units and what each result tells us.</a:t>
            </a:r>
          </a:p>
        </p:txBody>
      </p:sp>
      <p:sp>
        <p:nvSpPr>
          <p:cNvPr id="4" name="Straight Connector 3">
            <a:extLst>
              <a:ext uri="{FF2B5EF4-FFF2-40B4-BE49-F238E27FC236}">
                <a16:creationId xmlns:a16="http://schemas.microsoft.com/office/drawing/2014/main" id="{BB9BF254-A451-4DDF-AB3F-01A0E011B6C5}"/>
              </a:ext>
            </a:extLst>
          </p:cNvPr>
          <p:cNvSpPr>
            <a:spLocks noGrp="1"/>
          </p:cNvSpPr>
          <p:nvPr/>
        </p:nvSpPr>
        <p:spPr>
          <a:xfrm>
            <a:off x="6076950" y="2657475"/>
            <a:ext cx="0" cy="3209925"/>
          </a:xfrm>
          <a:prstGeom prst="line">
            <a:avLst/>
          </a:prstGeom>
          <a:ln w="9525">
            <a:solidFill>
              <a:srgbClr val="AAB2B7"/>
            </a:solidFill>
          </a:ln>
        </p:spPr>
        <p:txBody>
          <a:bodyPr/>
          <a:lstStyle/>
          <a:p>
            <a:endParaRPr lang="en-US"/>
          </a:p>
        </p:txBody>
      </p:sp>
      <p:sp>
        <p:nvSpPr>
          <p:cNvPr id="5" name="body">
            <a:extLst>
              <a:ext uri="{FF2B5EF4-FFF2-40B4-BE49-F238E27FC236}">
                <a16:creationId xmlns:a16="http://schemas.microsoft.com/office/drawing/2014/main" id="{3A5836F8-3B96-433C-98ED-3622A21DCC78}"/>
              </a:ext>
            </a:extLst>
          </p:cNvPr>
          <p:cNvSpPr>
            <a:spLocks noGrp="1"/>
          </p:cNvSpPr>
          <p:nvPr/>
        </p:nvSpPr>
        <p:spPr>
          <a:xfrm>
            <a:off x="523875" y="2686050"/>
            <a:ext cx="5238750" cy="304800"/>
          </a:xfrm>
          <a:prstGeom prst="rect">
            <a:avLst/>
          </a:prstGeom>
          <a:noFill/>
          <a:ln w="0">
            <a:noFill/>
          </a:ln>
        </p:spPr>
        <p:txBody>
          <a:bodyPr wrap="square" lIns="0" tIns="0" rIns="0" bIns="0" anchor="t">
            <a:noAutofit/>
          </a:bodyPr>
          <a:lstStyle/>
          <a:p>
            <a:pPr marL="0" marR="0" indent="0">
              <a:defRPr sz="1950" b="1">
                <a:solidFill>
                  <a:srgbClr val="111111"/>
                </a:solidFill>
                <a:latin typeface="Aptos"/>
                <a:ea typeface="Aptos"/>
                <a:cs typeface="Aptos"/>
              </a:defRPr>
            </a:pPr>
            <a:r>
              <a:rPr sz="1950" b="1">
                <a:solidFill>
                  <a:srgbClr val="111111"/>
                </a:solidFill>
                <a:latin typeface="Aptos"/>
                <a:ea typeface="Aptos"/>
                <a:cs typeface="Aptos"/>
              </a:rPr>
              <a:t>1. A sample of the supplier’s orders</a:t>
            </a:r>
          </a:p>
        </p:txBody>
      </p:sp>
      <p:pic>
        <p:nvPicPr>
          <p:cNvPr id="6" name="Picture 5"/>
          <p:cNvPicPr>
            <a:picLocks noChangeAspect="1"/>
          </p:cNvPicPr>
          <p:nvPr/>
        </p:nvPicPr>
        <p:blipFill>
          <a:blip r:embed="rId3"/>
          <a:stretch/>
        </p:blipFill>
        <p:spPr>
          <a:xfrm>
            <a:off x="619125" y="3097785"/>
            <a:ext cx="5095875" cy="414781"/>
          </a:xfrm>
          <a:prstGeom prst="rect">
            <a:avLst/>
          </a:prstGeom>
        </p:spPr>
      </p:pic>
      <p:sp>
        <p:nvSpPr>
          <p:cNvPr id="7" name="body">
            <a:extLst>
              <a:ext uri="{FF2B5EF4-FFF2-40B4-BE49-F238E27FC236}">
                <a16:creationId xmlns:a16="http://schemas.microsoft.com/office/drawing/2014/main" id="{AC4641EF-84D2-4794-B343-FD64B2D7579B}"/>
              </a:ext>
            </a:extLst>
          </p:cNvPr>
          <p:cNvSpPr>
            <a:spLocks noGrp="1"/>
          </p:cNvSpPr>
          <p:nvPr/>
        </p:nvSpPr>
        <p:spPr>
          <a:xfrm>
            <a:off x="523875" y="3790950"/>
            <a:ext cx="5238750" cy="304800"/>
          </a:xfrm>
          <a:prstGeom prst="rect">
            <a:avLst/>
          </a:prstGeom>
          <a:noFill/>
          <a:ln w="0">
            <a:noFill/>
          </a:ln>
        </p:spPr>
        <p:txBody>
          <a:bodyPr wrap="square" lIns="0" tIns="0" rIns="0" bIns="0" anchor="t">
            <a:noAutofit/>
          </a:bodyPr>
          <a:lstStyle/>
          <a:p>
            <a:pPr marL="0" marR="0" indent="0">
              <a:defRPr sz="1950" b="1">
                <a:solidFill>
                  <a:srgbClr val="111111"/>
                </a:solidFill>
                <a:latin typeface="Aptos"/>
                <a:ea typeface="Aptos"/>
                <a:cs typeface="Aptos"/>
              </a:defRPr>
            </a:pPr>
            <a:r>
              <a:rPr sz="1950" b="1">
                <a:solidFill>
                  <a:srgbClr val="111111"/>
                </a:solidFill>
                <a:latin typeface="Aptos"/>
                <a:ea typeface="Aptos"/>
                <a:cs typeface="Aptos"/>
              </a:rPr>
              <a:t>2. Median and range</a:t>
            </a:r>
          </a:p>
        </p:txBody>
      </p:sp>
      <p:pic>
        <p:nvPicPr>
          <p:cNvPr id="8" name="Picture 7"/>
          <p:cNvPicPr>
            <a:picLocks noChangeAspect="1"/>
          </p:cNvPicPr>
          <p:nvPr/>
        </p:nvPicPr>
        <p:blipFill>
          <a:blip r:embed="rId4"/>
          <a:stretch/>
        </p:blipFill>
        <p:spPr>
          <a:xfrm>
            <a:off x="1503485" y="4171950"/>
            <a:ext cx="3279531" cy="495300"/>
          </a:xfrm>
          <a:prstGeom prst="rect">
            <a:avLst/>
          </a:prstGeom>
        </p:spPr>
      </p:pic>
      <p:sp>
        <p:nvSpPr>
          <p:cNvPr id="9" name="body">
            <a:extLst>
              <a:ext uri="{FF2B5EF4-FFF2-40B4-BE49-F238E27FC236}">
                <a16:creationId xmlns:a16="http://schemas.microsoft.com/office/drawing/2014/main" id="{224D8260-D8AA-4CE0-AEB1-EF62334B5570}"/>
              </a:ext>
            </a:extLst>
          </p:cNvPr>
          <p:cNvSpPr>
            <a:spLocks noGrp="1"/>
          </p:cNvSpPr>
          <p:nvPr/>
        </p:nvSpPr>
        <p:spPr>
          <a:xfrm>
            <a:off x="523875" y="4657725"/>
            <a:ext cx="5286375" cy="552450"/>
          </a:xfrm>
          <a:prstGeom prst="rect">
            <a:avLst/>
          </a:prstGeom>
          <a:noFill/>
          <a:ln w="0">
            <a:noFill/>
          </a:ln>
        </p:spPr>
        <p:txBody>
          <a:bodyPr wrap="square" lIns="0" tIns="0" rIns="0" bIns="0" anchor="t">
            <a:noAutofit/>
          </a:bodyPr>
          <a:lstStyle/>
          <a:p>
            <a:pPr marL="0" marR="0" indent="0">
              <a:defRPr sz="1800" b="0">
                <a:solidFill>
                  <a:srgbClr val="111111"/>
                </a:solidFill>
                <a:latin typeface="Aptos"/>
                <a:ea typeface="Aptos"/>
                <a:cs typeface="Aptos"/>
              </a:defRPr>
            </a:pPr>
            <a:r>
              <a:rPr sz="1800" b="0">
                <a:solidFill>
                  <a:srgbClr val="111111"/>
                </a:solidFill>
                <a:latin typeface="Aptos"/>
                <a:ea typeface="Aptos"/>
                <a:cs typeface="Aptos"/>
              </a:rPr>
              <a:t>Range = 57 − 40 = 17 h.</a:t>
            </a:r>
          </a:p>
          <a:p>
            <a:pPr marL="0" marR="0" indent="0">
              <a:defRPr sz="1800" b="0">
                <a:solidFill>
                  <a:srgbClr val="111111"/>
                </a:solidFill>
                <a:latin typeface="Aptos"/>
                <a:ea typeface="Aptos"/>
                <a:cs typeface="Aptos"/>
              </a:defRPr>
            </a:pPr>
            <a:r>
              <a:rPr sz="1800" b="0">
                <a:solidFill>
                  <a:srgbClr val="111111"/>
                </a:solidFill>
                <a:latin typeface="Aptos"/>
                <a:ea typeface="Aptos"/>
                <a:cs typeface="Aptos"/>
              </a:rPr>
              <a:t>Median is less sensitive to an extreme delay.</a:t>
            </a:r>
          </a:p>
        </p:txBody>
      </p:sp>
      <p:sp>
        <p:nvSpPr>
          <p:cNvPr id="10" name="body">
            <a:extLst>
              <a:ext uri="{FF2B5EF4-FFF2-40B4-BE49-F238E27FC236}">
                <a16:creationId xmlns:a16="http://schemas.microsoft.com/office/drawing/2014/main" id="{F171A815-0096-4DF6-97EE-95E6F86FFF8B}"/>
              </a:ext>
            </a:extLst>
          </p:cNvPr>
          <p:cNvSpPr>
            <a:spLocks noGrp="1"/>
          </p:cNvSpPr>
          <p:nvPr/>
        </p:nvSpPr>
        <p:spPr>
          <a:xfrm>
            <a:off x="523875" y="5229225"/>
            <a:ext cx="5238750" cy="285750"/>
          </a:xfrm>
          <a:prstGeom prst="rect">
            <a:avLst/>
          </a:prstGeom>
          <a:noFill/>
          <a:ln w="0">
            <a:noFill/>
          </a:ln>
        </p:spPr>
        <p:txBody>
          <a:bodyPr wrap="square" lIns="0" tIns="0" rIns="0" bIns="0" anchor="t">
            <a:noAutofit/>
          </a:bodyPr>
          <a:lstStyle/>
          <a:p>
            <a:pPr marL="0" marR="0" indent="0">
              <a:defRPr sz="1950" b="1">
                <a:solidFill>
                  <a:srgbClr val="111111"/>
                </a:solidFill>
                <a:latin typeface="Aptos"/>
                <a:ea typeface="Aptos"/>
                <a:cs typeface="Aptos"/>
              </a:defRPr>
            </a:pPr>
            <a:r>
              <a:rPr sz="1950" b="1">
                <a:solidFill>
                  <a:srgbClr val="111111"/>
                </a:solidFill>
                <a:latin typeface="Aptos"/>
                <a:ea typeface="Aptos"/>
                <a:cs typeface="Aptos"/>
              </a:rPr>
              <a:t>3. Interquartile range</a:t>
            </a:r>
          </a:p>
        </p:txBody>
      </p:sp>
      <p:pic>
        <p:nvPicPr>
          <p:cNvPr id="11" name="Picture 10"/>
          <p:cNvPicPr>
            <a:picLocks noChangeAspect="1"/>
          </p:cNvPicPr>
          <p:nvPr/>
        </p:nvPicPr>
        <p:blipFill>
          <a:blip r:embed="rId5"/>
          <a:stretch/>
        </p:blipFill>
        <p:spPr>
          <a:xfrm>
            <a:off x="1269187" y="5562600"/>
            <a:ext cx="3748127" cy="361950"/>
          </a:xfrm>
          <a:prstGeom prst="rect">
            <a:avLst/>
          </a:prstGeom>
        </p:spPr>
      </p:pic>
      <p:sp>
        <p:nvSpPr>
          <p:cNvPr id="12" name="body">
            <a:extLst>
              <a:ext uri="{FF2B5EF4-FFF2-40B4-BE49-F238E27FC236}">
                <a16:creationId xmlns:a16="http://schemas.microsoft.com/office/drawing/2014/main" id="{CDB7FE85-1D3A-4229-AD51-53655D198BA2}"/>
              </a:ext>
            </a:extLst>
          </p:cNvPr>
          <p:cNvSpPr>
            <a:spLocks noGrp="1"/>
          </p:cNvSpPr>
          <p:nvPr/>
        </p:nvSpPr>
        <p:spPr>
          <a:xfrm>
            <a:off x="6477000" y="2686050"/>
            <a:ext cx="5238750" cy="304800"/>
          </a:xfrm>
          <a:prstGeom prst="rect">
            <a:avLst/>
          </a:prstGeom>
          <a:noFill/>
          <a:ln w="0">
            <a:noFill/>
          </a:ln>
        </p:spPr>
        <p:txBody>
          <a:bodyPr wrap="square" lIns="0" tIns="0" rIns="0" bIns="0" anchor="t">
            <a:noAutofit/>
          </a:bodyPr>
          <a:lstStyle/>
          <a:p>
            <a:pPr marL="0" marR="0" indent="0">
              <a:defRPr sz="1950" b="1">
                <a:solidFill>
                  <a:srgbClr val="111111"/>
                </a:solidFill>
                <a:latin typeface="Aptos"/>
                <a:ea typeface="Aptos"/>
                <a:cs typeface="Aptos"/>
              </a:defRPr>
            </a:pPr>
            <a:r>
              <a:rPr sz="1950" b="1">
                <a:solidFill>
                  <a:srgbClr val="111111"/>
                </a:solidFill>
                <a:latin typeface="Aptos"/>
                <a:ea typeface="Aptos"/>
                <a:cs typeface="Aptos"/>
              </a:rPr>
              <a:t>4. One signed deviation</a:t>
            </a:r>
          </a:p>
        </p:txBody>
      </p:sp>
      <p:pic>
        <p:nvPicPr>
          <p:cNvPr id="13" name="Picture 12"/>
          <p:cNvPicPr>
            <a:picLocks noChangeAspect="1"/>
          </p:cNvPicPr>
          <p:nvPr/>
        </p:nvPicPr>
        <p:blipFill>
          <a:blip r:embed="rId6"/>
          <a:stretch/>
        </p:blipFill>
        <p:spPr>
          <a:xfrm>
            <a:off x="7984666" y="3048000"/>
            <a:ext cx="2318668" cy="409575"/>
          </a:xfrm>
          <a:prstGeom prst="rect">
            <a:avLst/>
          </a:prstGeom>
        </p:spPr>
      </p:pic>
      <p:sp>
        <p:nvSpPr>
          <p:cNvPr id="14" name="body">
            <a:extLst>
              <a:ext uri="{FF2B5EF4-FFF2-40B4-BE49-F238E27FC236}">
                <a16:creationId xmlns:a16="http://schemas.microsoft.com/office/drawing/2014/main" id="{8F628F35-681C-4C5C-9F03-6342411A4534}"/>
              </a:ext>
            </a:extLst>
          </p:cNvPr>
          <p:cNvSpPr>
            <a:spLocks noGrp="1"/>
          </p:cNvSpPr>
          <p:nvPr/>
        </p:nvSpPr>
        <p:spPr>
          <a:xfrm>
            <a:off x="6477000" y="3543300"/>
            <a:ext cx="5238750" cy="476250"/>
          </a:xfrm>
          <a:prstGeom prst="rect">
            <a:avLst/>
          </a:prstGeom>
          <a:noFill/>
          <a:ln w="0">
            <a:noFill/>
          </a:ln>
        </p:spPr>
        <p:txBody>
          <a:bodyPr wrap="square" lIns="0" tIns="0" rIns="0" bIns="0" anchor="t">
            <a:noAutofit/>
          </a:bodyPr>
          <a:lstStyle/>
          <a:p>
            <a:pPr marL="0" marR="0" indent="0">
              <a:defRPr sz="1800" b="0">
                <a:solidFill>
                  <a:srgbClr val="111111"/>
                </a:solidFill>
                <a:latin typeface="Aptos"/>
                <a:ea typeface="Aptos"/>
                <a:cs typeface="Aptos"/>
              </a:defRPr>
            </a:pPr>
            <a:r>
              <a:rPr sz="1800" b="0">
                <a:solidFill>
                  <a:srgbClr val="111111"/>
                </a:solidFill>
                <a:latin typeface="Aptos"/>
                <a:ea typeface="Aptos"/>
                <a:cs typeface="Aptos"/>
              </a:rPr>
              <a:t>9 h above the mean. SD describes overall spread.</a:t>
            </a:r>
          </a:p>
        </p:txBody>
      </p:sp>
      <p:sp>
        <p:nvSpPr>
          <p:cNvPr id="15" name="body">
            <a:extLst>
              <a:ext uri="{FF2B5EF4-FFF2-40B4-BE49-F238E27FC236}">
                <a16:creationId xmlns:a16="http://schemas.microsoft.com/office/drawing/2014/main" id="{1A7BD223-1DCC-4428-BCBA-0DE62E55A9CB}"/>
              </a:ext>
            </a:extLst>
          </p:cNvPr>
          <p:cNvSpPr>
            <a:spLocks noGrp="1"/>
          </p:cNvSpPr>
          <p:nvPr/>
        </p:nvSpPr>
        <p:spPr>
          <a:xfrm>
            <a:off x="6477000" y="3924300"/>
            <a:ext cx="5238750" cy="295275"/>
          </a:xfrm>
          <a:prstGeom prst="rect">
            <a:avLst/>
          </a:prstGeom>
          <a:noFill/>
          <a:ln w="0">
            <a:noFill/>
          </a:ln>
        </p:spPr>
        <p:txBody>
          <a:bodyPr wrap="square" lIns="0" tIns="0" rIns="0" bIns="0" anchor="t">
            <a:noAutofit/>
          </a:bodyPr>
          <a:lstStyle/>
          <a:p>
            <a:pPr marL="0" marR="0" indent="0">
              <a:defRPr sz="1950" b="1">
                <a:solidFill>
                  <a:srgbClr val="111111"/>
                </a:solidFill>
                <a:latin typeface="Aptos"/>
                <a:ea typeface="Aptos"/>
                <a:cs typeface="Aptos"/>
              </a:defRPr>
            </a:pPr>
            <a:r>
              <a:rPr sz="1950" b="1">
                <a:solidFill>
                  <a:srgbClr val="111111"/>
                </a:solidFill>
                <a:latin typeface="Aptos"/>
                <a:ea typeface="Aptos"/>
                <a:cs typeface="Aptos"/>
              </a:rPr>
              <a:t>5. Sample variance and SD</a:t>
            </a:r>
          </a:p>
        </p:txBody>
      </p:sp>
      <p:pic>
        <p:nvPicPr>
          <p:cNvPr id="16" name="Picture 15"/>
          <p:cNvPicPr>
            <a:picLocks noChangeAspect="1"/>
          </p:cNvPicPr>
          <p:nvPr/>
        </p:nvPicPr>
        <p:blipFill>
          <a:blip r:embed="rId7"/>
          <a:stretch/>
        </p:blipFill>
        <p:spPr>
          <a:xfrm>
            <a:off x="7029701" y="4286250"/>
            <a:ext cx="4085724" cy="476250"/>
          </a:xfrm>
          <a:prstGeom prst="rect">
            <a:avLst/>
          </a:prstGeom>
        </p:spPr>
      </p:pic>
      <p:sp>
        <p:nvSpPr>
          <p:cNvPr id="17" name="body">
            <a:extLst>
              <a:ext uri="{FF2B5EF4-FFF2-40B4-BE49-F238E27FC236}">
                <a16:creationId xmlns:a16="http://schemas.microsoft.com/office/drawing/2014/main" id="{B061D806-FB04-4061-A1ED-EFC6F4C0FA16}"/>
              </a:ext>
            </a:extLst>
          </p:cNvPr>
          <p:cNvSpPr>
            <a:spLocks noGrp="1"/>
          </p:cNvSpPr>
          <p:nvPr/>
        </p:nvSpPr>
        <p:spPr>
          <a:xfrm>
            <a:off x="6477000" y="4838700"/>
            <a:ext cx="5238750" cy="409575"/>
          </a:xfrm>
          <a:prstGeom prst="rect">
            <a:avLst/>
          </a:prstGeom>
          <a:noFill/>
          <a:ln w="0">
            <a:noFill/>
          </a:ln>
        </p:spPr>
        <p:txBody>
          <a:bodyPr wrap="square" lIns="0" tIns="0" rIns="0" bIns="0" anchor="t">
            <a:noAutofit/>
          </a:bodyPr>
          <a:lstStyle/>
          <a:p>
            <a:pPr marL="0" marR="0" indent="0">
              <a:defRPr sz="1725" b="0">
                <a:solidFill>
                  <a:srgbClr val="111111"/>
                </a:solidFill>
                <a:latin typeface="Aptos"/>
                <a:ea typeface="Aptos"/>
                <a:cs typeface="Aptos"/>
              </a:defRPr>
            </a:pPr>
            <a:r>
              <a:rPr sz="1725" b="0">
                <a:solidFill>
                  <a:srgbClr val="111111"/>
                </a:solidFill>
                <a:latin typeface="Aptos"/>
                <a:ea typeface="Aptos"/>
                <a:cs typeface="Aptos"/>
              </a:rPr>
              <a:t>Use n − 1 = 7 to estimate population variance.</a:t>
            </a:r>
          </a:p>
        </p:txBody>
      </p:sp>
      <p:sp>
        <p:nvSpPr>
          <p:cNvPr id="18" name="body">
            <a:extLst>
              <a:ext uri="{FF2B5EF4-FFF2-40B4-BE49-F238E27FC236}">
                <a16:creationId xmlns:a16="http://schemas.microsoft.com/office/drawing/2014/main" id="{1A093274-75AF-412F-8AA2-A487266A1C0C}"/>
              </a:ext>
            </a:extLst>
          </p:cNvPr>
          <p:cNvSpPr>
            <a:spLocks noGrp="1"/>
          </p:cNvSpPr>
          <p:nvPr/>
        </p:nvSpPr>
        <p:spPr>
          <a:xfrm>
            <a:off x="6477000" y="5305425"/>
            <a:ext cx="5238750" cy="295275"/>
          </a:xfrm>
          <a:prstGeom prst="rect">
            <a:avLst/>
          </a:prstGeom>
          <a:noFill/>
          <a:ln w="0">
            <a:noFill/>
          </a:ln>
        </p:spPr>
        <p:txBody>
          <a:bodyPr wrap="square" lIns="0" tIns="0" rIns="0" bIns="0" anchor="t">
            <a:noAutofit/>
          </a:bodyPr>
          <a:lstStyle/>
          <a:p>
            <a:pPr marL="0" marR="0" indent="0">
              <a:defRPr sz="1950" b="1">
                <a:solidFill>
                  <a:srgbClr val="111111"/>
                </a:solidFill>
                <a:latin typeface="Aptos"/>
                <a:ea typeface="Aptos"/>
                <a:cs typeface="Aptos"/>
              </a:defRPr>
            </a:pPr>
            <a:r>
              <a:rPr sz="1950" b="1">
                <a:solidFill>
                  <a:srgbClr val="111111"/>
                </a:solidFill>
                <a:latin typeface="Aptos"/>
                <a:ea typeface="Aptos"/>
                <a:cs typeface="Aptos"/>
              </a:rPr>
              <a:t>6. Coefficient of variation</a:t>
            </a:r>
          </a:p>
        </p:txBody>
      </p:sp>
      <p:pic>
        <p:nvPicPr>
          <p:cNvPr id="19" name="Picture 18"/>
          <p:cNvPicPr>
            <a:picLocks noChangeAspect="1"/>
          </p:cNvPicPr>
          <p:nvPr/>
        </p:nvPicPr>
        <p:blipFill>
          <a:blip r:embed="rId8"/>
          <a:stretch/>
        </p:blipFill>
        <p:spPr>
          <a:xfrm>
            <a:off x="7228968" y="5676900"/>
            <a:ext cx="3677664" cy="419100"/>
          </a:xfrm>
          <a:prstGeom prst="rect">
            <a:avLst/>
          </a:prstGeom>
        </p:spPr>
      </p:pic>
      <p:sp>
        <p:nvSpPr>
          <p:cNvPr id="20" name="body">
            <a:extLst>
              <a:ext uri="{FF2B5EF4-FFF2-40B4-BE49-F238E27FC236}">
                <a16:creationId xmlns:a16="http://schemas.microsoft.com/office/drawing/2014/main" id="{E0874C61-2D31-4558-9286-73C844FDC705}"/>
              </a:ext>
            </a:extLst>
          </p:cNvPr>
          <p:cNvSpPr>
            <a:spLocks noGrp="1"/>
          </p:cNvSpPr>
          <p:nvPr/>
        </p:nvSpPr>
        <p:spPr>
          <a:xfrm>
            <a:off x="523875" y="6010275"/>
            <a:ext cx="5257800" cy="257175"/>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IQR describes the spread of the middle 50%.</a:t>
            </a:r>
          </a:p>
        </p:txBody>
      </p:sp>
      <p:sp>
        <p:nvSpPr>
          <p:cNvPr id="21" name="body">
            <a:extLst>
              <a:ext uri="{FF2B5EF4-FFF2-40B4-BE49-F238E27FC236}">
                <a16:creationId xmlns:a16="http://schemas.microsoft.com/office/drawing/2014/main" id="{19C0214A-59F9-4D87-B06D-D8C50260B316}"/>
              </a:ext>
            </a:extLst>
          </p:cNvPr>
          <p:cNvSpPr>
            <a:spLocks noGrp="1"/>
          </p:cNvSpPr>
          <p:nvPr/>
        </p:nvSpPr>
        <p:spPr>
          <a:xfrm>
            <a:off x="6477000" y="6115050"/>
            <a:ext cx="5238750" cy="219075"/>
          </a:xfrm>
          <a:prstGeom prst="rect">
            <a:avLst/>
          </a:prstGeom>
          <a:noFill/>
          <a:ln w="0">
            <a:noFill/>
          </a:ln>
        </p:spPr>
        <p:txBody>
          <a:bodyPr wrap="square" lIns="0" tIns="0" rIns="0" bIns="0" anchor="t">
            <a:noAutofit/>
          </a:bodyPr>
          <a:lstStyle/>
          <a:p>
            <a:pPr marL="0" marR="0" indent="0">
              <a:defRPr sz="1575" b="0">
                <a:solidFill>
                  <a:srgbClr val="111111"/>
                </a:solidFill>
                <a:latin typeface="Aptos"/>
                <a:ea typeface="Aptos"/>
                <a:cs typeface="Aptos"/>
              </a:defRPr>
            </a:pPr>
            <a:r>
              <a:rPr sz="1575" b="0">
                <a:solidFill>
                  <a:srgbClr val="111111"/>
                </a:solidFill>
                <a:latin typeface="Aptos"/>
                <a:ea typeface="Aptos"/>
                <a:cs typeface="Aptos"/>
              </a:rPr>
              <a:t>Smaller CV: less spread relative to the mean.</a:t>
            </a:r>
          </a:p>
        </p:txBody>
      </p:sp>
      <p:sp>
        <p:nvSpPr>
          <p:cNvPr id="22"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REVISION • ANSWERS</a:t>
            </a:r>
          </a:p>
        </p:txBody>
      </p:sp>
    </p:spTree>
    <p:extLst>
      <p:ext uri="{BB962C8B-B14F-4D97-AF65-F5344CB8AC3E}">
        <p14:creationId xmlns:p14="http://schemas.microsoft.com/office/powerpoint/2010/main" val="980374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print shop’s problem</a:t>
            </a:r>
          </a:p>
        </p:txBody>
      </p:sp>
      <p:sp>
        <p:nvSpPr>
          <p:cNvPr id="3" name="body">
            <a:extLst>
              <a:ext uri="{FF2B5EF4-FFF2-40B4-BE49-F238E27FC236}">
                <a16:creationId xmlns:a16="http://schemas.microsoft.com/office/drawing/2014/main" id="{706B9EA2-B514-4B4F-A48F-5AD5F9646A6A}"/>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A university print shop needs a regular supplier of A4 paper.</a:t>
            </a:r>
          </a:p>
        </p:txBody>
      </p:sp>
      <p:sp>
        <p:nvSpPr>
          <p:cNvPr id="4" name="body">
            <a:extLst>
              <a:ext uri="{FF2B5EF4-FFF2-40B4-BE49-F238E27FC236}">
                <a16:creationId xmlns:a16="http://schemas.microsoft.com/office/drawing/2014/main" id="{E368FD47-D5FF-4E21-8211-6EEF296551B8}"/>
              </a:ext>
            </a:extLst>
          </p:cNvPr>
          <p:cNvSpPr>
            <a:spLocks noGrp="1"/>
          </p:cNvSpPr>
          <p:nvPr/>
        </p:nvSpPr>
        <p:spPr>
          <a:xfrm>
            <a:off x="523875" y="2809875"/>
            <a:ext cx="11144250" cy="962025"/>
          </a:xfrm>
          <a:prstGeom prst="rect">
            <a:avLst/>
          </a:prstGeom>
          <a:noFill/>
          <a:ln w="0">
            <a:noFill/>
          </a:ln>
        </p:spPr>
        <p:txBody>
          <a:bodyPr wrap="square" lIns="0" tIns="0" rIns="0" bIns="0" anchor="t">
            <a:noAutofit/>
          </a:bodyPr>
          <a:lstStyle/>
          <a:p>
            <a:pPr marL="0" marR="0" indent="0">
              <a:defRPr sz="2250" b="0">
                <a:solidFill>
                  <a:srgbClr val="111111"/>
                </a:solidFill>
                <a:latin typeface="Aptos"/>
                <a:ea typeface="Aptos"/>
                <a:cs typeface="Aptos"/>
              </a:defRPr>
            </a:pPr>
            <a:r>
              <a:rPr sz="2250" b="0">
                <a:solidFill>
                  <a:srgbClr val="111111"/>
                </a:solidFill>
                <a:latin typeface="Aptos"/>
                <a:ea typeface="Aptos"/>
                <a:cs typeface="Aptos"/>
              </a:rPr>
              <a:t>Both suppliers offer the same paper quality,</a:t>
            </a:r>
          </a:p>
          <a:p>
            <a:pPr marL="0" marR="0" indent="0">
              <a:defRPr sz="2250" b="0">
                <a:solidFill>
                  <a:srgbClr val="111111"/>
                </a:solidFill>
                <a:latin typeface="Aptos"/>
                <a:ea typeface="Aptos"/>
                <a:cs typeface="Aptos"/>
              </a:defRPr>
            </a:pPr>
            <a:r>
              <a:rPr sz="2250" b="0">
                <a:solidFill>
                  <a:srgbClr val="111111"/>
                </a:solidFill>
                <a:latin typeface="Aptos"/>
                <a:ea typeface="Aptos"/>
                <a:cs typeface="Aptos"/>
              </a:rPr>
              <a:t>order quantity and total price, including delivery.</a:t>
            </a:r>
          </a:p>
        </p:txBody>
      </p:sp>
      <p:sp>
        <p:nvSpPr>
          <p:cNvPr id="5" name="body">
            <a:extLst>
              <a:ext uri="{FF2B5EF4-FFF2-40B4-BE49-F238E27FC236}">
                <a16:creationId xmlns:a16="http://schemas.microsoft.com/office/drawing/2014/main" id="{A1C68D15-3226-4CCA-A952-14BBD93DC3FD}"/>
              </a:ext>
            </a:extLst>
          </p:cNvPr>
          <p:cNvSpPr>
            <a:spLocks noGrp="1"/>
          </p:cNvSpPr>
          <p:nvPr/>
        </p:nvSpPr>
        <p:spPr>
          <a:xfrm>
            <a:off x="523875" y="3867150"/>
            <a:ext cx="11144250" cy="962025"/>
          </a:xfrm>
          <a:prstGeom prst="rect">
            <a:avLst/>
          </a:prstGeom>
          <a:noFill/>
          <a:ln w="0">
            <a:noFill/>
          </a:ln>
        </p:spPr>
        <p:txBody>
          <a:bodyPr wrap="square" lIns="0" tIns="0" rIns="0" bIns="0" anchor="t">
            <a:noAutofit/>
          </a:bodyPr>
          <a:lstStyle/>
          <a:p>
            <a:pPr marL="0" marR="0" indent="0">
              <a:defRPr sz="2250" b="0">
                <a:solidFill>
                  <a:srgbClr val="111111"/>
                </a:solidFill>
                <a:latin typeface="Aptos"/>
                <a:ea typeface="Aptos"/>
                <a:cs typeface="Aptos"/>
              </a:defRPr>
            </a:pPr>
            <a:r>
              <a:rPr sz="2250" b="0">
                <a:solidFill>
                  <a:srgbClr val="111111"/>
                </a:solidFill>
                <a:latin typeface="Aptos"/>
                <a:ea typeface="Aptos"/>
                <a:cs typeface="Aptos"/>
              </a:rPr>
              <a:t>Running out of paper can stop printing jobs.</a:t>
            </a:r>
          </a:p>
        </p:txBody>
      </p:sp>
      <p:sp>
        <p:nvSpPr>
          <p:cNvPr id="6" name="body">
            <a:extLst>
              <a:ext uri="{FF2B5EF4-FFF2-40B4-BE49-F238E27FC236}">
                <a16:creationId xmlns:a16="http://schemas.microsoft.com/office/drawing/2014/main" id="{E764A640-AC55-47DE-9B49-ED7A53E6707D}"/>
              </a:ext>
            </a:extLst>
          </p:cNvPr>
          <p:cNvSpPr>
            <a:spLocks noGrp="1"/>
          </p:cNvSpPr>
          <p:nvPr/>
        </p:nvSpPr>
        <p:spPr>
          <a:xfrm>
            <a:off x="523875" y="4924425"/>
            <a:ext cx="11144250" cy="962025"/>
          </a:xfrm>
          <a:prstGeom prst="rect">
            <a:avLst/>
          </a:prstGeom>
          <a:noFill/>
          <a:ln w="0">
            <a:noFill/>
          </a:ln>
        </p:spPr>
        <p:txBody>
          <a:bodyPr wrap="square" lIns="0" tIns="0" rIns="0" bIns="0" anchor="t">
            <a:noAutofit/>
          </a:bodyPr>
          <a:lstStyle/>
          <a:p>
            <a:pPr marL="0" marR="0" indent="0">
              <a:defRPr sz="2250" b="0">
                <a:solidFill>
                  <a:srgbClr val="111111"/>
                </a:solidFill>
                <a:latin typeface="Aptos"/>
                <a:ea typeface="Aptos"/>
                <a:cs typeface="Aptos"/>
              </a:defRPr>
            </a:pPr>
            <a:r>
              <a:rPr sz="2250" b="0">
                <a:solidFill>
                  <a:srgbClr val="111111"/>
                </a:solidFill>
                <a:latin typeface="Aptos"/>
                <a:ea typeface="Aptos"/>
                <a:cs typeface="Aptos"/>
              </a:rPr>
              <a:t>The shop can place routine orders a few hours earlier.</a:t>
            </a:r>
          </a:p>
        </p:txBody>
      </p:sp>
      <p:sp>
        <p:nvSpPr>
          <p:cNvPr id="7" name="body">
            <a:extLst>
              <a:ext uri="{FF2B5EF4-FFF2-40B4-BE49-F238E27FC236}">
                <a16:creationId xmlns:a16="http://schemas.microsoft.com/office/drawing/2014/main" id="{6F190E72-E2AE-46C9-A487-DB977081BF71}"/>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Which supplier would you recommend, and what should the manager watch for?</a:t>
            </a:r>
          </a:p>
        </p:txBody>
      </p:sp>
    </p:spTree>
    <p:extLst>
      <p:ext uri="{BB962C8B-B14F-4D97-AF65-F5344CB8AC3E}">
        <p14:creationId xmlns:p14="http://schemas.microsoft.com/office/powerpoint/2010/main" val="3281361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the data represent</a:t>
            </a:r>
          </a:p>
        </p:txBody>
      </p:sp>
      <p:sp>
        <p:nvSpPr>
          <p:cNvPr id="3" name="body">
            <a:extLst>
              <a:ext uri="{FF2B5EF4-FFF2-40B4-BE49-F238E27FC236}">
                <a16:creationId xmlns:a16="http://schemas.microsoft.com/office/drawing/2014/main" id="{675DFB66-A0B4-4FB9-805E-BAAEA1CE729F}"/>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Delivery time: hours from order confirmation to arrival.</a:t>
            </a:r>
          </a:p>
        </p:txBody>
      </p:sp>
      <p:graphicFrame>
        <p:nvGraphicFramePr>
          <p:cNvPr id="4" name="Table 3"/>
          <p:cNvGraphicFramePr/>
          <p:nvPr/>
        </p:nvGraphicFramePr>
        <p:xfrm>
          <a:off x="523875" y="2762250"/>
          <a:ext cx="6143625" cy="2476500"/>
        </p:xfrm>
        <a:graphic>
          <a:graphicData uri="http://schemas.openxmlformats.org/drawingml/2006/table">
            <a:tbl>
              <a:tblPr/>
              <a:tblGrid>
                <a:gridCol w="1285875">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gridCol w="2428875">
                  <a:extLst>
                    <a:ext uri="{9D8B030D-6E8A-4147-A177-3AD203B41FA5}">
                      <a16:colId xmlns:a16="http://schemas.microsoft.com/office/drawing/2014/main" val="20002"/>
                    </a:ext>
                  </a:extLst>
                </a:gridCol>
              </a:tblGrid>
              <a:tr h="495300">
                <a:tc>
                  <a:txBody>
                    <a:bodyPr/>
                    <a:lstStyle/>
                    <a:p>
                      <a:pPr marL="0" marR="0" indent="0">
                        <a:lnSpc>
                          <a:spcPct val="105000"/>
                        </a:lnSpc>
                        <a:spcBef>
                          <a:spcPts val="0"/>
                        </a:spcBef>
                        <a:spcAft>
                          <a:spcPts val="0"/>
                        </a:spcAft>
                      </a:pPr>
                      <a:r>
                        <a:rPr sz="1875" b="1">
                          <a:solidFill>
                            <a:srgbClr val="FFFFFF"/>
                          </a:solidFill>
                          <a:latin typeface="Aptos"/>
                          <a:ea typeface="Aptos"/>
                          <a:cs typeface="Aptos"/>
                        </a:rPr>
                        <a:t>Trial</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75" b="1">
                          <a:solidFill>
                            <a:srgbClr val="FFFFFF"/>
                          </a:solidFill>
                          <a:latin typeface="Aptos"/>
                          <a:ea typeface="Aptos"/>
                          <a:cs typeface="Aptos"/>
                        </a:rPr>
                        <a:t>Supplier A (hours)</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75" b="1">
                          <a:solidFill>
                            <a:srgbClr val="FFFFFF"/>
                          </a:solidFill>
                          <a:latin typeface="Aptos"/>
                          <a:ea typeface="Aptos"/>
                          <a:cs typeface="Aptos"/>
                        </a:rPr>
                        <a:t>Supplier B (hours)</a:t>
                      </a:r>
                    </a:p>
                  </a:txBody>
                  <a:tcPr marL="76200" marR="57150" marT="19050" marB="19050" anchor="ctr">
                    <a:solidFill>
                      <a:srgbClr val="D6171D"/>
                    </a:solidFill>
                  </a:tcPr>
                </a:tc>
                <a:extLst>
                  <a:ext uri="{0D108BD9-81ED-4DB2-BD59-A6C34878D82A}">
                    <a16:rowId xmlns:a16="http://schemas.microsoft.com/office/drawing/2014/main" val="10000"/>
                  </a:ext>
                </a:extLst>
              </a:tr>
              <a:tr h="495300">
                <a:tc>
                  <a:txBody>
                    <a:bodyPr/>
                    <a:lstStyle/>
                    <a:p>
                      <a:pPr marL="0" marR="0" indent="0">
                        <a:lnSpc>
                          <a:spcPct val="105000"/>
                        </a:lnSpc>
                        <a:spcBef>
                          <a:spcPts val="0"/>
                        </a:spcBef>
                        <a:spcAft>
                          <a:spcPts val="0"/>
                        </a:spcAft>
                      </a:pPr>
                      <a:r>
                        <a:rPr sz="2025" b="0">
                          <a:solidFill>
                            <a:srgbClr val="111111"/>
                          </a:solidFill>
                          <a:latin typeface="Aptos"/>
                          <a:ea typeface="Aptos"/>
                          <a:cs typeface="Aptos"/>
                        </a:rPr>
                        <a:t>1</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36</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51</a:t>
                      </a:r>
                    </a:p>
                  </a:txBody>
                  <a:tcPr marL="76200" marR="57150" marT="19050" marB="19050" anchor="ctr">
                    <a:solidFill>
                      <a:srgbClr val="FFFFFF"/>
                    </a:solidFill>
                  </a:tcPr>
                </a:tc>
                <a:extLst>
                  <a:ext uri="{0D108BD9-81ED-4DB2-BD59-A6C34878D82A}">
                    <a16:rowId xmlns:a16="http://schemas.microsoft.com/office/drawing/2014/main" val="10001"/>
                  </a:ext>
                </a:extLst>
              </a:tr>
              <a:tr h="495300">
                <a:tc>
                  <a:txBody>
                    <a:bodyPr/>
                    <a:lstStyle/>
                    <a:p>
                      <a:pPr marL="0" marR="0" indent="0">
                        <a:lnSpc>
                          <a:spcPct val="105000"/>
                        </a:lnSpc>
                        <a:spcBef>
                          <a:spcPts val="0"/>
                        </a:spcBef>
                        <a:spcAft>
                          <a:spcPts val="0"/>
                        </a:spcAft>
                      </a:pPr>
                      <a:r>
                        <a:rPr sz="2025" b="0">
                          <a:solidFill>
                            <a:srgbClr val="111111"/>
                          </a:solidFill>
                          <a:latin typeface="Aptos"/>
                          <a:ea typeface="Aptos"/>
                          <a:cs typeface="Aptos"/>
                        </a:rPr>
                        <a:t>2</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49</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44</a:t>
                      </a:r>
                    </a:p>
                  </a:txBody>
                  <a:tcPr marL="76200" marR="57150" marT="19050" marB="19050" anchor="ctr">
                    <a:solidFill>
                      <a:srgbClr val="EFF8FF"/>
                    </a:solidFill>
                  </a:tcPr>
                </a:tc>
                <a:extLst>
                  <a:ext uri="{0D108BD9-81ED-4DB2-BD59-A6C34878D82A}">
                    <a16:rowId xmlns:a16="http://schemas.microsoft.com/office/drawing/2014/main" val="10002"/>
                  </a:ext>
                </a:extLst>
              </a:tr>
              <a:tr h="495300">
                <a:tc>
                  <a:txBody>
                    <a:bodyPr/>
                    <a:lstStyle/>
                    <a:p>
                      <a:pPr marL="0" marR="0" indent="0">
                        <a:lnSpc>
                          <a:spcPct val="105000"/>
                        </a:lnSpc>
                        <a:spcBef>
                          <a:spcPts val="0"/>
                        </a:spcBef>
                        <a:spcAft>
                          <a:spcPts val="0"/>
                        </a:spcAft>
                      </a:pPr>
                      <a:r>
                        <a:rPr sz="2025" b="0">
                          <a:solidFill>
                            <a:srgbClr val="111111"/>
                          </a:solidFill>
                          <a:latin typeface="Aptos"/>
                          <a:ea typeface="Aptos"/>
                          <a:cs typeface="Aptos"/>
                        </a:rPr>
                        <a:t>3</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45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49</a:t>
                      </a:r>
                    </a:p>
                  </a:txBody>
                  <a:tcPr marL="76200" marR="57150" marT="19050" marB="19050" anchor="ctr">
                    <a:solidFill>
                      <a:srgbClr val="FFFFFF"/>
                    </a:solidFill>
                  </a:tcPr>
                </a:tc>
                <a:extLst>
                  <a:ext uri="{0D108BD9-81ED-4DB2-BD59-A6C34878D82A}">
                    <a16:rowId xmlns:a16="http://schemas.microsoft.com/office/drawing/2014/main" val="10003"/>
                  </a:ext>
                </a:extLst>
              </a:tr>
              <a:tr h="495300">
                <a:tc>
                  <a:txBody>
                    <a:bodyPr/>
                    <a:lstStyle/>
                    <a:p>
                      <a:pPr marL="0" marR="0" indent="0">
                        <a:lnSpc>
                          <a:spcPct val="105000"/>
                        </a:lnSpc>
                        <a:spcBef>
                          <a:spcPts val="0"/>
                        </a:spcBef>
                        <a:spcAft>
                          <a:spcPts val="0"/>
                        </a:spcAft>
                      </a:pPr>
                      <a:r>
                        <a:rPr sz="2025" b="0">
                          <a:solidFill>
                            <a:srgbClr val="111111"/>
                          </a:solidFill>
                          <a:latin typeface="Aptos"/>
                          <a:ea typeface="Aptos"/>
                          <a:cs typeface="Aptos"/>
                        </a:rPr>
                        <a:t>…</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a:t>
                      </a:r>
                    </a:p>
                  </a:txBody>
                  <a:tcPr marL="76200" marR="57150" marT="19050" marB="19050" anchor="ctr">
                    <a:solidFill>
                      <a:srgbClr val="EFF8FF"/>
                    </a:solidFill>
                  </a:tcPr>
                </a:tc>
                <a:extLst>
                  <a:ext uri="{0D108BD9-81ED-4DB2-BD59-A6C34878D82A}">
                    <a16:rowId xmlns:a16="http://schemas.microsoft.com/office/drawing/2014/main" val="10004"/>
                  </a:ext>
                </a:extLst>
              </a:tr>
            </a:tbl>
          </a:graphicData>
        </a:graphic>
      </p:graphicFrame>
      <p:sp>
        <p:nvSpPr>
          <p:cNvPr id="5" name="body">
            <a:extLst>
              <a:ext uri="{FF2B5EF4-FFF2-40B4-BE49-F238E27FC236}">
                <a16:creationId xmlns:a16="http://schemas.microsoft.com/office/drawing/2014/main" id="{8A8D65C0-0033-4B25-9569-1BD8AB2B7849}"/>
              </a:ext>
            </a:extLst>
          </p:cNvPr>
          <p:cNvSpPr>
            <a:spLocks noGrp="1"/>
          </p:cNvSpPr>
          <p:nvPr/>
        </p:nvSpPr>
        <p:spPr>
          <a:xfrm>
            <a:off x="7143750" y="2886075"/>
            <a:ext cx="4572000" cy="523875"/>
          </a:xfrm>
          <a:prstGeom prst="rect">
            <a:avLst/>
          </a:prstGeom>
          <a:noFill/>
          <a:ln w="0">
            <a:noFill/>
          </a:ln>
        </p:spPr>
        <p:txBody>
          <a:bodyPr wrap="square" lIns="0" tIns="0" rIns="0" bIns="0" anchor="t">
            <a:noAutofit/>
          </a:bodyPr>
          <a:lstStyle/>
          <a:p>
            <a:pPr marL="0" marR="0" indent="0">
              <a:defRPr sz="2100" b="0">
                <a:solidFill>
                  <a:srgbClr val="111111"/>
                </a:solidFill>
                <a:latin typeface="Aptos"/>
                <a:ea typeface="Aptos"/>
                <a:cs typeface="Aptos"/>
              </a:defRPr>
            </a:pPr>
            <a:r>
              <a:rPr sz="2100" b="0">
                <a:solidFill>
                  <a:srgbClr val="111111"/>
                </a:solidFill>
                <a:latin typeface="Aptos"/>
                <a:ea typeface="Aptos"/>
                <a:cs typeface="Aptos"/>
              </a:rPr>
              <a:t>30 trial orders per supplier</a:t>
            </a:r>
          </a:p>
        </p:txBody>
      </p:sp>
      <p:sp>
        <p:nvSpPr>
          <p:cNvPr id="6" name="body">
            <a:extLst>
              <a:ext uri="{FF2B5EF4-FFF2-40B4-BE49-F238E27FC236}">
                <a16:creationId xmlns:a16="http://schemas.microsoft.com/office/drawing/2014/main" id="{62EA64A1-272A-4A7D-A4B8-10F64ADAC6AA}"/>
              </a:ext>
            </a:extLst>
          </p:cNvPr>
          <p:cNvSpPr>
            <a:spLocks noGrp="1"/>
          </p:cNvSpPr>
          <p:nvPr/>
        </p:nvSpPr>
        <p:spPr>
          <a:xfrm>
            <a:off x="7143750" y="3505200"/>
            <a:ext cx="4572000" cy="523875"/>
          </a:xfrm>
          <a:prstGeom prst="rect">
            <a:avLst/>
          </a:prstGeom>
          <a:noFill/>
          <a:ln w="0">
            <a:noFill/>
          </a:ln>
        </p:spPr>
        <p:txBody>
          <a:bodyPr wrap="square" lIns="0" tIns="0" rIns="0" bIns="0" anchor="t">
            <a:noAutofit/>
          </a:bodyPr>
          <a:lstStyle/>
          <a:p>
            <a:pPr marL="0" marR="0" indent="0">
              <a:defRPr sz="2100" b="0">
                <a:solidFill>
                  <a:srgbClr val="111111"/>
                </a:solidFill>
                <a:latin typeface="Aptos"/>
                <a:ea typeface="Aptos"/>
                <a:cs typeface="Aptos"/>
              </a:defRPr>
            </a:pPr>
            <a:r>
              <a:rPr sz="2100" b="0">
                <a:solidFill>
                  <a:srgbClr val="111111"/>
                </a:solidFill>
                <a:latin typeface="Aptos"/>
                <a:ea typeface="Aptos"/>
                <a:cs typeface="Aptos"/>
              </a:rPr>
              <a:t>60 delivery times altogether</a:t>
            </a:r>
          </a:p>
        </p:txBody>
      </p:sp>
      <p:sp>
        <p:nvSpPr>
          <p:cNvPr id="7" name="body">
            <a:extLst>
              <a:ext uri="{FF2B5EF4-FFF2-40B4-BE49-F238E27FC236}">
                <a16:creationId xmlns:a16="http://schemas.microsoft.com/office/drawing/2014/main" id="{17A619A1-BC19-4D1A-863D-78DC587CDE2F}"/>
              </a:ext>
            </a:extLst>
          </p:cNvPr>
          <p:cNvSpPr>
            <a:spLocks noGrp="1"/>
          </p:cNvSpPr>
          <p:nvPr/>
        </p:nvSpPr>
        <p:spPr>
          <a:xfrm>
            <a:off x="7143750" y="4124325"/>
            <a:ext cx="4572000" cy="523875"/>
          </a:xfrm>
          <a:prstGeom prst="rect">
            <a:avLst/>
          </a:prstGeom>
          <a:noFill/>
          <a:ln w="0">
            <a:noFill/>
          </a:ln>
        </p:spPr>
        <p:txBody>
          <a:bodyPr wrap="square" lIns="0" tIns="0" rIns="0" bIns="0" anchor="t">
            <a:noAutofit/>
          </a:bodyPr>
          <a:lstStyle/>
          <a:p>
            <a:pPr marL="0" marR="0" indent="0">
              <a:defRPr sz="2100" b="0">
                <a:solidFill>
                  <a:srgbClr val="111111"/>
                </a:solidFill>
                <a:latin typeface="Aptos"/>
                <a:ea typeface="Aptos"/>
                <a:cs typeface="Aptos"/>
              </a:defRPr>
            </a:pPr>
            <a:r>
              <a:rPr sz="2100" b="0">
                <a:solidFill>
                  <a:srgbClr val="111111"/>
                </a:solidFill>
                <a:latin typeface="Aptos"/>
                <a:ea typeface="Aptos"/>
                <a:cs typeface="Aptos"/>
              </a:rPr>
              <a:t>Includes nights and weekends</a:t>
            </a:r>
          </a:p>
        </p:txBody>
      </p:sp>
      <p:sp>
        <p:nvSpPr>
          <p:cNvPr id="8" name="body">
            <a:extLst>
              <a:ext uri="{FF2B5EF4-FFF2-40B4-BE49-F238E27FC236}">
                <a16:creationId xmlns:a16="http://schemas.microsoft.com/office/drawing/2014/main" id="{80036A52-7E35-4139-B956-1C2CD737D06B}"/>
              </a:ext>
            </a:extLst>
          </p:cNvPr>
          <p:cNvSpPr>
            <a:spLocks noGrp="1"/>
          </p:cNvSpPr>
          <p:nvPr/>
        </p:nvSpPr>
        <p:spPr>
          <a:xfrm>
            <a:off x="7143750" y="4743450"/>
            <a:ext cx="4572000" cy="523875"/>
          </a:xfrm>
          <a:prstGeom prst="rect">
            <a:avLst/>
          </a:prstGeom>
          <a:noFill/>
          <a:ln w="0">
            <a:noFill/>
          </a:ln>
        </p:spPr>
        <p:txBody>
          <a:bodyPr wrap="square" lIns="0" tIns="0" rIns="0" bIns="0" anchor="t">
            <a:noAutofit/>
          </a:bodyPr>
          <a:lstStyle/>
          <a:p>
            <a:pPr marL="0" marR="0" indent="0">
              <a:defRPr sz="2100" b="0">
                <a:solidFill>
                  <a:srgbClr val="111111"/>
                </a:solidFill>
                <a:latin typeface="Aptos"/>
                <a:ea typeface="Aptos"/>
                <a:cs typeface="Aptos"/>
              </a:defRPr>
            </a:pPr>
            <a:r>
              <a:rPr sz="2100" b="0">
                <a:solidFill>
                  <a:srgbClr val="111111"/>
                </a:solidFill>
                <a:latin typeface="Aptos"/>
                <a:ea typeface="Aptos"/>
                <a:cs typeface="Aptos"/>
              </a:rPr>
              <a:t>Recorded to the nearest hour</a:t>
            </a:r>
          </a:p>
        </p:txBody>
      </p:sp>
      <p:sp>
        <p:nvSpPr>
          <p:cNvPr id="9" name="body">
            <a:extLst>
              <a:ext uri="{FF2B5EF4-FFF2-40B4-BE49-F238E27FC236}">
                <a16:creationId xmlns:a16="http://schemas.microsoft.com/office/drawing/2014/main" id="{8C8C3AA3-8B09-471B-A0FF-41B9F2AC9B83}"/>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Use both columns. These are simulated delivery records for our case.</a:t>
            </a:r>
          </a:p>
        </p:txBody>
      </p:sp>
    </p:spTree>
    <p:extLst>
      <p:ext uri="{BB962C8B-B14F-4D97-AF65-F5344CB8AC3E}">
        <p14:creationId xmlns:p14="http://schemas.microsoft.com/office/powerpoint/2010/main" val="3281361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235" y="2238375"/>
            <a:ext cx="5953125" cy="2705100"/>
          </a:xfrm>
        </p:spPr>
        <p:txBody>
          <a:bodyPr wrap="square" lIns="0" tIns="0" rIns="0" bIns="0" anchor="t">
            <a:noAutofit/>
          </a:bodyPr>
          <a:lstStyle/>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Section 1:</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Typical delivery</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times</a:t>
            </a:r>
          </a:p>
        </p:txBody>
      </p:sp>
      <p:sp>
        <p:nvSpPr>
          <p:cNvPr id="3" name="divider-question">
            <a:extLst>
              <a:ext uri="{FF2B5EF4-FFF2-40B4-BE49-F238E27FC236}">
                <a16:creationId xmlns:a16="http://schemas.microsoft.com/office/drawing/2014/main" id="{9E6FEE36-8335-47DC-A962-BB877B09F34E}"/>
              </a:ext>
            </a:extLst>
          </p:cNvPr>
          <p:cNvSpPr>
            <a:spLocks noGrp="1"/>
          </p:cNvSpPr>
          <p:nvPr/>
        </p:nvSpPr>
        <p:spPr>
          <a:xfrm>
            <a:off x="428625" y="5200650"/>
            <a:ext cx="5715000" cy="1028700"/>
          </a:xfrm>
          <a:prstGeom prst="rect">
            <a:avLst/>
          </a:prstGeom>
          <a:noFill/>
          <a:ln w="0">
            <a:noFill/>
          </a:ln>
        </p:spPr>
        <p:txBody>
          <a:bodyPr wrap="square" lIns="0" tIns="0" rIns="0" bIns="0" anchor="t">
            <a:noAutofit/>
          </a:bodyPr>
          <a:lstStyle/>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Which supplier usually</a:t>
            </a:r>
          </a:p>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delivers sooner?</a:t>
            </a:r>
          </a:p>
        </p:txBody>
      </p:sp>
    </p:spTree>
    <p:extLst>
      <p:ext uri="{BB962C8B-B14F-4D97-AF65-F5344CB8AC3E}">
        <p14:creationId xmlns:p14="http://schemas.microsoft.com/office/powerpoint/2010/main" val="3281361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C1: average delivery time</a:t>
            </a:r>
          </a:p>
        </p:txBody>
      </p:sp>
      <p:sp>
        <p:nvSpPr>
          <p:cNvPr id="3" name="body">
            <a:extLst>
              <a:ext uri="{FF2B5EF4-FFF2-40B4-BE49-F238E27FC236}">
                <a16:creationId xmlns:a16="http://schemas.microsoft.com/office/drawing/2014/main" id="{FE85A55C-E815-4DBD-A38C-E9A44D6F0953}"/>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Calculate the mean delivery time for each supplier.</a:t>
            </a:r>
          </a:p>
        </p:txBody>
      </p:sp>
      <p:pic>
        <p:nvPicPr>
          <p:cNvPr id="4" name="Picture 3"/>
          <p:cNvPicPr>
            <a:picLocks noChangeAspect="1"/>
          </p:cNvPicPr>
          <p:nvPr/>
        </p:nvPicPr>
        <p:blipFill>
          <a:blip r:embed="rId3"/>
          <a:stretch/>
        </p:blipFill>
        <p:spPr>
          <a:xfrm>
            <a:off x="1903512" y="2857500"/>
            <a:ext cx="2527102" cy="1428750"/>
          </a:xfrm>
          <a:prstGeom prst="rect">
            <a:avLst/>
          </a:prstGeom>
        </p:spPr>
      </p:pic>
      <p:graphicFrame>
        <p:nvGraphicFramePr>
          <p:cNvPr id="5" name="Table 4"/>
          <p:cNvGraphicFramePr/>
          <p:nvPr/>
        </p:nvGraphicFramePr>
        <p:xfrm>
          <a:off x="6191250" y="2714625"/>
          <a:ext cx="5381625" cy="2762250"/>
        </p:xfrm>
        <a:graphic>
          <a:graphicData uri="http://schemas.openxmlformats.org/drawingml/2006/table">
            <a:tbl>
              <a:tblPr/>
              <a:tblGrid>
                <a:gridCol w="2714625">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tblGrid>
              <a:tr h="552450">
                <a:tc>
                  <a:txBody>
                    <a:bodyPr/>
                    <a:lstStyle/>
                    <a:p>
                      <a:pPr marL="0" marR="0" indent="0">
                        <a:lnSpc>
                          <a:spcPct val="105000"/>
                        </a:lnSpc>
                        <a:spcBef>
                          <a:spcPts val="0"/>
                        </a:spcBef>
                        <a:spcAft>
                          <a:spcPts val="0"/>
                        </a:spcAft>
                      </a:pPr>
                      <a:r>
                        <a:rPr sz="1875" b="1">
                          <a:solidFill>
                            <a:srgbClr val="FFFFFF"/>
                          </a:solidFill>
                          <a:latin typeface="Aptos"/>
                          <a:ea typeface="Aptos"/>
                          <a:cs typeface="Aptos"/>
                        </a:rPr>
                        <a:t>Symbol / name</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75" b="1">
                          <a:solidFill>
                            <a:srgbClr val="FFFFFF"/>
                          </a:solidFill>
                          <a:latin typeface="Aptos"/>
                          <a:ea typeface="Aptos"/>
                          <a:cs typeface="Aptos"/>
                        </a:rPr>
                        <a:t>Meaning</a:t>
                      </a:r>
                    </a:p>
                  </a:txBody>
                  <a:tcPr marL="76200" marR="57150" marT="19050" marB="19050" anchor="ctr">
                    <a:solidFill>
                      <a:srgbClr val="D6171D"/>
                    </a:solidFill>
                  </a:tcPr>
                </a:tc>
                <a:extLst>
                  <a:ext uri="{0D108BD9-81ED-4DB2-BD59-A6C34878D82A}">
                    <a16:rowId xmlns:a16="http://schemas.microsoft.com/office/drawing/2014/main" val="10000"/>
                  </a:ext>
                </a:extLst>
              </a:tr>
              <a:tr h="552450">
                <a:tc>
                  <a:txBody>
                    <a:bodyPr/>
                    <a:lstStyle/>
                    <a:p>
                      <a:pPr marL="0" marR="0" indent="0">
                        <a:lnSpc>
                          <a:spcPct val="105000"/>
                        </a:lnSpc>
                        <a:spcBef>
                          <a:spcPts val="0"/>
                        </a:spcBef>
                        <a:spcAft>
                          <a:spcPts val="0"/>
                        </a:spcAft>
                      </a:pPr>
                      <a:r>
                        <a:rPr sz="1800" b="0">
                          <a:solidFill>
                            <a:srgbClr val="111111"/>
                          </a:solidFill>
                          <a:latin typeface="Aptos"/>
                          <a:ea typeface="Aptos"/>
                          <a:cs typeface="Aptos"/>
                        </a:rPr>
                        <a:t>x̄  “x-bar”</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Sample mean</a:t>
                      </a:r>
                    </a:p>
                  </a:txBody>
                  <a:tcPr marL="76200" marR="57150" marT="19050" marB="19050" anchor="ctr">
                    <a:solidFill>
                      <a:srgbClr val="FFFFFF"/>
                    </a:solidFill>
                  </a:tcPr>
                </a:tc>
                <a:extLst>
                  <a:ext uri="{0D108BD9-81ED-4DB2-BD59-A6C34878D82A}">
                    <a16:rowId xmlns:a16="http://schemas.microsoft.com/office/drawing/2014/main" val="10001"/>
                  </a:ext>
                </a:extLst>
              </a:tr>
              <a:tr h="552450">
                <a:tc>
                  <a:txBody>
                    <a:bodyPr/>
                    <a:lstStyle/>
                    <a:p>
                      <a:pPr marL="0" marR="0" indent="0">
                        <a:lnSpc>
                          <a:spcPct val="105000"/>
                        </a:lnSpc>
                        <a:spcBef>
                          <a:spcPts val="0"/>
                        </a:spcBef>
                        <a:spcAft>
                          <a:spcPts val="0"/>
                        </a:spcAft>
                      </a:pPr>
                      <a:r>
                        <a:rPr sz="1800" b="0">
                          <a:solidFill>
                            <a:srgbClr val="111111"/>
                          </a:solidFill>
                          <a:latin typeface="Aptos"/>
                          <a:ea typeface="Aptos"/>
                          <a:cs typeface="Aptos"/>
                        </a:rPr>
                        <a:t>Σ  “capital sigma”</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Add the values</a:t>
                      </a:r>
                    </a:p>
                  </a:txBody>
                  <a:tcPr marL="76200" marR="57150" marT="19050" marB="19050" anchor="ctr">
                    <a:solidFill>
                      <a:srgbClr val="EFF8FF"/>
                    </a:solidFill>
                  </a:tcPr>
                </a:tc>
                <a:extLst>
                  <a:ext uri="{0D108BD9-81ED-4DB2-BD59-A6C34878D82A}">
                    <a16:rowId xmlns:a16="http://schemas.microsoft.com/office/drawing/2014/main" val="10002"/>
                  </a:ext>
                </a:extLst>
              </a:tr>
              <a:tr h="552450">
                <a:tc>
                  <a:txBody>
                    <a:bodyPr/>
                    <a:lstStyle/>
                    <a:p>
                      <a:pPr marL="0" marR="0" indent="0">
                        <a:lnSpc>
                          <a:spcPct val="105000"/>
                        </a:lnSpc>
                        <a:spcBef>
                          <a:spcPts val="0"/>
                        </a:spcBef>
                        <a:spcAft>
                          <a:spcPts val="0"/>
                        </a:spcAft>
                      </a:pPr>
                      <a:r>
                        <a:rPr sz="1800" b="0">
                          <a:solidFill>
                            <a:srgbClr val="111111"/>
                          </a:solidFill>
                          <a:latin typeface="Aptos"/>
                          <a:ea typeface="Aptos"/>
                          <a:cs typeface="Aptos"/>
                        </a:rPr>
                        <a:t>xᵢ  “x sub i”</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One delivery time</a:t>
                      </a:r>
                    </a:p>
                  </a:txBody>
                  <a:tcPr marL="76200" marR="57150" marT="19050" marB="19050" anchor="ctr">
                    <a:solidFill>
                      <a:srgbClr val="FFFFFF"/>
                    </a:solidFill>
                  </a:tcPr>
                </a:tc>
                <a:extLst>
                  <a:ext uri="{0D108BD9-81ED-4DB2-BD59-A6C34878D82A}">
                    <a16:rowId xmlns:a16="http://schemas.microsoft.com/office/drawing/2014/main" val="10003"/>
                  </a:ext>
                </a:extLst>
              </a:tr>
              <a:tr h="552450">
                <a:tc>
                  <a:txBody>
                    <a:bodyPr/>
                    <a:lstStyle/>
                    <a:p>
                      <a:pPr marL="0" marR="0" indent="0">
                        <a:lnSpc>
                          <a:spcPct val="105000"/>
                        </a:lnSpc>
                        <a:spcBef>
                          <a:spcPts val="0"/>
                        </a:spcBef>
                        <a:spcAft>
                          <a:spcPts val="0"/>
                        </a:spcAft>
                      </a:pPr>
                      <a:r>
                        <a:rPr sz="1800" b="0">
                          <a:solidFill>
                            <a:srgbClr val="111111"/>
                          </a:solidFill>
                          <a:latin typeface="Aptos"/>
                          <a:ea typeface="Aptos"/>
                          <a:cs typeface="Aptos"/>
                        </a:rPr>
                        <a:t>n  “lowercase n”</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Number of observations</a:t>
                      </a:r>
                    </a:p>
                  </a:txBody>
                  <a:tcPr marL="76200" marR="57150" marT="19050" marB="19050" anchor="ctr">
                    <a:solidFill>
                      <a:srgbClr val="EFF8FF"/>
                    </a:solidFill>
                  </a:tcPr>
                </a:tc>
                <a:extLst>
                  <a:ext uri="{0D108BD9-81ED-4DB2-BD59-A6C34878D82A}">
                    <a16:rowId xmlns:a16="http://schemas.microsoft.com/office/drawing/2014/main" val="10004"/>
                  </a:ext>
                </a:extLst>
              </a:tr>
            </a:tbl>
          </a:graphicData>
        </a:graphic>
      </p:graphicFrame>
      <p:sp>
        <p:nvSpPr>
          <p:cNvPr id="6" name="body">
            <a:extLst>
              <a:ext uri="{FF2B5EF4-FFF2-40B4-BE49-F238E27FC236}">
                <a16:creationId xmlns:a16="http://schemas.microsoft.com/office/drawing/2014/main" id="{2E8692F6-CA21-4DCA-9BE6-BC637698AFB8}"/>
              </a:ext>
            </a:extLst>
          </p:cNvPr>
          <p:cNvSpPr>
            <a:spLocks noGrp="1"/>
          </p:cNvSpPr>
          <p:nvPr/>
        </p:nvSpPr>
        <p:spPr>
          <a:xfrm>
            <a:off x="904875" y="4857750"/>
            <a:ext cx="4762500" cy="762000"/>
          </a:xfrm>
          <a:prstGeom prst="rect">
            <a:avLst/>
          </a:prstGeom>
          <a:noFill/>
          <a:ln w="0">
            <a:noFill/>
          </a:ln>
        </p:spPr>
        <p:txBody>
          <a:bodyPr wrap="square" lIns="0" tIns="0" rIns="0" bIns="0" anchor="t">
            <a:noAutofit/>
          </a:bodyPr>
          <a:lstStyle/>
          <a:p>
            <a:pPr marL="0" marR="0" indent="0">
              <a:defRPr sz="2400" b="1">
                <a:solidFill>
                  <a:srgbClr val="111111"/>
                </a:solidFill>
                <a:latin typeface="Aptos"/>
                <a:ea typeface="Aptos"/>
                <a:cs typeface="Aptos"/>
              </a:defRPr>
            </a:pPr>
            <a:r>
              <a:rPr sz="2400" b="1">
                <a:solidFill>
                  <a:srgbClr val="111111"/>
                </a:solidFill>
                <a:latin typeface="Aptos"/>
                <a:ea typeface="Aptos"/>
                <a:cs typeface="Aptos"/>
              </a:rPr>
              <a:t>Total all 30 times.</a:t>
            </a:r>
          </a:p>
          <a:p>
            <a:pPr marL="0" marR="0" indent="0">
              <a:defRPr sz="2400" b="1">
                <a:solidFill>
                  <a:srgbClr val="111111"/>
                </a:solidFill>
                <a:latin typeface="Aptos"/>
                <a:ea typeface="Aptos"/>
                <a:cs typeface="Aptos"/>
              </a:defRPr>
            </a:pPr>
            <a:r>
              <a:rPr sz="2400" b="1">
                <a:solidFill>
                  <a:srgbClr val="111111"/>
                </a:solidFill>
                <a:latin typeface="Aptos"/>
                <a:ea typeface="Aptos"/>
                <a:cs typeface="Aptos"/>
              </a:rPr>
              <a:t>Divide by 30.</a:t>
            </a:r>
          </a:p>
        </p:txBody>
      </p:sp>
      <p:sp>
        <p:nvSpPr>
          <p:cNvPr id="7" name="body">
            <a:extLst>
              <a:ext uri="{FF2B5EF4-FFF2-40B4-BE49-F238E27FC236}">
                <a16:creationId xmlns:a16="http://schemas.microsoft.com/office/drawing/2014/main" id="{031A5BC6-232C-4695-982E-E0AC3CCFC9DB}"/>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Record the total and mean for each supplier. Keep the units: hours.</a:t>
            </a:r>
          </a:p>
        </p:txBody>
      </p:sp>
      <p:sp>
        <p:nvSpPr>
          <p:cNvPr id="8"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C1 • CALCULATE</a:t>
            </a:r>
          </a:p>
        </p:txBody>
      </p:sp>
    </p:spTree>
    <p:extLst>
      <p:ext uri="{BB962C8B-B14F-4D97-AF65-F5344CB8AC3E}">
        <p14:creationId xmlns:p14="http://schemas.microsoft.com/office/powerpoint/2010/main" val="3281361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C1: mean checkpoint</a:t>
            </a:r>
          </a:p>
        </p:txBody>
      </p:sp>
      <p:sp>
        <p:nvSpPr>
          <p:cNvPr id="3" name="body">
            <a:extLst>
              <a:ext uri="{FF2B5EF4-FFF2-40B4-BE49-F238E27FC236}">
                <a16:creationId xmlns:a16="http://schemas.microsoft.com/office/drawing/2014/main" id="{A8E87CD5-765B-4C20-8A6E-F8323F59201B}"/>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The mean describes average delivery time in these records.</a:t>
            </a:r>
          </a:p>
        </p:txBody>
      </p:sp>
      <p:sp>
        <p:nvSpPr>
          <p:cNvPr id="4" name="body">
            <a:extLst>
              <a:ext uri="{FF2B5EF4-FFF2-40B4-BE49-F238E27FC236}">
                <a16:creationId xmlns:a16="http://schemas.microsoft.com/office/drawing/2014/main" id="{2A55CB73-9628-47E8-B6EF-F703AB6E728B}"/>
              </a:ext>
            </a:extLst>
          </p:cNvPr>
          <p:cNvSpPr>
            <a:spLocks noGrp="1"/>
          </p:cNvSpPr>
          <p:nvPr/>
        </p:nvSpPr>
        <p:spPr>
          <a:xfrm>
            <a:off x="714375" y="2952750"/>
            <a:ext cx="4857750" cy="476250"/>
          </a:xfrm>
          <a:prstGeom prst="rect">
            <a:avLst/>
          </a:prstGeom>
          <a:noFill/>
          <a:ln w="0">
            <a:noFill/>
          </a:ln>
        </p:spPr>
        <p:txBody>
          <a:bodyPr wrap="square" lIns="0" tIns="0" rIns="0" bIns="0" anchor="t">
            <a:noAutofit/>
          </a:bodyPr>
          <a:lstStyle/>
          <a:p>
            <a:pPr marL="0" marR="0" indent="0">
              <a:defRPr sz="2550" b="1">
                <a:solidFill>
                  <a:srgbClr val="111111"/>
                </a:solidFill>
                <a:latin typeface="Aptos"/>
                <a:ea typeface="Aptos"/>
                <a:cs typeface="Aptos"/>
              </a:defRPr>
            </a:pPr>
            <a:r>
              <a:rPr sz="2550" b="1">
                <a:solidFill>
                  <a:srgbClr val="111111"/>
                </a:solidFill>
                <a:latin typeface="Aptos"/>
                <a:ea typeface="Aptos"/>
                <a:cs typeface="Aptos"/>
              </a:rPr>
              <a:t>Supplier A</a:t>
            </a:r>
          </a:p>
        </p:txBody>
      </p:sp>
      <p:sp>
        <p:nvSpPr>
          <p:cNvPr id="5" name="body">
            <a:extLst>
              <a:ext uri="{FF2B5EF4-FFF2-40B4-BE49-F238E27FC236}">
                <a16:creationId xmlns:a16="http://schemas.microsoft.com/office/drawing/2014/main" id="{C05402DF-7E15-4BA9-8C00-2C5A12A2013A}"/>
              </a:ext>
            </a:extLst>
          </p:cNvPr>
          <p:cNvSpPr>
            <a:spLocks noGrp="1"/>
          </p:cNvSpPr>
          <p:nvPr/>
        </p:nvSpPr>
        <p:spPr>
          <a:xfrm>
            <a:off x="6858000" y="2952750"/>
            <a:ext cx="4762500" cy="476250"/>
          </a:xfrm>
          <a:prstGeom prst="rect">
            <a:avLst/>
          </a:prstGeom>
          <a:noFill/>
          <a:ln w="0">
            <a:noFill/>
          </a:ln>
        </p:spPr>
        <p:txBody>
          <a:bodyPr wrap="square" lIns="0" tIns="0" rIns="0" bIns="0" anchor="t">
            <a:noAutofit/>
          </a:bodyPr>
          <a:lstStyle/>
          <a:p>
            <a:pPr marL="0" marR="0" indent="0">
              <a:defRPr sz="2550" b="1">
                <a:solidFill>
                  <a:srgbClr val="111111"/>
                </a:solidFill>
                <a:latin typeface="Aptos"/>
                <a:ea typeface="Aptos"/>
                <a:cs typeface="Aptos"/>
              </a:defRPr>
            </a:pPr>
            <a:r>
              <a:rPr sz="2550" b="1">
                <a:solidFill>
                  <a:srgbClr val="111111"/>
                </a:solidFill>
                <a:latin typeface="Aptos"/>
                <a:ea typeface="Aptos"/>
                <a:cs typeface="Aptos"/>
              </a:rPr>
              <a:t>Supplier B</a:t>
            </a:r>
          </a:p>
        </p:txBody>
      </p:sp>
      <p:pic>
        <p:nvPicPr>
          <p:cNvPr id="6" name="Picture 5"/>
          <p:cNvPicPr>
            <a:picLocks noChangeAspect="1"/>
          </p:cNvPicPr>
          <p:nvPr/>
        </p:nvPicPr>
        <p:blipFill>
          <a:blip r:embed="rId3"/>
          <a:stretch/>
        </p:blipFill>
        <p:spPr>
          <a:xfrm>
            <a:off x="714375" y="3686162"/>
            <a:ext cx="4857750" cy="1019201"/>
          </a:xfrm>
          <a:prstGeom prst="rect">
            <a:avLst/>
          </a:prstGeom>
        </p:spPr>
      </p:pic>
      <p:pic>
        <p:nvPicPr>
          <p:cNvPr id="7" name="Picture 6"/>
          <p:cNvPicPr>
            <a:picLocks noChangeAspect="1"/>
          </p:cNvPicPr>
          <p:nvPr/>
        </p:nvPicPr>
        <p:blipFill>
          <a:blip r:embed="rId4"/>
          <a:stretch/>
        </p:blipFill>
        <p:spPr>
          <a:xfrm>
            <a:off x="6762750" y="3686162"/>
            <a:ext cx="4857750" cy="1019201"/>
          </a:xfrm>
          <a:prstGeom prst="rect">
            <a:avLst/>
          </a:prstGeom>
        </p:spPr>
      </p:pic>
      <p:sp>
        <p:nvSpPr>
          <p:cNvPr id="8" name="body">
            <a:extLst>
              <a:ext uri="{FF2B5EF4-FFF2-40B4-BE49-F238E27FC236}">
                <a16:creationId xmlns:a16="http://schemas.microsoft.com/office/drawing/2014/main" id="{49B82414-71E8-446F-8F7D-7550CE922D21}"/>
              </a:ext>
            </a:extLst>
          </p:cNvPr>
          <p:cNvSpPr>
            <a:spLocks noGrp="1"/>
          </p:cNvSpPr>
          <p:nvPr/>
        </p:nvSpPr>
        <p:spPr>
          <a:xfrm>
            <a:off x="523875" y="5381625"/>
            <a:ext cx="11144250" cy="523875"/>
          </a:xfrm>
          <a:prstGeom prst="rect">
            <a:avLst/>
          </a:prstGeom>
          <a:noFill/>
          <a:ln w="0">
            <a:noFill/>
          </a:ln>
        </p:spPr>
        <p:txBody>
          <a:bodyPr wrap="square" lIns="0" tIns="0" rIns="0" bIns="0" anchor="t">
            <a:noAutofit/>
          </a:bodyPr>
          <a:lstStyle/>
          <a:p>
            <a:pPr marL="0" marR="0" indent="0">
              <a:defRPr sz="2550" b="1">
                <a:solidFill>
                  <a:srgbClr val="111111"/>
                </a:solidFill>
                <a:latin typeface="Aptos"/>
                <a:ea typeface="Aptos"/>
                <a:cs typeface="Aptos"/>
              </a:defRPr>
            </a:pPr>
            <a:r>
              <a:rPr sz="2550" b="1">
                <a:solidFill>
                  <a:srgbClr val="111111"/>
                </a:solidFill>
                <a:latin typeface="Aptos"/>
                <a:ea typeface="Aptos"/>
                <a:cs typeface="Aptos"/>
              </a:rPr>
              <a:t>Supplier A is 2.4 hours faster on average.</a:t>
            </a:r>
          </a:p>
        </p:txBody>
      </p:sp>
      <p:sp>
        <p:nvSpPr>
          <p:cNvPr id="9" name="body">
            <a:extLst>
              <a:ext uri="{FF2B5EF4-FFF2-40B4-BE49-F238E27FC236}">
                <a16:creationId xmlns:a16="http://schemas.microsoft.com/office/drawing/2014/main" id="{54C842A0-E22D-4C10-9908-510DFD7BE3C3}"/>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Does the faster average also mean more consistent deliveries?</a:t>
            </a:r>
          </a:p>
        </p:txBody>
      </p:sp>
      <p:sp>
        <p:nvSpPr>
          <p:cNvPr id="10"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C1 • CHECKPOINT</a:t>
            </a:r>
          </a:p>
        </p:txBody>
      </p:sp>
    </p:spTree>
    <p:extLst>
      <p:ext uri="{BB962C8B-B14F-4D97-AF65-F5344CB8AC3E}">
        <p14:creationId xmlns:p14="http://schemas.microsoft.com/office/powerpoint/2010/main" val="3281361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C2: median and range</a:t>
            </a:r>
          </a:p>
        </p:txBody>
      </p:sp>
      <p:sp>
        <p:nvSpPr>
          <p:cNvPr id="3" name="body">
            <a:extLst>
              <a:ext uri="{FF2B5EF4-FFF2-40B4-BE49-F238E27FC236}">
                <a16:creationId xmlns:a16="http://schemas.microsoft.com/office/drawing/2014/main" id="{D7D2C544-AF58-4C7D-A090-355D6621CEC9}"/>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Order each supplier’s 30 delivery times from smallest to largest.</a:t>
            </a:r>
          </a:p>
        </p:txBody>
      </p:sp>
      <p:sp>
        <p:nvSpPr>
          <p:cNvPr id="4" name="body">
            <a:extLst>
              <a:ext uri="{FF2B5EF4-FFF2-40B4-BE49-F238E27FC236}">
                <a16:creationId xmlns:a16="http://schemas.microsoft.com/office/drawing/2014/main" id="{3D61DBF0-4883-4A82-91D4-C93DB707B10E}"/>
              </a:ext>
            </a:extLst>
          </p:cNvPr>
          <p:cNvSpPr>
            <a:spLocks noGrp="1"/>
          </p:cNvSpPr>
          <p:nvPr/>
        </p:nvSpPr>
        <p:spPr>
          <a:xfrm>
            <a:off x="523875" y="2762250"/>
            <a:ext cx="11144250" cy="428625"/>
          </a:xfrm>
          <a:prstGeom prst="rect">
            <a:avLst/>
          </a:prstGeom>
          <a:noFill/>
          <a:ln w="0">
            <a:noFill/>
          </a:ln>
        </p:spPr>
        <p:txBody>
          <a:bodyPr wrap="square" lIns="0" tIns="0" rIns="0" bIns="0" anchor="t">
            <a:noAutofit/>
          </a:bodyPr>
          <a:lstStyle/>
          <a:p>
            <a:pPr marL="0" marR="0" indent="0">
              <a:defRPr sz="2400" b="1">
                <a:solidFill>
                  <a:srgbClr val="111111"/>
                </a:solidFill>
                <a:latin typeface="Aptos"/>
                <a:ea typeface="Aptos"/>
                <a:cs typeface="Aptos"/>
              </a:defRPr>
            </a:pPr>
            <a:r>
              <a:rPr sz="2400" b="1">
                <a:solidFill>
                  <a:srgbClr val="111111"/>
                </a:solidFill>
                <a:latin typeface="Aptos"/>
                <a:ea typeface="Aptos"/>
                <a:cs typeface="Aptos"/>
              </a:rPr>
              <a:t>Median: the middle of the ordered data.</a:t>
            </a:r>
          </a:p>
        </p:txBody>
      </p:sp>
      <p:pic>
        <p:nvPicPr>
          <p:cNvPr id="5" name="Picture 4"/>
          <p:cNvPicPr>
            <a:picLocks noChangeAspect="1"/>
          </p:cNvPicPr>
          <p:nvPr/>
        </p:nvPicPr>
        <p:blipFill>
          <a:blip r:embed="rId3"/>
          <a:stretch/>
        </p:blipFill>
        <p:spPr>
          <a:xfrm>
            <a:off x="2882829" y="3381375"/>
            <a:ext cx="6426342" cy="904875"/>
          </a:xfrm>
          <a:prstGeom prst="rect">
            <a:avLst/>
          </a:prstGeom>
        </p:spPr>
      </p:pic>
      <p:sp>
        <p:nvSpPr>
          <p:cNvPr id="6" name="body">
            <a:extLst>
              <a:ext uri="{FF2B5EF4-FFF2-40B4-BE49-F238E27FC236}">
                <a16:creationId xmlns:a16="http://schemas.microsoft.com/office/drawing/2014/main" id="{6F3A02C9-29FF-452F-853F-4443F09D13F4}"/>
              </a:ext>
            </a:extLst>
          </p:cNvPr>
          <p:cNvSpPr>
            <a:spLocks noGrp="1"/>
          </p:cNvSpPr>
          <p:nvPr/>
        </p:nvSpPr>
        <p:spPr>
          <a:xfrm>
            <a:off x="523875" y="4619625"/>
            <a:ext cx="11144250" cy="428625"/>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Range: the gap from the shortest to the longest delivery.</a:t>
            </a:r>
          </a:p>
        </p:txBody>
      </p:sp>
      <p:pic>
        <p:nvPicPr>
          <p:cNvPr id="7" name="Picture 6"/>
          <p:cNvPicPr>
            <a:picLocks noChangeAspect="1"/>
          </p:cNvPicPr>
          <p:nvPr/>
        </p:nvPicPr>
        <p:blipFill>
          <a:blip r:embed="rId4"/>
          <a:stretch/>
        </p:blipFill>
        <p:spPr>
          <a:xfrm>
            <a:off x="1818105" y="5181600"/>
            <a:ext cx="8555789" cy="609600"/>
          </a:xfrm>
          <a:prstGeom prst="rect">
            <a:avLst/>
          </a:prstGeom>
        </p:spPr>
      </p:pic>
      <p:sp>
        <p:nvSpPr>
          <p:cNvPr id="8" name="body">
            <a:extLst>
              <a:ext uri="{FF2B5EF4-FFF2-40B4-BE49-F238E27FC236}">
                <a16:creationId xmlns:a16="http://schemas.microsoft.com/office/drawing/2014/main" id="{2F019DAD-F849-429A-80EB-FBC0FAF15C7E}"/>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Calculate both measures for both suppliers.</a:t>
            </a:r>
          </a:p>
        </p:txBody>
      </p:sp>
      <p:sp>
        <p:nvSpPr>
          <p:cNvPr id="9"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C2 • CALCULATE</a:t>
            </a:r>
          </a:p>
        </p:txBody>
      </p:sp>
    </p:spTree>
    <p:extLst>
      <p:ext uri="{BB962C8B-B14F-4D97-AF65-F5344CB8AC3E}">
        <p14:creationId xmlns:p14="http://schemas.microsoft.com/office/powerpoint/2010/main" val="3281361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C2: ordered-data checkpoint</a:t>
            </a:r>
          </a:p>
        </p:txBody>
      </p:sp>
      <p:sp>
        <p:nvSpPr>
          <p:cNvPr id="3" name="body">
            <a:extLst>
              <a:ext uri="{FF2B5EF4-FFF2-40B4-BE49-F238E27FC236}">
                <a16:creationId xmlns:a16="http://schemas.microsoft.com/office/drawing/2014/main" id="{17BE6955-82A7-47AF-9B9A-70C6CB90D2D8}"/>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Check your ordered lists before locating the middle positions.</a:t>
            </a:r>
          </a:p>
        </p:txBody>
      </p:sp>
      <p:graphicFrame>
        <p:nvGraphicFramePr>
          <p:cNvPr id="4" name="Table 3"/>
          <p:cNvGraphicFramePr/>
          <p:nvPr/>
        </p:nvGraphicFramePr>
        <p:xfrm>
          <a:off x="523875" y="2790825"/>
          <a:ext cx="11144250" cy="1285875"/>
        </p:xfrm>
        <a:graphic>
          <a:graphicData uri="http://schemas.openxmlformats.org/drawingml/2006/table">
            <a:tbl>
              <a:tblPr/>
              <a:tblGrid>
                <a:gridCol w="1143000">
                  <a:extLst>
                    <a:ext uri="{9D8B030D-6E8A-4147-A177-3AD203B41FA5}">
                      <a16:colId xmlns:a16="http://schemas.microsoft.com/office/drawing/2014/main" val="20000"/>
                    </a:ext>
                  </a:extLst>
                </a:gridCol>
                <a:gridCol w="666750">
                  <a:extLst>
                    <a:ext uri="{9D8B030D-6E8A-4147-A177-3AD203B41FA5}">
                      <a16:colId xmlns:a16="http://schemas.microsoft.com/office/drawing/2014/main" val="20001"/>
                    </a:ext>
                  </a:extLst>
                </a:gridCol>
                <a:gridCol w="666750">
                  <a:extLst>
                    <a:ext uri="{9D8B030D-6E8A-4147-A177-3AD203B41FA5}">
                      <a16:colId xmlns:a16="http://schemas.microsoft.com/office/drawing/2014/main" val="20002"/>
                    </a:ext>
                  </a:extLst>
                </a:gridCol>
                <a:gridCol w="666750">
                  <a:extLst>
                    <a:ext uri="{9D8B030D-6E8A-4147-A177-3AD203B41FA5}">
                      <a16:colId xmlns:a16="http://schemas.microsoft.com/office/drawing/2014/main" val="20003"/>
                    </a:ext>
                  </a:extLst>
                </a:gridCol>
                <a:gridCol w="666750">
                  <a:extLst>
                    <a:ext uri="{9D8B030D-6E8A-4147-A177-3AD203B41FA5}">
                      <a16:colId xmlns:a16="http://schemas.microsoft.com/office/drawing/2014/main" val="20004"/>
                    </a:ext>
                  </a:extLst>
                </a:gridCol>
                <a:gridCol w="666750">
                  <a:extLst>
                    <a:ext uri="{9D8B030D-6E8A-4147-A177-3AD203B41FA5}">
                      <a16:colId xmlns:a16="http://schemas.microsoft.com/office/drawing/2014/main" val="20005"/>
                    </a:ext>
                  </a:extLst>
                </a:gridCol>
                <a:gridCol w="666750">
                  <a:extLst>
                    <a:ext uri="{9D8B030D-6E8A-4147-A177-3AD203B41FA5}">
                      <a16:colId xmlns:a16="http://schemas.microsoft.com/office/drawing/2014/main" val="20006"/>
                    </a:ext>
                  </a:extLst>
                </a:gridCol>
                <a:gridCol w="666750">
                  <a:extLst>
                    <a:ext uri="{9D8B030D-6E8A-4147-A177-3AD203B41FA5}">
                      <a16:colId xmlns:a16="http://schemas.microsoft.com/office/drawing/2014/main" val="20007"/>
                    </a:ext>
                  </a:extLst>
                </a:gridCol>
                <a:gridCol w="666750">
                  <a:extLst>
                    <a:ext uri="{9D8B030D-6E8A-4147-A177-3AD203B41FA5}">
                      <a16:colId xmlns:a16="http://schemas.microsoft.com/office/drawing/2014/main" val="20008"/>
                    </a:ext>
                  </a:extLst>
                </a:gridCol>
                <a:gridCol w="666750">
                  <a:extLst>
                    <a:ext uri="{9D8B030D-6E8A-4147-A177-3AD203B41FA5}">
                      <a16:colId xmlns:a16="http://schemas.microsoft.com/office/drawing/2014/main" val="20009"/>
                    </a:ext>
                  </a:extLst>
                </a:gridCol>
                <a:gridCol w="666750">
                  <a:extLst>
                    <a:ext uri="{9D8B030D-6E8A-4147-A177-3AD203B41FA5}">
                      <a16:colId xmlns:a16="http://schemas.microsoft.com/office/drawing/2014/main" val="20010"/>
                    </a:ext>
                  </a:extLst>
                </a:gridCol>
                <a:gridCol w="666750">
                  <a:extLst>
                    <a:ext uri="{9D8B030D-6E8A-4147-A177-3AD203B41FA5}">
                      <a16:colId xmlns:a16="http://schemas.microsoft.com/office/drawing/2014/main" val="20011"/>
                    </a:ext>
                  </a:extLst>
                </a:gridCol>
                <a:gridCol w="666750">
                  <a:extLst>
                    <a:ext uri="{9D8B030D-6E8A-4147-A177-3AD203B41FA5}">
                      <a16:colId xmlns:a16="http://schemas.microsoft.com/office/drawing/2014/main" val="20012"/>
                    </a:ext>
                  </a:extLst>
                </a:gridCol>
                <a:gridCol w="666750">
                  <a:extLst>
                    <a:ext uri="{9D8B030D-6E8A-4147-A177-3AD203B41FA5}">
                      <a16:colId xmlns:a16="http://schemas.microsoft.com/office/drawing/2014/main" val="20013"/>
                    </a:ext>
                  </a:extLst>
                </a:gridCol>
                <a:gridCol w="666750">
                  <a:extLst>
                    <a:ext uri="{9D8B030D-6E8A-4147-A177-3AD203B41FA5}">
                      <a16:colId xmlns:a16="http://schemas.microsoft.com/office/drawing/2014/main" val="20014"/>
                    </a:ext>
                  </a:extLst>
                </a:gridCol>
                <a:gridCol w="666750">
                  <a:extLst>
                    <a:ext uri="{9D8B030D-6E8A-4147-A177-3AD203B41FA5}">
                      <a16:colId xmlns:a16="http://schemas.microsoft.com/office/drawing/2014/main" val="20015"/>
                    </a:ext>
                  </a:extLst>
                </a:gridCol>
              </a:tblGrid>
              <a:tr h="428625">
                <a:tc>
                  <a:txBody>
                    <a:bodyPr/>
                    <a:lstStyle/>
                    <a:p>
                      <a:pPr marL="0" marR="0" indent="0">
                        <a:lnSpc>
                          <a:spcPct val="105000"/>
                        </a:lnSpc>
                        <a:spcBef>
                          <a:spcPts val="0"/>
                        </a:spcBef>
                        <a:spcAft>
                          <a:spcPts val="0"/>
                        </a:spcAft>
                      </a:pPr>
                      <a:r>
                        <a:rPr sz="1500" b="1">
                          <a:solidFill>
                            <a:srgbClr val="FFFFFF"/>
                          </a:solidFill>
                          <a:latin typeface="Aptos"/>
                          <a:ea typeface="Aptos"/>
                          <a:cs typeface="Aptos"/>
                        </a:rPr>
                        <a:t>Position</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1</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2</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3</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4</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5</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6</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7</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8</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9</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10</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11</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12</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13</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14</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15</a:t>
                      </a:r>
                    </a:p>
                  </a:txBody>
                  <a:tcPr marL="76200" marR="57150" marT="19050" marB="19050" anchor="ctr">
                    <a:solidFill>
                      <a:srgbClr val="D6171D"/>
                    </a:solidFill>
                  </a:tcPr>
                </a:tc>
                <a:extLst>
                  <a:ext uri="{0D108BD9-81ED-4DB2-BD59-A6C34878D82A}">
                    <a16:rowId xmlns:a16="http://schemas.microsoft.com/office/drawing/2014/main" val="10000"/>
                  </a:ext>
                </a:extLst>
              </a:tr>
              <a:tr h="428625">
                <a:tc>
                  <a:txBody>
                    <a:bodyPr/>
                    <a:lstStyle/>
                    <a:p>
                      <a:pPr marL="0" marR="0" indent="0">
                        <a:lnSpc>
                          <a:spcPct val="105000"/>
                        </a:lnSpc>
                        <a:spcBef>
                          <a:spcPts val="0"/>
                        </a:spcBef>
                        <a:spcAft>
                          <a:spcPts val="0"/>
                        </a:spcAft>
                      </a:pPr>
                      <a:r>
                        <a:rPr sz="1800" b="0">
                          <a:solidFill>
                            <a:srgbClr val="111111"/>
                          </a:solidFill>
                          <a:latin typeface="Aptos"/>
                          <a:ea typeface="Aptos"/>
                          <a:cs typeface="Aptos"/>
                        </a:rPr>
                        <a:t>A</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28</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31</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33</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35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36</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38</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1">
                          <a:solidFill>
                            <a:srgbClr val="111111"/>
                          </a:solidFill>
                          <a:latin typeface="Aptos"/>
                          <a:ea typeface="Aptos"/>
                          <a:cs typeface="Aptos"/>
                        </a:rPr>
                        <a:t>39</a:t>
                      </a:r>
                    </a:p>
                  </a:txBody>
                  <a:tcPr marL="76200" marR="57150" marT="19050" marB="19050" anchor="ctr">
                    <a:solidFill>
                      <a:srgbClr val="DCEAF4"/>
                    </a:solidFill>
                  </a:tcPr>
                </a:tc>
                <a:tc>
                  <a:txBody>
                    <a:bodyPr/>
                    <a:lstStyle/>
                    <a:p>
                      <a:pPr marL="0" marR="0" indent="0">
                        <a:lnSpc>
                          <a:spcPct val="105000"/>
                        </a:lnSpc>
                        <a:spcBef>
                          <a:spcPts val="0"/>
                        </a:spcBef>
                        <a:spcAft>
                          <a:spcPts val="0"/>
                        </a:spcAft>
                      </a:pPr>
                      <a:r>
                        <a:rPr sz="1800" b="1">
                          <a:solidFill>
                            <a:srgbClr val="111111"/>
                          </a:solidFill>
                          <a:latin typeface="Aptos"/>
                          <a:ea typeface="Aptos"/>
                          <a:cs typeface="Aptos"/>
                        </a:rPr>
                        <a:t>40</a:t>
                      </a:r>
                    </a:p>
                  </a:txBody>
                  <a:tcPr marL="76200" marR="57150" marT="19050" marB="19050" anchor="ctr">
                    <a:solidFill>
                      <a:srgbClr val="DCEAF4"/>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41</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42</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43</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43</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44</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1">
                          <a:solidFill>
                            <a:srgbClr val="111111"/>
                          </a:solidFill>
                          <a:latin typeface="Aptos"/>
                          <a:ea typeface="Aptos"/>
                          <a:cs typeface="Aptos"/>
                        </a:rPr>
                        <a:t>45</a:t>
                      </a:r>
                    </a:p>
                  </a:txBody>
                  <a:tcPr marL="76200" marR="57150" marT="19050" marB="19050" anchor="ctr">
                    <a:solidFill>
                      <a:srgbClr val="DCEAF4"/>
                    </a:solidFill>
                  </a:tcPr>
                </a:tc>
                <a:extLst>
                  <a:ext uri="{0D108BD9-81ED-4DB2-BD59-A6C34878D82A}">
                    <a16:rowId xmlns:a16="http://schemas.microsoft.com/office/drawing/2014/main" val="10001"/>
                  </a:ext>
                </a:extLst>
              </a:tr>
              <a:tr h="428625">
                <a:tc>
                  <a:txBody>
                    <a:bodyPr/>
                    <a:lstStyle/>
                    <a:p>
                      <a:pPr marL="0" marR="0" indent="0">
                        <a:lnSpc>
                          <a:spcPct val="105000"/>
                        </a:lnSpc>
                        <a:spcBef>
                          <a:spcPts val="0"/>
                        </a:spcBef>
                        <a:spcAft>
                          <a:spcPts val="0"/>
                        </a:spcAft>
                      </a:pPr>
                      <a:r>
                        <a:rPr sz="1800" b="0">
                          <a:solidFill>
                            <a:srgbClr val="111111"/>
                          </a:solidFill>
                          <a:latin typeface="Aptos"/>
                          <a:ea typeface="Aptos"/>
                          <a:cs typeface="Aptos"/>
                        </a:rPr>
                        <a:t>B</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28</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44</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44</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45</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45</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46</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1">
                          <a:solidFill>
                            <a:srgbClr val="111111"/>
                          </a:solidFill>
                          <a:latin typeface="Aptos"/>
                          <a:ea typeface="Aptos"/>
                          <a:cs typeface="Aptos"/>
                        </a:rPr>
                        <a:t>46</a:t>
                      </a:r>
                    </a:p>
                  </a:txBody>
                  <a:tcPr marL="76200" marR="57150" marT="19050" marB="19050" anchor="ctr">
                    <a:solidFill>
                      <a:srgbClr val="DCEAF4"/>
                    </a:solidFill>
                  </a:tcPr>
                </a:tc>
                <a:tc>
                  <a:txBody>
                    <a:bodyPr/>
                    <a:lstStyle/>
                    <a:p>
                      <a:pPr marL="0" marR="0" indent="0">
                        <a:lnSpc>
                          <a:spcPct val="105000"/>
                        </a:lnSpc>
                        <a:spcBef>
                          <a:spcPts val="0"/>
                        </a:spcBef>
                        <a:spcAft>
                          <a:spcPts val="0"/>
                        </a:spcAft>
                      </a:pPr>
                      <a:r>
                        <a:rPr sz="1800" b="1">
                          <a:solidFill>
                            <a:srgbClr val="111111"/>
                          </a:solidFill>
                          <a:latin typeface="Aptos"/>
                          <a:ea typeface="Aptos"/>
                          <a:cs typeface="Aptos"/>
                        </a:rPr>
                        <a:t>47</a:t>
                      </a:r>
                    </a:p>
                  </a:txBody>
                  <a:tcPr marL="76200" marR="57150" marT="19050" marB="19050" anchor="ctr">
                    <a:solidFill>
                      <a:srgbClr val="DCEAF4"/>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47</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47</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48</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48</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48</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49</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1">
                          <a:solidFill>
                            <a:srgbClr val="111111"/>
                          </a:solidFill>
                          <a:latin typeface="Aptos"/>
                          <a:ea typeface="Aptos"/>
                          <a:cs typeface="Aptos"/>
                        </a:rPr>
                        <a:t>49</a:t>
                      </a:r>
                    </a:p>
                  </a:txBody>
                  <a:tcPr marL="76200" marR="57150" marT="19050" marB="19050" anchor="ctr">
                    <a:solidFill>
                      <a:srgbClr val="DCEAF4"/>
                    </a:solidFill>
                  </a:tcPr>
                </a:tc>
                <a:extLst>
                  <a:ext uri="{0D108BD9-81ED-4DB2-BD59-A6C34878D82A}">
                    <a16:rowId xmlns:a16="http://schemas.microsoft.com/office/drawing/2014/main" val="10002"/>
                  </a:ext>
                </a:extLst>
              </a:tr>
            </a:tbl>
          </a:graphicData>
        </a:graphic>
      </p:graphicFrame>
      <p:graphicFrame>
        <p:nvGraphicFramePr>
          <p:cNvPr id="5" name="Table 4"/>
          <p:cNvGraphicFramePr/>
          <p:nvPr/>
        </p:nvGraphicFramePr>
        <p:xfrm>
          <a:off x="523875" y="4438650"/>
          <a:ext cx="11144250" cy="1285875"/>
        </p:xfrm>
        <a:graphic>
          <a:graphicData uri="http://schemas.openxmlformats.org/drawingml/2006/table">
            <a:tbl>
              <a:tblPr/>
              <a:tblGrid>
                <a:gridCol w="1143000">
                  <a:extLst>
                    <a:ext uri="{9D8B030D-6E8A-4147-A177-3AD203B41FA5}">
                      <a16:colId xmlns:a16="http://schemas.microsoft.com/office/drawing/2014/main" val="20000"/>
                    </a:ext>
                  </a:extLst>
                </a:gridCol>
                <a:gridCol w="666750">
                  <a:extLst>
                    <a:ext uri="{9D8B030D-6E8A-4147-A177-3AD203B41FA5}">
                      <a16:colId xmlns:a16="http://schemas.microsoft.com/office/drawing/2014/main" val="20001"/>
                    </a:ext>
                  </a:extLst>
                </a:gridCol>
                <a:gridCol w="666750">
                  <a:extLst>
                    <a:ext uri="{9D8B030D-6E8A-4147-A177-3AD203B41FA5}">
                      <a16:colId xmlns:a16="http://schemas.microsoft.com/office/drawing/2014/main" val="20002"/>
                    </a:ext>
                  </a:extLst>
                </a:gridCol>
                <a:gridCol w="666750">
                  <a:extLst>
                    <a:ext uri="{9D8B030D-6E8A-4147-A177-3AD203B41FA5}">
                      <a16:colId xmlns:a16="http://schemas.microsoft.com/office/drawing/2014/main" val="20003"/>
                    </a:ext>
                  </a:extLst>
                </a:gridCol>
                <a:gridCol w="666750">
                  <a:extLst>
                    <a:ext uri="{9D8B030D-6E8A-4147-A177-3AD203B41FA5}">
                      <a16:colId xmlns:a16="http://schemas.microsoft.com/office/drawing/2014/main" val="20004"/>
                    </a:ext>
                  </a:extLst>
                </a:gridCol>
                <a:gridCol w="666750">
                  <a:extLst>
                    <a:ext uri="{9D8B030D-6E8A-4147-A177-3AD203B41FA5}">
                      <a16:colId xmlns:a16="http://schemas.microsoft.com/office/drawing/2014/main" val="20005"/>
                    </a:ext>
                  </a:extLst>
                </a:gridCol>
                <a:gridCol w="666750">
                  <a:extLst>
                    <a:ext uri="{9D8B030D-6E8A-4147-A177-3AD203B41FA5}">
                      <a16:colId xmlns:a16="http://schemas.microsoft.com/office/drawing/2014/main" val="20006"/>
                    </a:ext>
                  </a:extLst>
                </a:gridCol>
                <a:gridCol w="666750">
                  <a:extLst>
                    <a:ext uri="{9D8B030D-6E8A-4147-A177-3AD203B41FA5}">
                      <a16:colId xmlns:a16="http://schemas.microsoft.com/office/drawing/2014/main" val="20007"/>
                    </a:ext>
                  </a:extLst>
                </a:gridCol>
                <a:gridCol w="666750">
                  <a:extLst>
                    <a:ext uri="{9D8B030D-6E8A-4147-A177-3AD203B41FA5}">
                      <a16:colId xmlns:a16="http://schemas.microsoft.com/office/drawing/2014/main" val="20008"/>
                    </a:ext>
                  </a:extLst>
                </a:gridCol>
                <a:gridCol w="666750">
                  <a:extLst>
                    <a:ext uri="{9D8B030D-6E8A-4147-A177-3AD203B41FA5}">
                      <a16:colId xmlns:a16="http://schemas.microsoft.com/office/drawing/2014/main" val="20009"/>
                    </a:ext>
                  </a:extLst>
                </a:gridCol>
                <a:gridCol w="666750">
                  <a:extLst>
                    <a:ext uri="{9D8B030D-6E8A-4147-A177-3AD203B41FA5}">
                      <a16:colId xmlns:a16="http://schemas.microsoft.com/office/drawing/2014/main" val="20010"/>
                    </a:ext>
                  </a:extLst>
                </a:gridCol>
                <a:gridCol w="666750">
                  <a:extLst>
                    <a:ext uri="{9D8B030D-6E8A-4147-A177-3AD203B41FA5}">
                      <a16:colId xmlns:a16="http://schemas.microsoft.com/office/drawing/2014/main" val="20011"/>
                    </a:ext>
                  </a:extLst>
                </a:gridCol>
                <a:gridCol w="666750">
                  <a:extLst>
                    <a:ext uri="{9D8B030D-6E8A-4147-A177-3AD203B41FA5}">
                      <a16:colId xmlns:a16="http://schemas.microsoft.com/office/drawing/2014/main" val="20012"/>
                    </a:ext>
                  </a:extLst>
                </a:gridCol>
                <a:gridCol w="666750">
                  <a:extLst>
                    <a:ext uri="{9D8B030D-6E8A-4147-A177-3AD203B41FA5}">
                      <a16:colId xmlns:a16="http://schemas.microsoft.com/office/drawing/2014/main" val="20013"/>
                    </a:ext>
                  </a:extLst>
                </a:gridCol>
                <a:gridCol w="666750">
                  <a:extLst>
                    <a:ext uri="{9D8B030D-6E8A-4147-A177-3AD203B41FA5}">
                      <a16:colId xmlns:a16="http://schemas.microsoft.com/office/drawing/2014/main" val="20014"/>
                    </a:ext>
                  </a:extLst>
                </a:gridCol>
                <a:gridCol w="666750">
                  <a:extLst>
                    <a:ext uri="{9D8B030D-6E8A-4147-A177-3AD203B41FA5}">
                      <a16:colId xmlns:a16="http://schemas.microsoft.com/office/drawing/2014/main" val="20015"/>
                    </a:ext>
                  </a:extLst>
                </a:gridCol>
              </a:tblGrid>
              <a:tr h="428625">
                <a:tc>
                  <a:txBody>
                    <a:bodyPr/>
                    <a:lstStyle/>
                    <a:p>
                      <a:pPr marL="0" marR="0" indent="0">
                        <a:lnSpc>
                          <a:spcPct val="105000"/>
                        </a:lnSpc>
                        <a:spcBef>
                          <a:spcPts val="0"/>
                        </a:spcBef>
                        <a:spcAft>
                          <a:spcPts val="0"/>
                        </a:spcAft>
                      </a:pPr>
                      <a:r>
                        <a:rPr sz="1500" b="1">
                          <a:solidFill>
                            <a:srgbClr val="FFFFFF"/>
                          </a:solidFill>
                          <a:latin typeface="Aptos"/>
                          <a:ea typeface="Aptos"/>
                          <a:cs typeface="Aptos"/>
                        </a:rPr>
                        <a:t>Position</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16</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17</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18</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19</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20</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21</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22</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23</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24</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25</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26</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27</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28</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29</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500" b="1">
                          <a:solidFill>
                            <a:srgbClr val="FFFFFF"/>
                          </a:solidFill>
                          <a:latin typeface="Aptos"/>
                          <a:ea typeface="Aptos"/>
                          <a:cs typeface="Aptos"/>
                        </a:rPr>
                        <a:t>30</a:t>
                      </a:r>
                    </a:p>
                  </a:txBody>
                  <a:tcPr marL="76200" marR="57150" marT="19050" marB="19050" anchor="ctr">
                    <a:solidFill>
                      <a:srgbClr val="D6171D"/>
                    </a:solidFill>
                  </a:tcPr>
                </a:tc>
                <a:extLst>
                  <a:ext uri="{0D108BD9-81ED-4DB2-BD59-A6C34878D82A}">
                    <a16:rowId xmlns:a16="http://schemas.microsoft.com/office/drawing/2014/main" val="10000"/>
                  </a:ext>
                </a:extLst>
              </a:tr>
              <a:tr h="428625">
                <a:tc>
                  <a:txBody>
                    <a:bodyPr/>
                    <a:lstStyle/>
                    <a:p>
                      <a:pPr marL="0" marR="0" indent="0">
                        <a:lnSpc>
                          <a:spcPct val="105000"/>
                        </a:lnSpc>
                        <a:spcBef>
                          <a:spcPts val="0"/>
                        </a:spcBef>
                        <a:spcAft>
                          <a:spcPts val="0"/>
                        </a:spcAft>
                      </a:pPr>
                      <a:r>
                        <a:rPr sz="1800" b="0">
                          <a:solidFill>
                            <a:srgbClr val="111111"/>
                          </a:solidFill>
                          <a:latin typeface="Aptos"/>
                          <a:ea typeface="Aptos"/>
                          <a:cs typeface="Aptos"/>
                        </a:rPr>
                        <a:t>A</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1">
                          <a:solidFill>
                            <a:srgbClr val="111111"/>
                          </a:solidFill>
                          <a:latin typeface="Aptos"/>
                          <a:ea typeface="Aptos"/>
                          <a:cs typeface="Aptos"/>
                        </a:rPr>
                        <a:t>46</a:t>
                      </a:r>
                    </a:p>
                  </a:txBody>
                  <a:tcPr marL="76200" marR="57150" marT="19050" marB="19050" anchor="ctr">
                    <a:solidFill>
                      <a:srgbClr val="DCEAF4"/>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47</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48</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49</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50</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51</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52</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1">
                          <a:solidFill>
                            <a:srgbClr val="111111"/>
                          </a:solidFill>
                          <a:latin typeface="Aptos"/>
                          <a:ea typeface="Aptos"/>
                          <a:cs typeface="Aptos"/>
                        </a:rPr>
                        <a:t>54</a:t>
                      </a:r>
                    </a:p>
                  </a:txBody>
                  <a:tcPr marL="76200" marR="57150" marT="19050" marB="19050" anchor="ctr">
                    <a:solidFill>
                      <a:srgbClr val="DCEAF4"/>
                    </a:solidFill>
                  </a:tcPr>
                </a:tc>
                <a:tc>
                  <a:txBody>
                    <a:bodyPr/>
                    <a:lstStyle/>
                    <a:p>
                      <a:pPr marL="0" marR="0" indent="0">
                        <a:lnSpc>
                          <a:spcPct val="105000"/>
                        </a:lnSpc>
                        <a:spcBef>
                          <a:spcPts val="0"/>
                        </a:spcBef>
                        <a:spcAft>
                          <a:spcPts val="0"/>
                        </a:spcAft>
                      </a:pPr>
                      <a:r>
                        <a:rPr sz="1800" b="1">
                          <a:solidFill>
                            <a:srgbClr val="111111"/>
                          </a:solidFill>
                          <a:latin typeface="Aptos"/>
                          <a:ea typeface="Aptos"/>
                          <a:cs typeface="Aptos"/>
                        </a:rPr>
                        <a:t>55</a:t>
                      </a:r>
                    </a:p>
                  </a:txBody>
                  <a:tcPr marL="76200" marR="57150" marT="19050" marB="19050" anchor="ctr">
                    <a:solidFill>
                      <a:srgbClr val="DCEAF4"/>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56</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58</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60</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62</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65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68</a:t>
                      </a:r>
                    </a:p>
                  </a:txBody>
                  <a:tcPr marL="76200" marR="57150" marT="19050" marB="19050" anchor="ctr">
                    <a:solidFill>
                      <a:srgbClr val="FFFFFF"/>
                    </a:solidFill>
                  </a:tcPr>
                </a:tc>
                <a:extLst>
                  <a:ext uri="{0D108BD9-81ED-4DB2-BD59-A6C34878D82A}">
                    <a16:rowId xmlns:a16="http://schemas.microsoft.com/office/drawing/2014/main" val="10001"/>
                  </a:ext>
                </a:extLst>
              </a:tr>
              <a:tr h="428625">
                <a:tc>
                  <a:txBody>
                    <a:bodyPr/>
                    <a:lstStyle/>
                    <a:p>
                      <a:pPr marL="0" marR="0" indent="0">
                        <a:lnSpc>
                          <a:spcPct val="105000"/>
                        </a:lnSpc>
                        <a:spcBef>
                          <a:spcPts val="0"/>
                        </a:spcBef>
                        <a:spcAft>
                          <a:spcPts val="0"/>
                        </a:spcAft>
                      </a:pPr>
                      <a:r>
                        <a:rPr sz="1800" b="0">
                          <a:solidFill>
                            <a:srgbClr val="111111"/>
                          </a:solidFill>
                          <a:latin typeface="Aptos"/>
                          <a:ea typeface="Aptos"/>
                          <a:cs typeface="Aptos"/>
                        </a:rPr>
                        <a:t>B</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1">
                          <a:solidFill>
                            <a:srgbClr val="111111"/>
                          </a:solidFill>
                          <a:latin typeface="Aptos"/>
                          <a:ea typeface="Aptos"/>
                          <a:cs typeface="Aptos"/>
                        </a:rPr>
                        <a:t>49</a:t>
                      </a:r>
                    </a:p>
                  </a:txBody>
                  <a:tcPr marL="76200" marR="57150" marT="19050" marB="19050" anchor="ctr">
                    <a:solidFill>
                      <a:srgbClr val="DCEAF4"/>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50</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50</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50</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51</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51</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51</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1">
                          <a:solidFill>
                            <a:srgbClr val="111111"/>
                          </a:solidFill>
                          <a:latin typeface="Aptos"/>
                          <a:ea typeface="Aptos"/>
                          <a:cs typeface="Aptos"/>
                        </a:rPr>
                        <a:t>52</a:t>
                      </a:r>
                    </a:p>
                  </a:txBody>
                  <a:tcPr marL="76200" marR="57150" marT="19050" marB="19050" anchor="ctr">
                    <a:solidFill>
                      <a:srgbClr val="DCEAF4"/>
                    </a:solidFill>
                  </a:tcPr>
                </a:tc>
                <a:tc>
                  <a:txBody>
                    <a:bodyPr/>
                    <a:lstStyle/>
                    <a:p>
                      <a:pPr marL="0" marR="0" indent="0">
                        <a:lnSpc>
                          <a:spcPct val="105000"/>
                        </a:lnSpc>
                        <a:spcBef>
                          <a:spcPts val="0"/>
                        </a:spcBef>
                        <a:spcAft>
                          <a:spcPts val="0"/>
                        </a:spcAft>
                      </a:pPr>
                      <a:r>
                        <a:rPr sz="1800" b="1">
                          <a:solidFill>
                            <a:srgbClr val="111111"/>
                          </a:solidFill>
                          <a:latin typeface="Aptos"/>
                          <a:ea typeface="Aptos"/>
                          <a:cs typeface="Aptos"/>
                        </a:rPr>
                        <a:t>52</a:t>
                      </a:r>
                    </a:p>
                  </a:txBody>
                  <a:tcPr marL="76200" marR="57150" marT="19050" marB="19050" anchor="ctr">
                    <a:solidFill>
                      <a:srgbClr val="DCEAF4"/>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53</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53</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54</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55</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56</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68</a:t>
                      </a:r>
                    </a:p>
                  </a:txBody>
                  <a:tcPr marL="76200" marR="57150" marT="19050" marB="19050" anchor="ctr">
                    <a:solidFill>
                      <a:srgbClr val="EFF8FF"/>
                    </a:solidFill>
                  </a:tcPr>
                </a:tc>
                <a:extLst>
                  <a:ext uri="{0D108BD9-81ED-4DB2-BD59-A6C34878D82A}">
                    <a16:rowId xmlns:a16="http://schemas.microsoft.com/office/drawing/2014/main" val="10002"/>
                  </a:ext>
                </a:extLst>
              </a:tr>
            </a:tbl>
          </a:graphicData>
        </a:graphic>
      </p:graphicFrame>
      <p:sp>
        <p:nvSpPr>
          <p:cNvPr id="6" name="body">
            <a:extLst>
              <a:ext uri="{FF2B5EF4-FFF2-40B4-BE49-F238E27FC236}">
                <a16:creationId xmlns:a16="http://schemas.microsoft.com/office/drawing/2014/main" id="{9C8490D5-9BEC-46CB-8832-45ED14798E74}"/>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Median: positions 15 and 16. Quartile positions: 7.75 and 23.25.</a:t>
            </a:r>
          </a:p>
        </p:txBody>
      </p:sp>
      <p:sp>
        <p:nvSpPr>
          <p:cNvPr id="7"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C2 • CHECKPOINT</a:t>
            </a:r>
          </a:p>
        </p:txBody>
      </p:sp>
    </p:spTree>
    <p:extLst>
      <p:ext uri="{BB962C8B-B14F-4D97-AF65-F5344CB8AC3E}">
        <p14:creationId xmlns:p14="http://schemas.microsoft.com/office/powerpoint/2010/main" val="3281361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C2: the middle 50%</a:t>
            </a:r>
          </a:p>
        </p:txBody>
      </p:sp>
      <p:sp>
        <p:nvSpPr>
          <p:cNvPr id="3" name="body">
            <a:extLst>
              <a:ext uri="{FF2B5EF4-FFF2-40B4-BE49-F238E27FC236}">
                <a16:creationId xmlns:a16="http://schemas.microsoft.com/office/drawing/2014/main" id="{0F426D9A-D6B5-490F-A6F9-F9728D34F3C7}"/>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Q1 and Q3 are the lower and upper quartiles.</a:t>
            </a:r>
          </a:p>
        </p:txBody>
      </p:sp>
      <p:sp>
        <p:nvSpPr>
          <p:cNvPr id="4" name="body">
            <a:extLst>
              <a:ext uri="{FF2B5EF4-FFF2-40B4-BE49-F238E27FC236}">
                <a16:creationId xmlns:a16="http://schemas.microsoft.com/office/drawing/2014/main" id="{B6ABF677-ACCB-4CBA-9AB9-19D18D317C53}"/>
              </a:ext>
            </a:extLst>
          </p:cNvPr>
          <p:cNvSpPr>
            <a:spLocks noGrp="1"/>
          </p:cNvSpPr>
          <p:nvPr/>
        </p:nvSpPr>
        <p:spPr>
          <a:xfrm>
            <a:off x="523875" y="2686050"/>
            <a:ext cx="11144250" cy="809625"/>
          </a:xfrm>
          <a:prstGeom prst="rect">
            <a:avLst/>
          </a:prstGeom>
          <a:noFill/>
          <a:ln w="0">
            <a:noFill/>
          </a:ln>
        </p:spPr>
        <p:txBody>
          <a:bodyPr wrap="square" lIns="0" tIns="0" rIns="0" bIns="0" anchor="t">
            <a:noAutofit/>
          </a:bodyPr>
          <a:lstStyle/>
          <a:p>
            <a:pPr marL="0" marR="0" indent="0">
              <a:defRPr sz="2250" b="0">
                <a:solidFill>
                  <a:srgbClr val="111111"/>
                </a:solidFill>
                <a:latin typeface="Aptos"/>
                <a:ea typeface="Aptos"/>
                <a:cs typeface="Aptos"/>
              </a:defRPr>
            </a:pPr>
            <a:r>
              <a:rPr sz="2250" b="0">
                <a:solidFill>
                  <a:srgbClr val="111111"/>
                </a:solidFill>
                <a:latin typeface="Aptos"/>
                <a:ea typeface="Aptos"/>
                <a:cs typeface="Aptos"/>
              </a:rPr>
              <a:t>They mark the middle 50% of the ordered data.</a:t>
            </a:r>
          </a:p>
          <a:p>
            <a:pPr marL="0" marR="0" indent="0">
              <a:defRPr sz="2250" b="0">
                <a:solidFill>
                  <a:srgbClr val="111111"/>
                </a:solidFill>
                <a:latin typeface="Aptos"/>
                <a:ea typeface="Aptos"/>
                <a:cs typeface="Aptos"/>
              </a:defRPr>
            </a:pPr>
            <a:r>
              <a:rPr sz="2250" b="0">
                <a:solidFill>
                  <a:srgbClr val="111111"/>
                </a:solidFill>
                <a:latin typeface="Aptos"/>
                <a:ea typeface="Aptos"/>
                <a:cs typeface="Aptos"/>
              </a:rPr>
              <a:t>The interquartile range (IQR) measures its width.</a:t>
            </a:r>
          </a:p>
        </p:txBody>
      </p:sp>
      <p:pic>
        <p:nvPicPr>
          <p:cNvPr id="5" name="Picture 4"/>
          <p:cNvPicPr>
            <a:picLocks noChangeAspect="1"/>
          </p:cNvPicPr>
          <p:nvPr/>
        </p:nvPicPr>
        <p:blipFill>
          <a:blip r:embed="rId3"/>
          <a:stretch/>
        </p:blipFill>
        <p:spPr>
          <a:xfrm>
            <a:off x="1000125" y="3688287"/>
            <a:ext cx="10191750" cy="710151"/>
          </a:xfrm>
          <a:prstGeom prst="rect">
            <a:avLst/>
          </a:prstGeom>
        </p:spPr>
      </p:pic>
      <p:sp>
        <p:nvSpPr>
          <p:cNvPr id="6" name="body">
            <a:extLst>
              <a:ext uri="{FF2B5EF4-FFF2-40B4-BE49-F238E27FC236}">
                <a16:creationId xmlns:a16="http://schemas.microsoft.com/office/drawing/2014/main" id="{6B963042-0600-47F8-A7E0-C8457B1747C3}"/>
              </a:ext>
            </a:extLst>
          </p:cNvPr>
          <p:cNvSpPr>
            <a:spLocks noGrp="1"/>
          </p:cNvSpPr>
          <p:nvPr/>
        </p:nvSpPr>
        <p:spPr>
          <a:xfrm>
            <a:off x="523875" y="4686300"/>
            <a:ext cx="11144250" cy="428625"/>
          </a:xfrm>
          <a:prstGeom prst="rect">
            <a:avLst/>
          </a:prstGeom>
          <a:noFill/>
          <a:ln w="0">
            <a:noFill/>
          </a:ln>
        </p:spPr>
        <p:txBody>
          <a:bodyPr wrap="square" lIns="0" tIns="0" rIns="0" bIns="0" anchor="t">
            <a:noAutofit/>
          </a:bodyPr>
          <a:lstStyle/>
          <a:p>
            <a:pPr marL="0" marR="0" indent="0">
              <a:defRPr sz="2100" b="1">
                <a:solidFill>
                  <a:srgbClr val="111111"/>
                </a:solidFill>
                <a:latin typeface="Aptos"/>
                <a:ea typeface="Aptos"/>
                <a:cs typeface="Aptos"/>
              </a:defRPr>
            </a:pPr>
            <a:r>
              <a:rPr sz="2100" b="1">
                <a:solidFill>
                  <a:srgbClr val="111111"/>
                </a:solidFill>
                <a:latin typeface="Aptos"/>
                <a:ea typeface="Aptos"/>
                <a:cs typeface="Aptos"/>
              </a:rPr>
              <a:t>A fractional position lies part-way between two observations.</a:t>
            </a:r>
          </a:p>
        </p:txBody>
      </p:sp>
      <p:pic>
        <p:nvPicPr>
          <p:cNvPr id="7" name="Picture 6"/>
          <p:cNvPicPr>
            <a:picLocks noChangeAspect="1"/>
          </p:cNvPicPr>
          <p:nvPr/>
        </p:nvPicPr>
        <p:blipFill>
          <a:blip r:embed="rId4"/>
          <a:stretch/>
        </p:blipFill>
        <p:spPr>
          <a:xfrm>
            <a:off x="639011" y="5143500"/>
            <a:ext cx="10913979" cy="495300"/>
          </a:xfrm>
          <a:prstGeom prst="rect">
            <a:avLst/>
          </a:prstGeom>
        </p:spPr>
      </p:pic>
      <p:sp>
        <p:nvSpPr>
          <p:cNvPr id="8" name="body">
            <a:extLst>
              <a:ext uri="{FF2B5EF4-FFF2-40B4-BE49-F238E27FC236}">
                <a16:creationId xmlns:a16="http://schemas.microsoft.com/office/drawing/2014/main" id="{671DCA93-B806-4FF1-AB06-10D9398A6E0E}"/>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Find Q1 and Q3 for each supplier, then calculate IQR = Q3 − Q1.</a:t>
            </a:r>
          </a:p>
        </p:txBody>
      </p:sp>
      <p:sp>
        <p:nvSpPr>
          <p:cNvPr id="9"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C2 • CALCULATE</a:t>
            </a:r>
          </a:p>
        </p:txBody>
      </p:sp>
    </p:spTree>
    <p:extLst>
      <p:ext uri="{BB962C8B-B14F-4D97-AF65-F5344CB8AC3E}">
        <p14:creationId xmlns:p14="http://schemas.microsoft.com/office/powerpoint/2010/main" val="3281361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C2: comparing the results</a:t>
            </a:r>
          </a:p>
        </p:txBody>
      </p:sp>
      <p:sp>
        <p:nvSpPr>
          <p:cNvPr id="3" name="body">
            <a:extLst>
              <a:ext uri="{FF2B5EF4-FFF2-40B4-BE49-F238E27FC236}">
                <a16:creationId xmlns:a16="http://schemas.microsoft.com/office/drawing/2014/main" id="{269286BF-30AE-44F5-AF7F-597BB3764A75}"/>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The range is equal. The middle half is much tighter for Supplier B.</a:t>
            </a:r>
          </a:p>
        </p:txBody>
      </p:sp>
      <p:graphicFrame>
        <p:nvGraphicFramePr>
          <p:cNvPr id="4" name="Table 3"/>
          <p:cNvGraphicFramePr/>
          <p:nvPr/>
        </p:nvGraphicFramePr>
        <p:xfrm>
          <a:off x="523875" y="2762250"/>
          <a:ext cx="11144250" cy="2857500"/>
        </p:xfrm>
        <a:graphic>
          <a:graphicData uri="http://schemas.openxmlformats.org/drawingml/2006/table">
            <a:tbl>
              <a:tblPr/>
              <a:tblGrid>
                <a:gridCol w="5143500">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gridCol w="3000375">
                  <a:extLst>
                    <a:ext uri="{9D8B030D-6E8A-4147-A177-3AD203B41FA5}">
                      <a16:colId xmlns:a16="http://schemas.microsoft.com/office/drawing/2014/main" val="20002"/>
                    </a:ext>
                  </a:extLst>
                </a:gridCol>
              </a:tblGrid>
              <a:tr h="476250">
                <a:tc>
                  <a:txBody>
                    <a:bodyPr/>
                    <a:lstStyle/>
                    <a:p>
                      <a:pPr marL="0" marR="0" indent="0">
                        <a:lnSpc>
                          <a:spcPct val="105000"/>
                        </a:lnSpc>
                        <a:spcBef>
                          <a:spcPts val="0"/>
                        </a:spcBef>
                        <a:spcAft>
                          <a:spcPts val="0"/>
                        </a:spcAft>
                      </a:pPr>
                      <a:r>
                        <a:rPr sz="2025" b="1">
                          <a:solidFill>
                            <a:srgbClr val="FFFFFF"/>
                          </a:solidFill>
                          <a:latin typeface="Aptos"/>
                          <a:ea typeface="Aptos"/>
                          <a:cs typeface="Aptos"/>
                        </a:rPr>
                        <a:t>Measure (hours)</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Supplier A</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Supplier B</a:t>
                      </a:r>
                    </a:p>
                  </a:txBody>
                  <a:tcPr marL="76200" marR="57150" marT="19050" marB="19050" anchor="ctr">
                    <a:solidFill>
                      <a:srgbClr val="D6171D"/>
                    </a:solidFill>
                  </a:tcPr>
                </a:tc>
                <a:extLst>
                  <a:ext uri="{0D108BD9-81ED-4DB2-BD59-A6C34878D82A}">
                    <a16:rowId xmlns:a16="http://schemas.microsoft.com/office/drawing/2014/main" val="10000"/>
                  </a:ext>
                </a:extLst>
              </a:tr>
              <a:tr h="476250">
                <a:tc>
                  <a:txBody>
                    <a:bodyPr/>
                    <a:lstStyle/>
                    <a:p>
                      <a:pPr marL="0" marR="0" indent="0">
                        <a:lnSpc>
                          <a:spcPct val="105000"/>
                        </a:lnSpc>
                        <a:spcBef>
                          <a:spcPts val="0"/>
                        </a:spcBef>
                        <a:spcAft>
                          <a:spcPts val="0"/>
                        </a:spcAft>
                      </a:pPr>
                      <a:r>
                        <a:rPr sz="2100" b="0">
                          <a:solidFill>
                            <a:srgbClr val="111111"/>
                          </a:solidFill>
                          <a:latin typeface="Aptos"/>
                          <a:ea typeface="Aptos"/>
                          <a:cs typeface="Aptos"/>
                        </a:rPr>
                        <a:t>Median</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45.5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49</a:t>
                      </a:r>
                    </a:p>
                  </a:txBody>
                  <a:tcPr marL="76200" marR="57150" marT="19050" marB="19050" anchor="ctr">
                    <a:solidFill>
                      <a:srgbClr val="FFFFFF"/>
                    </a:solidFill>
                  </a:tcPr>
                </a:tc>
                <a:extLst>
                  <a:ext uri="{0D108BD9-81ED-4DB2-BD59-A6C34878D82A}">
                    <a16:rowId xmlns:a16="http://schemas.microsoft.com/office/drawing/2014/main" val="10001"/>
                  </a:ext>
                </a:extLst>
              </a:tr>
              <a:tr h="476250">
                <a:tc>
                  <a:txBody>
                    <a:bodyPr/>
                    <a:lstStyle/>
                    <a:p>
                      <a:pPr marL="0" marR="0" indent="0">
                        <a:lnSpc>
                          <a:spcPct val="105000"/>
                        </a:lnSpc>
                        <a:spcBef>
                          <a:spcPts val="0"/>
                        </a:spcBef>
                        <a:spcAft>
                          <a:spcPts val="0"/>
                        </a:spcAft>
                      </a:pPr>
                      <a:r>
                        <a:rPr sz="2100" b="0">
                          <a:solidFill>
                            <a:srgbClr val="111111"/>
                          </a:solidFill>
                          <a:latin typeface="Aptos"/>
                          <a:ea typeface="Aptos"/>
                          <a:cs typeface="Aptos"/>
                        </a:rPr>
                        <a:t>Range</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40</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40</a:t>
                      </a:r>
                    </a:p>
                  </a:txBody>
                  <a:tcPr marL="76200" marR="57150" marT="19050" marB="19050" anchor="ctr">
                    <a:solidFill>
                      <a:srgbClr val="EFF8FF"/>
                    </a:solidFill>
                  </a:tcPr>
                </a:tc>
                <a:extLst>
                  <a:ext uri="{0D108BD9-81ED-4DB2-BD59-A6C34878D82A}">
                    <a16:rowId xmlns:a16="http://schemas.microsoft.com/office/drawing/2014/main" val="10002"/>
                  </a:ext>
                </a:extLst>
              </a:tr>
              <a:tr h="476250">
                <a:tc>
                  <a:txBody>
                    <a:bodyPr/>
                    <a:lstStyle/>
                    <a:p>
                      <a:pPr marL="0" marR="0" indent="0">
                        <a:lnSpc>
                          <a:spcPct val="105000"/>
                        </a:lnSpc>
                        <a:spcBef>
                          <a:spcPts val="0"/>
                        </a:spcBef>
                        <a:spcAft>
                          <a:spcPts val="0"/>
                        </a:spcAft>
                      </a:pPr>
                      <a:r>
                        <a:rPr sz="2100" b="0">
                          <a:solidFill>
                            <a:srgbClr val="111111"/>
                          </a:solidFill>
                          <a:latin typeface="Aptos"/>
                          <a:ea typeface="Aptos"/>
                          <a:cs typeface="Aptos"/>
                        </a:rPr>
                        <a:t>Lower quartile, Q1</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39.75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46.75</a:t>
                      </a:r>
                    </a:p>
                  </a:txBody>
                  <a:tcPr marL="76200" marR="57150" marT="19050" marB="19050" anchor="ctr">
                    <a:solidFill>
                      <a:srgbClr val="FFFFFF"/>
                    </a:solidFill>
                  </a:tcPr>
                </a:tc>
                <a:extLst>
                  <a:ext uri="{0D108BD9-81ED-4DB2-BD59-A6C34878D82A}">
                    <a16:rowId xmlns:a16="http://schemas.microsoft.com/office/drawing/2014/main" val="10003"/>
                  </a:ext>
                </a:extLst>
              </a:tr>
              <a:tr h="476250">
                <a:tc>
                  <a:txBody>
                    <a:bodyPr/>
                    <a:lstStyle/>
                    <a:p>
                      <a:pPr marL="0" marR="0" indent="0">
                        <a:lnSpc>
                          <a:spcPct val="105000"/>
                        </a:lnSpc>
                        <a:spcBef>
                          <a:spcPts val="0"/>
                        </a:spcBef>
                        <a:spcAft>
                          <a:spcPts val="0"/>
                        </a:spcAft>
                      </a:pPr>
                      <a:r>
                        <a:rPr sz="2100" b="0">
                          <a:solidFill>
                            <a:srgbClr val="111111"/>
                          </a:solidFill>
                          <a:latin typeface="Aptos"/>
                          <a:ea typeface="Aptos"/>
                          <a:cs typeface="Aptos"/>
                        </a:rPr>
                        <a:t>Upper quartile, Q3</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54.25</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52</a:t>
                      </a:r>
                    </a:p>
                  </a:txBody>
                  <a:tcPr marL="76200" marR="57150" marT="19050" marB="19050" anchor="ctr">
                    <a:solidFill>
                      <a:srgbClr val="EFF8FF"/>
                    </a:solidFill>
                  </a:tcPr>
                </a:tc>
                <a:extLst>
                  <a:ext uri="{0D108BD9-81ED-4DB2-BD59-A6C34878D82A}">
                    <a16:rowId xmlns:a16="http://schemas.microsoft.com/office/drawing/2014/main" val="10004"/>
                  </a:ext>
                </a:extLst>
              </a:tr>
              <a:tr h="476250">
                <a:tc>
                  <a:txBody>
                    <a:bodyPr/>
                    <a:lstStyle/>
                    <a:p>
                      <a:pPr marL="0" marR="0" indent="0">
                        <a:lnSpc>
                          <a:spcPct val="105000"/>
                        </a:lnSpc>
                        <a:spcBef>
                          <a:spcPts val="0"/>
                        </a:spcBef>
                        <a:spcAft>
                          <a:spcPts val="0"/>
                        </a:spcAft>
                      </a:pPr>
                      <a:r>
                        <a:rPr sz="2100" b="0">
                          <a:solidFill>
                            <a:srgbClr val="111111"/>
                          </a:solidFill>
                          <a:latin typeface="Aptos"/>
                          <a:ea typeface="Aptos"/>
                          <a:cs typeface="Aptos"/>
                        </a:rPr>
                        <a:t>Interquartile range, IQR</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14.5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5.25</a:t>
                      </a:r>
                    </a:p>
                  </a:txBody>
                  <a:tcPr marL="76200" marR="5715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5" name="body">
            <a:extLst>
              <a:ext uri="{FF2B5EF4-FFF2-40B4-BE49-F238E27FC236}">
                <a16:creationId xmlns:a16="http://schemas.microsoft.com/office/drawing/2014/main" id="{7CEACACB-5496-4F46-A612-38D37C826041}"/>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Range uses the two extremes. IQR describes the spread of the middle 50%.</a:t>
            </a:r>
          </a:p>
        </p:txBody>
      </p:sp>
      <p:sp>
        <p:nvSpPr>
          <p:cNvPr id="6"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C2 • CHECKPOINT</a:t>
            </a:r>
          </a:p>
        </p:txBody>
      </p:sp>
    </p:spTree>
    <p:extLst>
      <p:ext uri="{BB962C8B-B14F-4D97-AF65-F5344CB8AC3E}">
        <p14:creationId xmlns:p14="http://schemas.microsoft.com/office/powerpoint/2010/main" val="3281361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235" y="2238375"/>
            <a:ext cx="5953125" cy="2705100"/>
          </a:xfrm>
        </p:spPr>
        <p:txBody>
          <a:bodyPr wrap="square" lIns="0" tIns="0" rIns="0" bIns="0" anchor="t">
            <a:noAutofit/>
          </a:bodyPr>
          <a:lstStyle/>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Section 2:</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Measuring</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variation</a:t>
            </a:r>
          </a:p>
        </p:txBody>
      </p:sp>
      <p:sp>
        <p:nvSpPr>
          <p:cNvPr id="3" name="divider-question">
            <a:extLst>
              <a:ext uri="{FF2B5EF4-FFF2-40B4-BE49-F238E27FC236}">
                <a16:creationId xmlns:a16="http://schemas.microsoft.com/office/drawing/2014/main" id="{F14273D8-9C51-49BB-8FB7-8CA9876B18F0}"/>
              </a:ext>
            </a:extLst>
          </p:cNvPr>
          <p:cNvSpPr>
            <a:spLocks noGrp="1"/>
          </p:cNvSpPr>
          <p:nvPr/>
        </p:nvSpPr>
        <p:spPr>
          <a:xfrm>
            <a:off x="428625" y="5200650"/>
            <a:ext cx="5715000" cy="1028700"/>
          </a:xfrm>
          <a:prstGeom prst="rect">
            <a:avLst/>
          </a:prstGeom>
          <a:noFill/>
          <a:ln w="0">
            <a:noFill/>
          </a:ln>
        </p:spPr>
        <p:txBody>
          <a:bodyPr wrap="square" lIns="0" tIns="0" rIns="0" bIns="0" anchor="t">
            <a:noAutofit/>
          </a:bodyPr>
          <a:lstStyle/>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How spread out are deliveries</a:t>
            </a:r>
          </a:p>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around each supplier’s mean?</a:t>
            </a:r>
          </a:p>
        </p:txBody>
      </p:sp>
    </p:spTree>
    <p:extLst>
      <p:ext uri="{BB962C8B-B14F-4D97-AF65-F5344CB8AC3E}">
        <p14:creationId xmlns:p14="http://schemas.microsoft.com/office/powerpoint/2010/main" val="3281361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Deviation and standard deviation</a:t>
            </a:r>
          </a:p>
        </p:txBody>
      </p:sp>
      <p:sp>
        <p:nvSpPr>
          <p:cNvPr id="3" name="body">
            <a:extLst>
              <a:ext uri="{FF2B5EF4-FFF2-40B4-BE49-F238E27FC236}">
                <a16:creationId xmlns:a16="http://schemas.microsoft.com/office/drawing/2014/main" id="{FFA18B2A-372B-485F-A8DE-AAFFADE7BF4A}"/>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These terms answer different questions.</a:t>
            </a:r>
          </a:p>
        </p:txBody>
      </p:sp>
      <p:graphicFrame>
        <p:nvGraphicFramePr>
          <p:cNvPr id="4" name="Table 3"/>
          <p:cNvGraphicFramePr/>
          <p:nvPr/>
        </p:nvGraphicFramePr>
        <p:xfrm>
          <a:off x="523875" y="2800350"/>
          <a:ext cx="11144250" cy="2238375"/>
        </p:xfrm>
        <a:graphic>
          <a:graphicData uri="http://schemas.openxmlformats.org/drawingml/2006/table">
            <a:tbl>
              <a:tblPr/>
              <a:tblGrid>
                <a:gridCol w="2762250">
                  <a:extLst>
                    <a:ext uri="{9D8B030D-6E8A-4147-A177-3AD203B41FA5}">
                      <a16:colId xmlns:a16="http://schemas.microsoft.com/office/drawing/2014/main" val="20000"/>
                    </a:ext>
                  </a:extLst>
                </a:gridCol>
                <a:gridCol w="4333875">
                  <a:extLst>
                    <a:ext uri="{9D8B030D-6E8A-4147-A177-3AD203B41FA5}">
                      <a16:colId xmlns:a16="http://schemas.microsoft.com/office/drawing/2014/main" val="20001"/>
                    </a:ext>
                  </a:extLst>
                </a:gridCol>
                <a:gridCol w="4048125">
                  <a:extLst>
                    <a:ext uri="{9D8B030D-6E8A-4147-A177-3AD203B41FA5}">
                      <a16:colId xmlns:a16="http://schemas.microsoft.com/office/drawing/2014/main" val="20002"/>
                    </a:ext>
                  </a:extLst>
                </a:gridCol>
              </a:tblGrid>
              <a:tr h="746125">
                <a:tc>
                  <a:txBody>
                    <a:bodyPr/>
                    <a:lstStyle/>
                    <a:p>
                      <a:pPr marL="0" marR="0" indent="0">
                        <a:lnSpc>
                          <a:spcPct val="105000"/>
                        </a:lnSpc>
                        <a:spcBef>
                          <a:spcPts val="0"/>
                        </a:spcBef>
                        <a:spcAft>
                          <a:spcPts val="0"/>
                        </a:spcAft>
                      </a:pPr>
                      <a:r>
                        <a:rPr sz="2025" b="1">
                          <a:solidFill>
                            <a:srgbClr val="FFFFFF"/>
                          </a:solidFill>
                          <a:latin typeface="Aptos"/>
                          <a:ea typeface="Aptos"/>
                          <a:cs typeface="Aptos"/>
                        </a:rPr>
                        <a:t>Measure</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What it describes</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How to read it</a:t>
                      </a:r>
                    </a:p>
                  </a:txBody>
                  <a:tcPr marL="76200" marR="57150" marT="19050" marB="19050" anchor="ctr">
                    <a:solidFill>
                      <a:srgbClr val="D6171D"/>
                    </a:solidFill>
                  </a:tcPr>
                </a:tc>
                <a:extLst>
                  <a:ext uri="{0D108BD9-81ED-4DB2-BD59-A6C34878D82A}">
                    <a16:rowId xmlns:a16="http://schemas.microsoft.com/office/drawing/2014/main" val="10000"/>
                  </a:ext>
                </a:extLst>
              </a:tr>
              <a:tr h="746125">
                <a:tc>
                  <a:txBody>
                    <a:bodyPr/>
                    <a:lstStyle/>
                    <a:p>
                      <a:pPr marL="0" marR="0" indent="0">
                        <a:lnSpc>
                          <a:spcPct val="105000"/>
                        </a:lnSpc>
                        <a:spcBef>
                          <a:spcPts val="0"/>
                        </a:spcBef>
                        <a:spcAft>
                          <a:spcPts val="0"/>
                        </a:spcAft>
                      </a:pPr>
                      <a:r>
                        <a:rPr sz="2025" b="0">
                          <a:solidFill>
                            <a:srgbClr val="111111"/>
                          </a:solidFill>
                          <a:latin typeface="Aptos"/>
                          <a:ea typeface="Aptos"/>
                          <a:cs typeface="Aptos"/>
                        </a:rPr>
                        <a:t>Deviation</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One delivery’s difference</a:t>
                      </a:r>
                    </a:p>
                    <a:p>
                      <a:pPr marL="0" marR="0" indent="0">
                        <a:lnSpc>
                          <a:spcPct val="105000"/>
                        </a:lnSpc>
                        <a:spcBef>
                          <a:spcPts val="0"/>
                        </a:spcBef>
                        <a:spcAft>
                          <a:spcPts val="0"/>
                        </a:spcAft>
                      </a:pPr>
                      <a:r>
                        <a:rPr sz="2025" b="0">
                          <a:solidFill>
                            <a:srgbClr val="111111"/>
                          </a:solidFill>
                          <a:latin typeface="Aptos"/>
                          <a:ea typeface="Aptos"/>
                          <a:cs typeface="Aptos"/>
                        </a:rPr>
                        <a:t>from the mean</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Negative: below the mean</a:t>
                      </a:r>
                    </a:p>
                    <a:p>
                      <a:pPr marL="0" marR="0" indent="0">
                        <a:lnSpc>
                          <a:spcPct val="105000"/>
                        </a:lnSpc>
                        <a:spcBef>
                          <a:spcPts val="0"/>
                        </a:spcBef>
                        <a:spcAft>
                          <a:spcPts val="0"/>
                        </a:spcAft>
                      </a:pPr>
                      <a:r>
                        <a:rPr sz="2025" b="0">
                          <a:solidFill>
                            <a:srgbClr val="111111"/>
                          </a:solidFill>
                          <a:latin typeface="Aptos"/>
                          <a:ea typeface="Aptos"/>
                          <a:cs typeface="Aptos"/>
                        </a:rPr>
                        <a:t>Positive: above the mean</a:t>
                      </a:r>
                    </a:p>
                  </a:txBody>
                  <a:tcPr marL="76200" marR="57150" marT="19050" marB="19050" anchor="ctr">
                    <a:solidFill>
                      <a:srgbClr val="FFFFFF"/>
                    </a:solidFill>
                  </a:tcPr>
                </a:tc>
                <a:extLst>
                  <a:ext uri="{0D108BD9-81ED-4DB2-BD59-A6C34878D82A}">
                    <a16:rowId xmlns:a16="http://schemas.microsoft.com/office/drawing/2014/main" val="10001"/>
                  </a:ext>
                </a:extLst>
              </a:tr>
              <a:tr h="746125">
                <a:tc>
                  <a:txBody>
                    <a:bodyPr/>
                    <a:lstStyle/>
                    <a:p>
                      <a:pPr marL="0" marR="0" indent="0">
                        <a:lnSpc>
                          <a:spcPct val="105000"/>
                        </a:lnSpc>
                        <a:spcBef>
                          <a:spcPts val="0"/>
                        </a:spcBef>
                        <a:spcAft>
                          <a:spcPts val="0"/>
                        </a:spcAft>
                      </a:pPr>
                      <a:r>
                        <a:rPr sz="2025" b="0">
                          <a:solidFill>
                            <a:srgbClr val="111111"/>
                          </a:solidFill>
                          <a:latin typeface="Aptos"/>
                          <a:ea typeface="Aptos"/>
                          <a:cs typeface="Aptos"/>
                        </a:rPr>
                        <a:t>Standard deviation (SD)</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Spread across all deliveries</a:t>
                      </a:r>
                    </a:p>
                    <a:p>
                      <a:pPr marL="0" marR="0" indent="0">
                        <a:lnSpc>
                          <a:spcPct val="105000"/>
                        </a:lnSpc>
                        <a:spcBef>
                          <a:spcPts val="0"/>
                        </a:spcBef>
                        <a:spcAft>
                          <a:spcPts val="0"/>
                        </a:spcAft>
                      </a:pPr>
                      <a:r>
                        <a:rPr sz="2025" b="0">
                          <a:solidFill>
                            <a:srgbClr val="111111"/>
                          </a:solidFill>
                          <a:latin typeface="Aptos"/>
                          <a:ea typeface="Aptos"/>
                          <a:cs typeface="Aptos"/>
                        </a:rPr>
                        <a:t>around their mean</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Smaller SD: values tend to</a:t>
                      </a:r>
                    </a:p>
                    <a:p>
                      <a:pPr marL="0" marR="0" indent="0">
                        <a:lnSpc>
                          <a:spcPct val="105000"/>
                        </a:lnSpc>
                        <a:spcBef>
                          <a:spcPts val="0"/>
                        </a:spcBef>
                        <a:spcAft>
                          <a:spcPts val="0"/>
                        </a:spcAft>
                      </a:pPr>
                      <a:r>
                        <a:rPr sz="2025" b="0">
                          <a:solidFill>
                            <a:srgbClr val="111111"/>
                          </a:solidFill>
                          <a:latin typeface="Aptos"/>
                          <a:ea typeface="Aptos"/>
                          <a:cs typeface="Aptos"/>
                        </a:rPr>
                        <a:t>be closer to their mean</a:t>
                      </a:r>
                    </a:p>
                  </a:txBody>
                  <a:tcPr marL="76200" marR="57150" marT="19050" marB="19050" anchor="ctr">
                    <a:solidFill>
                      <a:srgbClr val="EFF8FF"/>
                    </a:solidFill>
                  </a:tcPr>
                </a:tc>
                <a:extLst>
                  <a:ext uri="{0D108BD9-81ED-4DB2-BD59-A6C34878D82A}">
                    <a16:rowId xmlns:a16="http://schemas.microsoft.com/office/drawing/2014/main" val="10002"/>
                  </a:ext>
                </a:extLst>
              </a:tr>
            </a:tbl>
          </a:graphicData>
        </a:graphic>
      </p:graphicFrame>
      <p:pic>
        <p:nvPicPr>
          <p:cNvPr id="5" name="Picture 4"/>
          <p:cNvPicPr>
            <a:picLocks noChangeAspect="1"/>
          </p:cNvPicPr>
          <p:nvPr/>
        </p:nvPicPr>
        <p:blipFill>
          <a:blip r:embed="rId3"/>
          <a:stretch/>
        </p:blipFill>
        <p:spPr>
          <a:xfrm>
            <a:off x="4205506" y="5334000"/>
            <a:ext cx="3780988" cy="552450"/>
          </a:xfrm>
          <a:prstGeom prst="rect">
            <a:avLst/>
          </a:prstGeom>
        </p:spPr>
      </p:pic>
      <p:sp>
        <p:nvSpPr>
          <p:cNvPr id="6" name="body">
            <a:extLst>
              <a:ext uri="{FF2B5EF4-FFF2-40B4-BE49-F238E27FC236}">
                <a16:creationId xmlns:a16="http://schemas.microsoft.com/office/drawing/2014/main" id="{774CAA3D-0589-4AFB-BF1D-CE3E6FFFCF2E}"/>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Both are measured in hours. One dataset has many deviations but one SD.</a:t>
            </a:r>
          </a:p>
        </p:txBody>
      </p:sp>
    </p:spTree>
    <p:extLst>
      <p:ext uri="{BB962C8B-B14F-4D97-AF65-F5344CB8AC3E}">
        <p14:creationId xmlns:p14="http://schemas.microsoft.com/office/powerpoint/2010/main" val="3281361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C3: one row, fully explained</a:t>
            </a:r>
          </a:p>
        </p:txBody>
      </p:sp>
      <p:sp>
        <p:nvSpPr>
          <p:cNvPr id="3" name="body">
            <a:extLst>
              <a:ext uri="{FF2B5EF4-FFF2-40B4-BE49-F238E27FC236}">
                <a16:creationId xmlns:a16="http://schemas.microsoft.com/office/drawing/2014/main" id="{494178B1-F60C-4240-A460-0A6DB2004BE5}"/>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Subtract the supplier’s mean before squaring.</a:t>
            </a:r>
          </a:p>
        </p:txBody>
      </p:sp>
      <p:sp>
        <p:nvSpPr>
          <p:cNvPr id="4" name="body">
            <a:extLst>
              <a:ext uri="{FF2B5EF4-FFF2-40B4-BE49-F238E27FC236}">
                <a16:creationId xmlns:a16="http://schemas.microsoft.com/office/drawing/2014/main" id="{49B89006-1736-4970-A5D5-E778F9021C7F}"/>
              </a:ext>
            </a:extLst>
          </p:cNvPr>
          <p:cNvSpPr>
            <a:spLocks noGrp="1"/>
          </p:cNvSpPr>
          <p:nvPr/>
        </p:nvSpPr>
        <p:spPr>
          <a:xfrm>
            <a:off x="523875" y="2705100"/>
            <a:ext cx="11144250" cy="4381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Supplier A: first delivery is 36 hours. Mean is 46.8 hours.</a:t>
            </a:r>
          </a:p>
        </p:txBody>
      </p:sp>
      <p:pic>
        <p:nvPicPr>
          <p:cNvPr id="5" name="Picture 4"/>
          <p:cNvPicPr>
            <a:picLocks noChangeAspect="1"/>
          </p:cNvPicPr>
          <p:nvPr/>
        </p:nvPicPr>
        <p:blipFill>
          <a:blip r:embed="rId3"/>
          <a:stretch/>
        </p:blipFill>
        <p:spPr>
          <a:xfrm>
            <a:off x="3548281" y="3305175"/>
            <a:ext cx="5095438" cy="666750"/>
          </a:xfrm>
          <a:prstGeom prst="rect">
            <a:avLst/>
          </a:prstGeom>
        </p:spPr>
      </p:pic>
      <p:pic>
        <p:nvPicPr>
          <p:cNvPr id="6" name="Picture 5"/>
          <p:cNvPicPr>
            <a:picLocks noChangeAspect="1"/>
          </p:cNvPicPr>
          <p:nvPr/>
        </p:nvPicPr>
        <p:blipFill>
          <a:blip r:embed="rId4"/>
          <a:stretch/>
        </p:blipFill>
        <p:spPr>
          <a:xfrm>
            <a:off x="1132822" y="4191000"/>
            <a:ext cx="9926356" cy="714375"/>
          </a:xfrm>
          <a:prstGeom prst="rect">
            <a:avLst/>
          </a:prstGeom>
        </p:spPr>
      </p:pic>
      <p:sp>
        <p:nvSpPr>
          <p:cNvPr id="7" name="body">
            <a:extLst>
              <a:ext uri="{FF2B5EF4-FFF2-40B4-BE49-F238E27FC236}">
                <a16:creationId xmlns:a16="http://schemas.microsoft.com/office/drawing/2014/main" id="{FA03480D-0CE9-4863-A9F9-0FE0E54B2A17}"/>
              </a:ext>
            </a:extLst>
          </p:cNvPr>
          <p:cNvSpPr>
            <a:spLocks noGrp="1"/>
          </p:cNvSpPr>
          <p:nvPr/>
        </p:nvSpPr>
        <p:spPr>
          <a:xfrm>
            <a:off x="523875" y="5048250"/>
            <a:ext cx="11144250" cy="409575"/>
          </a:xfrm>
          <a:prstGeom prst="rect">
            <a:avLst/>
          </a:prstGeom>
          <a:noFill/>
          <a:ln w="0">
            <a:noFill/>
          </a:ln>
        </p:spPr>
        <p:txBody>
          <a:bodyPr wrap="square" lIns="0" tIns="0" rIns="0" bIns="0" anchor="t">
            <a:noAutofit/>
          </a:bodyPr>
          <a:lstStyle/>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Your turn: Supplier B, first delivery 51 hours. Mean 49.2 hours.</a:t>
            </a:r>
          </a:p>
        </p:txBody>
      </p:sp>
      <p:pic>
        <p:nvPicPr>
          <p:cNvPr id="8" name="Picture 7"/>
          <p:cNvPicPr>
            <a:picLocks noChangeAspect="1"/>
          </p:cNvPicPr>
          <p:nvPr/>
        </p:nvPicPr>
        <p:blipFill>
          <a:blip r:embed="rId5"/>
          <a:stretch/>
        </p:blipFill>
        <p:spPr>
          <a:xfrm>
            <a:off x="4274382" y="5505450"/>
            <a:ext cx="3643236" cy="409575"/>
          </a:xfrm>
          <a:prstGeom prst="rect">
            <a:avLst/>
          </a:prstGeom>
        </p:spPr>
      </p:pic>
      <p:sp>
        <p:nvSpPr>
          <p:cNvPr id="9" name="body">
            <a:extLst>
              <a:ext uri="{FF2B5EF4-FFF2-40B4-BE49-F238E27FC236}">
                <a16:creationId xmlns:a16="http://schemas.microsoft.com/office/drawing/2014/main" id="{86930F51-00CC-44B9-9C7E-AB55C4ED51BA}"/>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Say what the sign of each deviation means.</a:t>
            </a:r>
          </a:p>
        </p:txBody>
      </p:sp>
      <p:sp>
        <p:nvSpPr>
          <p:cNvPr id="10"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C3 • WORKED + GUIDED</a:t>
            </a:r>
          </a:p>
        </p:txBody>
      </p:sp>
    </p:spTree>
    <p:extLst>
      <p:ext uri="{BB962C8B-B14F-4D97-AF65-F5344CB8AC3E}">
        <p14:creationId xmlns:p14="http://schemas.microsoft.com/office/powerpoint/2010/main" val="3281361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C3: your calculation tables</a:t>
            </a:r>
          </a:p>
        </p:txBody>
      </p:sp>
      <p:sp>
        <p:nvSpPr>
          <p:cNvPr id="3" name="body">
            <a:extLst>
              <a:ext uri="{FF2B5EF4-FFF2-40B4-BE49-F238E27FC236}">
                <a16:creationId xmlns:a16="http://schemas.microsoft.com/office/drawing/2014/main" id="{F3CADC37-663C-4AB6-A104-EB3AD943EAAB}"/>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Complete all 30 rows for each supplier. Work on both tables.</a:t>
            </a:r>
          </a:p>
        </p:txBody>
      </p:sp>
      <p:graphicFrame>
        <p:nvGraphicFramePr>
          <p:cNvPr id="4" name="Table 3"/>
          <p:cNvGraphicFramePr/>
          <p:nvPr/>
        </p:nvGraphicFramePr>
        <p:xfrm>
          <a:off x="523875" y="2762250"/>
          <a:ext cx="11144250" cy="2428875"/>
        </p:xfrm>
        <a:graphic>
          <a:graphicData uri="http://schemas.openxmlformats.org/drawingml/2006/table">
            <a:tbl>
              <a:tblPr/>
              <a:tblGrid>
                <a:gridCol w="3476625">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485775">
                <a:tc>
                  <a:txBody>
                    <a:bodyPr/>
                    <a:lstStyle/>
                    <a:p>
                      <a:pPr marL="0" marR="0" indent="0">
                        <a:lnSpc>
                          <a:spcPct val="105000"/>
                        </a:lnSpc>
                        <a:spcBef>
                          <a:spcPts val="0"/>
                        </a:spcBef>
                        <a:spcAft>
                          <a:spcPts val="0"/>
                        </a:spcAft>
                      </a:pPr>
                      <a:r>
                        <a:rPr sz="1875" b="1">
                          <a:solidFill>
                            <a:srgbClr val="FFFFFF"/>
                          </a:solidFill>
                          <a:latin typeface="Aptos"/>
                          <a:ea typeface="Aptos"/>
                          <a:cs typeface="Aptos"/>
                        </a:rPr>
                        <a:t>Delivery time, xᵢ (h)</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75" b="1">
                          <a:solidFill>
                            <a:srgbClr val="FFFFFF"/>
                          </a:solidFill>
                          <a:latin typeface="Aptos"/>
                          <a:ea typeface="Aptos"/>
                          <a:cs typeface="Aptos"/>
                        </a:rPr>
                        <a:t>Deviation, xᵢ − x̄ (h)</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75" b="1">
                          <a:solidFill>
                            <a:srgbClr val="FFFFFF"/>
                          </a:solidFill>
                          <a:latin typeface="Aptos"/>
                          <a:ea typeface="Aptos"/>
                          <a:cs typeface="Aptos"/>
                        </a:rPr>
                        <a:t>Squared deviation (h²)</a:t>
                      </a:r>
                    </a:p>
                  </a:txBody>
                  <a:tcPr marL="76200" marR="57150" marT="19050" marB="19050" anchor="ctr">
                    <a:solidFill>
                      <a:srgbClr val="D6171D"/>
                    </a:solidFill>
                  </a:tcPr>
                </a:tc>
                <a:extLst>
                  <a:ext uri="{0D108BD9-81ED-4DB2-BD59-A6C34878D82A}">
                    <a16:rowId xmlns:a16="http://schemas.microsoft.com/office/drawing/2014/main" val="10000"/>
                  </a:ext>
                </a:extLst>
              </a:tr>
              <a:tr h="485775">
                <a:tc>
                  <a:txBody>
                    <a:bodyPr/>
                    <a:lstStyle/>
                    <a:p>
                      <a:pPr marL="0" marR="0" indent="0">
                        <a:lnSpc>
                          <a:spcPct val="105000"/>
                        </a:lnSpc>
                        <a:spcBef>
                          <a:spcPts val="0"/>
                        </a:spcBef>
                        <a:spcAft>
                          <a:spcPts val="0"/>
                        </a:spcAft>
                      </a:pPr>
                      <a:r>
                        <a:rPr sz="2025" b="0">
                          <a:solidFill>
                            <a:srgbClr val="111111"/>
                          </a:solidFill>
                          <a:latin typeface="Aptos"/>
                          <a:ea typeface="Aptos"/>
                          <a:cs typeface="Aptos"/>
                        </a:rPr>
                        <a:t>36  (A, first row)</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36 − 46.8 = −10.8</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116.64</a:t>
                      </a:r>
                    </a:p>
                  </a:txBody>
                  <a:tcPr marL="76200" marR="57150" marT="19050" marB="19050" anchor="ctr">
                    <a:solidFill>
                      <a:srgbClr val="FFFFFF"/>
                    </a:solidFill>
                  </a:tcPr>
                </a:tc>
                <a:extLst>
                  <a:ext uri="{0D108BD9-81ED-4DB2-BD59-A6C34878D82A}">
                    <a16:rowId xmlns:a16="http://schemas.microsoft.com/office/drawing/2014/main" val="10001"/>
                  </a:ext>
                </a:extLst>
              </a:tr>
              <a:tr h="485775">
                <a:tc>
                  <a:txBody>
                    <a:bodyPr/>
                    <a:lstStyle/>
                    <a:p>
                      <a:pPr marL="0" marR="0" indent="0">
                        <a:lnSpc>
                          <a:spcPct val="105000"/>
                        </a:lnSpc>
                        <a:spcBef>
                          <a:spcPts val="0"/>
                        </a:spcBef>
                        <a:spcAft>
                          <a:spcPts val="0"/>
                        </a:spcAft>
                      </a:pPr>
                      <a:r>
                        <a:rPr sz="2025" b="0">
                          <a:solidFill>
                            <a:srgbClr val="111111"/>
                          </a:solidFill>
                          <a:latin typeface="Aptos"/>
                          <a:ea typeface="Aptos"/>
                          <a:cs typeface="Aptos"/>
                        </a:rPr>
                        <a:t>Next delivery…</a:t>
                      </a:r>
                    </a:p>
                  </a:txBody>
                  <a:tcPr marL="76200" marR="57150" marT="19050" marB="19050" anchor="ctr">
                    <a:solidFill>
                      <a:srgbClr val="EFF8FF"/>
                    </a:solidFill>
                  </a:tcPr>
                </a:tc>
                <a:tc>
                  <a:txBody>
                    <a:bodyPr/>
                    <a:lstStyle/>
                    <a:p>
                      <a:pPr marL="0" marR="0" indent="0">
                        <a:lnSpc>
                          <a:spcPct val="105000"/>
                        </a:lnSpc>
                        <a:spcBef>
                          <a:spcPts val="0"/>
                        </a:spcBef>
                        <a:spcAft>
                          <a:spcPts val="0"/>
                        </a:spcAft>
                      </a:pPr>
                      <a:endParaRPr/>
                    </a:p>
                  </a:txBody>
                  <a:tcPr marL="76200" marR="57150" marT="19050" marB="19050" anchor="ctr">
                    <a:solidFill>
                      <a:srgbClr val="EFF8FF"/>
                    </a:solidFill>
                  </a:tcPr>
                </a:tc>
                <a:tc>
                  <a:txBody>
                    <a:bodyPr/>
                    <a:lstStyle/>
                    <a:p>
                      <a:pPr marL="0" marR="0" indent="0">
                        <a:lnSpc>
                          <a:spcPct val="105000"/>
                        </a:lnSpc>
                        <a:spcBef>
                          <a:spcPts val="0"/>
                        </a:spcBef>
                        <a:spcAft>
                          <a:spcPts val="0"/>
                        </a:spcAft>
                      </a:pPr>
                      <a:endParaRPr/>
                    </a:p>
                  </a:txBody>
                  <a:tcPr marL="76200" marR="57150" marT="19050" marB="19050" anchor="ctr">
                    <a:solidFill>
                      <a:srgbClr val="EFF8FF"/>
                    </a:solidFill>
                  </a:tcPr>
                </a:tc>
                <a:extLst>
                  <a:ext uri="{0D108BD9-81ED-4DB2-BD59-A6C34878D82A}">
                    <a16:rowId xmlns:a16="http://schemas.microsoft.com/office/drawing/2014/main" val="10002"/>
                  </a:ext>
                </a:extLst>
              </a:tr>
              <a:tr h="485775">
                <a:tc>
                  <a:txBody>
                    <a:bodyPr/>
                    <a:lstStyle/>
                    <a:p>
                      <a:pPr marL="0" marR="0" indent="0">
                        <a:lnSpc>
                          <a:spcPct val="105000"/>
                        </a:lnSpc>
                        <a:spcBef>
                          <a:spcPts val="0"/>
                        </a:spcBef>
                        <a:spcAft>
                          <a:spcPts val="0"/>
                        </a:spcAft>
                      </a:pPr>
                      <a:r>
                        <a:rPr sz="2025" b="0">
                          <a:solidFill>
                            <a:srgbClr val="111111"/>
                          </a:solidFill>
                          <a:latin typeface="Aptos"/>
                          <a:ea typeface="Aptos"/>
                          <a:cs typeface="Aptos"/>
                        </a:rPr>
                        <a:t>Continue to row 30…</a:t>
                      </a:r>
                    </a:p>
                  </a:txBody>
                  <a:tcPr marL="76200" marR="57150" marT="19050" marB="19050" anchor="ctr">
                    <a:solidFill>
                      <a:srgbClr val="FFFFFF"/>
                    </a:solidFill>
                  </a:tcPr>
                </a:tc>
                <a:tc>
                  <a:txBody>
                    <a:bodyPr/>
                    <a:lstStyle/>
                    <a:p>
                      <a:pPr marL="0" marR="0" indent="0">
                        <a:lnSpc>
                          <a:spcPct val="105000"/>
                        </a:lnSpc>
                        <a:spcBef>
                          <a:spcPts val="0"/>
                        </a:spcBef>
                        <a:spcAft>
                          <a:spcPts val="0"/>
                        </a:spcAft>
                      </a:pPr>
                      <a:endParaRPr/>
                    </a:p>
                  </a:txBody>
                  <a:tcPr marL="76200" marR="57150" marT="19050" marB="19050" anchor="ctr">
                    <a:solidFill>
                      <a:srgbClr val="FFFFFF"/>
                    </a:solidFill>
                  </a:tcPr>
                </a:tc>
                <a:tc>
                  <a:txBody>
                    <a:bodyPr/>
                    <a:lstStyle/>
                    <a:p>
                      <a:pPr marL="0" marR="0" indent="0">
                        <a:lnSpc>
                          <a:spcPct val="105000"/>
                        </a:lnSpc>
                        <a:spcBef>
                          <a:spcPts val="0"/>
                        </a:spcBef>
                        <a:spcAft>
                          <a:spcPts val="0"/>
                        </a:spcAft>
                      </a:pPr>
                      <a:endParaRPr/>
                    </a:p>
                  </a:txBody>
                  <a:tcPr marL="76200" marR="57150" marT="19050" marB="19050" anchor="ctr">
                    <a:solidFill>
                      <a:srgbClr val="FFFFFF"/>
                    </a:solidFill>
                  </a:tcPr>
                </a:tc>
                <a:extLst>
                  <a:ext uri="{0D108BD9-81ED-4DB2-BD59-A6C34878D82A}">
                    <a16:rowId xmlns:a16="http://schemas.microsoft.com/office/drawing/2014/main" val="10003"/>
                  </a:ext>
                </a:extLst>
              </a:tr>
              <a:tr h="485775">
                <a:tc>
                  <a:txBody>
                    <a:bodyPr/>
                    <a:lstStyle/>
                    <a:p>
                      <a:pPr marL="0" marR="0" indent="0">
                        <a:lnSpc>
                          <a:spcPct val="105000"/>
                        </a:lnSpc>
                        <a:spcBef>
                          <a:spcPts val="0"/>
                        </a:spcBef>
                        <a:spcAft>
                          <a:spcPts val="0"/>
                        </a:spcAft>
                      </a:pPr>
                      <a:r>
                        <a:rPr sz="2025" b="0">
                          <a:solidFill>
                            <a:srgbClr val="111111"/>
                          </a:solidFill>
                          <a:latin typeface="Aptos"/>
                          <a:ea typeface="Aptos"/>
                          <a:cs typeface="Aptos"/>
                        </a:rPr>
                        <a:t>Total of squared deviations</a:t>
                      </a:r>
                    </a:p>
                  </a:txBody>
                  <a:tcPr marL="76200" marR="57150" marT="19050" marB="19050" anchor="ctr">
                    <a:solidFill>
                      <a:srgbClr val="EFF8FF"/>
                    </a:solidFill>
                  </a:tcPr>
                </a:tc>
                <a:tc>
                  <a:txBody>
                    <a:bodyPr/>
                    <a:lstStyle/>
                    <a:p>
                      <a:pPr marL="0" marR="0" indent="0">
                        <a:lnSpc>
                          <a:spcPct val="105000"/>
                        </a:lnSpc>
                        <a:spcBef>
                          <a:spcPts val="0"/>
                        </a:spcBef>
                        <a:spcAft>
                          <a:spcPts val="0"/>
                        </a:spcAft>
                      </a:pPr>
                      <a:endParaRPr/>
                    </a:p>
                  </a:txBody>
                  <a:tcPr marL="76200" marR="57150" marT="19050" marB="19050" anchor="ctr">
                    <a:solidFill>
                      <a:srgbClr val="EFF8FF"/>
                    </a:solidFill>
                  </a:tcPr>
                </a:tc>
                <a:tc>
                  <a:txBody>
                    <a:bodyPr/>
                    <a:lstStyle/>
                    <a:p>
                      <a:pPr marL="0" marR="0" indent="0">
                        <a:lnSpc>
                          <a:spcPct val="105000"/>
                        </a:lnSpc>
                        <a:spcBef>
                          <a:spcPts val="0"/>
                        </a:spcBef>
                        <a:spcAft>
                          <a:spcPts val="0"/>
                        </a:spcAft>
                      </a:pPr>
                      <a:endParaRPr/>
                    </a:p>
                  </a:txBody>
                  <a:tcPr marL="76200" marR="57150" marT="19050" marB="19050" anchor="ctr">
                    <a:solidFill>
                      <a:srgbClr val="EFF8FF"/>
                    </a:solidFill>
                  </a:tcPr>
                </a:tc>
                <a:extLst>
                  <a:ext uri="{0D108BD9-81ED-4DB2-BD59-A6C34878D82A}">
                    <a16:rowId xmlns:a16="http://schemas.microsoft.com/office/drawing/2014/main" val="10004"/>
                  </a:ext>
                </a:extLst>
              </a:tr>
            </a:tbl>
          </a:graphicData>
        </a:graphic>
      </p:graphicFrame>
      <p:sp>
        <p:nvSpPr>
          <p:cNvPr id="5" name="body">
            <a:extLst>
              <a:ext uri="{FF2B5EF4-FFF2-40B4-BE49-F238E27FC236}">
                <a16:creationId xmlns:a16="http://schemas.microsoft.com/office/drawing/2014/main" id="{0DAB1ED6-EB7C-4076-8AFB-7833613B1B71}"/>
              </a:ext>
            </a:extLst>
          </p:cNvPr>
          <p:cNvSpPr>
            <a:spLocks noGrp="1"/>
          </p:cNvSpPr>
          <p:nvPr/>
        </p:nvSpPr>
        <p:spPr>
          <a:xfrm>
            <a:off x="523875" y="5419725"/>
            <a:ext cx="11144250" cy="438150"/>
          </a:xfrm>
          <a:prstGeom prst="rect">
            <a:avLst/>
          </a:prstGeom>
          <a:noFill/>
          <a:ln w="0">
            <a:noFill/>
          </a:ln>
        </p:spPr>
        <p:txBody>
          <a:bodyPr wrap="square" lIns="0" tIns="0" rIns="0" bIns="0" anchor="t">
            <a:noAutofit/>
          </a:bodyPr>
          <a:lstStyle/>
          <a:p>
            <a:pPr marL="0" marR="0" indent="0">
              <a:defRPr sz="2400" b="1">
                <a:solidFill>
                  <a:srgbClr val="111111"/>
                </a:solidFill>
                <a:latin typeface="Aptos"/>
                <a:ea typeface="Aptos"/>
                <a:cs typeface="Aptos"/>
              </a:defRPr>
            </a:pPr>
            <a:r>
              <a:rPr sz="2400" b="1">
                <a:solidFill>
                  <a:srgbClr val="111111"/>
                </a:solidFill>
                <a:latin typeface="Aptos"/>
                <a:ea typeface="Aptos"/>
                <a:cs typeface="Aptos"/>
              </a:rPr>
              <a:t>Supplier A mean: 46.8 h          Supplier B mean: 49.2 h</a:t>
            </a:r>
          </a:p>
        </p:txBody>
      </p:sp>
      <p:sp>
        <p:nvSpPr>
          <p:cNvPr id="6" name="body">
            <a:extLst>
              <a:ext uri="{FF2B5EF4-FFF2-40B4-BE49-F238E27FC236}">
                <a16:creationId xmlns:a16="http://schemas.microsoft.com/office/drawing/2014/main" id="{9A8DE5F5-C07E-48A0-82EE-9B318C9DA66D}"/>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Check after each 10 rows. Keep the two suppliers’ calculations separate.</a:t>
            </a:r>
          </a:p>
        </p:txBody>
      </p:sp>
      <p:sp>
        <p:nvSpPr>
          <p:cNvPr id="7"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C3 • INDEPENDENT PRACTICE</a:t>
            </a:r>
          </a:p>
        </p:txBody>
      </p:sp>
    </p:spTree>
    <p:extLst>
      <p:ext uri="{BB962C8B-B14F-4D97-AF65-F5344CB8AC3E}">
        <p14:creationId xmlns:p14="http://schemas.microsoft.com/office/powerpoint/2010/main" val="3281361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C3: squared-deviation checkpoint</a:t>
            </a:r>
          </a:p>
        </p:txBody>
      </p:sp>
      <p:sp>
        <p:nvSpPr>
          <p:cNvPr id="3" name="body">
            <a:extLst>
              <a:ext uri="{FF2B5EF4-FFF2-40B4-BE49-F238E27FC236}">
                <a16:creationId xmlns:a16="http://schemas.microsoft.com/office/drawing/2014/main" id="{2A3052C1-1502-4D3A-96C1-D8B6B72D4C10}"/>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Add the 30 squared deviations for each supplier.</a:t>
            </a:r>
          </a:p>
        </p:txBody>
      </p:sp>
      <p:sp>
        <p:nvSpPr>
          <p:cNvPr id="4" name="body">
            <a:extLst>
              <a:ext uri="{FF2B5EF4-FFF2-40B4-BE49-F238E27FC236}">
                <a16:creationId xmlns:a16="http://schemas.microsoft.com/office/drawing/2014/main" id="{09361DC6-D65F-4DF8-A3FC-46577FAB06A9}"/>
              </a:ext>
            </a:extLst>
          </p:cNvPr>
          <p:cNvSpPr>
            <a:spLocks noGrp="1"/>
          </p:cNvSpPr>
          <p:nvPr/>
        </p:nvSpPr>
        <p:spPr>
          <a:xfrm>
            <a:off x="619125" y="2895600"/>
            <a:ext cx="11144250" cy="400050"/>
          </a:xfrm>
          <a:prstGeom prst="rect">
            <a:avLst/>
          </a:prstGeom>
          <a:noFill/>
          <a:ln w="0">
            <a:noFill/>
          </a:ln>
        </p:spPr>
        <p:txBody>
          <a:bodyPr wrap="square" lIns="0" tIns="0" rIns="0" bIns="0" anchor="t">
            <a:noAutofit/>
          </a:bodyPr>
          <a:lstStyle/>
          <a:p>
            <a:pPr marL="0" marR="0" indent="0">
              <a:defRPr sz="2400" b="1">
                <a:solidFill>
                  <a:srgbClr val="111111"/>
                </a:solidFill>
                <a:latin typeface="Aptos"/>
                <a:ea typeface="Aptos"/>
                <a:cs typeface="Aptos"/>
              </a:defRPr>
            </a:pPr>
            <a:r>
              <a:rPr sz="2400" b="1">
                <a:solidFill>
                  <a:srgbClr val="111111"/>
                </a:solidFill>
                <a:latin typeface="Aptos"/>
                <a:ea typeface="Aptos"/>
                <a:cs typeface="Aptos"/>
              </a:rPr>
              <a:t>Supplier A</a:t>
            </a:r>
          </a:p>
        </p:txBody>
      </p:sp>
      <p:pic>
        <p:nvPicPr>
          <p:cNvPr id="5" name="Picture 4"/>
          <p:cNvPicPr>
            <a:picLocks noChangeAspect="1"/>
          </p:cNvPicPr>
          <p:nvPr/>
        </p:nvPicPr>
        <p:blipFill>
          <a:blip r:embed="rId3"/>
          <a:stretch/>
        </p:blipFill>
        <p:spPr>
          <a:xfrm>
            <a:off x="3135515" y="3381375"/>
            <a:ext cx="6016219" cy="742950"/>
          </a:xfrm>
          <a:prstGeom prst="rect">
            <a:avLst/>
          </a:prstGeom>
        </p:spPr>
      </p:pic>
      <p:sp>
        <p:nvSpPr>
          <p:cNvPr id="6" name="body">
            <a:extLst>
              <a:ext uri="{FF2B5EF4-FFF2-40B4-BE49-F238E27FC236}">
                <a16:creationId xmlns:a16="http://schemas.microsoft.com/office/drawing/2014/main" id="{758000F7-9B88-4265-A9C2-D64FD2001495}"/>
              </a:ext>
            </a:extLst>
          </p:cNvPr>
          <p:cNvSpPr>
            <a:spLocks noGrp="1"/>
          </p:cNvSpPr>
          <p:nvPr/>
        </p:nvSpPr>
        <p:spPr>
          <a:xfrm>
            <a:off x="619125" y="4495800"/>
            <a:ext cx="11144250" cy="400050"/>
          </a:xfrm>
          <a:prstGeom prst="rect">
            <a:avLst/>
          </a:prstGeom>
          <a:noFill/>
          <a:ln w="0">
            <a:noFill/>
          </a:ln>
        </p:spPr>
        <p:txBody>
          <a:bodyPr wrap="square" lIns="0" tIns="0" rIns="0" bIns="0" anchor="t">
            <a:noAutofit/>
          </a:bodyPr>
          <a:lstStyle/>
          <a:p>
            <a:pPr marL="0" marR="0" indent="0">
              <a:defRPr sz="2400" b="1">
                <a:solidFill>
                  <a:srgbClr val="111111"/>
                </a:solidFill>
                <a:latin typeface="Aptos"/>
                <a:ea typeface="Aptos"/>
                <a:cs typeface="Aptos"/>
              </a:defRPr>
            </a:pPr>
            <a:r>
              <a:rPr sz="2400" b="1">
                <a:solidFill>
                  <a:srgbClr val="111111"/>
                </a:solidFill>
                <a:latin typeface="Aptos"/>
                <a:ea typeface="Aptos"/>
                <a:cs typeface="Aptos"/>
              </a:rPr>
              <a:t>Supplier B</a:t>
            </a:r>
          </a:p>
        </p:txBody>
      </p:sp>
      <p:pic>
        <p:nvPicPr>
          <p:cNvPr id="7" name="Picture 6"/>
          <p:cNvPicPr>
            <a:picLocks noChangeAspect="1"/>
          </p:cNvPicPr>
          <p:nvPr/>
        </p:nvPicPr>
        <p:blipFill>
          <a:blip r:embed="rId4"/>
          <a:stretch/>
        </p:blipFill>
        <p:spPr>
          <a:xfrm>
            <a:off x="3135515" y="4981575"/>
            <a:ext cx="6016219" cy="742950"/>
          </a:xfrm>
          <a:prstGeom prst="rect">
            <a:avLst/>
          </a:prstGeom>
        </p:spPr>
      </p:pic>
      <p:sp>
        <p:nvSpPr>
          <p:cNvPr id="8" name="body">
            <a:extLst>
              <a:ext uri="{FF2B5EF4-FFF2-40B4-BE49-F238E27FC236}">
                <a16:creationId xmlns:a16="http://schemas.microsoft.com/office/drawing/2014/main" id="{AB31EA30-4074-4EAA-8CBB-D9B688DEA8B5}"/>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These are totals of squared deviations. We still need to divide to find variance.</a:t>
            </a:r>
          </a:p>
        </p:txBody>
      </p:sp>
      <p:sp>
        <p:nvSpPr>
          <p:cNvPr id="9"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C3 • CHECKPOINT</a:t>
            </a:r>
          </a:p>
        </p:txBody>
      </p:sp>
    </p:spTree>
    <p:extLst>
      <p:ext uri="{BB962C8B-B14F-4D97-AF65-F5344CB8AC3E}">
        <p14:creationId xmlns:p14="http://schemas.microsoft.com/office/powerpoint/2010/main" val="3281361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C3: sample variance and SD</a:t>
            </a:r>
          </a:p>
        </p:txBody>
      </p:sp>
      <p:sp>
        <p:nvSpPr>
          <p:cNvPr id="3" name="body">
            <a:extLst>
              <a:ext uri="{FF2B5EF4-FFF2-40B4-BE49-F238E27FC236}">
                <a16:creationId xmlns:a16="http://schemas.microsoft.com/office/drawing/2014/main" id="{156D17F1-7B11-4A61-B5DE-8E71D7F3DE23}"/>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Use the trial sample to estimate each supplier’s wider performance.</a:t>
            </a:r>
          </a:p>
        </p:txBody>
      </p:sp>
      <p:pic>
        <p:nvPicPr>
          <p:cNvPr id="4" name="Picture 3"/>
          <p:cNvPicPr>
            <a:picLocks noChangeAspect="1"/>
          </p:cNvPicPr>
          <p:nvPr/>
        </p:nvPicPr>
        <p:blipFill>
          <a:blip r:embed="rId3"/>
          <a:stretch/>
        </p:blipFill>
        <p:spPr>
          <a:xfrm>
            <a:off x="1542608" y="3028950"/>
            <a:ext cx="3010785" cy="1095375"/>
          </a:xfrm>
          <a:prstGeom prst="rect">
            <a:avLst/>
          </a:prstGeom>
        </p:spPr>
      </p:pic>
      <p:pic>
        <p:nvPicPr>
          <p:cNvPr id="5" name="Picture 4"/>
          <p:cNvPicPr>
            <a:picLocks noChangeAspect="1"/>
          </p:cNvPicPr>
          <p:nvPr/>
        </p:nvPicPr>
        <p:blipFill>
          <a:blip r:embed="rId4"/>
          <a:stretch/>
        </p:blipFill>
        <p:spPr>
          <a:xfrm>
            <a:off x="2220902" y="4743450"/>
            <a:ext cx="1939946" cy="809625"/>
          </a:xfrm>
          <a:prstGeom prst="rect">
            <a:avLst/>
          </a:prstGeom>
        </p:spPr>
      </p:pic>
      <p:graphicFrame>
        <p:nvGraphicFramePr>
          <p:cNvPr id="6" name="Table 5"/>
          <p:cNvGraphicFramePr/>
          <p:nvPr/>
        </p:nvGraphicFramePr>
        <p:xfrm>
          <a:off x="6191250" y="2857500"/>
          <a:ext cx="5381625" cy="2686050"/>
        </p:xfrm>
        <a:graphic>
          <a:graphicData uri="http://schemas.openxmlformats.org/drawingml/2006/table">
            <a:tbl>
              <a:tblPr/>
              <a:tblGrid>
                <a:gridCol w="2619375">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tblGrid>
              <a:tr h="537210">
                <a:tc>
                  <a:txBody>
                    <a:bodyPr/>
                    <a:lstStyle/>
                    <a:p>
                      <a:pPr marL="0" marR="0" indent="0">
                        <a:lnSpc>
                          <a:spcPct val="105000"/>
                        </a:lnSpc>
                        <a:spcBef>
                          <a:spcPts val="0"/>
                        </a:spcBef>
                        <a:spcAft>
                          <a:spcPts val="0"/>
                        </a:spcAft>
                      </a:pPr>
                      <a:r>
                        <a:rPr sz="1950" b="1">
                          <a:solidFill>
                            <a:srgbClr val="FFFFFF"/>
                          </a:solidFill>
                          <a:latin typeface="Aptos"/>
                          <a:ea typeface="Aptos"/>
                          <a:cs typeface="Aptos"/>
                        </a:rPr>
                        <a:t>Symbol / name</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950" b="1">
                          <a:solidFill>
                            <a:srgbClr val="FFFFFF"/>
                          </a:solidFill>
                          <a:latin typeface="Aptos"/>
                          <a:ea typeface="Aptos"/>
                          <a:cs typeface="Aptos"/>
                        </a:rPr>
                        <a:t>Meaning</a:t>
                      </a:r>
                    </a:p>
                  </a:txBody>
                  <a:tcPr marL="76200" marR="57150" marT="19050" marB="19050" anchor="ctr">
                    <a:solidFill>
                      <a:srgbClr val="D6171D"/>
                    </a:solidFill>
                  </a:tcPr>
                </a:tc>
                <a:extLst>
                  <a:ext uri="{0D108BD9-81ED-4DB2-BD59-A6C34878D82A}">
                    <a16:rowId xmlns:a16="http://schemas.microsoft.com/office/drawing/2014/main" val="10000"/>
                  </a:ext>
                </a:extLst>
              </a:tr>
              <a:tr h="537210">
                <a:tc>
                  <a:txBody>
                    <a:bodyPr/>
                    <a:lstStyle/>
                    <a:p>
                      <a:pPr marL="0" marR="0" indent="0">
                        <a:lnSpc>
                          <a:spcPct val="105000"/>
                        </a:lnSpc>
                        <a:spcBef>
                          <a:spcPts val="0"/>
                        </a:spcBef>
                        <a:spcAft>
                          <a:spcPts val="0"/>
                        </a:spcAft>
                      </a:pPr>
                      <a:r>
                        <a:rPr sz="1875" b="0">
                          <a:solidFill>
                            <a:srgbClr val="111111"/>
                          </a:solidFill>
                          <a:latin typeface="Aptos"/>
                          <a:ea typeface="Aptos"/>
                          <a:cs typeface="Aptos"/>
                        </a:rPr>
                        <a:t>s²  “s squared”</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Sample variance, in h²</a:t>
                      </a:r>
                    </a:p>
                  </a:txBody>
                  <a:tcPr marL="76200" marR="57150" marT="19050" marB="19050" anchor="ctr">
                    <a:solidFill>
                      <a:srgbClr val="FFFFFF"/>
                    </a:solidFill>
                  </a:tcPr>
                </a:tc>
                <a:extLst>
                  <a:ext uri="{0D108BD9-81ED-4DB2-BD59-A6C34878D82A}">
                    <a16:rowId xmlns:a16="http://schemas.microsoft.com/office/drawing/2014/main" val="10001"/>
                  </a:ext>
                </a:extLst>
              </a:tr>
              <a:tr h="537210">
                <a:tc>
                  <a:txBody>
                    <a:bodyPr/>
                    <a:lstStyle/>
                    <a:p>
                      <a:pPr marL="0" marR="0" indent="0">
                        <a:lnSpc>
                          <a:spcPct val="105000"/>
                        </a:lnSpc>
                        <a:spcBef>
                          <a:spcPts val="0"/>
                        </a:spcBef>
                        <a:spcAft>
                          <a:spcPts val="0"/>
                        </a:spcAft>
                      </a:pPr>
                      <a:r>
                        <a:rPr sz="1875" b="0">
                          <a:solidFill>
                            <a:srgbClr val="111111"/>
                          </a:solidFill>
                          <a:latin typeface="Aptos"/>
                          <a:ea typeface="Aptos"/>
                          <a:cs typeface="Aptos"/>
                        </a:rPr>
                        <a:t>s  “s”</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Sample SD, in hours</a:t>
                      </a:r>
                    </a:p>
                  </a:txBody>
                  <a:tcPr marL="76200" marR="57150" marT="19050" marB="19050" anchor="ctr">
                    <a:solidFill>
                      <a:srgbClr val="EFF8FF"/>
                    </a:solidFill>
                  </a:tcPr>
                </a:tc>
                <a:extLst>
                  <a:ext uri="{0D108BD9-81ED-4DB2-BD59-A6C34878D82A}">
                    <a16:rowId xmlns:a16="http://schemas.microsoft.com/office/drawing/2014/main" val="10002"/>
                  </a:ext>
                </a:extLst>
              </a:tr>
              <a:tr h="537210">
                <a:tc>
                  <a:txBody>
                    <a:bodyPr/>
                    <a:lstStyle/>
                    <a:p>
                      <a:pPr marL="0" marR="0" indent="0">
                        <a:lnSpc>
                          <a:spcPct val="105000"/>
                        </a:lnSpc>
                        <a:spcBef>
                          <a:spcPts val="0"/>
                        </a:spcBef>
                        <a:spcAft>
                          <a:spcPts val="0"/>
                        </a:spcAft>
                      </a:pPr>
                      <a:r>
                        <a:rPr sz="1875" b="0">
                          <a:solidFill>
                            <a:srgbClr val="111111"/>
                          </a:solidFill>
                          <a:latin typeface="Aptos"/>
                          <a:ea typeface="Aptos"/>
                          <a:cs typeface="Aptos"/>
                        </a:rPr>
                        <a:t>x̄  “x-bar”</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Sample mean</a:t>
                      </a:r>
                    </a:p>
                  </a:txBody>
                  <a:tcPr marL="76200" marR="57150" marT="19050" marB="19050" anchor="ctr">
                    <a:solidFill>
                      <a:srgbClr val="FFFFFF"/>
                    </a:solidFill>
                  </a:tcPr>
                </a:tc>
                <a:extLst>
                  <a:ext uri="{0D108BD9-81ED-4DB2-BD59-A6C34878D82A}">
                    <a16:rowId xmlns:a16="http://schemas.microsoft.com/office/drawing/2014/main" val="10003"/>
                  </a:ext>
                </a:extLst>
              </a:tr>
              <a:tr h="537210">
                <a:tc>
                  <a:txBody>
                    <a:bodyPr/>
                    <a:lstStyle/>
                    <a:p>
                      <a:pPr marL="0" marR="0" indent="0">
                        <a:lnSpc>
                          <a:spcPct val="105000"/>
                        </a:lnSpc>
                        <a:spcBef>
                          <a:spcPts val="0"/>
                        </a:spcBef>
                        <a:spcAft>
                          <a:spcPts val="0"/>
                        </a:spcAft>
                      </a:pPr>
                      <a:r>
                        <a:rPr sz="1875" b="0">
                          <a:solidFill>
                            <a:srgbClr val="111111"/>
                          </a:solidFill>
                          <a:latin typeface="Aptos"/>
                          <a:ea typeface="Aptos"/>
                          <a:cs typeface="Aptos"/>
                        </a:rPr>
                        <a:t>n − 1</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30 − 1 = 29</a:t>
                      </a:r>
                    </a:p>
                  </a:txBody>
                  <a:tcPr marL="76200" marR="57150" marT="19050" marB="19050" anchor="ctr">
                    <a:solidFill>
                      <a:srgbClr val="EFF8FF"/>
                    </a:solidFill>
                  </a:tcPr>
                </a:tc>
                <a:extLst>
                  <a:ext uri="{0D108BD9-81ED-4DB2-BD59-A6C34878D82A}">
                    <a16:rowId xmlns:a16="http://schemas.microsoft.com/office/drawing/2014/main" val="10004"/>
                  </a:ext>
                </a:extLst>
              </a:tr>
            </a:tbl>
          </a:graphicData>
        </a:graphic>
      </p:graphicFrame>
      <p:sp>
        <p:nvSpPr>
          <p:cNvPr id="7" name="body">
            <a:extLst>
              <a:ext uri="{FF2B5EF4-FFF2-40B4-BE49-F238E27FC236}">
                <a16:creationId xmlns:a16="http://schemas.microsoft.com/office/drawing/2014/main" id="{68C2FCEC-2039-4D2A-8C8F-FD12E9B81103}"/>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Divide each squared-deviation total by 29. Then take the square root for SD.</a:t>
            </a:r>
          </a:p>
        </p:txBody>
      </p:sp>
      <p:sp>
        <p:nvSpPr>
          <p:cNvPr id="8"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C3 • CALCULATE</a:t>
            </a:r>
          </a:p>
        </p:txBody>
      </p:sp>
    </p:spTree>
    <p:extLst>
      <p:ext uri="{BB962C8B-B14F-4D97-AF65-F5344CB8AC3E}">
        <p14:creationId xmlns:p14="http://schemas.microsoft.com/office/powerpoint/2010/main" val="3281361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C3: variance and SD checkpoint</a:t>
            </a:r>
          </a:p>
        </p:txBody>
      </p:sp>
      <p:sp>
        <p:nvSpPr>
          <p:cNvPr id="3" name="body">
            <a:extLst>
              <a:ext uri="{FF2B5EF4-FFF2-40B4-BE49-F238E27FC236}">
                <a16:creationId xmlns:a16="http://schemas.microsoft.com/office/drawing/2014/main" id="{9F1913A2-D66E-4F00-9F80-87CF1B85A7CC}"/>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Variance has squared units. SD returns to hours.</a:t>
            </a:r>
          </a:p>
        </p:txBody>
      </p:sp>
      <p:sp>
        <p:nvSpPr>
          <p:cNvPr id="4" name="body">
            <a:extLst>
              <a:ext uri="{FF2B5EF4-FFF2-40B4-BE49-F238E27FC236}">
                <a16:creationId xmlns:a16="http://schemas.microsoft.com/office/drawing/2014/main" id="{46147573-9701-4E8F-A7FA-FBD7060FFEB4}"/>
              </a:ext>
            </a:extLst>
          </p:cNvPr>
          <p:cNvSpPr>
            <a:spLocks noGrp="1"/>
          </p:cNvSpPr>
          <p:nvPr/>
        </p:nvSpPr>
        <p:spPr>
          <a:xfrm>
            <a:off x="571500" y="2800350"/>
            <a:ext cx="5238750" cy="428625"/>
          </a:xfrm>
          <a:prstGeom prst="rect">
            <a:avLst/>
          </a:prstGeom>
          <a:noFill/>
          <a:ln w="0">
            <a:noFill/>
          </a:ln>
        </p:spPr>
        <p:txBody>
          <a:bodyPr wrap="square" lIns="0" tIns="0" rIns="0" bIns="0" anchor="t">
            <a:noAutofit/>
          </a:bodyPr>
          <a:lstStyle/>
          <a:p>
            <a:pPr marL="0" marR="0" indent="0">
              <a:defRPr sz="2400" b="1">
                <a:solidFill>
                  <a:srgbClr val="111111"/>
                </a:solidFill>
                <a:latin typeface="Aptos"/>
                <a:ea typeface="Aptos"/>
                <a:cs typeface="Aptos"/>
              </a:defRPr>
            </a:pPr>
            <a:r>
              <a:rPr sz="2400" b="1">
                <a:solidFill>
                  <a:srgbClr val="111111"/>
                </a:solidFill>
                <a:latin typeface="Aptos"/>
                <a:ea typeface="Aptos"/>
                <a:cs typeface="Aptos"/>
              </a:rPr>
              <a:t>Supplier A</a:t>
            </a:r>
          </a:p>
        </p:txBody>
      </p:sp>
      <p:sp>
        <p:nvSpPr>
          <p:cNvPr id="5" name="body">
            <a:extLst>
              <a:ext uri="{FF2B5EF4-FFF2-40B4-BE49-F238E27FC236}">
                <a16:creationId xmlns:a16="http://schemas.microsoft.com/office/drawing/2014/main" id="{DAC4CE23-0799-4B14-A766-008155D9E9F4}"/>
              </a:ext>
            </a:extLst>
          </p:cNvPr>
          <p:cNvSpPr>
            <a:spLocks noGrp="1"/>
          </p:cNvSpPr>
          <p:nvPr/>
        </p:nvSpPr>
        <p:spPr>
          <a:xfrm>
            <a:off x="6572250" y="2800350"/>
            <a:ext cx="5238750" cy="428625"/>
          </a:xfrm>
          <a:prstGeom prst="rect">
            <a:avLst/>
          </a:prstGeom>
          <a:noFill/>
          <a:ln w="0">
            <a:noFill/>
          </a:ln>
        </p:spPr>
        <p:txBody>
          <a:bodyPr wrap="square" lIns="0" tIns="0" rIns="0" bIns="0" anchor="t">
            <a:noAutofit/>
          </a:bodyPr>
          <a:lstStyle/>
          <a:p>
            <a:pPr marL="0" marR="0" indent="0">
              <a:defRPr sz="2400" b="1">
                <a:solidFill>
                  <a:srgbClr val="111111"/>
                </a:solidFill>
                <a:latin typeface="Aptos"/>
                <a:ea typeface="Aptos"/>
                <a:cs typeface="Aptos"/>
              </a:defRPr>
            </a:pPr>
            <a:r>
              <a:rPr sz="2400" b="1">
                <a:solidFill>
                  <a:srgbClr val="111111"/>
                </a:solidFill>
                <a:latin typeface="Aptos"/>
                <a:ea typeface="Aptos"/>
                <a:cs typeface="Aptos"/>
              </a:rPr>
              <a:t>Supplier B</a:t>
            </a:r>
          </a:p>
        </p:txBody>
      </p:sp>
      <p:pic>
        <p:nvPicPr>
          <p:cNvPr id="6" name="Picture 5"/>
          <p:cNvPicPr>
            <a:picLocks noChangeAspect="1"/>
          </p:cNvPicPr>
          <p:nvPr/>
        </p:nvPicPr>
        <p:blipFill>
          <a:blip r:embed="rId3"/>
          <a:stretch/>
        </p:blipFill>
        <p:spPr>
          <a:xfrm>
            <a:off x="476250" y="3372057"/>
            <a:ext cx="5334000" cy="904461"/>
          </a:xfrm>
          <a:prstGeom prst="rect">
            <a:avLst/>
          </a:prstGeom>
        </p:spPr>
      </p:pic>
      <p:pic>
        <p:nvPicPr>
          <p:cNvPr id="7" name="Picture 6"/>
          <p:cNvPicPr>
            <a:picLocks noChangeAspect="1"/>
          </p:cNvPicPr>
          <p:nvPr/>
        </p:nvPicPr>
        <p:blipFill>
          <a:blip r:embed="rId4"/>
          <a:stretch/>
        </p:blipFill>
        <p:spPr>
          <a:xfrm>
            <a:off x="6578966" y="3371850"/>
            <a:ext cx="5034817" cy="904875"/>
          </a:xfrm>
          <a:prstGeom prst="rect">
            <a:avLst/>
          </a:prstGeom>
        </p:spPr>
      </p:pic>
      <p:pic>
        <p:nvPicPr>
          <p:cNvPr id="8" name="Picture 7"/>
          <p:cNvPicPr>
            <a:picLocks noChangeAspect="1"/>
          </p:cNvPicPr>
          <p:nvPr/>
        </p:nvPicPr>
        <p:blipFill>
          <a:blip r:embed="rId5"/>
          <a:stretch/>
        </p:blipFill>
        <p:spPr>
          <a:xfrm>
            <a:off x="803733" y="4667250"/>
            <a:ext cx="4679034" cy="952500"/>
          </a:xfrm>
          <a:prstGeom prst="rect">
            <a:avLst/>
          </a:prstGeom>
        </p:spPr>
      </p:pic>
      <p:pic>
        <p:nvPicPr>
          <p:cNvPr id="9" name="Picture 8"/>
          <p:cNvPicPr>
            <a:picLocks noChangeAspect="1"/>
          </p:cNvPicPr>
          <p:nvPr/>
        </p:nvPicPr>
        <p:blipFill>
          <a:blip r:embed="rId6"/>
          <a:stretch/>
        </p:blipFill>
        <p:spPr>
          <a:xfrm>
            <a:off x="6884513" y="4667250"/>
            <a:ext cx="4423724" cy="952500"/>
          </a:xfrm>
          <a:prstGeom prst="rect">
            <a:avLst/>
          </a:prstGeom>
        </p:spPr>
      </p:pic>
      <p:sp>
        <p:nvSpPr>
          <p:cNvPr id="10" name="body">
            <a:extLst>
              <a:ext uri="{FF2B5EF4-FFF2-40B4-BE49-F238E27FC236}">
                <a16:creationId xmlns:a16="http://schemas.microsoft.com/office/drawing/2014/main" id="{4A6BBC69-D3DB-4BF4-BC65-81E7A3E3395E}"/>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Keep the full SD in your calculator for the next calculation. Round only final answers.</a:t>
            </a:r>
          </a:p>
        </p:txBody>
      </p:sp>
      <p:sp>
        <p:nvSpPr>
          <p:cNvPr id="11"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C3 • CHECKPOINT</a:t>
            </a:r>
          </a:p>
        </p:txBody>
      </p:sp>
    </p:spTree>
    <p:extLst>
      <p:ext uri="{BB962C8B-B14F-4D97-AF65-F5344CB8AC3E}">
        <p14:creationId xmlns:p14="http://schemas.microsoft.com/office/powerpoint/2010/main" val="3281361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C4: coefficient of variation (CV)</a:t>
            </a:r>
          </a:p>
        </p:txBody>
      </p:sp>
      <p:sp>
        <p:nvSpPr>
          <p:cNvPr id="3" name="body">
            <a:extLst>
              <a:ext uri="{FF2B5EF4-FFF2-40B4-BE49-F238E27FC236}">
                <a16:creationId xmlns:a16="http://schemas.microsoft.com/office/drawing/2014/main" id="{B972B15C-D013-4015-B44B-5A4C2074FCA2}"/>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The coefficient of variation expresses SD as a percentage of the mean.</a:t>
            </a:r>
          </a:p>
        </p:txBody>
      </p:sp>
      <p:pic>
        <p:nvPicPr>
          <p:cNvPr id="4" name="Picture 3"/>
          <p:cNvPicPr>
            <a:picLocks noChangeAspect="1"/>
          </p:cNvPicPr>
          <p:nvPr/>
        </p:nvPicPr>
        <p:blipFill>
          <a:blip r:embed="rId3"/>
          <a:stretch/>
        </p:blipFill>
        <p:spPr>
          <a:xfrm>
            <a:off x="3286125" y="2988525"/>
            <a:ext cx="5619750" cy="1166699"/>
          </a:xfrm>
          <a:prstGeom prst="rect">
            <a:avLst/>
          </a:prstGeom>
        </p:spPr>
      </p:pic>
      <p:sp>
        <p:nvSpPr>
          <p:cNvPr id="5" name="body">
            <a:extLst>
              <a:ext uri="{FF2B5EF4-FFF2-40B4-BE49-F238E27FC236}">
                <a16:creationId xmlns:a16="http://schemas.microsoft.com/office/drawing/2014/main" id="{EE4AEB2D-630D-4692-952E-EB62AC962F37}"/>
              </a:ext>
            </a:extLst>
          </p:cNvPr>
          <p:cNvSpPr>
            <a:spLocks noGrp="1"/>
          </p:cNvSpPr>
          <p:nvPr/>
        </p:nvSpPr>
        <p:spPr>
          <a:xfrm>
            <a:off x="523875" y="4667250"/>
            <a:ext cx="11144250" cy="352425"/>
          </a:xfrm>
          <a:prstGeom prst="rect">
            <a:avLst/>
          </a:prstGeom>
          <a:noFill/>
          <a:ln w="0">
            <a:noFill/>
          </a:ln>
        </p:spPr>
        <p:txBody>
          <a:bodyPr wrap="square" lIns="0" tIns="0" rIns="0" bIns="0" anchor="t">
            <a:noAutofit/>
          </a:bodyPr>
          <a:lstStyle/>
          <a:p>
            <a:pPr marL="0" marR="0" indent="0">
              <a:defRPr sz="2025" b="0">
                <a:solidFill>
                  <a:srgbClr val="111111"/>
                </a:solidFill>
                <a:latin typeface="Aptos"/>
                <a:ea typeface="Aptos"/>
                <a:cs typeface="Aptos"/>
              </a:defRPr>
            </a:pPr>
            <a:r>
              <a:rPr sz="2025" b="0">
                <a:solidFill>
                  <a:srgbClr val="111111"/>
                </a:solidFill>
                <a:latin typeface="Aptos"/>
                <a:ea typeface="Aptos"/>
                <a:cs typeface="Aptos"/>
              </a:rPr>
              <a:t>1. Use the unrounded SD stored in your calculator.</a:t>
            </a:r>
          </a:p>
        </p:txBody>
      </p:sp>
      <p:sp>
        <p:nvSpPr>
          <p:cNvPr id="6" name="body">
            <a:extLst>
              <a:ext uri="{FF2B5EF4-FFF2-40B4-BE49-F238E27FC236}">
                <a16:creationId xmlns:a16="http://schemas.microsoft.com/office/drawing/2014/main" id="{12A60996-C4D9-463D-935C-80BA71F9717E}"/>
              </a:ext>
            </a:extLst>
          </p:cNvPr>
          <p:cNvSpPr>
            <a:spLocks noGrp="1"/>
          </p:cNvSpPr>
          <p:nvPr/>
        </p:nvSpPr>
        <p:spPr>
          <a:xfrm>
            <a:off x="523875" y="5114925"/>
            <a:ext cx="11144250" cy="352425"/>
          </a:xfrm>
          <a:prstGeom prst="rect">
            <a:avLst/>
          </a:prstGeom>
          <a:noFill/>
          <a:ln w="0">
            <a:noFill/>
          </a:ln>
        </p:spPr>
        <p:txBody>
          <a:bodyPr wrap="square" lIns="0" tIns="0" rIns="0" bIns="0" anchor="t">
            <a:noAutofit/>
          </a:bodyPr>
          <a:lstStyle/>
          <a:p>
            <a:pPr marL="0" marR="0" indent="0">
              <a:defRPr sz="2025" b="0">
                <a:solidFill>
                  <a:srgbClr val="111111"/>
                </a:solidFill>
                <a:latin typeface="Aptos"/>
                <a:ea typeface="Aptos"/>
                <a:cs typeface="Aptos"/>
              </a:defRPr>
            </a:pPr>
            <a:r>
              <a:rPr sz="2025" b="0">
                <a:solidFill>
                  <a:srgbClr val="111111"/>
                </a:solidFill>
                <a:latin typeface="Aptos"/>
                <a:ea typeface="Aptos"/>
                <a:cs typeface="Aptos"/>
              </a:rPr>
              <a:t>2. Divide by that supplier’s mean and multiply by 100.</a:t>
            </a:r>
          </a:p>
        </p:txBody>
      </p:sp>
      <p:sp>
        <p:nvSpPr>
          <p:cNvPr id="7" name="body">
            <a:extLst>
              <a:ext uri="{FF2B5EF4-FFF2-40B4-BE49-F238E27FC236}">
                <a16:creationId xmlns:a16="http://schemas.microsoft.com/office/drawing/2014/main" id="{19F53837-D2B4-4508-A09D-5765FFEE92C6}"/>
              </a:ext>
            </a:extLst>
          </p:cNvPr>
          <p:cNvSpPr>
            <a:spLocks noGrp="1"/>
          </p:cNvSpPr>
          <p:nvPr/>
        </p:nvSpPr>
        <p:spPr>
          <a:xfrm>
            <a:off x="523875" y="5562600"/>
            <a:ext cx="11144250" cy="352425"/>
          </a:xfrm>
          <a:prstGeom prst="rect">
            <a:avLst/>
          </a:prstGeom>
          <a:noFill/>
          <a:ln w="0">
            <a:noFill/>
          </a:ln>
        </p:spPr>
        <p:txBody>
          <a:bodyPr wrap="square" lIns="0" tIns="0" rIns="0" bIns="0" anchor="t">
            <a:noAutofit/>
          </a:bodyPr>
          <a:lstStyle/>
          <a:p>
            <a:pPr marL="0" marR="0" indent="0">
              <a:defRPr sz="2025" b="0">
                <a:solidFill>
                  <a:srgbClr val="111111"/>
                </a:solidFill>
                <a:latin typeface="Aptos"/>
                <a:ea typeface="Aptos"/>
                <a:cs typeface="Aptos"/>
              </a:defRPr>
            </a:pPr>
            <a:r>
              <a:rPr sz="2025" b="0">
                <a:solidFill>
                  <a:srgbClr val="111111"/>
                </a:solidFill>
                <a:latin typeface="Aptos"/>
                <a:ea typeface="Aptos"/>
                <a:cs typeface="Aptos"/>
              </a:rPr>
              <a:t>3. Round your final percentage to two decimal places.</a:t>
            </a:r>
          </a:p>
        </p:txBody>
      </p:sp>
      <p:sp>
        <p:nvSpPr>
          <p:cNvPr id="8" name="body">
            <a:extLst>
              <a:ext uri="{FF2B5EF4-FFF2-40B4-BE49-F238E27FC236}">
                <a16:creationId xmlns:a16="http://schemas.microsoft.com/office/drawing/2014/main" id="{28D732DA-BB59-421F-A59F-0A9727929FEF}"/>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A smaller CV means less variation relative to the mean.</a:t>
            </a:r>
          </a:p>
        </p:txBody>
      </p:sp>
      <p:sp>
        <p:nvSpPr>
          <p:cNvPr id="9"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C4 • CALCULATE</a:t>
            </a:r>
          </a:p>
        </p:txBody>
      </p:sp>
    </p:spTree>
    <p:extLst>
      <p:ext uri="{BB962C8B-B14F-4D97-AF65-F5344CB8AC3E}">
        <p14:creationId xmlns:p14="http://schemas.microsoft.com/office/powerpoint/2010/main" val="3281361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C4: the evidence together</a:t>
            </a:r>
          </a:p>
        </p:txBody>
      </p:sp>
      <p:sp>
        <p:nvSpPr>
          <p:cNvPr id="3" name="body">
            <a:extLst>
              <a:ext uri="{FF2B5EF4-FFF2-40B4-BE49-F238E27FC236}">
                <a16:creationId xmlns:a16="http://schemas.microsoft.com/office/drawing/2014/main" id="{675C1DA8-C293-4E7F-8AD7-3DFDDEDE26C3}"/>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Supplier A is faster on average. Supplier B varies less.</a:t>
            </a:r>
          </a:p>
        </p:txBody>
      </p:sp>
      <p:graphicFrame>
        <p:nvGraphicFramePr>
          <p:cNvPr id="4" name="Table 3"/>
          <p:cNvGraphicFramePr/>
          <p:nvPr/>
        </p:nvGraphicFramePr>
        <p:xfrm>
          <a:off x="523875" y="2733675"/>
          <a:ext cx="11144250" cy="3038475"/>
        </p:xfrm>
        <a:graphic>
          <a:graphicData uri="http://schemas.openxmlformats.org/drawingml/2006/table">
            <a:tbl>
              <a:tblPr/>
              <a:tblGrid>
                <a:gridCol w="54292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tblGrid>
              <a:tr h="434068">
                <a:tc>
                  <a:txBody>
                    <a:bodyPr/>
                    <a:lstStyle/>
                    <a:p>
                      <a:pPr marL="0" marR="0" indent="0">
                        <a:lnSpc>
                          <a:spcPct val="105000"/>
                        </a:lnSpc>
                        <a:spcBef>
                          <a:spcPts val="0"/>
                        </a:spcBef>
                        <a:spcAft>
                          <a:spcPts val="0"/>
                        </a:spcAft>
                      </a:pPr>
                      <a:r>
                        <a:rPr sz="2025" b="1">
                          <a:solidFill>
                            <a:srgbClr val="FFFFFF"/>
                          </a:solidFill>
                          <a:latin typeface="Aptos"/>
                          <a:ea typeface="Aptos"/>
                          <a:cs typeface="Aptos"/>
                        </a:rPr>
                        <a:t>Measure</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Supplier A</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Supplier B</a:t>
                      </a:r>
                    </a:p>
                  </a:txBody>
                  <a:tcPr marL="76200" marR="57150" marT="19050" marB="19050" anchor="ctr">
                    <a:solidFill>
                      <a:srgbClr val="D6171D"/>
                    </a:solidFill>
                  </a:tcPr>
                </a:tc>
                <a:extLst>
                  <a:ext uri="{0D108BD9-81ED-4DB2-BD59-A6C34878D82A}">
                    <a16:rowId xmlns:a16="http://schemas.microsoft.com/office/drawing/2014/main" val="10000"/>
                  </a:ext>
                </a:extLst>
              </a:tr>
              <a:tr h="434068">
                <a:tc>
                  <a:txBody>
                    <a:bodyPr/>
                    <a:lstStyle/>
                    <a:p>
                      <a:pPr marL="0" marR="0" indent="0">
                        <a:lnSpc>
                          <a:spcPct val="105000"/>
                        </a:lnSpc>
                        <a:spcBef>
                          <a:spcPts val="0"/>
                        </a:spcBef>
                        <a:spcAft>
                          <a:spcPts val="0"/>
                        </a:spcAft>
                      </a:pPr>
                      <a:r>
                        <a:rPr sz="1950" b="0">
                          <a:solidFill>
                            <a:srgbClr val="111111"/>
                          </a:solidFill>
                          <a:latin typeface="Aptos"/>
                          <a:ea typeface="Aptos"/>
                          <a:cs typeface="Aptos"/>
                        </a:rPr>
                        <a:t>Mean (h)</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46.8</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49.2</a:t>
                      </a:r>
                    </a:p>
                  </a:txBody>
                  <a:tcPr marL="76200" marR="57150" marT="19050" marB="19050" anchor="ctr">
                    <a:solidFill>
                      <a:srgbClr val="FFFFFF"/>
                    </a:solidFill>
                  </a:tcPr>
                </a:tc>
                <a:extLst>
                  <a:ext uri="{0D108BD9-81ED-4DB2-BD59-A6C34878D82A}">
                    <a16:rowId xmlns:a16="http://schemas.microsoft.com/office/drawing/2014/main" val="10001"/>
                  </a:ext>
                </a:extLst>
              </a:tr>
              <a:tr h="434068">
                <a:tc>
                  <a:txBody>
                    <a:bodyPr/>
                    <a:lstStyle/>
                    <a:p>
                      <a:pPr marL="0" marR="0" indent="0">
                        <a:lnSpc>
                          <a:spcPct val="105000"/>
                        </a:lnSpc>
                        <a:spcBef>
                          <a:spcPts val="0"/>
                        </a:spcBef>
                        <a:spcAft>
                          <a:spcPts val="0"/>
                        </a:spcAft>
                      </a:pPr>
                      <a:r>
                        <a:rPr sz="1950" b="0">
                          <a:solidFill>
                            <a:srgbClr val="111111"/>
                          </a:solidFill>
                          <a:latin typeface="Aptos"/>
                          <a:ea typeface="Aptos"/>
                          <a:cs typeface="Aptos"/>
                        </a:rPr>
                        <a:t>Median (h)</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45.5</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49</a:t>
                      </a:r>
                    </a:p>
                  </a:txBody>
                  <a:tcPr marL="76200" marR="57150" marT="19050" marB="19050" anchor="ctr">
                    <a:solidFill>
                      <a:srgbClr val="EFF8FF"/>
                    </a:solidFill>
                  </a:tcPr>
                </a:tc>
                <a:extLst>
                  <a:ext uri="{0D108BD9-81ED-4DB2-BD59-A6C34878D82A}">
                    <a16:rowId xmlns:a16="http://schemas.microsoft.com/office/drawing/2014/main" val="10002"/>
                  </a:ext>
                </a:extLst>
              </a:tr>
              <a:tr h="434068">
                <a:tc>
                  <a:txBody>
                    <a:bodyPr/>
                    <a:lstStyle/>
                    <a:p>
                      <a:pPr marL="0" marR="0" indent="0">
                        <a:lnSpc>
                          <a:spcPct val="105000"/>
                        </a:lnSpc>
                        <a:spcBef>
                          <a:spcPts val="0"/>
                        </a:spcBef>
                        <a:spcAft>
                          <a:spcPts val="0"/>
                        </a:spcAft>
                      </a:pPr>
                      <a:r>
                        <a:rPr sz="1950" b="0">
                          <a:solidFill>
                            <a:srgbClr val="111111"/>
                          </a:solidFill>
                          <a:latin typeface="Aptos"/>
                          <a:ea typeface="Aptos"/>
                          <a:cs typeface="Aptos"/>
                        </a:rPr>
                        <a:t>Interquartile range (h)</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14.5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5.25</a:t>
                      </a:r>
                    </a:p>
                  </a:txBody>
                  <a:tcPr marL="76200" marR="57150" marT="19050" marB="19050" anchor="ctr">
                    <a:solidFill>
                      <a:srgbClr val="FFFFFF"/>
                    </a:solidFill>
                  </a:tcPr>
                </a:tc>
                <a:extLst>
                  <a:ext uri="{0D108BD9-81ED-4DB2-BD59-A6C34878D82A}">
                    <a16:rowId xmlns:a16="http://schemas.microsoft.com/office/drawing/2014/main" val="10003"/>
                  </a:ext>
                </a:extLst>
              </a:tr>
              <a:tr h="434068">
                <a:tc>
                  <a:txBody>
                    <a:bodyPr/>
                    <a:lstStyle/>
                    <a:p>
                      <a:pPr marL="0" marR="0" indent="0">
                        <a:lnSpc>
                          <a:spcPct val="105000"/>
                        </a:lnSpc>
                        <a:spcBef>
                          <a:spcPts val="0"/>
                        </a:spcBef>
                        <a:spcAft>
                          <a:spcPts val="0"/>
                        </a:spcAft>
                      </a:pPr>
                      <a:r>
                        <a:rPr sz="1950" b="0">
                          <a:solidFill>
                            <a:srgbClr val="111111"/>
                          </a:solidFill>
                          <a:latin typeface="Aptos"/>
                          <a:ea typeface="Aptos"/>
                          <a:cs typeface="Aptos"/>
                        </a:rPr>
                        <a:t>Sample standard deviation (h)</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10.02</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6.13</a:t>
                      </a:r>
                    </a:p>
                  </a:txBody>
                  <a:tcPr marL="76200" marR="57150" marT="19050" marB="19050" anchor="ctr">
                    <a:solidFill>
                      <a:srgbClr val="EFF8FF"/>
                    </a:solidFill>
                  </a:tcPr>
                </a:tc>
                <a:extLst>
                  <a:ext uri="{0D108BD9-81ED-4DB2-BD59-A6C34878D82A}">
                    <a16:rowId xmlns:a16="http://schemas.microsoft.com/office/drawing/2014/main" val="10004"/>
                  </a:ext>
                </a:extLst>
              </a:tr>
              <a:tr h="434068">
                <a:tc>
                  <a:txBody>
                    <a:bodyPr/>
                    <a:lstStyle/>
                    <a:p>
                      <a:pPr marL="0" marR="0" indent="0">
                        <a:lnSpc>
                          <a:spcPct val="105000"/>
                        </a:lnSpc>
                        <a:spcBef>
                          <a:spcPts val="0"/>
                        </a:spcBef>
                        <a:spcAft>
                          <a:spcPts val="0"/>
                        </a:spcAft>
                      </a:pPr>
                      <a:r>
                        <a:rPr sz="1950" b="0">
                          <a:solidFill>
                            <a:srgbClr val="111111"/>
                          </a:solidFill>
                          <a:latin typeface="Aptos"/>
                          <a:ea typeface="Aptos"/>
                          <a:cs typeface="Aptos"/>
                        </a:rPr>
                        <a:t>Coefficient of variation</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21.41%</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12.47%</a:t>
                      </a:r>
                    </a:p>
                  </a:txBody>
                  <a:tcPr marL="76200" marR="57150" marT="19050" marB="19050" anchor="ctr">
                    <a:solidFill>
                      <a:srgbClr val="FFFFFF"/>
                    </a:solidFill>
                  </a:tcPr>
                </a:tc>
                <a:extLst>
                  <a:ext uri="{0D108BD9-81ED-4DB2-BD59-A6C34878D82A}">
                    <a16:rowId xmlns:a16="http://schemas.microsoft.com/office/drawing/2014/main" val="10005"/>
                  </a:ext>
                </a:extLst>
              </a:tr>
              <a:tr h="434068">
                <a:tc>
                  <a:txBody>
                    <a:bodyPr/>
                    <a:lstStyle/>
                    <a:p>
                      <a:pPr marL="0" marR="0" indent="0">
                        <a:lnSpc>
                          <a:spcPct val="105000"/>
                        </a:lnSpc>
                        <a:spcBef>
                          <a:spcPts val="0"/>
                        </a:spcBef>
                        <a:spcAft>
                          <a:spcPts val="0"/>
                        </a:spcAft>
                      </a:pPr>
                      <a:r>
                        <a:rPr sz="1950" b="0">
                          <a:solidFill>
                            <a:srgbClr val="111111"/>
                          </a:solidFill>
                          <a:latin typeface="Aptos"/>
                          <a:ea typeface="Aptos"/>
                          <a:cs typeface="Aptos"/>
                        </a:rPr>
                        <a:t>Longest recorded delivery (h)</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68</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68</a:t>
                      </a:r>
                    </a:p>
                  </a:txBody>
                  <a:tcPr marL="76200" marR="57150" marT="19050" marB="19050" anchor="ctr">
                    <a:solidFill>
                      <a:srgbClr val="EFF8FF"/>
                    </a:solidFill>
                  </a:tcPr>
                </a:tc>
                <a:extLst>
                  <a:ext uri="{0D108BD9-81ED-4DB2-BD59-A6C34878D82A}">
                    <a16:rowId xmlns:a16="http://schemas.microsoft.com/office/drawing/2014/main" val="10006"/>
                  </a:ext>
                </a:extLst>
              </a:tr>
            </a:tbl>
          </a:graphicData>
        </a:graphic>
      </p:graphicFrame>
      <p:sp>
        <p:nvSpPr>
          <p:cNvPr id="5" name="body">
            <a:extLst>
              <a:ext uri="{FF2B5EF4-FFF2-40B4-BE49-F238E27FC236}">
                <a16:creationId xmlns:a16="http://schemas.microsoft.com/office/drawing/2014/main" id="{1B5A9BFA-FAFE-4382-9037-732DE0DCE001}"/>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Which evidence matters most for routine orders at this print shop?</a:t>
            </a:r>
          </a:p>
        </p:txBody>
      </p:sp>
      <p:sp>
        <p:nvSpPr>
          <p:cNvPr id="6"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C4 • CHECKPOINT</a:t>
            </a:r>
          </a:p>
        </p:txBody>
      </p:sp>
    </p:spTree>
    <p:extLst>
      <p:ext uri="{BB962C8B-B14F-4D97-AF65-F5344CB8AC3E}">
        <p14:creationId xmlns:p14="http://schemas.microsoft.com/office/powerpoint/2010/main" val="3281361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235" y="2238375"/>
            <a:ext cx="5953125" cy="2705100"/>
          </a:xfrm>
        </p:spPr>
        <p:txBody>
          <a:bodyPr wrap="square" lIns="0" tIns="0" rIns="0" bIns="0" anchor="t">
            <a:noAutofit/>
          </a:bodyPr>
          <a:lstStyle/>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Section 3:</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Routine orders</a:t>
            </a:r>
          </a:p>
        </p:txBody>
      </p:sp>
      <p:sp>
        <p:nvSpPr>
          <p:cNvPr id="3" name="divider-question">
            <a:extLst>
              <a:ext uri="{FF2B5EF4-FFF2-40B4-BE49-F238E27FC236}">
                <a16:creationId xmlns:a16="http://schemas.microsoft.com/office/drawing/2014/main" id="{219C8028-85FD-4453-AFF8-E30BFF2E82B4}"/>
              </a:ext>
            </a:extLst>
          </p:cNvPr>
          <p:cNvSpPr>
            <a:spLocks noGrp="1"/>
          </p:cNvSpPr>
          <p:nvPr/>
        </p:nvSpPr>
        <p:spPr>
          <a:xfrm>
            <a:off x="428625" y="5200650"/>
            <a:ext cx="5715000" cy="1028700"/>
          </a:xfrm>
          <a:prstGeom prst="rect">
            <a:avLst/>
          </a:prstGeom>
          <a:noFill/>
          <a:ln w="0">
            <a:noFill/>
          </a:ln>
        </p:spPr>
        <p:txBody>
          <a:bodyPr wrap="square" lIns="0" tIns="0" rIns="0" bIns="0" anchor="t">
            <a:noAutofit/>
          </a:bodyPr>
          <a:lstStyle/>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How will you turn the calculations</a:t>
            </a:r>
          </a:p>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into a recommendation?</a:t>
            </a:r>
          </a:p>
        </p:txBody>
      </p:sp>
    </p:spTree>
    <p:extLst>
      <p:ext uri="{BB962C8B-B14F-4D97-AF65-F5344CB8AC3E}">
        <p14:creationId xmlns:p14="http://schemas.microsoft.com/office/powerpoint/2010/main" val="3281361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C5: your recommendation</a:t>
            </a:r>
          </a:p>
        </p:txBody>
      </p:sp>
      <p:sp>
        <p:nvSpPr>
          <p:cNvPr id="3" name="body">
            <a:extLst>
              <a:ext uri="{FF2B5EF4-FFF2-40B4-BE49-F238E27FC236}">
                <a16:creationId xmlns:a16="http://schemas.microsoft.com/office/drawing/2014/main" id="{AD1DD780-A66F-4CD3-A723-5B3AB8B2F000}"/>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Recommend a supplier for the shop’s routine paper orders.</a:t>
            </a:r>
          </a:p>
        </p:txBody>
      </p:sp>
      <p:sp>
        <p:nvSpPr>
          <p:cNvPr id="4" name="body">
            <a:extLst>
              <a:ext uri="{FF2B5EF4-FFF2-40B4-BE49-F238E27FC236}">
                <a16:creationId xmlns:a16="http://schemas.microsoft.com/office/drawing/2014/main" id="{F9CDD991-1AFA-4AE8-B1CD-8EE7D4691F54}"/>
              </a:ext>
            </a:extLst>
          </p:cNvPr>
          <p:cNvSpPr>
            <a:spLocks noGrp="1"/>
          </p:cNvSpPr>
          <p:nvPr/>
        </p:nvSpPr>
        <p:spPr>
          <a:xfrm>
            <a:off x="523875" y="2857500"/>
            <a:ext cx="11144250" cy="6286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Choose a supplier and make your recommendation clear.</a:t>
            </a:r>
          </a:p>
        </p:txBody>
      </p:sp>
      <p:sp>
        <p:nvSpPr>
          <p:cNvPr id="5" name="body">
            <a:extLst>
              <a:ext uri="{FF2B5EF4-FFF2-40B4-BE49-F238E27FC236}">
                <a16:creationId xmlns:a16="http://schemas.microsoft.com/office/drawing/2014/main" id="{FC849E5A-861D-4F18-B3FC-E0FE36A96715}"/>
              </a:ext>
            </a:extLst>
          </p:cNvPr>
          <p:cNvSpPr>
            <a:spLocks noGrp="1"/>
          </p:cNvSpPr>
          <p:nvPr/>
        </p:nvSpPr>
        <p:spPr>
          <a:xfrm>
            <a:off x="523875" y="3581400"/>
            <a:ext cx="11144250" cy="6286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Compare the means and at least one measure of spread.</a:t>
            </a:r>
          </a:p>
        </p:txBody>
      </p:sp>
      <p:sp>
        <p:nvSpPr>
          <p:cNvPr id="6" name="body">
            <a:extLst>
              <a:ext uri="{FF2B5EF4-FFF2-40B4-BE49-F238E27FC236}">
                <a16:creationId xmlns:a16="http://schemas.microsoft.com/office/drawing/2014/main" id="{0D26AAF0-D16A-4C97-B732-9852C47DB8DC}"/>
              </a:ext>
            </a:extLst>
          </p:cNvPr>
          <p:cNvSpPr>
            <a:spLocks noGrp="1"/>
          </p:cNvSpPr>
          <p:nvPr/>
        </p:nvSpPr>
        <p:spPr>
          <a:xfrm>
            <a:off x="523875" y="4305300"/>
            <a:ext cx="11144250" cy="6286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Explain how this helps the print shop plan its work.</a:t>
            </a:r>
          </a:p>
        </p:txBody>
      </p:sp>
      <p:sp>
        <p:nvSpPr>
          <p:cNvPr id="7" name="body">
            <a:extLst>
              <a:ext uri="{FF2B5EF4-FFF2-40B4-BE49-F238E27FC236}">
                <a16:creationId xmlns:a16="http://schemas.microsoft.com/office/drawing/2014/main" id="{4A54ACC2-9170-4CDD-8995-AB40AA4CC9CF}"/>
              </a:ext>
            </a:extLst>
          </p:cNvPr>
          <p:cNvSpPr>
            <a:spLocks noGrp="1"/>
          </p:cNvSpPr>
          <p:nvPr/>
        </p:nvSpPr>
        <p:spPr>
          <a:xfrm>
            <a:off x="523875" y="5029200"/>
            <a:ext cx="11144250" cy="6286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Acknowledge an advantage of the other supplier.</a:t>
            </a:r>
          </a:p>
        </p:txBody>
      </p:sp>
      <p:sp>
        <p:nvSpPr>
          <p:cNvPr id="8" name="body">
            <a:extLst>
              <a:ext uri="{FF2B5EF4-FFF2-40B4-BE49-F238E27FC236}">
                <a16:creationId xmlns:a16="http://schemas.microsoft.com/office/drawing/2014/main" id="{3243AA25-7C1D-4C96-B46A-5C689156115F}"/>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Remember: routine orders can be placed a few hours earlier.</a:t>
            </a:r>
          </a:p>
        </p:txBody>
      </p:sp>
      <p:sp>
        <p:nvSpPr>
          <p:cNvPr id="9"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C5 • WRITTEN RESPONSE</a:t>
            </a:r>
          </a:p>
        </p:txBody>
      </p:sp>
    </p:spTree>
    <p:extLst>
      <p:ext uri="{BB962C8B-B14F-4D97-AF65-F5344CB8AC3E}">
        <p14:creationId xmlns:p14="http://schemas.microsoft.com/office/powerpoint/2010/main" val="3281361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C5: recommendation scaffold</a:t>
            </a:r>
          </a:p>
        </p:txBody>
      </p:sp>
      <p:sp>
        <p:nvSpPr>
          <p:cNvPr id="3" name="body">
            <a:extLst>
              <a:ext uri="{FF2B5EF4-FFF2-40B4-BE49-F238E27FC236}">
                <a16:creationId xmlns:a16="http://schemas.microsoft.com/office/drawing/2014/main" id="{52A99917-BD3A-4F7D-A7ED-337E65FA65D0}"/>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Build a short paragraph. Explain the figures in the business context.</a:t>
            </a:r>
          </a:p>
        </p:txBody>
      </p:sp>
      <p:sp>
        <p:nvSpPr>
          <p:cNvPr id="4" name="body">
            <a:extLst>
              <a:ext uri="{FF2B5EF4-FFF2-40B4-BE49-F238E27FC236}">
                <a16:creationId xmlns:a16="http://schemas.microsoft.com/office/drawing/2014/main" id="{22603D50-9353-4E57-A4D9-D54E14D7D58B}"/>
              </a:ext>
            </a:extLst>
          </p:cNvPr>
          <p:cNvSpPr>
            <a:spLocks noGrp="1"/>
          </p:cNvSpPr>
          <p:nvPr/>
        </p:nvSpPr>
        <p:spPr>
          <a:xfrm>
            <a:off x="523875" y="2667000"/>
            <a:ext cx="11144250" cy="400050"/>
          </a:xfrm>
          <a:prstGeom prst="rect">
            <a:avLst/>
          </a:prstGeom>
          <a:noFill/>
          <a:ln w="0">
            <a:noFill/>
          </a:ln>
        </p:spPr>
        <p:txBody>
          <a:bodyPr wrap="square" lIns="0" tIns="0" rIns="0" bIns="0" anchor="t">
            <a:noAutofit/>
          </a:bodyPr>
          <a:lstStyle/>
          <a:p>
            <a:pPr marL="0" marR="0" indent="0">
              <a:defRPr sz="2100" b="1">
                <a:solidFill>
                  <a:srgbClr val="111111"/>
                </a:solidFill>
                <a:latin typeface="Aptos"/>
                <a:ea typeface="Aptos"/>
                <a:cs typeface="Aptos"/>
              </a:defRPr>
            </a:pPr>
            <a:r>
              <a:rPr sz="2100" b="1">
                <a:solidFill>
                  <a:srgbClr val="111111"/>
                </a:solidFill>
                <a:latin typeface="Aptos"/>
                <a:ea typeface="Aptos"/>
                <a:cs typeface="Aptos"/>
              </a:rPr>
              <a:t>1. For routine orders, I recommend…</a:t>
            </a:r>
          </a:p>
        </p:txBody>
      </p:sp>
      <p:sp>
        <p:nvSpPr>
          <p:cNvPr id="5" name="body">
            <a:extLst>
              <a:ext uri="{FF2B5EF4-FFF2-40B4-BE49-F238E27FC236}">
                <a16:creationId xmlns:a16="http://schemas.microsoft.com/office/drawing/2014/main" id="{1607B9DE-823A-4642-B8C0-83D08EB319A0}"/>
              </a:ext>
            </a:extLst>
          </p:cNvPr>
          <p:cNvSpPr>
            <a:spLocks noGrp="1"/>
          </p:cNvSpPr>
          <p:nvPr/>
        </p:nvSpPr>
        <p:spPr>
          <a:xfrm>
            <a:off x="762000" y="3000375"/>
            <a:ext cx="10858500" cy="238125"/>
          </a:xfrm>
          <a:prstGeom prst="rect">
            <a:avLst/>
          </a:prstGeom>
          <a:noFill/>
          <a:ln w="0">
            <a:noFill/>
          </a:ln>
        </p:spPr>
        <p:txBody>
          <a:bodyPr wrap="square" lIns="0" tIns="0" rIns="0" bIns="0" anchor="t">
            <a:noAutofit/>
          </a:bodyPr>
          <a:lstStyle/>
          <a:p>
            <a:pPr marL="0" marR="0" indent="0">
              <a:defRPr sz="1575" b="0">
                <a:solidFill>
                  <a:srgbClr val="4C5559"/>
                </a:solidFill>
                <a:latin typeface="Aptos"/>
                <a:ea typeface="Aptos"/>
                <a:cs typeface="Aptos"/>
              </a:defRPr>
            </a:pPr>
            <a:r>
              <a:rPr sz="1575" b="0">
                <a:solidFill>
                  <a:srgbClr val="4C5559"/>
                </a:solidFill>
                <a:latin typeface="Aptos"/>
                <a:ea typeface="Aptos"/>
                <a:cs typeface="Aptos"/>
              </a:rPr>
              <a:t>State your choice.</a:t>
            </a:r>
          </a:p>
        </p:txBody>
      </p:sp>
      <p:sp>
        <p:nvSpPr>
          <p:cNvPr id="6" name="Straight Connector 5">
            <a:extLst>
              <a:ext uri="{FF2B5EF4-FFF2-40B4-BE49-F238E27FC236}">
                <a16:creationId xmlns:a16="http://schemas.microsoft.com/office/drawing/2014/main" id="{8A162908-A7EA-49AA-AABF-076003AC7C9D}"/>
              </a:ext>
            </a:extLst>
          </p:cNvPr>
          <p:cNvSpPr>
            <a:spLocks noGrp="1"/>
          </p:cNvSpPr>
          <p:nvPr/>
        </p:nvSpPr>
        <p:spPr>
          <a:xfrm>
            <a:off x="762000" y="3400425"/>
            <a:ext cx="10858500" cy="0"/>
          </a:xfrm>
          <a:prstGeom prst="line">
            <a:avLst/>
          </a:prstGeom>
          <a:ln w="9525">
            <a:solidFill>
              <a:srgbClr val="9BA4A8"/>
            </a:solidFill>
          </a:ln>
        </p:spPr>
        <p:txBody>
          <a:bodyPr/>
          <a:lstStyle/>
          <a:p>
            <a:endParaRPr lang="en-US"/>
          </a:p>
        </p:txBody>
      </p:sp>
      <p:sp>
        <p:nvSpPr>
          <p:cNvPr id="7" name="body">
            <a:extLst>
              <a:ext uri="{FF2B5EF4-FFF2-40B4-BE49-F238E27FC236}">
                <a16:creationId xmlns:a16="http://schemas.microsoft.com/office/drawing/2014/main" id="{12824A98-5DAC-4C73-8785-40F9B5546936}"/>
              </a:ext>
            </a:extLst>
          </p:cNvPr>
          <p:cNvSpPr>
            <a:spLocks noGrp="1"/>
          </p:cNvSpPr>
          <p:nvPr/>
        </p:nvSpPr>
        <p:spPr>
          <a:xfrm>
            <a:off x="523875" y="3486150"/>
            <a:ext cx="11144250" cy="400050"/>
          </a:xfrm>
          <a:prstGeom prst="rect">
            <a:avLst/>
          </a:prstGeom>
          <a:noFill/>
          <a:ln w="0">
            <a:noFill/>
          </a:ln>
        </p:spPr>
        <p:txBody>
          <a:bodyPr wrap="square" lIns="0" tIns="0" rIns="0" bIns="0" anchor="t">
            <a:noAutofit/>
          </a:bodyPr>
          <a:lstStyle/>
          <a:p>
            <a:pPr marL="0" marR="0" indent="0">
              <a:defRPr sz="2100" b="1">
                <a:solidFill>
                  <a:srgbClr val="111111"/>
                </a:solidFill>
                <a:latin typeface="Aptos"/>
                <a:ea typeface="Aptos"/>
                <a:cs typeface="Aptos"/>
              </a:defRPr>
            </a:pPr>
            <a:r>
              <a:rPr sz="2100" b="1">
                <a:solidFill>
                  <a:srgbClr val="111111"/>
                </a:solidFill>
                <a:latin typeface="Aptos"/>
                <a:ea typeface="Aptos"/>
                <a:cs typeface="Aptos"/>
              </a:rPr>
              <a:t>2. The delivery records support this because…</a:t>
            </a:r>
          </a:p>
        </p:txBody>
      </p:sp>
      <p:sp>
        <p:nvSpPr>
          <p:cNvPr id="8" name="body">
            <a:extLst>
              <a:ext uri="{FF2B5EF4-FFF2-40B4-BE49-F238E27FC236}">
                <a16:creationId xmlns:a16="http://schemas.microsoft.com/office/drawing/2014/main" id="{CBAD0015-AD8A-4D87-A2F8-E48A7D4F4ED0}"/>
              </a:ext>
            </a:extLst>
          </p:cNvPr>
          <p:cNvSpPr>
            <a:spLocks noGrp="1"/>
          </p:cNvSpPr>
          <p:nvPr/>
        </p:nvSpPr>
        <p:spPr>
          <a:xfrm>
            <a:off x="762000" y="3819525"/>
            <a:ext cx="10858500" cy="238125"/>
          </a:xfrm>
          <a:prstGeom prst="rect">
            <a:avLst/>
          </a:prstGeom>
          <a:noFill/>
          <a:ln w="0">
            <a:noFill/>
          </a:ln>
        </p:spPr>
        <p:txBody>
          <a:bodyPr wrap="square" lIns="0" tIns="0" rIns="0" bIns="0" anchor="t">
            <a:noAutofit/>
          </a:bodyPr>
          <a:lstStyle/>
          <a:p>
            <a:pPr marL="0" marR="0" indent="0">
              <a:defRPr sz="1575" b="0">
                <a:solidFill>
                  <a:srgbClr val="4C5559"/>
                </a:solidFill>
                <a:latin typeface="Aptos"/>
                <a:ea typeface="Aptos"/>
                <a:cs typeface="Aptos"/>
              </a:defRPr>
            </a:pPr>
            <a:r>
              <a:rPr sz="1575" b="0">
                <a:solidFill>
                  <a:srgbClr val="4C5559"/>
                </a:solidFill>
                <a:latin typeface="Aptos"/>
                <a:ea typeface="Aptos"/>
                <a:cs typeface="Aptos"/>
              </a:rPr>
              <a:t>Compare the means and SD or IQR. Include the units.</a:t>
            </a:r>
          </a:p>
        </p:txBody>
      </p:sp>
      <p:sp>
        <p:nvSpPr>
          <p:cNvPr id="9" name="Straight Connector 8">
            <a:extLst>
              <a:ext uri="{FF2B5EF4-FFF2-40B4-BE49-F238E27FC236}">
                <a16:creationId xmlns:a16="http://schemas.microsoft.com/office/drawing/2014/main" id="{A310D006-88E2-4677-A6A1-133F0AA4A79D}"/>
              </a:ext>
            </a:extLst>
          </p:cNvPr>
          <p:cNvSpPr>
            <a:spLocks noGrp="1"/>
          </p:cNvSpPr>
          <p:nvPr/>
        </p:nvSpPr>
        <p:spPr>
          <a:xfrm>
            <a:off x="762000" y="4219575"/>
            <a:ext cx="10858500" cy="0"/>
          </a:xfrm>
          <a:prstGeom prst="line">
            <a:avLst/>
          </a:prstGeom>
          <a:ln w="9525">
            <a:solidFill>
              <a:srgbClr val="9BA4A8"/>
            </a:solidFill>
          </a:ln>
        </p:spPr>
        <p:txBody>
          <a:bodyPr/>
          <a:lstStyle/>
          <a:p>
            <a:endParaRPr lang="en-US"/>
          </a:p>
        </p:txBody>
      </p:sp>
      <p:sp>
        <p:nvSpPr>
          <p:cNvPr id="10" name="body">
            <a:extLst>
              <a:ext uri="{FF2B5EF4-FFF2-40B4-BE49-F238E27FC236}">
                <a16:creationId xmlns:a16="http://schemas.microsoft.com/office/drawing/2014/main" id="{8CC6B4F3-8913-41BD-AD87-E7FA3AC48F47}"/>
              </a:ext>
            </a:extLst>
          </p:cNvPr>
          <p:cNvSpPr>
            <a:spLocks noGrp="1"/>
          </p:cNvSpPr>
          <p:nvPr/>
        </p:nvSpPr>
        <p:spPr>
          <a:xfrm>
            <a:off x="523875" y="4305300"/>
            <a:ext cx="11144250" cy="400050"/>
          </a:xfrm>
          <a:prstGeom prst="rect">
            <a:avLst/>
          </a:prstGeom>
          <a:noFill/>
          <a:ln w="0">
            <a:noFill/>
          </a:ln>
        </p:spPr>
        <p:txBody>
          <a:bodyPr wrap="square" lIns="0" tIns="0" rIns="0" bIns="0" anchor="t">
            <a:noAutofit/>
          </a:bodyPr>
          <a:lstStyle/>
          <a:p>
            <a:pPr marL="0" marR="0" indent="0">
              <a:defRPr sz="2100" b="1">
                <a:solidFill>
                  <a:srgbClr val="111111"/>
                </a:solidFill>
                <a:latin typeface="Aptos"/>
                <a:ea typeface="Aptos"/>
                <a:cs typeface="Aptos"/>
              </a:defRPr>
            </a:pPr>
            <a:r>
              <a:rPr sz="2100" b="1">
                <a:solidFill>
                  <a:srgbClr val="111111"/>
                </a:solidFill>
                <a:latin typeface="Aptos"/>
                <a:ea typeface="Aptos"/>
                <a:cs typeface="Aptos"/>
              </a:rPr>
              <a:t>3. For this print shop, this matters because…</a:t>
            </a:r>
          </a:p>
        </p:txBody>
      </p:sp>
      <p:sp>
        <p:nvSpPr>
          <p:cNvPr id="11" name="body">
            <a:extLst>
              <a:ext uri="{FF2B5EF4-FFF2-40B4-BE49-F238E27FC236}">
                <a16:creationId xmlns:a16="http://schemas.microsoft.com/office/drawing/2014/main" id="{F2DB3630-A98A-48B6-9305-85BE5C5DD8E7}"/>
              </a:ext>
            </a:extLst>
          </p:cNvPr>
          <p:cNvSpPr>
            <a:spLocks noGrp="1"/>
          </p:cNvSpPr>
          <p:nvPr/>
        </p:nvSpPr>
        <p:spPr>
          <a:xfrm>
            <a:off x="762000" y="4638675"/>
            <a:ext cx="10858500" cy="238125"/>
          </a:xfrm>
          <a:prstGeom prst="rect">
            <a:avLst/>
          </a:prstGeom>
          <a:noFill/>
          <a:ln w="0">
            <a:noFill/>
          </a:ln>
        </p:spPr>
        <p:txBody>
          <a:bodyPr wrap="square" lIns="0" tIns="0" rIns="0" bIns="0" anchor="t">
            <a:noAutofit/>
          </a:bodyPr>
          <a:lstStyle/>
          <a:p>
            <a:pPr marL="0" marR="0" indent="0">
              <a:defRPr sz="1575" b="0">
                <a:solidFill>
                  <a:srgbClr val="4C5559"/>
                </a:solidFill>
                <a:latin typeface="Aptos"/>
                <a:ea typeface="Aptos"/>
                <a:cs typeface="Aptos"/>
              </a:defRPr>
            </a:pPr>
            <a:r>
              <a:rPr sz="1575" b="0">
                <a:solidFill>
                  <a:srgbClr val="4C5559"/>
                </a:solidFill>
                <a:latin typeface="Aptos"/>
                <a:ea typeface="Aptos"/>
                <a:cs typeface="Aptos"/>
              </a:rPr>
              <a:t>Explain how the evidence affects ordering or avoiding interruptions.</a:t>
            </a:r>
          </a:p>
        </p:txBody>
      </p:sp>
      <p:sp>
        <p:nvSpPr>
          <p:cNvPr id="12" name="Straight Connector 11">
            <a:extLst>
              <a:ext uri="{FF2B5EF4-FFF2-40B4-BE49-F238E27FC236}">
                <a16:creationId xmlns:a16="http://schemas.microsoft.com/office/drawing/2014/main" id="{8F380C83-2E8A-4E96-86EB-A91B5E970C06}"/>
              </a:ext>
            </a:extLst>
          </p:cNvPr>
          <p:cNvSpPr>
            <a:spLocks noGrp="1"/>
          </p:cNvSpPr>
          <p:nvPr/>
        </p:nvSpPr>
        <p:spPr>
          <a:xfrm>
            <a:off x="762000" y="5038725"/>
            <a:ext cx="10858500" cy="0"/>
          </a:xfrm>
          <a:prstGeom prst="line">
            <a:avLst/>
          </a:prstGeom>
          <a:ln w="9525">
            <a:solidFill>
              <a:srgbClr val="9BA4A8"/>
            </a:solidFill>
          </a:ln>
        </p:spPr>
        <p:txBody>
          <a:bodyPr/>
          <a:lstStyle/>
          <a:p>
            <a:endParaRPr lang="en-US"/>
          </a:p>
        </p:txBody>
      </p:sp>
      <p:sp>
        <p:nvSpPr>
          <p:cNvPr id="13" name="body">
            <a:extLst>
              <a:ext uri="{FF2B5EF4-FFF2-40B4-BE49-F238E27FC236}">
                <a16:creationId xmlns:a16="http://schemas.microsoft.com/office/drawing/2014/main" id="{C1C78256-9790-42BD-BBC8-0C6E2D5E3CD7}"/>
              </a:ext>
            </a:extLst>
          </p:cNvPr>
          <p:cNvSpPr>
            <a:spLocks noGrp="1"/>
          </p:cNvSpPr>
          <p:nvPr/>
        </p:nvSpPr>
        <p:spPr>
          <a:xfrm>
            <a:off x="523875" y="5124450"/>
            <a:ext cx="11144250" cy="400050"/>
          </a:xfrm>
          <a:prstGeom prst="rect">
            <a:avLst/>
          </a:prstGeom>
          <a:noFill/>
          <a:ln w="0">
            <a:noFill/>
          </a:ln>
        </p:spPr>
        <p:txBody>
          <a:bodyPr wrap="square" lIns="0" tIns="0" rIns="0" bIns="0" anchor="t">
            <a:noAutofit/>
          </a:bodyPr>
          <a:lstStyle/>
          <a:p>
            <a:pPr marL="0" marR="0" indent="0">
              <a:defRPr sz="2100" b="1">
                <a:solidFill>
                  <a:srgbClr val="111111"/>
                </a:solidFill>
                <a:latin typeface="Aptos"/>
                <a:ea typeface="Aptos"/>
                <a:cs typeface="Aptos"/>
              </a:defRPr>
            </a:pPr>
            <a:r>
              <a:rPr sz="2100" b="1">
                <a:solidFill>
                  <a:srgbClr val="111111"/>
                </a:solidFill>
                <a:latin typeface="Aptos"/>
                <a:ea typeface="Aptos"/>
                <a:cs typeface="Aptos"/>
              </a:rPr>
              <a:t>4. The other supplier’s main advantage is…</a:t>
            </a:r>
          </a:p>
        </p:txBody>
      </p:sp>
      <p:sp>
        <p:nvSpPr>
          <p:cNvPr id="14" name="body">
            <a:extLst>
              <a:ext uri="{FF2B5EF4-FFF2-40B4-BE49-F238E27FC236}">
                <a16:creationId xmlns:a16="http://schemas.microsoft.com/office/drawing/2014/main" id="{6B0B62DB-12FC-419E-AD9F-E159B89A5357}"/>
              </a:ext>
            </a:extLst>
          </p:cNvPr>
          <p:cNvSpPr>
            <a:spLocks noGrp="1"/>
          </p:cNvSpPr>
          <p:nvPr/>
        </p:nvSpPr>
        <p:spPr>
          <a:xfrm>
            <a:off x="762000" y="5457825"/>
            <a:ext cx="10858500" cy="238125"/>
          </a:xfrm>
          <a:prstGeom prst="rect">
            <a:avLst/>
          </a:prstGeom>
          <a:noFill/>
          <a:ln w="0">
            <a:noFill/>
          </a:ln>
        </p:spPr>
        <p:txBody>
          <a:bodyPr wrap="square" lIns="0" tIns="0" rIns="0" bIns="0" anchor="t">
            <a:noAutofit/>
          </a:bodyPr>
          <a:lstStyle/>
          <a:p>
            <a:pPr marL="0" marR="0" indent="0">
              <a:defRPr sz="1575" b="0">
                <a:solidFill>
                  <a:srgbClr val="4C5559"/>
                </a:solidFill>
                <a:latin typeface="Aptos"/>
                <a:ea typeface="Aptos"/>
                <a:cs typeface="Aptos"/>
              </a:defRPr>
            </a:pPr>
            <a:r>
              <a:rPr sz="1575" b="0">
                <a:solidFill>
                  <a:srgbClr val="4C5559"/>
                </a:solidFill>
                <a:latin typeface="Aptos"/>
                <a:ea typeface="Aptos"/>
                <a:cs typeface="Aptos"/>
              </a:rPr>
              <a:t>Acknowledge the trade-off and one remaining delivery risk.</a:t>
            </a:r>
          </a:p>
        </p:txBody>
      </p:sp>
      <p:sp>
        <p:nvSpPr>
          <p:cNvPr id="15" name="Straight Connector 14">
            <a:extLst>
              <a:ext uri="{FF2B5EF4-FFF2-40B4-BE49-F238E27FC236}">
                <a16:creationId xmlns:a16="http://schemas.microsoft.com/office/drawing/2014/main" id="{021CD480-A3BD-46DD-B78F-64CC6ECA9FF6}"/>
              </a:ext>
            </a:extLst>
          </p:cNvPr>
          <p:cNvSpPr>
            <a:spLocks noGrp="1"/>
          </p:cNvSpPr>
          <p:nvPr/>
        </p:nvSpPr>
        <p:spPr>
          <a:xfrm>
            <a:off x="762000" y="5857875"/>
            <a:ext cx="10858500" cy="0"/>
          </a:xfrm>
          <a:prstGeom prst="line">
            <a:avLst/>
          </a:prstGeom>
          <a:ln w="9525">
            <a:solidFill>
              <a:srgbClr val="9BA4A8"/>
            </a:solidFill>
          </a:ln>
        </p:spPr>
        <p:txBody>
          <a:bodyPr/>
          <a:lstStyle/>
          <a:p>
            <a:endParaRPr lang="en-US"/>
          </a:p>
        </p:txBody>
      </p:sp>
      <p:sp>
        <p:nvSpPr>
          <p:cNvPr id="16" name="body">
            <a:extLst>
              <a:ext uri="{FF2B5EF4-FFF2-40B4-BE49-F238E27FC236}">
                <a16:creationId xmlns:a16="http://schemas.microsoft.com/office/drawing/2014/main" id="{570CC955-FB53-42B2-81E6-44388667398D}"/>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Use complete sentences. Numbers support your reasoning.</a:t>
            </a:r>
          </a:p>
        </p:txBody>
      </p:sp>
      <p:sp>
        <p:nvSpPr>
          <p:cNvPr id="17"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C5 • WRITING FRAME</a:t>
            </a:r>
          </a:p>
        </p:txBody>
      </p:sp>
    </p:spTree>
    <p:extLst>
      <p:ext uri="{BB962C8B-B14F-4D97-AF65-F5344CB8AC3E}">
        <p14:creationId xmlns:p14="http://schemas.microsoft.com/office/powerpoint/2010/main" val="3281361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C5: a supported recommendation</a:t>
            </a:r>
          </a:p>
        </p:txBody>
      </p:sp>
      <p:sp>
        <p:nvSpPr>
          <p:cNvPr id="3" name="body">
            <a:extLst>
              <a:ext uri="{FF2B5EF4-FFF2-40B4-BE49-F238E27FC236}">
                <a16:creationId xmlns:a16="http://schemas.microsoft.com/office/drawing/2014/main" id="{0F2E9271-C5D6-47BB-B8A3-3DCB0ED2A76C}"/>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One defensible answer for routine orders:</a:t>
            </a:r>
          </a:p>
        </p:txBody>
      </p:sp>
      <p:sp>
        <p:nvSpPr>
          <p:cNvPr id="4" name="body">
            <a:extLst>
              <a:ext uri="{FF2B5EF4-FFF2-40B4-BE49-F238E27FC236}">
                <a16:creationId xmlns:a16="http://schemas.microsoft.com/office/drawing/2014/main" id="{42ABFFD3-F19D-400D-9F6A-63FF4DA4828D}"/>
              </a:ext>
            </a:extLst>
          </p:cNvPr>
          <p:cNvSpPr>
            <a:spLocks noGrp="1"/>
          </p:cNvSpPr>
          <p:nvPr/>
        </p:nvSpPr>
        <p:spPr>
          <a:xfrm>
            <a:off x="523875" y="2724150"/>
            <a:ext cx="2667000" cy="342900"/>
          </a:xfrm>
          <a:prstGeom prst="rect">
            <a:avLst/>
          </a:prstGeom>
          <a:noFill/>
          <a:ln w="0">
            <a:noFill/>
          </a:ln>
        </p:spPr>
        <p:txBody>
          <a:bodyPr wrap="square" lIns="0" tIns="0" rIns="0" bIns="0" anchor="t">
            <a:noAutofit/>
          </a:bodyPr>
          <a:lstStyle/>
          <a:p>
            <a:pPr marL="0" marR="0" indent="0">
              <a:defRPr sz="1950" b="1">
                <a:solidFill>
                  <a:srgbClr val="D6171D"/>
                </a:solidFill>
                <a:latin typeface="Aptos"/>
                <a:ea typeface="Aptos"/>
                <a:cs typeface="Aptos"/>
              </a:defRPr>
            </a:pPr>
            <a:r>
              <a:rPr sz="1950" b="1">
                <a:solidFill>
                  <a:srgbClr val="D6171D"/>
                </a:solidFill>
                <a:latin typeface="Aptos"/>
                <a:ea typeface="Aptos"/>
                <a:cs typeface="Aptos"/>
              </a:rPr>
              <a:t>Recommendation</a:t>
            </a:r>
          </a:p>
        </p:txBody>
      </p:sp>
      <p:sp>
        <p:nvSpPr>
          <p:cNvPr id="5" name="body">
            <a:extLst>
              <a:ext uri="{FF2B5EF4-FFF2-40B4-BE49-F238E27FC236}">
                <a16:creationId xmlns:a16="http://schemas.microsoft.com/office/drawing/2014/main" id="{9B852E7A-5A67-4843-889E-B2523B8EFDCD}"/>
              </a:ext>
            </a:extLst>
          </p:cNvPr>
          <p:cNvSpPr>
            <a:spLocks noGrp="1"/>
          </p:cNvSpPr>
          <p:nvPr/>
        </p:nvSpPr>
        <p:spPr>
          <a:xfrm>
            <a:off x="3238500" y="2724150"/>
            <a:ext cx="8334375" cy="704850"/>
          </a:xfrm>
          <a:prstGeom prst="rect">
            <a:avLst/>
          </a:prstGeom>
          <a:noFill/>
          <a:ln w="0">
            <a:noFill/>
          </a:ln>
        </p:spPr>
        <p:txBody>
          <a:bodyPr wrap="square" lIns="0" tIns="0" rIns="0" bIns="0" anchor="t">
            <a:noAutofit/>
          </a:bodyPr>
          <a:lstStyle/>
          <a:p>
            <a:pPr marL="0" marR="0" indent="0">
              <a:defRPr sz="2025" b="0">
                <a:solidFill>
                  <a:srgbClr val="111111"/>
                </a:solidFill>
                <a:latin typeface="Aptos"/>
                <a:ea typeface="Aptos"/>
                <a:cs typeface="Aptos"/>
              </a:defRPr>
            </a:pPr>
            <a:r>
              <a:rPr sz="2025" b="0">
                <a:solidFill>
                  <a:srgbClr val="111111"/>
                </a:solidFill>
                <a:latin typeface="Aptos"/>
                <a:ea typeface="Aptos"/>
                <a:cs typeface="Aptos"/>
              </a:rPr>
              <a:t>I recommend Supplier B for routine orders.</a:t>
            </a:r>
          </a:p>
        </p:txBody>
      </p:sp>
      <p:sp>
        <p:nvSpPr>
          <p:cNvPr id="6" name="body">
            <a:extLst>
              <a:ext uri="{FF2B5EF4-FFF2-40B4-BE49-F238E27FC236}">
                <a16:creationId xmlns:a16="http://schemas.microsoft.com/office/drawing/2014/main" id="{67BDB0CE-C84E-4473-94CC-59B4356D91AE}"/>
              </a:ext>
            </a:extLst>
          </p:cNvPr>
          <p:cNvSpPr>
            <a:spLocks noGrp="1"/>
          </p:cNvSpPr>
          <p:nvPr/>
        </p:nvSpPr>
        <p:spPr>
          <a:xfrm>
            <a:off x="523875" y="3495675"/>
            <a:ext cx="2667000" cy="342900"/>
          </a:xfrm>
          <a:prstGeom prst="rect">
            <a:avLst/>
          </a:prstGeom>
          <a:noFill/>
          <a:ln w="0">
            <a:noFill/>
          </a:ln>
        </p:spPr>
        <p:txBody>
          <a:bodyPr wrap="square" lIns="0" tIns="0" rIns="0" bIns="0" anchor="t">
            <a:noAutofit/>
          </a:bodyPr>
          <a:lstStyle/>
          <a:p>
            <a:pPr marL="0" marR="0" indent="0">
              <a:defRPr sz="1950" b="1">
                <a:solidFill>
                  <a:srgbClr val="D6171D"/>
                </a:solidFill>
                <a:latin typeface="Aptos"/>
                <a:ea typeface="Aptos"/>
                <a:cs typeface="Aptos"/>
              </a:defRPr>
            </a:pPr>
            <a:r>
              <a:rPr sz="1950" b="1">
                <a:solidFill>
                  <a:srgbClr val="D6171D"/>
                </a:solidFill>
                <a:latin typeface="Aptos"/>
                <a:ea typeface="Aptos"/>
                <a:cs typeface="Aptos"/>
              </a:rPr>
              <a:t>Evidence</a:t>
            </a:r>
          </a:p>
        </p:txBody>
      </p:sp>
      <p:sp>
        <p:nvSpPr>
          <p:cNvPr id="7" name="body">
            <a:extLst>
              <a:ext uri="{FF2B5EF4-FFF2-40B4-BE49-F238E27FC236}">
                <a16:creationId xmlns:a16="http://schemas.microsoft.com/office/drawing/2014/main" id="{C6DB78DA-25B3-4558-AB10-C3B5AC61E06F}"/>
              </a:ext>
            </a:extLst>
          </p:cNvPr>
          <p:cNvSpPr>
            <a:spLocks noGrp="1"/>
          </p:cNvSpPr>
          <p:nvPr/>
        </p:nvSpPr>
        <p:spPr>
          <a:xfrm>
            <a:off x="3238500" y="3495675"/>
            <a:ext cx="8334375" cy="704850"/>
          </a:xfrm>
          <a:prstGeom prst="rect">
            <a:avLst/>
          </a:prstGeom>
          <a:noFill/>
          <a:ln w="0">
            <a:noFill/>
          </a:ln>
        </p:spPr>
        <p:txBody>
          <a:bodyPr wrap="square" lIns="0" tIns="0" rIns="0" bIns="0" anchor="t">
            <a:noAutofit/>
          </a:bodyPr>
          <a:lstStyle/>
          <a:p>
            <a:pPr marL="0" marR="0" indent="0">
              <a:defRPr sz="2025" b="0">
                <a:solidFill>
                  <a:srgbClr val="111111"/>
                </a:solidFill>
                <a:latin typeface="Aptos"/>
                <a:ea typeface="Aptos"/>
                <a:cs typeface="Aptos"/>
              </a:defRPr>
            </a:pPr>
            <a:r>
              <a:rPr sz="2025" b="0">
                <a:solidFill>
                  <a:srgbClr val="111111"/>
                </a:solidFill>
                <a:latin typeface="Aptos"/>
                <a:ea typeface="Aptos"/>
                <a:cs typeface="Aptos"/>
              </a:rPr>
              <a:t>Its mean is 49.2 h versus 46.8 h for A, but its SD is lower:</a:t>
            </a:r>
          </a:p>
          <a:p>
            <a:pPr marL="0" marR="0" indent="0">
              <a:defRPr sz="2025" b="0">
                <a:solidFill>
                  <a:srgbClr val="111111"/>
                </a:solidFill>
                <a:latin typeface="Aptos"/>
                <a:ea typeface="Aptos"/>
                <a:cs typeface="Aptos"/>
              </a:defRPr>
            </a:pPr>
            <a:r>
              <a:rPr sz="2025" b="0">
                <a:solidFill>
                  <a:srgbClr val="111111"/>
                </a:solidFill>
                <a:latin typeface="Aptos"/>
                <a:ea typeface="Aptos"/>
                <a:cs typeface="Aptos"/>
              </a:rPr>
              <a:t>6.13 h versus 10.02 h.</a:t>
            </a:r>
          </a:p>
        </p:txBody>
      </p:sp>
      <p:sp>
        <p:nvSpPr>
          <p:cNvPr id="8" name="body">
            <a:extLst>
              <a:ext uri="{FF2B5EF4-FFF2-40B4-BE49-F238E27FC236}">
                <a16:creationId xmlns:a16="http://schemas.microsoft.com/office/drawing/2014/main" id="{073CB988-9FE8-4710-A911-702DD1E62CF9}"/>
              </a:ext>
            </a:extLst>
          </p:cNvPr>
          <p:cNvSpPr>
            <a:spLocks noGrp="1"/>
          </p:cNvSpPr>
          <p:nvPr/>
        </p:nvSpPr>
        <p:spPr>
          <a:xfrm>
            <a:off x="523875" y="4267200"/>
            <a:ext cx="2667000" cy="342900"/>
          </a:xfrm>
          <a:prstGeom prst="rect">
            <a:avLst/>
          </a:prstGeom>
          <a:noFill/>
          <a:ln w="0">
            <a:noFill/>
          </a:ln>
        </p:spPr>
        <p:txBody>
          <a:bodyPr wrap="square" lIns="0" tIns="0" rIns="0" bIns="0" anchor="t">
            <a:noAutofit/>
          </a:bodyPr>
          <a:lstStyle/>
          <a:p>
            <a:pPr marL="0" marR="0" indent="0">
              <a:defRPr sz="1950" b="1">
                <a:solidFill>
                  <a:srgbClr val="D6171D"/>
                </a:solidFill>
                <a:latin typeface="Aptos"/>
                <a:ea typeface="Aptos"/>
                <a:cs typeface="Aptos"/>
              </a:defRPr>
            </a:pPr>
            <a:r>
              <a:rPr sz="1950" b="1">
                <a:solidFill>
                  <a:srgbClr val="D6171D"/>
                </a:solidFill>
                <a:latin typeface="Aptos"/>
                <a:ea typeface="Aptos"/>
                <a:cs typeface="Aptos"/>
              </a:rPr>
              <a:t>Business meaning</a:t>
            </a:r>
          </a:p>
        </p:txBody>
      </p:sp>
      <p:sp>
        <p:nvSpPr>
          <p:cNvPr id="9" name="body">
            <a:extLst>
              <a:ext uri="{FF2B5EF4-FFF2-40B4-BE49-F238E27FC236}">
                <a16:creationId xmlns:a16="http://schemas.microsoft.com/office/drawing/2014/main" id="{7E9FE621-778D-4C67-8F4D-9525D701774A}"/>
              </a:ext>
            </a:extLst>
          </p:cNvPr>
          <p:cNvSpPr>
            <a:spLocks noGrp="1"/>
          </p:cNvSpPr>
          <p:nvPr/>
        </p:nvSpPr>
        <p:spPr>
          <a:xfrm>
            <a:off x="3238500" y="4267200"/>
            <a:ext cx="8334375" cy="704850"/>
          </a:xfrm>
          <a:prstGeom prst="rect">
            <a:avLst/>
          </a:prstGeom>
          <a:noFill/>
          <a:ln w="0">
            <a:noFill/>
          </a:ln>
        </p:spPr>
        <p:txBody>
          <a:bodyPr wrap="square" lIns="0" tIns="0" rIns="0" bIns="0" anchor="t">
            <a:noAutofit/>
          </a:bodyPr>
          <a:lstStyle/>
          <a:p>
            <a:pPr marL="0" marR="0" indent="0">
              <a:defRPr sz="2025" b="0">
                <a:solidFill>
                  <a:srgbClr val="111111"/>
                </a:solidFill>
                <a:latin typeface="Aptos"/>
                <a:ea typeface="Aptos"/>
                <a:cs typeface="Aptos"/>
              </a:defRPr>
            </a:pPr>
            <a:r>
              <a:rPr sz="2025" b="0">
                <a:solidFill>
                  <a:srgbClr val="111111"/>
                </a:solidFill>
                <a:latin typeface="Aptos"/>
                <a:ea typeface="Aptos"/>
                <a:cs typeface="Aptos"/>
              </a:rPr>
              <a:t>The shop can order earlier to allow for the longer average.</a:t>
            </a:r>
          </a:p>
          <a:p>
            <a:pPr marL="0" marR="0" indent="0">
              <a:defRPr sz="2025" b="0">
                <a:solidFill>
                  <a:srgbClr val="111111"/>
                </a:solidFill>
                <a:latin typeface="Aptos"/>
                <a:ea typeface="Aptos"/>
                <a:cs typeface="Aptos"/>
              </a:defRPr>
            </a:pPr>
            <a:r>
              <a:rPr sz="2025" b="0">
                <a:solidFill>
                  <a:srgbClr val="111111"/>
                </a:solidFill>
                <a:latin typeface="Aptos"/>
                <a:ea typeface="Aptos"/>
                <a:cs typeface="Aptos"/>
              </a:rPr>
              <a:t>Less variation may make routine deliveries easier to plan.</a:t>
            </a:r>
          </a:p>
        </p:txBody>
      </p:sp>
      <p:sp>
        <p:nvSpPr>
          <p:cNvPr id="10" name="body">
            <a:extLst>
              <a:ext uri="{FF2B5EF4-FFF2-40B4-BE49-F238E27FC236}">
                <a16:creationId xmlns:a16="http://schemas.microsoft.com/office/drawing/2014/main" id="{4520B8E7-DC0C-4DE7-825D-8078F5958919}"/>
              </a:ext>
            </a:extLst>
          </p:cNvPr>
          <p:cNvSpPr>
            <a:spLocks noGrp="1"/>
          </p:cNvSpPr>
          <p:nvPr/>
        </p:nvSpPr>
        <p:spPr>
          <a:xfrm>
            <a:off x="523875" y="5038725"/>
            <a:ext cx="2667000" cy="342900"/>
          </a:xfrm>
          <a:prstGeom prst="rect">
            <a:avLst/>
          </a:prstGeom>
          <a:noFill/>
          <a:ln w="0">
            <a:noFill/>
          </a:ln>
        </p:spPr>
        <p:txBody>
          <a:bodyPr wrap="square" lIns="0" tIns="0" rIns="0" bIns="0" anchor="t">
            <a:noAutofit/>
          </a:bodyPr>
          <a:lstStyle/>
          <a:p>
            <a:pPr marL="0" marR="0" indent="0">
              <a:defRPr sz="1950" b="1">
                <a:solidFill>
                  <a:srgbClr val="D6171D"/>
                </a:solidFill>
                <a:latin typeface="Aptos"/>
                <a:ea typeface="Aptos"/>
                <a:cs typeface="Aptos"/>
              </a:defRPr>
            </a:pPr>
            <a:r>
              <a:rPr sz="1950" b="1">
                <a:solidFill>
                  <a:srgbClr val="D6171D"/>
                </a:solidFill>
                <a:latin typeface="Aptos"/>
                <a:ea typeface="Aptos"/>
                <a:cs typeface="Aptos"/>
              </a:rPr>
              <a:t>Trade-off and caution</a:t>
            </a:r>
          </a:p>
        </p:txBody>
      </p:sp>
      <p:sp>
        <p:nvSpPr>
          <p:cNvPr id="11" name="body">
            <a:extLst>
              <a:ext uri="{FF2B5EF4-FFF2-40B4-BE49-F238E27FC236}">
                <a16:creationId xmlns:a16="http://schemas.microsoft.com/office/drawing/2014/main" id="{DAFEDAE1-D58C-48AA-A61D-506A230275BE}"/>
              </a:ext>
            </a:extLst>
          </p:cNvPr>
          <p:cNvSpPr>
            <a:spLocks noGrp="1"/>
          </p:cNvSpPr>
          <p:nvPr/>
        </p:nvSpPr>
        <p:spPr>
          <a:xfrm>
            <a:off x="3238500" y="5038725"/>
            <a:ext cx="8334375" cy="704850"/>
          </a:xfrm>
          <a:prstGeom prst="rect">
            <a:avLst/>
          </a:prstGeom>
          <a:noFill/>
          <a:ln w="0">
            <a:noFill/>
          </a:ln>
        </p:spPr>
        <p:txBody>
          <a:bodyPr wrap="square" lIns="0" tIns="0" rIns="0" bIns="0" anchor="t">
            <a:noAutofit/>
          </a:bodyPr>
          <a:lstStyle/>
          <a:p>
            <a:pPr marL="0" marR="0" indent="0">
              <a:defRPr sz="2025" b="0">
                <a:solidFill>
                  <a:srgbClr val="111111"/>
                </a:solidFill>
                <a:latin typeface="Aptos"/>
                <a:ea typeface="Aptos"/>
                <a:cs typeface="Aptos"/>
              </a:defRPr>
            </a:pPr>
            <a:r>
              <a:rPr sz="2025" b="0">
                <a:solidFill>
                  <a:srgbClr val="111111"/>
                </a:solidFill>
                <a:latin typeface="Aptos"/>
                <a:ea typeface="Aptos"/>
                <a:cs typeface="Aptos"/>
              </a:rPr>
              <a:t>A is 2.4 h faster on average. B still took 68 h once,</a:t>
            </a:r>
          </a:p>
          <a:p>
            <a:pPr marL="0" marR="0" indent="0">
              <a:defRPr sz="2025" b="0">
                <a:solidFill>
                  <a:srgbClr val="111111"/>
                </a:solidFill>
                <a:latin typeface="Aptos"/>
                <a:ea typeface="Aptos"/>
                <a:cs typeface="Aptos"/>
              </a:defRPr>
            </a:pPr>
            <a:r>
              <a:rPr sz="2025" b="0">
                <a:solidFill>
                  <a:srgbClr val="111111"/>
                </a:solidFill>
                <a:latin typeface="Aptos"/>
                <a:ea typeface="Aptos"/>
                <a:cs typeface="Aptos"/>
              </a:rPr>
              <a:t>so the shop needs a plan for delays.</a:t>
            </a:r>
          </a:p>
        </p:txBody>
      </p:sp>
      <p:sp>
        <p:nvSpPr>
          <p:cNvPr id="12" name="body">
            <a:extLst>
              <a:ext uri="{FF2B5EF4-FFF2-40B4-BE49-F238E27FC236}">
                <a16:creationId xmlns:a16="http://schemas.microsoft.com/office/drawing/2014/main" id="{C08B7F00-48E2-41DF-BB22-5071F0D04843}"/>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A different recommendation can earn credit if the evidence and reasoning support it.</a:t>
            </a:r>
          </a:p>
        </p:txBody>
      </p:sp>
      <p:sp>
        <p:nvSpPr>
          <p:cNvPr id="13"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C5 • MODEL RESPONSE</a:t>
            </a:r>
          </a:p>
        </p:txBody>
      </p:sp>
    </p:spTree>
    <p:extLst>
      <p:ext uri="{BB962C8B-B14F-4D97-AF65-F5344CB8AC3E}">
        <p14:creationId xmlns:p14="http://schemas.microsoft.com/office/powerpoint/2010/main" val="32813612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235" y="2238375"/>
            <a:ext cx="5953125" cy="2705100"/>
          </a:xfrm>
        </p:spPr>
        <p:txBody>
          <a:bodyPr wrap="square" lIns="0" tIns="0" rIns="0" bIns="0" anchor="t">
            <a:noAutofit/>
          </a:bodyPr>
          <a:lstStyle/>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Section 4:</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An urgent order</a:t>
            </a:r>
          </a:p>
        </p:txBody>
      </p:sp>
      <p:sp>
        <p:nvSpPr>
          <p:cNvPr id="3" name="divider-question">
            <a:extLst>
              <a:ext uri="{FF2B5EF4-FFF2-40B4-BE49-F238E27FC236}">
                <a16:creationId xmlns:a16="http://schemas.microsoft.com/office/drawing/2014/main" id="{0182351F-4253-4DD1-97E7-53A483BB5058}"/>
              </a:ext>
            </a:extLst>
          </p:cNvPr>
          <p:cNvSpPr>
            <a:spLocks noGrp="1"/>
          </p:cNvSpPr>
          <p:nvPr/>
        </p:nvSpPr>
        <p:spPr>
          <a:xfrm>
            <a:off x="428625" y="5200650"/>
            <a:ext cx="5715000" cy="1028700"/>
          </a:xfrm>
          <a:prstGeom prst="rect">
            <a:avLst/>
          </a:prstGeom>
          <a:noFill/>
          <a:ln w="0">
            <a:noFill/>
          </a:ln>
        </p:spPr>
        <p:txBody>
          <a:bodyPr wrap="square" lIns="0" tIns="0" rIns="0" bIns="0" anchor="t">
            <a:noAutofit/>
          </a:bodyPr>
          <a:lstStyle/>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What changes when the paper</a:t>
            </a:r>
          </a:p>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must arrive by a fixed deadline?</a:t>
            </a:r>
          </a:p>
        </p:txBody>
      </p:sp>
    </p:spTree>
    <p:extLst>
      <p:ext uri="{BB962C8B-B14F-4D97-AF65-F5344CB8AC3E}">
        <p14:creationId xmlns:p14="http://schemas.microsoft.com/office/powerpoint/2010/main" val="3281361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C6a: the 48-hour deadline</a:t>
            </a:r>
          </a:p>
        </p:txBody>
      </p:sp>
      <p:sp>
        <p:nvSpPr>
          <p:cNvPr id="3" name="body">
            <a:extLst>
              <a:ext uri="{FF2B5EF4-FFF2-40B4-BE49-F238E27FC236}">
                <a16:creationId xmlns:a16="http://schemas.microsoft.com/office/drawing/2014/main" id="{EFC6BBD0-C4CE-4A91-89B2-1369004EA6D9}"/>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An urgent job needs the paper within 48 hours. The shop must order now.</a:t>
            </a:r>
          </a:p>
        </p:txBody>
      </p:sp>
      <p:sp>
        <p:nvSpPr>
          <p:cNvPr id="4" name="body">
            <a:extLst>
              <a:ext uri="{FF2B5EF4-FFF2-40B4-BE49-F238E27FC236}">
                <a16:creationId xmlns:a16="http://schemas.microsoft.com/office/drawing/2014/main" id="{2BC67F30-9A90-4311-81EB-48ED9FAFB82A}"/>
              </a:ext>
            </a:extLst>
          </p:cNvPr>
          <p:cNvSpPr>
            <a:spLocks noGrp="1"/>
          </p:cNvSpPr>
          <p:nvPr/>
        </p:nvSpPr>
        <p:spPr>
          <a:xfrm>
            <a:off x="523875" y="2752725"/>
            <a:ext cx="11144250" cy="552450"/>
          </a:xfrm>
          <a:prstGeom prst="rect">
            <a:avLst/>
          </a:prstGeom>
          <a:noFill/>
          <a:ln w="0">
            <a:noFill/>
          </a:ln>
        </p:spPr>
        <p:txBody>
          <a:bodyPr wrap="square" lIns="0" tIns="0" rIns="0" bIns="0" anchor="t">
            <a:noAutofit/>
          </a:bodyPr>
          <a:lstStyle/>
          <a:p>
            <a:pPr marL="0" marR="0" indent="0">
              <a:defRPr sz="2250" b="0">
                <a:solidFill>
                  <a:srgbClr val="111111"/>
                </a:solidFill>
                <a:latin typeface="Aptos"/>
                <a:ea typeface="Aptos"/>
                <a:cs typeface="Aptos"/>
              </a:defRPr>
            </a:pPr>
            <a:r>
              <a:rPr sz="2250" b="0">
                <a:solidFill>
                  <a:srgbClr val="111111"/>
                </a:solidFill>
                <a:latin typeface="Aptos"/>
                <a:ea typeface="Aptos"/>
                <a:cs typeface="Aptos"/>
              </a:rPr>
              <a:t>Within 48 hours means a recorded delivery time of 48 h or less.</a:t>
            </a:r>
          </a:p>
        </p:txBody>
      </p:sp>
      <p:sp>
        <p:nvSpPr>
          <p:cNvPr id="5" name="body">
            <a:extLst>
              <a:ext uri="{FF2B5EF4-FFF2-40B4-BE49-F238E27FC236}">
                <a16:creationId xmlns:a16="http://schemas.microsoft.com/office/drawing/2014/main" id="{05A40062-C9B1-49B0-9442-D618518C2BB0}"/>
              </a:ext>
            </a:extLst>
          </p:cNvPr>
          <p:cNvSpPr>
            <a:spLocks noGrp="1"/>
          </p:cNvSpPr>
          <p:nvPr/>
        </p:nvSpPr>
        <p:spPr>
          <a:xfrm>
            <a:off x="523875" y="3400425"/>
            <a:ext cx="11144250" cy="552450"/>
          </a:xfrm>
          <a:prstGeom prst="rect">
            <a:avLst/>
          </a:prstGeom>
          <a:noFill/>
          <a:ln w="0">
            <a:noFill/>
          </a:ln>
        </p:spPr>
        <p:txBody>
          <a:bodyPr wrap="square" lIns="0" tIns="0" rIns="0" bIns="0" anchor="t">
            <a:noAutofit/>
          </a:bodyPr>
          <a:lstStyle/>
          <a:p>
            <a:pPr marL="0" marR="0" indent="0">
              <a:defRPr sz="2250" b="0">
                <a:solidFill>
                  <a:srgbClr val="111111"/>
                </a:solidFill>
                <a:latin typeface="Aptos"/>
                <a:ea typeface="Aptos"/>
                <a:cs typeface="Aptos"/>
              </a:defRPr>
            </a:pPr>
            <a:r>
              <a:rPr sz="2250" b="0">
                <a:solidFill>
                  <a:srgbClr val="111111"/>
                </a:solidFill>
                <a:latin typeface="Aptos"/>
                <a:ea typeface="Aptos"/>
                <a:cs typeface="Aptos"/>
              </a:rPr>
              <a:t>Count the deliveries that meet the deadline for each supplier.</a:t>
            </a:r>
          </a:p>
        </p:txBody>
      </p:sp>
      <p:pic>
        <p:nvPicPr>
          <p:cNvPr id="6" name="Picture 5"/>
          <p:cNvPicPr>
            <a:picLocks noChangeAspect="1"/>
          </p:cNvPicPr>
          <p:nvPr/>
        </p:nvPicPr>
        <p:blipFill>
          <a:blip r:embed="rId3"/>
          <a:stretch/>
        </p:blipFill>
        <p:spPr>
          <a:xfrm>
            <a:off x="857250" y="4258902"/>
            <a:ext cx="10477500" cy="807171"/>
          </a:xfrm>
          <a:prstGeom prst="rect">
            <a:avLst/>
          </a:prstGeom>
        </p:spPr>
      </p:pic>
      <p:sp>
        <p:nvSpPr>
          <p:cNvPr id="7" name="body">
            <a:extLst>
              <a:ext uri="{FF2B5EF4-FFF2-40B4-BE49-F238E27FC236}">
                <a16:creationId xmlns:a16="http://schemas.microsoft.com/office/drawing/2014/main" id="{F906DA31-D38A-4B1E-980A-FD5A7E1751E5}"/>
              </a:ext>
            </a:extLst>
          </p:cNvPr>
          <p:cNvSpPr>
            <a:spLocks noGrp="1"/>
          </p:cNvSpPr>
          <p:nvPr/>
        </p:nvSpPr>
        <p:spPr>
          <a:xfrm>
            <a:off x="523875" y="5429250"/>
            <a:ext cx="11144250" cy="457200"/>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Does your routine-order recommendation still fit this order?</a:t>
            </a:r>
          </a:p>
        </p:txBody>
      </p:sp>
      <p:sp>
        <p:nvSpPr>
          <p:cNvPr id="8" name="body">
            <a:extLst>
              <a:ext uri="{FF2B5EF4-FFF2-40B4-BE49-F238E27FC236}">
                <a16:creationId xmlns:a16="http://schemas.microsoft.com/office/drawing/2014/main" id="{878B85B2-9A4C-494E-8412-1D14D8B3A3E0}"/>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Compare the observed on-time percentages, then explain your choice and its risk.</a:t>
            </a:r>
          </a:p>
        </p:txBody>
      </p:sp>
      <p:sp>
        <p:nvSpPr>
          <p:cNvPr id="9"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C6a • CALCULATE + DECIDE</a:t>
            </a:r>
          </a:p>
        </p:txBody>
      </p:sp>
    </p:spTree>
    <p:extLst>
      <p:ext uri="{BB962C8B-B14F-4D97-AF65-F5344CB8AC3E}">
        <p14:creationId xmlns:p14="http://schemas.microsoft.com/office/powerpoint/2010/main" val="3281361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C6a: response scaffold</a:t>
            </a:r>
          </a:p>
        </p:txBody>
      </p:sp>
      <p:sp>
        <p:nvSpPr>
          <p:cNvPr id="3" name="body">
            <a:extLst>
              <a:ext uri="{FF2B5EF4-FFF2-40B4-BE49-F238E27FC236}">
                <a16:creationId xmlns:a16="http://schemas.microsoft.com/office/drawing/2014/main" id="{8C8E6E73-F1A1-454C-807E-B5DF26AD2C1A}"/>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Make a choice, support it, then explain how to manage the risk.</a:t>
            </a:r>
          </a:p>
        </p:txBody>
      </p:sp>
      <p:sp>
        <p:nvSpPr>
          <p:cNvPr id="4" name="body">
            <a:extLst>
              <a:ext uri="{FF2B5EF4-FFF2-40B4-BE49-F238E27FC236}">
                <a16:creationId xmlns:a16="http://schemas.microsoft.com/office/drawing/2014/main" id="{43FAF71D-87E8-47D9-8356-8585B19045E6}"/>
              </a:ext>
            </a:extLst>
          </p:cNvPr>
          <p:cNvSpPr>
            <a:spLocks noGrp="1"/>
          </p:cNvSpPr>
          <p:nvPr/>
        </p:nvSpPr>
        <p:spPr>
          <a:xfrm>
            <a:off x="523875" y="2667000"/>
            <a:ext cx="11144250" cy="400050"/>
          </a:xfrm>
          <a:prstGeom prst="rect">
            <a:avLst/>
          </a:prstGeom>
          <a:noFill/>
          <a:ln w="0">
            <a:noFill/>
          </a:ln>
        </p:spPr>
        <p:txBody>
          <a:bodyPr wrap="square" lIns="0" tIns="0" rIns="0" bIns="0" anchor="t">
            <a:noAutofit/>
          </a:bodyPr>
          <a:lstStyle/>
          <a:p>
            <a:pPr marL="0" marR="0" indent="0">
              <a:defRPr sz="2100" b="1">
                <a:solidFill>
                  <a:srgbClr val="111111"/>
                </a:solidFill>
                <a:latin typeface="Aptos"/>
                <a:ea typeface="Aptos"/>
                <a:cs typeface="Aptos"/>
              </a:defRPr>
            </a:pPr>
            <a:r>
              <a:rPr sz="2100" b="1">
                <a:solidFill>
                  <a:srgbClr val="111111"/>
                </a:solidFill>
                <a:latin typeface="Aptos"/>
                <a:ea typeface="Aptos"/>
                <a:cs typeface="Aptos"/>
              </a:rPr>
              <a:t>1. For an order needed within 48 hours, I would…</a:t>
            </a:r>
          </a:p>
        </p:txBody>
      </p:sp>
      <p:sp>
        <p:nvSpPr>
          <p:cNvPr id="5" name="body">
            <a:extLst>
              <a:ext uri="{FF2B5EF4-FFF2-40B4-BE49-F238E27FC236}">
                <a16:creationId xmlns:a16="http://schemas.microsoft.com/office/drawing/2014/main" id="{74F33D65-41CD-4627-B13D-0D5D6714117C}"/>
              </a:ext>
            </a:extLst>
          </p:cNvPr>
          <p:cNvSpPr>
            <a:spLocks noGrp="1"/>
          </p:cNvSpPr>
          <p:nvPr/>
        </p:nvSpPr>
        <p:spPr>
          <a:xfrm>
            <a:off x="762000" y="3000375"/>
            <a:ext cx="10858500" cy="238125"/>
          </a:xfrm>
          <a:prstGeom prst="rect">
            <a:avLst/>
          </a:prstGeom>
          <a:noFill/>
          <a:ln w="0">
            <a:noFill/>
          </a:ln>
        </p:spPr>
        <p:txBody>
          <a:bodyPr wrap="square" lIns="0" tIns="0" rIns="0" bIns="0" anchor="t">
            <a:noAutofit/>
          </a:bodyPr>
          <a:lstStyle/>
          <a:p>
            <a:pPr marL="0" marR="0" indent="0">
              <a:defRPr sz="1575" b="0">
                <a:solidFill>
                  <a:srgbClr val="4C5559"/>
                </a:solidFill>
                <a:latin typeface="Aptos"/>
                <a:ea typeface="Aptos"/>
                <a:cs typeface="Aptos"/>
              </a:defRPr>
            </a:pPr>
            <a:r>
              <a:rPr sz="1575" b="0">
                <a:solidFill>
                  <a:srgbClr val="4C5559"/>
                </a:solidFill>
                <a:latin typeface="Aptos"/>
                <a:ea typeface="Aptos"/>
                <a:cs typeface="Aptos"/>
              </a:rPr>
              <a:t>State your recommendation.</a:t>
            </a:r>
          </a:p>
        </p:txBody>
      </p:sp>
      <p:sp>
        <p:nvSpPr>
          <p:cNvPr id="6" name="Straight Connector 5">
            <a:extLst>
              <a:ext uri="{FF2B5EF4-FFF2-40B4-BE49-F238E27FC236}">
                <a16:creationId xmlns:a16="http://schemas.microsoft.com/office/drawing/2014/main" id="{5388D78B-6F86-4545-A8EC-0B01214DDA15}"/>
              </a:ext>
            </a:extLst>
          </p:cNvPr>
          <p:cNvSpPr>
            <a:spLocks noGrp="1"/>
          </p:cNvSpPr>
          <p:nvPr/>
        </p:nvSpPr>
        <p:spPr>
          <a:xfrm>
            <a:off x="762000" y="3400425"/>
            <a:ext cx="10858500" cy="0"/>
          </a:xfrm>
          <a:prstGeom prst="line">
            <a:avLst/>
          </a:prstGeom>
          <a:ln w="9525">
            <a:solidFill>
              <a:srgbClr val="9BA4A8"/>
            </a:solidFill>
          </a:ln>
        </p:spPr>
        <p:txBody>
          <a:bodyPr/>
          <a:lstStyle/>
          <a:p>
            <a:endParaRPr lang="en-US"/>
          </a:p>
        </p:txBody>
      </p:sp>
      <p:sp>
        <p:nvSpPr>
          <p:cNvPr id="7" name="body">
            <a:extLst>
              <a:ext uri="{FF2B5EF4-FFF2-40B4-BE49-F238E27FC236}">
                <a16:creationId xmlns:a16="http://schemas.microsoft.com/office/drawing/2014/main" id="{415F7A54-195A-4026-8057-6BD5536B3D2D}"/>
              </a:ext>
            </a:extLst>
          </p:cNvPr>
          <p:cNvSpPr>
            <a:spLocks noGrp="1"/>
          </p:cNvSpPr>
          <p:nvPr/>
        </p:nvSpPr>
        <p:spPr>
          <a:xfrm>
            <a:off x="523875" y="3486150"/>
            <a:ext cx="11144250" cy="400050"/>
          </a:xfrm>
          <a:prstGeom prst="rect">
            <a:avLst/>
          </a:prstGeom>
          <a:noFill/>
          <a:ln w="0">
            <a:noFill/>
          </a:ln>
        </p:spPr>
        <p:txBody>
          <a:bodyPr wrap="square" lIns="0" tIns="0" rIns="0" bIns="0" anchor="t">
            <a:noAutofit/>
          </a:bodyPr>
          <a:lstStyle/>
          <a:p>
            <a:pPr marL="0" marR="0" indent="0">
              <a:defRPr sz="2100" b="1">
                <a:solidFill>
                  <a:srgbClr val="111111"/>
                </a:solidFill>
                <a:latin typeface="Aptos"/>
                <a:ea typeface="Aptos"/>
                <a:cs typeface="Aptos"/>
              </a:defRPr>
            </a:pPr>
            <a:r>
              <a:rPr sz="2100" b="1">
                <a:solidFill>
                  <a:srgbClr val="111111"/>
                </a:solidFill>
                <a:latin typeface="Aptos"/>
                <a:ea typeface="Aptos"/>
                <a:cs typeface="Aptos"/>
              </a:rPr>
              <a:t>2. In the trial records…</a:t>
            </a:r>
          </a:p>
        </p:txBody>
      </p:sp>
      <p:sp>
        <p:nvSpPr>
          <p:cNvPr id="8" name="body">
            <a:extLst>
              <a:ext uri="{FF2B5EF4-FFF2-40B4-BE49-F238E27FC236}">
                <a16:creationId xmlns:a16="http://schemas.microsoft.com/office/drawing/2014/main" id="{BE247E96-EFDA-42BB-AE0A-4CCB540CF784}"/>
              </a:ext>
            </a:extLst>
          </p:cNvPr>
          <p:cNvSpPr>
            <a:spLocks noGrp="1"/>
          </p:cNvSpPr>
          <p:nvPr/>
        </p:nvSpPr>
        <p:spPr>
          <a:xfrm>
            <a:off x="762000" y="3819525"/>
            <a:ext cx="10858500" cy="238125"/>
          </a:xfrm>
          <a:prstGeom prst="rect">
            <a:avLst/>
          </a:prstGeom>
          <a:noFill/>
          <a:ln w="0">
            <a:noFill/>
          </a:ln>
        </p:spPr>
        <p:txBody>
          <a:bodyPr wrap="square" lIns="0" tIns="0" rIns="0" bIns="0" anchor="t">
            <a:noAutofit/>
          </a:bodyPr>
          <a:lstStyle/>
          <a:p>
            <a:pPr marL="0" marR="0" indent="0">
              <a:defRPr sz="1575" b="0">
                <a:solidFill>
                  <a:srgbClr val="4C5559"/>
                </a:solidFill>
                <a:latin typeface="Aptos"/>
                <a:ea typeface="Aptos"/>
                <a:cs typeface="Aptos"/>
              </a:defRPr>
            </a:pPr>
            <a:r>
              <a:rPr sz="1575" b="0">
                <a:solidFill>
                  <a:srgbClr val="4C5559"/>
                </a:solidFill>
                <a:latin typeface="Aptos"/>
                <a:ea typeface="Aptos"/>
                <a:cs typeface="Aptos"/>
              </a:rPr>
              <a:t>Compare both suppliers’ on-time counts and percentages.</a:t>
            </a:r>
          </a:p>
        </p:txBody>
      </p:sp>
      <p:sp>
        <p:nvSpPr>
          <p:cNvPr id="9" name="Straight Connector 8">
            <a:extLst>
              <a:ext uri="{FF2B5EF4-FFF2-40B4-BE49-F238E27FC236}">
                <a16:creationId xmlns:a16="http://schemas.microsoft.com/office/drawing/2014/main" id="{989D003E-A55D-482D-874D-7976E04A378D}"/>
              </a:ext>
            </a:extLst>
          </p:cNvPr>
          <p:cNvSpPr>
            <a:spLocks noGrp="1"/>
          </p:cNvSpPr>
          <p:nvPr/>
        </p:nvSpPr>
        <p:spPr>
          <a:xfrm>
            <a:off x="762000" y="4219575"/>
            <a:ext cx="10858500" cy="0"/>
          </a:xfrm>
          <a:prstGeom prst="line">
            <a:avLst/>
          </a:prstGeom>
          <a:ln w="9525">
            <a:solidFill>
              <a:srgbClr val="9BA4A8"/>
            </a:solidFill>
          </a:ln>
        </p:spPr>
        <p:txBody>
          <a:bodyPr/>
          <a:lstStyle/>
          <a:p>
            <a:endParaRPr lang="en-US"/>
          </a:p>
        </p:txBody>
      </p:sp>
      <p:sp>
        <p:nvSpPr>
          <p:cNvPr id="10" name="body">
            <a:extLst>
              <a:ext uri="{FF2B5EF4-FFF2-40B4-BE49-F238E27FC236}">
                <a16:creationId xmlns:a16="http://schemas.microsoft.com/office/drawing/2014/main" id="{17113C19-D3A3-44DD-9A02-434F6DEF4305}"/>
              </a:ext>
            </a:extLst>
          </p:cNvPr>
          <p:cNvSpPr>
            <a:spLocks noGrp="1"/>
          </p:cNvSpPr>
          <p:nvPr/>
        </p:nvSpPr>
        <p:spPr>
          <a:xfrm>
            <a:off x="523875" y="4305300"/>
            <a:ext cx="11144250" cy="400050"/>
          </a:xfrm>
          <a:prstGeom prst="rect">
            <a:avLst/>
          </a:prstGeom>
          <a:noFill/>
          <a:ln w="0">
            <a:noFill/>
          </a:ln>
        </p:spPr>
        <p:txBody>
          <a:bodyPr wrap="square" lIns="0" tIns="0" rIns="0" bIns="0" anchor="t">
            <a:noAutofit/>
          </a:bodyPr>
          <a:lstStyle/>
          <a:p>
            <a:pPr marL="0" marR="0" indent="0">
              <a:defRPr sz="2100" b="1">
                <a:solidFill>
                  <a:srgbClr val="111111"/>
                </a:solidFill>
                <a:latin typeface="Aptos"/>
                <a:ea typeface="Aptos"/>
                <a:cs typeface="Aptos"/>
              </a:defRPr>
            </a:pPr>
            <a:r>
              <a:rPr sz="2100" b="1">
                <a:solidFill>
                  <a:srgbClr val="111111"/>
                </a:solidFill>
                <a:latin typeface="Aptos"/>
                <a:ea typeface="Aptos"/>
                <a:cs typeface="Aptos"/>
              </a:rPr>
              <a:t>3. My choice still has a risk because…</a:t>
            </a:r>
          </a:p>
        </p:txBody>
      </p:sp>
      <p:sp>
        <p:nvSpPr>
          <p:cNvPr id="11" name="body">
            <a:extLst>
              <a:ext uri="{FF2B5EF4-FFF2-40B4-BE49-F238E27FC236}">
                <a16:creationId xmlns:a16="http://schemas.microsoft.com/office/drawing/2014/main" id="{B3BB0340-E76A-4F02-A90D-F7E2EEDD1504}"/>
              </a:ext>
            </a:extLst>
          </p:cNvPr>
          <p:cNvSpPr>
            <a:spLocks noGrp="1"/>
          </p:cNvSpPr>
          <p:nvPr/>
        </p:nvSpPr>
        <p:spPr>
          <a:xfrm>
            <a:off x="762000" y="4638675"/>
            <a:ext cx="10858500" cy="238125"/>
          </a:xfrm>
          <a:prstGeom prst="rect">
            <a:avLst/>
          </a:prstGeom>
          <a:noFill/>
          <a:ln w="0">
            <a:noFill/>
          </a:ln>
        </p:spPr>
        <p:txBody>
          <a:bodyPr wrap="square" lIns="0" tIns="0" rIns="0" bIns="0" anchor="t">
            <a:noAutofit/>
          </a:bodyPr>
          <a:lstStyle/>
          <a:p>
            <a:pPr marL="0" marR="0" indent="0">
              <a:defRPr sz="1575" b="0">
                <a:solidFill>
                  <a:srgbClr val="4C5559"/>
                </a:solidFill>
                <a:latin typeface="Aptos"/>
                <a:ea typeface="Aptos"/>
                <a:cs typeface="Aptos"/>
              </a:defRPr>
            </a:pPr>
            <a:r>
              <a:rPr sz="1575" b="0">
                <a:solidFill>
                  <a:srgbClr val="4C5559"/>
                </a:solidFill>
                <a:latin typeface="Aptos"/>
                <a:ea typeface="Aptos"/>
                <a:cs typeface="Aptos"/>
              </a:rPr>
              <a:t>Use the delivery evidence to explain what could go wrong.</a:t>
            </a:r>
          </a:p>
        </p:txBody>
      </p:sp>
      <p:sp>
        <p:nvSpPr>
          <p:cNvPr id="12" name="Straight Connector 11">
            <a:extLst>
              <a:ext uri="{FF2B5EF4-FFF2-40B4-BE49-F238E27FC236}">
                <a16:creationId xmlns:a16="http://schemas.microsoft.com/office/drawing/2014/main" id="{12C3DFAC-33EC-4A0F-B006-55C9D7B849BD}"/>
              </a:ext>
            </a:extLst>
          </p:cNvPr>
          <p:cNvSpPr>
            <a:spLocks noGrp="1"/>
          </p:cNvSpPr>
          <p:nvPr/>
        </p:nvSpPr>
        <p:spPr>
          <a:xfrm>
            <a:off x="762000" y="5038725"/>
            <a:ext cx="10858500" cy="0"/>
          </a:xfrm>
          <a:prstGeom prst="line">
            <a:avLst/>
          </a:prstGeom>
          <a:ln w="9525">
            <a:solidFill>
              <a:srgbClr val="9BA4A8"/>
            </a:solidFill>
          </a:ln>
        </p:spPr>
        <p:txBody>
          <a:bodyPr/>
          <a:lstStyle/>
          <a:p>
            <a:endParaRPr lang="en-US"/>
          </a:p>
        </p:txBody>
      </p:sp>
      <p:sp>
        <p:nvSpPr>
          <p:cNvPr id="13" name="body">
            <a:extLst>
              <a:ext uri="{FF2B5EF4-FFF2-40B4-BE49-F238E27FC236}">
                <a16:creationId xmlns:a16="http://schemas.microsoft.com/office/drawing/2014/main" id="{BB94A447-BF7B-4400-8A7D-8281070BD75C}"/>
              </a:ext>
            </a:extLst>
          </p:cNvPr>
          <p:cNvSpPr>
            <a:spLocks noGrp="1"/>
          </p:cNvSpPr>
          <p:nvPr/>
        </p:nvSpPr>
        <p:spPr>
          <a:xfrm>
            <a:off x="523875" y="5124450"/>
            <a:ext cx="11144250" cy="400050"/>
          </a:xfrm>
          <a:prstGeom prst="rect">
            <a:avLst/>
          </a:prstGeom>
          <a:noFill/>
          <a:ln w="0">
            <a:noFill/>
          </a:ln>
        </p:spPr>
        <p:txBody>
          <a:bodyPr wrap="square" lIns="0" tIns="0" rIns="0" bIns="0" anchor="t">
            <a:noAutofit/>
          </a:bodyPr>
          <a:lstStyle/>
          <a:p>
            <a:pPr marL="0" marR="0" indent="0">
              <a:defRPr sz="2100" b="1">
                <a:solidFill>
                  <a:srgbClr val="111111"/>
                </a:solidFill>
                <a:latin typeface="Aptos"/>
                <a:ea typeface="Aptos"/>
                <a:cs typeface="Aptos"/>
              </a:defRPr>
            </a:pPr>
            <a:r>
              <a:rPr sz="2100" b="1">
                <a:solidFill>
                  <a:srgbClr val="111111"/>
                </a:solidFill>
                <a:latin typeface="Aptos"/>
                <a:ea typeface="Aptos"/>
                <a:cs typeface="Aptos"/>
              </a:rPr>
              <a:t>4. The print shop could reduce this risk by…</a:t>
            </a:r>
          </a:p>
        </p:txBody>
      </p:sp>
      <p:sp>
        <p:nvSpPr>
          <p:cNvPr id="14" name="body">
            <a:extLst>
              <a:ext uri="{FF2B5EF4-FFF2-40B4-BE49-F238E27FC236}">
                <a16:creationId xmlns:a16="http://schemas.microsoft.com/office/drawing/2014/main" id="{2C2AFA92-5BF0-419D-9A7B-CEB4F446EDBD}"/>
              </a:ext>
            </a:extLst>
          </p:cNvPr>
          <p:cNvSpPr>
            <a:spLocks noGrp="1"/>
          </p:cNvSpPr>
          <p:nvPr/>
        </p:nvSpPr>
        <p:spPr>
          <a:xfrm>
            <a:off x="762000" y="5457825"/>
            <a:ext cx="10858500" cy="238125"/>
          </a:xfrm>
          <a:prstGeom prst="rect">
            <a:avLst/>
          </a:prstGeom>
          <a:noFill/>
          <a:ln w="0">
            <a:noFill/>
          </a:ln>
        </p:spPr>
        <p:txBody>
          <a:bodyPr wrap="square" lIns="0" tIns="0" rIns="0" bIns="0" anchor="t">
            <a:noAutofit/>
          </a:bodyPr>
          <a:lstStyle/>
          <a:p>
            <a:pPr marL="0" marR="0" indent="0">
              <a:defRPr sz="1575" b="0">
                <a:solidFill>
                  <a:srgbClr val="4C5559"/>
                </a:solidFill>
                <a:latin typeface="Aptos"/>
                <a:ea typeface="Aptos"/>
                <a:cs typeface="Aptos"/>
              </a:defRPr>
            </a:pPr>
            <a:r>
              <a:rPr sz="1575" b="0">
                <a:solidFill>
                  <a:srgbClr val="4C5559"/>
                </a:solidFill>
                <a:latin typeface="Aptos"/>
                <a:ea typeface="Aptos"/>
                <a:cs typeface="Aptos"/>
              </a:rPr>
              <a:t>Suggest a practical action for this urgent order.</a:t>
            </a:r>
          </a:p>
        </p:txBody>
      </p:sp>
      <p:sp>
        <p:nvSpPr>
          <p:cNvPr id="15" name="Straight Connector 14">
            <a:extLst>
              <a:ext uri="{FF2B5EF4-FFF2-40B4-BE49-F238E27FC236}">
                <a16:creationId xmlns:a16="http://schemas.microsoft.com/office/drawing/2014/main" id="{E40B7F5C-2695-4D14-91FD-0A6B1F286022}"/>
              </a:ext>
            </a:extLst>
          </p:cNvPr>
          <p:cNvSpPr>
            <a:spLocks noGrp="1"/>
          </p:cNvSpPr>
          <p:nvPr/>
        </p:nvSpPr>
        <p:spPr>
          <a:xfrm>
            <a:off x="762000" y="5857875"/>
            <a:ext cx="10858500" cy="0"/>
          </a:xfrm>
          <a:prstGeom prst="line">
            <a:avLst/>
          </a:prstGeom>
          <a:ln w="9525">
            <a:solidFill>
              <a:srgbClr val="9BA4A8"/>
            </a:solidFill>
          </a:ln>
        </p:spPr>
        <p:txBody>
          <a:bodyPr/>
          <a:lstStyle/>
          <a:p>
            <a:endParaRPr lang="en-US"/>
          </a:p>
        </p:txBody>
      </p:sp>
      <p:sp>
        <p:nvSpPr>
          <p:cNvPr id="16" name="body">
            <a:extLst>
              <a:ext uri="{FF2B5EF4-FFF2-40B4-BE49-F238E27FC236}">
                <a16:creationId xmlns:a16="http://schemas.microsoft.com/office/drawing/2014/main" id="{80850AC9-A744-45B2-9976-B3579C912D0C}"/>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The records provide evidence. They do not guarantee the next delivery.</a:t>
            </a:r>
          </a:p>
        </p:txBody>
      </p:sp>
      <p:sp>
        <p:nvSpPr>
          <p:cNvPr id="17"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C6a • WRITING FRAME</a:t>
            </a:r>
          </a:p>
        </p:txBody>
      </p:sp>
    </p:spTree>
    <p:extLst>
      <p:ext uri="{BB962C8B-B14F-4D97-AF65-F5344CB8AC3E}">
        <p14:creationId xmlns:p14="http://schemas.microsoft.com/office/powerpoint/2010/main" val="32813612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C6a: deadline results</a:t>
            </a:r>
          </a:p>
        </p:txBody>
      </p:sp>
      <p:sp>
        <p:nvSpPr>
          <p:cNvPr id="3" name="body">
            <a:extLst>
              <a:ext uri="{FF2B5EF4-FFF2-40B4-BE49-F238E27FC236}">
                <a16:creationId xmlns:a16="http://schemas.microsoft.com/office/drawing/2014/main" id="{CFCD63BD-F784-4FFE-B9BF-BF9D0E735356}"/>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Supplier A met the 48-hour deadline more often in these records.</a:t>
            </a:r>
          </a:p>
        </p:txBody>
      </p:sp>
      <p:graphicFrame>
        <p:nvGraphicFramePr>
          <p:cNvPr id="4" name="Table 3"/>
          <p:cNvGraphicFramePr/>
          <p:nvPr/>
        </p:nvGraphicFramePr>
        <p:xfrm>
          <a:off x="523875" y="2809875"/>
          <a:ext cx="11144250" cy="2286000"/>
        </p:xfrm>
        <a:graphic>
          <a:graphicData uri="http://schemas.openxmlformats.org/drawingml/2006/table">
            <a:tbl>
              <a:tblPr/>
              <a:tblGrid>
                <a:gridCol w="5143500">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gridCol w="3000375">
                  <a:extLst>
                    <a:ext uri="{9D8B030D-6E8A-4147-A177-3AD203B41FA5}">
                      <a16:colId xmlns:a16="http://schemas.microsoft.com/office/drawing/2014/main" val="20002"/>
                    </a:ext>
                  </a:extLst>
                </a:gridCol>
              </a:tblGrid>
              <a:tr h="571500">
                <a:tc>
                  <a:txBody>
                    <a:bodyPr/>
                    <a:lstStyle/>
                    <a:p>
                      <a:pPr marL="0" marR="0" indent="0">
                        <a:lnSpc>
                          <a:spcPct val="105000"/>
                        </a:lnSpc>
                        <a:spcBef>
                          <a:spcPts val="0"/>
                        </a:spcBef>
                        <a:spcAft>
                          <a:spcPts val="0"/>
                        </a:spcAft>
                      </a:pPr>
                      <a:r>
                        <a:rPr sz="2025" b="1">
                          <a:solidFill>
                            <a:srgbClr val="FFFFFF"/>
                          </a:solidFill>
                          <a:latin typeface="Aptos"/>
                          <a:ea typeface="Aptos"/>
                          <a:cs typeface="Aptos"/>
                        </a:rPr>
                        <a:t>Recorded delivery time</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Supplier A</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Supplier B</a:t>
                      </a:r>
                    </a:p>
                  </a:txBody>
                  <a:tcPr marL="76200" marR="57150" marT="19050" marB="19050" anchor="ctr">
                    <a:solidFill>
                      <a:srgbClr val="D6171D"/>
                    </a:solidFill>
                  </a:tcPr>
                </a:tc>
                <a:extLst>
                  <a:ext uri="{0D108BD9-81ED-4DB2-BD59-A6C34878D82A}">
                    <a16:rowId xmlns:a16="http://schemas.microsoft.com/office/drawing/2014/main" val="10000"/>
                  </a:ext>
                </a:extLst>
              </a:tr>
              <a:tr h="571500">
                <a:tc>
                  <a:txBody>
                    <a:bodyPr/>
                    <a:lstStyle/>
                    <a:p>
                      <a:pPr marL="0" marR="0" indent="0">
                        <a:lnSpc>
                          <a:spcPct val="105000"/>
                        </a:lnSpc>
                        <a:spcBef>
                          <a:spcPts val="0"/>
                        </a:spcBef>
                        <a:spcAft>
                          <a:spcPts val="0"/>
                        </a:spcAft>
                      </a:pPr>
                      <a:r>
                        <a:rPr sz="2100" b="0">
                          <a:solidFill>
                            <a:srgbClr val="111111"/>
                          </a:solidFill>
                          <a:latin typeface="Aptos"/>
                          <a:ea typeface="Aptos"/>
                          <a:cs typeface="Aptos"/>
                        </a:rPr>
                        <a:t>48 hours or less</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18 of 30</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13 of 30</a:t>
                      </a:r>
                    </a:p>
                  </a:txBody>
                  <a:tcPr marL="76200" marR="57150" marT="19050" marB="19050" anchor="ctr">
                    <a:solidFill>
                      <a:srgbClr val="FFFFFF"/>
                    </a:solidFill>
                  </a:tcPr>
                </a:tc>
                <a:extLst>
                  <a:ext uri="{0D108BD9-81ED-4DB2-BD59-A6C34878D82A}">
                    <a16:rowId xmlns:a16="http://schemas.microsoft.com/office/drawing/2014/main" val="10001"/>
                  </a:ext>
                </a:extLst>
              </a:tr>
              <a:tr h="571500">
                <a:tc>
                  <a:txBody>
                    <a:bodyPr/>
                    <a:lstStyle/>
                    <a:p>
                      <a:pPr marL="0" marR="0" indent="0">
                        <a:lnSpc>
                          <a:spcPct val="105000"/>
                        </a:lnSpc>
                        <a:spcBef>
                          <a:spcPts val="0"/>
                        </a:spcBef>
                        <a:spcAft>
                          <a:spcPts val="0"/>
                        </a:spcAft>
                      </a:pPr>
                      <a:r>
                        <a:rPr sz="2100" b="0">
                          <a:solidFill>
                            <a:srgbClr val="111111"/>
                          </a:solidFill>
                          <a:latin typeface="Aptos"/>
                          <a:ea typeface="Aptos"/>
                          <a:cs typeface="Aptos"/>
                        </a:rPr>
                        <a:t>Percentage within deadline</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60%</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43.33%</a:t>
                      </a:r>
                    </a:p>
                  </a:txBody>
                  <a:tcPr marL="76200" marR="57150" marT="19050" marB="19050" anchor="ctr">
                    <a:solidFill>
                      <a:srgbClr val="EFF8FF"/>
                    </a:solidFill>
                  </a:tcPr>
                </a:tc>
                <a:extLst>
                  <a:ext uri="{0D108BD9-81ED-4DB2-BD59-A6C34878D82A}">
                    <a16:rowId xmlns:a16="http://schemas.microsoft.com/office/drawing/2014/main" val="10002"/>
                  </a:ext>
                </a:extLst>
              </a:tr>
              <a:tr h="571500">
                <a:tc>
                  <a:txBody>
                    <a:bodyPr/>
                    <a:lstStyle/>
                    <a:p>
                      <a:pPr marL="0" marR="0" indent="0">
                        <a:lnSpc>
                          <a:spcPct val="105000"/>
                        </a:lnSpc>
                        <a:spcBef>
                          <a:spcPts val="0"/>
                        </a:spcBef>
                        <a:spcAft>
                          <a:spcPts val="0"/>
                        </a:spcAft>
                      </a:pPr>
                      <a:r>
                        <a:rPr sz="2100" b="0">
                          <a:solidFill>
                            <a:srgbClr val="111111"/>
                          </a:solidFill>
                          <a:latin typeface="Aptos"/>
                          <a:ea typeface="Aptos"/>
                          <a:cs typeface="Aptos"/>
                        </a:rPr>
                        <a:t>Over 48 hours</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12 of 30</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17 of 30</a:t>
                      </a:r>
                    </a:p>
                  </a:txBody>
                  <a:tcPr marL="76200" marR="57150"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5" name="body">
            <a:extLst>
              <a:ext uri="{FF2B5EF4-FFF2-40B4-BE49-F238E27FC236}">
                <a16:creationId xmlns:a16="http://schemas.microsoft.com/office/drawing/2014/main" id="{E1FAF54E-6B73-4AB8-A46E-6CFA6DC3E978}"/>
              </a:ext>
            </a:extLst>
          </p:cNvPr>
          <p:cNvSpPr>
            <a:spLocks noGrp="1"/>
          </p:cNvSpPr>
          <p:nvPr/>
        </p:nvSpPr>
        <p:spPr>
          <a:xfrm>
            <a:off x="523875" y="5438775"/>
            <a:ext cx="11144250" cy="457200"/>
          </a:xfrm>
          <a:prstGeom prst="rect">
            <a:avLst/>
          </a:prstGeom>
          <a:noFill/>
          <a:ln w="0">
            <a:noFill/>
          </a:ln>
        </p:spPr>
        <p:txBody>
          <a:bodyPr wrap="square" lIns="0" tIns="0" rIns="0" bIns="0" anchor="t">
            <a:noAutofit/>
          </a:bodyPr>
          <a:lstStyle/>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A looks better for this deadline, but 12 of its 30 deliveries were late.</a:t>
            </a:r>
          </a:p>
        </p:txBody>
      </p:sp>
      <p:sp>
        <p:nvSpPr>
          <p:cNvPr id="6" name="body">
            <a:extLst>
              <a:ext uri="{FF2B5EF4-FFF2-40B4-BE49-F238E27FC236}">
                <a16:creationId xmlns:a16="http://schemas.microsoft.com/office/drawing/2014/main" id="{EEECA0A2-0222-404B-BBB0-750C2AD6F22A}"/>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For a critical job, seek a confirmed urgent service or a backup source of paper.</a:t>
            </a:r>
          </a:p>
        </p:txBody>
      </p:sp>
      <p:sp>
        <p:nvSpPr>
          <p:cNvPr id="7"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C6a • CHECKPOINT</a:t>
            </a:r>
          </a:p>
        </p:txBody>
      </p:sp>
    </p:spTree>
    <p:extLst>
      <p:ext uri="{BB962C8B-B14F-4D97-AF65-F5344CB8AC3E}">
        <p14:creationId xmlns:p14="http://schemas.microsoft.com/office/powerpoint/2010/main" val="32813612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C6b: six more hours</a:t>
            </a:r>
          </a:p>
        </p:txBody>
      </p:sp>
      <p:sp>
        <p:nvSpPr>
          <p:cNvPr id="3" name="body">
            <a:extLst>
              <a:ext uri="{FF2B5EF4-FFF2-40B4-BE49-F238E27FC236}">
                <a16:creationId xmlns:a16="http://schemas.microsoft.com/office/drawing/2014/main" id="{24C06BBD-FA58-42EF-AF1E-08A6DD1EA4BE}"/>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The job starts six hours later. The shop now has 54 hours for delivery.</a:t>
            </a:r>
          </a:p>
        </p:txBody>
      </p:sp>
      <p:sp>
        <p:nvSpPr>
          <p:cNvPr id="4" name="body">
            <a:extLst>
              <a:ext uri="{FF2B5EF4-FFF2-40B4-BE49-F238E27FC236}">
                <a16:creationId xmlns:a16="http://schemas.microsoft.com/office/drawing/2014/main" id="{4354D92A-41CA-4B4C-B047-E7F5A3AE7DA2}"/>
              </a:ext>
            </a:extLst>
          </p:cNvPr>
          <p:cNvSpPr>
            <a:spLocks noGrp="1"/>
          </p:cNvSpPr>
          <p:nvPr/>
        </p:nvSpPr>
        <p:spPr>
          <a:xfrm>
            <a:off x="523875" y="2981325"/>
            <a:ext cx="11144250" cy="714375"/>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1. Count each supplier’s deliveries of 54 hours or less.</a:t>
            </a:r>
          </a:p>
        </p:txBody>
      </p:sp>
      <p:sp>
        <p:nvSpPr>
          <p:cNvPr id="5" name="body">
            <a:extLst>
              <a:ext uri="{FF2B5EF4-FFF2-40B4-BE49-F238E27FC236}">
                <a16:creationId xmlns:a16="http://schemas.microsoft.com/office/drawing/2014/main" id="{3EC8372B-657A-4980-95F6-961F8D4865E8}"/>
              </a:ext>
            </a:extLst>
          </p:cNvPr>
          <p:cNvSpPr>
            <a:spLocks noGrp="1"/>
          </p:cNvSpPr>
          <p:nvPr/>
        </p:nvSpPr>
        <p:spPr>
          <a:xfrm>
            <a:off x="523875" y="3790950"/>
            <a:ext cx="11144250" cy="714375"/>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2. Calculate both percentages again.</a:t>
            </a:r>
          </a:p>
        </p:txBody>
      </p:sp>
      <p:sp>
        <p:nvSpPr>
          <p:cNvPr id="6" name="body">
            <a:extLst>
              <a:ext uri="{FF2B5EF4-FFF2-40B4-BE49-F238E27FC236}">
                <a16:creationId xmlns:a16="http://schemas.microsoft.com/office/drawing/2014/main" id="{6A60D1CB-BCF3-4108-9845-AB2B44D756B8}"/>
              </a:ext>
            </a:extLst>
          </p:cNvPr>
          <p:cNvSpPr>
            <a:spLocks noGrp="1"/>
          </p:cNvSpPr>
          <p:nvPr/>
        </p:nvSpPr>
        <p:spPr>
          <a:xfrm>
            <a:off x="523875" y="4600575"/>
            <a:ext cx="11144250" cy="714375"/>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3. Decide whether your recommendation should change.</a:t>
            </a:r>
          </a:p>
        </p:txBody>
      </p:sp>
      <p:sp>
        <p:nvSpPr>
          <p:cNvPr id="7" name="body">
            <a:extLst>
              <a:ext uri="{FF2B5EF4-FFF2-40B4-BE49-F238E27FC236}">
                <a16:creationId xmlns:a16="http://schemas.microsoft.com/office/drawing/2014/main" id="{7A7A7B4B-CBC9-4167-9087-EEF44DF9F51B}"/>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Keep the order time the same. Only the delivery deadline has changed.</a:t>
            </a:r>
          </a:p>
        </p:txBody>
      </p:sp>
      <p:sp>
        <p:nvSpPr>
          <p:cNvPr id="8"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C6b • RECALCULATE</a:t>
            </a:r>
          </a:p>
        </p:txBody>
      </p:sp>
    </p:spTree>
    <p:extLst>
      <p:ext uri="{BB962C8B-B14F-4D97-AF65-F5344CB8AC3E}">
        <p14:creationId xmlns:p14="http://schemas.microsoft.com/office/powerpoint/2010/main" val="3281361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C6b: revised-decision scaffold</a:t>
            </a:r>
          </a:p>
        </p:txBody>
      </p:sp>
      <p:sp>
        <p:nvSpPr>
          <p:cNvPr id="3" name="body">
            <a:extLst>
              <a:ext uri="{FF2B5EF4-FFF2-40B4-BE49-F238E27FC236}">
                <a16:creationId xmlns:a16="http://schemas.microsoft.com/office/drawing/2014/main" id="{794CA69F-0120-4C7E-9090-562EFE8125F3}"/>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Explain whether your recommendation changes and why.</a:t>
            </a:r>
          </a:p>
        </p:txBody>
      </p:sp>
      <p:sp>
        <p:nvSpPr>
          <p:cNvPr id="4" name="body">
            <a:extLst>
              <a:ext uri="{FF2B5EF4-FFF2-40B4-BE49-F238E27FC236}">
                <a16:creationId xmlns:a16="http://schemas.microsoft.com/office/drawing/2014/main" id="{8DD0CC48-95A5-4BDF-9E4A-2C2F817B279B}"/>
              </a:ext>
            </a:extLst>
          </p:cNvPr>
          <p:cNvSpPr>
            <a:spLocks noGrp="1"/>
          </p:cNvSpPr>
          <p:nvPr/>
        </p:nvSpPr>
        <p:spPr>
          <a:xfrm>
            <a:off x="523875" y="2667000"/>
            <a:ext cx="11144250" cy="400050"/>
          </a:xfrm>
          <a:prstGeom prst="rect">
            <a:avLst/>
          </a:prstGeom>
          <a:noFill/>
          <a:ln w="0">
            <a:noFill/>
          </a:ln>
        </p:spPr>
        <p:txBody>
          <a:bodyPr wrap="square" lIns="0" tIns="0" rIns="0" bIns="0" anchor="t">
            <a:noAutofit/>
          </a:bodyPr>
          <a:lstStyle/>
          <a:p>
            <a:pPr marL="0" marR="0" indent="0">
              <a:defRPr sz="2100" b="1">
                <a:solidFill>
                  <a:srgbClr val="111111"/>
                </a:solidFill>
                <a:latin typeface="Aptos"/>
                <a:ea typeface="Aptos"/>
                <a:cs typeface="Aptos"/>
              </a:defRPr>
            </a:pPr>
            <a:r>
              <a:rPr sz="2100" b="1">
                <a:solidFill>
                  <a:srgbClr val="111111"/>
                </a:solidFill>
                <a:latin typeface="Aptos"/>
                <a:ea typeface="Aptos"/>
                <a:cs typeface="Aptos"/>
              </a:rPr>
              <a:t>1. With a 54-hour deadline, my recommendation is…</a:t>
            </a:r>
          </a:p>
        </p:txBody>
      </p:sp>
      <p:sp>
        <p:nvSpPr>
          <p:cNvPr id="5" name="body">
            <a:extLst>
              <a:ext uri="{FF2B5EF4-FFF2-40B4-BE49-F238E27FC236}">
                <a16:creationId xmlns:a16="http://schemas.microsoft.com/office/drawing/2014/main" id="{2DF296D7-9238-4DA7-87FD-9AB330DD142E}"/>
              </a:ext>
            </a:extLst>
          </p:cNvPr>
          <p:cNvSpPr>
            <a:spLocks noGrp="1"/>
          </p:cNvSpPr>
          <p:nvPr/>
        </p:nvSpPr>
        <p:spPr>
          <a:xfrm>
            <a:off x="762000" y="3000375"/>
            <a:ext cx="10858500" cy="238125"/>
          </a:xfrm>
          <a:prstGeom prst="rect">
            <a:avLst/>
          </a:prstGeom>
          <a:noFill/>
          <a:ln w="0">
            <a:noFill/>
          </a:ln>
        </p:spPr>
        <p:txBody>
          <a:bodyPr wrap="square" lIns="0" tIns="0" rIns="0" bIns="0" anchor="t">
            <a:noAutofit/>
          </a:bodyPr>
          <a:lstStyle/>
          <a:p>
            <a:pPr marL="0" marR="0" indent="0">
              <a:defRPr sz="1575" b="0">
                <a:solidFill>
                  <a:srgbClr val="4C5559"/>
                </a:solidFill>
                <a:latin typeface="Aptos"/>
                <a:ea typeface="Aptos"/>
                <a:cs typeface="Aptos"/>
              </a:defRPr>
            </a:pPr>
            <a:r>
              <a:rPr sz="1575" b="0">
                <a:solidFill>
                  <a:srgbClr val="4C5559"/>
                </a:solidFill>
                <a:latin typeface="Aptos"/>
                <a:ea typeface="Aptos"/>
                <a:cs typeface="Aptos"/>
              </a:rPr>
              <a:t>State your decision for the new deadline.</a:t>
            </a:r>
          </a:p>
        </p:txBody>
      </p:sp>
      <p:sp>
        <p:nvSpPr>
          <p:cNvPr id="6" name="Straight Connector 5">
            <a:extLst>
              <a:ext uri="{FF2B5EF4-FFF2-40B4-BE49-F238E27FC236}">
                <a16:creationId xmlns:a16="http://schemas.microsoft.com/office/drawing/2014/main" id="{06E7081B-D931-48D7-91C2-6A75DEEB445A}"/>
              </a:ext>
            </a:extLst>
          </p:cNvPr>
          <p:cNvSpPr>
            <a:spLocks noGrp="1"/>
          </p:cNvSpPr>
          <p:nvPr/>
        </p:nvSpPr>
        <p:spPr>
          <a:xfrm>
            <a:off x="762000" y="3609975"/>
            <a:ext cx="10858500" cy="0"/>
          </a:xfrm>
          <a:prstGeom prst="line">
            <a:avLst/>
          </a:prstGeom>
          <a:ln w="9525">
            <a:solidFill>
              <a:srgbClr val="9BA4A8"/>
            </a:solidFill>
          </a:ln>
        </p:spPr>
        <p:txBody>
          <a:bodyPr/>
          <a:lstStyle/>
          <a:p>
            <a:endParaRPr lang="en-US"/>
          </a:p>
        </p:txBody>
      </p:sp>
      <p:sp>
        <p:nvSpPr>
          <p:cNvPr id="7" name="body">
            <a:extLst>
              <a:ext uri="{FF2B5EF4-FFF2-40B4-BE49-F238E27FC236}">
                <a16:creationId xmlns:a16="http://schemas.microsoft.com/office/drawing/2014/main" id="{8548DEE8-AD8E-4FC1-A280-FBEC2661DC5D}"/>
              </a:ext>
            </a:extLst>
          </p:cNvPr>
          <p:cNvSpPr>
            <a:spLocks noGrp="1"/>
          </p:cNvSpPr>
          <p:nvPr/>
        </p:nvSpPr>
        <p:spPr>
          <a:xfrm>
            <a:off x="523875" y="3695700"/>
            <a:ext cx="11144250" cy="400050"/>
          </a:xfrm>
          <a:prstGeom prst="rect">
            <a:avLst/>
          </a:prstGeom>
          <a:noFill/>
          <a:ln w="0">
            <a:noFill/>
          </a:ln>
        </p:spPr>
        <p:txBody>
          <a:bodyPr wrap="square" lIns="0" tIns="0" rIns="0" bIns="0" anchor="t">
            <a:noAutofit/>
          </a:bodyPr>
          <a:lstStyle/>
          <a:p>
            <a:pPr marL="0" marR="0" indent="0">
              <a:defRPr sz="2100" b="1">
                <a:solidFill>
                  <a:srgbClr val="111111"/>
                </a:solidFill>
                <a:latin typeface="Aptos"/>
                <a:ea typeface="Aptos"/>
                <a:cs typeface="Aptos"/>
              </a:defRPr>
            </a:pPr>
            <a:r>
              <a:rPr sz="2100" b="1">
                <a:solidFill>
                  <a:srgbClr val="111111"/>
                </a:solidFill>
                <a:latin typeface="Aptos"/>
                <a:ea typeface="Aptos"/>
                <a:cs typeface="Aptos"/>
              </a:rPr>
              <a:t>2. Compared with the 48-hour deadline, the records now show…</a:t>
            </a:r>
          </a:p>
        </p:txBody>
      </p:sp>
      <p:sp>
        <p:nvSpPr>
          <p:cNvPr id="8" name="body">
            <a:extLst>
              <a:ext uri="{FF2B5EF4-FFF2-40B4-BE49-F238E27FC236}">
                <a16:creationId xmlns:a16="http://schemas.microsoft.com/office/drawing/2014/main" id="{B6AA326F-0C04-40BE-A127-241010E77417}"/>
              </a:ext>
            </a:extLst>
          </p:cNvPr>
          <p:cNvSpPr>
            <a:spLocks noGrp="1"/>
          </p:cNvSpPr>
          <p:nvPr/>
        </p:nvSpPr>
        <p:spPr>
          <a:xfrm>
            <a:off x="762000" y="4029075"/>
            <a:ext cx="10858500" cy="238125"/>
          </a:xfrm>
          <a:prstGeom prst="rect">
            <a:avLst/>
          </a:prstGeom>
          <a:noFill/>
          <a:ln w="0">
            <a:noFill/>
          </a:ln>
        </p:spPr>
        <p:txBody>
          <a:bodyPr wrap="square" lIns="0" tIns="0" rIns="0" bIns="0" anchor="t">
            <a:noAutofit/>
          </a:bodyPr>
          <a:lstStyle/>
          <a:p>
            <a:pPr marL="0" marR="0" indent="0">
              <a:defRPr sz="1575" b="0">
                <a:solidFill>
                  <a:srgbClr val="4C5559"/>
                </a:solidFill>
                <a:latin typeface="Aptos"/>
                <a:ea typeface="Aptos"/>
                <a:cs typeface="Aptos"/>
              </a:defRPr>
            </a:pPr>
            <a:r>
              <a:rPr sz="1575" b="0">
                <a:solidFill>
                  <a:srgbClr val="4C5559"/>
                </a:solidFill>
                <a:latin typeface="Aptos"/>
                <a:ea typeface="Aptos"/>
                <a:cs typeface="Aptos"/>
              </a:rPr>
              <a:t>Use both suppliers’ percentages. Explain the comparison.</a:t>
            </a:r>
          </a:p>
        </p:txBody>
      </p:sp>
      <p:sp>
        <p:nvSpPr>
          <p:cNvPr id="9" name="Straight Connector 8">
            <a:extLst>
              <a:ext uri="{FF2B5EF4-FFF2-40B4-BE49-F238E27FC236}">
                <a16:creationId xmlns:a16="http://schemas.microsoft.com/office/drawing/2014/main" id="{16D691FD-1F33-45BF-9597-1A4889F86C65}"/>
              </a:ext>
            </a:extLst>
          </p:cNvPr>
          <p:cNvSpPr>
            <a:spLocks noGrp="1"/>
          </p:cNvSpPr>
          <p:nvPr/>
        </p:nvSpPr>
        <p:spPr>
          <a:xfrm>
            <a:off x="762000" y="4638675"/>
            <a:ext cx="10858500" cy="0"/>
          </a:xfrm>
          <a:prstGeom prst="line">
            <a:avLst/>
          </a:prstGeom>
          <a:ln w="9525">
            <a:solidFill>
              <a:srgbClr val="9BA4A8"/>
            </a:solidFill>
          </a:ln>
        </p:spPr>
        <p:txBody>
          <a:bodyPr/>
          <a:lstStyle/>
          <a:p>
            <a:endParaRPr lang="en-US"/>
          </a:p>
        </p:txBody>
      </p:sp>
      <p:sp>
        <p:nvSpPr>
          <p:cNvPr id="10" name="body">
            <a:extLst>
              <a:ext uri="{FF2B5EF4-FFF2-40B4-BE49-F238E27FC236}">
                <a16:creationId xmlns:a16="http://schemas.microsoft.com/office/drawing/2014/main" id="{E295C7FA-EE0E-44CA-BE4B-6D835127AB51}"/>
              </a:ext>
            </a:extLst>
          </p:cNvPr>
          <p:cNvSpPr>
            <a:spLocks noGrp="1"/>
          </p:cNvSpPr>
          <p:nvPr/>
        </p:nvSpPr>
        <p:spPr>
          <a:xfrm>
            <a:off x="523875" y="4724400"/>
            <a:ext cx="11144250" cy="400050"/>
          </a:xfrm>
          <a:prstGeom prst="rect">
            <a:avLst/>
          </a:prstGeom>
          <a:noFill/>
          <a:ln w="0">
            <a:noFill/>
          </a:ln>
        </p:spPr>
        <p:txBody>
          <a:bodyPr wrap="square" lIns="0" tIns="0" rIns="0" bIns="0" anchor="t">
            <a:noAutofit/>
          </a:bodyPr>
          <a:lstStyle/>
          <a:p>
            <a:pPr marL="0" marR="0" indent="0">
              <a:defRPr sz="2100" b="1">
                <a:solidFill>
                  <a:srgbClr val="111111"/>
                </a:solidFill>
                <a:latin typeface="Aptos"/>
                <a:ea typeface="Aptos"/>
                <a:cs typeface="Aptos"/>
              </a:defRPr>
            </a:pPr>
            <a:r>
              <a:rPr sz="2100" b="1">
                <a:solidFill>
                  <a:srgbClr val="111111"/>
                </a:solidFill>
                <a:latin typeface="Aptos"/>
                <a:ea typeface="Aptos"/>
                <a:cs typeface="Aptos"/>
              </a:rPr>
              <a:t>3. My recommendation changes / stays the same because…</a:t>
            </a:r>
          </a:p>
        </p:txBody>
      </p:sp>
      <p:sp>
        <p:nvSpPr>
          <p:cNvPr id="11" name="body">
            <a:extLst>
              <a:ext uri="{FF2B5EF4-FFF2-40B4-BE49-F238E27FC236}">
                <a16:creationId xmlns:a16="http://schemas.microsoft.com/office/drawing/2014/main" id="{996C315D-3724-4857-987B-DDDBB8FF39A3}"/>
              </a:ext>
            </a:extLst>
          </p:cNvPr>
          <p:cNvSpPr>
            <a:spLocks noGrp="1"/>
          </p:cNvSpPr>
          <p:nvPr/>
        </p:nvSpPr>
        <p:spPr>
          <a:xfrm>
            <a:off x="762000" y="5057775"/>
            <a:ext cx="10858500" cy="238125"/>
          </a:xfrm>
          <a:prstGeom prst="rect">
            <a:avLst/>
          </a:prstGeom>
          <a:noFill/>
          <a:ln w="0">
            <a:noFill/>
          </a:ln>
        </p:spPr>
        <p:txBody>
          <a:bodyPr wrap="square" lIns="0" tIns="0" rIns="0" bIns="0" anchor="t">
            <a:noAutofit/>
          </a:bodyPr>
          <a:lstStyle/>
          <a:p>
            <a:pPr marL="0" marR="0" indent="0">
              <a:defRPr sz="1575" b="0">
                <a:solidFill>
                  <a:srgbClr val="4C5559"/>
                </a:solidFill>
                <a:latin typeface="Aptos"/>
                <a:ea typeface="Aptos"/>
                <a:cs typeface="Aptos"/>
              </a:defRPr>
            </a:pPr>
            <a:r>
              <a:rPr sz="1575" b="0">
                <a:solidFill>
                  <a:srgbClr val="4C5559"/>
                </a:solidFill>
                <a:latin typeface="Aptos"/>
                <a:ea typeface="Aptos"/>
                <a:cs typeface="Aptos"/>
              </a:rPr>
              <a:t>Explain why the extra six hours matter for this decision.</a:t>
            </a:r>
          </a:p>
        </p:txBody>
      </p:sp>
      <p:sp>
        <p:nvSpPr>
          <p:cNvPr id="12" name="Straight Connector 11">
            <a:extLst>
              <a:ext uri="{FF2B5EF4-FFF2-40B4-BE49-F238E27FC236}">
                <a16:creationId xmlns:a16="http://schemas.microsoft.com/office/drawing/2014/main" id="{2A7007A4-07B4-4921-A17F-3632C996E73B}"/>
              </a:ext>
            </a:extLst>
          </p:cNvPr>
          <p:cNvSpPr>
            <a:spLocks noGrp="1"/>
          </p:cNvSpPr>
          <p:nvPr/>
        </p:nvSpPr>
        <p:spPr>
          <a:xfrm>
            <a:off x="762000" y="5667375"/>
            <a:ext cx="10858500" cy="0"/>
          </a:xfrm>
          <a:prstGeom prst="line">
            <a:avLst/>
          </a:prstGeom>
          <a:ln w="9525">
            <a:solidFill>
              <a:srgbClr val="9BA4A8"/>
            </a:solidFill>
          </a:ln>
        </p:spPr>
        <p:txBody>
          <a:bodyPr/>
          <a:lstStyle/>
          <a:p>
            <a:endParaRPr lang="en-US"/>
          </a:p>
        </p:txBody>
      </p:sp>
      <p:sp>
        <p:nvSpPr>
          <p:cNvPr id="13" name="body">
            <a:extLst>
              <a:ext uri="{FF2B5EF4-FFF2-40B4-BE49-F238E27FC236}">
                <a16:creationId xmlns:a16="http://schemas.microsoft.com/office/drawing/2014/main" id="{FB1EE8B3-B780-421F-B794-CC02F930C157}"/>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The data stay the same. The business requirement has changed.</a:t>
            </a:r>
          </a:p>
        </p:txBody>
      </p:sp>
      <p:sp>
        <p:nvSpPr>
          <p:cNvPr id="14"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C6b • WRITING FRAME</a:t>
            </a:r>
          </a:p>
        </p:txBody>
      </p:sp>
    </p:spTree>
    <p:extLst>
      <p:ext uri="{BB962C8B-B14F-4D97-AF65-F5344CB8AC3E}">
        <p14:creationId xmlns:p14="http://schemas.microsoft.com/office/powerpoint/2010/main" val="3281361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C6b: the comparison changes</a:t>
            </a:r>
          </a:p>
        </p:txBody>
      </p:sp>
      <p:sp>
        <p:nvSpPr>
          <p:cNvPr id="3" name="body">
            <a:extLst>
              <a:ext uri="{FF2B5EF4-FFF2-40B4-BE49-F238E27FC236}">
                <a16:creationId xmlns:a16="http://schemas.microsoft.com/office/drawing/2014/main" id="{73BF73AF-5F1C-4633-A506-3F0B2501727B}"/>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Supplier B met the 54-hour deadline more often in these records.</a:t>
            </a:r>
          </a:p>
        </p:txBody>
      </p:sp>
      <p:graphicFrame>
        <p:nvGraphicFramePr>
          <p:cNvPr id="4" name="Table 3"/>
          <p:cNvGraphicFramePr/>
          <p:nvPr/>
        </p:nvGraphicFramePr>
        <p:xfrm>
          <a:off x="523875" y="2800350"/>
          <a:ext cx="11144250" cy="2400300"/>
        </p:xfrm>
        <a:graphic>
          <a:graphicData uri="http://schemas.openxmlformats.org/drawingml/2006/table">
            <a:tbl>
              <a:tblPr/>
              <a:tblGrid>
                <a:gridCol w="4381500">
                  <a:extLst>
                    <a:ext uri="{9D8B030D-6E8A-4147-A177-3AD203B41FA5}">
                      <a16:colId xmlns:a16="http://schemas.microsoft.com/office/drawing/2014/main" val="20000"/>
                    </a:ext>
                  </a:extLst>
                </a:gridCol>
                <a:gridCol w="3381375">
                  <a:extLst>
                    <a:ext uri="{9D8B030D-6E8A-4147-A177-3AD203B41FA5}">
                      <a16:colId xmlns:a16="http://schemas.microsoft.com/office/drawing/2014/main" val="20001"/>
                    </a:ext>
                  </a:extLst>
                </a:gridCol>
                <a:gridCol w="3381375">
                  <a:extLst>
                    <a:ext uri="{9D8B030D-6E8A-4147-A177-3AD203B41FA5}">
                      <a16:colId xmlns:a16="http://schemas.microsoft.com/office/drawing/2014/main" val="20002"/>
                    </a:ext>
                  </a:extLst>
                </a:gridCol>
              </a:tblGrid>
              <a:tr h="600075">
                <a:tc>
                  <a:txBody>
                    <a:bodyPr/>
                    <a:lstStyle/>
                    <a:p>
                      <a:pPr marL="0" marR="0" indent="0">
                        <a:lnSpc>
                          <a:spcPct val="105000"/>
                        </a:lnSpc>
                        <a:spcBef>
                          <a:spcPts val="0"/>
                        </a:spcBef>
                        <a:spcAft>
                          <a:spcPts val="0"/>
                        </a:spcAft>
                      </a:pPr>
                      <a:r>
                        <a:rPr sz="2025" b="1">
                          <a:solidFill>
                            <a:srgbClr val="FFFFFF"/>
                          </a:solidFill>
                          <a:latin typeface="Aptos"/>
                          <a:ea typeface="Aptos"/>
                          <a:cs typeface="Aptos"/>
                        </a:rPr>
                        <a:t>Deadline</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Supplier A</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Supplier B</a:t>
                      </a:r>
                    </a:p>
                  </a:txBody>
                  <a:tcPr marL="76200" marR="57150" marT="19050" marB="19050" anchor="ctr">
                    <a:solidFill>
                      <a:srgbClr val="D6171D"/>
                    </a:solidFill>
                  </a:tcPr>
                </a:tc>
                <a:extLst>
                  <a:ext uri="{0D108BD9-81ED-4DB2-BD59-A6C34878D82A}">
                    <a16:rowId xmlns:a16="http://schemas.microsoft.com/office/drawing/2014/main" val="10000"/>
                  </a:ext>
                </a:extLst>
              </a:tr>
              <a:tr h="600075">
                <a:tc>
                  <a:txBody>
                    <a:bodyPr/>
                    <a:lstStyle/>
                    <a:p>
                      <a:pPr marL="0" marR="0" indent="0">
                        <a:lnSpc>
                          <a:spcPct val="105000"/>
                        </a:lnSpc>
                        <a:spcBef>
                          <a:spcPts val="0"/>
                        </a:spcBef>
                        <a:spcAft>
                          <a:spcPts val="0"/>
                        </a:spcAft>
                      </a:pPr>
                      <a:r>
                        <a:rPr sz="2100" b="0">
                          <a:solidFill>
                            <a:srgbClr val="111111"/>
                          </a:solidFill>
                          <a:latin typeface="Aptos"/>
                          <a:ea typeface="Aptos"/>
                          <a:cs typeface="Aptos"/>
                        </a:rPr>
                        <a:t>Within 48 h</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18/30 = 60%</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13/30 = 43.33%</a:t>
                      </a:r>
                    </a:p>
                  </a:txBody>
                  <a:tcPr marL="76200" marR="57150" marT="19050" marB="19050" anchor="ctr">
                    <a:solidFill>
                      <a:srgbClr val="FFFFFF"/>
                    </a:solidFill>
                  </a:tcPr>
                </a:tc>
                <a:extLst>
                  <a:ext uri="{0D108BD9-81ED-4DB2-BD59-A6C34878D82A}">
                    <a16:rowId xmlns:a16="http://schemas.microsoft.com/office/drawing/2014/main" val="10001"/>
                  </a:ext>
                </a:extLst>
              </a:tr>
              <a:tr h="600075">
                <a:tc>
                  <a:txBody>
                    <a:bodyPr/>
                    <a:lstStyle/>
                    <a:p>
                      <a:pPr marL="0" marR="0" indent="0">
                        <a:lnSpc>
                          <a:spcPct val="105000"/>
                        </a:lnSpc>
                        <a:spcBef>
                          <a:spcPts val="0"/>
                        </a:spcBef>
                        <a:spcAft>
                          <a:spcPts val="0"/>
                        </a:spcAft>
                      </a:pPr>
                      <a:r>
                        <a:rPr sz="2100" b="0">
                          <a:solidFill>
                            <a:srgbClr val="111111"/>
                          </a:solidFill>
                          <a:latin typeface="Aptos"/>
                          <a:ea typeface="Aptos"/>
                          <a:cs typeface="Aptos"/>
                        </a:rPr>
                        <a:t>Within 54 h</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23/30 = 76.67%</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27/30 = 90%</a:t>
                      </a:r>
                    </a:p>
                  </a:txBody>
                  <a:tcPr marL="76200" marR="57150" marT="19050" marB="19050" anchor="ctr">
                    <a:solidFill>
                      <a:srgbClr val="EFF8FF"/>
                    </a:solidFill>
                  </a:tcPr>
                </a:tc>
                <a:extLst>
                  <a:ext uri="{0D108BD9-81ED-4DB2-BD59-A6C34878D82A}">
                    <a16:rowId xmlns:a16="http://schemas.microsoft.com/office/drawing/2014/main" val="10002"/>
                  </a:ext>
                </a:extLst>
              </a:tr>
              <a:tr h="600075">
                <a:tc>
                  <a:txBody>
                    <a:bodyPr/>
                    <a:lstStyle/>
                    <a:p>
                      <a:pPr marL="0" marR="0" indent="0">
                        <a:lnSpc>
                          <a:spcPct val="105000"/>
                        </a:lnSpc>
                        <a:spcBef>
                          <a:spcPts val="0"/>
                        </a:spcBef>
                        <a:spcAft>
                          <a:spcPts val="0"/>
                        </a:spcAft>
                      </a:pPr>
                      <a:r>
                        <a:rPr sz="2100" b="0">
                          <a:solidFill>
                            <a:srgbClr val="111111"/>
                          </a:solidFill>
                          <a:latin typeface="Aptos"/>
                          <a:ea typeface="Aptos"/>
                          <a:cs typeface="Aptos"/>
                        </a:rPr>
                        <a:t>Extra deliveries included</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14</a:t>
                      </a:r>
                    </a:p>
                  </a:txBody>
                  <a:tcPr marL="76200" marR="57150"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5" name="body">
            <a:extLst>
              <a:ext uri="{FF2B5EF4-FFF2-40B4-BE49-F238E27FC236}">
                <a16:creationId xmlns:a16="http://schemas.microsoft.com/office/drawing/2014/main" id="{50F8474D-0E06-4419-BB11-73DA87A020EE}"/>
              </a:ext>
            </a:extLst>
          </p:cNvPr>
          <p:cNvSpPr>
            <a:spLocks noGrp="1"/>
          </p:cNvSpPr>
          <p:nvPr/>
        </p:nvSpPr>
        <p:spPr>
          <a:xfrm>
            <a:off x="523875" y="5467350"/>
            <a:ext cx="11144250" cy="466725"/>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The extra six hours include many B deliveries that missed 48 hours.</a:t>
            </a:r>
          </a:p>
        </p:txBody>
      </p:sp>
      <p:sp>
        <p:nvSpPr>
          <p:cNvPr id="6" name="body">
            <a:extLst>
              <a:ext uri="{FF2B5EF4-FFF2-40B4-BE49-F238E27FC236}">
                <a16:creationId xmlns:a16="http://schemas.microsoft.com/office/drawing/2014/main" id="{107D13BF-FFD1-453E-8070-C33ADAC0A813}"/>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At 54 hours, B has the stronger observed result. Three B deliveries still missed it.</a:t>
            </a:r>
          </a:p>
        </p:txBody>
      </p:sp>
      <p:sp>
        <p:nvSpPr>
          <p:cNvPr id="7"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C6b • CHECKPOINT</a:t>
            </a:r>
          </a:p>
        </p:txBody>
      </p:sp>
    </p:spTree>
    <p:extLst>
      <p:ext uri="{BB962C8B-B14F-4D97-AF65-F5344CB8AC3E}">
        <p14:creationId xmlns:p14="http://schemas.microsoft.com/office/powerpoint/2010/main" val="3281361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Why the deadline results changed</a:t>
            </a:r>
          </a:p>
        </p:txBody>
      </p:sp>
      <p:sp>
        <p:nvSpPr>
          <p:cNvPr id="3" name="body">
            <a:extLst>
              <a:ext uri="{FF2B5EF4-FFF2-40B4-BE49-F238E27FC236}">
                <a16:creationId xmlns:a16="http://schemas.microsoft.com/office/drawing/2014/main" id="{AE56A67D-38DD-4DB3-8B54-B4CF41C9C2E9}"/>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Each dot is one delivery. Both plots use the same time scale.</a:t>
            </a:r>
          </a:p>
        </p:txBody>
      </p:sp>
      <p:graphicFrame>
        <p:nvGraphicFramePr>
          <p:cNvPr id="4" name="Chart"/>
          <p:cNvGraphicFramePr/>
          <p:nvPr/>
        </p:nvGraphicFramePr>
        <p:xfrm>
          <a:off x="714375" y="2667000"/>
          <a:ext cx="10763250" cy="1600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p:cNvGraphicFramePr/>
          <p:nvPr/>
        </p:nvGraphicFramePr>
        <p:xfrm>
          <a:off x="714375" y="4314825"/>
          <a:ext cx="10763250" cy="1600200"/>
        </p:xfrm>
        <a:graphic>
          <a:graphicData uri="http://schemas.openxmlformats.org/drawingml/2006/chart">
            <c:chart xmlns:c="http://schemas.openxmlformats.org/drawingml/2006/chart" xmlns:r="http://schemas.openxmlformats.org/officeDocument/2006/relationships" r:id="rId4"/>
          </a:graphicData>
        </a:graphic>
      </p:graphicFrame>
      <p:sp>
        <p:nvSpPr>
          <p:cNvPr id="6" name="body">
            <a:extLst>
              <a:ext uri="{FF2B5EF4-FFF2-40B4-BE49-F238E27FC236}">
                <a16:creationId xmlns:a16="http://schemas.microsoft.com/office/drawing/2014/main" id="{9458B4E7-4421-4400-B793-CB4CC0C1751C}"/>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SD describes spread around the mean. A deadline asks how many arrive by a specific time.</a:t>
            </a:r>
          </a:p>
        </p:txBody>
      </p:sp>
    </p:spTree>
    <p:extLst>
      <p:ext uri="{BB962C8B-B14F-4D97-AF65-F5344CB8AC3E}">
        <p14:creationId xmlns:p14="http://schemas.microsoft.com/office/powerpoint/2010/main" val="3281361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C7: exit question</a:t>
            </a:r>
          </a:p>
        </p:txBody>
      </p:sp>
      <p:sp>
        <p:nvSpPr>
          <p:cNvPr id="3" name="body">
            <a:extLst>
              <a:ext uri="{FF2B5EF4-FFF2-40B4-BE49-F238E27FC236}">
                <a16:creationId xmlns:a16="http://schemas.microsoft.com/office/drawing/2014/main" id="{ED263612-1F7B-47A7-A9BF-B9775C59B054}"/>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A manager says: “Always choose the supplier with the smallest SD.”</a:t>
            </a:r>
          </a:p>
        </p:txBody>
      </p:sp>
      <p:sp>
        <p:nvSpPr>
          <p:cNvPr id="4" name="body">
            <a:extLst>
              <a:ext uri="{FF2B5EF4-FFF2-40B4-BE49-F238E27FC236}">
                <a16:creationId xmlns:a16="http://schemas.microsoft.com/office/drawing/2014/main" id="{30C5EECD-538B-4F26-891D-B829F493A35B}"/>
              </a:ext>
            </a:extLst>
          </p:cNvPr>
          <p:cNvSpPr>
            <a:spLocks noGrp="1"/>
          </p:cNvSpPr>
          <p:nvPr/>
        </p:nvSpPr>
        <p:spPr>
          <a:xfrm>
            <a:off x="523875" y="2647950"/>
            <a:ext cx="11144250" cy="476250"/>
          </a:xfrm>
          <a:prstGeom prst="rect">
            <a:avLst/>
          </a:prstGeom>
          <a:noFill/>
          <a:ln w="0">
            <a:noFill/>
          </a:ln>
        </p:spPr>
        <p:txBody>
          <a:bodyPr wrap="square" lIns="0" tIns="0" rIns="0" bIns="0" anchor="t">
            <a:noAutofit/>
          </a:bodyPr>
          <a:lstStyle/>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Do you agree? Use numerical evidence from our delivery records.</a:t>
            </a:r>
          </a:p>
        </p:txBody>
      </p:sp>
      <p:sp>
        <p:nvSpPr>
          <p:cNvPr id="5" name="body">
            <a:extLst>
              <a:ext uri="{FF2B5EF4-FFF2-40B4-BE49-F238E27FC236}">
                <a16:creationId xmlns:a16="http://schemas.microsoft.com/office/drawing/2014/main" id="{316B64EB-F535-4DC0-AF7B-E030157435CD}"/>
              </a:ext>
            </a:extLst>
          </p:cNvPr>
          <p:cNvSpPr>
            <a:spLocks noGrp="1"/>
          </p:cNvSpPr>
          <p:nvPr/>
        </p:nvSpPr>
        <p:spPr>
          <a:xfrm>
            <a:off x="523875" y="3352800"/>
            <a:ext cx="11144250" cy="400050"/>
          </a:xfrm>
          <a:prstGeom prst="rect">
            <a:avLst/>
          </a:prstGeom>
          <a:noFill/>
          <a:ln w="0">
            <a:noFill/>
          </a:ln>
        </p:spPr>
        <p:txBody>
          <a:bodyPr wrap="square" lIns="0" tIns="0" rIns="0" bIns="0" anchor="t">
            <a:noAutofit/>
          </a:bodyPr>
          <a:lstStyle/>
          <a:p>
            <a:pPr marL="0" marR="0" indent="0">
              <a:defRPr sz="2025" b="1">
                <a:solidFill>
                  <a:srgbClr val="111111"/>
                </a:solidFill>
                <a:latin typeface="Aptos"/>
                <a:ea typeface="Aptos"/>
                <a:cs typeface="Aptos"/>
              </a:defRPr>
            </a:pPr>
            <a:r>
              <a:rPr sz="2025" b="1">
                <a:solidFill>
                  <a:srgbClr val="111111"/>
                </a:solidFill>
                <a:latin typeface="Aptos"/>
                <a:ea typeface="Aptos"/>
                <a:cs typeface="Aptos"/>
              </a:rPr>
              <a:t>1. A smaller standard deviation tells us…</a:t>
            </a:r>
          </a:p>
        </p:txBody>
      </p:sp>
      <p:sp>
        <p:nvSpPr>
          <p:cNvPr id="6" name="body">
            <a:extLst>
              <a:ext uri="{FF2B5EF4-FFF2-40B4-BE49-F238E27FC236}">
                <a16:creationId xmlns:a16="http://schemas.microsoft.com/office/drawing/2014/main" id="{ACD31FC2-F16A-4698-A402-9860181616AD}"/>
              </a:ext>
            </a:extLst>
          </p:cNvPr>
          <p:cNvSpPr>
            <a:spLocks noGrp="1"/>
          </p:cNvSpPr>
          <p:nvPr/>
        </p:nvSpPr>
        <p:spPr>
          <a:xfrm>
            <a:off x="762000" y="3686175"/>
            <a:ext cx="10858500" cy="238125"/>
          </a:xfrm>
          <a:prstGeom prst="rect">
            <a:avLst/>
          </a:prstGeom>
          <a:noFill/>
          <a:ln w="0">
            <a:noFill/>
          </a:ln>
        </p:spPr>
        <p:txBody>
          <a:bodyPr wrap="square" lIns="0" tIns="0" rIns="0" bIns="0" anchor="t">
            <a:noAutofit/>
          </a:bodyPr>
          <a:lstStyle/>
          <a:p>
            <a:pPr marL="0" marR="0" indent="0">
              <a:defRPr sz="1575" b="0">
                <a:solidFill>
                  <a:srgbClr val="4C5559"/>
                </a:solidFill>
                <a:latin typeface="Aptos"/>
                <a:ea typeface="Aptos"/>
                <a:cs typeface="Aptos"/>
              </a:defRPr>
            </a:pPr>
            <a:r>
              <a:rPr sz="1575" b="0">
                <a:solidFill>
                  <a:srgbClr val="4C5559"/>
                </a:solidFill>
                <a:latin typeface="Aptos"/>
                <a:ea typeface="Aptos"/>
                <a:cs typeface="Aptos"/>
              </a:rPr>
              <a:t>Explain what the statistic measures.</a:t>
            </a:r>
          </a:p>
        </p:txBody>
      </p:sp>
      <p:sp>
        <p:nvSpPr>
          <p:cNvPr id="7" name="Straight Connector 6">
            <a:extLst>
              <a:ext uri="{FF2B5EF4-FFF2-40B4-BE49-F238E27FC236}">
                <a16:creationId xmlns:a16="http://schemas.microsoft.com/office/drawing/2014/main" id="{C1F5E40B-25AF-4FEA-BA73-43B0EF19B883}"/>
              </a:ext>
            </a:extLst>
          </p:cNvPr>
          <p:cNvSpPr>
            <a:spLocks noGrp="1"/>
          </p:cNvSpPr>
          <p:nvPr/>
        </p:nvSpPr>
        <p:spPr>
          <a:xfrm>
            <a:off x="762000" y="4095750"/>
            <a:ext cx="10858500" cy="0"/>
          </a:xfrm>
          <a:prstGeom prst="line">
            <a:avLst/>
          </a:prstGeom>
          <a:ln w="9525">
            <a:solidFill>
              <a:srgbClr val="9BA4A8"/>
            </a:solidFill>
          </a:ln>
        </p:spPr>
        <p:txBody>
          <a:bodyPr/>
          <a:lstStyle/>
          <a:p>
            <a:endParaRPr lang="en-US"/>
          </a:p>
        </p:txBody>
      </p:sp>
      <p:sp>
        <p:nvSpPr>
          <p:cNvPr id="8" name="body">
            <a:extLst>
              <a:ext uri="{FF2B5EF4-FFF2-40B4-BE49-F238E27FC236}">
                <a16:creationId xmlns:a16="http://schemas.microsoft.com/office/drawing/2014/main" id="{18DC79CB-DC81-4CD1-9EF0-6FA5846707C9}"/>
              </a:ext>
            </a:extLst>
          </p:cNvPr>
          <p:cNvSpPr>
            <a:spLocks noGrp="1"/>
          </p:cNvSpPr>
          <p:nvPr/>
        </p:nvSpPr>
        <p:spPr>
          <a:xfrm>
            <a:off x="523875" y="4181475"/>
            <a:ext cx="11144250" cy="400050"/>
          </a:xfrm>
          <a:prstGeom prst="rect">
            <a:avLst/>
          </a:prstGeom>
          <a:noFill/>
          <a:ln w="0">
            <a:noFill/>
          </a:ln>
        </p:spPr>
        <p:txBody>
          <a:bodyPr wrap="square" lIns="0" tIns="0" rIns="0" bIns="0" anchor="t">
            <a:noAutofit/>
          </a:bodyPr>
          <a:lstStyle/>
          <a:p>
            <a:pPr marL="0" marR="0" indent="0">
              <a:defRPr sz="2025" b="1">
                <a:solidFill>
                  <a:srgbClr val="111111"/>
                </a:solidFill>
                <a:latin typeface="Aptos"/>
                <a:ea typeface="Aptos"/>
                <a:cs typeface="Aptos"/>
              </a:defRPr>
            </a:pPr>
            <a:r>
              <a:rPr sz="2025" b="1">
                <a:solidFill>
                  <a:srgbClr val="111111"/>
                </a:solidFill>
                <a:latin typeface="Aptos"/>
                <a:ea typeface="Aptos"/>
                <a:cs typeface="Aptos"/>
              </a:rPr>
              <a:t>2. For a particular deadline, we also need to consider…</a:t>
            </a:r>
          </a:p>
        </p:txBody>
      </p:sp>
      <p:sp>
        <p:nvSpPr>
          <p:cNvPr id="9" name="body">
            <a:extLst>
              <a:ext uri="{FF2B5EF4-FFF2-40B4-BE49-F238E27FC236}">
                <a16:creationId xmlns:a16="http://schemas.microsoft.com/office/drawing/2014/main" id="{3F87C84C-1DBB-4B7D-A201-676EA4B63007}"/>
              </a:ext>
            </a:extLst>
          </p:cNvPr>
          <p:cNvSpPr>
            <a:spLocks noGrp="1"/>
          </p:cNvSpPr>
          <p:nvPr/>
        </p:nvSpPr>
        <p:spPr>
          <a:xfrm>
            <a:off x="762000" y="4514850"/>
            <a:ext cx="10858500" cy="238125"/>
          </a:xfrm>
          <a:prstGeom prst="rect">
            <a:avLst/>
          </a:prstGeom>
          <a:noFill/>
          <a:ln w="0">
            <a:noFill/>
          </a:ln>
        </p:spPr>
        <p:txBody>
          <a:bodyPr wrap="square" lIns="0" tIns="0" rIns="0" bIns="0" anchor="t">
            <a:noAutofit/>
          </a:bodyPr>
          <a:lstStyle/>
          <a:p>
            <a:pPr marL="0" marR="0" indent="0">
              <a:defRPr sz="1575" b="0">
                <a:solidFill>
                  <a:srgbClr val="4C5559"/>
                </a:solidFill>
                <a:latin typeface="Aptos"/>
                <a:ea typeface="Aptos"/>
                <a:cs typeface="Aptos"/>
              </a:defRPr>
            </a:pPr>
            <a:r>
              <a:rPr sz="1575" b="0">
                <a:solidFill>
                  <a:srgbClr val="4C5559"/>
                </a:solidFill>
                <a:latin typeface="Aptos"/>
                <a:ea typeface="Aptos"/>
                <a:cs typeface="Aptos"/>
              </a:rPr>
              <a:t>Connect the calculation to the business requirement.</a:t>
            </a:r>
          </a:p>
        </p:txBody>
      </p:sp>
      <p:sp>
        <p:nvSpPr>
          <p:cNvPr id="10" name="Straight Connector 9">
            <a:extLst>
              <a:ext uri="{FF2B5EF4-FFF2-40B4-BE49-F238E27FC236}">
                <a16:creationId xmlns:a16="http://schemas.microsoft.com/office/drawing/2014/main" id="{7FF41E8D-D35C-4E7C-953A-E284C42D489B}"/>
              </a:ext>
            </a:extLst>
          </p:cNvPr>
          <p:cNvSpPr>
            <a:spLocks noGrp="1"/>
          </p:cNvSpPr>
          <p:nvPr/>
        </p:nvSpPr>
        <p:spPr>
          <a:xfrm>
            <a:off x="762000" y="4924425"/>
            <a:ext cx="10858500" cy="0"/>
          </a:xfrm>
          <a:prstGeom prst="line">
            <a:avLst/>
          </a:prstGeom>
          <a:ln w="9525">
            <a:solidFill>
              <a:srgbClr val="9BA4A8"/>
            </a:solidFill>
          </a:ln>
        </p:spPr>
        <p:txBody>
          <a:bodyPr/>
          <a:lstStyle/>
          <a:p>
            <a:endParaRPr lang="en-US"/>
          </a:p>
        </p:txBody>
      </p:sp>
      <p:sp>
        <p:nvSpPr>
          <p:cNvPr id="11" name="body">
            <a:extLst>
              <a:ext uri="{FF2B5EF4-FFF2-40B4-BE49-F238E27FC236}">
                <a16:creationId xmlns:a16="http://schemas.microsoft.com/office/drawing/2014/main" id="{7AA569BA-DB1D-4101-80E8-7B42B1C5BDBA}"/>
              </a:ext>
            </a:extLst>
          </p:cNvPr>
          <p:cNvSpPr>
            <a:spLocks noGrp="1"/>
          </p:cNvSpPr>
          <p:nvPr/>
        </p:nvSpPr>
        <p:spPr>
          <a:xfrm>
            <a:off x="523875" y="5010150"/>
            <a:ext cx="11144250" cy="400050"/>
          </a:xfrm>
          <a:prstGeom prst="rect">
            <a:avLst/>
          </a:prstGeom>
          <a:noFill/>
          <a:ln w="0">
            <a:noFill/>
          </a:ln>
        </p:spPr>
        <p:txBody>
          <a:bodyPr wrap="square" lIns="0" tIns="0" rIns="0" bIns="0" anchor="t">
            <a:noAutofit/>
          </a:bodyPr>
          <a:lstStyle/>
          <a:p>
            <a:pPr marL="0" marR="0" indent="0">
              <a:defRPr sz="2025" b="1">
                <a:solidFill>
                  <a:srgbClr val="111111"/>
                </a:solidFill>
                <a:latin typeface="Aptos"/>
                <a:ea typeface="Aptos"/>
                <a:cs typeface="Aptos"/>
              </a:defRPr>
            </a:pPr>
            <a:r>
              <a:rPr sz="2025" b="1">
                <a:solidFill>
                  <a:srgbClr val="111111"/>
                </a:solidFill>
                <a:latin typeface="Aptos"/>
                <a:ea typeface="Aptos"/>
                <a:cs typeface="Aptos"/>
              </a:rPr>
              <a:t>3. Our delivery records illustrate this because…</a:t>
            </a:r>
          </a:p>
        </p:txBody>
      </p:sp>
      <p:sp>
        <p:nvSpPr>
          <p:cNvPr id="12" name="body">
            <a:extLst>
              <a:ext uri="{FF2B5EF4-FFF2-40B4-BE49-F238E27FC236}">
                <a16:creationId xmlns:a16="http://schemas.microsoft.com/office/drawing/2014/main" id="{C49DA947-D8CD-4C35-883D-AD1564534D0D}"/>
              </a:ext>
            </a:extLst>
          </p:cNvPr>
          <p:cNvSpPr>
            <a:spLocks noGrp="1"/>
          </p:cNvSpPr>
          <p:nvPr/>
        </p:nvSpPr>
        <p:spPr>
          <a:xfrm>
            <a:off x="762000" y="5343525"/>
            <a:ext cx="10858500" cy="238125"/>
          </a:xfrm>
          <a:prstGeom prst="rect">
            <a:avLst/>
          </a:prstGeom>
          <a:noFill/>
          <a:ln w="0">
            <a:noFill/>
          </a:ln>
        </p:spPr>
        <p:txBody>
          <a:bodyPr wrap="square" lIns="0" tIns="0" rIns="0" bIns="0" anchor="t">
            <a:noAutofit/>
          </a:bodyPr>
          <a:lstStyle/>
          <a:p>
            <a:pPr marL="0" marR="0" indent="0">
              <a:defRPr sz="1575" b="0">
                <a:solidFill>
                  <a:srgbClr val="4C5559"/>
                </a:solidFill>
                <a:latin typeface="Aptos"/>
                <a:ea typeface="Aptos"/>
                <a:cs typeface="Aptos"/>
              </a:defRPr>
            </a:pPr>
            <a:r>
              <a:rPr sz="1575" b="0">
                <a:solidFill>
                  <a:srgbClr val="4C5559"/>
                </a:solidFill>
                <a:latin typeface="Aptos"/>
                <a:ea typeface="Aptos"/>
                <a:cs typeface="Aptos"/>
              </a:rPr>
              <a:t>Use at least one numerical comparison and explain it.</a:t>
            </a:r>
          </a:p>
        </p:txBody>
      </p:sp>
      <p:sp>
        <p:nvSpPr>
          <p:cNvPr id="13" name="Straight Connector 12">
            <a:extLst>
              <a:ext uri="{FF2B5EF4-FFF2-40B4-BE49-F238E27FC236}">
                <a16:creationId xmlns:a16="http://schemas.microsoft.com/office/drawing/2014/main" id="{CCC110EF-F4E0-414F-B0D5-1CC3BAE593A9}"/>
              </a:ext>
            </a:extLst>
          </p:cNvPr>
          <p:cNvSpPr>
            <a:spLocks noGrp="1"/>
          </p:cNvSpPr>
          <p:nvPr/>
        </p:nvSpPr>
        <p:spPr>
          <a:xfrm>
            <a:off x="762000" y="5753100"/>
            <a:ext cx="10858500" cy="0"/>
          </a:xfrm>
          <a:prstGeom prst="line">
            <a:avLst/>
          </a:prstGeom>
          <a:ln w="9525">
            <a:solidFill>
              <a:srgbClr val="9BA4A8"/>
            </a:solidFill>
          </a:ln>
        </p:spPr>
        <p:txBody>
          <a:bodyPr/>
          <a:lstStyle/>
          <a:p>
            <a:endParaRPr lang="en-US"/>
          </a:p>
        </p:txBody>
      </p:sp>
      <p:sp>
        <p:nvSpPr>
          <p:cNvPr id="14" name="body">
            <a:extLst>
              <a:ext uri="{FF2B5EF4-FFF2-40B4-BE49-F238E27FC236}">
                <a16:creationId xmlns:a16="http://schemas.microsoft.com/office/drawing/2014/main" id="{C40C2C21-AF5E-4132-AA56-E56A9747FB65}"/>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Write a short explanation in complete sentences.</a:t>
            </a:r>
          </a:p>
        </p:txBody>
      </p:sp>
      <p:sp>
        <p:nvSpPr>
          <p:cNvPr id="15"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C7 • INDEPENDENT RESPONSE</a:t>
            </a:r>
          </a:p>
        </p:txBody>
      </p:sp>
    </p:spTree>
    <p:extLst>
      <p:ext uri="{BB962C8B-B14F-4D97-AF65-F5344CB8AC3E}">
        <p14:creationId xmlns:p14="http://schemas.microsoft.com/office/powerpoint/2010/main" val="3281361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An inconvenient result</a:t>
            </a:r>
          </a:p>
        </p:txBody>
      </p:sp>
      <p:sp>
        <p:nvSpPr>
          <p:cNvPr id="3" name="body">
            <a:extLst>
              <a:ext uri="{FF2B5EF4-FFF2-40B4-BE49-F238E27FC236}">
                <a16:creationId xmlns:a16="http://schemas.microsoft.com/office/drawing/2014/main" id="{923C0ED9-C74D-4B1B-9E46-05B3C9FE69EB}"/>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A manager wants to delete Supplier B’s 68-hour delivery.</a:t>
            </a:r>
          </a:p>
        </p:txBody>
      </p:sp>
      <p:sp>
        <p:nvSpPr>
          <p:cNvPr id="4" name="body">
            <a:extLst>
              <a:ext uri="{FF2B5EF4-FFF2-40B4-BE49-F238E27FC236}">
                <a16:creationId xmlns:a16="http://schemas.microsoft.com/office/drawing/2014/main" id="{2ECB7E13-DDE4-4CFF-9C76-2AC78E78F543}"/>
              </a:ext>
            </a:extLst>
          </p:cNvPr>
          <p:cNvSpPr>
            <a:spLocks noGrp="1"/>
          </p:cNvSpPr>
          <p:nvPr/>
        </p:nvSpPr>
        <p:spPr>
          <a:xfrm>
            <a:off x="523875" y="2857500"/>
            <a:ext cx="11144250" cy="7429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“It makes Supplier B look worse. Let’s leave it out.”</a:t>
            </a:r>
          </a:p>
        </p:txBody>
      </p:sp>
      <p:sp>
        <p:nvSpPr>
          <p:cNvPr id="5" name="body">
            <a:extLst>
              <a:ext uri="{FF2B5EF4-FFF2-40B4-BE49-F238E27FC236}">
                <a16:creationId xmlns:a16="http://schemas.microsoft.com/office/drawing/2014/main" id="{48F0A18E-5F4D-4FBF-B20F-B773CAD3EE07}"/>
              </a:ext>
            </a:extLst>
          </p:cNvPr>
          <p:cNvSpPr>
            <a:spLocks noGrp="1"/>
          </p:cNvSpPr>
          <p:nvPr/>
        </p:nvSpPr>
        <p:spPr>
          <a:xfrm>
            <a:off x="523875" y="3695700"/>
            <a:ext cx="11144250" cy="7429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The delivery happened and the time was recorded correctly.</a:t>
            </a:r>
          </a:p>
        </p:txBody>
      </p:sp>
      <p:sp>
        <p:nvSpPr>
          <p:cNvPr id="6" name="body">
            <a:extLst>
              <a:ext uri="{FF2B5EF4-FFF2-40B4-BE49-F238E27FC236}">
                <a16:creationId xmlns:a16="http://schemas.microsoft.com/office/drawing/2014/main" id="{1E2BDDD8-23AD-40E1-9DB3-3B118509F21E}"/>
              </a:ext>
            </a:extLst>
          </p:cNvPr>
          <p:cNvSpPr>
            <a:spLocks noGrp="1"/>
          </p:cNvSpPr>
          <p:nvPr/>
        </p:nvSpPr>
        <p:spPr>
          <a:xfrm>
            <a:off x="523875" y="4533900"/>
            <a:ext cx="11144250" cy="7429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Should it stay in the analysis? Explain your decision.</a:t>
            </a:r>
          </a:p>
        </p:txBody>
      </p:sp>
      <p:sp>
        <p:nvSpPr>
          <p:cNvPr id="7" name="body">
            <a:extLst>
              <a:ext uri="{FF2B5EF4-FFF2-40B4-BE49-F238E27FC236}">
                <a16:creationId xmlns:a16="http://schemas.microsoft.com/office/drawing/2014/main" id="{76790161-EB59-42F3-9152-61A27D9D4C87}"/>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Consider what the manager would fail to learn if a genuine delay disappeared.</a:t>
            </a:r>
          </a:p>
        </p:txBody>
      </p:sp>
      <p:sp>
        <p:nvSpPr>
          <p:cNvPr id="8"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OPTIONAL • CHALLENGE</a:t>
            </a:r>
          </a:p>
        </p:txBody>
      </p:sp>
    </p:spTree>
    <p:extLst>
      <p:ext uri="{BB962C8B-B14F-4D97-AF65-F5344CB8AC3E}">
        <p14:creationId xmlns:p14="http://schemas.microsoft.com/office/powerpoint/2010/main" val="3281361232"/>
      </p:ext>
    </p:extLst>
  </p:cSld>
  <p:clrMapOvr>
    <a:masterClrMapping/>
  </p:clrMapOvr>
</p:sld>
</file>

<file path=ppt/theme/theme1.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8052</Words>
  <Application>Microsoft Office PowerPoint</Application>
  <DocSecurity>0</DocSecurity>
  <PresentationFormat>Widescreen</PresentationFormat>
  <Paragraphs>674</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Aptos Display</vt:lpstr>
      <vt:lpstr>Arial</vt:lpstr>
      <vt:lpstr>Office Theme</vt:lpstr>
      <vt:lpstr>IFY Statistics Week 3 • Class C  Paper supplier workshop</vt:lpstr>
      <vt:lpstr>Revision: Classes A and B</vt:lpstr>
      <vt:lpstr>Revision: worked answers</vt:lpstr>
      <vt:lpstr>The print shop’s problem</vt:lpstr>
      <vt:lpstr>What the data represent</vt:lpstr>
      <vt:lpstr>Section 1: Typical delivery times</vt:lpstr>
      <vt:lpstr>C1: average delivery time</vt:lpstr>
      <vt:lpstr>C1: mean checkpoint</vt:lpstr>
      <vt:lpstr>C2: median and range</vt:lpstr>
      <vt:lpstr>C2: ordered-data checkpoint</vt:lpstr>
      <vt:lpstr>C2: the middle 50%</vt:lpstr>
      <vt:lpstr>C2: comparing the results</vt:lpstr>
      <vt:lpstr>Section 2: Measuring variation</vt:lpstr>
      <vt:lpstr>Deviation and standard deviation</vt:lpstr>
      <vt:lpstr>C3: one row, fully explained</vt:lpstr>
      <vt:lpstr>C3: your calculation tables</vt:lpstr>
      <vt:lpstr>C3: squared-deviation checkpoint</vt:lpstr>
      <vt:lpstr>C3: sample variance and SD</vt:lpstr>
      <vt:lpstr>C3: variance and SD checkpoint</vt:lpstr>
      <vt:lpstr>C4: coefficient of variation (CV)</vt:lpstr>
      <vt:lpstr>C4: the evidence together</vt:lpstr>
      <vt:lpstr>Section 3: Routine orders</vt:lpstr>
      <vt:lpstr>C5: your recommendation</vt:lpstr>
      <vt:lpstr>C5: recommendation scaffold</vt:lpstr>
      <vt:lpstr>C5: a supported recommendation</vt:lpstr>
      <vt:lpstr>Section 4: An urgent order</vt:lpstr>
      <vt:lpstr>C6a: the 48-hour deadline</vt:lpstr>
      <vt:lpstr>C6a: response scaffold</vt:lpstr>
      <vt:lpstr>C6a: deadline results</vt:lpstr>
      <vt:lpstr>C6b: six more hours</vt:lpstr>
      <vt:lpstr>C6b: revised-decision scaffold</vt:lpstr>
      <vt:lpstr>C6b: the comparison changes</vt:lpstr>
      <vt:lpstr>Why the deadline results changed</vt:lpstr>
      <vt:lpstr>C7: exit question</vt:lpstr>
      <vt:lpstr>An inconvenient 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Jacob Mlynarski</cp:lastModifiedBy>
  <cp:revision>1</cp:revision>
  <dcterms:created xsi:type="dcterms:W3CDTF">2026-09-08T14:12:29Z</dcterms:created>
  <dcterms:modified xsi:type="dcterms:W3CDTF">2026-09-26T04:37:33Z</dcterms:modified>
</cp:coreProperties>
</file>