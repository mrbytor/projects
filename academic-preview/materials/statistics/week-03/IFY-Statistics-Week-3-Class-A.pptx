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98"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D32320-6907-4A3E-B5FF-93EEF5A68FC4}" v="2" dt="2026-09-24T04:46:23.0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4" d="100"/>
          <a:sy n="144" d="100"/>
        </p:scale>
        <p:origin x="1018"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Mlynarski" userId="5c8c5ce1edfe4dd6" providerId="LiveId" clId="{C91FEEE5-5543-5F5D-804A-A29147691C79}"/>
    <pc:docChg chg="custSel addSld modSld sldOrd">
      <pc:chgData name="Jacob Mlynarski" userId="5c8c5ce1edfe4dd6" providerId="LiveId" clId="{C91FEEE5-5543-5F5D-804A-A29147691C79}" dt="2026-09-24T08:07:09.602" v="59" actId="20577"/>
      <pc:docMkLst>
        <pc:docMk/>
      </pc:docMkLst>
      <pc:sldChg chg="addSp modSp mod">
        <pc:chgData name="Jacob Mlynarski" userId="5c8c5ce1edfe4dd6" providerId="LiveId" clId="{C91FEEE5-5543-5F5D-804A-A29147691C79}" dt="2026-09-24T08:07:09.602" v="59" actId="20577"/>
        <pc:sldMkLst>
          <pc:docMk/>
          <pc:sldMk cId="3742239900" sldId="256"/>
        </pc:sldMkLst>
        <pc:spChg chg="mod">
          <ac:chgData name="Jacob Mlynarski" userId="5c8c5ce1edfe4dd6" providerId="LiveId" clId="{C91FEEE5-5543-5F5D-804A-A29147691C79}" dt="2026-09-24T08:07:09.602" v="59" actId="20577"/>
          <ac:spMkLst>
            <pc:docMk/>
            <pc:sldMk cId="3742239900" sldId="256"/>
            <ac:spMk id="2" creationId="{5090EE20-CE2E-3013-3D7D-3F4166CBDECE}"/>
          </ac:spMkLst>
        </pc:spChg>
      </pc:sldChg>
      <pc:sldChg chg="addSp modSp modAnim">
        <pc:chgData name="Jacob Mlynarski" userId="5c8c5ce1edfe4dd6" providerId="LiveId" clId="{C91FEEE5-5543-5F5D-804A-A29147691C79}" dt="2026-09-24T07:41:43.056" v="7"/>
        <pc:sldMkLst>
          <pc:docMk/>
          <pc:sldMk cId="3281361232" sldId="260"/>
        </pc:sldMkLst>
        <pc:picChg chg="mod">
          <ac:chgData name="Jacob Mlynarski" userId="5c8c5ce1edfe4dd6" providerId="LiveId" clId="{C91FEEE5-5543-5F5D-804A-A29147691C79}" dt="2026-09-24T07:39:38.067" v="1"/>
          <ac:picMkLst>
            <pc:docMk/>
            <pc:sldMk cId="3281361232" sldId="260"/>
            <ac:picMk id="6" creationId="{00000000-0000-0000-0000-000000000000}"/>
          </ac:picMkLst>
        </pc:picChg>
        <pc:picChg chg="add mod">
          <ac:chgData name="Jacob Mlynarski" userId="5c8c5ce1edfe4dd6" providerId="LiveId" clId="{C91FEEE5-5543-5F5D-804A-A29147691C79}" dt="2026-09-24T07:41:39.551" v="6" actId="14100"/>
          <ac:picMkLst>
            <pc:docMk/>
            <pc:sldMk cId="3281361232" sldId="260"/>
            <ac:picMk id="1026" creationId="{F78E1CC4-FDBA-6C0E-8091-CF83213C5B0E}"/>
          </ac:picMkLst>
        </pc:picChg>
      </pc:sldChg>
      <pc:sldChg chg="modSp">
        <pc:chgData name="Jacob Mlynarski" userId="5c8c5ce1edfe4dd6" providerId="LiveId" clId="{C91FEEE5-5543-5F5D-804A-A29147691C79}" dt="2026-09-24T07:58:17.928" v="23"/>
        <pc:sldMkLst>
          <pc:docMk/>
          <pc:sldMk cId="3281361232" sldId="270"/>
        </pc:sldMkLst>
        <pc:picChg chg="mod">
          <ac:chgData name="Jacob Mlynarski" userId="5c8c5ce1edfe4dd6" providerId="LiveId" clId="{C91FEEE5-5543-5F5D-804A-A29147691C79}" dt="2026-09-24T07:58:17.928" v="23"/>
          <ac:picMkLst>
            <pc:docMk/>
            <pc:sldMk cId="3281361232" sldId="270"/>
            <ac:picMk id="7" creationId="{00000000-0000-0000-0000-000000000000}"/>
          </ac:picMkLst>
        </pc:picChg>
      </pc:sldChg>
      <pc:sldChg chg="addSp delSp modSp new mod">
        <pc:chgData name="Jacob Mlynarski" userId="5c8c5ce1edfe4dd6" providerId="LiveId" clId="{C91FEEE5-5543-5F5D-804A-A29147691C79}" dt="2026-09-24T07:53:10.887" v="21" actId="478"/>
        <pc:sldMkLst>
          <pc:docMk/>
          <pc:sldMk cId="1347323769" sldId="298"/>
        </pc:sldMkLst>
        <pc:spChg chg="mod">
          <ac:chgData name="Jacob Mlynarski" userId="5c8c5ce1edfe4dd6" providerId="LiveId" clId="{C91FEEE5-5543-5F5D-804A-A29147691C79}" dt="2026-09-24T07:53:08.402" v="20" actId="20577"/>
          <ac:spMkLst>
            <pc:docMk/>
            <pc:sldMk cId="1347323769" sldId="298"/>
            <ac:spMk id="3" creationId="{7FCA53F8-4D2C-3907-9EFD-C70275470151}"/>
          </ac:spMkLst>
        </pc:spChg>
        <pc:picChg chg="add mod">
          <ac:chgData name="Jacob Mlynarski" userId="5c8c5ce1edfe4dd6" providerId="LiveId" clId="{C91FEEE5-5543-5F5D-804A-A29147691C79}" dt="2026-09-24T07:52:59.456" v="16" actId="14100"/>
          <ac:picMkLst>
            <pc:docMk/>
            <pc:sldMk cId="1347323769" sldId="298"/>
            <ac:picMk id="2052" creationId="{11576BBE-6FB4-9CD4-2396-487DA8ABBD7F}"/>
          </ac:picMkLst>
        </pc:picChg>
      </pc:sldChg>
    </pc:docChg>
  </pc:docChgLst>
  <pc:docChgLst>
    <pc:chgData name="Jacob Mlynarski" userId="5c8c5ce1edfe4dd6" providerId="LiveId" clId="{EA34CD77-B017-48F4-80DC-E98A38773462}"/>
    <pc:docChg chg="custSel delSld modSld">
      <pc:chgData name="Jacob Mlynarski" userId="5c8c5ce1edfe4dd6" providerId="LiveId" clId="{EA34CD77-B017-48F4-80DC-E98A38773462}" dt="2026-10-07T15:08:28.446" v="14" actId="2696"/>
      <pc:docMkLst>
        <pc:docMk/>
      </pc:docMkLst>
      <pc:sldChg chg="modSp mod">
        <pc:chgData name="Jacob Mlynarski" userId="5c8c5ce1edfe4dd6" providerId="LiveId" clId="{EA34CD77-B017-48F4-80DC-E98A38773462}" dt="2026-09-24T04:51:23.701" v="13" actId="1076"/>
        <pc:sldMkLst>
          <pc:docMk/>
          <pc:sldMk cId="3281361232" sldId="260"/>
        </pc:sldMkLst>
        <pc:graphicFrameChg chg="modGraphic">
          <ac:chgData name="Jacob Mlynarski" userId="5c8c5ce1edfe4dd6" providerId="LiveId" clId="{EA34CD77-B017-48F4-80DC-E98A38773462}" dt="2026-09-24T04:47:19.368" v="10" actId="20577"/>
          <ac:graphicFrameMkLst>
            <pc:docMk/>
            <pc:sldMk cId="3281361232" sldId="260"/>
            <ac:graphicFrameMk id="10" creationId="{00000000-0000-0000-0000-000000000000}"/>
          </ac:graphicFrameMkLst>
        </pc:graphicFrameChg>
        <pc:picChg chg="mod modCrop">
          <ac:chgData name="Jacob Mlynarski" userId="5c8c5ce1edfe4dd6" providerId="LiveId" clId="{EA34CD77-B017-48F4-80DC-E98A38773462}" dt="2026-09-24T04:51:14.807" v="12" actId="34807"/>
          <ac:picMkLst>
            <pc:docMk/>
            <pc:sldMk cId="3281361232" sldId="260"/>
            <ac:picMk id="6" creationId="{00000000-0000-0000-0000-000000000000}"/>
          </ac:picMkLst>
        </pc:picChg>
        <pc:picChg chg="mod">
          <ac:chgData name="Jacob Mlynarski" userId="5c8c5ce1edfe4dd6" providerId="LiveId" clId="{EA34CD77-B017-48F4-80DC-E98A38773462}" dt="2026-09-24T04:50:55.233" v="11" actId="1076"/>
          <ac:picMkLst>
            <pc:docMk/>
            <pc:sldMk cId="3281361232" sldId="260"/>
            <ac:picMk id="7" creationId="{00000000-0000-0000-0000-000000000000}"/>
          </ac:picMkLst>
        </pc:picChg>
        <pc:picChg chg="mod">
          <ac:chgData name="Jacob Mlynarski" userId="5c8c5ce1edfe4dd6" providerId="LiveId" clId="{EA34CD77-B017-48F4-80DC-E98A38773462}" dt="2026-09-24T04:51:23.701" v="13" actId="1076"/>
          <ac:picMkLst>
            <pc:docMk/>
            <pc:sldMk cId="3281361232" sldId="260"/>
            <ac:picMk id="9" creationId="{00000000-0000-0000-0000-000000000000}"/>
          </ac:picMkLst>
        </pc:picChg>
      </pc:sldChg>
      <pc:sldChg chg="del">
        <pc:chgData name="Jacob Mlynarski" userId="5c8c5ce1edfe4dd6" providerId="LiveId" clId="{EA34CD77-B017-48F4-80DC-E98A38773462}" dt="2026-10-07T15:08:28.446" v="14" actId="2696"/>
        <pc:sldMkLst>
          <pc:docMk/>
          <pc:sldMk cId="585103263"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a:t>
            </a:r>
          </a:p>
          <a:p>
            <a:r>
              <a:t>Outcomes: calculate central tendency and spread, select suitable summaries, recognise skewness. This is Class A of the agreed Week 3 sequence. All fictional contexts are instructional examples.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r>
              <a:t>Quick retrieval. The population is all 200 gym members. The sample contains the 16 surveyed members. Exercise time is quantitative and continuous even when respondents round it to whole hours. Do not spend more than 90 seconds here.</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a:t>
            </a:r>
          </a:p>
          <a:p>
            <a:r>
              <a:t>Brief section transition. Retain authentic Bellerbys photographic divider.</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r>
              <a:t>Illustrative fictional cafe case. Invite several suggestions before naming the mean, median and mode. Do not reveal 8 until next slide.</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a:t>
            </a:r>
          </a:p>
          <a:p>
            <a:r>
              <a:t>Say x-bar (sample mean), mu (population mean), capital sigma (add the values), x sub i (one observed value), lowercase n and capital N. Both mean formulas use total divided by count. Here the six waits total 48 minutes, so the mean is 8 minutes. Keep every symbol tied to its meaning.</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r>
              <a:t>The target group is all 200 members. Our 16-member sample totals 104 hours and has mean 6.5 hours. This sample mean estimates the unknown population mean. A different sample can give a different result. The formula rule is the same, but the group and purpose differ.</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a:p>
            <a:r>
              <a:t>Revised exercise data and prompts are original fictional teaching examples. The gym sample now contains 16 observations with total104 hours.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2.5 minutes.</a:t>
            </a:r>
          </a:p>
          <a:p>
            <a:r>
              <a:t>Two stages: find the middle position, then use the value or values there. For n=6, position3.5 means average the3rd and4th values:6and8, giving7. For n=7, position4 selects the4th value,8. A position is not the median value.</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r>
              <a:t>Two separate hypothetical datasets. For1000 observations, position500.5 means average values500and501:62and68, giving65. For1001, take the501st value; here68. Ask which values are needed before calculating.</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r>
              <a:t>Bimodal means two modes. In the course convention a dataset with all distinct values has no mode. The mode may be categorical; we do not take a numerical mean of drink names.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4.5 minutes.</a:t>
            </a:r>
          </a:p>
          <a:p>
            <a:r>
              <a:t>A1. Give students time to order the 12 values and calculate before revealing the next slide. Then ask which measure describes a typical call and why. Mean 7.25, median 3.5, mode 3 minutes.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r>
              <a:t>Ordered data:1,1,2,3,3,3,4,4,5,6,7,48. Median=(3+4)/2=3.5. Mode3 occurs3times. Dotplot shows all12observations on a continuous unbroken scale. Mean7.25 andmedian3.5 are distinct positions. Sullivan p126; recalculate full precision, use two decimals for mean.</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 minutes.</a:t>
            </a:r>
          </a:p>
          <a:p>
            <a:r>
              <a:t>A2. Ask for a prediction before calculations. Each part starts from the original 12 calls, total 87. Correction: 87-48+5=44, n=12, mean 3.6667 and median 3.5. Deletion: 87-48=39, n=11, mean 3.54545 and median 3. Remove a value only when there is a valid reason, such as an ineligible observation.</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r>
              <a:t>Replacement exactmean44/12=3.6667; deletion39/11=3.54545. Removing max leaves eleven observations whose middle is3. Correcting max to5 leaves middle3and4. Sullivan-inspired extension; generated question.</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3.5 minutes.</a:t>
            </a:r>
          </a:p>
          <a:p>
            <a:r>
              <a:t>A3. Fictional teaching case. Mean and median refer to the same complete group of 14 staff. Allow independent calculation, followed by a short paired explanation. Typical salary: median £1,280. Total payroll: 14 times £1,475 = £20,650. Median times count is £17,920 and does not recover the total.</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a:p>
            <a:r>
              <a:t>Revised exercise data and prompts are original fictional teaching examples. The gym sample now contains 16 observations with total104 hours.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r>
              <a:t>A3 answers. Use the mean to recover the total because mean equals total divided by count. The median identifies the middle salary and has no such total-preserving property. A few high salaries make the median more representative of the typical employee here.</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a:p>
            <a:r>
              <a:t>Revised exercise data and prompts are original fictional teaching examples. The gym sample now contains 16 observations with total104 hours.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a:t>
            </a:r>
          </a:p>
          <a:p>
            <a:r>
              <a:t>Brief section transition. Retain authentic Bellerbys photographic divider.</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r>
              <a:t>Range is quantitative and has the same units as the data. Revisits familiar cases to avoid another scenario.</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r>
              <a:t>A4. Keep this conceptual check brief. Both means are 10 and both ranges are 8. Ask for evidence about where the observations lie. A has three observations at 10 and two at the endpoints. B has one at 10 and four at the endpoints. Standard deviation comes in Class B.</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r>
              <a:t>The exact dotplots share the same scale. Dataset A has three values at 10; B has two values at 6 and two at 14. The range describes the endpoints but misses the difference in internal spread.</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a:t>
            </a:r>
          </a:p>
          <a:p>
            <a:r>
              <a:t>Brief section transition. Retain authentic Bellerbys photographic divider.</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r>
              <a:t>Revisit the phone dataset deliberately. The range from1to48 is47minutes, but most calls are short. We need another measure for central spread with less influence from extremes. Introduce quartiles next. Do not delete observations to calculate this summary.</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r>
              <a:t>Quartile means a quarter point. Q1: lower quartile, near25%; Q2: median, near50%; Q3: upper quartile, near75%. The diagram shows ordered proportions, not equal distances in data units. With small datasets or ties, do not promise exactly25% strictly below each quartile. Locate the middle half before arithmetic.</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2.5 minutes.</a:t>
            </a:r>
          </a:p>
          <a:p>
            <a:r>
              <a:t>Use the class quartile convention throughout: positions (n+1)/4, (n+1)/2 and 3(n+1)/4, followed by linear interpolation for fractional positions. For n=11 the positions are 3,6,9. Ask students which information is still needed: the observed values at those positions.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r>
              <a:t>Bellerbys Week3 lecture scores:48,52,57,61,64,72,76,77,81,85,88. Match positions3,6,9 with values57,72,81. Ask students to point to both rows. Define IQR on the next slide before using it.</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r>
              <a:t>Say interquartile range before using IQR. Inter means between. It is upper quartile minus lower quartile:81−57=24points. This is a spread, not a central value. A smaller IQR means central values are closer together. IQR is less affected by extremes than the range.</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3.5 minutes.</a:t>
            </a:r>
          </a:p>
          <a:p>
            <a:r>
              <a:t>Teach interpolation using the displayed 3.25 example: 8+0.25(12-8)=9. Then pause for the new 45-second check. At position 2.75 between values 10 and 18, start at 10 and move 0.75 of the gap: 10+0.75(18-10)=16. Invite students to explain the 0.75 before giving the answer.</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a:t>
            </a:r>
          </a:p>
          <a:p>
            <a:r>
              <a:t>Bellerbys Seminar2 employee data; units are transactions. Show position, neighbours, interpolation. Q1position2.75 is between15and17; Q3position8.25 is between29and30. Q1=16.5,Q3=29.25,IQR12.75. Median23.5 if asked. Fractional summaries are possible even when observations are integer counts.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 minutes.</a:t>
            </a:r>
          </a:p>
          <a:p>
            <a:r>
              <a:t>A5. Protect 8 minutes for students to sort all 16 observations and calculate. The dataset is an original fictional teaching extension of the recurring gym case. Ordered values: 0,1,1,2,3,3,4,5,6,7,8,9,11,12,14,18. Total 104. Quartile positions 4.25,8.5,12.75. Q1=2.25, median=5.5, Q3=10.5, IQR=8.25 hours. Use the table in the revised handout. Keep this original dataset for A6.</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a:p>
            <a:r>
              <a:t>Revised exercise data and prompts are original fictional teaching examples. The gym sample now contains 16 observations with total104 hours.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a:t>
            </a:r>
          </a:p>
          <a:p>
            <a:r>
              <a:t>A5 answers. Q1 is between the 4th value 2 and 5th value 3: 2+0.25(3-2)=2.25. Median averages the 8th value 5 and 9th value 6, giving 5.5. Q3 is between the 12th value 9 and 13th value 11: 9+0.75(11-9)=10.5. IQR=10.5-2.25=8.25 hours. These are values, not positions.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a:p>
            <a:r>
              <a:t>Revised exercise data and prompts are original fictional teaching examples. The gym sample now contains 16 observations with total104 hours.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r>
              <a:t>The five-number summary is 0,2.25,5.5,10.5,18 hours. The IQR measures the spread of the middle half. With finite samples and ties, do not insist that exactly half the observations lie strictly between the quartiles.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a:p>
            <a:r>
              <a:t>Revised exercise data and prompts are original fictional teaching examples. The gym sample now contains 16 observations with total104 hours.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 minutes.</a:t>
            </a:r>
          </a:p>
          <a:p>
            <a:r>
              <a:t>A6 core: replace 18 with 30, keeping n=16. Predict before checking. New total 104-18+30=116, mean 7.25 hours, median 5.5, range 30 and IQR 8.25. Optional stretch adds up to 3 minutes within the lesson buffer: start again with original total104 and replace18 by an unknown so mean7.625. New total122, remaining15 values total86, unknown36. Median and IQR stay unchanged because only the largest value changes. If time is short, set stretch for homework.</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a:p>
            <a:r>
              <a:t>Revised exercise data and prompts are original fictional teaching examples. The gym sample now contains 16 observations with total104 hours.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r>
              <a:t>A6 answers. Emphasise the reason for unchanged median and IQR: the relevant central ordered values stay the same. Resistance means less sensitivity, not that a summary never changes. Stretch answer: 16 times7.625=122; 122-(104-18)=36 hours. The two replacements are separate scenarios.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a:p>
            <a:r>
              <a:t>Revised exercise data and prompts are original fictional teaching examples. The gym sample now contains 16 observations with total104 hours.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a:t>
            </a:r>
          </a:p>
          <a:p>
            <a:r>
              <a:t>Brief section transition. Retain authentic Bellerbys photographic divider.</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r>
              <a:t>Illustrative shapes based on Larson and Farber, printed page 72 (PDF page 96), and Bellerbys Week 3 lecture slide 19. Explain the axes first. Identify skewness from the direction of the long tail. No histogram construction is required.</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r>
              <a:t>These typical unimodal distributions show the usual mean-median pattern. Treat that ordering as a clue, not a universal proof of skewness. A perfectly symmetric distribution with a finite mean and a unique median has the two at its centre.</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r>
              <a:t>A7 part1. Consolidated matching check. Keep discussion brief. Calls match P, right-skewed. Scores match Q, left-skewed. Weights match R, symmetric. Require a reason based on the direction of the tail or the similar spread on both sides.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r>
              <a:t>A7 part1 answers. Matching is only the opening check. Continue directly to the explanation task. Symmetric does not necessarily mean bell-shaped; a uniform distribution is also symmetric.</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r>
              <a:t>A7 part2. Ask students to correct the claim, not merely say it is wrong. Plot P is right-skewed because the few long calls make a tail to the right. For this typical shape the mean is usually greater than the median. Median and IQR describe a typical call and the central spread with less influence from extremes.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r>
              <a:t>A7 part2 answers. Distinguish where most observations lie from the direction of the long tail. Mean-median ordering is a useful clue, not a universal proof. The mean can still be useful when the purpose involves totals.</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r>
              <a:t>Revisit the purpose of choosing centre and spread together. Mode was covered earlier; it answers most-popular-category or most-frequent-value questions. The mean remains useful for totals even when a distribution is asymmetric.</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a:t>
            </a:r>
          </a:p>
          <a:p>
            <a:r>
              <a:t>A8. Three minutes of individual work. Q1 position19/4=4.75, value51+0.75(59-51)=57. Gym with IQR3 has less spread in the central half; this does not assert that every observation is closer to the centre. Disagree with deletion claim: A2 changed median from3.5 to3.</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a:p>
            <a:r>
              <a:t>Revised exercise data and prompts are original fictional teaching examples. The gym sample now contains 16 observations with total104 hours.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r>
              <a:t>A8 answers. Ask for position and value separately. Do not infer complete spread from IQR alone. The phone-call counterexample shows why resistant does not mean never changes. Next class introduces deviation, variance and standard deviation. The core timings total 85.0 minutes, with a three-minute optional A6 stretch and remaining transition buffer.</a:t>
            </a:r>
          </a:p>
          <a:p>
            <a:endParaRPr/>
          </a:p>
          <a:p>
            <a:r>
              <a:t>[Sources]</a:t>
            </a:r>
          </a:p>
          <a:p>
            <a:r>
              <a:t>Visual template: Statistics-Week-2-Class-A.pptx, locked version 1. Original Bellerbys master/layouts, photographic cover/dividers and brand backgrounds retained.</a:t>
            </a:r>
          </a:p>
          <a:p>
            <a:r>
              <a:t>Course content: user-provided Statistics Week 3 Lecture.pptx; Statistics Week 3 Seminar 2 Questions/Answers. Quartiles follow (n+1)p with linear interpolation.</a:t>
            </a:r>
          </a:p>
          <a:p>
            <a:r>
              <a:t>Phone-call dataset: Michael Sullivan III, Statistics: Informed Decisions Using Data, 7th ed., p.126 (uploaded PDF p.156), Example 5/Table 3. Correction/deletion task is an original adaptation.</a:t>
            </a:r>
          </a:p>
          <a:p>
            <a:r>
              <a:t>Distribution-shape teaching reference: Larson &amp; Farber, Elementary Statistics: Picturing the World, 9th ed., p.72 (uploaded PDF p.96). Figures redrawn for this lesson.</a:t>
            </a:r>
          </a:p>
          <a:p>
            <a:r>
              <a:t>Cafe waiting times and paired spread datasets are fictional instructional examples. Exact charts and mathematical figures were computed from the stated values. The 200-member gym context and large-set median examples are fictional teaching extensions. Typeset formulas and quartile diagrams are newly rendered mathematical assets. Campus illustrations were generated with ImageGen and are not documentary photographs of the source participants.</a:t>
            </a:r>
          </a:p>
          <a:p>
            <a:r>
              <a:t>[/Sources]</a:t>
            </a:r>
          </a:p>
          <a:p>
            <a:r>
              <a:t>Revised exercise data and prompts are original fictional teaching examples. The gym sample now contains 16 observations with total104 hours.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der 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4">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5">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1384914"/>
            <a:ext cx="5012602"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and image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ext and imag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ext and logo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112934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11293444" cy="4330731"/>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27F821-23A1-E30C-4CF7-BCB0A54C884C}"/>
              </a:ext>
            </a:extLst>
          </p:cNvPr>
          <p:cNvSpPr>
            <a:spLocks noGrp="1"/>
          </p:cNvSpPr>
          <p:nvPr>
            <p:ph idx="2"/>
          </p:nvPr>
        </p:nvSpPr>
        <p:spPr>
          <a:xfrm>
            <a:off x="6172200" y="1979534"/>
            <a:ext cx="555203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3" y="1979534"/>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Content Placeholder 2">
            <a:extLst>
              <a:ext uri="{FF2B5EF4-FFF2-40B4-BE49-F238E27FC236}">
                <a16:creationId xmlns:a16="http://schemas.microsoft.com/office/drawing/2014/main" id="{39B8B3E1-3E22-853B-33F7-08DB9B6F05C9}"/>
              </a:ext>
            </a:extLst>
          </p:cNvPr>
          <p:cNvSpPr>
            <a:spLocks noGrp="1"/>
          </p:cNvSpPr>
          <p:nvPr>
            <p:ph idx="10"/>
          </p:nvPr>
        </p:nvSpPr>
        <p:spPr>
          <a:xfrm>
            <a:off x="4293873" y="1989591"/>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Content Placeholder 2">
            <a:extLst>
              <a:ext uri="{FF2B5EF4-FFF2-40B4-BE49-F238E27FC236}">
                <a16:creationId xmlns:a16="http://schemas.microsoft.com/office/drawing/2014/main" id="{03F7CAF5-096C-F6FE-105D-033F35B064E8}"/>
              </a:ext>
            </a:extLst>
          </p:cNvPr>
          <p:cNvSpPr>
            <a:spLocks noGrp="1"/>
          </p:cNvSpPr>
          <p:nvPr>
            <p:ph idx="11"/>
          </p:nvPr>
        </p:nvSpPr>
        <p:spPr>
          <a:xfrm>
            <a:off x="8119985" y="1979534"/>
            <a:ext cx="3604253"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ext and stat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8150498"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815049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ext and testimonia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4119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41194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with 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Picture Placeholder 4">
            <a:extLst>
              <a:ext uri="{FF2B5EF4-FFF2-40B4-BE49-F238E27FC236}">
                <a16:creationId xmlns:a16="http://schemas.microsoft.com/office/drawing/2014/main" id="{1D4466F3-6EF4-7C6C-700F-D82BD03B0915}"/>
              </a:ext>
            </a:extLst>
          </p:cNvPr>
          <p:cNvSpPr>
            <a:spLocks noGrp="1"/>
          </p:cNvSpPr>
          <p:nvPr>
            <p:ph type="pic" idx="10"/>
          </p:nvPr>
        </p:nvSpPr>
        <p:spPr>
          <a:xfrm>
            <a:off x="6096000" y="1979613"/>
            <a:ext cx="5627688" cy="4351337"/>
          </a:xfrm>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4" name="Chart Placeholder 3">
            <a:extLst>
              <a:ext uri="{FF2B5EF4-FFF2-40B4-BE49-F238E27FC236}">
                <a16:creationId xmlns:a16="http://schemas.microsoft.com/office/drawing/2014/main" id="{06F8C7EE-44FF-25E2-FD85-4A9A4E59F43C}"/>
              </a:ext>
            </a:extLst>
          </p:cNvPr>
          <p:cNvSpPr>
            <a:spLocks noGrp="1"/>
          </p:cNvSpPr>
          <p:nvPr>
            <p:ph type="chart" idx="10"/>
          </p:nvPr>
        </p:nvSpPr>
        <p:spPr>
          <a:xfrm>
            <a:off x="430213" y="1928813"/>
            <a:ext cx="11293475" cy="4354512"/>
          </a:xfrm>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3" name="Table Placeholder 2">
            <a:extLst>
              <a:ext uri="{FF2B5EF4-FFF2-40B4-BE49-F238E27FC236}">
                <a16:creationId xmlns:a16="http://schemas.microsoft.com/office/drawing/2014/main" id="{9F2E8F34-9DD5-6734-21E2-9B7CCAD9F297}"/>
              </a:ext>
            </a:extLst>
          </p:cNvPr>
          <p:cNvSpPr>
            <a:spLocks noGrp="1"/>
          </p:cNvSpPr>
          <p:nvPr>
            <p:ph type="tbl" idx="10"/>
          </p:nvPr>
        </p:nvSpPr>
        <p:spPr>
          <a:xfrm>
            <a:off x="430213" y="1919288"/>
            <a:ext cx="11293475" cy="4391025"/>
          </a:xfrm>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8C7BB9-ED14-2EE7-B747-6D3AC509C6F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C5B5F42-1935-63EA-A56F-BCFFCC5F384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4A4FD98-5FB3-0F33-190B-F09E379EA8D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577B4DDA-DC7A-BA44-95F8-6F5B47B98114}" type="datetimeFigureOut">
              <a:t>10/7/2026</a:t>
            </a:fld>
            <a:endParaRPr/>
          </a:p>
        </p:txBody>
      </p:sp>
      <p:sp>
        <p:nvSpPr>
          <p:cNvPr id="5" name="Footer Placeholder 4">
            <a:extLst>
              <a:ext uri="{FF2B5EF4-FFF2-40B4-BE49-F238E27FC236}">
                <a16:creationId xmlns:a16="http://schemas.microsoft.com/office/drawing/2014/main" id="{34199F5F-1ACA-4A1A-5173-27733EE4567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FB4C4A5E-3279-A2E1-BFFA-8259ABF8BC49}"/>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15.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15.xml"/><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2.xml"/><Relationship Id="rId1" Type="http://schemas.openxmlformats.org/officeDocument/2006/relationships/slideLayout" Target="../slideLayouts/slideLayout15.xml"/><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EE20-CE2E-3013-3D7D-3F4166CBDECE}"/>
              </a:ext>
            </a:extLst>
          </p:cNvPr>
          <p:cNvSpPr>
            <a:spLocks noGrp="1"/>
          </p:cNvSpPr>
          <p:nvPr>
            <p:ph type="ctrTitle"/>
          </p:nvPr>
        </p:nvSpPr>
        <p:spPr>
          <a:xfrm>
            <a:off x="356140" y="2154460"/>
            <a:ext cx="5626703" cy="4050411"/>
          </a:xfrm>
        </p:spPr>
        <p:txBody>
          <a:bodyPr wrap="square" lIns="91440" tIns="45720" rIns="91440" bIns="45720" anchor="ctr">
            <a:noAutofit/>
          </a:bodyPr>
          <a:lstStyle/>
          <a:p>
            <a:pPr marL="0" indent="0">
              <a:lnSpc>
                <a:spcPct val="103000"/>
              </a:lnSpc>
              <a:buNone/>
            </a:pPr>
            <a:r>
              <a:rPr sz="4860" b="0" i="0">
                <a:solidFill>
                  <a:srgbClr val="FFFFFF"/>
                </a:solidFill>
                <a:latin typeface="Aptos Display"/>
                <a:ea typeface="Aptos Display"/>
                <a:cs typeface="Aptos Display"/>
              </a:rPr>
              <a:t>IFY Statistics</a:t>
            </a:r>
          </a:p>
          <a:p>
            <a:pPr marL="0" indent="0">
              <a:lnSpc>
                <a:spcPct val="103000"/>
              </a:lnSpc>
              <a:buNone/>
            </a:pPr>
            <a:r>
              <a:rPr sz="4860" b="0" i="0">
                <a:solidFill>
                  <a:srgbClr val="FFFFFF"/>
                </a:solidFill>
                <a:latin typeface="Aptos Display"/>
                <a:ea typeface="Aptos Display"/>
                <a:cs typeface="Aptos Display"/>
              </a:rPr>
              <a:t>Week 3 • Class A</a:t>
            </a:r>
            <a:br>
              <a:rPr lang="en-US" sz="4860" b="0" i="0">
                <a:solidFill>
                  <a:srgbClr val="FFFFFF"/>
                </a:solidFill>
                <a:latin typeface="Aptos Display"/>
                <a:ea typeface="Aptos Display"/>
                <a:cs typeface="Aptos Display"/>
              </a:rPr>
            </a:br>
            <a:r>
              <a:rPr lang="en-US" sz="4860" b="0" i="0">
                <a:solidFill>
                  <a:srgbClr val="FFFFFF"/>
                </a:solidFill>
                <a:latin typeface="Aptos Display"/>
                <a:ea typeface="Aptos Display"/>
                <a:cs typeface="Aptos Display"/>
              </a:rPr>
              <a:t>Measuring </a:t>
            </a:r>
            <a:br>
              <a:rPr lang="en-US" sz="4860" b="0" i="0">
                <a:solidFill>
                  <a:srgbClr val="FFFFFF"/>
                </a:solidFill>
                <a:latin typeface="Aptos Display"/>
                <a:ea typeface="Aptos Display"/>
                <a:cs typeface="Aptos Display"/>
              </a:rPr>
            </a:br>
            <a:r>
              <a:rPr lang="en-US" sz="4860" b="0" i="0">
                <a:solidFill>
                  <a:srgbClr val="FFFFFF"/>
                </a:solidFill>
                <a:latin typeface="Aptos Display"/>
                <a:ea typeface="Aptos Display"/>
                <a:cs typeface="Aptos Display"/>
              </a:rPr>
              <a:t>Central </a:t>
            </a:r>
            <a:br>
              <a:rPr lang="en-US" sz="4860" b="0" i="0">
                <a:solidFill>
                  <a:srgbClr val="FFFFFF"/>
                </a:solidFill>
                <a:latin typeface="Aptos Display"/>
                <a:ea typeface="Aptos Display"/>
                <a:cs typeface="Aptos Display"/>
              </a:rPr>
            </a:br>
            <a:r>
              <a:rPr lang="en-US" sz="4860" b="0" i="0">
                <a:solidFill>
                  <a:srgbClr val="FFFFFF"/>
                </a:solidFill>
                <a:latin typeface="Aptos Display"/>
                <a:ea typeface="Aptos Display"/>
                <a:cs typeface="Aptos Display"/>
              </a:rPr>
              <a:t>Tendency</a:t>
            </a:r>
            <a:endParaRPr sz="4860" b="0" i="0">
              <a:solidFill>
                <a:srgbClr val="FFFFFF"/>
              </a:solidFill>
              <a:latin typeface="Aptos Display"/>
              <a:ea typeface="Aptos Display"/>
              <a:cs typeface="Aptos Display"/>
            </a:endParaRPr>
          </a:p>
        </p:txBody>
      </p:sp>
    </p:spTree>
    <p:extLst>
      <p:ext uri="{BB962C8B-B14F-4D97-AF65-F5344CB8AC3E}">
        <p14:creationId xmlns:p14="http://schemas.microsoft.com/office/powerpoint/2010/main" val="3742239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Back to our gym survey</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714375"/>
          </a:xfrm>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A gym wants to know exercise hours for all 200 members.</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It surveys 16 members.</a:t>
            </a:r>
          </a:p>
        </p:txBody>
      </p:sp>
      <p:sp>
        <p:nvSpPr>
          <p:cNvPr id="4" name="S28-text-1">
            <a:extLst>
              <a:ext uri="{FF2B5EF4-FFF2-40B4-BE49-F238E27FC236}">
                <a16:creationId xmlns:a16="http://schemas.microsoft.com/office/drawing/2014/main" id="{6E8FDA36-2041-4DA3-8BDF-C49E6F30E5B1}"/>
              </a:ext>
            </a:extLst>
          </p:cNvPr>
          <p:cNvSpPr>
            <a:spLocks noGrp="1"/>
          </p:cNvSpPr>
          <p:nvPr/>
        </p:nvSpPr>
        <p:spPr>
          <a:xfrm>
            <a:off x="619125" y="2962275"/>
            <a:ext cx="5095875" cy="27432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1. Who is the population?</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 </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2. Who is the sample?</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 </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3. What type of data is time?</a:t>
            </a:r>
          </a:p>
        </p:txBody>
      </p:sp>
      <p:sp>
        <p:nvSpPr>
          <p:cNvPr id="6" name="S28-text-3">
            <a:extLst>
              <a:ext uri="{FF2B5EF4-FFF2-40B4-BE49-F238E27FC236}">
                <a16:creationId xmlns:a16="http://schemas.microsoft.com/office/drawing/2014/main" id="{A766A2B6-542F-4C22-AD57-ADB24EBE4368}"/>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Population: the whole group we want to understand. Sample: the members we ask.</a:t>
            </a:r>
          </a:p>
        </p:txBody>
      </p:sp>
      <p:pic>
        <p:nvPicPr>
          <p:cNvPr id="12" name="Picture 11"/>
          <p:cNvPicPr>
            <a:picLocks noChangeAspect="1"/>
          </p:cNvPicPr>
          <p:nvPr/>
        </p:nvPicPr>
        <p:blipFill>
          <a:blip r:embed="rId3"/>
          <a:srcRect l="68600" t="8287" r="967" b="40055"/>
          <a:stretch/>
        </p:blipFill>
        <p:spPr>
          <a:xfrm>
            <a:off x="6479762" y="2905125"/>
            <a:ext cx="4756880" cy="2695575"/>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marL="0" indent="0">
              <a:lnSpc>
                <a:spcPct val="90000"/>
              </a:lnSpc>
              <a:buNone/>
            </a:pPr>
            <a:r>
              <a:rPr sz="5400" b="0" i="0">
                <a:solidFill>
                  <a:srgbClr val="FFFFFF"/>
                </a:solidFill>
                <a:latin typeface="Aptos Display"/>
                <a:ea typeface="Aptos Display"/>
                <a:cs typeface="Aptos Display"/>
              </a:rPr>
              <a:t>Section 1:</a:t>
            </a:r>
          </a:p>
          <a:p>
            <a:pPr marL="0" indent="0">
              <a:lnSpc>
                <a:spcPct val="90000"/>
              </a:lnSpc>
              <a:buNone/>
            </a:pPr>
            <a:r>
              <a:rPr sz="5400" b="0" i="0">
                <a:solidFill>
                  <a:srgbClr val="FFFFFF"/>
                </a:solidFill>
                <a:latin typeface="Aptos Display"/>
                <a:ea typeface="Aptos Display"/>
                <a:cs typeface="Aptos Display"/>
              </a:rPr>
              <a:t>Finding a</a:t>
            </a:r>
          </a:p>
          <a:p>
            <a:pPr marL="0" indent="0">
              <a:lnSpc>
                <a:spcPct val="90000"/>
              </a:lnSpc>
              <a:buNone/>
            </a:pPr>
            <a:r>
              <a:rPr sz="5400" b="0" i="0">
                <a:solidFill>
                  <a:srgbClr val="FFFFFF"/>
                </a:solidFill>
                <a:latin typeface="Aptos Display"/>
                <a:ea typeface="Aptos Display"/>
                <a:cs typeface="Aptos Display"/>
              </a:rPr>
              <a:t>typical value</a:t>
            </a:r>
          </a:p>
        </p:txBody>
      </p:sp>
    </p:spTree>
    <p:extLst>
      <p:ext uri="{BB962C8B-B14F-4D97-AF65-F5344CB8AC3E}">
        <p14:creationId xmlns:p14="http://schemas.microsoft.com/office/powerpoint/2010/main" val="3281361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is a typical wait?</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714375"/>
          </a:xfrm>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Six customers record their waiting time, in minutes.</a:t>
            </a:r>
          </a:p>
        </p:txBody>
      </p:sp>
      <p:sp>
        <p:nvSpPr>
          <p:cNvPr id="4" name="S28-text-1">
            <a:extLst>
              <a:ext uri="{FF2B5EF4-FFF2-40B4-BE49-F238E27FC236}">
                <a16:creationId xmlns:a16="http://schemas.microsoft.com/office/drawing/2014/main" id="{6E8FDA36-2041-4DA3-8BDF-C49E6F30E5B1}"/>
              </a:ext>
            </a:extLst>
          </p:cNvPr>
          <p:cNvSpPr>
            <a:spLocks noGrp="1"/>
          </p:cNvSpPr>
          <p:nvPr/>
        </p:nvSpPr>
        <p:spPr>
          <a:xfrm>
            <a:off x="619125" y="2962275"/>
            <a:ext cx="5095875" cy="27432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4, 6, 6, 8, 11, 13</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 </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Choose one number to</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describe a typical wait.</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 </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Why did you choose it?</a:t>
            </a:r>
          </a:p>
        </p:txBody>
      </p:sp>
      <p:sp>
        <p:nvSpPr>
          <p:cNvPr id="6" name="S28-text-3">
            <a:extLst>
              <a:ext uri="{FF2B5EF4-FFF2-40B4-BE49-F238E27FC236}">
                <a16:creationId xmlns:a16="http://schemas.microsoft.com/office/drawing/2014/main" id="{A766A2B6-542F-4C22-AD57-ADB24EBE4368}"/>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A typical value describes the centre of a dataset.</a:t>
            </a:r>
          </a:p>
        </p:txBody>
      </p:sp>
      <p:pic>
        <p:nvPicPr>
          <p:cNvPr id="12" name="Picture 11"/>
          <p:cNvPicPr>
            <a:picLocks noChangeAspect="1"/>
          </p:cNvPicPr>
          <p:nvPr/>
        </p:nvPicPr>
        <p:blipFill>
          <a:blip r:embed="rId3"/>
          <a:srcRect l="967" t="20718" r="68646" b="27624"/>
          <a:stretch/>
        </p:blipFill>
        <p:spPr>
          <a:xfrm>
            <a:off x="6479762" y="2905125"/>
            <a:ext cx="4756880" cy="2695575"/>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Mean: share the total</a:t>
            </a:r>
          </a:p>
        </p:txBody>
      </p:sp>
      <p:sp>
        <p:nvSpPr>
          <p:cNvPr id="3" name="rev-1">
            <a:extLst>
              <a:ext uri="{FF2B5EF4-FFF2-40B4-BE49-F238E27FC236}">
                <a16:creationId xmlns:a16="http://schemas.microsoft.com/office/drawing/2014/main" id="{210B2960-06B2-4DA7-AD76-6A91502ADE19}"/>
              </a:ext>
            </a:extLst>
          </p:cNvPr>
          <p:cNvSpPr>
            <a:spLocks noGrp="1"/>
          </p:cNvSpPr>
          <p:nvPr/>
        </p:nvSpPr>
        <p:spPr>
          <a:xfrm>
            <a:off x="428625" y="1933575"/>
            <a:ext cx="11334750" cy="4191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Add every value, then divide by the number of values.</a:t>
            </a:r>
          </a:p>
        </p:txBody>
      </p:sp>
      <p:sp>
        <p:nvSpPr>
          <p:cNvPr id="4" name="rev-2">
            <a:extLst>
              <a:ext uri="{FF2B5EF4-FFF2-40B4-BE49-F238E27FC236}">
                <a16:creationId xmlns:a16="http://schemas.microsoft.com/office/drawing/2014/main" id="{62D35328-0564-4BD1-829A-FD0DD77D3BB0}"/>
              </a:ext>
            </a:extLst>
          </p:cNvPr>
          <p:cNvSpPr>
            <a:spLocks noGrp="1"/>
          </p:cNvSpPr>
          <p:nvPr/>
        </p:nvSpPr>
        <p:spPr>
          <a:xfrm>
            <a:off x="523875" y="2543175"/>
            <a:ext cx="5238750" cy="36195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rPr sz="2175" b="1">
                <a:solidFill>
                  <a:srgbClr val="111111"/>
                </a:solidFill>
                <a:latin typeface="Aptos"/>
                <a:ea typeface="Aptos"/>
                <a:cs typeface="Aptos"/>
              </a:rPr>
              <a:t>Sample mean: x-bar</a:t>
            </a:r>
          </a:p>
        </p:txBody>
      </p:sp>
      <p:sp>
        <p:nvSpPr>
          <p:cNvPr id="5" name="rev-3">
            <a:extLst>
              <a:ext uri="{FF2B5EF4-FFF2-40B4-BE49-F238E27FC236}">
                <a16:creationId xmlns:a16="http://schemas.microsoft.com/office/drawing/2014/main" id="{F58E7E6D-213E-4395-BFEC-3D253170C74D}"/>
              </a:ext>
            </a:extLst>
          </p:cNvPr>
          <p:cNvSpPr>
            <a:spLocks noGrp="1"/>
          </p:cNvSpPr>
          <p:nvPr/>
        </p:nvSpPr>
        <p:spPr>
          <a:xfrm>
            <a:off x="6238875" y="2543175"/>
            <a:ext cx="5429250" cy="36195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rPr sz="2175" b="1">
                <a:solidFill>
                  <a:srgbClr val="111111"/>
                </a:solidFill>
                <a:latin typeface="Aptos"/>
                <a:ea typeface="Aptos"/>
                <a:cs typeface="Aptos"/>
              </a:rPr>
              <a:t>Population mean: mu</a:t>
            </a:r>
          </a:p>
        </p:txBody>
      </p:sp>
      <p:pic>
        <p:nvPicPr>
          <p:cNvPr id="6" name="Picture 5"/>
          <p:cNvPicPr>
            <a:picLocks noChangeAspect="1"/>
          </p:cNvPicPr>
          <p:nvPr/>
        </p:nvPicPr>
        <p:blipFill>
          <a:blip r:embed="rId3"/>
          <a:srcRect/>
          <a:stretch>
            <a:fillRect/>
          </a:stretch>
        </p:blipFill>
        <p:spPr>
          <a:xfrm>
            <a:off x="2305536" y="2933700"/>
            <a:ext cx="1643529" cy="838199"/>
          </a:xfrm>
          <a:prstGeom prst="rect">
            <a:avLst/>
          </a:prstGeom>
        </p:spPr>
      </p:pic>
      <p:pic>
        <p:nvPicPr>
          <p:cNvPr id="7" name="Picture 6"/>
          <p:cNvPicPr>
            <a:picLocks noChangeAspect="1"/>
          </p:cNvPicPr>
          <p:nvPr/>
        </p:nvPicPr>
        <p:blipFill>
          <a:blip r:embed="rId4"/>
          <a:stretch/>
        </p:blipFill>
        <p:spPr>
          <a:xfrm>
            <a:off x="8174437" y="2905125"/>
            <a:ext cx="1558126" cy="838200"/>
          </a:xfrm>
          <a:prstGeom prst="rect">
            <a:avLst/>
          </a:prstGeom>
        </p:spPr>
      </p:pic>
      <p:sp>
        <p:nvSpPr>
          <p:cNvPr id="8" name="rev-4">
            <a:extLst>
              <a:ext uri="{FF2B5EF4-FFF2-40B4-BE49-F238E27FC236}">
                <a16:creationId xmlns:a16="http://schemas.microsoft.com/office/drawing/2014/main" id="{EF74464A-54D6-4222-BE5E-E319DA00765F}"/>
              </a:ext>
            </a:extLst>
          </p:cNvPr>
          <p:cNvSpPr>
            <a:spLocks noGrp="1"/>
          </p:cNvSpPr>
          <p:nvPr/>
        </p:nvSpPr>
        <p:spPr>
          <a:xfrm>
            <a:off x="523875" y="4114800"/>
            <a:ext cx="4572000" cy="333375"/>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Our six waiting times</a:t>
            </a:r>
          </a:p>
        </p:txBody>
      </p:sp>
      <p:pic>
        <p:nvPicPr>
          <p:cNvPr id="9" name="Picture 8"/>
          <p:cNvPicPr>
            <a:picLocks noChangeAspect="1"/>
          </p:cNvPicPr>
          <p:nvPr/>
        </p:nvPicPr>
        <p:blipFill>
          <a:blip r:embed="rId5"/>
          <a:stretch/>
        </p:blipFill>
        <p:spPr>
          <a:xfrm>
            <a:off x="476250" y="4834760"/>
            <a:ext cx="5334000" cy="545709"/>
          </a:xfrm>
          <a:prstGeom prst="rect">
            <a:avLst/>
          </a:prstGeom>
        </p:spPr>
      </p:pic>
      <p:graphicFrame>
        <p:nvGraphicFramePr>
          <p:cNvPr id="10" name="Table 9"/>
          <p:cNvGraphicFramePr/>
          <p:nvPr>
            <p:extLst>
              <p:ext uri="{D42A27DB-BD31-4B8C-83A1-F6EECF244321}">
                <p14:modId xmlns:p14="http://schemas.microsoft.com/office/powerpoint/2010/main" val="3093403709"/>
              </p:ext>
            </p:extLst>
          </p:nvPr>
        </p:nvGraphicFramePr>
        <p:xfrm>
          <a:off x="6238875" y="3943350"/>
          <a:ext cx="5429250" cy="2194560"/>
        </p:xfrm>
        <a:graphic>
          <a:graphicData uri="http://schemas.openxmlformats.org/drawingml/2006/table">
            <a:tbl>
              <a:tblPr/>
              <a:tblGrid>
                <a:gridCol w="2343150">
                  <a:extLst>
                    <a:ext uri="{9D8B030D-6E8A-4147-A177-3AD203B41FA5}">
                      <a16:colId xmlns:a16="http://schemas.microsoft.com/office/drawing/2014/main" val="20000"/>
                    </a:ext>
                  </a:extLst>
                </a:gridCol>
                <a:gridCol w="3086100">
                  <a:extLst>
                    <a:ext uri="{9D8B030D-6E8A-4147-A177-3AD203B41FA5}">
                      <a16:colId xmlns:a16="http://schemas.microsoft.com/office/drawing/2014/main" val="20001"/>
                    </a:ext>
                  </a:extLst>
                </a:gridCol>
              </a:tblGrid>
              <a:tr h="361950">
                <a:tc>
                  <a:txBody>
                    <a:bodyPr/>
                    <a:lstStyle/>
                    <a:p>
                      <a:r>
                        <a:rPr sz="1800" b="1">
                          <a:solidFill>
                            <a:srgbClr val="FFFFFF"/>
                          </a:solidFill>
                          <a:latin typeface="Aptos"/>
                          <a:ea typeface="Aptos"/>
                          <a:cs typeface="Aptos"/>
                        </a:rPr>
                        <a:t>Symbol / name</a:t>
                      </a:r>
                    </a:p>
                  </a:txBody>
                  <a:tcPr anchor="ctr">
                    <a:solidFill>
                      <a:srgbClr val="D6171D"/>
                    </a:solidFill>
                  </a:tcPr>
                </a:tc>
                <a:tc>
                  <a:txBody>
                    <a:bodyPr/>
                    <a:lstStyle/>
                    <a:p>
                      <a:r>
                        <a:rPr sz="1800" b="1">
                          <a:solidFill>
                            <a:srgbClr val="FFFFFF"/>
                          </a:solidFill>
                          <a:latin typeface="Aptos"/>
                          <a:ea typeface="Aptos"/>
                          <a:cs typeface="Aptos"/>
                        </a:rPr>
                        <a:t>Meaning</a:t>
                      </a:r>
                    </a:p>
                  </a:txBody>
                  <a:tcPr anchor="ctr">
                    <a:solidFill>
                      <a:srgbClr val="D6171D"/>
                    </a:solidFill>
                  </a:tcPr>
                </a:tc>
                <a:extLst>
                  <a:ext uri="{0D108BD9-81ED-4DB2-BD59-A6C34878D82A}">
                    <a16:rowId xmlns:a16="http://schemas.microsoft.com/office/drawing/2014/main" val="10000"/>
                  </a:ext>
                </a:extLst>
              </a:tr>
              <a:tr h="457200">
                <a:tc>
                  <a:txBody>
                    <a:bodyPr/>
                    <a:lstStyle/>
                    <a:p>
                      <a:r>
                        <a:rPr sz="1800" b="0">
                          <a:solidFill>
                            <a:srgbClr val="111111"/>
                          </a:solidFill>
                          <a:latin typeface="Aptos"/>
                          <a:ea typeface="Aptos"/>
                          <a:cs typeface="Aptos"/>
                        </a:rPr>
                        <a:t>xᵢ  (x sub i)</a:t>
                      </a:r>
                    </a:p>
                  </a:txBody>
                  <a:tcPr anchor="ctr">
                    <a:solidFill>
                      <a:srgbClr val="EFF8FF"/>
                    </a:solidFill>
                  </a:tcPr>
                </a:tc>
                <a:tc>
                  <a:txBody>
                    <a:bodyPr/>
                    <a:lstStyle/>
                    <a:p>
                      <a:r>
                        <a:rPr sz="1800" b="0">
                          <a:solidFill>
                            <a:srgbClr val="111111"/>
                          </a:solidFill>
                          <a:latin typeface="Aptos"/>
                          <a:ea typeface="Aptos"/>
                          <a:cs typeface="Aptos"/>
                        </a:rPr>
                        <a:t>One value, </a:t>
                      </a:r>
                      <a:r>
                        <a:rPr lang="en-US" sz="1800" b="0">
                          <a:solidFill>
                            <a:srgbClr val="111111"/>
                          </a:solidFill>
                          <a:latin typeface="Aptos"/>
                          <a:ea typeface="Aptos"/>
                          <a:cs typeface="Aptos"/>
                        </a:rPr>
                        <a:t>labeled</a:t>
                      </a:r>
                      <a:r>
                        <a:rPr sz="1800" b="0">
                          <a:solidFill>
                            <a:srgbClr val="111111"/>
                          </a:solidFill>
                          <a:latin typeface="Aptos"/>
                          <a:ea typeface="Aptos"/>
                          <a:cs typeface="Aptos"/>
                        </a:rPr>
                        <a:t> </a:t>
                      </a:r>
                      <a:r>
                        <a:rPr sz="1800" b="0" err="1">
                          <a:solidFill>
                            <a:srgbClr val="111111"/>
                          </a:solidFill>
                          <a:latin typeface="Aptos"/>
                          <a:ea typeface="Aptos"/>
                          <a:cs typeface="Aptos"/>
                        </a:rPr>
                        <a:t>i</a:t>
                      </a:r>
                      <a:r>
                        <a:rPr sz="1800" b="0">
                          <a:solidFill>
                            <a:srgbClr val="111111"/>
                          </a:solidFill>
                          <a:latin typeface="Aptos"/>
                          <a:ea typeface="Aptos"/>
                          <a:cs typeface="Aptos"/>
                        </a:rPr>
                        <a:t>.</a:t>
                      </a:r>
                    </a:p>
                  </a:txBody>
                  <a:tcPr anchor="ctr">
                    <a:solidFill>
                      <a:srgbClr val="EFF8FF"/>
                    </a:solidFill>
                  </a:tcPr>
                </a:tc>
                <a:extLst>
                  <a:ext uri="{0D108BD9-81ED-4DB2-BD59-A6C34878D82A}">
                    <a16:rowId xmlns:a16="http://schemas.microsoft.com/office/drawing/2014/main" val="10001"/>
                  </a:ext>
                </a:extLst>
              </a:tr>
              <a:tr h="457200">
                <a:tc>
                  <a:txBody>
                    <a:bodyPr/>
                    <a:lstStyle/>
                    <a:p>
                      <a:r>
                        <a:rPr sz="1800" b="0">
                          <a:solidFill>
                            <a:srgbClr val="111111"/>
                          </a:solidFill>
                          <a:latin typeface="Aptos"/>
                          <a:ea typeface="Aptos"/>
                          <a:cs typeface="Aptos"/>
                        </a:rPr>
                        <a:t>Σ  (capital sigma)</a:t>
                      </a:r>
                    </a:p>
                  </a:txBody>
                  <a:tcPr anchor="ctr">
                    <a:solidFill>
                      <a:srgbClr val="FFFFFF"/>
                    </a:solidFill>
                  </a:tcPr>
                </a:tc>
                <a:tc>
                  <a:txBody>
                    <a:bodyPr/>
                    <a:lstStyle/>
                    <a:p>
                      <a:r>
                        <a:rPr sz="1800" b="0">
                          <a:solidFill>
                            <a:srgbClr val="111111"/>
                          </a:solidFill>
                          <a:latin typeface="Aptos"/>
                          <a:ea typeface="Aptos"/>
                          <a:cs typeface="Aptos"/>
                        </a:rPr>
                        <a:t>Add the values.</a:t>
                      </a:r>
                    </a:p>
                  </a:txBody>
                  <a:tcPr anchor="ctr">
                    <a:solidFill>
                      <a:srgbClr val="FFFFFF"/>
                    </a:solidFill>
                  </a:tcPr>
                </a:tc>
                <a:extLst>
                  <a:ext uri="{0D108BD9-81ED-4DB2-BD59-A6C34878D82A}">
                    <a16:rowId xmlns:a16="http://schemas.microsoft.com/office/drawing/2014/main" val="10002"/>
                  </a:ext>
                </a:extLst>
              </a:tr>
              <a:tr h="457200">
                <a:tc>
                  <a:txBody>
                    <a:bodyPr/>
                    <a:lstStyle/>
                    <a:p>
                      <a:r>
                        <a:rPr sz="1800" b="0">
                          <a:solidFill>
                            <a:srgbClr val="111111"/>
                          </a:solidFill>
                          <a:latin typeface="Aptos"/>
                          <a:ea typeface="Aptos"/>
                          <a:cs typeface="Aptos"/>
                        </a:rPr>
                        <a:t>n  (lowercase n)</a:t>
                      </a:r>
                    </a:p>
                  </a:txBody>
                  <a:tcPr anchor="ctr">
                    <a:solidFill>
                      <a:srgbClr val="EFF8FF"/>
                    </a:solidFill>
                  </a:tcPr>
                </a:tc>
                <a:tc>
                  <a:txBody>
                    <a:bodyPr/>
                    <a:lstStyle/>
                    <a:p>
                      <a:r>
                        <a:rPr sz="1800" b="0">
                          <a:solidFill>
                            <a:srgbClr val="111111"/>
                          </a:solidFill>
                          <a:latin typeface="Aptos"/>
                          <a:ea typeface="Aptos"/>
                          <a:cs typeface="Aptos"/>
                        </a:rPr>
                        <a:t>Number in the sample.</a:t>
                      </a:r>
                    </a:p>
                  </a:txBody>
                  <a:tcPr anchor="ctr">
                    <a:solidFill>
                      <a:srgbClr val="EFF8FF"/>
                    </a:solidFill>
                  </a:tcPr>
                </a:tc>
                <a:extLst>
                  <a:ext uri="{0D108BD9-81ED-4DB2-BD59-A6C34878D82A}">
                    <a16:rowId xmlns:a16="http://schemas.microsoft.com/office/drawing/2014/main" val="10003"/>
                  </a:ext>
                </a:extLst>
              </a:tr>
              <a:tr h="457200">
                <a:tc>
                  <a:txBody>
                    <a:bodyPr/>
                    <a:lstStyle/>
                    <a:p>
                      <a:r>
                        <a:rPr sz="1800" b="0">
                          <a:solidFill>
                            <a:srgbClr val="111111"/>
                          </a:solidFill>
                          <a:latin typeface="Aptos"/>
                          <a:ea typeface="Aptos"/>
                          <a:cs typeface="Aptos"/>
                        </a:rPr>
                        <a:t>N  (capital N)</a:t>
                      </a:r>
                    </a:p>
                  </a:txBody>
                  <a:tcPr anchor="ctr">
                    <a:solidFill>
                      <a:srgbClr val="FFFFFF"/>
                    </a:solidFill>
                  </a:tcPr>
                </a:tc>
                <a:tc>
                  <a:txBody>
                    <a:bodyPr/>
                    <a:lstStyle/>
                    <a:p>
                      <a:r>
                        <a:rPr sz="1800" b="0">
                          <a:solidFill>
                            <a:srgbClr val="111111"/>
                          </a:solidFill>
                          <a:latin typeface="Aptos"/>
                          <a:ea typeface="Aptos"/>
                          <a:cs typeface="Aptos"/>
                        </a:rPr>
                        <a:t>Number in the population.</a:t>
                      </a:r>
                    </a:p>
                  </a:txBody>
                  <a:tcPr anchor="ctr">
                    <a:solidFill>
                      <a:srgbClr val="FFFFFF"/>
                    </a:solidFill>
                  </a:tcPr>
                </a:tc>
                <a:extLst>
                  <a:ext uri="{0D108BD9-81ED-4DB2-BD59-A6C34878D82A}">
                    <a16:rowId xmlns:a16="http://schemas.microsoft.com/office/drawing/2014/main" val="10004"/>
                  </a:ext>
                </a:extLst>
              </a:tr>
            </a:tbl>
          </a:graphicData>
        </a:graphic>
      </p:graphicFrame>
      <p:pic>
        <p:nvPicPr>
          <p:cNvPr id="1026" name="Picture 2" descr="Hatchan | One Piece Wiki | Fandom">
            <a:extLst>
              <a:ext uri="{FF2B5EF4-FFF2-40B4-BE49-F238E27FC236}">
                <a16:creationId xmlns:a16="http://schemas.microsoft.com/office/drawing/2014/main" id="{F78E1CC4-FDBA-6C0E-8091-CF83213C5B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59025" y="0"/>
            <a:ext cx="1832975" cy="3028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361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do we have two means?</a:t>
            </a:r>
          </a:p>
        </p:txBody>
      </p:sp>
      <p:sp>
        <p:nvSpPr>
          <p:cNvPr id="3" name="rev-5">
            <a:extLst>
              <a:ext uri="{FF2B5EF4-FFF2-40B4-BE49-F238E27FC236}">
                <a16:creationId xmlns:a16="http://schemas.microsoft.com/office/drawing/2014/main" id="{75B1988C-9547-44E7-A007-7085859D9F77}"/>
              </a:ext>
            </a:extLst>
          </p:cNvPr>
          <p:cNvSpPr>
            <a:spLocks noGrp="1"/>
          </p:cNvSpPr>
          <p:nvPr/>
        </p:nvSpPr>
        <p:spPr>
          <a:xfrm>
            <a:off x="428625" y="1933575"/>
            <a:ext cx="11144250" cy="4191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We want the mean exercise time for all 200 gym members.</a:t>
            </a:r>
          </a:p>
        </p:txBody>
      </p:sp>
      <p:sp>
        <p:nvSpPr>
          <p:cNvPr id="4" name="rev-6">
            <a:extLst>
              <a:ext uri="{FF2B5EF4-FFF2-40B4-BE49-F238E27FC236}">
                <a16:creationId xmlns:a16="http://schemas.microsoft.com/office/drawing/2014/main" id="{6B674DF9-73D1-4CAD-B353-09020F8F5A16}"/>
              </a:ext>
            </a:extLst>
          </p:cNvPr>
          <p:cNvSpPr>
            <a:spLocks noGrp="1"/>
          </p:cNvSpPr>
          <p:nvPr/>
        </p:nvSpPr>
        <p:spPr>
          <a:xfrm>
            <a:off x="619125" y="2714625"/>
            <a:ext cx="5238750" cy="428625"/>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Population: all 200 members</a:t>
            </a:r>
          </a:p>
        </p:txBody>
      </p:sp>
      <p:sp>
        <p:nvSpPr>
          <p:cNvPr id="5" name="rev-7">
            <a:extLst>
              <a:ext uri="{FF2B5EF4-FFF2-40B4-BE49-F238E27FC236}">
                <a16:creationId xmlns:a16="http://schemas.microsoft.com/office/drawing/2014/main" id="{7D93C6CE-9952-402D-9966-03444FACA568}"/>
              </a:ext>
            </a:extLst>
          </p:cNvPr>
          <p:cNvSpPr>
            <a:spLocks noGrp="1"/>
          </p:cNvSpPr>
          <p:nvPr/>
        </p:nvSpPr>
        <p:spPr>
          <a:xfrm>
            <a:off x="619125" y="3362325"/>
            <a:ext cx="5095875" cy="142875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μ (mu) is the population mean.</a:t>
            </a:r>
          </a:p>
          <a:p>
            <a:pPr algn="l">
              <a:defRPr sz="2175" b="0">
                <a:solidFill>
                  <a:srgbClr val="111111"/>
                </a:solidFill>
                <a:latin typeface="Aptos"/>
                <a:ea typeface="Aptos"/>
                <a:cs typeface="Aptos"/>
              </a:defRPr>
            </a:pPr>
            <a:r>
              <a:rPr sz="2175" b="0">
                <a:solidFill>
                  <a:srgbClr val="111111"/>
                </a:solidFill>
                <a:latin typeface="Aptos"/>
                <a:ea typeface="Aptos"/>
                <a:cs typeface="Aptos"/>
              </a:rPr>
              <a:t>It describes the whole group.</a:t>
            </a:r>
          </a:p>
          <a:p>
            <a:pPr algn="l">
              <a:defRPr sz="2175" b="0">
                <a:solidFill>
                  <a:srgbClr val="111111"/>
                </a:solidFill>
                <a:latin typeface="Aptos"/>
                <a:ea typeface="Aptos"/>
                <a:cs typeface="Aptos"/>
              </a:defRPr>
            </a:pPr>
            <a:r>
              <a:rPr sz="2175" b="0">
                <a:solidFill>
                  <a:srgbClr val="111111"/>
                </a:solidFill>
                <a:latin typeface="Aptos"/>
                <a:ea typeface="Aptos"/>
                <a:cs typeface="Aptos"/>
              </a:rPr>
              <a:t>Measuring everyone takes time.</a:t>
            </a:r>
          </a:p>
        </p:txBody>
      </p:sp>
      <p:sp>
        <p:nvSpPr>
          <p:cNvPr id="6" name="rev-8">
            <a:extLst>
              <a:ext uri="{FF2B5EF4-FFF2-40B4-BE49-F238E27FC236}">
                <a16:creationId xmlns:a16="http://schemas.microsoft.com/office/drawing/2014/main" id="{C370509C-630D-4183-992B-915272CD3BC1}"/>
              </a:ext>
            </a:extLst>
          </p:cNvPr>
          <p:cNvSpPr>
            <a:spLocks noGrp="1"/>
          </p:cNvSpPr>
          <p:nvPr/>
        </p:nvSpPr>
        <p:spPr>
          <a:xfrm>
            <a:off x="6286500" y="2714625"/>
            <a:ext cx="5238750" cy="428625"/>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Sample: the 16 surveyed</a:t>
            </a:r>
          </a:p>
        </p:txBody>
      </p:sp>
      <p:sp>
        <p:nvSpPr>
          <p:cNvPr id="7" name="rev-9">
            <a:extLst>
              <a:ext uri="{FF2B5EF4-FFF2-40B4-BE49-F238E27FC236}">
                <a16:creationId xmlns:a16="http://schemas.microsoft.com/office/drawing/2014/main" id="{87594899-E41E-4B62-A9CC-E6D3120523A4}"/>
              </a:ext>
            </a:extLst>
          </p:cNvPr>
          <p:cNvSpPr>
            <a:spLocks noGrp="1"/>
          </p:cNvSpPr>
          <p:nvPr/>
        </p:nvSpPr>
        <p:spPr>
          <a:xfrm>
            <a:off x="6286500" y="3362325"/>
            <a:ext cx="5143500" cy="85725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x̄ (x-bar) is the sample mean.</a:t>
            </a:r>
          </a:p>
          <a:p>
            <a:pPr algn="l">
              <a:defRPr sz="2175" b="0">
                <a:solidFill>
                  <a:srgbClr val="111111"/>
                </a:solidFill>
                <a:latin typeface="Aptos"/>
                <a:ea typeface="Aptos"/>
                <a:cs typeface="Aptos"/>
              </a:defRPr>
            </a:pPr>
            <a:r>
              <a:rPr sz="2175" b="0">
                <a:solidFill>
                  <a:srgbClr val="111111"/>
                </a:solidFill>
                <a:latin typeface="Aptos"/>
                <a:ea typeface="Aptos"/>
                <a:cs typeface="Aptos"/>
              </a:rPr>
              <a:t>The sample total is 104 hours.</a:t>
            </a:r>
          </a:p>
        </p:txBody>
      </p:sp>
      <p:pic>
        <p:nvPicPr>
          <p:cNvPr id="8" name="Picture 7"/>
          <p:cNvPicPr>
            <a:picLocks noChangeAspect="1"/>
          </p:cNvPicPr>
          <p:nvPr/>
        </p:nvPicPr>
        <p:blipFill>
          <a:blip r:embed="rId3"/>
          <a:stretch/>
        </p:blipFill>
        <p:spPr>
          <a:xfrm>
            <a:off x="6477000" y="4437679"/>
            <a:ext cx="4524375" cy="697268"/>
          </a:xfrm>
          <a:prstGeom prst="rect">
            <a:avLst/>
          </a:prstGeom>
        </p:spPr>
      </p:pic>
      <p:sp>
        <p:nvSpPr>
          <p:cNvPr id="9" name="rev-10">
            <a:extLst>
              <a:ext uri="{FF2B5EF4-FFF2-40B4-BE49-F238E27FC236}">
                <a16:creationId xmlns:a16="http://schemas.microsoft.com/office/drawing/2014/main" id="{85073C5D-7794-451E-A49A-A621360DF6D4}"/>
              </a:ext>
            </a:extLst>
          </p:cNvPr>
          <p:cNvSpPr>
            <a:spLocks noGrp="1"/>
          </p:cNvSpPr>
          <p:nvPr/>
        </p:nvSpPr>
        <p:spPr>
          <a:xfrm>
            <a:off x="619125" y="5619750"/>
            <a:ext cx="10858500" cy="74295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We use the sample mean to estimate the population mean.</a:t>
            </a:r>
          </a:p>
          <a:p>
            <a:pPr algn="l">
              <a:defRPr sz="2100" b="1">
                <a:solidFill>
                  <a:srgbClr val="111111"/>
                </a:solidFill>
                <a:latin typeface="Aptos"/>
                <a:ea typeface="Aptos"/>
                <a:cs typeface="Aptos"/>
              </a:defRPr>
            </a:pPr>
            <a:r>
              <a:rPr sz="2100" b="1">
                <a:solidFill>
                  <a:srgbClr val="111111"/>
                </a:solidFill>
                <a:latin typeface="Aptos"/>
                <a:ea typeface="Aptos"/>
                <a:cs typeface="Aptos"/>
              </a:rPr>
              <a:t>A different sample may give a different estimate.</a:t>
            </a:r>
          </a:p>
        </p:txBody>
      </p:sp>
    </p:spTree>
    <p:extLst>
      <p:ext uri="{BB962C8B-B14F-4D97-AF65-F5344CB8AC3E}">
        <p14:creationId xmlns:p14="http://schemas.microsoft.com/office/powerpoint/2010/main" val="328136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Median: find the middle</a:t>
            </a:r>
          </a:p>
        </p:txBody>
      </p:sp>
      <p:sp>
        <p:nvSpPr>
          <p:cNvPr id="4" name="S5-text-1">
            <a:extLst>
              <a:ext uri="{FF2B5EF4-FFF2-40B4-BE49-F238E27FC236}">
                <a16:creationId xmlns:a16="http://schemas.microsoft.com/office/drawing/2014/main" id="{7EC92E3E-0373-443A-B226-29735F12BC12}"/>
              </a:ext>
            </a:extLst>
          </p:cNvPr>
          <p:cNvSpPr>
            <a:spLocks noGrp="1"/>
          </p:cNvSpPr>
          <p:nvPr/>
        </p:nvSpPr>
        <p:spPr>
          <a:xfrm>
            <a:off x="666750" y="2847975"/>
            <a:ext cx="5048250" cy="5238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625" b="1">
                <a:solidFill>
                  <a:srgbClr val="111111"/>
                </a:solidFill>
                <a:latin typeface="Aptos"/>
                <a:ea typeface="Aptos"/>
                <a:cs typeface="Aptos"/>
              </a:defRPr>
            </a:pPr>
            <a:r>
              <a:rPr sz="2625" b="1" i="0">
                <a:solidFill>
                  <a:srgbClr val="111111"/>
                </a:solidFill>
                <a:latin typeface="Aptos"/>
                <a:ea typeface="Aptos"/>
                <a:cs typeface="Aptos"/>
              </a:rPr>
              <a:t>Six values: even</a:t>
            </a:r>
          </a:p>
        </p:txBody>
      </p:sp>
      <p:sp>
        <p:nvSpPr>
          <p:cNvPr id="6" name="S5-diagram-3">
            <a:extLst>
              <a:ext uri="{FF2B5EF4-FFF2-40B4-BE49-F238E27FC236}">
                <a16:creationId xmlns:a16="http://schemas.microsoft.com/office/drawing/2014/main" id="{11EA8CD2-929A-49CC-A4D1-B27C45086D4B}"/>
              </a:ext>
            </a:extLst>
          </p:cNvPr>
          <p:cNvSpPr>
            <a:spLocks noGrp="1"/>
          </p:cNvSpPr>
          <p:nvPr/>
        </p:nvSpPr>
        <p:spPr>
          <a:xfrm>
            <a:off x="6057900" y="2952750"/>
            <a:ext cx="0" cy="2476500"/>
          </a:xfrm>
          <a:prstGeom prst="line">
            <a:avLst/>
          </a:prstGeom>
          <a:noFill/>
          <a:ln w="9525">
            <a:solidFill>
              <a:srgbClr val="AAAAAA"/>
            </a:solidFill>
            <a:prstDash val="solid"/>
          </a:ln>
        </p:spPr>
        <p:txBody>
          <a:bodyPr/>
          <a:lstStyle/>
          <a:p>
            <a:endParaRPr/>
          </a:p>
        </p:txBody>
      </p:sp>
      <p:sp>
        <p:nvSpPr>
          <p:cNvPr id="7" name="S5-text-4">
            <a:extLst>
              <a:ext uri="{FF2B5EF4-FFF2-40B4-BE49-F238E27FC236}">
                <a16:creationId xmlns:a16="http://schemas.microsoft.com/office/drawing/2014/main" id="{95F5D7F5-59EA-466E-BD82-6D4120D62692}"/>
              </a:ext>
            </a:extLst>
          </p:cNvPr>
          <p:cNvSpPr>
            <a:spLocks noGrp="1"/>
          </p:cNvSpPr>
          <p:nvPr/>
        </p:nvSpPr>
        <p:spPr>
          <a:xfrm>
            <a:off x="6667500" y="2847975"/>
            <a:ext cx="4857750" cy="5238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625" b="1">
                <a:solidFill>
                  <a:srgbClr val="111111"/>
                </a:solidFill>
                <a:latin typeface="Aptos"/>
                <a:ea typeface="Aptos"/>
                <a:cs typeface="Aptos"/>
              </a:defRPr>
            </a:pPr>
            <a:r>
              <a:rPr sz="2625" b="1" i="0">
                <a:solidFill>
                  <a:srgbClr val="111111"/>
                </a:solidFill>
                <a:latin typeface="Aptos"/>
                <a:ea typeface="Aptos"/>
                <a:cs typeface="Aptos"/>
              </a:rPr>
              <a:t>Seven values: odd</a:t>
            </a:r>
          </a:p>
        </p:txBody>
      </p:sp>
      <p:sp>
        <p:nvSpPr>
          <p:cNvPr id="9" name="S5-text-6">
            <a:extLst>
              <a:ext uri="{FF2B5EF4-FFF2-40B4-BE49-F238E27FC236}">
                <a16:creationId xmlns:a16="http://schemas.microsoft.com/office/drawing/2014/main" id="{B61CFC96-FAE6-4877-957A-786559C96D65}"/>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Sort first. Position 3.5 means average the 3rd and 4th values; position 4 means take the 4th value.</a:t>
            </a:r>
          </a:p>
        </p:txBody>
      </p:sp>
      <p:pic>
        <p:nvPicPr>
          <p:cNvPr id="18" name="Picture 17"/>
          <p:cNvPicPr>
            <a:picLocks noChangeAspect="1"/>
          </p:cNvPicPr>
          <p:nvPr/>
        </p:nvPicPr>
        <p:blipFill>
          <a:blip r:embed="rId3"/>
          <a:stretch/>
        </p:blipFill>
        <p:spPr>
          <a:xfrm>
            <a:off x="523875" y="2001289"/>
            <a:ext cx="11087100" cy="655147"/>
          </a:xfrm>
          <a:prstGeom prst="rect">
            <a:avLst/>
          </a:prstGeom>
        </p:spPr>
      </p:pic>
      <p:pic>
        <p:nvPicPr>
          <p:cNvPr id="19" name="Picture 18"/>
          <p:cNvPicPr>
            <a:picLocks noChangeAspect="1"/>
          </p:cNvPicPr>
          <p:nvPr/>
        </p:nvPicPr>
        <p:blipFill>
          <a:blip r:embed="rId4"/>
          <a:stretch/>
        </p:blipFill>
        <p:spPr>
          <a:xfrm>
            <a:off x="666750" y="3533775"/>
            <a:ext cx="4953000" cy="2095500"/>
          </a:xfrm>
          <a:prstGeom prst="rect">
            <a:avLst/>
          </a:prstGeom>
        </p:spPr>
      </p:pic>
      <p:pic>
        <p:nvPicPr>
          <p:cNvPr id="20" name="Picture 19"/>
          <p:cNvPicPr>
            <a:picLocks noChangeAspect="1"/>
          </p:cNvPicPr>
          <p:nvPr/>
        </p:nvPicPr>
        <p:blipFill>
          <a:blip r:embed="rId5"/>
          <a:stretch/>
        </p:blipFill>
        <p:spPr>
          <a:xfrm>
            <a:off x="6667500" y="3533775"/>
            <a:ext cx="4857750" cy="2095500"/>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same rule works for large sets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191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These two examples use ordered exam scores.</a:t>
            </a:r>
          </a:p>
        </p:txBody>
      </p:sp>
      <p:sp>
        <p:nvSpPr>
          <p:cNvPr id="4" name="S5-text-1">
            <a:extLst>
              <a:ext uri="{FF2B5EF4-FFF2-40B4-BE49-F238E27FC236}">
                <a16:creationId xmlns:a16="http://schemas.microsoft.com/office/drawing/2014/main" id="{7EC92E3E-0373-443A-B226-29735F12BC12}"/>
              </a:ext>
            </a:extLst>
          </p:cNvPr>
          <p:cNvSpPr>
            <a:spLocks noGrp="1"/>
          </p:cNvSpPr>
          <p:nvPr/>
        </p:nvSpPr>
        <p:spPr>
          <a:xfrm>
            <a:off x="666750" y="2847975"/>
            <a:ext cx="5048250" cy="5238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1,000 scores: even</a:t>
            </a:r>
          </a:p>
        </p:txBody>
      </p:sp>
      <p:sp>
        <p:nvSpPr>
          <p:cNvPr id="6" name="S5-diagram-3">
            <a:extLst>
              <a:ext uri="{FF2B5EF4-FFF2-40B4-BE49-F238E27FC236}">
                <a16:creationId xmlns:a16="http://schemas.microsoft.com/office/drawing/2014/main" id="{11EA8CD2-929A-49CC-A4D1-B27C45086D4B}"/>
              </a:ext>
            </a:extLst>
          </p:cNvPr>
          <p:cNvSpPr>
            <a:spLocks noGrp="1"/>
          </p:cNvSpPr>
          <p:nvPr/>
        </p:nvSpPr>
        <p:spPr>
          <a:xfrm>
            <a:off x="6057900" y="2952750"/>
            <a:ext cx="0" cy="2476500"/>
          </a:xfrm>
          <a:prstGeom prst="line">
            <a:avLst/>
          </a:prstGeom>
          <a:noFill/>
          <a:ln w="9525">
            <a:solidFill>
              <a:srgbClr val="AAAAAA"/>
            </a:solidFill>
            <a:prstDash val="solid"/>
          </a:ln>
        </p:spPr>
        <p:txBody>
          <a:bodyPr/>
          <a:lstStyle/>
          <a:p>
            <a:endParaRPr/>
          </a:p>
        </p:txBody>
      </p:sp>
      <p:sp>
        <p:nvSpPr>
          <p:cNvPr id="7" name="S5-text-4">
            <a:extLst>
              <a:ext uri="{FF2B5EF4-FFF2-40B4-BE49-F238E27FC236}">
                <a16:creationId xmlns:a16="http://schemas.microsoft.com/office/drawing/2014/main" id="{95F5D7F5-59EA-466E-BD82-6D4120D62692}"/>
              </a:ext>
            </a:extLst>
          </p:cNvPr>
          <p:cNvSpPr>
            <a:spLocks noGrp="1"/>
          </p:cNvSpPr>
          <p:nvPr/>
        </p:nvSpPr>
        <p:spPr>
          <a:xfrm>
            <a:off x="6667500" y="2847975"/>
            <a:ext cx="4857750" cy="5238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1,001 scores: odd</a:t>
            </a:r>
          </a:p>
        </p:txBody>
      </p:sp>
      <p:sp>
        <p:nvSpPr>
          <p:cNvPr id="9" name="S5-text-6">
            <a:extLst>
              <a:ext uri="{FF2B5EF4-FFF2-40B4-BE49-F238E27FC236}">
                <a16:creationId xmlns:a16="http://schemas.microsoft.com/office/drawing/2014/main" id="{B61CFC96-FAE6-4877-957A-786559C96D65}"/>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Once the scores are ordered, use the middle position(s); there is no need to add every score.</a:t>
            </a:r>
          </a:p>
        </p:txBody>
      </p:sp>
      <p:pic>
        <p:nvPicPr>
          <p:cNvPr id="18" name="Picture 17"/>
          <p:cNvPicPr>
            <a:picLocks noChangeAspect="1"/>
          </p:cNvPicPr>
          <p:nvPr/>
        </p:nvPicPr>
        <p:blipFill>
          <a:blip r:embed="rId3"/>
          <a:stretch/>
        </p:blipFill>
        <p:spPr>
          <a:xfrm>
            <a:off x="666750" y="3543300"/>
            <a:ext cx="4953000" cy="2000250"/>
          </a:xfrm>
          <a:prstGeom prst="rect">
            <a:avLst/>
          </a:prstGeom>
        </p:spPr>
      </p:pic>
      <p:pic>
        <p:nvPicPr>
          <p:cNvPr id="19" name="Picture 18"/>
          <p:cNvPicPr>
            <a:picLocks noChangeAspect="1"/>
          </p:cNvPicPr>
          <p:nvPr/>
        </p:nvPicPr>
        <p:blipFill>
          <a:blip r:embed="rId4"/>
          <a:stretch/>
        </p:blipFill>
        <p:spPr>
          <a:xfrm>
            <a:off x="6667500" y="3543300"/>
            <a:ext cx="4857750" cy="2000250"/>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Mode: the most frequent</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571500"/>
          </a:xfrm>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The mode is the value or category that occurs most often.</a:t>
            </a:r>
          </a:p>
        </p:txBody>
      </p:sp>
      <p:graphicFrame>
        <p:nvGraphicFramePr>
          <p:cNvPr id="9" name="Table 8"/>
          <p:cNvGraphicFramePr/>
          <p:nvPr/>
        </p:nvGraphicFramePr>
        <p:xfrm>
          <a:off x="619125" y="2905125"/>
          <a:ext cx="10953750" cy="2571752"/>
        </p:xfrm>
        <a:graphic>
          <a:graphicData uri="http://schemas.openxmlformats.org/drawingml/2006/table">
            <a:tbl>
              <a:tblPr/>
              <a:tblGrid>
                <a:gridCol w="2286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tblGrid>
              <a:tr h="642938">
                <a:tc>
                  <a:txBody>
                    <a:bodyPr/>
                    <a:lstStyle/>
                    <a:p>
                      <a:pPr>
                        <a:lnSpc>
                          <a:spcPct val="103000"/>
                        </a:lnSpc>
                        <a:buNone/>
                      </a:pPr>
                      <a:r>
                        <a:rPr sz="2175" b="1" i="0">
                          <a:solidFill>
                            <a:srgbClr val="FFFFFF"/>
                          </a:solidFill>
                          <a:latin typeface="Aptos"/>
                          <a:ea typeface="Aptos"/>
                          <a:cs typeface="Aptos"/>
                        </a:rPr>
                        <a:t>Case</a:t>
                      </a:r>
                    </a:p>
                  </a:txBody>
                  <a:tcPr anchor="ctr">
                    <a:solidFill>
                      <a:srgbClr val="D6171D"/>
                    </a:solidFill>
                  </a:tcPr>
                </a:tc>
                <a:tc>
                  <a:txBody>
                    <a:bodyPr/>
                    <a:lstStyle/>
                    <a:p>
                      <a:pPr>
                        <a:lnSpc>
                          <a:spcPct val="103000"/>
                        </a:lnSpc>
                        <a:buNone/>
                      </a:pPr>
                      <a:r>
                        <a:rPr sz="2175" b="1" i="0">
                          <a:solidFill>
                            <a:srgbClr val="FFFFFF"/>
                          </a:solidFill>
                          <a:latin typeface="Aptos"/>
                          <a:ea typeface="Aptos"/>
                          <a:cs typeface="Aptos"/>
                        </a:rPr>
                        <a:t>Data</a:t>
                      </a:r>
                    </a:p>
                  </a:txBody>
                  <a:tcPr anchor="ctr">
                    <a:solidFill>
                      <a:srgbClr val="D6171D"/>
                    </a:solidFill>
                  </a:tcPr>
                </a:tc>
                <a:tc>
                  <a:txBody>
                    <a:bodyPr/>
                    <a:lstStyle/>
                    <a:p>
                      <a:pPr>
                        <a:lnSpc>
                          <a:spcPct val="103000"/>
                        </a:lnSpc>
                        <a:buNone/>
                      </a:pPr>
                      <a:r>
                        <a:rPr sz="2175" b="1" i="0">
                          <a:solidFill>
                            <a:srgbClr val="FFFFFF"/>
                          </a:solidFill>
                          <a:latin typeface="Aptos"/>
                          <a:ea typeface="Aptos"/>
                          <a:cs typeface="Aptos"/>
                        </a:rPr>
                        <a:t>Mode</a:t>
                      </a:r>
                    </a:p>
                  </a:txBody>
                  <a:tcPr anchor="ctr">
                    <a:solidFill>
                      <a:srgbClr val="D6171D"/>
                    </a:solidFill>
                  </a:tcPr>
                </a:tc>
                <a:extLst>
                  <a:ext uri="{0D108BD9-81ED-4DB2-BD59-A6C34878D82A}">
                    <a16:rowId xmlns:a16="http://schemas.microsoft.com/office/drawing/2014/main" val="10000"/>
                  </a:ext>
                </a:extLst>
              </a:tr>
              <a:tr h="642938">
                <a:tc>
                  <a:txBody>
                    <a:bodyPr/>
                    <a:lstStyle/>
                    <a:p>
                      <a:pPr>
                        <a:lnSpc>
                          <a:spcPct val="103000"/>
                        </a:lnSpc>
                        <a:buNone/>
                      </a:pPr>
                      <a:r>
                        <a:rPr sz="2175" b="0" i="0">
                          <a:solidFill>
                            <a:srgbClr val="111111"/>
                          </a:solidFill>
                          <a:latin typeface="Aptos"/>
                          <a:ea typeface="Aptos"/>
                          <a:cs typeface="Aptos"/>
                        </a:rPr>
                        <a:t>One mode</a:t>
                      </a:r>
                    </a:p>
                  </a:txBody>
                  <a:tcPr anchor="ctr">
                    <a:solidFill>
                      <a:srgbClr val="FFFFFF"/>
                    </a:solidFill>
                  </a:tcPr>
                </a:tc>
                <a:tc>
                  <a:txBody>
                    <a:bodyPr/>
                    <a:lstStyle/>
                    <a:p>
                      <a:pPr>
                        <a:lnSpc>
                          <a:spcPct val="103000"/>
                        </a:lnSpc>
                        <a:buNone/>
                      </a:pPr>
                      <a:r>
                        <a:rPr sz="2175" b="0" i="0">
                          <a:solidFill>
                            <a:srgbClr val="111111"/>
                          </a:solidFill>
                          <a:latin typeface="Aptos"/>
                          <a:ea typeface="Aptos"/>
                          <a:cs typeface="Aptos"/>
                        </a:rPr>
                        <a:t>4, 6, 6, 8, 11, 13</a:t>
                      </a:r>
                    </a:p>
                  </a:txBody>
                  <a:tcPr anchor="ctr">
                    <a:solidFill>
                      <a:srgbClr val="FFFFFF"/>
                    </a:solidFill>
                  </a:tcPr>
                </a:tc>
                <a:tc>
                  <a:txBody>
                    <a:bodyPr/>
                    <a:lstStyle/>
                    <a:p>
                      <a:pPr>
                        <a:lnSpc>
                          <a:spcPct val="103000"/>
                        </a:lnSpc>
                        <a:buNone/>
                      </a:pPr>
                      <a:r>
                        <a:rPr sz="2175" b="0" i="0">
                          <a:solidFill>
                            <a:srgbClr val="111111"/>
                          </a:solidFill>
                          <a:latin typeface="Aptos"/>
                          <a:ea typeface="Aptos"/>
                          <a:cs typeface="Aptos"/>
                        </a:rPr>
                        <a:t>6</a:t>
                      </a:r>
                    </a:p>
                  </a:txBody>
                  <a:tcPr anchor="ctr">
                    <a:solidFill>
                      <a:srgbClr val="FFFFFF"/>
                    </a:solidFill>
                  </a:tcPr>
                </a:tc>
                <a:extLst>
                  <a:ext uri="{0D108BD9-81ED-4DB2-BD59-A6C34878D82A}">
                    <a16:rowId xmlns:a16="http://schemas.microsoft.com/office/drawing/2014/main" val="10001"/>
                  </a:ext>
                </a:extLst>
              </a:tr>
              <a:tr h="642938">
                <a:tc>
                  <a:txBody>
                    <a:bodyPr/>
                    <a:lstStyle/>
                    <a:p>
                      <a:pPr>
                        <a:lnSpc>
                          <a:spcPct val="103000"/>
                        </a:lnSpc>
                        <a:buNone/>
                      </a:pPr>
                      <a:r>
                        <a:rPr sz="2175" b="0" i="0">
                          <a:solidFill>
                            <a:srgbClr val="111111"/>
                          </a:solidFill>
                          <a:latin typeface="Aptos"/>
                          <a:ea typeface="Aptos"/>
                          <a:cs typeface="Aptos"/>
                        </a:rPr>
                        <a:t>Two modes</a:t>
                      </a:r>
                    </a:p>
                  </a:txBody>
                  <a:tcPr anchor="ctr">
                    <a:solidFill>
                      <a:srgbClr val="EFF8FF"/>
                    </a:solidFill>
                  </a:tcPr>
                </a:tc>
                <a:tc>
                  <a:txBody>
                    <a:bodyPr/>
                    <a:lstStyle/>
                    <a:p>
                      <a:pPr>
                        <a:lnSpc>
                          <a:spcPct val="103000"/>
                        </a:lnSpc>
                        <a:buNone/>
                      </a:pPr>
                      <a:r>
                        <a:rPr sz="2175" b="0" i="0">
                          <a:solidFill>
                            <a:srgbClr val="111111"/>
                          </a:solidFill>
                          <a:latin typeface="Aptos"/>
                          <a:ea typeface="Aptos"/>
                          <a:cs typeface="Aptos"/>
                        </a:rPr>
                        <a:t>1, 1, 2, 2, 3</a:t>
                      </a:r>
                    </a:p>
                  </a:txBody>
                  <a:tcPr anchor="ctr">
                    <a:solidFill>
                      <a:srgbClr val="EFF8FF"/>
                    </a:solidFill>
                  </a:tcPr>
                </a:tc>
                <a:tc>
                  <a:txBody>
                    <a:bodyPr/>
                    <a:lstStyle/>
                    <a:p>
                      <a:pPr>
                        <a:lnSpc>
                          <a:spcPct val="103000"/>
                        </a:lnSpc>
                        <a:buNone/>
                      </a:pPr>
                      <a:r>
                        <a:rPr sz="2175" b="0" i="0">
                          <a:solidFill>
                            <a:srgbClr val="111111"/>
                          </a:solidFill>
                          <a:latin typeface="Aptos"/>
                          <a:ea typeface="Aptos"/>
                          <a:cs typeface="Aptos"/>
                        </a:rPr>
                        <a:t>1 and 2</a:t>
                      </a:r>
                    </a:p>
                  </a:txBody>
                  <a:tcPr anchor="ctr">
                    <a:solidFill>
                      <a:srgbClr val="EFF8FF"/>
                    </a:solidFill>
                  </a:tcPr>
                </a:tc>
                <a:extLst>
                  <a:ext uri="{0D108BD9-81ED-4DB2-BD59-A6C34878D82A}">
                    <a16:rowId xmlns:a16="http://schemas.microsoft.com/office/drawing/2014/main" val="10002"/>
                  </a:ext>
                </a:extLst>
              </a:tr>
              <a:tr h="642938">
                <a:tc>
                  <a:txBody>
                    <a:bodyPr/>
                    <a:lstStyle/>
                    <a:p>
                      <a:pPr>
                        <a:lnSpc>
                          <a:spcPct val="103000"/>
                        </a:lnSpc>
                        <a:buNone/>
                      </a:pPr>
                      <a:r>
                        <a:rPr sz="2175" b="0" i="0">
                          <a:solidFill>
                            <a:srgbClr val="111111"/>
                          </a:solidFill>
                          <a:latin typeface="Aptos"/>
                          <a:ea typeface="Aptos"/>
                          <a:cs typeface="Aptos"/>
                        </a:rPr>
                        <a:t>No mode</a:t>
                      </a:r>
                    </a:p>
                  </a:txBody>
                  <a:tcPr anchor="ctr">
                    <a:solidFill>
                      <a:srgbClr val="FFFFFF"/>
                    </a:solidFill>
                  </a:tcPr>
                </a:tc>
                <a:tc>
                  <a:txBody>
                    <a:bodyPr/>
                    <a:lstStyle/>
                    <a:p>
                      <a:pPr>
                        <a:lnSpc>
                          <a:spcPct val="103000"/>
                        </a:lnSpc>
                        <a:buNone/>
                      </a:pPr>
                      <a:r>
                        <a:rPr sz="2175" b="0" i="0">
                          <a:solidFill>
                            <a:srgbClr val="111111"/>
                          </a:solidFill>
                          <a:latin typeface="Aptos"/>
                          <a:ea typeface="Aptos"/>
                          <a:cs typeface="Aptos"/>
                        </a:rPr>
                        <a:t>2, 4, 7, 9</a:t>
                      </a:r>
                    </a:p>
                  </a:txBody>
                  <a:tcPr anchor="ctr">
                    <a:solidFill>
                      <a:srgbClr val="FFFFFF"/>
                    </a:solidFill>
                  </a:tcPr>
                </a:tc>
                <a:tc>
                  <a:txBody>
                    <a:bodyPr/>
                    <a:lstStyle/>
                    <a:p>
                      <a:pPr>
                        <a:lnSpc>
                          <a:spcPct val="103000"/>
                        </a:lnSpc>
                        <a:buNone/>
                      </a:pPr>
                      <a:r>
                        <a:rPr sz="2175" b="0" i="0">
                          <a:solidFill>
                            <a:srgbClr val="111111"/>
                          </a:solidFill>
                          <a:latin typeface="Aptos"/>
                          <a:ea typeface="Aptos"/>
                          <a:cs typeface="Aptos"/>
                        </a:rPr>
                        <a:t>None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S10-text-2">
            <a:extLst>
              <a:ext uri="{FF2B5EF4-FFF2-40B4-BE49-F238E27FC236}">
                <a16:creationId xmlns:a16="http://schemas.microsoft.com/office/drawing/2014/main" id="{2647F900-F99A-4033-B78A-462EAF3AB74C}"/>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Categorical example: Tea, Coffee, Tea → mode = Tea.</a:t>
            </a:r>
          </a:p>
        </p:txBody>
      </p:sp>
    </p:spTree>
    <p:extLst>
      <p:ext uri="{BB962C8B-B14F-4D97-AF65-F5344CB8AC3E}">
        <p14:creationId xmlns:p14="http://schemas.microsoft.com/office/powerpoint/2010/main" val="3281361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How long is a typical call?</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714375"/>
          </a:xfrm>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A random sample of 12 phone-call lengths, in minutes:</a:t>
            </a:r>
          </a:p>
        </p:txBody>
      </p:sp>
      <p:sp>
        <p:nvSpPr>
          <p:cNvPr id="4" name="S28-text-1">
            <a:extLst>
              <a:ext uri="{FF2B5EF4-FFF2-40B4-BE49-F238E27FC236}">
                <a16:creationId xmlns:a16="http://schemas.microsoft.com/office/drawing/2014/main" id="{6E8FDA36-2041-4DA3-8BDF-C49E6F30E5B1}"/>
              </a:ext>
            </a:extLst>
          </p:cNvPr>
          <p:cNvSpPr>
            <a:spLocks noGrp="1"/>
          </p:cNvSpPr>
          <p:nvPr/>
        </p:nvSpPr>
        <p:spPr>
          <a:xfrm>
            <a:off x="619125" y="2962275"/>
            <a:ext cx="5095875" cy="27432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1, 7, 4, 1, 2, 4,</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3, 48, 3, 5, 3, 6</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 </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1. Find mean, median and mode.</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2. Choose the best description</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    of a typical call.</a:t>
            </a:r>
          </a:p>
        </p:txBody>
      </p:sp>
      <p:sp>
        <p:nvSpPr>
          <p:cNvPr id="6" name="S28-text-3">
            <a:extLst>
              <a:ext uri="{FF2B5EF4-FFF2-40B4-BE49-F238E27FC236}">
                <a16:creationId xmlns:a16="http://schemas.microsoft.com/office/drawing/2014/main" id="{A766A2B6-542F-4C22-AD57-ADB24EBE4368}"/>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Show your working and give one reason for your choice.</a:t>
            </a:r>
          </a:p>
        </p:txBody>
      </p:sp>
      <p:sp>
        <p:nvSpPr>
          <p:cNvPr id="8" name="Handout-A1">
            <a:extLst>
              <a:ext uri="{FF2B5EF4-FFF2-40B4-BE49-F238E27FC236}">
                <a16:creationId xmlns:a16="http://schemas.microsoft.com/office/drawing/2014/main" id="{CCAAEB87-BF02-403A-8E18-C1D20227D294}"/>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A1</a:t>
            </a:r>
          </a:p>
        </p:txBody>
      </p:sp>
      <p:pic>
        <p:nvPicPr>
          <p:cNvPr id="15" name="Picture 6"/>
          <p:cNvPicPr>
            <a:picLocks noChangeAspect="1"/>
          </p:cNvPicPr>
          <p:nvPr/>
        </p:nvPicPr>
        <p:blipFill>
          <a:blip r:embed="rId3"/>
          <a:stretch>
            <a:fillRect/>
          </a:stretch>
        </p:blipFill>
        <p:spPr>
          <a:xfrm>
            <a:off x="6311265" y="2624328"/>
            <a:ext cx="5136641" cy="3424427"/>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 typical call</a:t>
            </a:r>
          </a:p>
        </p:txBody>
      </p:sp>
      <p:sp>
        <p:nvSpPr>
          <p:cNvPr id="5" name="S34-text-2">
            <a:extLst>
              <a:ext uri="{FF2B5EF4-FFF2-40B4-BE49-F238E27FC236}">
                <a16:creationId xmlns:a16="http://schemas.microsoft.com/office/drawing/2014/main" id="{06065F60-2F57-41DE-AF4F-C3B512D07A6B}"/>
              </a:ext>
            </a:extLst>
          </p:cNvPr>
          <p:cNvSpPr>
            <a:spLocks noGrp="1"/>
          </p:cNvSpPr>
          <p:nvPr/>
        </p:nvSpPr>
        <p:spPr>
          <a:xfrm>
            <a:off x="430816" y="5524500"/>
            <a:ext cx="11293412" cy="7620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The 48-minute call pulls the mean up.</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The median better describes a typical call here.</a:t>
            </a:r>
          </a:p>
        </p:txBody>
      </p:sp>
      <p:pic>
        <p:nvPicPr>
          <p:cNvPr id="12" name="Picture 11"/>
          <p:cNvPicPr>
            <a:picLocks noChangeAspect="1"/>
          </p:cNvPicPr>
          <p:nvPr/>
        </p:nvPicPr>
        <p:blipFill>
          <a:blip r:embed="rId3"/>
          <a:stretch/>
        </p:blipFill>
        <p:spPr>
          <a:xfrm>
            <a:off x="2353715" y="2895886"/>
            <a:ext cx="7484569" cy="2533079"/>
          </a:xfrm>
          <a:prstGeom prst="rect">
            <a:avLst/>
          </a:prstGeom>
        </p:spPr>
      </p:pic>
      <p:sp>
        <p:nvSpPr>
          <p:cNvPr id="7" name="Handout-A1">
            <a:extLst>
              <a:ext uri="{FF2B5EF4-FFF2-40B4-BE49-F238E27FC236}">
                <a16:creationId xmlns:a16="http://schemas.microsoft.com/office/drawing/2014/main" id="{6572445A-EAE9-4A89-803D-FFC75D1128E4}"/>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A1</a:t>
            </a:r>
          </a:p>
        </p:txBody>
      </p:sp>
      <p:pic>
        <p:nvPicPr>
          <p:cNvPr id="14" name="Picture 13"/>
          <p:cNvPicPr>
            <a:picLocks noChangeAspect="1"/>
          </p:cNvPicPr>
          <p:nvPr/>
        </p:nvPicPr>
        <p:blipFill>
          <a:blip r:embed="rId4"/>
          <a:stretch/>
        </p:blipFill>
        <p:spPr>
          <a:xfrm>
            <a:off x="523875" y="2000250"/>
            <a:ext cx="11087100" cy="695325"/>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Correct it or delete it?</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191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Start again with the original 12 calls: total = 87 minutes.</a:t>
            </a:r>
          </a:p>
        </p:txBody>
      </p:sp>
      <p:sp>
        <p:nvSpPr>
          <p:cNvPr id="4" name="S5-text-1">
            <a:extLst>
              <a:ext uri="{FF2B5EF4-FFF2-40B4-BE49-F238E27FC236}">
                <a16:creationId xmlns:a16="http://schemas.microsoft.com/office/drawing/2014/main" id="{7EC92E3E-0373-443A-B226-29735F12BC12}"/>
              </a:ext>
            </a:extLst>
          </p:cNvPr>
          <p:cNvSpPr>
            <a:spLocks noGrp="1"/>
          </p:cNvSpPr>
          <p:nvPr/>
        </p:nvSpPr>
        <p:spPr>
          <a:xfrm>
            <a:off x="666750" y="3162300"/>
            <a:ext cx="5048250" cy="5715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625" b="1">
                <a:solidFill>
                  <a:srgbClr val="111111"/>
                </a:solidFill>
                <a:latin typeface="Aptos"/>
                <a:ea typeface="Aptos"/>
                <a:cs typeface="Aptos"/>
              </a:defRPr>
            </a:pPr>
            <a:r>
              <a:rPr sz="2625" b="1" i="0">
                <a:solidFill>
                  <a:srgbClr val="111111"/>
                </a:solidFill>
                <a:latin typeface="Aptos"/>
                <a:ea typeface="Aptos"/>
                <a:cs typeface="Aptos"/>
              </a:rPr>
              <a:t>(a) Correct a recording error</a:t>
            </a:r>
          </a:p>
        </p:txBody>
      </p:sp>
      <p:sp>
        <p:nvSpPr>
          <p:cNvPr id="5" name="S5-text-2">
            <a:extLst>
              <a:ext uri="{FF2B5EF4-FFF2-40B4-BE49-F238E27FC236}">
                <a16:creationId xmlns:a16="http://schemas.microsoft.com/office/drawing/2014/main" id="{41BDA3EF-DF71-48EA-9D1D-0F1D65C4E1EC}"/>
              </a:ext>
            </a:extLst>
          </p:cNvPr>
          <p:cNvSpPr>
            <a:spLocks noGrp="1"/>
          </p:cNvSpPr>
          <p:nvPr/>
        </p:nvSpPr>
        <p:spPr>
          <a:xfrm>
            <a:off x="666750" y="3914775"/>
            <a:ext cx="4953000" cy="11620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The 48-minute call should be</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5 minutes.</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Find the new mean and median.</a:t>
            </a:r>
          </a:p>
        </p:txBody>
      </p:sp>
      <p:sp>
        <p:nvSpPr>
          <p:cNvPr id="6" name="S5-diagram-3">
            <a:extLst>
              <a:ext uri="{FF2B5EF4-FFF2-40B4-BE49-F238E27FC236}">
                <a16:creationId xmlns:a16="http://schemas.microsoft.com/office/drawing/2014/main" id="{11EA8CD2-929A-49CC-A4D1-B27C45086D4B}"/>
              </a:ext>
            </a:extLst>
          </p:cNvPr>
          <p:cNvSpPr>
            <a:spLocks noGrp="1"/>
          </p:cNvSpPr>
          <p:nvPr/>
        </p:nvSpPr>
        <p:spPr>
          <a:xfrm>
            <a:off x="6057900" y="2952750"/>
            <a:ext cx="0" cy="2476500"/>
          </a:xfrm>
          <a:prstGeom prst="line">
            <a:avLst/>
          </a:prstGeom>
          <a:noFill/>
          <a:ln w="9525">
            <a:solidFill>
              <a:srgbClr val="AAAAAA"/>
            </a:solidFill>
            <a:prstDash val="solid"/>
          </a:ln>
        </p:spPr>
        <p:txBody>
          <a:bodyPr/>
          <a:lstStyle/>
          <a:p>
            <a:endParaRPr/>
          </a:p>
        </p:txBody>
      </p:sp>
      <p:sp>
        <p:nvSpPr>
          <p:cNvPr id="7" name="S5-text-4">
            <a:extLst>
              <a:ext uri="{FF2B5EF4-FFF2-40B4-BE49-F238E27FC236}">
                <a16:creationId xmlns:a16="http://schemas.microsoft.com/office/drawing/2014/main" id="{95F5D7F5-59EA-466E-BD82-6D4120D62692}"/>
              </a:ext>
            </a:extLst>
          </p:cNvPr>
          <p:cNvSpPr>
            <a:spLocks noGrp="1"/>
          </p:cNvSpPr>
          <p:nvPr/>
        </p:nvSpPr>
        <p:spPr>
          <a:xfrm>
            <a:off x="6667500" y="3162300"/>
            <a:ext cx="4857750" cy="5715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625" b="1">
                <a:solidFill>
                  <a:srgbClr val="111111"/>
                </a:solidFill>
                <a:latin typeface="Aptos"/>
                <a:ea typeface="Aptos"/>
                <a:cs typeface="Aptos"/>
              </a:defRPr>
            </a:pPr>
            <a:r>
              <a:rPr sz="2625" b="1" i="0">
                <a:solidFill>
                  <a:srgbClr val="111111"/>
                </a:solidFill>
                <a:latin typeface="Aptos"/>
                <a:ea typeface="Aptos"/>
                <a:cs typeface="Aptos"/>
              </a:rPr>
              <a:t>(b) Exclude an ineligible call</a:t>
            </a:r>
          </a:p>
        </p:txBody>
      </p:sp>
      <p:sp>
        <p:nvSpPr>
          <p:cNvPr id="8" name="S5-text-5">
            <a:extLst>
              <a:ext uri="{FF2B5EF4-FFF2-40B4-BE49-F238E27FC236}">
                <a16:creationId xmlns:a16="http://schemas.microsoft.com/office/drawing/2014/main" id="{9CA57B73-F6FA-4174-A89F-16C838F5C9FA}"/>
              </a:ext>
            </a:extLst>
          </p:cNvPr>
          <p:cNvSpPr>
            <a:spLocks noGrp="1"/>
          </p:cNvSpPr>
          <p:nvPr/>
        </p:nvSpPr>
        <p:spPr>
          <a:xfrm>
            <a:off x="6667500" y="3914775"/>
            <a:ext cx="4857750" cy="11620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The 48-minute call was outside</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the observation period. Delete it.</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Find the new mean and median.</a:t>
            </a:r>
          </a:p>
        </p:txBody>
      </p:sp>
      <p:sp>
        <p:nvSpPr>
          <p:cNvPr id="9" name="S5-text-6">
            <a:extLst>
              <a:ext uri="{FF2B5EF4-FFF2-40B4-BE49-F238E27FC236}">
                <a16:creationId xmlns:a16="http://schemas.microsoft.com/office/drawing/2014/main" id="{B61CFC96-FAE6-4877-957A-786559C96D65}"/>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Treat (a) and (b) separately. Reorder the values after each change.</a:t>
            </a:r>
          </a:p>
        </p:txBody>
      </p:sp>
      <p:sp>
        <p:nvSpPr>
          <p:cNvPr id="10" name="Handout-A2">
            <a:extLst>
              <a:ext uri="{FF2B5EF4-FFF2-40B4-BE49-F238E27FC236}">
                <a16:creationId xmlns:a16="http://schemas.microsoft.com/office/drawing/2014/main" id="{72FC6220-EAFE-4202-BB8B-CDF416A8E1CF}"/>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A2</a:t>
            </a:r>
          </a:p>
        </p:txBody>
      </p:sp>
    </p:spTree>
    <p:extLst>
      <p:ext uri="{BB962C8B-B14F-4D97-AF65-F5344CB8AC3E}">
        <p14:creationId xmlns:p14="http://schemas.microsoft.com/office/powerpoint/2010/main" val="3281361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Check what changed</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571500"/>
          </a:xfrm>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A correction keeps the call. A deletion reduces the sample size.</a:t>
            </a:r>
          </a:p>
        </p:txBody>
      </p:sp>
      <p:sp>
        <p:nvSpPr>
          <p:cNvPr id="5" name="S10-text-2">
            <a:extLst>
              <a:ext uri="{FF2B5EF4-FFF2-40B4-BE49-F238E27FC236}">
                <a16:creationId xmlns:a16="http://schemas.microsoft.com/office/drawing/2014/main" id="{2647F900-F99A-4033-B78A-462EAF3AB74C}"/>
              </a:ext>
            </a:extLst>
          </p:cNvPr>
          <p:cNvSpPr>
            <a:spLocks noGrp="1"/>
          </p:cNvSpPr>
          <p:nvPr/>
        </p:nvSpPr>
        <p:spPr>
          <a:xfrm>
            <a:off x="430816" y="5687568"/>
            <a:ext cx="11293412" cy="621792"/>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2200" b="1" i="0">
                <a:solidFill>
                  <a:srgbClr val="111111"/>
                </a:solidFill>
                <a:latin typeface="Aptos"/>
                <a:ea typeface="Aptos"/>
                <a:cs typeface="Aptos"/>
              </a:rPr>
              <a:t>Resistant means less sensitive to extremes.</a:t>
            </a:r>
          </a:p>
          <a:p>
            <a:pPr marL="0" indent="0" algn="l">
              <a:lnSpc>
                <a:spcPct val="106000"/>
              </a:lnSpc>
              <a:spcBef>
                <a:spcPts val="0"/>
              </a:spcBef>
              <a:spcAft>
                <a:spcPts val="0"/>
              </a:spcAft>
              <a:buNone/>
              <a:defRPr sz="1575" b="0">
                <a:solidFill>
                  <a:srgbClr val="111111"/>
                </a:solidFill>
                <a:latin typeface="Aptos"/>
                <a:ea typeface="Aptos"/>
                <a:cs typeface="Aptos"/>
              </a:defRPr>
            </a:pPr>
            <a:r>
              <a:rPr sz="2200" b="1" i="0">
                <a:solidFill>
                  <a:srgbClr val="111111"/>
                </a:solidFill>
                <a:latin typeface="Aptos"/>
                <a:ea typeface="Aptos"/>
                <a:cs typeface="Aptos"/>
              </a:rPr>
              <a:t>The median can still change.</a:t>
            </a:r>
          </a:p>
        </p:txBody>
      </p:sp>
      <p:sp>
        <p:nvSpPr>
          <p:cNvPr id="7" name="Handout-A2">
            <a:extLst>
              <a:ext uri="{FF2B5EF4-FFF2-40B4-BE49-F238E27FC236}">
                <a16:creationId xmlns:a16="http://schemas.microsoft.com/office/drawing/2014/main" id="{4571E45F-4034-4587-BFDA-9C88AC1BDFE1}"/>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A2</a:t>
            </a:r>
          </a:p>
        </p:txBody>
      </p:sp>
      <p:pic>
        <p:nvPicPr>
          <p:cNvPr id="13" name="Picture 12"/>
          <p:cNvPicPr>
            <a:picLocks noChangeAspect="1"/>
          </p:cNvPicPr>
          <p:nvPr/>
        </p:nvPicPr>
        <p:blipFill>
          <a:blip r:embed="rId3"/>
          <a:stretch/>
        </p:blipFill>
        <p:spPr>
          <a:xfrm>
            <a:off x="619125" y="2905125"/>
            <a:ext cx="10507486" cy="2466975"/>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Typical salary and total payroll</a:t>
            </a:r>
          </a:p>
        </p:txBody>
      </p:sp>
      <p:sp>
        <p:nvSpPr>
          <p:cNvPr id="3" name="Handout-A3">
            <a:extLst>
              <a:ext uri="{FF2B5EF4-FFF2-40B4-BE49-F238E27FC236}">
                <a16:creationId xmlns:a16="http://schemas.microsoft.com/office/drawing/2014/main" id="{62801558-7842-4DCE-81B8-38621BAADF03}"/>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A3</a:t>
            </a:r>
          </a:p>
        </p:txBody>
      </p:sp>
      <p:sp>
        <p:nvSpPr>
          <p:cNvPr id="4" name="rev-11">
            <a:extLst>
              <a:ext uri="{FF2B5EF4-FFF2-40B4-BE49-F238E27FC236}">
                <a16:creationId xmlns:a16="http://schemas.microsoft.com/office/drawing/2014/main" id="{DF6C5EC5-967C-46F1-A40A-8A72FB6A7260}"/>
              </a:ext>
            </a:extLst>
          </p:cNvPr>
          <p:cNvSpPr>
            <a:spLocks noGrp="1"/>
          </p:cNvSpPr>
          <p:nvPr/>
        </p:nvSpPr>
        <p:spPr>
          <a:xfrm>
            <a:off x="428625" y="1933575"/>
            <a:ext cx="11191875" cy="685800"/>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A café employs 14 staff. A few staff earn much more than the others.</a:t>
            </a:r>
          </a:p>
        </p:txBody>
      </p:sp>
      <p:graphicFrame>
        <p:nvGraphicFramePr>
          <p:cNvPr id="5" name="Table 4"/>
          <p:cNvGraphicFramePr/>
          <p:nvPr/>
        </p:nvGraphicFramePr>
        <p:xfrm>
          <a:off x="523875" y="2705100"/>
          <a:ext cx="11049000" cy="1318260"/>
        </p:xfrm>
        <a:graphic>
          <a:graphicData uri="http://schemas.openxmlformats.org/drawingml/2006/table">
            <a:tbl>
              <a:tblPr/>
              <a:tblGrid>
                <a:gridCol w="6953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tblGrid>
              <a:tr h="400050">
                <a:tc>
                  <a:txBody>
                    <a:bodyPr/>
                    <a:lstStyle/>
                    <a:p>
                      <a:r>
                        <a:rPr sz="2175" b="1">
                          <a:solidFill>
                            <a:srgbClr val="FFFFFF"/>
                          </a:solidFill>
                          <a:latin typeface="Aptos"/>
                          <a:ea typeface="Aptos"/>
                          <a:cs typeface="Aptos"/>
                        </a:rPr>
                        <a:t>Monthly salary summary</a:t>
                      </a:r>
                    </a:p>
                  </a:txBody>
                  <a:tcPr anchor="ctr">
                    <a:solidFill>
                      <a:srgbClr val="D6171D"/>
                    </a:solidFill>
                  </a:tcPr>
                </a:tc>
                <a:tc>
                  <a:txBody>
                    <a:bodyPr/>
                    <a:lstStyle/>
                    <a:p>
                      <a:r>
                        <a:rPr sz="2175" b="1">
                          <a:solidFill>
                            <a:srgbClr val="FFFFFF"/>
                          </a:solidFill>
                          <a:latin typeface="Aptos"/>
                          <a:ea typeface="Aptos"/>
                          <a:cs typeface="Aptos"/>
                        </a:rPr>
                        <a:t>Amount</a:t>
                      </a:r>
                    </a:p>
                  </a:txBody>
                  <a:tcPr anchor="ctr">
                    <a:solidFill>
                      <a:srgbClr val="D6171D"/>
                    </a:solidFill>
                  </a:tcPr>
                </a:tc>
                <a:extLst>
                  <a:ext uri="{0D108BD9-81ED-4DB2-BD59-A6C34878D82A}">
                    <a16:rowId xmlns:a16="http://schemas.microsoft.com/office/drawing/2014/main" val="10000"/>
                  </a:ext>
                </a:extLst>
              </a:tr>
              <a:tr h="447675">
                <a:tc>
                  <a:txBody>
                    <a:bodyPr/>
                    <a:lstStyle/>
                    <a:p>
                      <a:r>
                        <a:rPr sz="2175" b="0">
                          <a:solidFill>
                            <a:srgbClr val="111111"/>
                          </a:solidFill>
                          <a:latin typeface="Aptos"/>
                          <a:ea typeface="Aptos"/>
                          <a:cs typeface="Aptos"/>
                        </a:rPr>
                        <a:t>Mean</a:t>
                      </a:r>
                    </a:p>
                  </a:txBody>
                  <a:tcPr anchor="ctr">
                    <a:solidFill>
                      <a:srgbClr val="EFF8FF"/>
                    </a:solidFill>
                  </a:tcPr>
                </a:tc>
                <a:tc>
                  <a:txBody>
                    <a:bodyPr/>
                    <a:lstStyle/>
                    <a:p>
                      <a:r>
                        <a:rPr sz="2175" b="0">
                          <a:solidFill>
                            <a:srgbClr val="111111"/>
                          </a:solidFill>
                          <a:latin typeface="Aptos"/>
                          <a:ea typeface="Aptos"/>
                          <a:cs typeface="Aptos"/>
                        </a:rPr>
                        <a:t>£1,475</a:t>
                      </a:r>
                    </a:p>
                  </a:txBody>
                  <a:tcPr anchor="ctr">
                    <a:solidFill>
                      <a:srgbClr val="EFF8FF"/>
                    </a:solidFill>
                  </a:tcPr>
                </a:tc>
                <a:extLst>
                  <a:ext uri="{0D108BD9-81ED-4DB2-BD59-A6C34878D82A}">
                    <a16:rowId xmlns:a16="http://schemas.microsoft.com/office/drawing/2014/main" val="10001"/>
                  </a:ext>
                </a:extLst>
              </a:tr>
              <a:tr h="447675">
                <a:tc>
                  <a:txBody>
                    <a:bodyPr/>
                    <a:lstStyle/>
                    <a:p>
                      <a:r>
                        <a:rPr sz="2175" b="0">
                          <a:solidFill>
                            <a:srgbClr val="111111"/>
                          </a:solidFill>
                          <a:latin typeface="Aptos"/>
                          <a:ea typeface="Aptos"/>
                          <a:cs typeface="Aptos"/>
                        </a:rPr>
                        <a:t>Median</a:t>
                      </a:r>
                    </a:p>
                  </a:txBody>
                  <a:tcPr anchor="ctr">
                    <a:solidFill>
                      <a:srgbClr val="FFFFFF"/>
                    </a:solidFill>
                  </a:tcPr>
                </a:tc>
                <a:tc>
                  <a:txBody>
                    <a:bodyPr/>
                    <a:lstStyle/>
                    <a:p>
                      <a:r>
                        <a:rPr sz="2175" b="0">
                          <a:solidFill>
                            <a:srgbClr val="111111"/>
                          </a:solidFill>
                          <a:latin typeface="Aptos"/>
                          <a:ea typeface="Aptos"/>
                          <a:cs typeface="Aptos"/>
                        </a:rPr>
                        <a:t>£1,280</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6" name="rev-12">
            <a:extLst>
              <a:ext uri="{FF2B5EF4-FFF2-40B4-BE49-F238E27FC236}">
                <a16:creationId xmlns:a16="http://schemas.microsoft.com/office/drawing/2014/main" id="{0C482912-DC6B-4ABF-8499-F5D34E09FA36}"/>
              </a:ext>
            </a:extLst>
          </p:cNvPr>
          <p:cNvSpPr>
            <a:spLocks noGrp="1"/>
          </p:cNvSpPr>
          <p:nvPr/>
        </p:nvSpPr>
        <p:spPr>
          <a:xfrm>
            <a:off x="523875" y="4324350"/>
            <a:ext cx="11049000" cy="61912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1. Which figure better describes a typical employee’s salary? Why?</a:t>
            </a:r>
          </a:p>
        </p:txBody>
      </p:sp>
      <p:sp>
        <p:nvSpPr>
          <p:cNvPr id="7" name="rev-13">
            <a:extLst>
              <a:ext uri="{FF2B5EF4-FFF2-40B4-BE49-F238E27FC236}">
                <a16:creationId xmlns:a16="http://schemas.microsoft.com/office/drawing/2014/main" id="{FF4C320C-65FF-4B34-8817-C2B982468151}"/>
              </a:ext>
            </a:extLst>
          </p:cNvPr>
          <p:cNvSpPr>
            <a:spLocks noGrp="1"/>
          </p:cNvSpPr>
          <p:nvPr/>
        </p:nvSpPr>
        <p:spPr>
          <a:xfrm>
            <a:off x="523875" y="4981575"/>
            <a:ext cx="11049000" cy="45720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2. Calculate the café’s total monthly payroll.</a:t>
            </a:r>
          </a:p>
        </p:txBody>
      </p:sp>
      <p:sp>
        <p:nvSpPr>
          <p:cNvPr id="8" name="rev-14">
            <a:extLst>
              <a:ext uri="{FF2B5EF4-FFF2-40B4-BE49-F238E27FC236}">
                <a16:creationId xmlns:a16="http://schemas.microsoft.com/office/drawing/2014/main" id="{28936272-11FA-492E-ABC5-47DA939EEDA0}"/>
              </a:ext>
            </a:extLst>
          </p:cNvPr>
          <p:cNvSpPr>
            <a:spLocks noGrp="1"/>
          </p:cNvSpPr>
          <p:nvPr/>
        </p:nvSpPr>
        <p:spPr>
          <a:xfrm>
            <a:off x="523875" y="5572125"/>
            <a:ext cx="11049000" cy="61912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3. Explain why median × 14 may give the wrong total.</a:t>
            </a:r>
          </a:p>
        </p:txBody>
      </p:sp>
    </p:spTree>
    <p:extLst>
      <p:ext uri="{BB962C8B-B14F-4D97-AF65-F5344CB8AC3E}">
        <p14:creationId xmlns:p14="http://schemas.microsoft.com/office/powerpoint/2010/main" val="328136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purpose determines the measure</a:t>
            </a:r>
          </a:p>
        </p:txBody>
      </p:sp>
      <p:sp>
        <p:nvSpPr>
          <p:cNvPr id="3" name="Handout-A3">
            <a:extLst>
              <a:ext uri="{FF2B5EF4-FFF2-40B4-BE49-F238E27FC236}">
                <a16:creationId xmlns:a16="http://schemas.microsoft.com/office/drawing/2014/main" id="{7D73D3AF-529A-4754-938E-C43CE1E88E58}"/>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A3</a:t>
            </a:r>
          </a:p>
        </p:txBody>
      </p:sp>
      <p:sp>
        <p:nvSpPr>
          <p:cNvPr id="4" name="rev-15">
            <a:extLst>
              <a:ext uri="{FF2B5EF4-FFF2-40B4-BE49-F238E27FC236}">
                <a16:creationId xmlns:a16="http://schemas.microsoft.com/office/drawing/2014/main" id="{A5B57B45-7F90-4707-B63D-667A459BD4C3}"/>
              </a:ext>
            </a:extLst>
          </p:cNvPr>
          <p:cNvSpPr>
            <a:spLocks noGrp="1"/>
          </p:cNvSpPr>
          <p:nvPr/>
        </p:nvSpPr>
        <p:spPr>
          <a:xfrm>
            <a:off x="523875" y="2047875"/>
            <a:ext cx="11096625" cy="41910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1. Typical salary: median = £1,280</a:t>
            </a:r>
          </a:p>
        </p:txBody>
      </p:sp>
      <p:sp>
        <p:nvSpPr>
          <p:cNvPr id="5" name="rev-16">
            <a:extLst>
              <a:ext uri="{FF2B5EF4-FFF2-40B4-BE49-F238E27FC236}">
                <a16:creationId xmlns:a16="http://schemas.microsoft.com/office/drawing/2014/main" id="{FCC5C31F-FA7C-40B6-834C-9EC2947FA307}"/>
              </a:ext>
            </a:extLst>
          </p:cNvPr>
          <p:cNvSpPr>
            <a:spLocks noGrp="1"/>
          </p:cNvSpPr>
          <p:nvPr/>
        </p:nvSpPr>
        <p:spPr>
          <a:xfrm>
            <a:off x="809625" y="2533650"/>
            <a:ext cx="10572750" cy="52387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The few high salaries have less influence on the median.</a:t>
            </a:r>
          </a:p>
        </p:txBody>
      </p:sp>
      <p:sp>
        <p:nvSpPr>
          <p:cNvPr id="6" name="rev-17">
            <a:extLst>
              <a:ext uri="{FF2B5EF4-FFF2-40B4-BE49-F238E27FC236}">
                <a16:creationId xmlns:a16="http://schemas.microsoft.com/office/drawing/2014/main" id="{1A4523D9-6113-4064-AAA1-6C280A75FA6F}"/>
              </a:ext>
            </a:extLst>
          </p:cNvPr>
          <p:cNvSpPr>
            <a:spLocks noGrp="1"/>
          </p:cNvSpPr>
          <p:nvPr/>
        </p:nvSpPr>
        <p:spPr>
          <a:xfrm>
            <a:off x="523875" y="3238500"/>
            <a:ext cx="11096625" cy="43815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2. Total payroll: use the mean for these 14 staff</a:t>
            </a:r>
          </a:p>
        </p:txBody>
      </p:sp>
      <p:pic>
        <p:nvPicPr>
          <p:cNvPr id="7" name="Picture 6"/>
          <p:cNvPicPr>
            <a:picLocks noChangeAspect="1"/>
          </p:cNvPicPr>
          <p:nvPr/>
        </p:nvPicPr>
        <p:blipFill>
          <a:blip r:embed="rId3"/>
          <a:stretch/>
        </p:blipFill>
        <p:spPr>
          <a:xfrm>
            <a:off x="952500" y="3766849"/>
            <a:ext cx="10096500" cy="657802"/>
          </a:xfrm>
          <a:prstGeom prst="rect">
            <a:avLst/>
          </a:prstGeom>
        </p:spPr>
      </p:pic>
      <p:sp>
        <p:nvSpPr>
          <p:cNvPr id="8" name="rev-18">
            <a:extLst>
              <a:ext uri="{FF2B5EF4-FFF2-40B4-BE49-F238E27FC236}">
                <a16:creationId xmlns:a16="http://schemas.microsoft.com/office/drawing/2014/main" id="{ED9B85F5-CC30-4D94-BB67-1981E476DD06}"/>
              </a:ext>
            </a:extLst>
          </p:cNvPr>
          <p:cNvSpPr>
            <a:spLocks noGrp="1"/>
          </p:cNvSpPr>
          <p:nvPr/>
        </p:nvSpPr>
        <p:spPr>
          <a:xfrm>
            <a:off x="523875" y="4810125"/>
            <a:ext cx="11096625" cy="40005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3. The median tells us the middle salary.</a:t>
            </a:r>
          </a:p>
        </p:txBody>
      </p:sp>
      <p:sp>
        <p:nvSpPr>
          <p:cNvPr id="9" name="rev-19">
            <a:extLst>
              <a:ext uri="{FF2B5EF4-FFF2-40B4-BE49-F238E27FC236}">
                <a16:creationId xmlns:a16="http://schemas.microsoft.com/office/drawing/2014/main" id="{899F1559-C8D8-42AE-8F0F-DD316FBA4423}"/>
              </a:ext>
            </a:extLst>
          </p:cNvPr>
          <p:cNvSpPr>
            <a:spLocks noGrp="1"/>
          </p:cNvSpPr>
          <p:nvPr/>
        </p:nvSpPr>
        <p:spPr>
          <a:xfrm>
            <a:off x="809625" y="5257800"/>
            <a:ext cx="10572750" cy="40005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It does not preserve the total across all staff.</a:t>
            </a:r>
          </a:p>
        </p:txBody>
      </p:sp>
      <p:pic>
        <p:nvPicPr>
          <p:cNvPr id="10" name="Picture 9"/>
          <p:cNvPicPr>
            <a:picLocks noChangeAspect="1"/>
          </p:cNvPicPr>
          <p:nvPr/>
        </p:nvPicPr>
        <p:blipFill>
          <a:blip r:embed="rId4"/>
          <a:stretch/>
        </p:blipFill>
        <p:spPr>
          <a:xfrm>
            <a:off x="962828" y="5734050"/>
            <a:ext cx="6456343" cy="552450"/>
          </a:xfrm>
          <a:prstGeom prst="rect">
            <a:avLst/>
          </a:prstGeom>
        </p:spPr>
      </p:pic>
      <p:sp>
        <p:nvSpPr>
          <p:cNvPr id="11" name="rev-20">
            <a:extLst>
              <a:ext uri="{FF2B5EF4-FFF2-40B4-BE49-F238E27FC236}">
                <a16:creationId xmlns:a16="http://schemas.microsoft.com/office/drawing/2014/main" id="{B9DF4221-6803-437B-98DF-83324B0E5DDF}"/>
              </a:ext>
            </a:extLst>
          </p:cNvPr>
          <p:cNvSpPr>
            <a:spLocks noGrp="1"/>
          </p:cNvSpPr>
          <p:nvPr/>
        </p:nvSpPr>
        <p:spPr>
          <a:xfrm>
            <a:off x="7858125" y="5819775"/>
            <a:ext cx="3429000" cy="381000"/>
          </a:xfrm>
          <a:prstGeom prst="rect">
            <a:avLst/>
          </a:prstGeom>
          <a:noFill/>
          <a:ln w="0">
            <a:noFill/>
          </a:ln>
        </p:spPr>
        <p:txBody>
          <a:bodyPr wrap="square" lIns="0" tIns="0" rIns="0" bIns="0" anchor="t">
            <a:noAutofit/>
          </a:bodyPr>
          <a:lstStyle/>
          <a:p>
            <a:pPr algn="l">
              <a:defRPr sz="1950" b="0">
                <a:solidFill>
                  <a:srgbClr val="111111"/>
                </a:solidFill>
                <a:latin typeface="Aptos"/>
                <a:ea typeface="Aptos"/>
                <a:cs typeface="Aptos"/>
              </a:defRPr>
            </a:pPr>
            <a:r>
              <a:rPr sz="1950" b="0">
                <a:solidFill>
                  <a:srgbClr val="111111"/>
                </a:solidFill>
                <a:latin typeface="Aptos"/>
                <a:ea typeface="Aptos"/>
                <a:cs typeface="Aptos"/>
              </a:rPr>
              <a:t>This is not the payroll.</a:t>
            </a:r>
          </a:p>
        </p:txBody>
      </p:sp>
    </p:spTree>
    <p:extLst>
      <p:ext uri="{BB962C8B-B14F-4D97-AF65-F5344CB8AC3E}">
        <p14:creationId xmlns:p14="http://schemas.microsoft.com/office/powerpoint/2010/main" val="3281361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CA53F8-4D2C-3907-9EFD-C70275470151}"/>
              </a:ext>
            </a:extLst>
          </p:cNvPr>
          <p:cNvSpPr>
            <a:spLocks noGrp="1"/>
          </p:cNvSpPr>
          <p:nvPr>
            <p:ph idx="1"/>
          </p:nvPr>
        </p:nvSpPr>
        <p:spPr>
          <a:xfrm>
            <a:off x="430794" y="1952374"/>
            <a:ext cx="4805085" cy="4330731"/>
          </a:xfrm>
        </p:spPr>
        <p:txBody>
          <a:bodyPr/>
          <a:lstStyle/>
          <a:p>
            <a:pPr marL="0" indent="0">
              <a:buNone/>
            </a:pPr>
            <a:r>
              <a:rPr lang="en-US"/>
              <a:t>:D</a:t>
            </a:r>
          </a:p>
        </p:txBody>
      </p:sp>
      <p:pic>
        <p:nvPicPr>
          <p:cNvPr id="2052" name="Picture 4" descr="What is the difference between average and median salary? When comparing salaries between jobs, which measure would be more useful to consider and why? - Quora">
            <a:extLst>
              <a:ext uri="{FF2B5EF4-FFF2-40B4-BE49-F238E27FC236}">
                <a16:creationId xmlns:a16="http://schemas.microsoft.com/office/drawing/2014/main" id="{11576BBE-6FB4-9CD4-2396-487DA8ABBD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3771" y="0"/>
            <a:ext cx="676823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7323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marL="0" indent="0">
              <a:lnSpc>
                <a:spcPct val="90000"/>
              </a:lnSpc>
              <a:buNone/>
            </a:pPr>
            <a:r>
              <a:rPr sz="5400" b="0" i="0">
                <a:solidFill>
                  <a:srgbClr val="FFFFFF"/>
                </a:solidFill>
                <a:latin typeface="Aptos Display"/>
                <a:ea typeface="Aptos Display"/>
                <a:cs typeface="Aptos Display"/>
              </a:rPr>
              <a:t>Section 2:</a:t>
            </a:r>
          </a:p>
          <a:p>
            <a:pPr marL="0" indent="0">
              <a:lnSpc>
                <a:spcPct val="90000"/>
              </a:lnSpc>
              <a:buNone/>
            </a:pPr>
            <a:r>
              <a:rPr sz="5400" b="0" i="0">
                <a:solidFill>
                  <a:srgbClr val="FFFFFF"/>
                </a:solidFill>
                <a:latin typeface="Aptos Display"/>
                <a:ea typeface="Aptos Display"/>
                <a:cs typeface="Aptos Display"/>
              </a:rPr>
              <a:t>Measuring</a:t>
            </a:r>
          </a:p>
          <a:p>
            <a:pPr marL="0" indent="0">
              <a:lnSpc>
                <a:spcPct val="90000"/>
              </a:lnSpc>
              <a:buNone/>
            </a:pPr>
            <a:r>
              <a:rPr sz="5400" b="0" i="0">
                <a:solidFill>
                  <a:srgbClr val="FFFFFF"/>
                </a:solidFill>
                <a:latin typeface="Aptos Display"/>
                <a:ea typeface="Aptos Display"/>
                <a:cs typeface="Aptos Display"/>
              </a:rPr>
              <a:t>the spread</a:t>
            </a:r>
          </a:p>
        </p:txBody>
      </p:sp>
    </p:spTree>
    <p:extLst>
      <p:ext uri="{BB962C8B-B14F-4D97-AF65-F5344CB8AC3E}">
        <p14:creationId xmlns:p14="http://schemas.microsoft.com/office/powerpoint/2010/main" val="3281361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Range: from lowest to highest</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191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Spread tells us how far apart the values are.</a:t>
            </a:r>
          </a:p>
        </p:txBody>
      </p:sp>
      <p:sp>
        <p:nvSpPr>
          <p:cNvPr id="4" name="S5-text-1">
            <a:extLst>
              <a:ext uri="{FF2B5EF4-FFF2-40B4-BE49-F238E27FC236}">
                <a16:creationId xmlns:a16="http://schemas.microsoft.com/office/drawing/2014/main" id="{7EC92E3E-0373-443A-B226-29735F12BC12}"/>
              </a:ext>
            </a:extLst>
          </p:cNvPr>
          <p:cNvSpPr>
            <a:spLocks noGrp="1"/>
          </p:cNvSpPr>
          <p:nvPr/>
        </p:nvSpPr>
        <p:spPr>
          <a:xfrm>
            <a:off x="666750" y="3162300"/>
            <a:ext cx="5048250" cy="5715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625" b="1">
                <a:solidFill>
                  <a:srgbClr val="111111"/>
                </a:solidFill>
                <a:latin typeface="Aptos"/>
                <a:ea typeface="Aptos"/>
                <a:cs typeface="Aptos"/>
              </a:defRPr>
            </a:pPr>
            <a:r>
              <a:rPr sz="2625" b="1" i="0">
                <a:solidFill>
                  <a:srgbClr val="111111"/>
                </a:solidFill>
                <a:latin typeface="Aptos"/>
                <a:ea typeface="Aptos"/>
                <a:cs typeface="Aptos"/>
              </a:rPr>
              <a:t>Waiting times</a:t>
            </a:r>
          </a:p>
        </p:txBody>
      </p:sp>
      <p:sp>
        <p:nvSpPr>
          <p:cNvPr id="5" name="S5-text-2">
            <a:extLst>
              <a:ext uri="{FF2B5EF4-FFF2-40B4-BE49-F238E27FC236}">
                <a16:creationId xmlns:a16="http://schemas.microsoft.com/office/drawing/2014/main" id="{41BDA3EF-DF71-48EA-9D1D-0F1D65C4E1EC}"/>
              </a:ext>
            </a:extLst>
          </p:cNvPr>
          <p:cNvSpPr>
            <a:spLocks noGrp="1"/>
          </p:cNvSpPr>
          <p:nvPr/>
        </p:nvSpPr>
        <p:spPr>
          <a:xfrm>
            <a:off x="666750" y="3914775"/>
            <a:ext cx="4953000" cy="11620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4, 6, 6, 8, 11, 13</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Range = 13 − 4 = 9 minutes</a:t>
            </a:r>
          </a:p>
        </p:txBody>
      </p:sp>
      <p:sp>
        <p:nvSpPr>
          <p:cNvPr id="6" name="S5-diagram-3">
            <a:extLst>
              <a:ext uri="{FF2B5EF4-FFF2-40B4-BE49-F238E27FC236}">
                <a16:creationId xmlns:a16="http://schemas.microsoft.com/office/drawing/2014/main" id="{11EA8CD2-929A-49CC-A4D1-B27C45086D4B}"/>
              </a:ext>
            </a:extLst>
          </p:cNvPr>
          <p:cNvSpPr>
            <a:spLocks noGrp="1"/>
          </p:cNvSpPr>
          <p:nvPr/>
        </p:nvSpPr>
        <p:spPr>
          <a:xfrm>
            <a:off x="6057900" y="2952750"/>
            <a:ext cx="0" cy="2476500"/>
          </a:xfrm>
          <a:prstGeom prst="line">
            <a:avLst/>
          </a:prstGeom>
          <a:noFill/>
          <a:ln w="9525">
            <a:solidFill>
              <a:srgbClr val="AAAAAA"/>
            </a:solidFill>
            <a:prstDash val="solid"/>
          </a:ln>
        </p:spPr>
        <p:txBody>
          <a:bodyPr/>
          <a:lstStyle/>
          <a:p>
            <a:endParaRPr/>
          </a:p>
        </p:txBody>
      </p:sp>
      <p:sp>
        <p:nvSpPr>
          <p:cNvPr id="7" name="S5-text-4">
            <a:extLst>
              <a:ext uri="{FF2B5EF4-FFF2-40B4-BE49-F238E27FC236}">
                <a16:creationId xmlns:a16="http://schemas.microsoft.com/office/drawing/2014/main" id="{95F5D7F5-59EA-466E-BD82-6D4120D62692}"/>
              </a:ext>
            </a:extLst>
          </p:cNvPr>
          <p:cNvSpPr>
            <a:spLocks noGrp="1"/>
          </p:cNvSpPr>
          <p:nvPr/>
        </p:nvSpPr>
        <p:spPr>
          <a:xfrm>
            <a:off x="6667500" y="3162300"/>
            <a:ext cx="4857750" cy="5715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625" b="1">
                <a:solidFill>
                  <a:srgbClr val="111111"/>
                </a:solidFill>
                <a:latin typeface="Aptos"/>
                <a:ea typeface="Aptos"/>
                <a:cs typeface="Aptos"/>
              </a:defRPr>
            </a:pPr>
            <a:r>
              <a:rPr sz="2625" b="1" i="0">
                <a:solidFill>
                  <a:srgbClr val="111111"/>
                </a:solidFill>
                <a:latin typeface="Aptos"/>
                <a:ea typeface="Aptos"/>
                <a:cs typeface="Aptos"/>
              </a:rPr>
              <a:t>Phone calls</a:t>
            </a:r>
          </a:p>
        </p:txBody>
      </p:sp>
      <p:sp>
        <p:nvSpPr>
          <p:cNvPr id="8" name="S5-text-5">
            <a:extLst>
              <a:ext uri="{FF2B5EF4-FFF2-40B4-BE49-F238E27FC236}">
                <a16:creationId xmlns:a16="http://schemas.microsoft.com/office/drawing/2014/main" id="{9CA57B73-F6FA-4174-A89F-16C838F5C9FA}"/>
              </a:ext>
            </a:extLst>
          </p:cNvPr>
          <p:cNvSpPr>
            <a:spLocks noGrp="1"/>
          </p:cNvSpPr>
          <p:nvPr/>
        </p:nvSpPr>
        <p:spPr>
          <a:xfrm>
            <a:off x="6667500" y="3914775"/>
            <a:ext cx="4857750" cy="11620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Minimum = 1; maximum = 48</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Range = 48 − 1 = 47 minutes</a:t>
            </a:r>
          </a:p>
        </p:txBody>
      </p:sp>
      <p:sp>
        <p:nvSpPr>
          <p:cNvPr id="9" name="S5-text-6">
            <a:extLst>
              <a:ext uri="{FF2B5EF4-FFF2-40B4-BE49-F238E27FC236}">
                <a16:creationId xmlns:a16="http://schemas.microsoft.com/office/drawing/2014/main" id="{B61CFC96-FAE6-4877-957A-786559C96D65}"/>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Range = maximum − minimum. One extreme value can change it greatly.</a:t>
            </a:r>
          </a:p>
        </p:txBody>
      </p:sp>
    </p:spTree>
    <p:extLst>
      <p:ext uri="{BB962C8B-B14F-4D97-AF65-F5344CB8AC3E}">
        <p14:creationId xmlns:p14="http://schemas.microsoft.com/office/powerpoint/2010/main" val="328136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Same mean, same range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191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Two datasets of waiting times, in minutes:</a:t>
            </a:r>
          </a:p>
        </p:txBody>
      </p:sp>
      <p:sp>
        <p:nvSpPr>
          <p:cNvPr id="4" name="S5-text-1">
            <a:extLst>
              <a:ext uri="{FF2B5EF4-FFF2-40B4-BE49-F238E27FC236}">
                <a16:creationId xmlns:a16="http://schemas.microsoft.com/office/drawing/2014/main" id="{7EC92E3E-0373-443A-B226-29735F12BC12}"/>
              </a:ext>
            </a:extLst>
          </p:cNvPr>
          <p:cNvSpPr>
            <a:spLocks noGrp="1"/>
          </p:cNvSpPr>
          <p:nvPr/>
        </p:nvSpPr>
        <p:spPr>
          <a:xfrm>
            <a:off x="666750" y="3162300"/>
            <a:ext cx="5048250" cy="5715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625" b="1">
                <a:solidFill>
                  <a:srgbClr val="111111"/>
                </a:solidFill>
                <a:latin typeface="Aptos"/>
                <a:ea typeface="Aptos"/>
                <a:cs typeface="Aptos"/>
              </a:defRPr>
            </a:pPr>
            <a:r>
              <a:rPr sz="2625" b="1" i="0">
                <a:solidFill>
                  <a:srgbClr val="111111"/>
                </a:solidFill>
                <a:latin typeface="Aptos"/>
                <a:ea typeface="Aptos"/>
                <a:cs typeface="Aptos"/>
              </a:rPr>
              <a:t>Dataset A</a:t>
            </a:r>
          </a:p>
        </p:txBody>
      </p:sp>
      <p:sp>
        <p:nvSpPr>
          <p:cNvPr id="5" name="S5-text-2">
            <a:extLst>
              <a:ext uri="{FF2B5EF4-FFF2-40B4-BE49-F238E27FC236}">
                <a16:creationId xmlns:a16="http://schemas.microsoft.com/office/drawing/2014/main" id="{41BDA3EF-DF71-48EA-9D1D-0F1D65C4E1EC}"/>
              </a:ext>
            </a:extLst>
          </p:cNvPr>
          <p:cNvSpPr>
            <a:spLocks noGrp="1"/>
          </p:cNvSpPr>
          <p:nvPr/>
        </p:nvSpPr>
        <p:spPr>
          <a:xfrm>
            <a:off x="666750" y="3914775"/>
            <a:ext cx="4953000" cy="11620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6, 10, 10, 10, 14</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Mean = 10     Range = 8</a:t>
            </a:r>
          </a:p>
        </p:txBody>
      </p:sp>
      <p:sp>
        <p:nvSpPr>
          <p:cNvPr id="6" name="S5-diagram-3">
            <a:extLst>
              <a:ext uri="{FF2B5EF4-FFF2-40B4-BE49-F238E27FC236}">
                <a16:creationId xmlns:a16="http://schemas.microsoft.com/office/drawing/2014/main" id="{11EA8CD2-929A-49CC-A4D1-B27C45086D4B}"/>
              </a:ext>
            </a:extLst>
          </p:cNvPr>
          <p:cNvSpPr>
            <a:spLocks noGrp="1"/>
          </p:cNvSpPr>
          <p:nvPr/>
        </p:nvSpPr>
        <p:spPr>
          <a:xfrm>
            <a:off x="6057900" y="2952750"/>
            <a:ext cx="0" cy="2476500"/>
          </a:xfrm>
          <a:prstGeom prst="line">
            <a:avLst/>
          </a:prstGeom>
          <a:noFill/>
          <a:ln w="9525">
            <a:solidFill>
              <a:srgbClr val="AAAAAA"/>
            </a:solidFill>
            <a:prstDash val="solid"/>
          </a:ln>
        </p:spPr>
        <p:txBody>
          <a:bodyPr/>
          <a:lstStyle/>
          <a:p>
            <a:endParaRPr/>
          </a:p>
        </p:txBody>
      </p:sp>
      <p:sp>
        <p:nvSpPr>
          <p:cNvPr id="7" name="S5-text-4">
            <a:extLst>
              <a:ext uri="{FF2B5EF4-FFF2-40B4-BE49-F238E27FC236}">
                <a16:creationId xmlns:a16="http://schemas.microsoft.com/office/drawing/2014/main" id="{95F5D7F5-59EA-466E-BD82-6D4120D62692}"/>
              </a:ext>
            </a:extLst>
          </p:cNvPr>
          <p:cNvSpPr>
            <a:spLocks noGrp="1"/>
          </p:cNvSpPr>
          <p:nvPr/>
        </p:nvSpPr>
        <p:spPr>
          <a:xfrm>
            <a:off x="6667500" y="3162300"/>
            <a:ext cx="4857750" cy="5715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625" b="1">
                <a:solidFill>
                  <a:srgbClr val="111111"/>
                </a:solidFill>
                <a:latin typeface="Aptos"/>
                <a:ea typeface="Aptos"/>
                <a:cs typeface="Aptos"/>
              </a:defRPr>
            </a:pPr>
            <a:r>
              <a:rPr sz="2625" b="1" i="0">
                <a:solidFill>
                  <a:srgbClr val="111111"/>
                </a:solidFill>
                <a:latin typeface="Aptos"/>
                <a:ea typeface="Aptos"/>
                <a:cs typeface="Aptos"/>
              </a:rPr>
              <a:t>Dataset B</a:t>
            </a:r>
          </a:p>
        </p:txBody>
      </p:sp>
      <p:sp>
        <p:nvSpPr>
          <p:cNvPr id="8" name="S5-text-5">
            <a:extLst>
              <a:ext uri="{FF2B5EF4-FFF2-40B4-BE49-F238E27FC236}">
                <a16:creationId xmlns:a16="http://schemas.microsoft.com/office/drawing/2014/main" id="{9CA57B73-F6FA-4174-A89F-16C838F5C9FA}"/>
              </a:ext>
            </a:extLst>
          </p:cNvPr>
          <p:cNvSpPr>
            <a:spLocks noGrp="1"/>
          </p:cNvSpPr>
          <p:nvPr/>
        </p:nvSpPr>
        <p:spPr>
          <a:xfrm>
            <a:off x="6667500" y="3914775"/>
            <a:ext cx="4857750" cy="116205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6, 6, 10, 14, 14</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Mean = 10     Range = 8</a:t>
            </a:r>
          </a:p>
        </p:txBody>
      </p:sp>
      <p:sp>
        <p:nvSpPr>
          <p:cNvPr id="9" name="S5-text-6">
            <a:extLst>
              <a:ext uri="{FF2B5EF4-FFF2-40B4-BE49-F238E27FC236}">
                <a16:creationId xmlns:a16="http://schemas.microsoft.com/office/drawing/2014/main" id="{B61CFC96-FAE6-4877-957A-786559C96D65}"/>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Are the values equally spread out? Explain without using a new formula.</a:t>
            </a:r>
          </a:p>
        </p:txBody>
      </p:sp>
      <p:sp>
        <p:nvSpPr>
          <p:cNvPr id="10" name="Handout-A4">
            <a:extLst>
              <a:ext uri="{FF2B5EF4-FFF2-40B4-BE49-F238E27FC236}">
                <a16:creationId xmlns:a16="http://schemas.microsoft.com/office/drawing/2014/main" id="{1D13F699-F385-4C74-A9B5-6A10593FE3B9}"/>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A4</a:t>
            </a:r>
          </a:p>
        </p:txBody>
      </p:sp>
    </p:spTree>
    <p:extLst>
      <p:ext uri="{BB962C8B-B14F-4D97-AF65-F5344CB8AC3E}">
        <p14:creationId xmlns:p14="http://schemas.microsoft.com/office/powerpoint/2010/main" val="3281361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the endpoints miss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953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Both datasets have mean 10 and range 8 minutes.</a:t>
            </a:r>
          </a:p>
        </p:txBody>
      </p:sp>
      <p:sp>
        <p:nvSpPr>
          <p:cNvPr id="5" name="S34-text-2">
            <a:extLst>
              <a:ext uri="{FF2B5EF4-FFF2-40B4-BE49-F238E27FC236}">
                <a16:creationId xmlns:a16="http://schemas.microsoft.com/office/drawing/2014/main" id="{06065F60-2F57-41DE-AF4F-C3B512D07A6B}"/>
              </a:ext>
            </a:extLst>
          </p:cNvPr>
          <p:cNvSpPr>
            <a:spLocks noGrp="1"/>
          </p:cNvSpPr>
          <p:nvPr/>
        </p:nvSpPr>
        <p:spPr>
          <a:xfrm>
            <a:off x="430816" y="5524500"/>
            <a:ext cx="11293412" cy="7620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B has more values far from the mean.</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We will measure this difference in Class B.</a:t>
            </a:r>
          </a:p>
        </p:txBody>
      </p:sp>
      <p:pic>
        <p:nvPicPr>
          <p:cNvPr id="12" name="Picture 11"/>
          <p:cNvPicPr>
            <a:picLocks noChangeAspect="1"/>
          </p:cNvPicPr>
          <p:nvPr/>
        </p:nvPicPr>
        <p:blipFill>
          <a:blip r:embed="rId3"/>
          <a:stretch/>
        </p:blipFill>
        <p:spPr>
          <a:xfrm>
            <a:off x="619125" y="2921000"/>
            <a:ext cx="10953750" cy="2482850"/>
          </a:xfrm>
          <a:prstGeom prst="rect">
            <a:avLst/>
          </a:prstGeom>
        </p:spPr>
      </p:pic>
      <p:sp>
        <p:nvSpPr>
          <p:cNvPr id="7" name="Handout-A4">
            <a:extLst>
              <a:ext uri="{FF2B5EF4-FFF2-40B4-BE49-F238E27FC236}">
                <a16:creationId xmlns:a16="http://schemas.microsoft.com/office/drawing/2014/main" id="{D3FCCEF2-0978-4D09-AB8C-C590B0874117}"/>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A4</a:t>
            </a:r>
          </a:p>
        </p:txBody>
      </p:sp>
    </p:spTree>
    <p:extLst>
      <p:ext uri="{BB962C8B-B14F-4D97-AF65-F5344CB8AC3E}">
        <p14:creationId xmlns:p14="http://schemas.microsoft.com/office/powerpoint/2010/main" val="3281361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marL="0" indent="0">
              <a:lnSpc>
                <a:spcPct val="90000"/>
              </a:lnSpc>
              <a:buNone/>
            </a:pPr>
            <a:r>
              <a:rPr sz="5400" b="0" i="0">
                <a:solidFill>
                  <a:srgbClr val="FFFFFF"/>
                </a:solidFill>
                <a:latin typeface="Aptos Display"/>
                <a:ea typeface="Aptos Display"/>
                <a:cs typeface="Aptos Display"/>
              </a:rPr>
              <a:t>Section 3:</a:t>
            </a:r>
          </a:p>
          <a:p>
            <a:pPr marL="0" indent="0">
              <a:lnSpc>
                <a:spcPct val="90000"/>
              </a:lnSpc>
              <a:buNone/>
            </a:pPr>
            <a:r>
              <a:rPr sz="5400" b="0" i="0">
                <a:solidFill>
                  <a:srgbClr val="FFFFFF"/>
                </a:solidFill>
                <a:latin typeface="Aptos Display"/>
                <a:ea typeface="Aptos Display"/>
                <a:cs typeface="Aptos Display"/>
              </a:rPr>
              <a:t>Quartiles and</a:t>
            </a:r>
          </a:p>
          <a:p>
            <a:pPr marL="0" indent="0">
              <a:lnSpc>
                <a:spcPct val="90000"/>
              </a:lnSpc>
              <a:buNone/>
            </a:pPr>
            <a:r>
              <a:rPr sz="5400" b="0" i="0">
                <a:solidFill>
                  <a:srgbClr val="FFFFFF"/>
                </a:solidFill>
                <a:latin typeface="Aptos Display"/>
                <a:ea typeface="Aptos Display"/>
                <a:cs typeface="Aptos Display"/>
              </a:rPr>
              <a:t>central spread</a:t>
            </a:r>
          </a:p>
        </p:txBody>
      </p:sp>
    </p:spTree>
    <p:extLst>
      <p:ext uri="{BB962C8B-B14F-4D97-AF65-F5344CB8AC3E}">
        <p14:creationId xmlns:p14="http://schemas.microsoft.com/office/powerpoint/2010/main" val="3281361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focus on the middle half?</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953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Our phone-call range is 47 minutes because of one long call.</a:t>
            </a:r>
          </a:p>
        </p:txBody>
      </p:sp>
      <p:sp>
        <p:nvSpPr>
          <p:cNvPr id="5" name="S34-text-2">
            <a:extLst>
              <a:ext uri="{FF2B5EF4-FFF2-40B4-BE49-F238E27FC236}">
                <a16:creationId xmlns:a16="http://schemas.microsoft.com/office/drawing/2014/main" id="{06065F60-2F57-41DE-AF4F-C3B512D07A6B}"/>
              </a:ext>
            </a:extLst>
          </p:cNvPr>
          <p:cNvSpPr>
            <a:spLocks noGrp="1"/>
          </p:cNvSpPr>
          <p:nvPr/>
        </p:nvSpPr>
        <p:spPr>
          <a:xfrm>
            <a:off x="430816" y="5524500"/>
            <a:ext cx="11293412" cy="7620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Can we describe the spread of the middle half,</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with less influence from the extremes?</a:t>
            </a:r>
          </a:p>
        </p:txBody>
      </p:sp>
      <p:pic>
        <p:nvPicPr>
          <p:cNvPr id="10" name="Picture 11"/>
          <p:cNvPicPr>
            <a:picLocks noChangeAspect="1"/>
          </p:cNvPicPr>
          <p:nvPr/>
        </p:nvPicPr>
        <p:blipFill>
          <a:blip r:embed="rId3"/>
          <a:stretch/>
        </p:blipFill>
        <p:spPr>
          <a:xfrm>
            <a:off x="2353715" y="2895886"/>
            <a:ext cx="7484569" cy="2533079"/>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Quartiles mark three cut points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953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Ordered data is divided into four roughly equal groups.</a:t>
            </a:r>
          </a:p>
        </p:txBody>
      </p:sp>
      <p:sp>
        <p:nvSpPr>
          <p:cNvPr id="5" name="S34-text-2">
            <a:extLst>
              <a:ext uri="{FF2B5EF4-FFF2-40B4-BE49-F238E27FC236}">
                <a16:creationId xmlns:a16="http://schemas.microsoft.com/office/drawing/2014/main" id="{06065F60-2F57-41DE-AF4F-C3B512D07A6B}"/>
              </a:ext>
            </a:extLst>
          </p:cNvPr>
          <p:cNvSpPr>
            <a:spLocks noGrp="1"/>
          </p:cNvSpPr>
          <p:nvPr/>
        </p:nvSpPr>
        <p:spPr>
          <a:xfrm>
            <a:off x="430816" y="5524500"/>
            <a:ext cx="11293412" cy="7620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Q2 is the median: the halfway point.</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Q1 and Q3 mark the ends of the middle half.</a:t>
            </a:r>
          </a:p>
        </p:txBody>
      </p:sp>
      <p:pic>
        <p:nvPicPr>
          <p:cNvPr id="10" name="Picture 9"/>
          <p:cNvPicPr>
            <a:picLocks noChangeAspect="1"/>
          </p:cNvPicPr>
          <p:nvPr/>
        </p:nvPicPr>
        <p:blipFill>
          <a:blip r:embed="rId3"/>
          <a:stretch/>
        </p:blipFill>
        <p:spPr>
          <a:xfrm>
            <a:off x="619125" y="2876550"/>
            <a:ext cx="10953750" cy="2381250"/>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Find the quartile positions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10001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n is the number of values. Example: 11 ordered test scores.</a:t>
            </a:r>
          </a:p>
        </p:txBody>
      </p:sp>
      <p:sp>
        <p:nvSpPr>
          <p:cNvPr id="5" name="S33-text-2">
            <a:extLst>
              <a:ext uri="{FF2B5EF4-FFF2-40B4-BE49-F238E27FC236}">
                <a16:creationId xmlns:a16="http://schemas.microsoft.com/office/drawing/2014/main" id="{30E87C41-DF2F-445D-85B5-0D912D55B6FB}"/>
              </a:ext>
            </a:extLst>
          </p:cNvPr>
          <p:cNvSpPr>
            <a:spLocks noGrp="1"/>
          </p:cNvSpPr>
          <p:nvPr/>
        </p:nvSpPr>
        <p:spPr>
          <a:xfrm>
            <a:off x="430816" y="5687568"/>
            <a:ext cx="11293412" cy="621792"/>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2200" b="1" i="0">
                <a:solidFill>
                  <a:srgbClr val="111111"/>
                </a:solidFill>
                <a:latin typeface="Aptos"/>
                <a:ea typeface="Aptos"/>
                <a:cs typeface="Aptos"/>
              </a:rPr>
              <a:t>Our class method uses n + 1. These results are positions.</a:t>
            </a:r>
          </a:p>
          <a:p>
            <a:pPr marL="0" indent="0" algn="l">
              <a:lnSpc>
                <a:spcPct val="106000"/>
              </a:lnSpc>
              <a:spcBef>
                <a:spcPts val="0"/>
              </a:spcBef>
              <a:spcAft>
                <a:spcPts val="0"/>
              </a:spcAft>
              <a:buNone/>
              <a:defRPr sz="1575" b="0">
                <a:solidFill>
                  <a:srgbClr val="111111"/>
                </a:solidFill>
                <a:latin typeface="Aptos"/>
                <a:ea typeface="Aptos"/>
                <a:cs typeface="Aptos"/>
              </a:defRPr>
            </a:pPr>
            <a:r>
              <a:rPr sz="2200" b="1" i="0">
                <a:solidFill>
                  <a:srgbClr val="111111"/>
                </a:solidFill>
                <a:latin typeface="Aptos"/>
                <a:ea typeface="Aptos"/>
                <a:cs typeface="Aptos"/>
              </a:rPr>
              <a:t>Next, read the values at those positions.</a:t>
            </a:r>
          </a:p>
        </p:txBody>
      </p:sp>
      <p:pic>
        <p:nvPicPr>
          <p:cNvPr id="10" name="Picture 9"/>
          <p:cNvPicPr>
            <a:picLocks noChangeAspect="1"/>
          </p:cNvPicPr>
          <p:nvPr/>
        </p:nvPicPr>
        <p:blipFill>
          <a:blip r:embed="rId3"/>
          <a:stretch/>
        </p:blipFill>
        <p:spPr>
          <a:xfrm>
            <a:off x="619125" y="3076575"/>
            <a:ext cx="10953750" cy="2190750"/>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Read the quartile values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953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The 11 test scores below are ordered from lowest to highest.</a:t>
            </a:r>
          </a:p>
        </p:txBody>
      </p:sp>
      <p:sp>
        <p:nvSpPr>
          <p:cNvPr id="5" name="S34-text-2">
            <a:extLst>
              <a:ext uri="{FF2B5EF4-FFF2-40B4-BE49-F238E27FC236}">
                <a16:creationId xmlns:a16="http://schemas.microsoft.com/office/drawing/2014/main" id="{06065F60-2F57-41DE-AF4F-C3B512D07A6B}"/>
              </a:ext>
            </a:extLst>
          </p:cNvPr>
          <p:cNvSpPr>
            <a:spLocks noGrp="1"/>
          </p:cNvSpPr>
          <p:nvPr/>
        </p:nvSpPr>
        <p:spPr>
          <a:xfrm>
            <a:off x="430816" y="5524500"/>
            <a:ext cx="11293412" cy="7620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3rd score: Q1 = 57;   6th score: median = 72</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9th score: Q3 = 81</a:t>
            </a:r>
          </a:p>
        </p:txBody>
      </p:sp>
      <p:pic>
        <p:nvPicPr>
          <p:cNvPr id="10" name="Picture 9"/>
          <p:cNvPicPr>
            <a:picLocks noChangeAspect="1"/>
          </p:cNvPicPr>
          <p:nvPr/>
        </p:nvPicPr>
        <p:blipFill>
          <a:blip r:embed="rId3"/>
          <a:stretch/>
        </p:blipFill>
        <p:spPr>
          <a:xfrm>
            <a:off x="619125" y="2911511"/>
            <a:ext cx="10953750" cy="2501828"/>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interquartile range (IQR)</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953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IQR is the distance from the lower quartile to the upper quartile.</a:t>
            </a:r>
          </a:p>
        </p:txBody>
      </p:sp>
      <p:sp>
        <p:nvSpPr>
          <p:cNvPr id="5" name="S34-text-2">
            <a:extLst>
              <a:ext uri="{FF2B5EF4-FFF2-40B4-BE49-F238E27FC236}">
                <a16:creationId xmlns:a16="http://schemas.microsoft.com/office/drawing/2014/main" id="{06065F60-2F57-41DE-AF4F-C3B512D07A6B}"/>
              </a:ext>
            </a:extLst>
          </p:cNvPr>
          <p:cNvSpPr>
            <a:spLocks noGrp="1"/>
          </p:cNvSpPr>
          <p:nvPr/>
        </p:nvSpPr>
        <p:spPr>
          <a:xfrm>
            <a:off x="430816" y="5524500"/>
            <a:ext cx="11293412" cy="7620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The middle half runs from 57 to 81 points.</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Its spread is 24 points.</a:t>
            </a:r>
          </a:p>
        </p:txBody>
      </p:sp>
      <p:pic>
        <p:nvPicPr>
          <p:cNvPr id="10" name="Picture 9"/>
          <p:cNvPicPr>
            <a:picLocks noChangeAspect="1"/>
          </p:cNvPicPr>
          <p:nvPr/>
        </p:nvPicPr>
        <p:blipFill>
          <a:blip r:embed="rId3"/>
          <a:stretch/>
        </p:blipFill>
        <p:spPr>
          <a:xfrm>
            <a:off x="857250" y="3228295"/>
            <a:ext cx="10477500" cy="1496786"/>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 value between two positions</a:t>
            </a:r>
          </a:p>
        </p:txBody>
      </p:sp>
      <p:sp>
        <p:nvSpPr>
          <p:cNvPr id="3" name="rev-21">
            <a:extLst>
              <a:ext uri="{FF2B5EF4-FFF2-40B4-BE49-F238E27FC236}">
                <a16:creationId xmlns:a16="http://schemas.microsoft.com/office/drawing/2014/main" id="{383EF188-690B-48B2-B41C-F95ABDBE3D8F}"/>
              </a:ext>
            </a:extLst>
          </p:cNvPr>
          <p:cNvSpPr>
            <a:spLocks noGrp="1"/>
          </p:cNvSpPr>
          <p:nvPr/>
        </p:nvSpPr>
        <p:spPr>
          <a:xfrm>
            <a:off x="428625" y="1933575"/>
            <a:ext cx="11239500" cy="61912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At position 3.25, move 25% of the gap from the 3rd to the 4th value.</a:t>
            </a:r>
          </a:p>
        </p:txBody>
      </p:sp>
      <p:pic>
        <p:nvPicPr>
          <p:cNvPr id="4" name="Picture 3"/>
          <p:cNvPicPr>
            <a:picLocks noChangeAspect="1"/>
          </p:cNvPicPr>
          <p:nvPr/>
        </p:nvPicPr>
        <p:blipFill>
          <a:blip r:embed="rId3"/>
          <a:stretch/>
        </p:blipFill>
        <p:spPr>
          <a:xfrm>
            <a:off x="829774" y="2705100"/>
            <a:ext cx="10532452" cy="2381250"/>
          </a:xfrm>
          <a:prstGeom prst="rect">
            <a:avLst/>
          </a:prstGeom>
        </p:spPr>
      </p:pic>
      <p:sp>
        <p:nvSpPr>
          <p:cNvPr id="5" name="rev-22">
            <a:extLst>
              <a:ext uri="{FF2B5EF4-FFF2-40B4-BE49-F238E27FC236}">
                <a16:creationId xmlns:a16="http://schemas.microsoft.com/office/drawing/2014/main" id="{7A35AFAD-16C1-43DE-893A-77E8F17B6240}"/>
              </a:ext>
            </a:extLst>
          </p:cNvPr>
          <p:cNvSpPr>
            <a:spLocks noGrp="1"/>
          </p:cNvSpPr>
          <p:nvPr/>
        </p:nvSpPr>
        <p:spPr>
          <a:xfrm>
            <a:off x="523875" y="5086350"/>
            <a:ext cx="11049000" cy="36195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This method is called interpolation.</a:t>
            </a:r>
          </a:p>
        </p:txBody>
      </p:sp>
      <p:sp>
        <p:nvSpPr>
          <p:cNvPr id="6" name="rev-23">
            <a:extLst>
              <a:ext uri="{FF2B5EF4-FFF2-40B4-BE49-F238E27FC236}">
                <a16:creationId xmlns:a16="http://schemas.microsoft.com/office/drawing/2014/main" id="{B4A8E5DA-6ED4-482F-8E13-D8ECD7DE91A4}"/>
              </a:ext>
            </a:extLst>
          </p:cNvPr>
          <p:cNvSpPr>
            <a:spLocks noGrp="1"/>
          </p:cNvSpPr>
          <p:nvPr/>
        </p:nvSpPr>
        <p:spPr>
          <a:xfrm>
            <a:off x="523875" y="5638800"/>
            <a:ext cx="11144250" cy="78105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Your turn: position 2.75 lies between values 10 and 18.</a:t>
            </a:r>
          </a:p>
          <a:p>
            <a:pPr algn="l">
              <a:defRPr sz="2175" b="1">
                <a:solidFill>
                  <a:srgbClr val="111111"/>
                </a:solidFill>
                <a:latin typeface="Aptos"/>
                <a:ea typeface="Aptos"/>
                <a:cs typeface="Aptos"/>
              </a:defRPr>
            </a:pPr>
            <a:r>
              <a:rPr sz="2175" b="1">
                <a:solidFill>
                  <a:srgbClr val="111111"/>
                </a:solidFill>
                <a:latin typeface="Aptos"/>
                <a:ea typeface="Aptos"/>
                <a:cs typeface="Aptos"/>
              </a:rPr>
              <a:t>What value belongs there? Show the fraction of the gap.</a:t>
            </a:r>
          </a:p>
        </p:txBody>
      </p:sp>
    </p:spTree>
    <p:extLst>
      <p:ext uri="{BB962C8B-B14F-4D97-AF65-F5344CB8AC3E}">
        <p14:creationId xmlns:p14="http://schemas.microsoft.com/office/powerpoint/2010/main" val="3281361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 worked example with 10 values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762000"/>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Daily transactions for 10 employees (ordered):</a:t>
            </a:r>
          </a:p>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14, 15, 17, 22, 23, 24, 28, 29, 30, 37</a:t>
            </a:r>
          </a:p>
        </p:txBody>
      </p:sp>
      <p:sp>
        <p:nvSpPr>
          <p:cNvPr id="4" name="S5-text-1">
            <a:extLst>
              <a:ext uri="{FF2B5EF4-FFF2-40B4-BE49-F238E27FC236}">
                <a16:creationId xmlns:a16="http://schemas.microsoft.com/office/drawing/2014/main" id="{7EC92E3E-0373-443A-B226-29735F12BC12}"/>
              </a:ext>
            </a:extLst>
          </p:cNvPr>
          <p:cNvSpPr>
            <a:spLocks noGrp="1"/>
          </p:cNvSpPr>
          <p:nvPr/>
        </p:nvSpPr>
        <p:spPr>
          <a:xfrm>
            <a:off x="666750" y="2847975"/>
            <a:ext cx="5048250" cy="5238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625" b="1">
                <a:solidFill>
                  <a:srgbClr val="111111"/>
                </a:solidFill>
                <a:latin typeface="Aptos"/>
                <a:ea typeface="Aptos"/>
                <a:cs typeface="Aptos"/>
              </a:defRPr>
            </a:pPr>
            <a:r>
              <a:rPr sz="2625" b="1" i="0">
                <a:solidFill>
                  <a:srgbClr val="111111"/>
                </a:solidFill>
                <a:latin typeface="Aptos"/>
                <a:ea typeface="Aptos"/>
                <a:cs typeface="Aptos"/>
              </a:rPr>
              <a:t>Lower quartile: Q1</a:t>
            </a:r>
          </a:p>
        </p:txBody>
      </p:sp>
      <p:sp>
        <p:nvSpPr>
          <p:cNvPr id="6" name="S5-diagram-3">
            <a:extLst>
              <a:ext uri="{FF2B5EF4-FFF2-40B4-BE49-F238E27FC236}">
                <a16:creationId xmlns:a16="http://schemas.microsoft.com/office/drawing/2014/main" id="{11EA8CD2-929A-49CC-A4D1-B27C45086D4B}"/>
              </a:ext>
            </a:extLst>
          </p:cNvPr>
          <p:cNvSpPr>
            <a:spLocks noGrp="1"/>
          </p:cNvSpPr>
          <p:nvPr/>
        </p:nvSpPr>
        <p:spPr>
          <a:xfrm>
            <a:off x="6057900" y="2952750"/>
            <a:ext cx="0" cy="2476500"/>
          </a:xfrm>
          <a:prstGeom prst="line">
            <a:avLst/>
          </a:prstGeom>
          <a:noFill/>
          <a:ln w="9525">
            <a:solidFill>
              <a:srgbClr val="AAAAAA"/>
            </a:solidFill>
            <a:prstDash val="solid"/>
          </a:ln>
        </p:spPr>
        <p:txBody>
          <a:bodyPr/>
          <a:lstStyle/>
          <a:p>
            <a:endParaRPr/>
          </a:p>
        </p:txBody>
      </p:sp>
      <p:sp>
        <p:nvSpPr>
          <p:cNvPr id="7" name="S5-text-4">
            <a:extLst>
              <a:ext uri="{FF2B5EF4-FFF2-40B4-BE49-F238E27FC236}">
                <a16:creationId xmlns:a16="http://schemas.microsoft.com/office/drawing/2014/main" id="{95F5D7F5-59EA-466E-BD82-6D4120D62692}"/>
              </a:ext>
            </a:extLst>
          </p:cNvPr>
          <p:cNvSpPr>
            <a:spLocks noGrp="1"/>
          </p:cNvSpPr>
          <p:nvPr/>
        </p:nvSpPr>
        <p:spPr>
          <a:xfrm>
            <a:off x="6667500" y="2847975"/>
            <a:ext cx="4857750" cy="523875"/>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625" b="1">
                <a:solidFill>
                  <a:srgbClr val="111111"/>
                </a:solidFill>
                <a:latin typeface="Aptos"/>
                <a:ea typeface="Aptos"/>
                <a:cs typeface="Aptos"/>
              </a:defRPr>
            </a:pPr>
            <a:r>
              <a:rPr sz="2625" b="1" i="0">
                <a:solidFill>
                  <a:srgbClr val="111111"/>
                </a:solidFill>
                <a:latin typeface="Aptos"/>
                <a:ea typeface="Aptos"/>
                <a:cs typeface="Aptos"/>
              </a:rPr>
              <a:t>Upper quartile: Q3</a:t>
            </a:r>
          </a:p>
        </p:txBody>
      </p:sp>
      <p:sp>
        <p:nvSpPr>
          <p:cNvPr id="9" name="S5-text-6">
            <a:extLst>
              <a:ext uri="{FF2B5EF4-FFF2-40B4-BE49-F238E27FC236}">
                <a16:creationId xmlns:a16="http://schemas.microsoft.com/office/drawing/2014/main" id="{B61CFC96-FAE6-4877-957A-786559C96D65}"/>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IQR = 29.25 − 16.5 = 12.75 transactions. Keep the decimal part when finding each quartile.</a:t>
            </a:r>
          </a:p>
        </p:txBody>
      </p:sp>
      <p:pic>
        <p:nvPicPr>
          <p:cNvPr id="18" name="Picture 17"/>
          <p:cNvPicPr>
            <a:picLocks noChangeAspect="1"/>
          </p:cNvPicPr>
          <p:nvPr/>
        </p:nvPicPr>
        <p:blipFill>
          <a:blip r:embed="rId3"/>
          <a:srcRect/>
          <a:stretch>
            <a:fillRect/>
          </a:stretch>
        </p:blipFill>
        <p:spPr>
          <a:xfrm>
            <a:off x="666750" y="3419475"/>
            <a:ext cx="4953000" cy="2238375"/>
          </a:xfrm>
          <a:prstGeom prst="rect">
            <a:avLst/>
          </a:prstGeom>
        </p:spPr>
      </p:pic>
      <p:pic>
        <p:nvPicPr>
          <p:cNvPr id="19" name="Picture 18"/>
          <p:cNvPicPr>
            <a:picLocks noChangeAspect="1"/>
          </p:cNvPicPr>
          <p:nvPr/>
        </p:nvPicPr>
        <p:blipFill>
          <a:blip r:embed="rId4"/>
          <a:stretch/>
        </p:blipFill>
        <p:spPr>
          <a:xfrm>
            <a:off x="6667500" y="3419475"/>
            <a:ext cx="4857750" cy="2238375"/>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Weekly exercise hours</a:t>
            </a:r>
          </a:p>
        </p:txBody>
      </p:sp>
      <p:sp>
        <p:nvSpPr>
          <p:cNvPr id="3" name="Handout-A5">
            <a:extLst>
              <a:ext uri="{FF2B5EF4-FFF2-40B4-BE49-F238E27FC236}">
                <a16:creationId xmlns:a16="http://schemas.microsoft.com/office/drawing/2014/main" id="{258F9613-BA3D-404D-AC21-CE7A07C31C84}"/>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A5</a:t>
            </a:r>
          </a:p>
        </p:txBody>
      </p:sp>
      <p:sp>
        <p:nvSpPr>
          <p:cNvPr id="4" name="rev-24">
            <a:extLst>
              <a:ext uri="{FF2B5EF4-FFF2-40B4-BE49-F238E27FC236}">
                <a16:creationId xmlns:a16="http://schemas.microsoft.com/office/drawing/2014/main" id="{51C12FC0-CFB0-42F1-A49A-9E30A696C9DF}"/>
              </a:ext>
            </a:extLst>
          </p:cNvPr>
          <p:cNvSpPr>
            <a:spLocks noGrp="1"/>
          </p:cNvSpPr>
          <p:nvPr/>
        </p:nvSpPr>
        <p:spPr>
          <a:xfrm>
            <a:off x="428625" y="1933575"/>
            <a:ext cx="11239500" cy="61912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The gym records weekly exercise hours for a sample of 16 members.</a:t>
            </a:r>
          </a:p>
        </p:txBody>
      </p:sp>
      <p:sp>
        <p:nvSpPr>
          <p:cNvPr id="5" name="rev-25">
            <a:extLst>
              <a:ext uri="{FF2B5EF4-FFF2-40B4-BE49-F238E27FC236}">
                <a16:creationId xmlns:a16="http://schemas.microsoft.com/office/drawing/2014/main" id="{76663DC3-7EF3-492C-BC34-3051A8471C3A}"/>
              </a:ext>
            </a:extLst>
          </p:cNvPr>
          <p:cNvSpPr>
            <a:spLocks noGrp="1"/>
          </p:cNvSpPr>
          <p:nvPr/>
        </p:nvSpPr>
        <p:spPr>
          <a:xfrm>
            <a:off x="523875" y="2686050"/>
            <a:ext cx="11049000" cy="857250"/>
          </a:xfrm>
          <a:prstGeom prst="rect">
            <a:avLst/>
          </a:prstGeom>
          <a:noFill/>
          <a:ln w="0">
            <a:noFill/>
          </a:ln>
        </p:spPr>
        <p:txBody>
          <a:bodyPr wrap="square" lIns="0" tIns="0" rIns="0" bIns="0" anchor="t">
            <a:noAutofit/>
          </a:bodyPr>
          <a:lstStyle/>
          <a:p>
            <a:pPr algn="l">
              <a:defRPr sz="2550" b="1">
                <a:solidFill>
                  <a:srgbClr val="111111"/>
                </a:solidFill>
                <a:latin typeface="Aptos"/>
                <a:ea typeface="Aptos"/>
                <a:cs typeface="Aptos"/>
              </a:defRPr>
            </a:pPr>
            <a:r>
              <a:rPr sz="2550" b="1">
                <a:solidFill>
                  <a:srgbClr val="111111"/>
                </a:solidFill>
                <a:latin typeface="Aptos"/>
                <a:ea typeface="Aptos"/>
                <a:cs typeface="Aptos"/>
              </a:rPr>
              <a:t>5, 1, 9, 3, 14, 6, 0, 11,</a:t>
            </a:r>
          </a:p>
          <a:p>
            <a:pPr algn="l">
              <a:defRPr sz="2550" b="1">
                <a:solidFill>
                  <a:srgbClr val="111111"/>
                </a:solidFill>
                <a:latin typeface="Aptos"/>
                <a:ea typeface="Aptos"/>
                <a:cs typeface="Aptos"/>
              </a:defRPr>
            </a:pPr>
            <a:r>
              <a:rPr sz="2550" b="1">
                <a:solidFill>
                  <a:srgbClr val="111111"/>
                </a:solidFill>
                <a:latin typeface="Aptos"/>
                <a:ea typeface="Aptos"/>
                <a:cs typeface="Aptos"/>
              </a:rPr>
              <a:t>4, 18, 3, 8, 2, 12, 1, 7</a:t>
            </a:r>
          </a:p>
        </p:txBody>
      </p:sp>
      <p:sp>
        <p:nvSpPr>
          <p:cNvPr id="6" name="rev-26">
            <a:extLst>
              <a:ext uri="{FF2B5EF4-FFF2-40B4-BE49-F238E27FC236}">
                <a16:creationId xmlns:a16="http://schemas.microsoft.com/office/drawing/2014/main" id="{79743DA3-7B1C-4F2C-99B6-96B73D906AEB}"/>
              </a:ext>
            </a:extLst>
          </p:cNvPr>
          <p:cNvSpPr>
            <a:spLocks noGrp="1"/>
          </p:cNvSpPr>
          <p:nvPr/>
        </p:nvSpPr>
        <p:spPr>
          <a:xfrm>
            <a:off x="523875" y="3838575"/>
            <a:ext cx="7191375" cy="148590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1. Sort the observations.</a:t>
            </a:r>
          </a:p>
          <a:p>
            <a:pPr algn="l">
              <a:defRPr sz="2325" b="1">
                <a:solidFill>
                  <a:srgbClr val="111111"/>
                </a:solidFill>
                <a:latin typeface="Aptos"/>
                <a:ea typeface="Aptos"/>
                <a:cs typeface="Aptos"/>
              </a:defRPr>
            </a:pPr>
            <a:r>
              <a:rPr sz="2325" b="1">
                <a:solidFill>
                  <a:srgbClr val="111111"/>
                </a:solidFill>
                <a:latin typeface="Aptos"/>
                <a:ea typeface="Aptos"/>
                <a:cs typeface="Aptos"/>
              </a:rPr>
              <a:t>2. Find Q₁, the median and Q₃.</a:t>
            </a:r>
          </a:p>
          <a:p>
            <a:pPr algn="l">
              <a:defRPr sz="2325" b="1">
                <a:solidFill>
                  <a:srgbClr val="111111"/>
                </a:solidFill>
                <a:latin typeface="Aptos"/>
                <a:ea typeface="Aptos"/>
                <a:cs typeface="Aptos"/>
              </a:defRPr>
            </a:pPr>
            <a:r>
              <a:rPr sz="2325" b="1">
                <a:solidFill>
                  <a:srgbClr val="111111"/>
                </a:solidFill>
                <a:latin typeface="Aptos"/>
                <a:ea typeface="Aptos"/>
                <a:cs typeface="Aptos"/>
              </a:rPr>
              <a:t>3. Calculate and interpret the IQR.</a:t>
            </a:r>
          </a:p>
        </p:txBody>
      </p:sp>
      <p:sp>
        <p:nvSpPr>
          <p:cNvPr id="7" name="rev-27">
            <a:extLst>
              <a:ext uri="{FF2B5EF4-FFF2-40B4-BE49-F238E27FC236}">
                <a16:creationId xmlns:a16="http://schemas.microsoft.com/office/drawing/2014/main" id="{756F84E1-1D11-439F-B32F-B5EDCDD49A82}"/>
              </a:ext>
            </a:extLst>
          </p:cNvPr>
          <p:cNvSpPr>
            <a:spLocks noGrp="1"/>
          </p:cNvSpPr>
          <p:nvPr/>
        </p:nvSpPr>
        <p:spPr>
          <a:xfrm>
            <a:off x="523875" y="5629275"/>
            <a:ext cx="6858000" cy="714375"/>
          </a:xfrm>
          <a:prstGeom prst="rect">
            <a:avLst/>
          </a:prstGeom>
          <a:noFill/>
          <a:ln w="0">
            <a:noFill/>
          </a:ln>
        </p:spPr>
        <p:txBody>
          <a:bodyPr wrap="square" lIns="0" tIns="0" rIns="0" bIns="0" anchor="t">
            <a:noAutofit/>
          </a:bodyPr>
          <a:lstStyle/>
          <a:p>
            <a:pPr algn="l">
              <a:defRPr sz="2025" b="0">
                <a:solidFill>
                  <a:srgbClr val="111111"/>
                </a:solidFill>
                <a:latin typeface="Aptos"/>
                <a:ea typeface="Aptos"/>
                <a:cs typeface="Aptos"/>
              </a:defRPr>
            </a:pPr>
            <a:r>
              <a:rPr sz="2025" b="0">
                <a:solidFill>
                  <a:srgbClr val="111111"/>
                </a:solidFill>
                <a:latin typeface="Aptos"/>
                <a:ea typeface="Aptos"/>
                <a:cs typeface="Aptos"/>
              </a:rPr>
              <a:t>Show the positions and interpolation.</a:t>
            </a:r>
          </a:p>
          <a:p>
            <a:pPr algn="l">
              <a:defRPr sz="2025" b="0">
                <a:solidFill>
                  <a:srgbClr val="111111"/>
                </a:solidFill>
                <a:latin typeface="Aptos"/>
                <a:ea typeface="Aptos"/>
                <a:cs typeface="Aptos"/>
              </a:defRPr>
            </a:pPr>
            <a:r>
              <a:rPr sz="2025" b="0">
                <a:solidFill>
                  <a:srgbClr val="111111"/>
                </a:solidFill>
                <a:latin typeface="Aptos"/>
                <a:ea typeface="Aptos"/>
                <a:cs typeface="Aptos"/>
              </a:rPr>
              <a:t>Keep the original data for A6.</a:t>
            </a:r>
          </a:p>
        </p:txBody>
      </p:sp>
      <p:pic>
        <p:nvPicPr>
          <p:cNvPr id="8" name="Picture 7"/>
          <p:cNvPicPr>
            <a:picLocks noChangeAspect="1"/>
          </p:cNvPicPr>
          <p:nvPr/>
        </p:nvPicPr>
        <p:blipFill>
          <a:blip r:embed="rId3"/>
          <a:srcRect l="68600" t="8287" r="967" b="40055"/>
          <a:stretch/>
        </p:blipFill>
        <p:spPr>
          <a:xfrm>
            <a:off x="8096250" y="3667125"/>
            <a:ext cx="3524250" cy="2571750"/>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Quartiles and IQR</a:t>
            </a:r>
          </a:p>
        </p:txBody>
      </p:sp>
      <p:sp>
        <p:nvSpPr>
          <p:cNvPr id="3" name="Handout-A5">
            <a:extLst>
              <a:ext uri="{FF2B5EF4-FFF2-40B4-BE49-F238E27FC236}">
                <a16:creationId xmlns:a16="http://schemas.microsoft.com/office/drawing/2014/main" id="{E8F1DFCC-5D0A-4D35-9E55-219F80D7EABE}"/>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A5</a:t>
            </a:r>
          </a:p>
        </p:txBody>
      </p:sp>
      <p:sp>
        <p:nvSpPr>
          <p:cNvPr id="4" name="rev-28">
            <a:extLst>
              <a:ext uri="{FF2B5EF4-FFF2-40B4-BE49-F238E27FC236}">
                <a16:creationId xmlns:a16="http://schemas.microsoft.com/office/drawing/2014/main" id="{9BC45A4C-524A-41AA-888A-4B9428DB2F36}"/>
              </a:ext>
            </a:extLst>
          </p:cNvPr>
          <p:cNvSpPr>
            <a:spLocks noGrp="1"/>
          </p:cNvSpPr>
          <p:nvPr/>
        </p:nvSpPr>
        <p:spPr>
          <a:xfrm>
            <a:off x="428625" y="1933575"/>
            <a:ext cx="11334750" cy="609600"/>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Ordered: 0, 1, 1, 2, 3, 3, 4, 5, 6, 7, 8, 9, 11, 12, 14, 18</a:t>
            </a:r>
          </a:p>
        </p:txBody>
      </p:sp>
      <p:graphicFrame>
        <p:nvGraphicFramePr>
          <p:cNvPr id="5" name="Table 4"/>
          <p:cNvGraphicFramePr/>
          <p:nvPr/>
        </p:nvGraphicFramePr>
        <p:xfrm>
          <a:off x="523875" y="2714625"/>
          <a:ext cx="11096625" cy="2943225"/>
        </p:xfrm>
        <a:graphic>
          <a:graphicData uri="http://schemas.openxmlformats.org/drawingml/2006/table">
            <a:tbl>
              <a:tblPr/>
              <a:tblGrid>
                <a:gridCol w="2857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5619750">
                  <a:extLst>
                    <a:ext uri="{9D8B030D-6E8A-4147-A177-3AD203B41FA5}">
                      <a16:colId xmlns:a16="http://schemas.microsoft.com/office/drawing/2014/main" val="20002"/>
                    </a:ext>
                  </a:extLst>
                </a:gridCol>
              </a:tblGrid>
              <a:tr h="428625">
                <a:tc>
                  <a:txBody>
                    <a:bodyPr/>
                    <a:lstStyle/>
                    <a:p>
                      <a:r>
                        <a:rPr sz="1950" b="1">
                          <a:solidFill>
                            <a:srgbClr val="FFFFFF"/>
                          </a:solidFill>
                          <a:latin typeface="Aptos"/>
                          <a:ea typeface="Aptos"/>
                          <a:cs typeface="Aptos"/>
                        </a:rPr>
                        <a:t>Measure</a:t>
                      </a:r>
                    </a:p>
                  </a:txBody>
                  <a:tcPr anchor="ctr">
                    <a:solidFill>
                      <a:srgbClr val="D6171D"/>
                    </a:solidFill>
                  </a:tcPr>
                </a:tc>
                <a:tc>
                  <a:txBody>
                    <a:bodyPr/>
                    <a:lstStyle/>
                    <a:p>
                      <a:r>
                        <a:rPr sz="1950" b="1">
                          <a:solidFill>
                            <a:srgbClr val="FFFFFF"/>
                          </a:solidFill>
                          <a:latin typeface="Aptos"/>
                          <a:ea typeface="Aptos"/>
                          <a:cs typeface="Aptos"/>
                        </a:rPr>
                        <a:t>Position</a:t>
                      </a:r>
                    </a:p>
                  </a:txBody>
                  <a:tcPr anchor="ctr">
                    <a:solidFill>
                      <a:srgbClr val="D6171D"/>
                    </a:solidFill>
                  </a:tcPr>
                </a:tc>
                <a:tc>
                  <a:txBody>
                    <a:bodyPr/>
                    <a:lstStyle/>
                    <a:p>
                      <a:r>
                        <a:rPr sz="1950" b="1">
                          <a:solidFill>
                            <a:srgbClr val="FFFFFF"/>
                          </a:solidFill>
                          <a:latin typeface="Aptos"/>
                          <a:ea typeface="Aptos"/>
                          <a:cs typeface="Aptos"/>
                        </a:rPr>
                        <a:t>Working and value (hours)</a:t>
                      </a:r>
                    </a:p>
                  </a:txBody>
                  <a:tcPr anchor="ctr">
                    <a:solidFill>
                      <a:srgbClr val="D6171D"/>
                    </a:solidFill>
                  </a:tcPr>
                </a:tc>
                <a:extLst>
                  <a:ext uri="{0D108BD9-81ED-4DB2-BD59-A6C34878D82A}">
                    <a16:rowId xmlns:a16="http://schemas.microsoft.com/office/drawing/2014/main" val="10000"/>
                  </a:ext>
                </a:extLst>
              </a:tr>
              <a:tr h="838200">
                <a:tc>
                  <a:txBody>
                    <a:bodyPr/>
                    <a:lstStyle/>
                    <a:p>
                      <a:r>
                        <a:rPr sz="1950" b="0">
                          <a:solidFill>
                            <a:srgbClr val="111111"/>
                          </a:solidFill>
                          <a:latin typeface="Aptos"/>
                          <a:ea typeface="Aptos"/>
                          <a:cs typeface="Aptos"/>
                        </a:rPr>
                        <a:t>Lower quartile, Q₁</a:t>
                      </a:r>
                    </a:p>
                  </a:txBody>
                  <a:tcPr anchor="ctr">
                    <a:solidFill>
                      <a:srgbClr val="EFF8FF"/>
                    </a:solidFill>
                  </a:tcPr>
                </a:tc>
                <a:tc>
                  <a:txBody>
                    <a:bodyPr/>
                    <a:lstStyle/>
                    <a:p>
                      <a:endParaRPr/>
                    </a:p>
                  </a:txBody>
                  <a:tcPr anchor="ctr">
                    <a:solidFill>
                      <a:srgbClr val="EFF8FF"/>
                    </a:solidFill>
                  </a:tcPr>
                </a:tc>
                <a:tc>
                  <a:txBody>
                    <a:bodyPr/>
                    <a:lstStyle/>
                    <a:p>
                      <a:endParaRPr/>
                    </a:p>
                  </a:txBody>
                  <a:tcPr anchor="ctr">
                    <a:solidFill>
                      <a:srgbClr val="EFF8FF"/>
                    </a:solidFill>
                  </a:tcPr>
                </a:tc>
                <a:extLst>
                  <a:ext uri="{0D108BD9-81ED-4DB2-BD59-A6C34878D82A}">
                    <a16:rowId xmlns:a16="http://schemas.microsoft.com/office/drawing/2014/main" val="10001"/>
                  </a:ext>
                </a:extLst>
              </a:tr>
              <a:tr h="838200">
                <a:tc>
                  <a:txBody>
                    <a:bodyPr/>
                    <a:lstStyle/>
                    <a:p>
                      <a:r>
                        <a:rPr sz="1950" b="0">
                          <a:solidFill>
                            <a:srgbClr val="111111"/>
                          </a:solidFill>
                          <a:latin typeface="Aptos"/>
                          <a:ea typeface="Aptos"/>
                          <a:cs typeface="Aptos"/>
                        </a:rPr>
                        <a:t>Median, Q₂</a:t>
                      </a: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2"/>
                  </a:ext>
                </a:extLst>
              </a:tr>
              <a:tr h="838200">
                <a:tc>
                  <a:txBody>
                    <a:bodyPr/>
                    <a:lstStyle/>
                    <a:p>
                      <a:r>
                        <a:rPr sz="1950" b="0">
                          <a:solidFill>
                            <a:srgbClr val="111111"/>
                          </a:solidFill>
                          <a:latin typeface="Aptos"/>
                          <a:ea typeface="Aptos"/>
                          <a:cs typeface="Aptos"/>
                        </a:rPr>
                        <a:t>Upper quartile, Q₃</a:t>
                      </a:r>
                    </a:p>
                  </a:txBody>
                  <a:tcPr anchor="ctr">
                    <a:solidFill>
                      <a:srgbClr val="EFF8FF"/>
                    </a:solidFill>
                  </a:tcPr>
                </a:tc>
                <a:tc>
                  <a:txBody>
                    <a:bodyPr/>
                    <a:lstStyle/>
                    <a:p>
                      <a:endParaRPr/>
                    </a:p>
                  </a:txBody>
                  <a:tcPr anchor="ctr">
                    <a:solidFill>
                      <a:srgbClr val="EFF8FF"/>
                    </a:solidFill>
                  </a:tcPr>
                </a:tc>
                <a:tc>
                  <a:txBody>
                    <a:bodyPr/>
                    <a:lstStyle/>
                    <a:p>
                      <a:endParaRPr/>
                    </a:p>
                  </a:txBody>
                  <a:tcPr anchor="ctr">
                    <a:solidFill>
                      <a:srgbClr val="EFF8FF"/>
                    </a:solidFill>
                  </a:tcPr>
                </a:tc>
                <a:extLst>
                  <a:ext uri="{0D108BD9-81ED-4DB2-BD59-A6C34878D82A}">
                    <a16:rowId xmlns:a16="http://schemas.microsoft.com/office/drawing/2014/main" val="10003"/>
                  </a:ext>
                </a:extLst>
              </a:tr>
            </a:tbl>
          </a:graphicData>
        </a:graphic>
      </p:graphicFrame>
      <p:pic>
        <p:nvPicPr>
          <p:cNvPr id="6" name="Picture 5"/>
          <p:cNvPicPr>
            <a:picLocks noChangeAspect="1"/>
          </p:cNvPicPr>
          <p:nvPr/>
        </p:nvPicPr>
        <p:blipFill>
          <a:blip r:embed="rId3"/>
          <a:stretch/>
        </p:blipFill>
        <p:spPr>
          <a:xfrm>
            <a:off x="3486150" y="3264054"/>
            <a:ext cx="2381250" cy="577542"/>
          </a:xfrm>
          <a:prstGeom prst="rect">
            <a:avLst/>
          </a:prstGeom>
        </p:spPr>
      </p:pic>
      <p:pic>
        <p:nvPicPr>
          <p:cNvPr id="7" name="Picture 6"/>
          <p:cNvPicPr>
            <a:picLocks noChangeAspect="1"/>
          </p:cNvPicPr>
          <p:nvPr/>
        </p:nvPicPr>
        <p:blipFill>
          <a:blip r:embed="rId4"/>
          <a:stretch/>
        </p:blipFill>
        <p:spPr>
          <a:xfrm>
            <a:off x="6191250" y="3349428"/>
            <a:ext cx="5181600" cy="378219"/>
          </a:xfrm>
          <a:prstGeom prst="rect">
            <a:avLst/>
          </a:prstGeom>
        </p:spPr>
      </p:pic>
      <p:pic>
        <p:nvPicPr>
          <p:cNvPr id="8" name="Picture 7"/>
          <p:cNvPicPr>
            <a:picLocks noChangeAspect="1"/>
          </p:cNvPicPr>
          <p:nvPr/>
        </p:nvPicPr>
        <p:blipFill>
          <a:blip r:embed="rId5"/>
          <a:stretch/>
        </p:blipFill>
        <p:spPr>
          <a:xfrm>
            <a:off x="3486150" y="4061123"/>
            <a:ext cx="2381250" cy="659805"/>
          </a:xfrm>
          <a:prstGeom prst="rect">
            <a:avLst/>
          </a:prstGeom>
        </p:spPr>
      </p:pic>
      <p:pic>
        <p:nvPicPr>
          <p:cNvPr id="9" name="Picture 8"/>
          <p:cNvPicPr>
            <a:picLocks noChangeAspect="1"/>
          </p:cNvPicPr>
          <p:nvPr/>
        </p:nvPicPr>
        <p:blipFill>
          <a:blip r:embed="rId6"/>
          <a:stretch/>
        </p:blipFill>
        <p:spPr>
          <a:xfrm>
            <a:off x="7095122" y="4057650"/>
            <a:ext cx="3373855" cy="666750"/>
          </a:xfrm>
          <a:prstGeom prst="rect">
            <a:avLst/>
          </a:prstGeom>
        </p:spPr>
      </p:pic>
      <p:pic>
        <p:nvPicPr>
          <p:cNvPr id="10" name="Picture 9"/>
          <p:cNvPicPr>
            <a:picLocks noChangeAspect="1"/>
          </p:cNvPicPr>
          <p:nvPr/>
        </p:nvPicPr>
        <p:blipFill>
          <a:blip r:embed="rId7"/>
          <a:stretch/>
        </p:blipFill>
        <p:spPr>
          <a:xfrm>
            <a:off x="3486150" y="4993183"/>
            <a:ext cx="2381250" cy="472085"/>
          </a:xfrm>
          <a:prstGeom prst="rect">
            <a:avLst/>
          </a:prstGeom>
        </p:spPr>
      </p:pic>
      <p:pic>
        <p:nvPicPr>
          <p:cNvPr id="11" name="Picture 10"/>
          <p:cNvPicPr>
            <a:picLocks noChangeAspect="1"/>
          </p:cNvPicPr>
          <p:nvPr/>
        </p:nvPicPr>
        <p:blipFill>
          <a:blip r:embed="rId8"/>
          <a:stretch/>
        </p:blipFill>
        <p:spPr>
          <a:xfrm>
            <a:off x="6191250" y="5035021"/>
            <a:ext cx="5181600" cy="359833"/>
          </a:xfrm>
          <a:prstGeom prst="rect">
            <a:avLst/>
          </a:prstGeom>
        </p:spPr>
      </p:pic>
      <p:pic>
        <p:nvPicPr>
          <p:cNvPr id="12" name="Picture 11"/>
          <p:cNvPicPr>
            <a:picLocks noChangeAspect="1"/>
          </p:cNvPicPr>
          <p:nvPr/>
        </p:nvPicPr>
        <p:blipFill>
          <a:blip r:embed="rId9"/>
          <a:stretch/>
        </p:blipFill>
        <p:spPr>
          <a:xfrm>
            <a:off x="2476500" y="5876172"/>
            <a:ext cx="7239000" cy="439657"/>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five-number summary</a:t>
            </a:r>
          </a:p>
        </p:txBody>
      </p:sp>
      <p:sp>
        <p:nvSpPr>
          <p:cNvPr id="3" name="Handout-A5">
            <a:extLst>
              <a:ext uri="{FF2B5EF4-FFF2-40B4-BE49-F238E27FC236}">
                <a16:creationId xmlns:a16="http://schemas.microsoft.com/office/drawing/2014/main" id="{0A7DD2D0-8A86-478B-A25B-D3BA06A61D67}"/>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A5</a:t>
            </a:r>
          </a:p>
        </p:txBody>
      </p:sp>
      <p:sp>
        <p:nvSpPr>
          <p:cNvPr id="4" name="rev-29">
            <a:extLst>
              <a:ext uri="{FF2B5EF4-FFF2-40B4-BE49-F238E27FC236}">
                <a16:creationId xmlns:a16="http://schemas.microsoft.com/office/drawing/2014/main" id="{DAF0F12D-E967-44E6-97DE-559F999A85A7}"/>
              </a:ext>
            </a:extLst>
          </p:cNvPr>
          <p:cNvSpPr>
            <a:spLocks noGrp="1"/>
          </p:cNvSpPr>
          <p:nvPr/>
        </p:nvSpPr>
        <p:spPr>
          <a:xfrm>
            <a:off x="428625" y="1933575"/>
            <a:ext cx="11049000" cy="5238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Add the minimum and maximum to the three quartiles.</a:t>
            </a:r>
          </a:p>
        </p:txBody>
      </p:sp>
      <p:graphicFrame>
        <p:nvGraphicFramePr>
          <p:cNvPr id="5" name="Table 4"/>
          <p:cNvGraphicFramePr/>
          <p:nvPr/>
        </p:nvGraphicFramePr>
        <p:xfrm>
          <a:off x="523875" y="3143250"/>
          <a:ext cx="11049000" cy="1571625"/>
        </p:xfrm>
        <a:graphic>
          <a:graphicData uri="http://schemas.openxmlformats.org/drawingml/2006/table">
            <a:tbl>
              <a:tblPr/>
              <a:tblGrid>
                <a:gridCol w="22098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gridCol w="2209800">
                  <a:extLst>
                    <a:ext uri="{9D8B030D-6E8A-4147-A177-3AD203B41FA5}">
                      <a16:colId xmlns:a16="http://schemas.microsoft.com/office/drawing/2014/main" val="20004"/>
                    </a:ext>
                  </a:extLst>
                </a:gridCol>
              </a:tblGrid>
              <a:tr h="571500">
                <a:tc>
                  <a:txBody>
                    <a:bodyPr/>
                    <a:lstStyle/>
                    <a:p>
                      <a:r>
                        <a:rPr sz="2550" b="1">
                          <a:solidFill>
                            <a:srgbClr val="FFFFFF"/>
                          </a:solidFill>
                          <a:latin typeface="Aptos"/>
                          <a:ea typeface="Aptos"/>
                          <a:cs typeface="Aptos"/>
                        </a:rPr>
                        <a:t>Minimum</a:t>
                      </a:r>
                    </a:p>
                  </a:txBody>
                  <a:tcPr anchor="ctr">
                    <a:solidFill>
                      <a:srgbClr val="D6171D"/>
                    </a:solidFill>
                  </a:tcPr>
                </a:tc>
                <a:tc>
                  <a:txBody>
                    <a:bodyPr/>
                    <a:lstStyle/>
                    <a:p>
                      <a:r>
                        <a:rPr sz="2550" b="1">
                          <a:solidFill>
                            <a:srgbClr val="FFFFFF"/>
                          </a:solidFill>
                          <a:latin typeface="Aptos"/>
                          <a:ea typeface="Aptos"/>
                          <a:cs typeface="Aptos"/>
                        </a:rPr>
                        <a:t>Q₁</a:t>
                      </a:r>
                    </a:p>
                  </a:txBody>
                  <a:tcPr anchor="ctr">
                    <a:solidFill>
                      <a:srgbClr val="D6171D"/>
                    </a:solidFill>
                  </a:tcPr>
                </a:tc>
                <a:tc>
                  <a:txBody>
                    <a:bodyPr/>
                    <a:lstStyle/>
                    <a:p>
                      <a:r>
                        <a:rPr sz="2550" b="1">
                          <a:solidFill>
                            <a:srgbClr val="FFFFFF"/>
                          </a:solidFill>
                          <a:latin typeface="Aptos"/>
                          <a:ea typeface="Aptos"/>
                          <a:cs typeface="Aptos"/>
                        </a:rPr>
                        <a:t>Median</a:t>
                      </a:r>
                    </a:p>
                  </a:txBody>
                  <a:tcPr anchor="ctr">
                    <a:solidFill>
                      <a:srgbClr val="D6171D"/>
                    </a:solidFill>
                  </a:tcPr>
                </a:tc>
                <a:tc>
                  <a:txBody>
                    <a:bodyPr/>
                    <a:lstStyle/>
                    <a:p>
                      <a:r>
                        <a:rPr sz="2550" b="1">
                          <a:solidFill>
                            <a:srgbClr val="FFFFFF"/>
                          </a:solidFill>
                          <a:latin typeface="Aptos"/>
                          <a:ea typeface="Aptos"/>
                          <a:cs typeface="Aptos"/>
                        </a:rPr>
                        <a:t>Q₃</a:t>
                      </a:r>
                    </a:p>
                  </a:txBody>
                  <a:tcPr anchor="ctr">
                    <a:solidFill>
                      <a:srgbClr val="D6171D"/>
                    </a:solidFill>
                  </a:tcPr>
                </a:tc>
                <a:tc>
                  <a:txBody>
                    <a:bodyPr/>
                    <a:lstStyle/>
                    <a:p>
                      <a:r>
                        <a:rPr sz="2550" b="1">
                          <a:solidFill>
                            <a:srgbClr val="FFFFFF"/>
                          </a:solidFill>
                          <a:latin typeface="Aptos"/>
                          <a:ea typeface="Aptos"/>
                          <a:cs typeface="Aptos"/>
                        </a:rPr>
                        <a:t>Maximum</a:t>
                      </a:r>
                    </a:p>
                  </a:txBody>
                  <a:tcPr anchor="ctr">
                    <a:solidFill>
                      <a:srgbClr val="D6171D"/>
                    </a:solidFill>
                  </a:tcPr>
                </a:tc>
                <a:extLst>
                  <a:ext uri="{0D108BD9-81ED-4DB2-BD59-A6C34878D82A}">
                    <a16:rowId xmlns:a16="http://schemas.microsoft.com/office/drawing/2014/main" val="10000"/>
                  </a:ext>
                </a:extLst>
              </a:tr>
              <a:tr h="1000125">
                <a:tc>
                  <a:txBody>
                    <a:bodyPr/>
                    <a:lstStyle/>
                    <a:p>
                      <a:r>
                        <a:rPr sz="2550" b="0">
                          <a:solidFill>
                            <a:srgbClr val="111111"/>
                          </a:solidFill>
                          <a:latin typeface="Aptos"/>
                          <a:ea typeface="Aptos"/>
                          <a:cs typeface="Aptos"/>
                        </a:rPr>
                        <a:t>0</a:t>
                      </a:r>
                    </a:p>
                  </a:txBody>
                  <a:tcPr anchor="ctr">
                    <a:solidFill>
                      <a:srgbClr val="EFF8FF"/>
                    </a:solidFill>
                  </a:tcPr>
                </a:tc>
                <a:tc>
                  <a:txBody>
                    <a:bodyPr/>
                    <a:lstStyle/>
                    <a:p>
                      <a:r>
                        <a:rPr sz="2550" b="0">
                          <a:solidFill>
                            <a:srgbClr val="111111"/>
                          </a:solidFill>
                          <a:latin typeface="Aptos"/>
                          <a:ea typeface="Aptos"/>
                          <a:cs typeface="Aptos"/>
                        </a:rPr>
                        <a:t>2.25</a:t>
                      </a:r>
                    </a:p>
                  </a:txBody>
                  <a:tcPr anchor="ctr">
                    <a:solidFill>
                      <a:srgbClr val="EFF8FF"/>
                    </a:solidFill>
                  </a:tcPr>
                </a:tc>
                <a:tc>
                  <a:txBody>
                    <a:bodyPr/>
                    <a:lstStyle/>
                    <a:p>
                      <a:r>
                        <a:rPr sz="2550" b="0">
                          <a:solidFill>
                            <a:srgbClr val="111111"/>
                          </a:solidFill>
                          <a:latin typeface="Aptos"/>
                          <a:ea typeface="Aptos"/>
                          <a:cs typeface="Aptos"/>
                        </a:rPr>
                        <a:t>5.5</a:t>
                      </a:r>
                    </a:p>
                  </a:txBody>
                  <a:tcPr anchor="ctr">
                    <a:solidFill>
                      <a:srgbClr val="EFF8FF"/>
                    </a:solidFill>
                  </a:tcPr>
                </a:tc>
                <a:tc>
                  <a:txBody>
                    <a:bodyPr/>
                    <a:lstStyle/>
                    <a:p>
                      <a:r>
                        <a:rPr sz="2550" b="0">
                          <a:solidFill>
                            <a:srgbClr val="111111"/>
                          </a:solidFill>
                          <a:latin typeface="Aptos"/>
                          <a:ea typeface="Aptos"/>
                          <a:cs typeface="Aptos"/>
                        </a:rPr>
                        <a:t>10.5</a:t>
                      </a:r>
                    </a:p>
                  </a:txBody>
                  <a:tcPr anchor="ctr">
                    <a:solidFill>
                      <a:srgbClr val="EFF8FF"/>
                    </a:solidFill>
                  </a:tcPr>
                </a:tc>
                <a:tc>
                  <a:txBody>
                    <a:bodyPr/>
                    <a:lstStyle/>
                    <a:p>
                      <a:r>
                        <a:rPr sz="2550" b="0">
                          <a:solidFill>
                            <a:srgbClr val="111111"/>
                          </a:solidFill>
                          <a:latin typeface="Aptos"/>
                          <a:ea typeface="Aptos"/>
                          <a:cs typeface="Aptos"/>
                        </a:rPr>
                        <a:t>18</a:t>
                      </a:r>
                    </a:p>
                  </a:txBody>
                  <a:tcPr anchor="ctr">
                    <a:solidFill>
                      <a:srgbClr val="EFF8FF"/>
                    </a:solidFill>
                  </a:tcPr>
                </a:tc>
                <a:extLst>
                  <a:ext uri="{0D108BD9-81ED-4DB2-BD59-A6C34878D82A}">
                    <a16:rowId xmlns:a16="http://schemas.microsoft.com/office/drawing/2014/main" val="10001"/>
                  </a:ext>
                </a:extLst>
              </a:tr>
            </a:tbl>
          </a:graphicData>
        </a:graphic>
      </p:graphicFrame>
      <p:sp>
        <p:nvSpPr>
          <p:cNvPr id="6" name="rev-30">
            <a:extLst>
              <a:ext uri="{FF2B5EF4-FFF2-40B4-BE49-F238E27FC236}">
                <a16:creationId xmlns:a16="http://schemas.microsoft.com/office/drawing/2014/main" id="{2AD9C8E6-D1F2-454E-AE46-F31DD004EDA1}"/>
              </a:ext>
            </a:extLst>
          </p:cNvPr>
          <p:cNvSpPr>
            <a:spLocks noGrp="1"/>
          </p:cNvSpPr>
          <p:nvPr/>
        </p:nvSpPr>
        <p:spPr>
          <a:xfrm>
            <a:off x="523875" y="5105400"/>
            <a:ext cx="11049000" cy="91440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The middle half runs from 2.25 to 10.5 hours.</a:t>
            </a:r>
          </a:p>
          <a:p>
            <a:pPr algn="l">
              <a:defRPr sz="2325" b="1">
                <a:solidFill>
                  <a:srgbClr val="111111"/>
                </a:solidFill>
                <a:latin typeface="Aptos"/>
                <a:ea typeface="Aptos"/>
                <a:cs typeface="Aptos"/>
              </a:defRPr>
            </a:pPr>
            <a:r>
              <a:rPr sz="2325" b="1">
                <a:solidFill>
                  <a:srgbClr val="111111"/>
                </a:solidFill>
                <a:latin typeface="Aptos"/>
                <a:ea typeface="Aptos"/>
                <a:cs typeface="Aptos"/>
              </a:rPr>
              <a:t>Its spread is 8.25 hours.</a:t>
            </a:r>
          </a:p>
        </p:txBody>
      </p:sp>
    </p:spTree>
    <p:extLst>
      <p:ext uri="{BB962C8B-B14F-4D97-AF65-F5344CB8AC3E}">
        <p14:creationId xmlns:p14="http://schemas.microsoft.com/office/powerpoint/2010/main" val="3281361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One value changes</a:t>
            </a:r>
          </a:p>
        </p:txBody>
      </p:sp>
      <p:sp>
        <p:nvSpPr>
          <p:cNvPr id="3" name="Handout-A6">
            <a:extLst>
              <a:ext uri="{FF2B5EF4-FFF2-40B4-BE49-F238E27FC236}">
                <a16:creationId xmlns:a16="http://schemas.microsoft.com/office/drawing/2014/main" id="{05E570F6-0230-4106-8084-967478267492}"/>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A6</a:t>
            </a:r>
          </a:p>
        </p:txBody>
      </p:sp>
      <p:sp>
        <p:nvSpPr>
          <p:cNvPr id="4" name="rev-31">
            <a:extLst>
              <a:ext uri="{FF2B5EF4-FFF2-40B4-BE49-F238E27FC236}">
                <a16:creationId xmlns:a16="http://schemas.microsoft.com/office/drawing/2014/main" id="{9F74FFAD-1478-4326-9657-C64AFC53677E}"/>
              </a:ext>
            </a:extLst>
          </p:cNvPr>
          <p:cNvSpPr>
            <a:spLocks noGrp="1"/>
          </p:cNvSpPr>
          <p:nvPr/>
        </p:nvSpPr>
        <p:spPr>
          <a:xfrm>
            <a:off x="428625" y="1933575"/>
            <a:ext cx="11334750" cy="61912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Replace 18 hours with 30 hours. Keep the other 15 observations.</a:t>
            </a:r>
          </a:p>
        </p:txBody>
      </p:sp>
      <p:sp>
        <p:nvSpPr>
          <p:cNvPr id="5" name="rev-32">
            <a:extLst>
              <a:ext uri="{FF2B5EF4-FFF2-40B4-BE49-F238E27FC236}">
                <a16:creationId xmlns:a16="http://schemas.microsoft.com/office/drawing/2014/main" id="{6573CFB7-0D91-4F56-AA74-5F79BC1C668F}"/>
              </a:ext>
            </a:extLst>
          </p:cNvPr>
          <p:cNvSpPr>
            <a:spLocks noGrp="1"/>
          </p:cNvSpPr>
          <p:nvPr/>
        </p:nvSpPr>
        <p:spPr>
          <a:xfrm>
            <a:off x="523875" y="2705100"/>
            <a:ext cx="11144250" cy="40957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Original total = 104 hours. Number of observations = 16.</a:t>
            </a:r>
          </a:p>
        </p:txBody>
      </p:sp>
      <p:sp>
        <p:nvSpPr>
          <p:cNvPr id="6" name="rev-33">
            <a:extLst>
              <a:ext uri="{FF2B5EF4-FFF2-40B4-BE49-F238E27FC236}">
                <a16:creationId xmlns:a16="http://schemas.microsoft.com/office/drawing/2014/main" id="{059E3119-2E93-474A-8B68-6FE180714B9C}"/>
              </a:ext>
            </a:extLst>
          </p:cNvPr>
          <p:cNvSpPr>
            <a:spLocks noGrp="1"/>
          </p:cNvSpPr>
          <p:nvPr/>
        </p:nvSpPr>
        <p:spPr>
          <a:xfrm>
            <a:off x="523875" y="3381375"/>
            <a:ext cx="11144250" cy="1476375"/>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1. Predict which summaries will change.</a:t>
            </a:r>
          </a:p>
          <a:p>
            <a:pPr algn="l">
              <a:defRPr sz="2325" b="1">
                <a:solidFill>
                  <a:srgbClr val="111111"/>
                </a:solidFill>
                <a:latin typeface="Aptos"/>
                <a:ea typeface="Aptos"/>
                <a:cs typeface="Aptos"/>
              </a:defRPr>
            </a:pPr>
            <a:r>
              <a:rPr sz="2325" b="1">
                <a:solidFill>
                  <a:srgbClr val="111111"/>
                </a:solidFill>
                <a:latin typeface="Aptos"/>
                <a:ea typeface="Aptos"/>
                <a:cs typeface="Aptos"/>
              </a:rPr>
              <a:t>2. Check the mean, median, range and IQR.</a:t>
            </a:r>
          </a:p>
          <a:p>
            <a:pPr algn="l">
              <a:defRPr sz="2325" b="1">
                <a:solidFill>
                  <a:srgbClr val="111111"/>
                </a:solidFill>
                <a:latin typeface="Aptos"/>
                <a:ea typeface="Aptos"/>
                <a:cs typeface="Aptos"/>
              </a:defRPr>
            </a:pPr>
            <a:r>
              <a:rPr sz="2325" b="1">
                <a:solidFill>
                  <a:srgbClr val="111111"/>
                </a:solidFill>
                <a:latin typeface="Aptos"/>
                <a:ea typeface="Aptos"/>
                <a:cs typeface="Aptos"/>
              </a:rPr>
              <a:t>3. Explain which summaries stay the same.</a:t>
            </a:r>
          </a:p>
        </p:txBody>
      </p:sp>
      <p:sp>
        <p:nvSpPr>
          <p:cNvPr id="7" name="rev-34">
            <a:extLst>
              <a:ext uri="{FF2B5EF4-FFF2-40B4-BE49-F238E27FC236}">
                <a16:creationId xmlns:a16="http://schemas.microsoft.com/office/drawing/2014/main" id="{4B24D38E-4C4E-4D55-B379-E84F8BC65D7B}"/>
              </a:ext>
            </a:extLst>
          </p:cNvPr>
          <p:cNvSpPr>
            <a:spLocks noGrp="1"/>
          </p:cNvSpPr>
          <p:nvPr/>
        </p:nvSpPr>
        <p:spPr>
          <a:xfrm>
            <a:off x="523875" y="5238750"/>
            <a:ext cx="11144250" cy="1143000"/>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Stretch: start again with the original data. Replace 18 with</a:t>
            </a:r>
          </a:p>
          <a:p>
            <a:pPr algn="l">
              <a:defRPr sz="2025" b="1">
                <a:solidFill>
                  <a:srgbClr val="111111"/>
                </a:solidFill>
                <a:latin typeface="Aptos"/>
                <a:ea typeface="Aptos"/>
                <a:cs typeface="Aptos"/>
              </a:defRPr>
            </a:pPr>
            <a:r>
              <a:rPr sz="2025" b="1">
                <a:solidFill>
                  <a:srgbClr val="111111"/>
                </a:solidFill>
                <a:latin typeface="Aptos"/>
                <a:ea typeface="Aptos"/>
                <a:cs typeface="Aptos"/>
              </a:rPr>
              <a:t>an unknown value so the new mean is 7.625 hours.</a:t>
            </a:r>
          </a:p>
          <a:p>
            <a:pPr algn="l">
              <a:defRPr sz="2025" b="1">
                <a:solidFill>
                  <a:srgbClr val="111111"/>
                </a:solidFill>
                <a:latin typeface="Aptos"/>
                <a:ea typeface="Aptos"/>
                <a:cs typeface="Aptos"/>
              </a:defRPr>
            </a:pPr>
            <a:r>
              <a:rPr sz="2025" b="1">
                <a:solidFill>
                  <a:srgbClr val="111111"/>
                </a:solidFill>
                <a:latin typeface="Aptos"/>
                <a:ea typeface="Aptos"/>
                <a:cs typeface="Aptos"/>
              </a:rPr>
              <a:t>Find the unknown value. Does the IQR change?</a:t>
            </a:r>
          </a:p>
        </p:txBody>
      </p:sp>
    </p:spTree>
    <p:extLst>
      <p:ext uri="{BB962C8B-B14F-4D97-AF65-F5344CB8AC3E}">
        <p14:creationId xmlns:p14="http://schemas.microsoft.com/office/powerpoint/2010/main" val="3281361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effects of the replacement</a:t>
            </a:r>
          </a:p>
        </p:txBody>
      </p:sp>
      <p:sp>
        <p:nvSpPr>
          <p:cNvPr id="3" name="Handout-A6">
            <a:extLst>
              <a:ext uri="{FF2B5EF4-FFF2-40B4-BE49-F238E27FC236}">
                <a16:creationId xmlns:a16="http://schemas.microsoft.com/office/drawing/2014/main" id="{1BA7F3D0-9DCB-4CE3-B515-C0EDD210E71B}"/>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A6</a:t>
            </a:r>
          </a:p>
        </p:txBody>
      </p:sp>
      <p:graphicFrame>
        <p:nvGraphicFramePr>
          <p:cNvPr id="4" name="Table 3"/>
          <p:cNvGraphicFramePr/>
          <p:nvPr/>
        </p:nvGraphicFramePr>
        <p:xfrm>
          <a:off x="523875" y="2047875"/>
          <a:ext cx="11049000" cy="2181225"/>
        </p:xfrm>
        <a:graphic>
          <a:graphicData uri="http://schemas.openxmlformats.org/drawingml/2006/table">
            <a:tbl>
              <a:tblPr/>
              <a:tblGrid>
                <a:gridCol w="304800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4143375">
                  <a:extLst>
                    <a:ext uri="{9D8B030D-6E8A-4147-A177-3AD203B41FA5}">
                      <a16:colId xmlns:a16="http://schemas.microsoft.com/office/drawing/2014/main" val="20002"/>
                    </a:ext>
                  </a:extLst>
                </a:gridCol>
              </a:tblGrid>
              <a:tr h="428625">
                <a:tc>
                  <a:txBody>
                    <a:bodyPr/>
                    <a:lstStyle/>
                    <a:p>
                      <a:r>
                        <a:rPr sz="2100" b="1">
                          <a:solidFill>
                            <a:srgbClr val="FFFFFF"/>
                          </a:solidFill>
                          <a:latin typeface="Aptos"/>
                          <a:ea typeface="Aptos"/>
                          <a:cs typeface="Aptos"/>
                        </a:rPr>
                        <a:t>Measure</a:t>
                      </a:r>
                    </a:p>
                  </a:txBody>
                  <a:tcPr anchor="ctr">
                    <a:solidFill>
                      <a:srgbClr val="D6171D"/>
                    </a:solidFill>
                  </a:tcPr>
                </a:tc>
                <a:tc>
                  <a:txBody>
                    <a:bodyPr/>
                    <a:lstStyle/>
                    <a:p>
                      <a:r>
                        <a:rPr sz="2100" b="1">
                          <a:solidFill>
                            <a:srgbClr val="FFFFFF"/>
                          </a:solidFill>
                          <a:latin typeface="Aptos"/>
                          <a:ea typeface="Aptos"/>
                          <a:cs typeface="Aptos"/>
                        </a:rPr>
                        <a:t>Original data</a:t>
                      </a:r>
                    </a:p>
                  </a:txBody>
                  <a:tcPr anchor="ctr">
                    <a:solidFill>
                      <a:srgbClr val="D6171D"/>
                    </a:solidFill>
                  </a:tcPr>
                </a:tc>
                <a:tc>
                  <a:txBody>
                    <a:bodyPr/>
                    <a:lstStyle/>
                    <a:p>
                      <a:r>
                        <a:rPr sz="2100" b="1">
                          <a:solidFill>
                            <a:srgbClr val="FFFFFF"/>
                          </a:solidFill>
                          <a:latin typeface="Aptos"/>
                          <a:ea typeface="Aptos"/>
                          <a:cs typeface="Aptos"/>
                        </a:rPr>
                        <a:t>Replace 18 with 30</a:t>
                      </a:r>
                    </a:p>
                  </a:txBody>
                  <a:tcPr anchor="ctr">
                    <a:solidFill>
                      <a:srgbClr val="D6171D"/>
                    </a:solidFill>
                  </a:tcPr>
                </a:tc>
                <a:extLst>
                  <a:ext uri="{0D108BD9-81ED-4DB2-BD59-A6C34878D82A}">
                    <a16:rowId xmlns:a16="http://schemas.microsoft.com/office/drawing/2014/main" val="10000"/>
                  </a:ext>
                </a:extLst>
              </a:tr>
              <a:tr h="438150">
                <a:tc>
                  <a:txBody>
                    <a:bodyPr/>
                    <a:lstStyle/>
                    <a:p>
                      <a:r>
                        <a:rPr sz="2100" b="0">
                          <a:solidFill>
                            <a:srgbClr val="111111"/>
                          </a:solidFill>
                          <a:latin typeface="Aptos"/>
                          <a:ea typeface="Aptos"/>
                          <a:cs typeface="Aptos"/>
                        </a:rPr>
                        <a:t>Mean</a:t>
                      </a:r>
                    </a:p>
                  </a:txBody>
                  <a:tcPr anchor="ctr">
                    <a:solidFill>
                      <a:srgbClr val="EFF8FF"/>
                    </a:solidFill>
                  </a:tcPr>
                </a:tc>
                <a:tc>
                  <a:txBody>
                    <a:bodyPr/>
                    <a:lstStyle/>
                    <a:p>
                      <a:r>
                        <a:rPr sz="2100" b="0">
                          <a:solidFill>
                            <a:srgbClr val="111111"/>
                          </a:solidFill>
                          <a:latin typeface="Aptos"/>
                          <a:ea typeface="Aptos"/>
                          <a:cs typeface="Aptos"/>
                        </a:rPr>
                        <a:t>6.5 hours</a:t>
                      </a:r>
                    </a:p>
                  </a:txBody>
                  <a:tcPr anchor="ctr">
                    <a:solidFill>
                      <a:srgbClr val="EFF8FF"/>
                    </a:solidFill>
                  </a:tcPr>
                </a:tc>
                <a:tc>
                  <a:txBody>
                    <a:bodyPr/>
                    <a:lstStyle/>
                    <a:p>
                      <a:r>
                        <a:rPr sz="2100" b="0">
                          <a:solidFill>
                            <a:srgbClr val="111111"/>
                          </a:solidFill>
                          <a:latin typeface="Aptos"/>
                          <a:ea typeface="Aptos"/>
                          <a:cs typeface="Aptos"/>
                        </a:rPr>
                        <a:t>7.25 hours</a:t>
                      </a:r>
                    </a:p>
                  </a:txBody>
                  <a:tcPr anchor="ctr">
                    <a:solidFill>
                      <a:srgbClr val="EFF8FF"/>
                    </a:solidFill>
                  </a:tcPr>
                </a:tc>
                <a:extLst>
                  <a:ext uri="{0D108BD9-81ED-4DB2-BD59-A6C34878D82A}">
                    <a16:rowId xmlns:a16="http://schemas.microsoft.com/office/drawing/2014/main" val="10001"/>
                  </a:ext>
                </a:extLst>
              </a:tr>
              <a:tr h="438150">
                <a:tc>
                  <a:txBody>
                    <a:bodyPr/>
                    <a:lstStyle/>
                    <a:p>
                      <a:r>
                        <a:rPr sz="2100" b="0">
                          <a:solidFill>
                            <a:srgbClr val="111111"/>
                          </a:solidFill>
                          <a:latin typeface="Aptos"/>
                          <a:ea typeface="Aptos"/>
                          <a:cs typeface="Aptos"/>
                        </a:rPr>
                        <a:t>Median</a:t>
                      </a:r>
                    </a:p>
                  </a:txBody>
                  <a:tcPr anchor="ctr">
                    <a:solidFill>
                      <a:srgbClr val="FFFFFF"/>
                    </a:solidFill>
                  </a:tcPr>
                </a:tc>
                <a:tc>
                  <a:txBody>
                    <a:bodyPr/>
                    <a:lstStyle/>
                    <a:p>
                      <a:r>
                        <a:rPr sz="2100" b="0">
                          <a:solidFill>
                            <a:srgbClr val="111111"/>
                          </a:solidFill>
                          <a:latin typeface="Aptos"/>
                          <a:ea typeface="Aptos"/>
                          <a:cs typeface="Aptos"/>
                        </a:rPr>
                        <a:t>5.5 hours</a:t>
                      </a:r>
                    </a:p>
                  </a:txBody>
                  <a:tcPr anchor="ctr">
                    <a:solidFill>
                      <a:srgbClr val="FFFFFF"/>
                    </a:solidFill>
                  </a:tcPr>
                </a:tc>
                <a:tc>
                  <a:txBody>
                    <a:bodyPr/>
                    <a:lstStyle/>
                    <a:p>
                      <a:r>
                        <a:rPr sz="2100" b="0">
                          <a:solidFill>
                            <a:srgbClr val="111111"/>
                          </a:solidFill>
                          <a:latin typeface="Aptos"/>
                          <a:ea typeface="Aptos"/>
                          <a:cs typeface="Aptos"/>
                        </a:rPr>
                        <a:t>5.5 hours</a:t>
                      </a:r>
                    </a:p>
                  </a:txBody>
                  <a:tcPr anchor="ctr">
                    <a:solidFill>
                      <a:srgbClr val="FFFFFF"/>
                    </a:solidFill>
                  </a:tcPr>
                </a:tc>
                <a:extLst>
                  <a:ext uri="{0D108BD9-81ED-4DB2-BD59-A6C34878D82A}">
                    <a16:rowId xmlns:a16="http://schemas.microsoft.com/office/drawing/2014/main" val="10002"/>
                  </a:ext>
                </a:extLst>
              </a:tr>
              <a:tr h="438150">
                <a:tc>
                  <a:txBody>
                    <a:bodyPr/>
                    <a:lstStyle/>
                    <a:p>
                      <a:r>
                        <a:rPr sz="2100" b="0">
                          <a:solidFill>
                            <a:srgbClr val="111111"/>
                          </a:solidFill>
                          <a:latin typeface="Aptos"/>
                          <a:ea typeface="Aptos"/>
                          <a:cs typeface="Aptos"/>
                        </a:rPr>
                        <a:t>Range</a:t>
                      </a:r>
                    </a:p>
                  </a:txBody>
                  <a:tcPr anchor="ctr">
                    <a:solidFill>
                      <a:srgbClr val="EFF8FF"/>
                    </a:solidFill>
                  </a:tcPr>
                </a:tc>
                <a:tc>
                  <a:txBody>
                    <a:bodyPr/>
                    <a:lstStyle/>
                    <a:p>
                      <a:r>
                        <a:rPr sz="2100" b="0">
                          <a:solidFill>
                            <a:srgbClr val="111111"/>
                          </a:solidFill>
                          <a:latin typeface="Aptos"/>
                          <a:ea typeface="Aptos"/>
                          <a:cs typeface="Aptos"/>
                        </a:rPr>
                        <a:t>18 hours</a:t>
                      </a:r>
                    </a:p>
                  </a:txBody>
                  <a:tcPr anchor="ctr">
                    <a:solidFill>
                      <a:srgbClr val="EFF8FF"/>
                    </a:solidFill>
                  </a:tcPr>
                </a:tc>
                <a:tc>
                  <a:txBody>
                    <a:bodyPr/>
                    <a:lstStyle/>
                    <a:p>
                      <a:r>
                        <a:rPr sz="2100" b="0">
                          <a:solidFill>
                            <a:srgbClr val="111111"/>
                          </a:solidFill>
                          <a:latin typeface="Aptos"/>
                          <a:ea typeface="Aptos"/>
                          <a:cs typeface="Aptos"/>
                        </a:rPr>
                        <a:t>30 hours</a:t>
                      </a:r>
                    </a:p>
                  </a:txBody>
                  <a:tcPr anchor="ctr">
                    <a:solidFill>
                      <a:srgbClr val="EFF8FF"/>
                    </a:solidFill>
                  </a:tcPr>
                </a:tc>
                <a:extLst>
                  <a:ext uri="{0D108BD9-81ED-4DB2-BD59-A6C34878D82A}">
                    <a16:rowId xmlns:a16="http://schemas.microsoft.com/office/drawing/2014/main" val="10003"/>
                  </a:ext>
                </a:extLst>
              </a:tr>
              <a:tr h="438150">
                <a:tc>
                  <a:txBody>
                    <a:bodyPr/>
                    <a:lstStyle/>
                    <a:p>
                      <a:r>
                        <a:rPr sz="2100" b="0">
                          <a:solidFill>
                            <a:srgbClr val="111111"/>
                          </a:solidFill>
                          <a:latin typeface="Aptos"/>
                          <a:ea typeface="Aptos"/>
                          <a:cs typeface="Aptos"/>
                        </a:rPr>
                        <a:t>IQR</a:t>
                      </a:r>
                    </a:p>
                  </a:txBody>
                  <a:tcPr anchor="ctr">
                    <a:solidFill>
                      <a:srgbClr val="FFFFFF"/>
                    </a:solidFill>
                  </a:tcPr>
                </a:tc>
                <a:tc>
                  <a:txBody>
                    <a:bodyPr/>
                    <a:lstStyle/>
                    <a:p>
                      <a:r>
                        <a:rPr sz="2100" b="0">
                          <a:solidFill>
                            <a:srgbClr val="111111"/>
                          </a:solidFill>
                          <a:latin typeface="Aptos"/>
                          <a:ea typeface="Aptos"/>
                          <a:cs typeface="Aptos"/>
                        </a:rPr>
                        <a:t>8.25 hours</a:t>
                      </a:r>
                    </a:p>
                  </a:txBody>
                  <a:tcPr anchor="ctr">
                    <a:solidFill>
                      <a:srgbClr val="FFFFFF"/>
                    </a:solidFill>
                  </a:tcPr>
                </a:tc>
                <a:tc>
                  <a:txBody>
                    <a:bodyPr/>
                    <a:lstStyle/>
                    <a:p>
                      <a:r>
                        <a:rPr sz="2100" b="0">
                          <a:solidFill>
                            <a:srgbClr val="111111"/>
                          </a:solidFill>
                          <a:latin typeface="Aptos"/>
                          <a:ea typeface="Aptos"/>
                          <a:cs typeface="Aptos"/>
                        </a:rPr>
                        <a:t>8.25 hours</a:t>
                      </a:r>
                    </a:p>
                  </a:txBody>
                  <a:tcPr anchor="ctr">
                    <a:solidFill>
                      <a:srgbClr val="FFFFFF"/>
                    </a:solidFill>
                  </a:tcPr>
                </a:tc>
                <a:extLst>
                  <a:ext uri="{0D108BD9-81ED-4DB2-BD59-A6C34878D82A}">
                    <a16:rowId xmlns:a16="http://schemas.microsoft.com/office/drawing/2014/main" val="10004"/>
                  </a:ext>
                </a:extLst>
              </a:tr>
            </a:tbl>
          </a:graphicData>
        </a:graphic>
      </p:graphicFrame>
      <p:pic>
        <p:nvPicPr>
          <p:cNvPr id="5" name="Picture 4"/>
          <p:cNvPicPr>
            <a:picLocks noChangeAspect="1"/>
          </p:cNvPicPr>
          <p:nvPr/>
        </p:nvPicPr>
        <p:blipFill>
          <a:blip r:embed="rId3"/>
          <a:stretch/>
        </p:blipFill>
        <p:spPr>
          <a:xfrm>
            <a:off x="3597514" y="4410075"/>
            <a:ext cx="4996973" cy="552450"/>
          </a:xfrm>
          <a:prstGeom prst="rect">
            <a:avLst/>
          </a:prstGeom>
        </p:spPr>
      </p:pic>
      <p:sp>
        <p:nvSpPr>
          <p:cNvPr id="6" name="rev-35">
            <a:extLst>
              <a:ext uri="{FF2B5EF4-FFF2-40B4-BE49-F238E27FC236}">
                <a16:creationId xmlns:a16="http://schemas.microsoft.com/office/drawing/2014/main" id="{D8B9E1BB-D6D6-4F02-AF36-E11140B58688}"/>
              </a:ext>
            </a:extLst>
          </p:cNvPr>
          <p:cNvSpPr>
            <a:spLocks noGrp="1"/>
          </p:cNvSpPr>
          <p:nvPr/>
        </p:nvSpPr>
        <p:spPr>
          <a:xfrm>
            <a:off x="523875" y="5143500"/>
            <a:ext cx="11049000" cy="409575"/>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The middle values stay fixed, so the median and IQR stay the same.</a:t>
            </a:r>
          </a:p>
        </p:txBody>
      </p:sp>
      <p:sp>
        <p:nvSpPr>
          <p:cNvPr id="7" name="rev-36">
            <a:extLst>
              <a:ext uri="{FF2B5EF4-FFF2-40B4-BE49-F238E27FC236}">
                <a16:creationId xmlns:a16="http://schemas.microsoft.com/office/drawing/2014/main" id="{46A8B7CA-BA51-48E6-828A-9F792CF93F66}"/>
              </a:ext>
            </a:extLst>
          </p:cNvPr>
          <p:cNvSpPr>
            <a:spLocks noGrp="1"/>
          </p:cNvSpPr>
          <p:nvPr/>
        </p:nvSpPr>
        <p:spPr>
          <a:xfrm>
            <a:off x="523875" y="5581650"/>
            <a:ext cx="11049000" cy="342900"/>
          </a:xfrm>
          <a:prstGeom prst="rect">
            <a:avLst/>
          </a:prstGeom>
          <a:noFill/>
          <a:ln w="0">
            <a:noFill/>
          </a:ln>
        </p:spPr>
        <p:txBody>
          <a:bodyPr wrap="square" lIns="0" tIns="0" rIns="0" bIns="0" anchor="t">
            <a:noAutofit/>
          </a:bodyPr>
          <a:lstStyle/>
          <a:p>
            <a:pPr algn="l">
              <a:defRPr sz="1875" b="1">
                <a:solidFill>
                  <a:srgbClr val="111111"/>
                </a:solidFill>
                <a:latin typeface="Aptos"/>
                <a:ea typeface="Aptos"/>
                <a:cs typeface="Aptos"/>
              </a:defRPr>
            </a:pPr>
            <a:r>
              <a:rPr sz="1875" b="1">
                <a:solidFill>
                  <a:srgbClr val="111111"/>
                </a:solidFill>
                <a:latin typeface="Aptos"/>
                <a:ea typeface="Aptos"/>
                <a:cs typeface="Aptos"/>
              </a:rPr>
              <a:t>Stretch: the corrected record is 36 hours. The IQR stays 8.25 hours.</a:t>
            </a:r>
          </a:p>
        </p:txBody>
      </p:sp>
      <p:pic>
        <p:nvPicPr>
          <p:cNvPr id="8" name="Picture 7"/>
          <p:cNvPicPr>
            <a:picLocks noChangeAspect="1"/>
          </p:cNvPicPr>
          <p:nvPr/>
        </p:nvPicPr>
        <p:blipFill>
          <a:blip r:embed="rId4"/>
          <a:stretch/>
        </p:blipFill>
        <p:spPr>
          <a:xfrm>
            <a:off x="2576623" y="5943600"/>
            <a:ext cx="7038753" cy="304800"/>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140" y="2154460"/>
            <a:ext cx="5966365" cy="3318891"/>
          </a:xfrm>
        </p:spPr>
        <p:txBody>
          <a:bodyPr wrap="square" lIns="91440" tIns="45720" rIns="91440" bIns="45720" anchor="ctr">
            <a:noAutofit/>
          </a:bodyPr>
          <a:lstStyle/>
          <a:p>
            <a:pPr marL="0" indent="0">
              <a:lnSpc>
                <a:spcPct val="90000"/>
              </a:lnSpc>
              <a:buNone/>
            </a:pPr>
            <a:r>
              <a:rPr sz="5400" b="0" i="0">
                <a:solidFill>
                  <a:srgbClr val="FFFFFF"/>
                </a:solidFill>
                <a:latin typeface="Aptos Display"/>
                <a:ea typeface="Aptos Display"/>
                <a:cs typeface="Aptos Display"/>
              </a:rPr>
              <a:t>Section 4:</a:t>
            </a:r>
          </a:p>
          <a:p>
            <a:pPr marL="0" indent="0">
              <a:lnSpc>
                <a:spcPct val="90000"/>
              </a:lnSpc>
              <a:buNone/>
            </a:pPr>
            <a:r>
              <a:rPr sz="5400" b="0" i="0">
                <a:solidFill>
                  <a:srgbClr val="FFFFFF"/>
                </a:solidFill>
                <a:latin typeface="Aptos Display"/>
                <a:ea typeface="Aptos Display"/>
                <a:cs typeface="Aptos Display"/>
              </a:rPr>
              <a:t>The shape</a:t>
            </a:r>
          </a:p>
          <a:p>
            <a:pPr marL="0" indent="0">
              <a:lnSpc>
                <a:spcPct val="90000"/>
              </a:lnSpc>
              <a:buNone/>
            </a:pPr>
            <a:r>
              <a:rPr sz="5400" b="0" i="0">
                <a:solidFill>
                  <a:srgbClr val="FFFFFF"/>
                </a:solidFill>
                <a:latin typeface="Aptos Display"/>
                <a:ea typeface="Aptos Display"/>
                <a:cs typeface="Aptos Display"/>
              </a:rPr>
              <a:t>of data</a:t>
            </a:r>
          </a:p>
        </p:txBody>
      </p:sp>
    </p:spTree>
    <p:extLst>
      <p:ext uri="{BB962C8B-B14F-4D97-AF65-F5344CB8AC3E}">
        <p14:creationId xmlns:p14="http://schemas.microsoft.com/office/powerpoint/2010/main" val="3281361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Which way does the tail go?</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953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Values increase left to right. Height shows how common they are.</a:t>
            </a:r>
          </a:p>
        </p:txBody>
      </p:sp>
      <p:sp>
        <p:nvSpPr>
          <p:cNvPr id="5" name="S34-text-2">
            <a:extLst>
              <a:ext uri="{FF2B5EF4-FFF2-40B4-BE49-F238E27FC236}">
                <a16:creationId xmlns:a16="http://schemas.microsoft.com/office/drawing/2014/main" id="{06065F60-2F57-41DE-AF4F-C3B512D07A6B}"/>
              </a:ext>
            </a:extLst>
          </p:cNvPr>
          <p:cNvSpPr>
            <a:spLocks noGrp="1"/>
          </p:cNvSpPr>
          <p:nvPr/>
        </p:nvSpPr>
        <p:spPr>
          <a:xfrm>
            <a:off x="430816" y="5524500"/>
            <a:ext cx="11293412" cy="7620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Name skewness by the long tail:</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right tail = positive skew; left tail = negative skew.</a:t>
            </a:r>
          </a:p>
        </p:txBody>
      </p:sp>
      <p:pic>
        <p:nvPicPr>
          <p:cNvPr id="10" name="Picture 9"/>
          <p:cNvPicPr>
            <a:picLocks noChangeAspect="1"/>
          </p:cNvPicPr>
          <p:nvPr/>
        </p:nvPicPr>
        <p:blipFill>
          <a:blip r:embed="rId3"/>
          <a:stretch/>
        </p:blipFill>
        <p:spPr>
          <a:xfrm>
            <a:off x="1116516" y="2895886"/>
            <a:ext cx="9958969" cy="2533079"/>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mean follows the tail</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95325"/>
          </a:xfrm>
        </p:spPr>
        <p:txBody>
          <a:bodyPr wrap="square"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0" i="0">
                <a:solidFill>
                  <a:srgbClr val="111111"/>
                </a:solidFill>
                <a:latin typeface="Aptos"/>
                <a:ea typeface="Aptos"/>
                <a:cs typeface="Aptos"/>
              </a:rPr>
              <a:t>Extreme values tend to pull the mean towards the tail.</a:t>
            </a:r>
          </a:p>
        </p:txBody>
      </p:sp>
      <p:sp>
        <p:nvSpPr>
          <p:cNvPr id="5" name="S34-text-2">
            <a:extLst>
              <a:ext uri="{FF2B5EF4-FFF2-40B4-BE49-F238E27FC236}">
                <a16:creationId xmlns:a16="http://schemas.microsoft.com/office/drawing/2014/main" id="{06065F60-2F57-41DE-AF4F-C3B512D07A6B}"/>
              </a:ext>
            </a:extLst>
          </p:cNvPr>
          <p:cNvSpPr>
            <a:spLocks noGrp="1"/>
          </p:cNvSpPr>
          <p:nvPr/>
        </p:nvSpPr>
        <p:spPr>
          <a:xfrm>
            <a:off x="430816" y="5524500"/>
            <a:ext cx="11293412" cy="7620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For these typical shapes, compare mean and median.</a:t>
            </a:r>
          </a:p>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Their order is a useful clue, not a proof of skewness.</a:t>
            </a:r>
          </a:p>
        </p:txBody>
      </p:sp>
      <p:pic>
        <p:nvPicPr>
          <p:cNvPr id="10" name="Picture 9"/>
          <p:cNvPicPr>
            <a:picLocks noChangeAspect="1"/>
          </p:cNvPicPr>
          <p:nvPr/>
        </p:nvPicPr>
        <p:blipFill>
          <a:blip r:embed="rId3"/>
          <a:stretch/>
        </p:blipFill>
        <p:spPr>
          <a:xfrm>
            <a:off x="1116516" y="2895886"/>
            <a:ext cx="9958969" cy="2533079"/>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Shape detective</a:t>
            </a:r>
          </a:p>
        </p:txBody>
      </p:sp>
      <p:sp>
        <p:nvSpPr>
          <p:cNvPr id="3" name="Handout-A7">
            <a:extLst>
              <a:ext uri="{FF2B5EF4-FFF2-40B4-BE49-F238E27FC236}">
                <a16:creationId xmlns:a16="http://schemas.microsoft.com/office/drawing/2014/main" id="{577AEA89-9D4F-4E9F-B999-28070CA66058}"/>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A7</a:t>
            </a:r>
          </a:p>
        </p:txBody>
      </p:sp>
      <p:sp>
        <p:nvSpPr>
          <p:cNvPr id="4" name="rev-37">
            <a:extLst>
              <a:ext uri="{FF2B5EF4-FFF2-40B4-BE49-F238E27FC236}">
                <a16:creationId xmlns:a16="http://schemas.microsoft.com/office/drawing/2014/main" id="{06D8B9D7-9C1B-4029-962F-31341E5AD11D}"/>
              </a:ext>
            </a:extLst>
          </p:cNvPr>
          <p:cNvSpPr>
            <a:spLocks noGrp="1"/>
          </p:cNvSpPr>
          <p:nvPr/>
        </p:nvSpPr>
        <p:spPr>
          <a:xfrm>
            <a:off x="428625" y="1933575"/>
            <a:ext cx="11239500" cy="4667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Match each situation to P, Q or R. Name the shape.</a:t>
            </a:r>
          </a:p>
        </p:txBody>
      </p:sp>
      <p:pic>
        <p:nvPicPr>
          <p:cNvPr id="5" name="Picture 4"/>
          <p:cNvPicPr>
            <a:picLocks noChangeAspect="1"/>
          </p:cNvPicPr>
          <p:nvPr/>
        </p:nvPicPr>
        <p:blipFill>
          <a:blip r:embed="rId3"/>
          <a:stretch/>
        </p:blipFill>
        <p:spPr>
          <a:xfrm>
            <a:off x="1695839" y="2571750"/>
            <a:ext cx="8800322" cy="2238375"/>
          </a:xfrm>
          <a:prstGeom prst="rect">
            <a:avLst/>
          </a:prstGeom>
        </p:spPr>
      </p:pic>
      <p:sp>
        <p:nvSpPr>
          <p:cNvPr id="6" name="rev-38">
            <a:extLst>
              <a:ext uri="{FF2B5EF4-FFF2-40B4-BE49-F238E27FC236}">
                <a16:creationId xmlns:a16="http://schemas.microsoft.com/office/drawing/2014/main" id="{7A992136-BA7B-4E8C-823B-41B1118318C3}"/>
              </a:ext>
            </a:extLst>
          </p:cNvPr>
          <p:cNvSpPr>
            <a:spLocks noGrp="1"/>
          </p:cNvSpPr>
          <p:nvPr/>
        </p:nvSpPr>
        <p:spPr>
          <a:xfrm>
            <a:off x="523875" y="5086350"/>
            <a:ext cx="11049000" cy="131445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1. Most calls are short. A few calls last much longer.</a:t>
            </a:r>
          </a:p>
          <a:p>
            <a:pPr algn="l">
              <a:defRPr sz="2100" b="1">
                <a:solidFill>
                  <a:srgbClr val="111111"/>
                </a:solidFill>
                <a:latin typeface="Aptos"/>
                <a:ea typeface="Aptos"/>
                <a:cs typeface="Aptos"/>
              </a:defRPr>
            </a:pPr>
            <a:r>
              <a:rPr sz="2100" b="1">
                <a:solidFill>
                  <a:srgbClr val="111111"/>
                </a:solidFill>
                <a:latin typeface="Aptos"/>
                <a:ea typeface="Aptos"/>
                <a:cs typeface="Aptos"/>
              </a:rPr>
              <a:t>2. Most test scores are high. A few are much lower.</a:t>
            </a:r>
          </a:p>
          <a:p>
            <a:pPr algn="l">
              <a:defRPr sz="2100" b="1">
                <a:solidFill>
                  <a:srgbClr val="111111"/>
                </a:solidFill>
                <a:latin typeface="Aptos"/>
                <a:ea typeface="Aptos"/>
                <a:cs typeface="Aptos"/>
              </a:defRPr>
            </a:pPr>
            <a:r>
              <a:rPr sz="2100" b="1">
                <a:solidFill>
                  <a:srgbClr val="111111"/>
                </a:solidFill>
                <a:latin typeface="Aptos"/>
                <a:ea typeface="Aptos"/>
                <a:cs typeface="Aptos"/>
              </a:rPr>
              <a:t>3. Package weights spread similarly either side of 500 g.</a:t>
            </a:r>
          </a:p>
        </p:txBody>
      </p:sp>
    </p:spTree>
    <p:extLst>
      <p:ext uri="{BB962C8B-B14F-4D97-AF65-F5344CB8AC3E}">
        <p14:creationId xmlns:p14="http://schemas.microsoft.com/office/powerpoint/2010/main" val="32813612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tail gives the direction</a:t>
            </a:r>
          </a:p>
        </p:txBody>
      </p:sp>
      <p:sp>
        <p:nvSpPr>
          <p:cNvPr id="3" name="Handout-A7">
            <a:extLst>
              <a:ext uri="{FF2B5EF4-FFF2-40B4-BE49-F238E27FC236}">
                <a16:creationId xmlns:a16="http://schemas.microsoft.com/office/drawing/2014/main" id="{577AEA89-9D4F-4E9F-B999-28070CA66058}"/>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A7</a:t>
            </a:r>
          </a:p>
        </p:txBody>
      </p:sp>
      <p:graphicFrame>
        <p:nvGraphicFramePr>
          <p:cNvPr id="4" name="Table 3"/>
          <p:cNvGraphicFramePr/>
          <p:nvPr/>
        </p:nvGraphicFramePr>
        <p:xfrm>
          <a:off x="523875" y="2695575"/>
          <a:ext cx="11049000" cy="2647950"/>
        </p:xfrm>
        <a:graphic>
          <a:graphicData uri="http://schemas.openxmlformats.org/drawingml/2006/table">
            <a:tbl>
              <a:tblPr/>
              <a:tblGrid>
                <a:gridCol w="2857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504825">
                <a:tc>
                  <a:txBody>
                    <a:bodyPr/>
                    <a:lstStyle/>
                    <a:p>
                      <a:r>
                        <a:rPr sz="2100" b="1">
                          <a:solidFill>
                            <a:srgbClr val="FFFFFF"/>
                          </a:solidFill>
                          <a:latin typeface="Aptos"/>
                          <a:ea typeface="Aptos"/>
                          <a:cs typeface="Aptos"/>
                        </a:rPr>
                        <a:t>Situation</a:t>
                      </a:r>
                    </a:p>
                  </a:txBody>
                  <a:tcPr anchor="ctr">
                    <a:solidFill>
                      <a:srgbClr val="D6171D"/>
                    </a:solidFill>
                  </a:tcPr>
                </a:tc>
                <a:tc>
                  <a:txBody>
                    <a:bodyPr/>
                    <a:lstStyle/>
                    <a:p>
                      <a:r>
                        <a:rPr sz="2100" b="1">
                          <a:solidFill>
                            <a:srgbClr val="FFFFFF"/>
                          </a:solidFill>
                          <a:latin typeface="Aptos"/>
                          <a:ea typeface="Aptos"/>
                          <a:cs typeface="Aptos"/>
                        </a:rPr>
                        <a:t>Plot and shape</a:t>
                      </a:r>
                    </a:p>
                  </a:txBody>
                  <a:tcPr anchor="ctr">
                    <a:solidFill>
                      <a:srgbClr val="D6171D"/>
                    </a:solidFill>
                  </a:tcPr>
                </a:tc>
                <a:tc>
                  <a:txBody>
                    <a:bodyPr/>
                    <a:lstStyle/>
                    <a:p>
                      <a:r>
                        <a:rPr sz="2100" b="1">
                          <a:solidFill>
                            <a:srgbClr val="FFFFFF"/>
                          </a:solidFill>
                          <a:latin typeface="Aptos"/>
                          <a:ea typeface="Aptos"/>
                          <a:cs typeface="Aptos"/>
                        </a:rPr>
                        <a:t>Evidence</a:t>
                      </a:r>
                    </a:p>
                  </a:txBody>
                  <a:tcPr anchor="ctr">
                    <a:solidFill>
                      <a:srgbClr val="D6171D"/>
                    </a:solidFill>
                  </a:tcPr>
                </a:tc>
                <a:extLst>
                  <a:ext uri="{0D108BD9-81ED-4DB2-BD59-A6C34878D82A}">
                    <a16:rowId xmlns:a16="http://schemas.microsoft.com/office/drawing/2014/main" val="10000"/>
                  </a:ext>
                </a:extLst>
              </a:tr>
              <a:tr h="714375">
                <a:tc>
                  <a:txBody>
                    <a:bodyPr/>
                    <a:lstStyle/>
                    <a:p>
                      <a:r>
                        <a:rPr sz="2100" b="0">
                          <a:solidFill>
                            <a:srgbClr val="111111"/>
                          </a:solidFill>
                          <a:latin typeface="Aptos"/>
                          <a:ea typeface="Aptos"/>
                          <a:cs typeface="Aptos"/>
                        </a:rPr>
                        <a:t>Call lengths</a:t>
                      </a:r>
                    </a:p>
                  </a:txBody>
                  <a:tcPr anchor="ctr">
                    <a:solidFill>
                      <a:srgbClr val="EFF8FF"/>
                    </a:solidFill>
                  </a:tcPr>
                </a:tc>
                <a:tc>
                  <a:txBody>
                    <a:bodyPr/>
                    <a:lstStyle/>
                    <a:p>
                      <a:r>
                        <a:rPr sz="2100" b="0">
                          <a:solidFill>
                            <a:srgbClr val="111111"/>
                          </a:solidFill>
                          <a:latin typeface="Aptos"/>
                          <a:ea typeface="Aptos"/>
                          <a:cs typeface="Aptos"/>
                        </a:rPr>
                        <a:t>P: right-skewed</a:t>
                      </a:r>
                    </a:p>
                  </a:txBody>
                  <a:tcPr anchor="ctr">
                    <a:solidFill>
                      <a:srgbClr val="EFF8FF"/>
                    </a:solidFill>
                  </a:tcPr>
                </a:tc>
                <a:tc>
                  <a:txBody>
                    <a:bodyPr/>
                    <a:lstStyle/>
                    <a:p>
                      <a:r>
                        <a:rPr sz="2100" b="0">
                          <a:solidFill>
                            <a:srgbClr val="111111"/>
                          </a:solidFill>
                          <a:latin typeface="Aptos"/>
                          <a:ea typeface="Aptos"/>
                          <a:cs typeface="Aptos"/>
                        </a:rPr>
                        <a:t>A few very long calls.</a:t>
                      </a:r>
                    </a:p>
                  </a:txBody>
                  <a:tcPr anchor="ctr">
                    <a:solidFill>
                      <a:srgbClr val="EFF8FF"/>
                    </a:solidFill>
                  </a:tcPr>
                </a:tc>
                <a:extLst>
                  <a:ext uri="{0D108BD9-81ED-4DB2-BD59-A6C34878D82A}">
                    <a16:rowId xmlns:a16="http://schemas.microsoft.com/office/drawing/2014/main" val="10001"/>
                  </a:ext>
                </a:extLst>
              </a:tr>
              <a:tr h="714375">
                <a:tc>
                  <a:txBody>
                    <a:bodyPr/>
                    <a:lstStyle/>
                    <a:p>
                      <a:r>
                        <a:rPr sz="2100" b="0">
                          <a:solidFill>
                            <a:srgbClr val="111111"/>
                          </a:solidFill>
                          <a:latin typeface="Aptos"/>
                          <a:ea typeface="Aptos"/>
                          <a:cs typeface="Aptos"/>
                        </a:rPr>
                        <a:t>Test scores</a:t>
                      </a:r>
                    </a:p>
                  </a:txBody>
                  <a:tcPr anchor="ctr">
                    <a:solidFill>
                      <a:srgbClr val="FFFFFF"/>
                    </a:solidFill>
                  </a:tcPr>
                </a:tc>
                <a:tc>
                  <a:txBody>
                    <a:bodyPr/>
                    <a:lstStyle/>
                    <a:p>
                      <a:r>
                        <a:rPr sz="2100" b="0">
                          <a:solidFill>
                            <a:srgbClr val="111111"/>
                          </a:solidFill>
                          <a:latin typeface="Aptos"/>
                          <a:ea typeface="Aptos"/>
                          <a:cs typeface="Aptos"/>
                        </a:rPr>
                        <a:t>Q: left-skewed</a:t>
                      </a:r>
                    </a:p>
                  </a:txBody>
                  <a:tcPr anchor="ctr">
                    <a:solidFill>
                      <a:srgbClr val="FFFFFF"/>
                    </a:solidFill>
                  </a:tcPr>
                </a:tc>
                <a:tc>
                  <a:txBody>
                    <a:bodyPr/>
                    <a:lstStyle/>
                    <a:p>
                      <a:r>
                        <a:rPr sz="2100" b="0">
                          <a:solidFill>
                            <a:srgbClr val="111111"/>
                          </a:solidFill>
                          <a:latin typeface="Aptos"/>
                          <a:ea typeface="Aptos"/>
                          <a:cs typeface="Aptos"/>
                        </a:rPr>
                        <a:t>A few very low scores.</a:t>
                      </a:r>
                    </a:p>
                  </a:txBody>
                  <a:tcPr anchor="ctr">
                    <a:solidFill>
                      <a:srgbClr val="FFFFFF"/>
                    </a:solidFill>
                  </a:tcPr>
                </a:tc>
                <a:extLst>
                  <a:ext uri="{0D108BD9-81ED-4DB2-BD59-A6C34878D82A}">
                    <a16:rowId xmlns:a16="http://schemas.microsoft.com/office/drawing/2014/main" val="10002"/>
                  </a:ext>
                </a:extLst>
              </a:tr>
              <a:tr h="714375">
                <a:tc>
                  <a:txBody>
                    <a:bodyPr/>
                    <a:lstStyle/>
                    <a:p>
                      <a:r>
                        <a:rPr sz="2100" b="0">
                          <a:solidFill>
                            <a:srgbClr val="111111"/>
                          </a:solidFill>
                          <a:latin typeface="Aptos"/>
                          <a:ea typeface="Aptos"/>
                          <a:cs typeface="Aptos"/>
                        </a:rPr>
                        <a:t>Package weights</a:t>
                      </a:r>
                    </a:p>
                  </a:txBody>
                  <a:tcPr anchor="ctr">
                    <a:solidFill>
                      <a:srgbClr val="EFF8FF"/>
                    </a:solidFill>
                  </a:tcPr>
                </a:tc>
                <a:tc>
                  <a:txBody>
                    <a:bodyPr/>
                    <a:lstStyle/>
                    <a:p>
                      <a:r>
                        <a:rPr sz="2100" b="0">
                          <a:solidFill>
                            <a:srgbClr val="111111"/>
                          </a:solidFill>
                          <a:latin typeface="Aptos"/>
                          <a:ea typeface="Aptos"/>
                          <a:cs typeface="Aptos"/>
                        </a:rPr>
                        <a:t>R: symmetric</a:t>
                      </a:r>
                    </a:p>
                  </a:txBody>
                  <a:tcPr anchor="ctr">
                    <a:solidFill>
                      <a:srgbClr val="EFF8FF"/>
                    </a:solidFill>
                  </a:tcPr>
                </a:tc>
                <a:tc>
                  <a:txBody>
                    <a:bodyPr/>
                    <a:lstStyle/>
                    <a:p>
                      <a:r>
                        <a:rPr sz="2100" b="0">
                          <a:solidFill>
                            <a:srgbClr val="111111"/>
                          </a:solidFill>
                          <a:latin typeface="Aptos"/>
                          <a:ea typeface="Aptos"/>
                          <a:cs typeface="Aptos"/>
                        </a:rPr>
                        <a:t>Similar spread on both sides.</a:t>
                      </a:r>
                    </a:p>
                  </a:txBody>
                  <a:tcPr anchor="ctr">
                    <a:solidFill>
                      <a:srgbClr val="EFF8FF"/>
                    </a:solidFill>
                  </a:tcPr>
                </a:tc>
                <a:extLst>
                  <a:ext uri="{0D108BD9-81ED-4DB2-BD59-A6C34878D82A}">
                    <a16:rowId xmlns:a16="http://schemas.microsoft.com/office/drawing/2014/main" val="10003"/>
                  </a:ext>
                </a:extLst>
              </a:tr>
            </a:tbl>
          </a:graphicData>
        </a:graphic>
      </p:graphicFrame>
      <p:sp>
        <p:nvSpPr>
          <p:cNvPr id="5" name="rev-39">
            <a:extLst>
              <a:ext uri="{FF2B5EF4-FFF2-40B4-BE49-F238E27FC236}">
                <a16:creationId xmlns:a16="http://schemas.microsoft.com/office/drawing/2014/main" id="{29034B0D-1EF9-4E2A-B824-6B50C94B9982}"/>
              </a:ext>
            </a:extLst>
          </p:cNvPr>
          <p:cNvSpPr>
            <a:spLocks noGrp="1"/>
          </p:cNvSpPr>
          <p:nvPr/>
        </p:nvSpPr>
        <p:spPr>
          <a:xfrm>
            <a:off x="523875" y="5781675"/>
            <a:ext cx="11049000" cy="504825"/>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The direction of the long tail determines the skew.</a:t>
            </a:r>
          </a:p>
        </p:txBody>
      </p:sp>
    </p:spTree>
    <p:extLst>
      <p:ext uri="{BB962C8B-B14F-4D97-AF65-F5344CB8AC3E}">
        <p14:creationId xmlns:p14="http://schemas.microsoft.com/office/powerpoint/2010/main" val="3281361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 student’s explanation</a:t>
            </a:r>
          </a:p>
        </p:txBody>
      </p:sp>
      <p:sp>
        <p:nvSpPr>
          <p:cNvPr id="3" name="Handout-A7">
            <a:extLst>
              <a:ext uri="{FF2B5EF4-FFF2-40B4-BE49-F238E27FC236}">
                <a16:creationId xmlns:a16="http://schemas.microsoft.com/office/drawing/2014/main" id="{577AEA89-9D4F-4E9F-B999-28070CA66058}"/>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A7</a:t>
            </a:r>
          </a:p>
        </p:txBody>
      </p:sp>
      <p:sp>
        <p:nvSpPr>
          <p:cNvPr id="4" name="rev-40">
            <a:extLst>
              <a:ext uri="{FF2B5EF4-FFF2-40B4-BE49-F238E27FC236}">
                <a16:creationId xmlns:a16="http://schemas.microsoft.com/office/drawing/2014/main" id="{EBF0CD06-648C-4F28-9396-98DEDE1B622B}"/>
              </a:ext>
            </a:extLst>
          </p:cNvPr>
          <p:cNvSpPr>
            <a:spLocks noGrp="1"/>
          </p:cNvSpPr>
          <p:nvPr/>
        </p:nvSpPr>
        <p:spPr>
          <a:xfrm>
            <a:off x="428625" y="1933575"/>
            <a:ext cx="11096625" cy="4476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 student looks at plot P and says:</a:t>
            </a:r>
          </a:p>
        </p:txBody>
      </p:sp>
      <p:sp>
        <p:nvSpPr>
          <p:cNvPr id="5" name="rev-41">
            <a:extLst>
              <a:ext uri="{FF2B5EF4-FFF2-40B4-BE49-F238E27FC236}">
                <a16:creationId xmlns:a16="http://schemas.microsoft.com/office/drawing/2014/main" id="{848C26DD-2A67-4642-BE4C-3E8142E4A624}"/>
              </a:ext>
            </a:extLst>
          </p:cNvPr>
          <p:cNvSpPr>
            <a:spLocks noGrp="1"/>
          </p:cNvSpPr>
          <p:nvPr/>
        </p:nvSpPr>
        <p:spPr>
          <a:xfrm>
            <a:off x="523875" y="2752725"/>
            <a:ext cx="6953250" cy="914400"/>
          </a:xfrm>
          <a:prstGeom prst="rect">
            <a:avLst/>
          </a:prstGeom>
          <a:noFill/>
          <a:ln w="0">
            <a:noFill/>
          </a:ln>
        </p:spPr>
        <p:txBody>
          <a:bodyPr wrap="square" lIns="0" tIns="0" rIns="0" bIns="0" anchor="t">
            <a:noAutofit/>
          </a:bodyPr>
          <a:lstStyle/>
          <a:p>
            <a:pPr algn="l">
              <a:defRPr sz="2700" b="1">
                <a:solidFill>
                  <a:srgbClr val="111111"/>
                </a:solidFill>
                <a:latin typeface="Aptos"/>
                <a:ea typeface="Aptos"/>
                <a:cs typeface="Aptos"/>
              </a:defRPr>
            </a:pPr>
            <a:r>
              <a:rPr sz="2700" b="1">
                <a:solidFill>
                  <a:srgbClr val="111111"/>
                </a:solidFill>
                <a:latin typeface="Aptos"/>
                <a:ea typeface="Aptos"/>
                <a:cs typeface="Aptos"/>
              </a:rPr>
              <a:t>“Most calls are short,</a:t>
            </a:r>
          </a:p>
          <a:p>
            <a:pPr algn="l">
              <a:defRPr sz="2700" b="1">
                <a:solidFill>
                  <a:srgbClr val="111111"/>
                </a:solidFill>
                <a:latin typeface="Aptos"/>
                <a:ea typeface="Aptos"/>
                <a:cs typeface="Aptos"/>
              </a:defRPr>
            </a:pPr>
            <a:r>
              <a:rPr sz="2700" b="1">
                <a:solidFill>
                  <a:srgbClr val="111111"/>
                </a:solidFill>
                <a:latin typeface="Aptos"/>
                <a:ea typeface="Aptos"/>
                <a:cs typeface="Aptos"/>
              </a:rPr>
              <a:t>so this is left-skewed.”</a:t>
            </a:r>
          </a:p>
        </p:txBody>
      </p:sp>
      <p:pic>
        <p:nvPicPr>
          <p:cNvPr id="6" name="Picture 5"/>
          <p:cNvPicPr>
            <a:picLocks noChangeAspect="1"/>
          </p:cNvPicPr>
          <p:nvPr/>
        </p:nvPicPr>
        <p:blipFill>
          <a:blip r:embed="rId3"/>
          <a:stretch/>
        </p:blipFill>
        <p:spPr>
          <a:xfrm>
            <a:off x="8620125" y="2575685"/>
            <a:ext cx="2857500" cy="2182879"/>
          </a:xfrm>
          <a:prstGeom prst="rect">
            <a:avLst/>
          </a:prstGeom>
        </p:spPr>
      </p:pic>
      <p:sp>
        <p:nvSpPr>
          <p:cNvPr id="7" name="rev-42">
            <a:extLst>
              <a:ext uri="{FF2B5EF4-FFF2-40B4-BE49-F238E27FC236}">
                <a16:creationId xmlns:a16="http://schemas.microsoft.com/office/drawing/2014/main" id="{ADFB3EEB-10CD-4DA8-B93B-2CA24EC48945}"/>
              </a:ext>
            </a:extLst>
          </p:cNvPr>
          <p:cNvSpPr>
            <a:spLocks noGrp="1"/>
          </p:cNvSpPr>
          <p:nvPr/>
        </p:nvSpPr>
        <p:spPr>
          <a:xfrm>
            <a:off x="523875" y="4362450"/>
            <a:ext cx="11049000" cy="149542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1. Correct the explanation using the tail.</a:t>
            </a:r>
          </a:p>
          <a:p>
            <a:pPr algn="l">
              <a:defRPr sz="2175" b="1">
                <a:solidFill>
                  <a:srgbClr val="111111"/>
                </a:solidFill>
                <a:latin typeface="Aptos"/>
                <a:ea typeface="Aptos"/>
                <a:cs typeface="Aptos"/>
              </a:defRPr>
            </a:pPr>
            <a:r>
              <a:rPr sz="2175" b="1">
                <a:solidFill>
                  <a:srgbClr val="111111"/>
                </a:solidFill>
                <a:latin typeface="Aptos"/>
                <a:ea typeface="Aptos"/>
                <a:cs typeface="Aptos"/>
              </a:rPr>
              <a:t>2. For this shape, which is usually larger: mean or median?</a:t>
            </a:r>
          </a:p>
          <a:p>
            <a:pPr algn="l">
              <a:defRPr sz="2175" b="1">
                <a:solidFill>
                  <a:srgbClr val="111111"/>
                </a:solidFill>
                <a:latin typeface="Aptos"/>
                <a:ea typeface="Aptos"/>
                <a:cs typeface="Aptos"/>
              </a:defRPr>
            </a:pPr>
            <a:r>
              <a:rPr sz="2175" b="1">
                <a:solidFill>
                  <a:srgbClr val="111111"/>
                </a:solidFill>
                <a:latin typeface="Aptos"/>
                <a:ea typeface="Aptos"/>
                <a:cs typeface="Aptos"/>
              </a:rPr>
              <a:t>3. Choose summaries for a typical call and the central spread.</a:t>
            </a:r>
          </a:p>
        </p:txBody>
      </p:sp>
      <p:sp>
        <p:nvSpPr>
          <p:cNvPr id="8" name="rev-43">
            <a:extLst>
              <a:ext uri="{FF2B5EF4-FFF2-40B4-BE49-F238E27FC236}">
                <a16:creationId xmlns:a16="http://schemas.microsoft.com/office/drawing/2014/main" id="{884B31CE-89BB-48E1-BBA4-61FBD4C6C958}"/>
              </a:ext>
            </a:extLst>
          </p:cNvPr>
          <p:cNvSpPr>
            <a:spLocks noGrp="1"/>
          </p:cNvSpPr>
          <p:nvPr/>
        </p:nvSpPr>
        <p:spPr>
          <a:xfrm>
            <a:off x="523875" y="6000750"/>
            <a:ext cx="11049000" cy="371475"/>
          </a:xfrm>
          <a:prstGeom prst="rect">
            <a:avLst/>
          </a:prstGeom>
          <a:noFill/>
          <a:ln w="0">
            <a:noFill/>
          </a:ln>
        </p:spPr>
        <p:txBody>
          <a:bodyPr wrap="square" lIns="0" tIns="0" rIns="0" bIns="0" anchor="t">
            <a:noAutofit/>
          </a:bodyPr>
          <a:lstStyle/>
          <a:p>
            <a:pPr algn="l">
              <a:defRPr sz="2025" b="0">
                <a:solidFill>
                  <a:srgbClr val="111111"/>
                </a:solidFill>
                <a:latin typeface="Aptos"/>
                <a:ea typeface="Aptos"/>
                <a:cs typeface="Aptos"/>
              </a:defRPr>
            </a:pPr>
            <a:r>
              <a:rPr sz="2025" b="0">
                <a:solidFill>
                  <a:srgbClr val="111111"/>
                </a:solidFill>
                <a:latin typeface="Aptos"/>
                <a:ea typeface="Aptos"/>
                <a:cs typeface="Aptos"/>
              </a:rPr>
              <a:t>Give a reason for each answer.</a:t>
            </a:r>
          </a:p>
        </p:txBody>
      </p:sp>
    </p:spTree>
    <p:extLst>
      <p:ext uri="{BB962C8B-B14F-4D97-AF65-F5344CB8AC3E}">
        <p14:creationId xmlns:p14="http://schemas.microsoft.com/office/powerpoint/2010/main" val="3281361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explanation corrected</a:t>
            </a:r>
          </a:p>
        </p:txBody>
      </p:sp>
      <p:sp>
        <p:nvSpPr>
          <p:cNvPr id="3" name="Handout-A7">
            <a:extLst>
              <a:ext uri="{FF2B5EF4-FFF2-40B4-BE49-F238E27FC236}">
                <a16:creationId xmlns:a16="http://schemas.microsoft.com/office/drawing/2014/main" id="{69A73EA5-29D7-4FCB-B4AA-8AB6DEF2BB0F}"/>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A7</a:t>
            </a:r>
          </a:p>
        </p:txBody>
      </p:sp>
      <p:sp>
        <p:nvSpPr>
          <p:cNvPr id="4" name="rev-44">
            <a:extLst>
              <a:ext uri="{FF2B5EF4-FFF2-40B4-BE49-F238E27FC236}">
                <a16:creationId xmlns:a16="http://schemas.microsoft.com/office/drawing/2014/main" id="{E6C27EA4-64C9-4896-B1B3-68A6CD7F666A}"/>
              </a:ext>
            </a:extLst>
          </p:cNvPr>
          <p:cNvSpPr>
            <a:spLocks noGrp="1"/>
          </p:cNvSpPr>
          <p:nvPr/>
        </p:nvSpPr>
        <p:spPr>
          <a:xfrm>
            <a:off x="523875" y="2133600"/>
            <a:ext cx="11144250" cy="41910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1. Plot P is right-skewed.</a:t>
            </a:r>
          </a:p>
        </p:txBody>
      </p:sp>
      <p:sp>
        <p:nvSpPr>
          <p:cNvPr id="5" name="rev-45">
            <a:extLst>
              <a:ext uri="{FF2B5EF4-FFF2-40B4-BE49-F238E27FC236}">
                <a16:creationId xmlns:a16="http://schemas.microsoft.com/office/drawing/2014/main" id="{51EFCF13-8028-4821-B92D-564695C90E5C}"/>
              </a:ext>
            </a:extLst>
          </p:cNvPr>
          <p:cNvSpPr>
            <a:spLocks noGrp="1"/>
          </p:cNvSpPr>
          <p:nvPr/>
        </p:nvSpPr>
        <p:spPr>
          <a:xfrm>
            <a:off x="809625" y="2638425"/>
            <a:ext cx="10572750" cy="55245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The few long calls form the tail towards larger values.</a:t>
            </a:r>
          </a:p>
        </p:txBody>
      </p:sp>
      <p:sp>
        <p:nvSpPr>
          <p:cNvPr id="6" name="rev-46">
            <a:extLst>
              <a:ext uri="{FF2B5EF4-FFF2-40B4-BE49-F238E27FC236}">
                <a16:creationId xmlns:a16="http://schemas.microsoft.com/office/drawing/2014/main" id="{3FAFC96D-2F93-478B-B2F0-D8BAEDC0E8BE}"/>
              </a:ext>
            </a:extLst>
          </p:cNvPr>
          <p:cNvSpPr>
            <a:spLocks noGrp="1"/>
          </p:cNvSpPr>
          <p:nvPr/>
        </p:nvSpPr>
        <p:spPr>
          <a:xfrm>
            <a:off x="523875" y="3390900"/>
            <a:ext cx="11144250" cy="41910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2. The mean is usually larger than the median here.</a:t>
            </a:r>
          </a:p>
        </p:txBody>
      </p:sp>
      <p:sp>
        <p:nvSpPr>
          <p:cNvPr id="7" name="rev-47">
            <a:extLst>
              <a:ext uri="{FF2B5EF4-FFF2-40B4-BE49-F238E27FC236}">
                <a16:creationId xmlns:a16="http://schemas.microsoft.com/office/drawing/2014/main" id="{2167D888-90FD-4EF2-8CA8-28B69BF0CC6D}"/>
              </a:ext>
            </a:extLst>
          </p:cNvPr>
          <p:cNvSpPr>
            <a:spLocks noGrp="1"/>
          </p:cNvSpPr>
          <p:nvPr/>
        </p:nvSpPr>
        <p:spPr>
          <a:xfrm>
            <a:off x="809625" y="3895725"/>
            <a:ext cx="10572750" cy="55245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The long calls pull the mean towards the right tail.</a:t>
            </a:r>
          </a:p>
        </p:txBody>
      </p:sp>
      <p:sp>
        <p:nvSpPr>
          <p:cNvPr id="8" name="rev-48">
            <a:extLst>
              <a:ext uri="{FF2B5EF4-FFF2-40B4-BE49-F238E27FC236}">
                <a16:creationId xmlns:a16="http://schemas.microsoft.com/office/drawing/2014/main" id="{F903BEF2-A81E-4381-8014-3E25FABE37E3}"/>
              </a:ext>
            </a:extLst>
          </p:cNvPr>
          <p:cNvSpPr>
            <a:spLocks noGrp="1"/>
          </p:cNvSpPr>
          <p:nvPr/>
        </p:nvSpPr>
        <p:spPr>
          <a:xfrm>
            <a:off x="523875" y="4657725"/>
            <a:ext cx="11144250" cy="41910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3. Median for a typical call. IQR for central spread.</a:t>
            </a:r>
          </a:p>
        </p:txBody>
      </p:sp>
      <p:sp>
        <p:nvSpPr>
          <p:cNvPr id="9" name="rev-49">
            <a:extLst>
              <a:ext uri="{FF2B5EF4-FFF2-40B4-BE49-F238E27FC236}">
                <a16:creationId xmlns:a16="http://schemas.microsoft.com/office/drawing/2014/main" id="{C4702D96-0045-4250-854D-845B6AC3F305}"/>
              </a:ext>
            </a:extLst>
          </p:cNvPr>
          <p:cNvSpPr>
            <a:spLocks noGrp="1"/>
          </p:cNvSpPr>
          <p:nvPr/>
        </p:nvSpPr>
        <p:spPr>
          <a:xfrm>
            <a:off x="809625" y="5162550"/>
            <a:ext cx="10572750" cy="55245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Both are less sensitive to the few very long calls.</a:t>
            </a:r>
          </a:p>
        </p:txBody>
      </p:sp>
      <p:sp>
        <p:nvSpPr>
          <p:cNvPr id="10" name="rev-50">
            <a:extLst>
              <a:ext uri="{FF2B5EF4-FFF2-40B4-BE49-F238E27FC236}">
                <a16:creationId xmlns:a16="http://schemas.microsoft.com/office/drawing/2014/main" id="{0ECD1D59-B9C7-4D4B-8949-F593B8C10095}"/>
              </a:ext>
            </a:extLst>
          </p:cNvPr>
          <p:cNvSpPr>
            <a:spLocks noGrp="1"/>
          </p:cNvSpPr>
          <p:nvPr/>
        </p:nvSpPr>
        <p:spPr>
          <a:xfrm>
            <a:off x="523875" y="5934075"/>
            <a:ext cx="11144250" cy="419100"/>
          </a:xfrm>
          <a:prstGeom prst="rect">
            <a:avLst/>
          </a:prstGeom>
          <a:noFill/>
          <a:ln w="0">
            <a:noFill/>
          </a:ln>
        </p:spPr>
        <p:txBody>
          <a:bodyPr wrap="square" lIns="0" tIns="0" rIns="0" bIns="0" anchor="t">
            <a:noAutofit/>
          </a:bodyPr>
          <a:lstStyle/>
          <a:p>
            <a:pPr algn="l">
              <a:defRPr sz="1950" b="0">
                <a:solidFill>
                  <a:srgbClr val="111111"/>
                </a:solidFill>
                <a:latin typeface="Aptos"/>
                <a:ea typeface="Aptos"/>
                <a:cs typeface="Aptos"/>
              </a:defRPr>
            </a:pPr>
            <a:r>
              <a:rPr sz="1950" b="0">
                <a:solidFill>
                  <a:srgbClr val="111111"/>
                </a:solidFill>
                <a:latin typeface="Aptos"/>
                <a:ea typeface="Aptos"/>
                <a:cs typeface="Aptos"/>
              </a:rPr>
              <a:t>Mean–median order is a clue. Check the distribution too.</a:t>
            </a:r>
          </a:p>
        </p:txBody>
      </p:sp>
    </p:spTree>
    <p:extLst>
      <p:ext uri="{BB962C8B-B14F-4D97-AF65-F5344CB8AC3E}">
        <p14:creationId xmlns:p14="http://schemas.microsoft.com/office/powerpoint/2010/main" val="3281361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Choose measures together</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752475"/>
          </a:xfrm>
        </p:spPr>
        <p:txBody>
          <a:bodyPr wrap="square" lIns="0" tIns="0" rIns="0" bIns="0" anchor="t">
            <a:noAutofit/>
          </a:bodyPr>
          <a:lstStyle/>
          <a:p>
            <a:pPr marL="0" indent="0" algn="l">
              <a:lnSpc>
                <a:spcPct val="106000"/>
              </a:lnSpc>
              <a:spcBef>
                <a:spcPts val="0"/>
              </a:spcBef>
              <a:spcAft>
                <a:spcPts val="0"/>
              </a:spcAft>
              <a:buNone/>
              <a:defRPr sz="2325" b="1">
                <a:solidFill>
                  <a:srgbClr val="111111"/>
                </a:solidFill>
                <a:latin typeface="Aptos"/>
                <a:ea typeface="Aptos"/>
                <a:cs typeface="Aptos"/>
              </a:defRPr>
            </a:pPr>
            <a:r>
              <a:rPr sz="2325" b="1" i="0">
                <a:solidFill>
                  <a:srgbClr val="111111"/>
                </a:solidFill>
                <a:latin typeface="Aptos"/>
                <a:ea typeface="Aptos"/>
                <a:cs typeface="Aptos"/>
              </a:rPr>
              <a:t>What do you want your summary to describe?</a:t>
            </a:r>
          </a:p>
        </p:txBody>
      </p:sp>
      <p:graphicFrame>
        <p:nvGraphicFramePr>
          <p:cNvPr id="9" name="Table 8"/>
          <p:cNvGraphicFramePr/>
          <p:nvPr/>
        </p:nvGraphicFramePr>
        <p:xfrm>
          <a:off x="619125" y="2714625"/>
          <a:ext cx="10953750" cy="2952750"/>
        </p:xfrm>
        <a:graphic>
          <a:graphicData uri="http://schemas.openxmlformats.org/drawingml/2006/table">
            <a:tbl>
              <a:tblPr/>
              <a:tblGrid>
                <a:gridCol w="309562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tblGrid>
              <a:tr h="590550">
                <a:tc>
                  <a:txBody>
                    <a:bodyPr/>
                    <a:lstStyle/>
                    <a:p>
                      <a:pPr>
                        <a:lnSpc>
                          <a:spcPct val="103000"/>
                        </a:lnSpc>
                        <a:buNone/>
                      </a:pPr>
                      <a:r>
                        <a:rPr sz="2175" b="1" i="0">
                          <a:solidFill>
                            <a:srgbClr val="FFFFFF"/>
                          </a:solidFill>
                          <a:latin typeface="Aptos"/>
                          <a:ea typeface="Aptos"/>
                          <a:cs typeface="Aptos"/>
                        </a:rPr>
                        <a:t>Measure</a:t>
                      </a:r>
                    </a:p>
                  </a:txBody>
                  <a:tcPr anchor="ctr">
                    <a:solidFill>
                      <a:srgbClr val="D6171D"/>
                    </a:solidFill>
                  </a:tcPr>
                </a:tc>
                <a:tc>
                  <a:txBody>
                    <a:bodyPr/>
                    <a:lstStyle/>
                    <a:p>
                      <a:pPr>
                        <a:lnSpc>
                          <a:spcPct val="103000"/>
                        </a:lnSpc>
                        <a:buNone/>
                      </a:pPr>
                      <a:r>
                        <a:rPr sz="2175" b="1" i="0">
                          <a:solidFill>
                            <a:srgbClr val="FFFFFF"/>
                          </a:solidFill>
                          <a:latin typeface="Aptos"/>
                          <a:ea typeface="Aptos"/>
                          <a:cs typeface="Aptos"/>
                        </a:rPr>
                        <a:t>What it uses</a:t>
                      </a:r>
                    </a:p>
                  </a:txBody>
                  <a:tcPr anchor="ctr">
                    <a:solidFill>
                      <a:srgbClr val="D6171D"/>
                    </a:solidFill>
                  </a:tcPr>
                </a:tc>
                <a:tc>
                  <a:txBody>
                    <a:bodyPr/>
                    <a:lstStyle/>
                    <a:p>
                      <a:pPr>
                        <a:lnSpc>
                          <a:spcPct val="103000"/>
                        </a:lnSpc>
                        <a:buNone/>
                      </a:pPr>
                      <a:r>
                        <a:rPr sz="2175" b="1" i="0">
                          <a:solidFill>
                            <a:srgbClr val="FFFFFF"/>
                          </a:solidFill>
                          <a:latin typeface="Aptos"/>
                          <a:ea typeface="Aptos"/>
                          <a:cs typeface="Aptos"/>
                        </a:rPr>
                        <a:t>What it tells us</a:t>
                      </a:r>
                    </a:p>
                  </a:txBody>
                  <a:tcPr anchor="ctr">
                    <a:solidFill>
                      <a:srgbClr val="D6171D"/>
                    </a:solidFill>
                  </a:tcPr>
                </a:tc>
                <a:extLst>
                  <a:ext uri="{0D108BD9-81ED-4DB2-BD59-A6C34878D82A}">
                    <a16:rowId xmlns:a16="http://schemas.microsoft.com/office/drawing/2014/main" val="10000"/>
                  </a:ext>
                </a:extLst>
              </a:tr>
              <a:tr h="590550">
                <a:tc>
                  <a:txBody>
                    <a:bodyPr/>
                    <a:lstStyle/>
                    <a:p>
                      <a:pPr>
                        <a:lnSpc>
                          <a:spcPct val="103000"/>
                        </a:lnSpc>
                        <a:buNone/>
                      </a:pPr>
                      <a:r>
                        <a:rPr sz="2175" b="0" i="0">
                          <a:solidFill>
                            <a:srgbClr val="111111"/>
                          </a:solidFill>
                          <a:latin typeface="Aptos"/>
                          <a:ea typeface="Aptos"/>
                          <a:cs typeface="Aptos"/>
                        </a:rPr>
                        <a:t>Mean</a:t>
                      </a:r>
                    </a:p>
                  </a:txBody>
                  <a:tcPr anchor="ctr">
                    <a:solidFill>
                      <a:srgbClr val="FFFFFF"/>
                    </a:solidFill>
                  </a:tcPr>
                </a:tc>
                <a:tc>
                  <a:txBody>
                    <a:bodyPr/>
                    <a:lstStyle/>
                    <a:p>
                      <a:pPr>
                        <a:lnSpc>
                          <a:spcPct val="103000"/>
                        </a:lnSpc>
                        <a:buNone/>
                      </a:pPr>
                      <a:r>
                        <a:rPr sz="2175" b="0" i="0">
                          <a:solidFill>
                            <a:srgbClr val="111111"/>
                          </a:solidFill>
                          <a:latin typeface="Aptos"/>
                          <a:ea typeface="Aptos"/>
                          <a:cs typeface="Aptos"/>
                        </a:rPr>
                        <a:t>Every value</a:t>
                      </a:r>
                    </a:p>
                  </a:txBody>
                  <a:tcPr anchor="ctr">
                    <a:solidFill>
                      <a:srgbClr val="FFFFFF"/>
                    </a:solidFill>
                  </a:tcPr>
                </a:tc>
                <a:tc>
                  <a:txBody>
                    <a:bodyPr/>
                    <a:lstStyle/>
                    <a:p>
                      <a:pPr>
                        <a:lnSpc>
                          <a:spcPct val="103000"/>
                        </a:lnSpc>
                        <a:buNone/>
                      </a:pPr>
                      <a:r>
                        <a:rPr sz="2175" b="0" i="0">
                          <a:solidFill>
                            <a:srgbClr val="111111"/>
                          </a:solidFill>
                          <a:latin typeface="Aptos"/>
                          <a:ea typeface="Aptos"/>
                          <a:cs typeface="Aptos"/>
                        </a:rPr>
                        <a:t>Arithmetic average</a:t>
                      </a:r>
                    </a:p>
                  </a:txBody>
                  <a:tcPr anchor="ctr">
                    <a:solidFill>
                      <a:srgbClr val="FFFFFF"/>
                    </a:solidFill>
                  </a:tcPr>
                </a:tc>
                <a:extLst>
                  <a:ext uri="{0D108BD9-81ED-4DB2-BD59-A6C34878D82A}">
                    <a16:rowId xmlns:a16="http://schemas.microsoft.com/office/drawing/2014/main" val="10001"/>
                  </a:ext>
                </a:extLst>
              </a:tr>
              <a:tr h="590550">
                <a:tc>
                  <a:txBody>
                    <a:bodyPr/>
                    <a:lstStyle/>
                    <a:p>
                      <a:pPr>
                        <a:lnSpc>
                          <a:spcPct val="103000"/>
                        </a:lnSpc>
                        <a:buNone/>
                      </a:pPr>
                      <a:r>
                        <a:rPr sz="2175" b="0" i="0">
                          <a:solidFill>
                            <a:srgbClr val="111111"/>
                          </a:solidFill>
                          <a:latin typeface="Aptos"/>
                          <a:ea typeface="Aptos"/>
                          <a:cs typeface="Aptos"/>
                        </a:rPr>
                        <a:t>Median</a:t>
                      </a:r>
                    </a:p>
                  </a:txBody>
                  <a:tcPr anchor="ctr">
                    <a:solidFill>
                      <a:srgbClr val="EFF8FF"/>
                    </a:solidFill>
                  </a:tcPr>
                </a:tc>
                <a:tc>
                  <a:txBody>
                    <a:bodyPr/>
                    <a:lstStyle/>
                    <a:p>
                      <a:pPr>
                        <a:lnSpc>
                          <a:spcPct val="103000"/>
                        </a:lnSpc>
                        <a:buNone/>
                      </a:pPr>
                      <a:r>
                        <a:rPr sz="2175" b="0" i="0">
                          <a:solidFill>
                            <a:srgbClr val="111111"/>
                          </a:solidFill>
                          <a:latin typeface="Aptos"/>
                          <a:ea typeface="Aptos"/>
                          <a:cs typeface="Aptos"/>
                        </a:rPr>
                        <a:t>Middle position(s)</a:t>
                      </a:r>
                    </a:p>
                  </a:txBody>
                  <a:tcPr anchor="ctr">
                    <a:solidFill>
                      <a:srgbClr val="EFF8FF"/>
                    </a:solidFill>
                  </a:tcPr>
                </a:tc>
                <a:tc>
                  <a:txBody>
                    <a:bodyPr/>
                    <a:lstStyle/>
                    <a:p>
                      <a:pPr>
                        <a:lnSpc>
                          <a:spcPct val="103000"/>
                        </a:lnSpc>
                        <a:buNone/>
                      </a:pPr>
                      <a:r>
                        <a:rPr sz="2175" b="0" i="0">
                          <a:solidFill>
                            <a:srgbClr val="111111"/>
                          </a:solidFill>
                          <a:latin typeface="Aptos"/>
                          <a:ea typeface="Aptos"/>
                          <a:cs typeface="Aptos"/>
                        </a:rPr>
                        <a:t>The middle value</a:t>
                      </a:r>
                    </a:p>
                  </a:txBody>
                  <a:tcPr anchor="ctr">
                    <a:solidFill>
                      <a:srgbClr val="EFF8FF"/>
                    </a:solidFill>
                  </a:tcPr>
                </a:tc>
                <a:extLst>
                  <a:ext uri="{0D108BD9-81ED-4DB2-BD59-A6C34878D82A}">
                    <a16:rowId xmlns:a16="http://schemas.microsoft.com/office/drawing/2014/main" val="10002"/>
                  </a:ext>
                </a:extLst>
              </a:tr>
              <a:tr h="590550">
                <a:tc>
                  <a:txBody>
                    <a:bodyPr/>
                    <a:lstStyle/>
                    <a:p>
                      <a:pPr>
                        <a:lnSpc>
                          <a:spcPct val="103000"/>
                        </a:lnSpc>
                        <a:buNone/>
                      </a:pPr>
                      <a:r>
                        <a:rPr sz="2175" b="0" i="0">
                          <a:solidFill>
                            <a:srgbClr val="111111"/>
                          </a:solidFill>
                          <a:latin typeface="Aptos"/>
                          <a:ea typeface="Aptos"/>
                          <a:cs typeface="Aptos"/>
                        </a:rPr>
                        <a:t>Range</a:t>
                      </a:r>
                    </a:p>
                  </a:txBody>
                  <a:tcPr anchor="ctr">
                    <a:solidFill>
                      <a:srgbClr val="FFFFFF"/>
                    </a:solidFill>
                  </a:tcPr>
                </a:tc>
                <a:tc>
                  <a:txBody>
                    <a:bodyPr/>
                    <a:lstStyle/>
                    <a:p>
                      <a:pPr>
                        <a:lnSpc>
                          <a:spcPct val="103000"/>
                        </a:lnSpc>
                        <a:buNone/>
                      </a:pPr>
                      <a:r>
                        <a:rPr sz="2175" b="0" i="0">
                          <a:solidFill>
                            <a:srgbClr val="111111"/>
                          </a:solidFill>
                          <a:latin typeface="Aptos"/>
                          <a:ea typeface="Aptos"/>
                          <a:cs typeface="Aptos"/>
                        </a:rPr>
                        <a:t>Minimum and maximum</a:t>
                      </a:r>
                    </a:p>
                  </a:txBody>
                  <a:tcPr anchor="ctr">
                    <a:solidFill>
                      <a:srgbClr val="FFFFFF"/>
                    </a:solidFill>
                  </a:tcPr>
                </a:tc>
                <a:tc>
                  <a:txBody>
                    <a:bodyPr/>
                    <a:lstStyle/>
                    <a:p>
                      <a:pPr>
                        <a:lnSpc>
                          <a:spcPct val="103000"/>
                        </a:lnSpc>
                        <a:buNone/>
                      </a:pPr>
                      <a:r>
                        <a:rPr sz="2175" b="0" i="0">
                          <a:solidFill>
                            <a:srgbClr val="111111"/>
                          </a:solidFill>
                          <a:latin typeface="Aptos"/>
                          <a:ea typeface="Aptos"/>
                          <a:cs typeface="Aptos"/>
                        </a:rPr>
                        <a:t>Spread from lowest to highest</a:t>
                      </a:r>
                    </a:p>
                  </a:txBody>
                  <a:tcPr anchor="ctr">
                    <a:solidFill>
                      <a:srgbClr val="FFFFFF"/>
                    </a:solidFill>
                  </a:tcPr>
                </a:tc>
                <a:extLst>
                  <a:ext uri="{0D108BD9-81ED-4DB2-BD59-A6C34878D82A}">
                    <a16:rowId xmlns:a16="http://schemas.microsoft.com/office/drawing/2014/main" val="10003"/>
                  </a:ext>
                </a:extLst>
              </a:tr>
              <a:tr h="590550">
                <a:tc>
                  <a:txBody>
                    <a:bodyPr/>
                    <a:lstStyle/>
                    <a:p>
                      <a:pPr>
                        <a:lnSpc>
                          <a:spcPct val="103000"/>
                        </a:lnSpc>
                        <a:buNone/>
                      </a:pPr>
                      <a:r>
                        <a:rPr sz="2175" b="0" i="0">
                          <a:solidFill>
                            <a:srgbClr val="111111"/>
                          </a:solidFill>
                          <a:latin typeface="Aptos"/>
                          <a:ea typeface="Aptos"/>
                          <a:cs typeface="Aptos"/>
                        </a:rPr>
                        <a:t>IQR</a:t>
                      </a:r>
                    </a:p>
                  </a:txBody>
                  <a:tcPr anchor="ctr">
                    <a:solidFill>
                      <a:srgbClr val="EFF8FF"/>
                    </a:solidFill>
                  </a:tcPr>
                </a:tc>
                <a:tc>
                  <a:txBody>
                    <a:bodyPr/>
                    <a:lstStyle/>
                    <a:p>
                      <a:pPr>
                        <a:lnSpc>
                          <a:spcPct val="103000"/>
                        </a:lnSpc>
                        <a:buNone/>
                      </a:pPr>
                      <a:r>
                        <a:rPr sz="2175" b="0" i="0">
                          <a:solidFill>
                            <a:srgbClr val="111111"/>
                          </a:solidFill>
                          <a:latin typeface="Aptos"/>
                          <a:ea typeface="Aptos"/>
                          <a:cs typeface="Aptos"/>
                        </a:rPr>
                        <a:t>Lower and upper quartiles</a:t>
                      </a:r>
                    </a:p>
                  </a:txBody>
                  <a:tcPr anchor="ctr">
                    <a:solidFill>
                      <a:srgbClr val="EFF8FF"/>
                    </a:solidFill>
                  </a:tcPr>
                </a:tc>
                <a:tc>
                  <a:txBody>
                    <a:bodyPr/>
                    <a:lstStyle/>
                    <a:p>
                      <a:pPr>
                        <a:lnSpc>
                          <a:spcPct val="103000"/>
                        </a:lnSpc>
                        <a:buNone/>
                      </a:pPr>
                      <a:r>
                        <a:rPr sz="2175" b="0" i="0">
                          <a:solidFill>
                            <a:srgbClr val="111111"/>
                          </a:solidFill>
                          <a:latin typeface="Aptos"/>
                          <a:ea typeface="Aptos"/>
                          <a:cs typeface="Aptos"/>
                        </a:rPr>
                        <a:t>Spread of the middle half</a:t>
                      </a:r>
                    </a:p>
                  </a:txBody>
                  <a:tcPr anchor="ctr">
                    <a:solidFill>
                      <a:srgbClr val="EFF8FF"/>
                    </a:solidFill>
                  </a:tcPr>
                </a:tc>
                <a:extLst>
                  <a:ext uri="{0D108BD9-81ED-4DB2-BD59-A6C34878D82A}">
                    <a16:rowId xmlns:a16="http://schemas.microsoft.com/office/drawing/2014/main" val="10004"/>
                  </a:ext>
                </a:extLst>
              </a:tr>
            </a:tbl>
          </a:graphicData>
        </a:graphic>
      </p:graphicFrame>
      <p:sp>
        <p:nvSpPr>
          <p:cNvPr id="5" name="S13-text-2">
            <a:extLst>
              <a:ext uri="{FF2B5EF4-FFF2-40B4-BE49-F238E27FC236}">
                <a16:creationId xmlns:a16="http://schemas.microsoft.com/office/drawing/2014/main" id="{64E93CF4-4461-4CC8-BF81-23F144EE4523}"/>
              </a:ext>
            </a:extLst>
          </p:cNvPr>
          <p:cNvSpPr>
            <a:spLocks noGrp="1"/>
          </p:cNvSpPr>
          <p:nvPr/>
        </p:nvSpPr>
        <p:spPr>
          <a:xfrm>
            <a:off x="430816" y="5953125"/>
            <a:ext cx="11293412" cy="342900"/>
          </a:xfrm>
          <a:prstGeom prst="rect">
            <a:avLst/>
          </a:prstGeom>
          <a:noFill/>
          <a:ln w="0">
            <a:noFill/>
          </a:ln>
        </p:spPr>
        <p:txBody>
          <a:bodyPr wrap="square" lIns="0" tIns="0" rIns="0" bIns="0" anchor="t">
            <a:noAutofit/>
          </a:bodyPr>
          <a:lstStyle/>
          <a:p>
            <a:pPr marL="0" indent="0" algn="l">
              <a:lnSpc>
                <a:spcPct val="106000"/>
              </a:lnSpc>
              <a:spcBef>
                <a:spcPts val="0"/>
              </a:spcBef>
              <a:spcAft>
                <a:spcPts val="0"/>
              </a:spcAft>
              <a:buNone/>
              <a:defRPr sz="1575" b="0">
                <a:solidFill>
                  <a:srgbClr val="111111"/>
                </a:solidFill>
                <a:latin typeface="Aptos"/>
                <a:ea typeface="Aptos"/>
                <a:cs typeface="Aptos"/>
              </a:defRPr>
            </a:pPr>
            <a:r>
              <a:rPr sz="1575" b="0" i="0">
                <a:solidFill>
                  <a:srgbClr val="111111"/>
                </a:solidFill>
                <a:latin typeface="Aptos"/>
                <a:ea typeface="Aptos"/>
                <a:cs typeface="Aptos"/>
              </a:rPr>
              <a:t>With extreme values, median and IQR often describe a typical value and central spread well.</a:t>
            </a:r>
          </a:p>
        </p:txBody>
      </p:sp>
    </p:spTree>
    <p:extLst>
      <p:ext uri="{BB962C8B-B14F-4D97-AF65-F5344CB8AC3E}">
        <p14:creationId xmlns:p14="http://schemas.microsoft.com/office/powerpoint/2010/main" val="3281361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Individual exit check</a:t>
            </a:r>
          </a:p>
        </p:txBody>
      </p:sp>
      <p:sp>
        <p:nvSpPr>
          <p:cNvPr id="3" name="Handout-A8">
            <a:extLst>
              <a:ext uri="{FF2B5EF4-FFF2-40B4-BE49-F238E27FC236}">
                <a16:creationId xmlns:a16="http://schemas.microsoft.com/office/drawing/2014/main" id="{8B510949-D29A-4D23-BF72-0495571945B7}"/>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A8</a:t>
            </a:r>
          </a:p>
        </p:txBody>
      </p:sp>
      <p:sp>
        <p:nvSpPr>
          <p:cNvPr id="4" name="rev-51">
            <a:extLst>
              <a:ext uri="{FF2B5EF4-FFF2-40B4-BE49-F238E27FC236}">
                <a16:creationId xmlns:a16="http://schemas.microsoft.com/office/drawing/2014/main" id="{7CF3A97F-384C-4945-ADF8-3FADF72B885A}"/>
              </a:ext>
            </a:extLst>
          </p:cNvPr>
          <p:cNvSpPr>
            <a:spLocks noGrp="1"/>
          </p:cNvSpPr>
          <p:nvPr/>
        </p:nvSpPr>
        <p:spPr>
          <a:xfrm>
            <a:off x="523875" y="2066925"/>
            <a:ext cx="11144250" cy="131445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1. There are 18 ordered observations. The 4th value is 51</a:t>
            </a:r>
          </a:p>
          <a:p>
            <a:pPr algn="l">
              <a:defRPr sz="2175" b="1">
                <a:solidFill>
                  <a:srgbClr val="111111"/>
                </a:solidFill>
                <a:latin typeface="Aptos"/>
                <a:ea typeface="Aptos"/>
                <a:cs typeface="Aptos"/>
              </a:defRPr>
            </a:pPr>
            <a:r>
              <a:rPr sz="2175" b="1">
                <a:solidFill>
                  <a:srgbClr val="111111"/>
                </a:solidFill>
                <a:latin typeface="Aptos"/>
                <a:ea typeface="Aptos"/>
                <a:cs typeface="Aptos"/>
              </a:rPr>
              <a:t>    and the 5th is 59. Find Q₁ using our class method.</a:t>
            </a:r>
          </a:p>
          <a:p>
            <a:pPr algn="l">
              <a:defRPr sz="2175" b="1">
                <a:solidFill>
                  <a:srgbClr val="111111"/>
                </a:solidFill>
                <a:latin typeface="Aptos"/>
                <a:ea typeface="Aptos"/>
                <a:cs typeface="Aptos"/>
              </a:defRPr>
            </a:pPr>
            <a:r>
              <a:rPr sz="2175" b="1">
                <a:solidFill>
                  <a:srgbClr val="111111"/>
                </a:solidFill>
                <a:latin typeface="Aptos"/>
                <a:ea typeface="Aptos"/>
                <a:cs typeface="Aptos"/>
              </a:rPr>
              <a:t>    Explain why “Q₁ = 4.75” is incorrect.</a:t>
            </a:r>
          </a:p>
        </p:txBody>
      </p:sp>
      <p:sp>
        <p:nvSpPr>
          <p:cNvPr id="5" name="rev-52">
            <a:extLst>
              <a:ext uri="{FF2B5EF4-FFF2-40B4-BE49-F238E27FC236}">
                <a16:creationId xmlns:a16="http://schemas.microsoft.com/office/drawing/2014/main" id="{4414FC35-9167-4E9D-89CC-5F57180B852D}"/>
              </a:ext>
            </a:extLst>
          </p:cNvPr>
          <p:cNvSpPr>
            <a:spLocks noGrp="1"/>
          </p:cNvSpPr>
          <p:nvPr/>
        </p:nvSpPr>
        <p:spPr>
          <a:xfrm>
            <a:off x="523875" y="3600450"/>
            <a:ext cx="11144250" cy="121920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2. Two gyms have the same median. Their IQRs are</a:t>
            </a:r>
          </a:p>
          <a:p>
            <a:pPr algn="l">
              <a:defRPr sz="2175" b="1">
                <a:solidFill>
                  <a:srgbClr val="111111"/>
                </a:solidFill>
                <a:latin typeface="Aptos"/>
                <a:ea typeface="Aptos"/>
                <a:cs typeface="Aptos"/>
              </a:defRPr>
            </a:pPr>
            <a:r>
              <a:rPr sz="2175" b="1">
                <a:solidFill>
                  <a:srgbClr val="111111"/>
                </a:solidFill>
                <a:latin typeface="Aptos"/>
                <a:ea typeface="Aptos"/>
                <a:cs typeface="Aptos"/>
              </a:rPr>
              <a:t>    3 hours and 8.25 hours. Which has less spread</a:t>
            </a:r>
          </a:p>
          <a:p>
            <a:pPr algn="l">
              <a:defRPr sz="2175" b="1">
                <a:solidFill>
                  <a:srgbClr val="111111"/>
                </a:solidFill>
                <a:latin typeface="Aptos"/>
                <a:ea typeface="Aptos"/>
                <a:cs typeface="Aptos"/>
              </a:defRPr>
            </a:pPr>
            <a:r>
              <a:rPr sz="2175" b="1">
                <a:solidFill>
                  <a:srgbClr val="111111"/>
                </a:solidFill>
                <a:latin typeface="Aptos"/>
                <a:ea typeface="Aptos"/>
                <a:cs typeface="Aptos"/>
              </a:rPr>
              <a:t>    in the middle half? Explain.</a:t>
            </a:r>
          </a:p>
        </p:txBody>
      </p:sp>
      <p:sp>
        <p:nvSpPr>
          <p:cNvPr id="6" name="rev-53">
            <a:extLst>
              <a:ext uri="{FF2B5EF4-FFF2-40B4-BE49-F238E27FC236}">
                <a16:creationId xmlns:a16="http://schemas.microsoft.com/office/drawing/2014/main" id="{8C15B7F6-C2DA-4658-9347-E87AAF8A646F}"/>
              </a:ext>
            </a:extLst>
          </p:cNvPr>
          <p:cNvSpPr>
            <a:spLocks noGrp="1"/>
          </p:cNvSpPr>
          <p:nvPr/>
        </p:nvSpPr>
        <p:spPr>
          <a:xfrm>
            <a:off x="523875" y="5248275"/>
            <a:ext cx="11144250" cy="88582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3. “Deleting an extreme value can never change the median.”</a:t>
            </a:r>
          </a:p>
          <a:p>
            <a:pPr algn="l">
              <a:defRPr sz="2175" b="1">
                <a:solidFill>
                  <a:srgbClr val="111111"/>
                </a:solidFill>
                <a:latin typeface="Aptos"/>
                <a:ea typeface="Aptos"/>
                <a:cs typeface="Aptos"/>
              </a:defRPr>
            </a:pPr>
            <a:r>
              <a:rPr sz="2175" b="1">
                <a:solidFill>
                  <a:srgbClr val="111111"/>
                </a:solidFill>
                <a:latin typeface="Aptos"/>
                <a:ea typeface="Aptos"/>
                <a:cs typeface="Aptos"/>
              </a:rPr>
              <a:t>    Agree or disagree? Use A2 as evidence.</a:t>
            </a:r>
          </a:p>
        </p:txBody>
      </p:sp>
    </p:spTree>
    <p:extLst>
      <p:ext uri="{BB962C8B-B14F-4D97-AF65-F5344CB8AC3E}">
        <p14:creationId xmlns:p14="http://schemas.microsoft.com/office/powerpoint/2010/main" val="3281361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Exit check answers</a:t>
            </a:r>
          </a:p>
        </p:txBody>
      </p:sp>
      <p:sp>
        <p:nvSpPr>
          <p:cNvPr id="3" name="Handout-A8">
            <a:extLst>
              <a:ext uri="{FF2B5EF4-FFF2-40B4-BE49-F238E27FC236}">
                <a16:creationId xmlns:a16="http://schemas.microsoft.com/office/drawing/2014/main" id="{BEBB6B75-4F2A-47F7-80C6-A57F6A14CA5F}"/>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marL="0" indent="0" algn="ctr">
              <a:lnSpc>
                <a:spcPct val="100000"/>
              </a:lnSpc>
              <a:spcBef>
                <a:spcPts val="0"/>
              </a:spcBef>
              <a:spcAft>
                <a:spcPts val="0"/>
              </a:spcAft>
              <a:buNone/>
              <a:defRPr sz="1725" b="1">
                <a:solidFill>
                  <a:srgbClr val="FFFFFF"/>
                </a:solidFill>
                <a:latin typeface="Aptos"/>
                <a:ea typeface="Aptos"/>
                <a:cs typeface="Aptos"/>
              </a:defRPr>
            </a:pPr>
            <a:r>
              <a:rPr sz="1725" b="1">
                <a:solidFill>
                  <a:srgbClr val="FFFFFF"/>
                </a:solidFill>
                <a:latin typeface="Aptos"/>
                <a:ea typeface="Aptos"/>
                <a:cs typeface="Aptos"/>
              </a:rPr>
              <a:t>HANDOUT • EXERCISE A8</a:t>
            </a:r>
          </a:p>
        </p:txBody>
      </p:sp>
      <p:pic>
        <p:nvPicPr>
          <p:cNvPr id="4" name="Picture 3"/>
          <p:cNvPicPr>
            <a:picLocks noChangeAspect="1"/>
          </p:cNvPicPr>
          <p:nvPr/>
        </p:nvPicPr>
        <p:blipFill>
          <a:blip r:embed="rId3"/>
          <a:stretch/>
        </p:blipFill>
        <p:spPr>
          <a:xfrm>
            <a:off x="523875" y="2069613"/>
            <a:ext cx="5334000" cy="594700"/>
          </a:xfrm>
          <a:prstGeom prst="rect">
            <a:avLst/>
          </a:prstGeom>
        </p:spPr>
      </p:pic>
      <p:pic>
        <p:nvPicPr>
          <p:cNvPr id="5" name="Picture 4"/>
          <p:cNvPicPr>
            <a:picLocks noChangeAspect="1"/>
          </p:cNvPicPr>
          <p:nvPr/>
        </p:nvPicPr>
        <p:blipFill>
          <a:blip r:embed="rId4"/>
          <a:stretch/>
        </p:blipFill>
        <p:spPr>
          <a:xfrm>
            <a:off x="6429375" y="2235176"/>
            <a:ext cx="5095875" cy="349298"/>
          </a:xfrm>
          <a:prstGeom prst="rect">
            <a:avLst/>
          </a:prstGeom>
        </p:spPr>
      </p:pic>
      <p:sp>
        <p:nvSpPr>
          <p:cNvPr id="6" name="rev-54">
            <a:extLst>
              <a:ext uri="{FF2B5EF4-FFF2-40B4-BE49-F238E27FC236}">
                <a16:creationId xmlns:a16="http://schemas.microsoft.com/office/drawing/2014/main" id="{7D60E6EE-0C78-417F-B510-05269985D6F6}"/>
              </a:ext>
            </a:extLst>
          </p:cNvPr>
          <p:cNvSpPr>
            <a:spLocks noGrp="1"/>
          </p:cNvSpPr>
          <p:nvPr/>
        </p:nvSpPr>
        <p:spPr>
          <a:xfrm>
            <a:off x="523875" y="2905125"/>
            <a:ext cx="11144250" cy="53340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1. The position is 4.75. The lower quartile value is 57.</a:t>
            </a:r>
          </a:p>
        </p:txBody>
      </p:sp>
      <p:sp>
        <p:nvSpPr>
          <p:cNvPr id="7" name="rev-55">
            <a:extLst>
              <a:ext uri="{FF2B5EF4-FFF2-40B4-BE49-F238E27FC236}">
                <a16:creationId xmlns:a16="http://schemas.microsoft.com/office/drawing/2014/main" id="{2BEF673B-F52E-4DDA-AF2E-EE04FBD67F02}"/>
              </a:ext>
            </a:extLst>
          </p:cNvPr>
          <p:cNvSpPr>
            <a:spLocks noGrp="1"/>
          </p:cNvSpPr>
          <p:nvPr/>
        </p:nvSpPr>
        <p:spPr>
          <a:xfrm>
            <a:off x="523875" y="3819525"/>
            <a:ext cx="11144250" cy="895350"/>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2. The gym with IQR = 3 hours has less spread</a:t>
            </a:r>
          </a:p>
          <a:p>
            <a:pPr algn="l">
              <a:defRPr sz="2250" b="1">
                <a:solidFill>
                  <a:srgbClr val="111111"/>
                </a:solidFill>
                <a:latin typeface="Aptos"/>
                <a:ea typeface="Aptos"/>
                <a:cs typeface="Aptos"/>
              </a:defRPr>
            </a:pPr>
            <a:r>
              <a:rPr sz="2250" b="1">
                <a:solidFill>
                  <a:srgbClr val="111111"/>
                </a:solidFill>
                <a:latin typeface="Aptos"/>
                <a:ea typeface="Aptos"/>
                <a:cs typeface="Aptos"/>
              </a:rPr>
              <a:t>    in the middle half of its observations.</a:t>
            </a:r>
          </a:p>
        </p:txBody>
      </p:sp>
      <p:sp>
        <p:nvSpPr>
          <p:cNvPr id="8" name="rev-56">
            <a:extLst>
              <a:ext uri="{FF2B5EF4-FFF2-40B4-BE49-F238E27FC236}">
                <a16:creationId xmlns:a16="http://schemas.microsoft.com/office/drawing/2014/main" id="{19530F17-AC0D-4D54-9F15-2761EB435FF9}"/>
              </a:ext>
            </a:extLst>
          </p:cNvPr>
          <p:cNvSpPr>
            <a:spLocks noGrp="1"/>
          </p:cNvSpPr>
          <p:nvPr/>
        </p:nvSpPr>
        <p:spPr>
          <a:xfrm>
            <a:off x="523875" y="5210175"/>
            <a:ext cx="11144250" cy="895350"/>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3. Disagree. In A2, deleting the 48-minute call</a:t>
            </a:r>
          </a:p>
          <a:p>
            <a:pPr algn="l">
              <a:defRPr sz="2250" b="1">
                <a:solidFill>
                  <a:srgbClr val="111111"/>
                </a:solidFill>
                <a:latin typeface="Aptos"/>
                <a:ea typeface="Aptos"/>
                <a:cs typeface="Aptos"/>
              </a:defRPr>
            </a:pPr>
            <a:r>
              <a:rPr sz="2250" b="1">
                <a:solidFill>
                  <a:srgbClr val="111111"/>
                </a:solidFill>
                <a:latin typeface="Aptos"/>
                <a:ea typeface="Aptos"/>
                <a:cs typeface="Aptos"/>
              </a:rPr>
              <a:t>    changed the median from 3.5 to 3 minutes.</a:t>
            </a:r>
          </a:p>
        </p:txBody>
      </p:sp>
    </p:spTree>
    <p:extLst>
      <p:ext uri="{BB962C8B-B14F-4D97-AF65-F5344CB8AC3E}">
        <p14:creationId xmlns:p14="http://schemas.microsoft.com/office/powerpoint/2010/main" val="3281361232"/>
      </p:ext>
    </p:extLst>
  </p:cSld>
  <p:clrMapOvr>
    <a:masterClrMapping/>
  </p:clrMapOvr>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13128</Words>
  <Application>Microsoft Office PowerPoint</Application>
  <PresentationFormat>Widescreen</PresentationFormat>
  <Paragraphs>770</Paragraphs>
  <Slides>43</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Aptos</vt:lpstr>
      <vt:lpstr>Aptos Display</vt:lpstr>
      <vt:lpstr>Arial</vt:lpstr>
      <vt:lpstr>Office Theme</vt:lpstr>
      <vt:lpstr>IFY Statistics Week 3 • Class A Measuring  Central  Tendency</vt:lpstr>
      <vt:lpstr>Back to our gym survey</vt:lpstr>
      <vt:lpstr>Section 1: Finding a typical value</vt:lpstr>
      <vt:lpstr>What is a typical wait?</vt:lpstr>
      <vt:lpstr>Mean: share the total</vt:lpstr>
      <vt:lpstr>Why do we have two means?</vt:lpstr>
      <vt:lpstr>Median: find the middle</vt:lpstr>
      <vt:lpstr>The same rule works for large sets</vt:lpstr>
      <vt:lpstr>Mode: the most frequent</vt:lpstr>
      <vt:lpstr>How long is a typical call?</vt:lpstr>
      <vt:lpstr>A typical call</vt:lpstr>
      <vt:lpstr>Correct it or delete it?</vt:lpstr>
      <vt:lpstr>Check what changed</vt:lpstr>
      <vt:lpstr>Typical salary and total payroll</vt:lpstr>
      <vt:lpstr>The purpose determines the measure</vt:lpstr>
      <vt:lpstr>PowerPoint Presentation</vt:lpstr>
      <vt:lpstr>Section 2: Measuring the spread</vt:lpstr>
      <vt:lpstr>Range: from lowest to highest</vt:lpstr>
      <vt:lpstr>Same mean, same range</vt:lpstr>
      <vt:lpstr>What the endpoints miss</vt:lpstr>
      <vt:lpstr>Section 3: Quartiles and central spread</vt:lpstr>
      <vt:lpstr>Why focus on the middle half?</vt:lpstr>
      <vt:lpstr>Quartiles mark three cut points</vt:lpstr>
      <vt:lpstr>Find the quartile positions</vt:lpstr>
      <vt:lpstr>Read the quartile values</vt:lpstr>
      <vt:lpstr>The interquartile range (IQR)</vt:lpstr>
      <vt:lpstr>A value between two positions</vt:lpstr>
      <vt:lpstr>A worked example with 10 values</vt:lpstr>
      <vt:lpstr>Weekly exercise hours</vt:lpstr>
      <vt:lpstr>Quartiles and IQR</vt:lpstr>
      <vt:lpstr>The five-number summary</vt:lpstr>
      <vt:lpstr>One value changes</vt:lpstr>
      <vt:lpstr>The effects of the replacement</vt:lpstr>
      <vt:lpstr>Section 4: The shape of data</vt:lpstr>
      <vt:lpstr>Which way does the tail go?</vt:lpstr>
      <vt:lpstr>The mean follows the tail</vt:lpstr>
      <vt:lpstr>Shape detective</vt:lpstr>
      <vt:lpstr>The tail gives the direction</vt:lpstr>
      <vt:lpstr>A student’s explanation</vt:lpstr>
      <vt:lpstr>The explanation corrected</vt:lpstr>
      <vt:lpstr>Choose measures together</vt:lpstr>
      <vt:lpstr>Individual exit check</vt:lpstr>
      <vt:lpstr>Exit check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Jacob Mlynarski</cp:lastModifiedBy>
  <cp:revision>1</cp:revision>
  <dcterms:created xsi:type="dcterms:W3CDTF">2026-09-08T14:20:32Z</dcterms:created>
  <dcterms:modified xsi:type="dcterms:W3CDTF">2026-10-07T15:08:30Z</dcterms:modified>
</cp:coreProperties>
</file>