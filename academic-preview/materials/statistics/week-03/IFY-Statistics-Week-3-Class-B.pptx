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4"/>
    <p:sldId id="301" r:id="rId25"/>
    <p:sldId id="302"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A7A7A3-E542-A949-92F7-A5E615C37C41}" v="4" dt="2026-09-28T01:02:57.15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735"/>
    <p:restoredTop sz="85958" autoAdjust="0"/>
  </p:normalViewPr>
  <p:slideViewPr>
    <p:cSldViewPr snapToGrid="0">
      <p:cViewPr varScale="1">
        <p:scale>
          <a:sx n="104" d="100"/>
          <a:sy n="104" d="100"/>
        </p:scale>
        <p:origin x="576" y="50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acob Mlynarski" userId="5c8c5ce1edfe4dd6" providerId="LiveId" clId="{C91FEEE5-5543-5F5D-804A-A29147691C79}"/>
    <pc:docChg chg="undo custSel addSld delSld modSld sldOrd">
      <pc:chgData name="Jacob Mlynarski" userId="5c8c5ce1edfe4dd6" providerId="LiveId" clId="{C91FEEE5-5543-5F5D-804A-A29147691C79}" dt="2026-09-28T01:03:03.380" v="18" actId="14100"/>
      <pc:docMkLst>
        <pc:docMk/>
      </pc:docMkLst>
      <pc:sldChg chg="addSp delSp modSp mod">
        <pc:chgData name="Jacob Mlynarski" userId="5c8c5ce1edfe4dd6" providerId="LiveId" clId="{C91FEEE5-5543-5F5D-804A-A29147691C79}" dt="2026-09-27T15:20:17.481" v="12" actId="1582"/>
        <pc:sldMkLst>
          <pc:docMk/>
          <pc:sldMk cId="3281361232" sldId="268"/>
        </pc:sldMkLst>
        <pc:spChg chg="add del">
          <ac:chgData name="Jacob Mlynarski" userId="5c8c5ce1edfe4dd6" providerId="LiveId" clId="{C91FEEE5-5543-5F5D-804A-A29147691C79}" dt="2026-09-27T15:17:45.355" v="1" actId="22"/>
          <ac:spMkLst>
            <pc:docMk/>
            <pc:sldMk cId="3281361232" sldId="268"/>
            <ac:spMk id="8" creationId="{B4A46372-316F-C20C-A4EC-DF73F1E3002D}"/>
          </ac:spMkLst>
        </pc:spChg>
        <pc:picChg chg="add mod">
          <ac:chgData name="Jacob Mlynarski" userId="5c8c5ce1edfe4dd6" providerId="LiveId" clId="{C91FEEE5-5543-5F5D-804A-A29147691C79}" dt="2026-09-27T15:20:17.481" v="12" actId="1582"/>
          <ac:picMkLst>
            <pc:docMk/>
            <pc:sldMk cId="3281361232" sldId="268"/>
            <ac:picMk id="10" creationId="{C28002BB-A0F1-F147-F577-972E6E9D83B6}"/>
          </ac:picMkLst>
        </pc:picChg>
      </pc:sldChg>
      <pc:sldChg chg="modSp mod">
        <pc:chgData name="Jacob Mlynarski" userId="5c8c5ce1edfe4dd6" providerId="LiveId" clId="{C91FEEE5-5543-5F5D-804A-A29147691C79}" dt="2026-09-27T15:19:00.199" v="10" actId="1582"/>
        <pc:sldMkLst>
          <pc:docMk/>
          <pc:sldMk cId="3281361232" sldId="269"/>
        </pc:sldMkLst>
        <pc:picChg chg="mod">
          <ac:chgData name="Jacob Mlynarski" userId="5c8c5ce1edfe4dd6" providerId="LiveId" clId="{C91FEEE5-5543-5F5D-804A-A29147691C79}" dt="2026-09-27T15:19:00.199" v="10" actId="1582"/>
          <ac:picMkLst>
            <pc:docMk/>
            <pc:sldMk cId="3281361232" sldId="269"/>
            <ac:picMk id="5" creationId="{00000000-0000-0000-0000-000000000000}"/>
          </ac:picMkLst>
        </pc:picChg>
      </pc:sldChg>
      <pc:sldChg chg="del ord">
        <pc:chgData name="Jacob Mlynarski" userId="5c8c5ce1edfe4dd6" providerId="LiveId" clId="{C91FEEE5-5543-5F5D-804A-A29147691C79}" dt="2026-09-28T01:02:23.989" v="15" actId="2696"/>
        <pc:sldMkLst>
          <pc:docMk/>
          <pc:sldMk cId="3281361232" sldId="278"/>
        </pc:sldMkLst>
      </pc:sldChg>
      <pc:sldChg chg="modSp mod">
        <pc:chgData name="Jacob Mlynarski" userId="5c8c5ce1edfe4dd6" providerId="LiveId" clId="{C91FEEE5-5543-5F5D-804A-A29147691C79}" dt="2026-09-28T01:03:03.380" v="18" actId="14100"/>
        <pc:sldMkLst>
          <pc:docMk/>
          <pc:sldMk cId="3281361232" sldId="287"/>
        </pc:sldMkLst>
        <pc:spChg chg="mod">
          <ac:chgData name="Jacob Mlynarski" userId="5c8c5ce1edfe4dd6" providerId="LiveId" clId="{C91FEEE5-5543-5F5D-804A-A29147691C79}" dt="2026-09-28T01:03:03.380" v="18" actId="14100"/>
          <ac:spMkLst>
            <pc:docMk/>
            <pc:sldMk cId="3281361232" sldId="287"/>
            <ac:spMk id="3" creationId="{B0E72CFA-7A43-4074-B105-5520C20DAA70}"/>
          </ac:spMkLst>
        </pc:spChg>
      </pc:sldChg>
      <pc:sldChg chg="add">
        <pc:chgData name="Jacob Mlynarski" userId="5c8c5ce1edfe4dd6" providerId="LiveId" clId="{C91FEEE5-5543-5F5D-804A-A29147691C79}" dt="2026-09-28T01:02:21.324" v="14"/>
        <pc:sldMkLst>
          <pc:docMk/>
          <pc:sldMk cId="2967937166" sldId="301"/>
        </pc:sldMkLst>
      </pc:sldChg>
      <pc:sldChg chg="add">
        <pc:chgData name="Jacob Mlynarski" userId="5c8c5ce1edfe4dd6" providerId="LiveId" clId="{C91FEEE5-5543-5F5D-804A-A29147691C79}" dt="2026-09-28T01:02:21.324" v="14"/>
        <pc:sldMkLst>
          <pc:docMk/>
          <pc:sldMk cId="1000227721" sldId="302"/>
        </pc:sldMkLst>
      </pc:sldChg>
    </pc:docChg>
  </pc:docChgLst>
  <pc:docChgLst>
    <pc:chgData name="Jacob Mlynarski" userId="5c8c5ce1edfe4dd6" providerId="LiveId" clId="{EA34CD77-B017-48F4-80DC-E98A38773462}"/>
    <pc:docChg chg="custSel modSld">
      <pc:chgData name="Jacob Mlynarski" userId="5c8c5ce1edfe4dd6" providerId="LiveId" clId="{EA34CD77-B017-48F4-80DC-E98A38773462}" dt="2026-09-25T06:02:03.940" v="26" actId="115"/>
      <pc:docMkLst>
        <pc:docMk/>
      </pc:docMkLst>
      <pc:sldChg chg="addSp modSp mod">
        <pc:chgData name="Jacob Mlynarski" userId="5c8c5ce1edfe4dd6" providerId="LiveId" clId="{EA34CD77-B017-48F4-80DC-E98A38773462}" dt="2026-09-25T05:16:02.702" v="17" actId="14100"/>
        <pc:sldMkLst>
          <pc:docMk/>
          <pc:sldMk cId="3281361232" sldId="259"/>
        </pc:sldMkLst>
        <pc:spChg chg="add mod">
          <ac:chgData name="Jacob Mlynarski" userId="5c8c5ce1edfe4dd6" providerId="LiveId" clId="{EA34CD77-B017-48F4-80DC-E98A38773462}" dt="2026-09-25T05:13:30.749" v="16" actId="1076"/>
          <ac:spMkLst>
            <pc:docMk/>
            <pc:sldMk cId="3281361232" sldId="259"/>
            <ac:spMk id="14" creationId="{366A2938-5084-4853-5FFE-A1A9755B5A9D}"/>
          </ac:spMkLst>
        </pc:spChg>
        <pc:picChg chg="add mod modCrop">
          <ac:chgData name="Jacob Mlynarski" userId="5c8c5ce1edfe4dd6" providerId="LiveId" clId="{EA34CD77-B017-48F4-80DC-E98A38773462}" dt="2026-09-25T05:13:03.696" v="12" actId="1076"/>
          <ac:picMkLst>
            <pc:docMk/>
            <pc:sldMk cId="3281361232" sldId="259"/>
            <ac:picMk id="9" creationId="{8E5A0930-023F-2182-0180-1FF7B680F91C}"/>
          </ac:picMkLst>
        </pc:picChg>
        <pc:picChg chg="add mod modCrop">
          <ac:chgData name="Jacob Mlynarski" userId="5c8c5ce1edfe4dd6" providerId="LiveId" clId="{EA34CD77-B017-48F4-80DC-E98A38773462}" dt="2026-09-25T05:13:01.078" v="11" actId="1076"/>
          <ac:picMkLst>
            <pc:docMk/>
            <pc:sldMk cId="3281361232" sldId="259"/>
            <ac:picMk id="11" creationId="{71743F2A-C93C-8459-6786-9D76D176A0CB}"/>
          </ac:picMkLst>
        </pc:picChg>
        <pc:cxnChg chg="add mod">
          <ac:chgData name="Jacob Mlynarski" userId="5c8c5ce1edfe4dd6" providerId="LiveId" clId="{EA34CD77-B017-48F4-80DC-E98A38773462}" dt="2026-09-25T05:16:02.702" v="17" actId="14100"/>
          <ac:cxnSpMkLst>
            <pc:docMk/>
            <pc:sldMk cId="3281361232" sldId="259"/>
            <ac:cxnSpMk id="13" creationId="{308ECB46-DA5D-8C4F-C7C6-06241617E377}"/>
          </ac:cxnSpMkLst>
        </pc:cxnChg>
      </pc:sldChg>
      <pc:sldChg chg="modSp mod">
        <pc:chgData name="Jacob Mlynarski" userId="5c8c5ce1edfe4dd6" providerId="LiveId" clId="{EA34CD77-B017-48F4-80DC-E98A38773462}" dt="2026-09-25T05:18:08.143" v="18" actId="207"/>
        <pc:sldMkLst>
          <pc:docMk/>
          <pc:sldMk cId="3281361232" sldId="264"/>
        </pc:sldMkLst>
        <pc:graphicFrameChg chg="modGraphic">
          <ac:chgData name="Jacob Mlynarski" userId="5c8c5ce1edfe4dd6" providerId="LiveId" clId="{EA34CD77-B017-48F4-80DC-E98A38773462}" dt="2026-09-25T05:18:08.143" v="18" actId="207"/>
          <ac:graphicFrameMkLst>
            <pc:docMk/>
            <pc:sldMk cId="3281361232" sldId="264"/>
            <ac:graphicFrameMk id="4" creationId="{00000000-0000-0000-0000-000000000000}"/>
          </ac:graphicFrameMkLst>
        </pc:graphicFrameChg>
      </pc:sldChg>
      <pc:sldChg chg="modSp mod">
        <pc:chgData name="Jacob Mlynarski" userId="5c8c5ce1edfe4dd6" providerId="LiveId" clId="{EA34CD77-B017-48F4-80DC-E98A38773462}" dt="2026-09-25T05:33:42.723" v="23" actId="14100"/>
        <pc:sldMkLst>
          <pc:docMk/>
          <pc:sldMk cId="3281361232" sldId="267"/>
        </pc:sldMkLst>
        <pc:spChg chg="mod">
          <ac:chgData name="Jacob Mlynarski" userId="5c8c5ce1edfe4dd6" providerId="LiveId" clId="{EA34CD77-B017-48F4-80DC-E98A38773462}" dt="2026-09-25T05:33:42.723" v="23" actId="14100"/>
          <ac:spMkLst>
            <pc:docMk/>
            <pc:sldMk cId="3281361232" sldId="267"/>
            <ac:spMk id="7" creationId="{5BA8D326-0FBA-46DC-AC58-BD4B57257669}"/>
          </ac:spMkLst>
        </pc:spChg>
        <pc:picChg chg="mod">
          <ac:chgData name="Jacob Mlynarski" userId="5c8c5ce1edfe4dd6" providerId="LiveId" clId="{EA34CD77-B017-48F4-80DC-E98A38773462}" dt="2026-09-25T05:21:58.446" v="19" actId="14100"/>
          <ac:picMkLst>
            <pc:docMk/>
            <pc:sldMk cId="3281361232" sldId="267"/>
            <ac:picMk id="5" creationId="{00000000-0000-0000-0000-000000000000}"/>
          </ac:picMkLst>
        </pc:picChg>
      </pc:sldChg>
      <pc:sldChg chg="modSp mod">
        <pc:chgData name="Jacob Mlynarski" userId="5c8c5ce1edfe4dd6" providerId="LiveId" clId="{EA34CD77-B017-48F4-80DC-E98A38773462}" dt="2026-09-24T12:32:11.616" v="0" actId="1076"/>
        <pc:sldMkLst>
          <pc:docMk/>
          <pc:sldMk cId="3281361232" sldId="268"/>
        </pc:sldMkLst>
      </pc:sldChg>
      <pc:sldChg chg="modSp mod">
        <pc:chgData name="Jacob Mlynarski" userId="5c8c5ce1edfe4dd6" providerId="LiveId" clId="{EA34CD77-B017-48F4-80DC-E98A38773462}" dt="2026-09-25T06:02:03.940" v="26" actId="115"/>
        <pc:sldMkLst>
          <pc:docMk/>
          <pc:sldMk cId="3281361232" sldId="273"/>
        </pc:sldMkLst>
        <pc:spChg chg="mod">
          <ac:chgData name="Jacob Mlynarski" userId="5c8c5ce1edfe4dd6" providerId="LiveId" clId="{EA34CD77-B017-48F4-80DC-E98A38773462}" dt="2026-09-25T06:02:03.940" v="26" actId="115"/>
          <ac:spMkLst>
            <pc:docMk/>
            <pc:sldMk cId="3281361232" sldId="273"/>
            <ac:spMk id="3" creationId="{C083B71B-D987-4EE2-89B9-5346494E118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a 90-minute class with 43 core slides and two optional extension slides. Allow 5 minutes for retrieval, 28 minutes for deviation, variance and SD, 25 minutes for population and sample calculations, 14 minutes for CV, 10 minutes for kurtosis and 5 minutes for the exit check, plus a 3-minute transition buffer. The optional challenge is outside this core timing.</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Briefly explain the five sections. We will first build the method together, then use guided and independent practice. Ask students to calculate each result and explain what it means in its context.</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five customers in the specified shift were observed. Ask students to respond individually before revealing the next slide. The mean is 10 minutes and the range is 8 minutes; these five customers form the population for this shift.</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Check the mean, range and target group separately. The population is defined by the question: all customers in this particular shift are included. A small group can still be a population.</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variation, or dispersion, as how spread out the values are. First compare the two groups, then explain the signed difference between one observation and the mean.</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Shift A contains 6, 10, 10, 10 and 14 minutes; Shift B contains 6, 6, 10, 14 and 14 minutes. Both have a mean of 10 minutes and a range of 8 minutes, but Shift B has more observations away from the mean. The dot plots use identical axes so students can compare their spread directly.</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mean is 10 minutes. A wait of 6 minutes is four minutes below the mean; 10 is at the mean; 14 is four minutes above it. Establish this everyday language before introducing signed deviations.</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deviation is signed, whereas a distance is nonnegative. Read −4 as four minutes below the mean. The waiting time itself is still 6 minutes, not −4 minutes.</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Model the first row. Students complete the remaining four rows and add the deviations before the next reveal. Work alongside students during this guided task.</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deviations are −4, 0, 0, 0 and +4, with a total of zero. Signed deviations from the arithmetic mean cancel, so a zero total does not mean there is no spread. Squaring is one way to prevent cancellation; it is not the only possible way to measure spread.</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cancellation problem to motivate the next step. Continue with the same five-customer shift while introducing population variance and standard deviation.</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Squaring means multiplying a number by itself: (−4)² = 16, 0² = 0 and (+4)² = 16. Keep parentheses around negative numbers. Squaring also gives larger deviations more weight.</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Students extend their existing table rather than start a new dataset. The squared deviations are 16, 0, 0, 0 and 16, with a total of 32 min². Introduce capital sigma, Σ, as the instruction to add the terms; distinguish it from lowercase sigma, σ, used for population SD. The next slide uses this total.</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Population variance is the average squared deviation from the population mean. Here the target is the complete five-customer shift, so divide the total of 32 min² by N = 5. Read σ² as sigma squared, μ as mu, N as capital N and Σ as capital sigma. Read xᵢ as x sub i: the ith observation.</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Standard deviation is the square root of variance and expresses spread around the mean in the original units. It is not the arithmetic mean of absolute deviations, nor a fixed distance for every observation. Explain that the approximation sign indicates a rounded result.</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manager wants both short waits and consistent waits. Five waits of exactly 10 minutes have a mean of 10 minutes and an SD of zero. Do not infer a normal-distribution percentage or a guaranteed range from mean ± SD in this example.</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observation has its own signed deviation, while one standard deviation combines the squared deviations across the dataset. Both deviation and SD use the original units, but SD cannot be negative. Use this table as a reference during later tasks; ensure students can read the full table and its footer.</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7 minutes of individual work, followed by a brief partner check. All eight customers form the population for this shift: the mean is 10.75 minutes, the sum of squared deviations is 55.5 min², the population variance is 6.9375 min² and the SD is about 2.63 minutes. Retain full calculator precision until the final answer. Compare only these observed shifts: Shift A has mean 10 minutes and SD 2.53 minutes.</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table shows exact deviations and squares. The mean is 86 ÷ 8 = 10.75 minutes; the sum of squared deviations is 55.5 min²; population variance is 6.9375 min²; SD is 2.633913… minutes, which rounds to 2.63. This shift has a slightly higher mean and SD than Shift A. Do not make a wider population inference or a claim of statistical significance.</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Maintain the café context. The target group now changes from one complete shift to all customers in an entire month.</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Define the target group first: all 2,000 customers in one month. A random sample consists of eight selected customers from that month. An estimate is a calculated approximation, not a guaranteed exact value. The guided and independent tasks below use separate illustrative random samples in the same café context.</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Both means divide the total by the observation count. The sample mean describes the eight observed customers and estimates the unknown population mean for the month. Explicitly distinguish capital N from lowercase n. Neither mean uses n − 1 as its divisor.</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s² as s squared and s as s. The sample formula requires n greater than 1. Apply the n − 1 adjustment when calculating variance, then take the square root to obtain SD. Retain full precision, and remind students that the sample mean and count symbols have already been introduced.</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Replace the original abstract n-minus-one slide with these two slides, in this order. Allow around four minutes in total. This illustrative random sample contains waiting times 4, 7 and 10 minutes. We want to estimate the variance of a wider population whose mean is unknown.</a:t>
            </a:r>
          </a:p>
          <a:p>
            <a:r>
              <a:t>First calculate the sample mean, 7 minutes. The table compares three possible centres. The rows for 6 and 8 are comparison centres, not claims about the population mean. For centre 6 the signed deviations are -2, 1, 4 and the squared deviations are 4, 1, 16. For centre 7 they are -3, 0, 3 and 9, 0, 9. For centre 8 they are -4, -1, 2 and 16, 1, 4. The sample mean minimises the sum of squared deviations among all possible centres, not merely the three shown.</a:t>
            </a:r>
          </a:p>
          <a:p>
            <a:r>
              <a:t>When independent observations come from the same population with finite variance, using the sample mean and dividing by n gives an estimate with expectation (n-1)/n times the population variance. Dividing by n-1 corrects that downward bias. This is a statement about the method over repeated random samples, not a claim that each particular sample underestimates the true variance. The correction applies to variance. Taking its square root does not make sample SD exactly unbiased.</a:t>
            </a:r>
          </a:p>
          <a:p>
            <a:r>
              <a:t>Source: https://online.stat.psu.edu/stat500/Lesson01 (Variance section). Numerical example developed for this class.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Continue with the same sample 4, 7, 10 minutes and mean 7. The table shows every subtraction before any squaring. Cover or pause before reading the +3 row and ask: if deviations must total zero, what must the last one be? Once the other two deviations are known, the third must be +3. There are n-1 freely varying deviations. This number is called the degrees of freedom. The zero-sum constraint illustrates why one is lost when the mean is calculated from the sample; it is not a full proof of the unbiasedness result.</a:t>
            </a:r>
          </a:p>
          <a:p>
            <a:r>
              <a:t>The squared deviations are 9, 0, 9, giving a total of 18 minutes squared. Sample variance s-squared is 18/(3-1) = 9 minutes squared. If desired, sample SD is sqrt(9) = 3 minutes. Dividing by 3 would give 6 minutes squared, which is the variance of these three observed values when treated as the whole population of interest; it is the uncorrected choice when using the sample to estimate a wider population variance.</a:t>
            </a:r>
          </a:p>
          <a:p>
            <a:r>
              <a:t>Every observation stays in the numerator. No customer or value is deleted. A corrected estimate can still be above or below the true population variance. The n-minus-one rule is used for sample variance when estimating population variance. Mean itself still uses n.</a:t>
            </a:r>
          </a:p>
          <a:p>
            <a:r>
              <a:t>Source: https://online.stat.psu.edu/stat500/Lesson01 (Variance section). Numerical example developed for this class.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Choose the method according to the target group and purpose, not merely the number of observations. A complete small population is still a population; a sample helps estimate characteristics of a larger population. Review the notation and divisor row carefully. Both means use total divided by count.</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eight randomly selected customers help estimate the entire month. The given sample mean is 15 minutes and the sum of squared deviations is 112 min². Model the choice of method and numerator, then let students supply the divisor and calculate. If a complete supporting dataset is useful, the illustrative values 9, 11, 13, 15, 15, 17, 19 and 21 give these totals.</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Sample variance is 112 ÷ 7 = 16 min², so sample SD is 4 minutes. The sample mean of 15 minutes and SD of 4 minutes estimate the month’s average wait and spread. They do not make the actual population parameters known.</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8 minutes for this new random sample of eight customers from the month. The data are reordered from slide 15 of the original Bellerbys Week 3 lecture and are used as a classroom example. The exact mean is 25.125, the sum of squared deviations is 144.875, sample variance is 20.69642857… and sample SD is 4.54933276…, which rounds to 4.55 rather than the original deck’s 4.54. Do not round the mean or intermediate squares.</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Retain the exact mean of 25.125 minutes. The table uses exact deviations to three decimal places and exact squared deviations to six decimal places; the final column is in min². Sample variance is 144.875 ÷ 7 and SD is the square root of that quotient. The correctly rounded SD is 4.55 minutes, correcting the 4.54 shown on original Bellerbys slide 15.</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Move to bottle volumes because different average bottle sizes give a clear reason to compare relative variation. These are illustrative measurements with positive volumes and positive means.</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Absolute variation uses the original units; relative variation compares SD with the mean. The bars show mean volumes of 50 and 100 mL, while each short marker represents an SD of 5 mL. These markers do not indicate a maximum error, a guaranteed range or a percentage of bottles.</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 Coefficient of variation: https://www.itl.nist.gov/div898/software/dataplot/refman2/auxillar/coefvari.htm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Read the full name, coefficient of variation, before using CV. Model 5 ÷ 50 × 100% = 10%, then let students calculate 5 ÷ 100 × 100% = 5%; show both population and sample forms. Use measurements with a meaningful zero and a positive mean away from zero, such as volume; CV is not appropriate for comparisons using Celsius or Fahrenheit temperatures. Reference: https://www.itl.nist.gov/div898/software/dataplot/refman2/auxillar/coefvari.htm</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 Coefficient of variation: https://www.itl.nist.gov/div898/software/dataplot/refman2/auxillar/coefvari.htm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sample mean is 137.5 mL and sample SD is 4.4 mL, giving CV = 3.2%. Ask students to identify the SD as the numerator before substituting. Do not apply another n − 1 adjustment: the sample SD has already been supplied.</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 Coefficient of variation: https://www.itl.nist.gov/div898/software/dataplot/refman2/auxillar/coefvari.htm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SD is 3.2% of the mean. This is not the percentage of defective bottles or a normal-distribution coverage probability. Briefly confirm that the earlier 100 mL example has CV = 5%.</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 Coefficient of variation: https://www.itl.nist.gov/div898/software/dataplot/refman2/auxillar/coefvari.htm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4 minutes. The small-bottle CV is 2.7353178…% and the large-bottle CV is 2.5461404…%; round the final percentages to two decimal places. Small bottles have the lower SD in mL, while large bottles have lower relative variation. The sample SDs are already provided, so no additional sample-size divisor is needed.</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 Coefficient of variation: https://www.itl.nist.gov/div898/software/dataplot/refman2/auxillar/coefvari.htm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Small bottles have lower absolute spread because 6.8 mL is less than 18.9 mL. Large bottles have lower relative variation because 2.55% is less than 2.74%. Judging filling accuracy also requires the target volume; CV alone does not establish overall quality.</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 Coefficient of variation: https://www.itl.nist.gov/div898/software/dataplot/refman2/auxillar/coefvari.htm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section covers the kurtosis topic on original Bellerbys slide 20. Introduce tails and the normal reference before naming kurtosis. Students interpret the concept; they do not calculate fourth moments.</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 Kurtosis and tails: https://www.itl.nist.gov/div898/handbook/eda/section3/eda35b.htm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Tails are the outer regions containing unusually low or high values. The reference graph is symmetric and normal, with mean 50 and SD 10. Recall that skewness concerns left–right asymmetry. Do not introduce normal probabilities or the 68–95–99.7 rule here.</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 Kurtosis and tails: https://www.itl.nist.gov/div898/handbook/eda/section3/eda35b.htm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 ordinary kurtosis convention: the normal reference has kurtosis 3, and all numerical kurtosis values in this lesson are supplied rather than calculated by students. A mesokurtic value does not prove normality, and peak height alone cannot determine kurtosis; focus on the contribution of extreme values relative to spread. Teacher background only: some software uses excess kurtosis, whose normal benchmark is 0; do not add that alternative convention to this student lesson. Reference: https://www.itl.nist.gov/div898/handbook/eda/section3/eda35b.htm</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 Kurtosis and tails: https://www.itl.nist.gov/div898/handbook/eda/section3/eda35b.htm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plotted examples are P: normal, Q: standardised Laplace and R: uniform, all with mean 50 and SD 10. Their supplied ordinary kurtosis values are 3, 6 and 1.8 respectively; the tail enlargements use identical scales. Ask students to identify Q as having the greatest far-tail weight and explain their answer using the graphs. All three are symmetric, yet their tail patterns differ despite equal SDs.</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 Kurtosis and tails: https://www.itl.nist.gov/div898/handbook/eda/section3/eda35b.htm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 has greater extreme-value influence and ordinary kurtosis 6; P is the normal reference with kurtosis 3; R is uniform with kurtosis 1.8. These values are given, not calculated in class, and the plotted distributions have been matched for mean and SD. Equal SD does not determine the full distribution shape: skewness concerns asymmetry, while kurtosis concerns extreme-value influence relative to spread. Keep the student explanation in the ordinary kurtosis convention and do not introduce software excess kurtosis here.</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 Kurtosis and tails: https://www.itl.nist.gov/div898/handbook/eda/section3/eda35b.htm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5 minutes for independent work on this new random sample of 10 customers from a larger population. Sample variance is 90 ÷ (10 − 1) = 10 min² and SD is √10 ≈ 3.16 minutes. A wait of 19 minutes has deviation 19 − 24 = −5 minutes, meaning five minutes below the sample mean. Individual deviations can differ; SD does not give every observation’s distance from the mean. There is no CV calculation here because B3b already assesses it.</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core lesson ends at slide 43; the following two slides are optional and outside the 90-minute plan. Confirm the exit-check results: variance 10 min², SD about 3.16 minutes and deviation −5 minutes. Class C has a 60-minute workshop before the final 30 minutes reserved for FA1. The main mathematical source is the original Bellerbys Week 3 lecture, with explanations adapted from Sullivan section 3.2 and Larson section 2.4.</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optional challenge is outside the core 90-minute lesson. It is adapted from Larson and Farber, Elementary Statistics: Picturing the World, 9th edition, section 2.4, Exercise 30 on printed page 94. Six observations have mean 7 and sample SD 2; the missing values are 4 and 10. This replaces the obsolete gym-dataset callback.</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 Reverse problem adapted from Larson and Farber, Elementary Statistics: Picturing the World, 9th edition, section 2.4, exercise 30, printed page 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mean gives a total of 6 × 7 = 42; the known values total 28, so the missing values must sum to 14 and lie equally far on opposite sides of 7. Let d be the nonnegative distance of either missing value from the mean: the two values are 7 − d and 7 + d. Sample SD 2 gives a total squared-deviation sum of (6 − 1) × 2² = 20; the known observations contribute 2, leaving 18. Therefore 2d² = 18, so d = 3 and the missing values are 4 and 10. Check that 6, 7, 7, 8, 4 and 10 have mean 7 and sample SD 2.</a:t>
            </a:r>
          </a:p>
          <a:p>
            <a:endParaRPr/>
          </a:p>
          <a:p>
            <a:r>
              <a:t>Sources: User-provided IFY_Statistics_Week_3_Class_B(1).pptx for the original Bellerbys theme, layouts, photography and instructional figures. Statistics Week 3 Lecture(1).pptx for content scope and the eight-value sample exercise. Other numerical examples are illustrative classroom data. Reverse problem adapted from Larson and Farber, Elementary Statistics: Picturing the World, 9th edition, section 2.4, exercise 30, printed page 94.</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 Edi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der 3">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4">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vider 5">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1ACC0-FA9B-1A8A-0C04-2308327E59B3}"/>
              </a:ext>
            </a:extLst>
          </p:cNvPr>
          <p:cNvSpPr>
            <a:spLocks noGrp="1"/>
          </p:cNvSpPr>
          <p:nvPr>
            <p:ph type="ctrTitle"/>
          </p:nvPr>
        </p:nvSpPr>
        <p:spPr>
          <a:xfrm>
            <a:off x="455689" y="1683678"/>
            <a:ext cx="9711351"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Image divider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2154458"/>
            <a:ext cx="5012602" cy="2387600"/>
          </a:xfrm>
        </p:spPr>
        <p:txBody>
          <a:bodyPr anchor="ctr">
            <a:normAutofit/>
          </a:bodyPr>
          <a:lstStyle>
            <a:lvl1pPr algn="l">
              <a:buNone/>
              <a:defRPr sz="5400">
                <a:solidFill>
                  <a:schemeClr val="bg1"/>
                </a:solidFill>
              </a:defRPr>
            </a:lvl1pPr>
          </a:lstStyle>
          <a:p>
            <a:r>
              <a:t>Click to edit Master title style</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divider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8D414EE0-1AFC-779B-28F3-92E97752B8DC}"/>
              </a:ext>
            </a:extLst>
          </p:cNvPr>
          <p:cNvSpPr>
            <a:spLocks noGrp="1"/>
          </p:cNvSpPr>
          <p:nvPr>
            <p:ph type="ctrTitle"/>
          </p:nvPr>
        </p:nvSpPr>
        <p:spPr>
          <a:xfrm>
            <a:off x="356102" y="1384914"/>
            <a:ext cx="5012602" cy="2387600"/>
          </a:xfrm>
        </p:spPr>
        <p:txBody>
          <a:bodyPr anchor="ctr">
            <a:normAutofit/>
          </a:bodyPr>
          <a:lstStyle>
            <a:lvl1pPr algn="l">
              <a:buNone/>
              <a:defRPr sz="5400">
                <a:solidFill>
                  <a:schemeClr val="tx1"/>
                </a:solidFill>
              </a:defRPr>
            </a:lvl1pPr>
          </a:lstStyle>
          <a:p>
            <a:r>
              <a:t>Click to edit Master title style</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ext and image 1">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ext and image 2">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337079"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337079"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Text and logos">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112934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11293444" cy="4330731"/>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1B27F821-23A1-E30C-4CF7-BCB0A54C884C}"/>
              </a:ext>
            </a:extLst>
          </p:cNvPr>
          <p:cNvSpPr>
            <a:spLocks noGrp="1"/>
          </p:cNvSpPr>
          <p:nvPr>
            <p:ph idx="2"/>
          </p:nvPr>
        </p:nvSpPr>
        <p:spPr>
          <a:xfrm>
            <a:off x="6172200" y="1979534"/>
            <a:ext cx="555203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3" y="1979534"/>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Content Placeholder 2">
            <a:extLst>
              <a:ext uri="{FF2B5EF4-FFF2-40B4-BE49-F238E27FC236}">
                <a16:creationId xmlns:a16="http://schemas.microsoft.com/office/drawing/2014/main" id="{39B8B3E1-3E22-853B-33F7-08DB9B6F05C9}"/>
              </a:ext>
            </a:extLst>
          </p:cNvPr>
          <p:cNvSpPr>
            <a:spLocks noGrp="1"/>
          </p:cNvSpPr>
          <p:nvPr>
            <p:ph idx="10"/>
          </p:nvPr>
        </p:nvSpPr>
        <p:spPr>
          <a:xfrm>
            <a:off x="4293873" y="1989591"/>
            <a:ext cx="360425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6" name="Content Placeholder 2">
            <a:extLst>
              <a:ext uri="{FF2B5EF4-FFF2-40B4-BE49-F238E27FC236}">
                <a16:creationId xmlns:a16="http://schemas.microsoft.com/office/drawing/2014/main" id="{03F7CAF5-096C-F6FE-105D-033F35B064E8}"/>
              </a:ext>
            </a:extLst>
          </p:cNvPr>
          <p:cNvSpPr>
            <a:spLocks noGrp="1"/>
          </p:cNvSpPr>
          <p:nvPr>
            <p:ph idx="11"/>
          </p:nvPr>
        </p:nvSpPr>
        <p:spPr>
          <a:xfrm>
            <a:off x="8119985" y="1979534"/>
            <a:ext cx="3604253"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Text and stat slid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8150498"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8150498"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Text and testimonial">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4099-9C34-5CE8-8387-557FDF013767}"/>
              </a:ext>
            </a:extLst>
          </p:cNvPr>
          <p:cNvSpPr>
            <a:spLocks noGrp="1"/>
          </p:cNvSpPr>
          <p:nvPr>
            <p:ph type="title"/>
          </p:nvPr>
        </p:nvSpPr>
        <p:spPr>
          <a:xfrm>
            <a:off x="430794" y="1023042"/>
            <a:ext cx="7411944" cy="794395"/>
          </a:xfrm>
        </p:spPr>
        <p:txBody>
          <a:bodyPr/>
          <a:lstStyle/>
          <a:p>
            <a:r>
              <a:t>Click to edit Master title style</a:t>
            </a:r>
          </a:p>
        </p:txBody>
      </p:sp>
      <p:sp>
        <p:nvSpPr>
          <p:cNvPr id="3" name="Content Placeholder 2">
            <a:extLst>
              <a:ext uri="{FF2B5EF4-FFF2-40B4-BE49-F238E27FC236}">
                <a16:creationId xmlns:a16="http://schemas.microsoft.com/office/drawing/2014/main" id="{A650C284-DB54-6B3A-BB08-EAFB44027DBF}"/>
              </a:ext>
            </a:extLst>
          </p:cNvPr>
          <p:cNvSpPr>
            <a:spLocks noGrp="1"/>
          </p:cNvSpPr>
          <p:nvPr>
            <p:ph idx="1"/>
          </p:nvPr>
        </p:nvSpPr>
        <p:spPr>
          <a:xfrm>
            <a:off x="430794" y="1952374"/>
            <a:ext cx="7411944"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Column with Imag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F2DCDF-5CC4-CB00-9A72-4FA0DB40B207}"/>
              </a:ext>
            </a:extLst>
          </p:cNvPr>
          <p:cNvSpPr>
            <a:spLocks noGrp="1"/>
          </p:cNvSpPr>
          <p:nvPr>
            <p:ph idx="1"/>
          </p:nvPr>
        </p:nvSpPr>
        <p:spPr>
          <a:xfrm>
            <a:off x="430794" y="1979534"/>
            <a:ext cx="5589006"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5" name="Picture Placeholder 4">
            <a:extLst>
              <a:ext uri="{FF2B5EF4-FFF2-40B4-BE49-F238E27FC236}">
                <a16:creationId xmlns:a16="http://schemas.microsoft.com/office/drawing/2014/main" id="{1D4466F3-6EF4-7C6C-700F-D82BD03B0915}"/>
              </a:ext>
            </a:extLst>
          </p:cNvPr>
          <p:cNvSpPr>
            <a:spLocks noGrp="1"/>
          </p:cNvSpPr>
          <p:nvPr>
            <p:ph type="pic" idx="10"/>
          </p:nvPr>
        </p:nvSpPr>
        <p:spPr>
          <a:xfrm>
            <a:off x="6096000" y="1979613"/>
            <a:ext cx="5627688" cy="4351337"/>
          </a:xfrm>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hart">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4" name="Chart Placeholder 3">
            <a:extLst>
              <a:ext uri="{FF2B5EF4-FFF2-40B4-BE49-F238E27FC236}">
                <a16:creationId xmlns:a16="http://schemas.microsoft.com/office/drawing/2014/main" id="{06F8C7EE-44FF-25E2-FD85-4A9A4E59F43C}"/>
              </a:ext>
            </a:extLst>
          </p:cNvPr>
          <p:cNvSpPr>
            <a:spLocks noGrp="1"/>
          </p:cNvSpPr>
          <p:nvPr>
            <p:ph type="chart" idx="10"/>
          </p:nvPr>
        </p:nvSpPr>
        <p:spPr>
          <a:xfrm>
            <a:off x="430213" y="1928813"/>
            <a:ext cx="11293475" cy="4354512"/>
          </a:xfrm>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le">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FF4A5FE2-7F9A-3783-1BA6-A18388F5F178}"/>
              </a:ext>
            </a:extLst>
          </p:cNvPr>
          <p:cNvSpPr>
            <a:spLocks noGrp="1"/>
          </p:cNvSpPr>
          <p:nvPr>
            <p:ph type="title"/>
          </p:nvPr>
        </p:nvSpPr>
        <p:spPr>
          <a:xfrm>
            <a:off x="430794" y="1023042"/>
            <a:ext cx="11293444" cy="794395"/>
          </a:xfrm>
        </p:spPr>
        <p:txBody>
          <a:bodyPr/>
          <a:lstStyle/>
          <a:p>
            <a:r>
              <a:t>Click to edit Master title style</a:t>
            </a:r>
          </a:p>
        </p:txBody>
      </p:sp>
      <p:sp>
        <p:nvSpPr>
          <p:cNvPr id="3" name="Table Placeholder 2">
            <a:extLst>
              <a:ext uri="{FF2B5EF4-FFF2-40B4-BE49-F238E27FC236}">
                <a16:creationId xmlns:a16="http://schemas.microsoft.com/office/drawing/2014/main" id="{9F2E8F34-9DD5-6734-21E2-9B7CCAD9F297}"/>
              </a:ext>
            </a:extLst>
          </p:cNvPr>
          <p:cNvSpPr>
            <a:spLocks noGrp="1"/>
          </p:cNvSpPr>
          <p:nvPr>
            <p:ph type="tbl" idx="10"/>
          </p:nvPr>
        </p:nvSpPr>
        <p:spPr>
          <a:xfrm>
            <a:off x="430213" y="1919288"/>
            <a:ext cx="11293475" cy="4391025"/>
          </a:xfrm>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hank You">
    <p:bg>
      <p:bgPr>
        <a:blipFill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8C7BB9-ED14-2EE7-B747-6D3AC509C6F7}"/>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FC5B5F42-1935-63EA-A56F-BCFFCC5F384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4A4FD98-5FB3-0F33-190B-F09E379EA8D3}"/>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577B4DDA-DC7A-BA44-95F8-6F5B47B98114}" type="datetimeFigureOut">
              <a:t>9/27/26</a:t>
            </a:fld>
            <a:endParaRPr/>
          </a:p>
        </p:txBody>
      </p:sp>
      <p:sp>
        <p:nvSpPr>
          <p:cNvPr id="5" name="Footer Placeholder 4">
            <a:extLst>
              <a:ext uri="{FF2B5EF4-FFF2-40B4-BE49-F238E27FC236}">
                <a16:creationId xmlns:a16="http://schemas.microsoft.com/office/drawing/2014/main" id="{34199F5F-1ACA-4A1A-5173-27733EE45675}"/>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FB4C4A5E-3279-A2E1-BFFA-8259ABF8BC49}"/>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CF9A60C2-D39C-DE40-8B64-BE745D99ECE8}"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xml"/><Relationship Id="rId1" Type="http://schemas.openxmlformats.org/officeDocument/2006/relationships/slideLayout" Target="../slideLayouts/slideLayout15.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xml"/><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5.xml"/><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5.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15.xml"/><Relationship Id="rId5" Type="http://schemas.openxmlformats.org/officeDocument/2006/relationships/image" Target="../media/image33.png"/><Relationship Id="rId4" Type="http://schemas.openxmlformats.org/officeDocument/2006/relationships/image" Target="../media/image32.png"/></Relationships>
</file>

<file path=ppt/slides/_rels/slide1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15.xml"/><Relationship Id="rId5" Type="http://schemas.openxmlformats.org/officeDocument/2006/relationships/image" Target="../media/image37.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5.xml"/><Relationship Id="rId4" Type="http://schemas.openxmlformats.org/officeDocument/2006/relationships/image" Target="../media/image3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9.xml"/><Relationship Id="rId1" Type="http://schemas.openxmlformats.org/officeDocument/2006/relationships/slideLayout" Target="../slideLayouts/slideLayout15.xml"/><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15.xml"/><Relationship Id="rId4" Type="http://schemas.openxmlformats.org/officeDocument/2006/relationships/image" Target="../media/image44.png"/></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15.xml"/><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15.xml"/><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8.xml"/><Relationship Id="rId1" Type="http://schemas.openxmlformats.org/officeDocument/2006/relationships/slideLayout" Target="../slideLayouts/slideLayout15.xml"/><Relationship Id="rId4" Type="http://schemas.openxmlformats.org/officeDocument/2006/relationships/image" Target="../media/image52.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30.xml"/><Relationship Id="rId1" Type="http://schemas.openxmlformats.org/officeDocument/2006/relationships/slideLayout" Target="../slideLayouts/slideLayout15.xml"/><Relationship Id="rId5" Type="http://schemas.openxmlformats.org/officeDocument/2006/relationships/image" Target="../media/image55.png"/><Relationship Id="rId4" Type="http://schemas.openxmlformats.org/officeDocument/2006/relationships/image" Target="../media/image54.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33.xml"/><Relationship Id="rId1" Type="http://schemas.openxmlformats.org/officeDocument/2006/relationships/slideLayout" Target="../slideLayouts/slideLayout15.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s>
</file>

<file path=ppt/slides/_rels/slide34.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4.xml"/><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7.xml"/><Relationship Id="rId1" Type="http://schemas.openxmlformats.org/officeDocument/2006/relationships/slideLayout" Target="../slideLayouts/slideLayout15.xml"/><Relationship Id="rId4" Type="http://schemas.openxmlformats.org/officeDocument/2006/relationships/image" Target="../media/image65.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41.xml"/><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44.xml"/><Relationship Id="rId1" Type="http://schemas.openxmlformats.org/officeDocument/2006/relationships/slideLayout" Target="../slideLayouts/slideLayout15.xml"/><Relationship Id="rId5" Type="http://schemas.openxmlformats.org/officeDocument/2006/relationships/image" Target="../media/image71.png"/><Relationship Id="rId4" Type="http://schemas.openxmlformats.org/officeDocument/2006/relationships/image" Target="../media/image70.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46.xml"/><Relationship Id="rId1" Type="http://schemas.openxmlformats.org/officeDocument/2006/relationships/slideLayout" Target="../slideLayouts/slideLayout15.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0EE20-CE2E-3013-3D7D-3F4166CBDECE}"/>
              </a:ext>
            </a:extLst>
          </p:cNvPr>
          <p:cNvSpPr>
            <a:spLocks noGrp="1"/>
          </p:cNvSpPr>
          <p:nvPr>
            <p:ph type="ctrTitle"/>
          </p:nvPr>
        </p:nvSpPr>
        <p:spPr>
          <a:xfrm>
            <a:off x="356140" y="2154460"/>
            <a:ext cx="5626703" cy="4050411"/>
          </a:xfrm>
        </p:spPr>
        <p:txBody>
          <a:bodyPr wrap="square" lIns="0" tIns="0" rIns="0" bIns="0" anchor="t">
            <a:noAutofit/>
          </a:bodyPr>
          <a:lstStyle/>
          <a:p>
            <a:pPr marL="0" marR="0" indent="0"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IFY Statistics</a:t>
            </a:r>
          </a:p>
          <a:p>
            <a:pPr marL="0" marR="0" indent="0"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Week 3 • Class B</a:t>
            </a:r>
          </a:p>
          <a:p>
            <a:pPr marL="0" marR="0" indent="0">
              <a:buNone/>
            </a:pPr>
            <a:endParaRPr sz="4860" b="0">
              <a:solidFill>
                <a:srgbClr val="FFFFFF"/>
              </a:solidFill>
              <a:latin typeface="Aptos Display"/>
              <a:ea typeface="Aptos Display"/>
              <a:cs typeface="Aptos Display"/>
            </a:endParaRPr>
          </a:p>
          <a:p>
            <a:pPr marL="0" marR="0" indent="0"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Understanding</a:t>
            </a:r>
          </a:p>
          <a:p>
            <a:pPr marL="0" marR="0" indent="0" algn="l">
              <a:buNone/>
              <a:defRPr sz="4860" b="0">
                <a:solidFill>
                  <a:srgbClr val="FFFFFF"/>
                </a:solidFill>
                <a:latin typeface="Aptos Display"/>
                <a:ea typeface="Aptos Display"/>
                <a:cs typeface="Aptos Display"/>
              </a:defRPr>
            </a:pPr>
            <a:r>
              <a:rPr sz="4860" b="0">
                <a:solidFill>
                  <a:srgbClr val="FFFFFF"/>
                </a:solidFill>
                <a:latin typeface="Aptos Display"/>
                <a:ea typeface="Aptos Display"/>
                <a:cs typeface="Aptos Display"/>
              </a:rPr>
              <a:t>variation</a:t>
            </a:r>
          </a:p>
        </p:txBody>
      </p:sp>
    </p:spTree>
    <p:extLst>
      <p:ext uri="{BB962C8B-B14F-4D97-AF65-F5344CB8AC3E}">
        <p14:creationId xmlns:p14="http://schemas.microsoft.com/office/powerpoint/2010/main" val="37422399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Today’s route</a:t>
            </a:r>
          </a:p>
        </p:txBody>
      </p:sp>
      <p:sp>
        <p:nvSpPr>
          <p:cNvPr id="3" name="body">
            <a:extLst>
              <a:ext uri="{FF2B5EF4-FFF2-40B4-BE49-F238E27FC236}">
                <a16:creationId xmlns:a16="http://schemas.microsoft.com/office/drawing/2014/main" id="{BEEF9185-2CED-4622-A1ED-8142BCBBCD73}"/>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Each section includes an example and a chance to practise.</a:t>
            </a:r>
          </a:p>
        </p:txBody>
      </p:sp>
      <p:sp>
        <p:nvSpPr>
          <p:cNvPr id="4" name="body">
            <a:extLst>
              <a:ext uri="{FF2B5EF4-FFF2-40B4-BE49-F238E27FC236}">
                <a16:creationId xmlns:a16="http://schemas.microsoft.com/office/drawing/2014/main" id="{074285AA-3F8C-4F7A-A532-154657D1D37A}"/>
              </a:ext>
            </a:extLst>
          </p:cNvPr>
          <p:cNvSpPr>
            <a:spLocks noGrp="1"/>
          </p:cNvSpPr>
          <p:nvPr/>
        </p:nvSpPr>
        <p:spPr>
          <a:xfrm>
            <a:off x="523875" y="2762250"/>
            <a:ext cx="11144250" cy="49530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1. Deviation</a:t>
            </a:r>
          </a:p>
        </p:txBody>
      </p:sp>
      <p:sp>
        <p:nvSpPr>
          <p:cNvPr id="5" name="body">
            <a:extLst>
              <a:ext uri="{FF2B5EF4-FFF2-40B4-BE49-F238E27FC236}">
                <a16:creationId xmlns:a16="http://schemas.microsoft.com/office/drawing/2014/main" id="{05124F77-C03C-4919-9F0A-446399F27010}"/>
              </a:ext>
            </a:extLst>
          </p:cNvPr>
          <p:cNvSpPr>
            <a:spLocks noGrp="1"/>
          </p:cNvSpPr>
          <p:nvPr/>
        </p:nvSpPr>
        <p:spPr>
          <a:xfrm>
            <a:off x="523875" y="3371850"/>
            <a:ext cx="11144250" cy="49530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dirty="0">
                <a:solidFill>
                  <a:srgbClr val="111111"/>
                </a:solidFill>
                <a:latin typeface="Aptos"/>
                <a:ea typeface="Aptos"/>
                <a:cs typeface="Aptos"/>
              </a:rPr>
              <a:t>2. Variance and standard deviation</a:t>
            </a:r>
          </a:p>
        </p:txBody>
      </p:sp>
      <p:sp>
        <p:nvSpPr>
          <p:cNvPr id="6" name="body">
            <a:extLst>
              <a:ext uri="{FF2B5EF4-FFF2-40B4-BE49-F238E27FC236}">
                <a16:creationId xmlns:a16="http://schemas.microsoft.com/office/drawing/2014/main" id="{852791C2-4749-487D-A2AB-69FB419DF896}"/>
              </a:ext>
            </a:extLst>
          </p:cNvPr>
          <p:cNvSpPr>
            <a:spLocks noGrp="1"/>
          </p:cNvSpPr>
          <p:nvPr/>
        </p:nvSpPr>
        <p:spPr>
          <a:xfrm>
            <a:off x="523875" y="3981450"/>
            <a:ext cx="11144250" cy="49530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3. Population and sample</a:t>
            </a:r>
          </a:p>
        </p:txBody>
      </p:sp>
      <p:sp>
        <p:nvSpPr>
          <p:cNvPr id="7" name="body">
            <a:extLst>
              <a:ext uri="{FF2B5EF4-FFF2-40B4-BE49-F238E27FC236}">
                <a16:creationId xmlns:a16="http://schemas.microsoft.com/office/drawing/2014/main" id="{DCCFF83A-6539-4750-B809-F7D4256C66BC}"/>
              </a:ext>
            </a:extLst>
          </p:cNvPr>
          <p:cNvSpPr>
            <a:spLocks noGrp="1"/>
          </p:cNvSpPr>
          <p:nvPr/>
        </p:nvSpPr>
        <p:spPr>
          <a:xfrm>
            <a:off x="523875" y="4591050"/>
            <a:ext cx="11144250" cy="49530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4. Coefficient of variation</a:t>
            </a:r>
          </a:p>
        </p:txBody>
      </p:sp>
      <p:sp>
        <p:nvSpPr>
          <p:cNvPr id="8" name="body">
            <a:extLst>
              <a:ext uri="{FF2B5EF4-FFF2-40B4-BE49-F238E27FC236}">
                <a16:creationId xmlns:a16="http://schemas.microsoft.com/office/drawing/2014/main" id="{6576C1B2-6285-4F2A-A9E6-998BA50FD6F0}"/>
              </a:ext>
            </a:extLst>
          </p:cNvPr>
          <p:cNvSpPr>
            <a:spLocks noGrp="1"/>
          </p:cNvSpPr>
          <p:nvPr/>
        </p:nvSpPr>
        <p:spPr>
          <a:xfrm>
            <a:off x="523875" y="5200650"/>
            <a:ext cx="11144250" cy="49530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5. Kurtosis and tail patterns</a:t>
            </a:r>
          </a:p>
        </p:txBody>
      </p:sp>
      <p:sp>
        <p:nvSpPr>
          <p:cNvPr id="9" name="body">
            <a:extLst>
              <a:ext uri="{FF2B5EF4-FFF2-40B4-BE49-F238E27FC236}">
                <a16:creationId xmlns:a16="http://schemas.microsoft.com/office/drawing/2014/main" id="{619C549F-8FD0-476E-B3F9-34437B1150F0}"/>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Calculate the result. Explain what it tells us.</a:t>
            </a:r>
          </a:p>
        </p:txBody>
      </p:sp>
    </p:spTree>
    <p:extLst>
      <p:ext uri="{BB962C8B-B14F-4D97-AF65-F5344CB8AC3E}">
        <p14:creationId xmlns:p14="http://schemas.microsoft.com/office/powerpoint/2010/main" val="3281361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Revision: one complete shift</a:t>
            </a:r>
          </a:p>
        </p:txBody>
      </p:sp>
      <p:sp>
        <p:nvSpPr>
          <p:cNvPr id="3" name="body">
            <a:extLst>
              <a:ext uri="{FF2B5EF4-FFF2-40B4-BE49-F238E27FC236}">
                <a16:creationId xmlns:a16="http://schemas.microsoft.com/office/drawing/2014/main" id="{E254C0E7-6257-4BFE-BAB8-6690DBE6DDD3}"/>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These are the waits of all five customers in one shift.</a:t>
            </a:r>
          </a:p>
        </p:txBody>
      </p:sp>
      <p:sp>
        <p:nvSpPr>
          <p:cNvPr id="4" name="body">
            <a:extLst>
              <a:ext uri="{FF2B5EF4-FFF2-40B4-BE49-F238E27FC236}">
                <a16:creationId xmlns:a16="http://schemas.microsoft.com/office/drawing/2014/main" id="{B8EEC4EE-9790-4A75-885C-D543EC35389E}"/>
              </a:ext>
            </a:extLst>
          </p:cNvPr>
          <p:cNvSpPr>
            <a:spLocks noGrp="1"/>
          </p:cNvSpPr>
          <p:nvPr/>
        </p:nvSpPr>
        <p:spPr>
          <a:xfrm>
            <a:off x="523875" y="3000375"/>
            <a:ext cx="5810250" cy="571500"/>
          </a:xfrm>
          <a:prstGeom prst="rect">
            <a:avLst/>
          </a:prstGeom>
          <a:noFill/>
          <a:ln w="0">
            <a:noFill/>
          </a:ln>
        </p:spPr>
        <p:txBody>
          <a:bodyPr wrap="square" lIns="0" tIns="0" rIns="0" bIns="0" anchor="t">
            <a:noAutofit/>
          </a:bodyPr>
          <a:lstStyle/>
          <a:p>
            <a:pPr marL="0" marR="0" indent="0">
              <a:defRPr sz="2550" b="1">
                <a:solidFill>
                  <a:srgbClr val="111111"/>
                </a:solidFill>
                <a:latin typeface="Aptos"/>
                <a:ea typeface="Aptos"/>
                <a:cs typeface="Aptos"/>
              </a:defRPr>
            </a:pPr>
            <a:r>
              <a:rPr sz="2550" b="1">
                <a:solidFill>
                  <a:srgbClr val="111111"/>
                </a:solidFill>
                <a:latin typeface="Aptos"/>
                <a:ea typeface="Aptos"/>
                <a:cs typeface="Aptos"/>
              </a:rPr>
              <a:t>6, 10, 10, 10, 14 minutes</a:t>
            </a:r>
          </a:p>
        </p:txBody>
      </p:sp>
      <p:sp>
        <p:nvSpPr>
          <p:cNvPr id="5" name="body">
            <a:extLst>
              <a:ext uri="{FF2B5EF4-FFF2-40B4-BE49-F238E27FC236}">
                <a16:creationId xmlns:a16="http://schemas.microsoft.com/office/drawing/2014/main" id="{18920B24-D90E-4D18-8F6E-30DDB06E295D}"/>
              </a:ext>
            </a:extLst>
          </p:cNvPr>
          <p:cNvSpPr>
            <a:spLocks noGrp="1"/>
          </p:cNvSpPr>
          <p:nvPr/>
        </p:nvSpPr>
        <p:spPr>
          <a:xfrm>
            <a:off x="523875" y="4000500"/>
            <a:ext cx="5715000" cy="742950"/>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1. Find the mean and range.</a:t>
            </a:r>
          </a:p>
        </p:txBody>
      </p:sp>
      <p:sp>
        <p:nvSpPr>
          <p:cNvPr id="6" name="body">
            <a:extLst>
              <a:ext uri="{FF2B5EF4-FFF2-40B4-BE49-F238E27FC236}">
                <a16:creationId xmlns:a16="http://schemas.microsoft.com/office/drawing/2014/main" id="{57AF528B-4847-4110-AE2F-B4BFD4498CA7}"/>
              </a:ext>
            </a:extLst>
          </p:cNvPr>
          <p:cNvSpPr>
            <a:spLocks noGrp="1"/>
          </p:cNvSpPr>
          <p:nvPr/>
        </p:nvSpPr>
        <p:spPr>
          <a:xfrm>
            <a:off x="523875" y="4857750"/>
            <a:ext cx="5715000" cy="742950"/>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2. Population or sample</a:t>
            </a:r>
          </a:p>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    for this shift? Explain.</a:t>
            </a:r>
          </a:p>
        </p:txBody>
      </p:sp>
      <p:sp>
        <p:nvSpPr>
          <p:cNvPr id="7" name="body">
            <a:extLst>
              <a:ext uri="{FF2B5EF4-FFF2-40B4-BE49-F238E27FC236}">
                <a16:creationId xmlns:a16="http://schemas.microsoft.com/office/drawing/2014/main" id="{4B632404-438B-4BCC-A78E-ADBAC99BFCA9}"/>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Our target group is the customers in this particular shift.</a:t>
            </a:r>
          </a:p>
        </p:txBody>
      </p:sp>
      <p:sp>
        <p:nvSpPr>
          <p:cNvPr id="8"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REVISION</a:t>
            </a:r>
          </a:p>
        </p:txBody>
      </p:sp>
      <p:pic>
        <p:nvPicPr>
          <p:cNvPr id="9" name="Picture 13"/>
          <p:cNvPicPr>
            <a:picLocks noChangeAspect="1"/>
          </p:cNvPicPr>
          <p:nvPr/>
        </p:nvPicPr>
        <p:blipFill>
          <a:blip r:embed="rId3"/>
          <a:srcRect l="967" t="20718" r="68646" b="27624"/>
          <a:stretch/>
        </p:blipFill>
        <p:spPr>
          <a:xfrm>
            <a:off x="6479762" y="2905125"/>
            <a:ext cx="4756880" cy="2695575"/>
          </a:xfrm>
          <a:prstGeom prst="rect">
            <a:avLst/>
          </a:prstGeom>
        </p:spPr>
      </p:pic>
    </p:spTree>
    <p:extLst>
      <p:ext uri="{BB962C8B-B14F-4D97-AF65-F5344CB8AC3E}">
        <p14:creationId xmlns:p14="http://schemas.microsoft.com/office/powerpoint/2010/main" val="32813612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Revision: check your answers</a:t>
            </a:r>
          </a:p>
        </p:txBody>
      </p:sp>
      <p:sp>
        <p:nvSpPr>
          <p:cNvPr id="3" name="body">
            <a:extLst>
              <a:ext uri="{FF2B5EF4-FFF2-40B4-BE49-F238E27FC236}">
                <a16:creationId xmlns:a16="http://schemas.microsoft.com/office/drawing/2014/main" id="{F5BF682D-B313-49B9-AB8D-E5461035BDD8}"/>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Mean describes the average. Range uses the two endpoints.</a:t>
            </a:r>
          </a:p>
        </p:txBody>
      </p:sp>
      <p:pic>
        <p:nvPicPr>
          <p:cNvPr id="4" name="Picture 3"/>
          <p:cNvPicPr>
            <a:picLocks noChangeAspect="1"/>
          </p:cNvPicPr>
          <p:nvPr/>
        </p:nvPicPr>
        <p:blipFill>
          <a:blip r:embed="rId3"/>
          <a:stretch/>
        </p:blipFill>
        <p:spPr>
          <a:xfrm>
            <a:off x="2348974" y="2905125"/>
            <a:ext cx="7303552" cy="838200"/>
          </a:xfrm>
          <a:prstGeom prst="rect">
            <a:avLst/>
          </a:prstGeom>
        </p:spPr>
      </p:pic>
      <p:pic>
        <p:nvPicPr>
          <p:cNvPr id="5" name="Picture 4"/>
          <p:cNvPicPr>
            <a:picLocks noChangeAspect="1"/>
          </p:cNvPicPr>
          <p:nvPr/>
        </p:nvPicPr>
        <p:blipFill>
          <a:blip r:embed="rId4"/>
          <a:stretch/>
        </p:blipFill>
        <p:spPr>
          <a:xfrm>
            <a:off x="3280694" y="4238625"/>
            <a:ext cx="5725862" cy="666750"/>
          </a:xfrm>
          <a:prstGeom prst="rect">
            <a:avLst/>
          </a:prstGeom>
        </p:spPr>
      </p:pic>
      <p:sp>
        <p:nvSpPr>
          <p:cNvPr id="6" name="body">
            <a:extLst>
              <a:ext uri="{FF2B5EF4-FFF2-40B4-BE49-F238E27FC236}">
                <a16:creationId xmlns:a16="http://schemas.microsoft.com/office/drawing/2014/main" id="{CB21EDC2-037C-40EC-9D4D-62B481D4DCC0}"/>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Population: every customer in the target shift is included.</a:t>
            </a:r>
          </a:p>
        </p:txBody>
      </p:sp>
      <p:sp>
        <p:nvSpPr>
          <p:cNvPr id="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REVISION ANSWERS</a:t>
            </a:r>
          </a:p>
        </p:txBody>
      </p:sp>
      <p:pic>
        <p:nvPicPr>
          <p:cNvPr id="9" name="Picture 8">
            <a:extLst>
              <a:ext uri="{FF2B5EF4-FFF2-40B4-BE49-F238E27FC236}">
                <a16:creationId xmlns:a16="http://schemas.microsoft.com/office/drawing/2014/main" id="{8E5A0930-023F-2182-0180-1FF7B680F91C}"/>
              </a:ext>
            </a:extLst>
          </p:cNvPr>
          <p:cNvPicPr>
            <a:picLocks noChangeAspect="1"/>
          </p:cNvPicPr>
          <p:nvPr/>
        </p:nvPicPr>
        <p:blipFill>
          <a:blip r:embed="rId5"/>
          <a:srcRect/>
          <a:stretch>
            <a:fillRect/>
          </a:stretch>
        </p:blipFill>
        <p:spPr>
          <a:xfrm>
            <a:off x="385272" y="2905125"/>
            <a:ext cx="647790" cy="1000263"/>
          </a:xfrm>
          <a:prstGeom prst="rect">
            <a:avLst/>
          </a:prstGeom>
        </p:spPr>
      </p:pic>
      <p:pic>
        <p:nvPicPr>
          <p:cNvPr id="11" name="Picture 10">
            <a:extLst>
              <a:ext uri="{FF2B5EF4-FFF2-40B4-BE49-F238E27FC236}">
                <a16:creationId xmlns:a16="http://schemas.microsoft.com/office/drawing/2014/main" id="{71743F2A-C93C-8459-6786-9D76D176A0CB}"/>
              </a:ext>
            </a:extLst>
          </p:cNvPr>
          <p:cNvPicPr>
            <a:picLocks noChangeAspect="1"/>
          </p:cNvPicPr>
          <p:nvPr/>
        </p:nvPicPr>
        <p:blipFill>
          <a:blip r:embed="rId6"/>
          <a:srcRect/>
          <a:stretch>
            <a:fillRect/>
          </a:stretch>
        </p:blipFill>
        <p:spPr>
          <a:xfrm>
            <a:off x="261430" y="3781352"/>
            <a:ext cx="771632" cy="1047896"/>
          </a:xfrm>
          <a:prstGeom prst="rect">
            <a:avLst/>
          </a:prstGeom>
        </p:spPr>
      </p:pic>
      <p:cxnSp>
        <p:nvCxnSpPr>
          <p:cNvPr id="13" name="Straight Arrow Connector 12">
            <a:extLst>
              <a:ext uri="{FF2B5EF4-FFF2-40B4-BE49-F238E27FC236}">
                <a16:creationId xmlns:a16="http://schemas.microsoft.com/office/drawing/2014/main" id="{308ECB46-DA5D-8C4F-C7C6-06241617E377}"/>
              </a:ext>
            </a:extLst>
          </p:cNvPr>
          <p:cNvCxnSpPr>
            <a:cxnSpLocks/>
          </p:cNvCxnSpPr>
          <p:nvPr/>
        </p:nvCxnSpPr>
        <p:spPr>
          <a:xfrm flipV="1">
            <a:off x="1085373" y="3498112"/>
            <a:ext cx="1263601" cy="4890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366A2938-5084-4853-5FFE-A1A9755B5A9D}"/>
              </a:ext>
            </a:extLst>
          </p:cNvPr>
          <p:cNvSpPr txBox="1"/>
          <p:nvPr/>
        </p:nvSpPr>
        <p:spPr>
          <a:xfrm>
            <a:off x="1541721" y="3405256"/>
            <a:ext cx="372140" cy="369332"/>
          </a:xfrm>
          <a:prstGeom prst="rect">
            <a:avLst/>
          </a:prstGeom>
          <a:noFill/>
        </p:spPr>
        <p:txBody>
          <a:bodyPr wrap="square" rtlCol="0">
            <a:spAutoFit/>
          </a:bodyPr>
          <a:lstStyle/>
          <a:p>
            <a:r>
              <a:rPr lang="en-US" dirty="0"/>
              <a:t>?</a:t>
            </a:r>
          </a:p>
        </p:txBody>
      </p:sp>
    </p:spTree>
    <p:extLst>
      <p:ext uri="{BB962C8B-B14F-4D97-AF65-F5344CB8AC3E}">
        <p14:creationId xmlns:p14="http://schemas.microsoft.com/office/powerpoint/2010/main" val="32813612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235" y="2238375"/>
            <a:ext cx="5953125" cy="2705100"/>
          </a:xfrm>
        </p:spPr>
        <p:txBody>
          <a:bodyPr wrap="square" lIns="0" tIns="0" rIns="0" bIns="0" anchor="t">
            <a:noAutofit/>
          </a:bodyPr>
          <a:lstStyle/>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Section 1:</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Deviation</a:t>
            </a:r>
          </a:p>
        </p:txBody>
      </p:sp>
      <p:sp>
        <p:nvSpPr>
          <p:cNvPr id="3" name="divider-question">
            <a:extLst>
              <a:ext uri="{FF2B5EF4-FFF2-40B4-BE49-F238E27FC236}">
                <a16:creationId xmlns:a16="http://schemas.microsoft.com/office/drawing/2014/main" id="{76ABBBFB-E24B-4E49-86F0-648B673E549E}"/>
              </a:ext>
            </a:extLst>
          </p:cNvPr>
          <p:cNvSpPr>
            <a:spLocks noGrp="1"/>
          </p:cNvSpPr>
          <p:nvPr/>
        </p:nvSpPr>
        <p:spPr>
          <a:xfrm>
            <a:off x="428625" y="5200650"/>
            <a:ext cx="5715000" cy="1028700"/>
          </a:xfrm>
          <a:prstGeom prst="rect">
            <a:avLst/>
          </a:prstGeom>
          <a:noFill/>
          <a:ln w="0">
            <a:noFill/>
          </a:ln>
        </p:spPr>
        <p:txBody>
          <a:bodyPr wrap="square" lIns="0" tIns="0" rIns="0" bIns="0" anchor="t">
            <a:noAutofit/>
          </a:bodyPr>
          <a:lstStyle/>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How far above or below the mean</a:t>
            </a:r>
          </a:p>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is one observation?</a:t>
            </a:r>
          </a:p>
        </p:txBody>
      </p:sp>
    </p:spTree>
    <p:extLst>
      <p:ext uri="{BB962C8B-B14F-4D97-AF65-F5344CB8AC3E}">
        <p14:creationId xmlns:p14="http://schemas.microsoft.com/office/powerpoint/2010/main" val="3281361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dirty="0">
                <a:solidFill>
                  <a:srgbClr val="111111"/>
                </a:solidFill>
                <a:latin typeface="Aptos Display"/>
                <a:ea typeface="Aptos Display"/>
                <a:cs typeface="Aptos Display"/>
              </a:rPr>
              <a:t>Same mean, same range</a:t>
            </a:r>
          </a:p>
        </p:txBody>
      </p:sp>
      <p:sp>
        <p:nvSpPr>
          <p:cNvPr id="3" name="body">
            <a:extLst>
              <a:ext uri="{FF2B5EF4-FFF2-40B4-BE49-F238E27FC236}">
                <a16:creationId xmlns:a16="http://schemas.microsoft.com/office/drawing/2014/main" id="{4EAC5517-5F9D-4F09-8E27-484E943E7EDB}"/>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Variation, or dispersion, describes how spread out values are.</a:t>
            </a:r>
          </a:p>
        </p:txBody>
      </p:sp>
      <p:pic>
        <p:nvPicPr>
          <p:cNvPr id="4" name="Picture 3"/>
          <p:cNvPicPr>
            <a:picLocks noChangeAspect="1"/>
          </p:cNvPicPr>
          <p:nvPr/>
        </p:nvPicPr>
        <p:blipFill>
          <a:blip r:embed="rId3"/>
          <a:stretch/>
        </p:blipFill>
        <p:spPr>
          <a:xfrm>
            <a:off x="619125" y="2857500"/>
            <a:ext cx="10953750" cy="2486025"/>
          </a:xfrm>
          <a:prstGeom prst="rect">
            <a:avLst/>
          </a:prstGeom>
        </p:spPr>
      </p:pic>
      <p:sp>
        <p:nvSpPr>
          <p:cNvPr id="5" name="body">
            <a:extLst>
              <a:ext uri="{FF2B5EF4-FFF2-40B4-BE49-F238E27FC236}">
                <a16:creationId xmlns:a16="http://schemas.microsoft.com/office/drawing/2014/main" id="{014EE425-A80B-4BFE-AB8E-AE841C73ACB3}"/>
              </a:ext>
            </a:extLst>
          </p:cNvPr>
          <p:cNvSpPr>
            <a:spLocks noGrp="1"/>
          </p:cNvSpPr>
          <p:nvPr/>
        </p:nvSpPr>
        <p:spPr>
          <a:xfrm>
            <a:off x="523875" y="5591175"/>
            <a:ext cx="11144250" cy="552450"/>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Which shift is more consistent? Use the dots to explain.</a:t>
            </a:r>
          </a:p>
        </p:txBody>
      </p:sp>
    </p:spTree>
    <p:extLst>
      <p:ext uri="{BB962C8B-B14F-4D97-AF65-F5344CB8AC3E}">
        <p14:creationId xmlns:p14="http://schemas.microsoft.com/office/powerpoint/2010/main" val="3281361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Above or below the mean?</a:t>
            </a:r>
          </a:p>
        </p:txBody>
      </p:sp>
      <p:sp>
        <p:nvSpPr>
          <p:cNvPr id="3" name="body">
            <a:extLst>
              <a:ext uri="{FF2B5EF4-FFF2-40B4-BE49-F238E27FC236}">
                <a16:creationId xmlns:a16="http://schemas.microsoft.com/office/drawing/2014/main" id="{99BE6F5E-88EE-405F-8ACF-C4A15A467AEA}"/>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 mean waiting time is 10 minutes.</a:t>
            </a:r>
          </a:p>
        </p:txBody>
      </p:sp>
      <p:pic>
        <p:nvPicPr>
          <p:cNvPr id="4" name="Picture 3"/>
          <p:cNvPicPr>
            <a:picLocks noChangeAspect="1"/>
          </p:cNvPicPr>
          <p:nvPr/>
        </p:nvPicPr>
        <p:blipFill>
          <a:blip r:embed="rId3"/>
          <a:stretch/>
        </p:blipFill>
        <p:spPr>
          <a:xfrm>
            <a:off x="619125" y="2857500"/>
            <a:ext cx="10953750" cy="2381250"/>
          </a:xfrm>
          <a:prstGeom prst="rect">
            <a:avLst/>
          </a:prstGeom>
        </p:spPr>
      </p:pic>
      <p:sp>
        <p:nvSpPr>
          <p:cNvPr id="5" name="body">
            <a:extLst>
              <a:ext uri="{FF2B5EF4-FFF2-40B4-BE49-F238E27FC236}">
                <a16:creationId xmlns:a16="http://schemas.microsoft.com/office/drawing/2014/main" id="{55632756-4515-482B-9E22-803FCB0559A2}"/>
              </a:ext>
            </a:extLst>
          </p:cNvPr>
          <p:cNvSpPr>
            <a:spLocks noGrp="1"/>
          </p:cNvSpPr>
          <p:nvPr/>
        </p:nvSpPr>
        <p:spPr>
          <a:xfrm>
            <a:off x="523875" y="5610225"/>
            <a:ext cx="11144250" cy="523875"/>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Describe the direction first. Then calculate the difference.</a:t>
            </a:r>
          </a:p>
        </p:txBody>
      </p:sp>
    </p:spTree>
    <p:extLst>
      <p:ext uri="{BB962C8B-B14F-4D97-AF65-F5344CB8AC3E}">
        <p14:creationId xmlns:p14="http://schemas.microsoft.com/office/powerpoint/2010/main" val="32813612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dirty="0">
                <a:solidFill>
                  <a:srgbClr val="111111"/>
                </a:solidFill>
                <a:latin typeface="Aptos Display"/>
                <a:ea typeface="Aptos Display"/>
                <a:cs typeface="Aptos Display"/>
              </a:rPr>
              <a:t>Deviation: one value and the mean</a:t>
            </a:r>
          </a:p>
        </p:txBody>
      </p:sp>
      <p:sp>
        <p:nvSpPr>
          <p:cNvPr id="3" name="body">
            <a:extLst>
              <a:ext uri="{FF2B5EF4-FFF2-40B4-BE49-F238E27FC236}">
                <a16:creationId xmlns:a16="http://schemas.microsoft.com/office/drawing/2014/main" id="{94124D95-34A8-433B-83E0-52B77C95BEF3}"/>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A deviation is one observation minus the mean.</a:t>
            </a:r>
          </a:p>
        </p:txBody>
      </p:sp>
      <p:pic>
        <p:nvPicPr>
          <p:cNvPr id="4" name="Picture 3"/>
          <p:cNvPicPr>
            <a:picLocks noChangeAspect="1"/>
          </p:cNvPicPr>
          <p:nvPr/>
        </p:nvPicPr>
        <p:blipFill>
          <a:blip r:embed="rId3"/>
          <a:stretch/>
        </p:blipFill>
        <p:spPr>
          <a:xfrm>
            <a:off x="2251264" y="2838450"/>
            <a:ext cx="7594221" cy="619125"/>
          </a:xfrm>
          <a:prstGeom prst="rect">
            <a:avLst/>
          </a:prstGeom>
        </p:spPr>
      </p:pic>
      <p:pic>
        <p:nvPicPr>
          <p:cNvPr id="5" name="Picture 4"/>
          <p:cNvPicPr>
            <a:picLocks noChangeAspect="1"/>
          </p:cNvPicPr>
          <p:nvPr/>
        </p:nvPicPr>
        <p:blipFill>
          <a:blip r:embed="rId4"/>
          <a:stretch/>
        </p:blipFill>
        <p:spPr>
          <a:xfrm>
            <a:off x="946995" y="4124325"/>
            <a:ext cx="4297261" cy="685800"/>
          </a:xfrm>
          <a:prstGeom prst="rect">
            <a:avLst/>
          </a:prstGeom>
        </p:spPr>
      </p:pic>
      <p:graphicFrame>
        <p:nvGraphicFramePr>
          <p:cNvPr id="6" name="Table 5"/>
          <p:cNvGraphicFramePr/>
          <p:nvPr/>
        </p:nvGraphicFramePr>
        <p:xfrm>
          <a:off x="6238875" y="3752850"/>
          <a:ext cx="5238750" cy="2076452"/>
        </p:xfrm>
        <a:graphic>
          <a:graphicData uri="http://schemas.openxmlformats.org/drawingml/2006/table">
            <a:tbl>
              <a:tblPr/>
              <a:tblGrid>
                <a:gridCol w="180975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tblGrid>
              <a:tr h="519113">
                <a:tc>
                  <a:txBody>
                    <a:bodyPr/>
                    <a:lstStyle/>
                    <a:p>
                      <a:pPr marL="0" marR="0" indent="0">
                        <a:lnSpc>
                          <a:spcPct val="105000"/>
                        </a:lnSpc>
                        <a:spcBef>
                          <a:spcPts val="0"/>
                        </a:spcBef>
                        <a:spcAft>
                          <a:spcPts val="0"/>
                        </a:spcAft>
                      </a:pPr>
                      <a:r>
                        <a:rPr sz="2100" b="1">
                          <a:solidFill>
                            <a:srgbClr val="FFFFFF"/>
                          </a:solidFill>
                          <a:latin typeface="Aptos"/>
                          <a:ea typeface="Aptos"/>
                          <a:cs typeface="Aptos"/>
                        </a:rPr>
                        <a:t>Sign</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100" b="1">
                          <a:solidFill>
                            <a:srgbClr val="FFFFFF"/>
                          </a:solidFill>
                          <a:latin typeface="Aptos"/>
                          <a:ea typeface="Aptos"/>
                          <a:cs typeface="Aptos"/>
                        </a:rPr>
                        <a:t>Meaning</a:t>
                      </a:r>
                    </a:p>
                  </a:txBody>
                  <a:tcPr marL="76200" marR="57150" marT="19050" marB="19050" anchor="ctr">
                    <a:solidFill>
                      <a:srgbClr val="D6171D"/>
                    </a:solidFill>
                  </a:tcPr>
                </a:tc>
                <a:extLst>
                  <a:ext uri="{0D108BD9-81ED-4DB2-BD59-A6C34878D82A}">
                    <a16:rowId xmlns:a16="http://schemas.microsoft.com/office/drawing/2014/main" val="10000"/>
                  </a:ext>
                </a:extLst>
              </a:tr>
              <a:tr h="519113">
                <a:tc>
                  <a:txBody>
                    <a:bodyPr/>
                    <a:lstStyle/>
                    <a:p>
                      <a:pPr marL="0" marR="0" indent="0">
                        <a:lnSpc>
                          <a:spcPct val="105000"/>
                        </a:lnSpc>
                        <a:spcBef>
                          <a:spcPts val="0"/>
                        </a:spcBef>
                        <a:spcAft>
                          <a:spcPts val="0"/>
                        </a:spcAft>
                      </a:pPr>
                      <a:r>
                        <a:rPr sz="2100" b="0">
                          <a:solidFill>
                            <a:srgbClr val="111111"/>
                          </a:solidFill>
                          <a:latin typeface="Aptos"/>
                          <a:ea typeface="Aptos"/>
                          <a:cs typeface="Aptos"/>
                        </a:rPr>
                        <a:t>Negative</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Below the mean</a:t>
                      </a:r>
                    </a:p>
                  </a:txBody>
                  <a:tcPr marL="76200" marR="57150" marT="19050" marB="19050" anchor="ctr">
                    <a:solidFill>
                      <a:srgbClr val="FFFFFF"/>
                    </a:solidFill>
                  </a:tcPr>
                </a:tc>
                <a:extLst>
                  <a:ext uri="{0D108BD9-81ED-4DB2-BD59-A6C34878D82A}">
                    <a16:rowId xmlns:a16="http://schemas.microsoft.com/office/drawing/2014/main" val="10001"/>
                  </a:ext>
                </a:extLst>
              </a:tr>
              <a:tr h="519113">
                <a:tc>
                  <a:txBody>
                    <a:bodyPr/>
                    <a:lstStyle/>
                    <a:p>
                      <a:pPr marL="0" marR="0" indent="0">
                        <a:lnSpc>
                          <a:spcPct val="105000"/>
                        </a:lnSpc>
                        <a:spcBef>
                          <a:spcPts val="0"/>
                        </a:spcBef>
                        <a:spcAft>
                          <a:spcPts val="0"/>
                        </a:spcAft>
                      </a:pPr>
                      <a:r>
                        <a:rPr sz="2100" b="0">
                          <a:solidFill>
                            <a:srgbClr val="111111"/>
                          </a:solidFill>
                          <a:latin typeface="Aptos"/>
                          <a:ea typeface="Aptos"/>
                          <a:cs typeface="Aptos"/>
                        </a:rPr>
                        <a:t>Zero</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At the mean</a:t>
                      </a:r>
                    </a:p>
                  </a:txBody>
                  <a:tcPr marL="76200" marR="57150" marT="19050" marB="19050" anchor="ctr">
                    <a:solidFill>
                      <a:srgbClr val="EFF8FF"/>
                    </a:solidFill>
                  </a:tcPr>
                </a:tc>
                <a:extLst>
                  <a:ext uri="{0D108BD9-81ED-4DB2-BD59-A6C34878D82A}">
                    <a16:rowId xmlns:a16="http://schemas.microsoft.com/office/drawing/2014/main" val="10002"/>
                  </a:ext>
                </a:extLst>
              </a:tr>
              <a:tr h="519113">
                <a:tc>
                  <a:txBody>
                    <a:bodyPr/>
                    <a:lstStyle/>
                    <a:p>
                      <a:pPr marL="0" marR="0" indent="0">
                        <a:lnSpc>
                          <a:spcPct val="105000"/>
                        </a:lnSpc>
                        <a:spcBef>
                          <a:spcPts val="0"/>
                        </a:spcBef>
                        <a:spcAft>
                          <a:spcPts val="0"/>
                        </a:spcAft>
                      </a:pPr>
                      <a:r>
                        <a:rPr sz="2100" b="0">
                          <a:solidFill>
                            <a:srgbClr val="111111"/>
                          </a:solidFill>
                          <a:latin typeface="Aptos"/>
                          <a:ea typeface="Aptos"/>
                          <a:cs typeface="Aptos"/>
                        </a:rPr>
                        <a:t>Positive</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Above the mean</a:t>
                      </a:r>
                    </a:p>
                  </a:txBody>
                  <a:tcPr marL="76200" marR="571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7" name="body">
            <a:extLst>
              <a:ext uri="{FF2B5EF4-FFF2-40B4-BE49-F238E27FC236}">
                <a16:creationId xmlns:a16="http://schemas.microsoft.com/office/drawing/2014/main" id="{8199607E-5045-486F-ABE9-3552CBF8DA26}"/>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A deviation of −4 minutes means a wait 4 minutes below the mean.</a:t>
            </a:r>
          </a:p>
        </p:txBody>
      </p:sp>
      <p:sp>
        <p:nvSpPr>
          <p:cNvPr id="8"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WORKED EXAMPLE</a:t>
            </a:r>
          </a:p>
        </p:txBody>
      </p:sp>
    </p:spTree>
    <p:extLst>
      <p:ext uri="{BB962C8B-B14F-4D97-AF65-F5344CB8AC3E}">
        <p14:creationId xmlns:p14="http://schemas.microsoft.com/office/powerpoint/2010/main" val="32813612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B1a: complete the deviations</a:t>
            </a:r>
          </a:p>
        </p:txBody>
      </p:sp>
      <p:sp>
        <p:nvSpPr>
          <p:cNvPr id="3" name="body">
            <a:extLst>
              <a:ext uri="{FF2B5EF4-FFF2-40B4-BE49-F238E27FC236}">
                <a16:creationId xmlns:a16="http://schemas.microsoft.com/office/drawing/2014/main" id="{7E41EBFC-556A-46ED-A939-F72486C4CD5B}"/>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Shift A: subtract the mean of 10 from each wait.</a:t>
            </a:r>
          </a:p>
        </p:txBody>
      </p:sp>
      <p:graphicFrame>
        <p:nvGraphicFramePr>
          <p:cNvPr id="4" name="Table 3"/>
          <p:cNvGraphicFramePr/>
          <p:nvPr>
            <p:extLst>
              <p:ext uri="{D42A27DB-BD31-4B8C-83A1-F6EECF244321}">
                <p14:modId xmlns:p14="http://schemas.microsoft.com/office/powerpoint/2010/main" val="1917668608"/>
              </p:ext>
            </p:extLst>
          </p:nvPr>
        </p:nvGraphicFramePr>
        <p:xfrm>
          <a:off x="523875" y="2724150"/>
          <a:ext cx="11144250" cy="3067050"/>
        </p:xfrm>
        <a:graphic>
          <a:graphicData uri="http://schemas.openxmlformats.org/drawingml/2006/table">
            <a:tbl>
              <a:tblPr/>
              <a:tblGrid>
                <a:gridCol w="2571750">
                  <a:extLst>
                    <a:ext uri="{9D8B030D-6E8A-4147-A177-3AD203B41FA5}">
                      <a16:colId xmlns:a16="http://schemas.microsoft.com/office/drawing/2014/main" val="20000"/>
                    </a:ext>
                  </a:extLst>
                </a:gridCol>
                <a:gridCol w="428625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438150">
                <a:tc>
                  <a:txBody>
                    <a:bodyPr/>
                    <a:lstStyle/>
                    <a:p>
                      <a:pPr marL="0" marR="0" indent="0">
                        <a:lnSpc>
                          <a:spcPct val="105000"/>
                        </a:lnSpc>
                        <a:spcBef>
                          <a:spcPts val="0"/>
                        </a:spcBef>
                        <a:spcAft>
                          <a:spcPts val="0"/>
                        </a:spcAft>
                      </a:pPr>
                      <a:r>
                        <a:rPr sz="1875" b="1">
                          <a:solidFill>
                            <a:srgbClr val="FFFFFF"/>
                          </a:solidFill>
                          <a:latin typeface="Aptos"/>
                          <a:ea typeface="Aptos"/>
                          <a:cs typeface="Aptos"/>
                        </a:rPr>
                        <a:t>Wait (min)</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75" b="1">
                          <a:solidFill>
                            <a:srgbClr val="FFFFFF"/>
                          </a:solidFill>
                          <a:latin typeface="Aptos"/>
                          <a:ea typeface="Aptos"/>
                          <a:cs typeface="Aptos"/>
                        </a:rPr>
                        <a:t>Calculation</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75" b="1">
                          <a:solidFill>
                            <a:srgbClr val="FFFFFF"/>
                          </a:solidFill>
                          <a:latin typeface="Aptos"/>
                          <a:ea typeface="Aptos"/>
                          <a:cs typeface="Aptos"/>
                        </a:rPr>
                        <a:t>Deviation (min)</a:t>
                      </a:r>
                    </a:p>
                  </a:txBody>
                  <a:tcPr marL="76200" marR="57150" marT="19050" marB="19050" anchor="ctr">
                    <a:solidFill>
                      <a:srgbClr val="D6171D"/>
                    </a:solidFill>
                  </a:tcPr>
                </a:tc>
                <a:extLst>
                  <a:ext uri="{0D108BD9-81ED-4DB2-BD59-A6C34878D82A}">
                    <a16:rowId xmlns:a16="http://schemas.microsoft.com/office/drawing/2014/main" val="10000"/>
                  </a:ext>
                </a:extLst>
              </a:tr>
              <a:tr h="438150">
                <a:tc>
                  <a:txBody>
                    <a:bodyPr/>
                    <a:lstStyle/>
                    <a:p>
                      <a:pPr marL="0" marR="0" indent="0">
                        <a:lnSpc>
                          <a:spcPct val="105000"/>
                        </a:lnSpc>
                        <a:spcBef>
                          <a:spcPts val="0"/>
                        </a:spcBef>
                        <a:spcAft>
                          <a:spcPts val="0"/>
                        </a:spcAft>
                      </a:pPr>
                      <a:r>
                        <a:rPr sz="2175" b="0">
                          <a:solidFill>
                            <a:srgbClr val="111111"/>
                          </a:solidFill>
                          <a:latin typeface="Aptos"/>
                          <a:ea typeface="Aptos"/>
                          <a:cs typeface="Aptos"/>
                        </a:rPr>
                        <a:t>6</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75" b="0">
                          <a:solidFill>
                            <a:srgbClr val="111111"/>
                          </a:solidFill>
                          <a:latin typeface="Aptos"/>
                          <a:ea typeface="Aptos"/>
                          <a:cs typeface="Aptos"/>
                        </a:rPr>
                        <a:t>6 − 10</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75" b="0">
                          <a:solidFill>
                            <a:srgbClr val="111111"/>
                          </a:solidFill>
                          <a:latin typeface="Aptos"/>
                          <a:ea typeface="Aptos"/>
                          <a:cs typeface="Aptos"/>
                        </a:rPr>
                        <a:t>−4</a:t>
                      </a:r>
                    </a:p>
                  </a:txBody>
                  <a:tcPr marL="76200" marR="57150" marT="19050" marB="19050" anchor="ctr">
                    <a:solidFill>
                      <a:srgbClr val="FFFFFF"/>
                    </a:solidFill>
                  </a:tcPr>
                </a:tc>
                <a:extLst>
                  <a:ext uri="{0D108BD9-81ED-4DB2-BD59-A6C34878D82A}">
                    <a16:rowId xmlns:a16="http://schemas.microsoft.com/office/drawing/2014/main" val="10001"/>
                  </a:ext>
                </a:extLst>
              </a:tr>
              <a:tr h="438150">
                <a:tc>
                  <a:txBody>
                    <a:bodyPr/>
                    <a:lstStyle/>
                    <a:p>
                      <a:pPr marL="0" marR="0" indent="0">
                        <a:lnSpc>
                          <a:spcPct val="105000"/>
                        </a:lnSpc>
                        <a:spcBef>
                          <a:spcPts val="0"/>
                        </a:spcBef>
                        <a:spcAft>
                          <a:spcPts val="0"/>
                        </a:spcAft>
                      </a:pPr>
                      <a:r>
                        <a:rPr sz="2175" b="0">
                          <a:solidFill>
                            <a:srgbClr val="111111"/>
                          </a:solidFill>
                          <a:latin typeface="Aptos"/>
                          <a:ea typeface="Aptos"/>
                          <a:cs typeface="Aptos"/>
                        </a:rPr>
                        <a:t>10</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75" b="0" dirty="0">
                          <a:solidFill>
                            <a:srgbClr val="FF0000"/>
                          </a:solidFill>
                          <a:latin typeface="Aptos"/>
                          <a:ea typeface="Aptos"/>
                          <a:cs typeface="Aptos"/>
                        </a:rPr>
                        <a:t>Your turn</a:t>
                      </a:r>
                    </a:p>
                  </a:txBody>
                  <a:tcPr marL="76200" marR="57150" marT="19050" marB="19050" anchor="ctr">
                    <a:solidFill>
                      <a:srgbClr val="EFF8FF"/>
                    </a:solidFill>
                  </a:tcPr>
                </a:tc>
                <a:tc>
                  <a:txBody>
                    <a:bodyPr/>
                    <a:lstStyle/>
                    <a:p>
                      <a:pPr marL="0" marR="0" indent="0">
                        <a:lnSpc>
                          <a:spcPct val="105000"/>
                        </a:lnSpc>
                        <a:spcBef>
                          <a:spcPts val="0"/>
                        </a:spcBef>
                        <a:spcAft>
                          <a:spcPts val="0"/>
                        </a:spcAft>
                      </a:pPr>
                      <a:endParaRPr/>
                    </a:p>
                  </a:txBody>
                  <a:tcPr marL="76200" marR="57150" marT="19050" marB="19050" anchor="ctr">
                    <a:solidFill>
                      <a:srgbClr val="EFF8FF"/>
                    </a:solidFill>
                  </a:tcPr>
                </a:tc>
                <a:extLst>
                  <a:ext uri="{0D108BD9-81ED-4DB2-BD59-A6C34878D82A}">
                    <a16:rowId xmlns:a16="http://schemas.microsoft.com/office/drawing/2014/main" val="10002"/>
                  </a:ext>
                </a:extLst>
              </a:tr>
              <a:tr h="438150">
                <a:tc>
                  <a:txBody>
                    <a:bodyPr/>
                    <a:lstStyle/>
                    <a:p>
                      <a:pPr marL="0" marR="0" indent="0">
                        <a:lnSpc>
                          <a:spcPct val="105000"/>
                        </a:lnSpc>
                        <a:spcBef>
                          <a:spcPts val="0"/>
                        </a:spcBef>
                        <a:spcAft>
                          <a:spcPts val="0"/>
                        </a:spcAft>
                      </a:pPr>
                      <a:r>
                        <a:rPr sz="2175" b="0">
                          <a:solidFill>
                            <a:srgbClr val="111111"/>
                          </a:solidFill>
                          <a:latin typeface="Aptos"/>
                          <a:ea typeface="Aptos"/>
                          <a:cs typeface="Aptos"/>
                        </a:rPr>
                        <a:t>10</a:t>
                      </a:r>
                    </a:p>
                  </a:txBody>
                  <a:tcPr marL="76200" marR="57150" marT="19050" marB="19050" anchor="ctr">
                    <a:solidFill>
                      <a:srgbClr val="FFFFFF"/>
                    </a:solidFill>
                  </a:tcPr>
                </a:tc>
                <a:tc>
                  <a:txBody>
                    <a:bodyPr/>
                    <a:lstStyle/>
                    <a:p>
                      <a:pPr marL="0" marR="0" indent="0">
                        <a:lnSpc>
                          <a:spcPct val="105000"/>
                        </a:lnSpc>
                        <a:spcBef>
                          <a:spcPts val="0"/>
                        </a:spcBef>
                        <a:spcAft>
                          <a:spcPts val="0"/>
                        </a:spcAft>
                      </a:pPr>
                      <a:endParaRPr dirty="0"/>
                    </a:p>
                  </a:txBody>
                  <a:tcPr marL="76200" marR="57150" marT="19050" marB="19050" anchor="ctr">
                    <a:solidFill>
                      <a:srgbClr val="FFFFFF"/>
                    </a:solidFill>
                  </a:tcPr>
                </a:tc>
                <a:tc>
                  <a:txBody>
                    <a:bodyPr/>
                    <a:lstStyle/>
                    <a:p>
                      <a:pPr marL="0" marR="0" indent="0">
                        <a:lnSpc>
                          <a:spcPct val="105000"/>
                        </a:lnSpc>
                        <a:spcBef>
                          <a:spcPts val="0"/>
                        </a:spcBef>
                        <a:spcAft>
                          <a:spcPts val="0"/>
                        </a:spcAft>
                      </a:pPr>
                      <a:endParaRPr/>
                    </a:p>
                  </a:txBody>
                  <a:tcPr marL="76200" marR="57150" marT="19050" marB="19050" anchor="ctr">
                    <a:solidFill>
                      <a:srgbClr val="FFFFFF"/>
                    </a:solidFill>
                  </a:tcPr>
                </a:tc>
                <a:extLst>
                  <a:ext uri="{0D108BD9-81ED-4DB2-BD59-A6C34878D82A}">
                    <a16:rowId xmlns:a16="http://schemas.microsoft.com/office/drawing/2014/main" val="10003"/>
                  </a:ext>
                </a:extLst>
              </a:tr>
              <a:tr h="438150">
                <a:tc>
                  <a:txBody>
                    <a:bodyPr/>
                    <a:lstStyle/>
                    <a:p>
                      <a:pPr marL="0" marR="0" indent="0">
                        <a:lnSpc>
                          <a:spcPct val="105000"/>
                        </a:lnSpc>
                        <a:spcBef>
                          <a:spcPts val="0"/>
                        </a:spcBef>
                        <a:spcAft>
                          <a:spcPts val="0"/>
                        </a:spcAft>
                      </a:pPr>
                      <a:r>
                        <a:rPr sz="2175" b="0">
                          <a:solidFill>
                            <a:srgbClr val="111111"/>
                          </a:solidFill>
                          <a:latin typeface="Aptos"/>
                          <a:ea typeface="Aptos"/>
                          <a:cs typeface="Aptos"/>
                        </a:rPr>
                        <a:t>10</a:t>
                      </a:r>
                    </a:p>
                  </a:txBody>
                  <a:tcPr marL="76200" marR="57150" marT="19050" marB="19050" anchor="ctr">
                    <a:solidFill>
                      <a:srgbClr val="EFF8FF"/>
                    </a:solidFill>
                  </a:tcPr>
                </a:tc>
                <a:tc>
                  <a:txBody>
                    <a:bodyPr/>
                    <a:lstStyle/>
                    <a:p>
                      <a:pPr marL="0" marR="0" indent="0">
                        <a:lnSpc>
                          <a:spcPct val="105000"/>
                        </a:lnSpc>
                        <a:spcBef>
                          <a:spcPts val="0"/>
                        </a:spcBef>
                        <a:spcAft>
                          <a:spcPts val="0"/>
                        </a:spcAft>
                      </a:pPr>
                      <a:endParaRPr dirty="0"/>
                    </a:p>
                  </a:txBody>
                  <a:tcPr marL="76200" marR="57150" marT="19050" marB="19050" anchor="ctr">
                    <a:solidFill>
                      <a:srgbClr val="EFF8FF"/>
                    </a:solidFill>
                  </a:tcPr>
                </a:tc>
                <a:tc>
                  <a:txBody>
                    <a:bodyPr/>
                    <a:lstStyle/>
                    <a:p>
                      <a:pPr marL="0" marR="0" indent="0">
                        <a:lnSpc>
                          <a:spcPct val="105000"/>
                        </a:lnSpc>
                        <a:spcBef>
                          <a:spcPts val="0"/>
                        </a:spcBef>
                        <a:spcAft>
                          <a:spcPts val="0"/>
                        </a:spcAft>
                      </a:pPr>
                      <a:endParaRPr/>
                    </a:p>
                  </a:txBody>
                  <a:tcPr marL="76200" marR="57150" marT="19050" marB="19050" anchor="ctr">
                    <a:solidFill>
                      <a:srgbClr val="EFF8FF"/>
                    </a:solidFill>
                  </a:tcPr>
                </a:tc>
                <a:extLst>
                  <a:ext uri="{0D108BD9-81ED-4DB2-BD59-A6C34878D82A}">
                    <a16:rowId xmlns:a16="http://schemas.microsoft.com/office/drawing/2014/main" val="10004"/>
                  </a:ext>
                </a:extLst>
              </a:tr>
              <a:tr h="438150">
                <a:tc>
                  <a:txBody>
                    <a:bodyPr/>
                    <a:lstStyle/>
                    <a:p>
                      <a:pPr marL="0" marR="0" indent="0">
                        <a:lnSpc>
                          <a:spcPct val="105000"/>
                        </a:lnSpc>
                        <a:spcBef>
                          <a:spcPts val="0"/>
                        </a:spcBef>
                        <a:spcAft>
                          <a:spcPts val="0"/>
                        </a:spcAft>
                      </a:pPr>
                      <a:r>
                        <a:rPr sz="2175" b="0">
                          <a:solidFill>
                            <a:srgbClr val="111111"/>
                          </a:solidFill>
                          <a:latin typeface="Aptos"/>
                          <a:ea typeface="Aptos"/>
                          <a:cs typeface="Aptos"/>
                        </a:rPr>
                        <a:t>14</a:t>
                      </a:r>
                    </a:p>
                  </a:txBody>
                  <a:tcPr marL="76200" marR="57150" marT="19050" marB="19050" anchor="ctr">
                    <a:solidFill>
                      <a:srgbClr val="FFFFFF"/>
                    </a:solidFill>
                  </a:tcPr>
                </a:tc>
                <a:tc>
                  <a:txBody>
                    <a:bodyPr/>
                    <a:lstStyle/>
                    <a:p>
                      <a:pPr marL="0" marR="0" indent="0">
                        <a:lnSpc>
                          <a:spcPct val="105000"/>
                        </a:lnSpc>
                        <a:spcBef>
                          <a:spcPts val="0"/>
                        </a:spcBef>
                        <a:spcAft>
                          <a:spcPts val="0"/>
                        </a:spcAft>
                      </a:pPr>
                      <a:endParaRPr dirty="0"/>
                    </a:p>
                  </a:txBody>
                  <a:tcPr marL="76200" marR="57150" marT="19050" marB="19050" anchor="ctr">
                    <a:solidFill>
                      <a:srgbClr val="FFFFFF"/>
                    </a:solidFill>
                  </a:tcPr>
                </a:tc>
                <a:tc>
                  <a:txBody>
                    <a:bodyPr/>
                    <a:lstStyle/>
                    <a:p>
                      <a:pPr marL="0" marR="0" indent="0">
                        <a:lnSpc>
                          <a:spcPct val="105000"/>
                        </a:lnSpc>
                        <a:spcBef>
                          <a:spcPts val="0"/>
                        </a:spcBef>
                        <a:spcAft>
                          <a:spcPts val="0"/>
                        </a:spcAft>
                      </a:pPr>
                      <a:endParaRPr dirty="0"/>
                    </a:p>
                  </a:txBody>
                  <a:tcPr marL="76200" marR="57150" marT="19050" marB="19050" anchor="ctr">
                    <a:solidFill>
                      <a:srgbClr val="FFFFFF"/>
                    </a:solidFill>
                  </a:tcPr>
                </a:tc>
                <a:extLst>
                  <a:ext uri="{0D108BD9-81ED-4DB2-BD59-A6C34878D82A}">
                    <a16:rowId xmlns:a16="http://schemas.microsoft.com/office/drawing/2014/main" val="10005"/>
                  </a:ext>
                </a:extLst>
              </a:tr>
              <a:tr h="438150">
                <a:tc>
                  <a:txBody>
                    <a:bodyPr/>
                    <a:lstStyle/>
                    <a:p>
                      <a:pPr marL="0" marR="0" indent="0">
                        <a:lnSpc>
                          <a:spcPct val="105000"/>
                        </a:lnSpc>
                        <a:spcBef>
                          <a:spcPts val="0"/>
                        </a:spcBef>
                        <a:spcAft>
                          <a:spcPts val="0"/>
                        </a:spcAft>
                      </a:pPr>
                      <a:r>
                        <a:rPr sz="2175" b="0">
                          <a:solidFill>
                            <a:srgbClr val="111111"/>
                          </a:solidFill>
                          <a:latin typeface="Aptos"/>
                          <a:ea typeface="Aptos"/>
                          <a:cs typeface="Aptos"/>
                        </a:rPr>
                        <a:t>Total</a:t>
                      </a:r>
                    </a:p>
                  </a:txBody>
                  <a:tcPr marL="76200" marR="57150" marT="19050" marB="19050" anchor="ctr">
                    <a:solidFill>
                      <a:srgbClr val="EFF8FF"/>
                    </a:solidFill>
                  </a:tcPr>
                </a:tc>
                <a:tc>
                  <a:txBody>
                    <a:bodyPr/>
                    <a:lstStyle/>
                    <a:p>
                      <a:pPr marL="0" marR="0" indent="0">
                        <a:lnSpc>
                          <a:spcPct val="105000"/>
                        </a:lnSpc>
                        <a:spcBef>
                          <a:spcPts val="0"/>
                        </a:spcBef>
                        <a:spcAft>
                          <a:spcPts val="0"/>
                        </a:spcAft>
                      </a:pPr>
                      <a:endParaRPr dirty="0"/>
                    </a:p>
                  </a:txBody>
                  <a:tcPr marL="76200" marR="57150" marT="19050" marB="19050" anchor="ctr">
                    <a:solidFill>
                      <a:srgbClr val="EFF8FF"/>
                    </a:solidFill>
                  </a:tcPr>
                </a:tc>
                <a:tc>
                  <a:txBody>
                    <a:bodyPr/>
                    <a:lstStyle/>
                    <a:p>
                      <a:pPr marL="0" marR="0" indent="0">
                        <a:lnSpc>
                          <a:spcPct val="105000"/>
                        </a:lnSpc>
                        <a:spcBef>
                          <a:spcPts val="0"/>
                        </a:spcBef>
                        <a:spcAft>
                          <a:spcPts val="0"/>
                        </a:spcAft>
                      </a:pPr>
                      <a:endParaRPr dirty="0"/>
                    </a:p>
                  </a:txBody>
                  <a:tcPr marL="76200" marR="57150" marT="19050" marB="19050" anchor="ctr">
                    <a:solidFill>
                      <a:srgbClr val="EFF8FF"/>
                    </a:solidFill>
                  </a:tcPr>
                </a:tc>
                <a:extLst>
                  <a:ext uri="{0D108BD9-81ED-4DB2-BD59-A6C34878D82A}">
                    <a16:rowId xmlns:a16="http://schemas.microsoft.com/office/drawing/2014/main" val="10006"/>
                  </a:ext>
                </a:extLst>
              </a:tr>
            </a:tbl>
          </a:graphicData>
        </a:graphic>
      </p:graphicFrame>
      <p:sp>
        <p:nvSpPr>
          <p:cNvPr id="5" name="body">
            <a:extLst>
              <a:ext uri="{FF2B5EF4-FFF2-40B4-BE49-F238E27FC236}">
                <a16:creationId xmlns:a16="http://schemas.microsoft.com/office/drawing/2014/main" id="{D168A630-4159-46EE-8B1F-222ED3E07F37}"/>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Finish the blank cells. What is the total of the deviations?</a:t>
            </a:r>
          </a:p>
        </p:txBody>
      </p:sp>
      <p:sp>
        <p:nvSpPr>
          <p:cNvPr id="6"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B1a • GUIDED PRACTICE</a:t>
            </a:r>
          </a:p>
        </p:txBody>
      </p:sp>
    </p:spTree>
    <p:extLst>
      <p:ext uri="{BB962C8B-B14F-4D97-AF65-F5344CB8AC3E}">
        <p14:creationId xmlns:p14="http://schemas.microsoft.com/office/powerpoint/2010/main" val="3281361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B1a: why does the total equal zero?</a:t>
            </a:r>
          </a:p>
        </p:txBody>
      </p:sp>
      <p:sp>
        <p:nvSpPr>
          <p:cNvPr id="3" name="body">
            <a:extLst>
              <a:ext uri="{FF2B5EF4-FFF2-40B4-BE49-F238E27FC236}">
                <a16:creationId xmlns:a16="http://schemas.microsoft.com/office/drawing/2014/main" id="{9173F815-96BD-4E5D-A360-132BBD54656F}"/>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dirty="0">
                <a:solidFill>
                  <a:srgbClr val="111111"/>
                </a:solidFill>
                <a:latin typeface="Aptos"/>
                <a:ea typeface="Aptos"/>
                <a:cs typeface="Aptos"/>
              </a:rPr>
              <a:t>Positive and negative deviations cancel.</a:t>
            </a:r>
          </a:p>
        </p:txBody>
      </p:sp>
      <p:pic>
        <p:nvPicPr>
          <p:cNvPr id="4" name="Picture 3"/>
          <p:cNvPicPr>
            <a:picLocks noChangeAspect="1"/>
          </p:cNvPicPr>
          <p:nvPr/>
        </p:nvPicPr>
        <p:blipFill>
          <a:blip r:embed="rId3"/>
          <a:stretch/>
        </p:blipFill>
        <p:spPr>
          <a:xfrm>
            <a:off x="2596655" y="3000375"/>
            <a:ext cx="6808190" cy="666750"/>
          </a:xfrm>
          <a:prstGeom prst="rect">
            <a:avLst/>
          </a:prstGeom>
        </p:spPr>
      </p:pic>
      <p:pic>
        <p:nvPicPr>
          <p:cNvPr id="5" name="Picture 4"/>
          <p:cNvPicPr>
            <a:picLocks noChangeAspect="1"/>
          </p:cNvPicPr>
          <p:nvPr/>
        </p:nvPicPr>
        <p:blipFill>
          <a:blip r:embed="rId4"/>
          <a:stretch/>
        </p:blipFill>
        <p:spPr>
          <a:xfrm>
            <a:off x="3255792" y="4038600"/>
            <a:ext cx="5489915" cy="1095375"/>
          </a:xfrm>
          <a:prstGeom prst="rect">
            <a:avLst/>
          </a:prstGeom>
        </p:spPr>
      </p:pic>
      <p:sp>
        <p:nvSpPr>
          <p:cNvPr id="6" name="body">
            <a:extLst>
              <a:ext uri="{FF2B5EF4-FFF2-40B4-BE49-F238E27FC236}">
                <a16:creationId xmlns:a16="http://schemas.microsoft.com/office/drawing/2014/main" id="{E0B022E7-AD55-41F7-BDA0-51975EE40C57}"/>
              </a:ext>
            </a:extLst>
          </p:cNvPr>
          <p:cNvSpPr>
            <a:spLocks noGrp="1"/>
          </p:cNvSpPr>
          <p:nvPr/>
        </p:nvSpPr>
        <p:spPr>
          <a:xfrm>
            <a:off x="523875" y="5534025"/>
            <a:ext cx="11144250" cy="628650"/>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Does zero here mean that everyone waited the same time?</a:t>
            </a:r>
          </a:p>
        </p:txBody>
      </p:sp>
      <p:sp>
        <p:nvSpPr>
          <p:cNvPr id="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B1a • WORKED ANSWERS</a:t>
            </a:r>
          </a:p>
        </p:txBody>
      </p:sp>
    </p:spTree>
    <p:extLst>
      <p:ext uri="{BB962C8B-B14F-4D97-AF65-F5344CB8AC3E}">
        <p14:creationId xmlns:p14="http://schemas.microsoft.com/office/powerpoint/2010/main" val="32813612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235" y="2238375"/>
            <a:ext cx="5953125" cy="2705100"/>
          </a:xfrm>
        </p:spPr>
        <p:txBody>
          <a:bodyPr wrap="square" lIns="0" tIns="0" rIns="0" bIns="0" anchor="t">
            <a:noAutofit/>
          </a:bodyPr>
          <a:lstStyle/>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Section 2:</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Variance and</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standard deviation</a:t>
            </a:r>
          </a:p>
        </p:txBody>
      </p:sp>
      <p:sp>
        <p:nvSpPr>
          <p:cNvPr id="3" name="divider-question">
            <a:extLst>
              <a:ext uri="{FF2B5EF4-FFF2-40B4-BE49-F238E27FC236}">
                <a16:creationId xmlns:a16="http://schemas.microsoft.com/office/drawing/2014/main" id="{340B0DA6-C316-4B4F-889B-20A2074282AF}"/>
              </a:ext>
            </a:extLst>
          </p:cNvPr>
          <p:cNvSpPr>
            <a:spLocks noGrp="1"/>
          </p:cNvSpPr>
          <p:nvPr/>
        </p:nvSpPr>
        <p:spPr>
          <a:xfrm>
            <a:off x="428625" y="5200650"/>
            <a:ext cx="5715000" cy="1028700"/>
          </a:xfrm>
          <a:prstGeom prst="rect">
            <a:avLst/>
          </a:prstGeom>
          <a:noFill/>
          <a:ln w="0">
            <a:noFill/>
          </a:ln>
        </p:spPr>
        <p:txBody>
          <a:bodyPr wrap="square" lIns="0" tIns="0" rIns="0" bIns="0" anchor="t">
            <a:noAutofit/>
          </a:bodyPr>
          <a:lstStyle/>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How can we combine all the</a:t>
            </a:r>
          </a:p>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deviations into one measure of spread?</a:t>
            </a:r>
          </a:p>
        </p:txBody>
      </p:sp>
    </p:spTree>
    <p:extLst>
      <p:ext uri="{BB962C8B-B14F-4D97-AF65-F5344CB8AC3E}">
        <p14:creationId xmlns:p14="http://schemas.microsoft.com/office/powerpoint/2010/main" val="32813612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Squared deviation</a:t>
            </a:r>
          </a:p>
        </p:txBody>
      </p:sp>
      <p:sp>
        <p:nvSpPr>
          <p:cNvPr id="3" name="body">
            <a:extLst>
              <a:ext uri="{FF2B5EF4-FFF2-40B4-BE49-F238E27FC236}">
                <a16:creationId xmlns:a16="http://schemas.microsoft.com/office/drawing/2014/main" id="{39FF7C06-56B1-43A9-80DF-105A6AE34488}"/>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A squared deviation is a deviation multiplied by itself.</a:t>
            </a:r>
          </a:p>
        </p:txBody>
      </p:sp>
      <p:pic>
        <p:nvPicPr>
          <p:cNvPr id="4" name="Picture 3"/>
          <p:cNvPicPr>
            <a:picLocks noChangeAspect="1"/>
          </p:cNvPicPr>
          <p:nvPr/>
        </p:nvPicPr>
        <p:blipFill>
          <a:blip r:embed="rId3"/>
          <a:stretch/>
        </p:blipFill>
        <p:spPr>
          <a:xfrm>
            <a:off x="2992386" y="3000375"/>
            <a:ext cx="6207227" cy="742950"/>
          </a:xfrm>
          <a:prstGeom prst="rect">
            <a:avLst/>
          </a:prstGeom>
        </p:spPr>
      </p:pic>
      <p:pic>
        <p:nvPicPr>
          <p:cNvPr id="5" name="Picture 4"/>
          <p:cNvPicPr>
            <a:picLocks noChangeAspect="1"/>
          </p:cNvPicPr>
          <p:nvPr/>
        </p:nvPicPr>
        <p:blipFill>
          <a:blip r:embed="rId4"/>
          <a:stretch/>
        </p:blipFill>
        <p:spPr>
          <a:xfrm>
            <a:off x="2319032" y="4419600"/>
            <a:ext cx="1648437" cy="628650"/>
          </a:xfrm>
          <a:prstGeom prst="rect">
            <a:avLst/>
          </a:prstGeom>
        </p:spPr>
      </p:pic>
      <p:pic>
        <p:nvPicPr>
          <p:cNvPr id="6" name="Picture 5"/>
          <p:cNvPicPr>
            <a:picLocks noChangeAspect="1"/>
          </p:cNvPicPr>
          <p:nvPr/>
        </p:nvPicPr>
        <p:blipFill>
          <a:blip r:embed="rId5"/>
          <a:stretch/>
        </p:blipFill>
        <p:spPr>
          <a:xfrm>
            <a:off x="7598799" y="4362450"/>
            <a:ext cx="2328402" cy="685800"/>
          </a:xfrm>
          <a:prstGeom prst="rect">
            <a:avLst/>
          </a:prstGeom>
        </p:spPr>
      </p:pic>
      <p:sp>
        <p:nvSpPr>
          <p:cNvPr id="7" name="body">
            <a:extLst>
              <a:ext uri="{FF2B5EF4-FFF2-40B4-BE49-F238E27FC236}">
                <a16:creationId xmlns:a16="http://schemas.microsoft.com/office/drawing/2014/main" id="{5BA8D326-0FBA-46DC-AC58-BD4B57257669}"/>
              </a:ext>
            </a:extLst>
          </p:cNvPr>
          <p:cNvSpPr>
            <a:spLocks noGrp="1"/>
          </p:cNvSpPr>
          <p:nvPr/>
        </p:nvSpPr>
        <p:spPr>
          <a:xfrm>
            <a:off x="2992386" y="5343525"/>
            <a:ext cx="6207227"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1" dirty="0">
                <a:solidFill>
                  <a:srgbClr val="FF0000"/>
                </a:solidFill>
                <a:latin typeface="Aptos"/>
                <a:ea typeface="Aptos"/>
                <a:cs typeface="Aptos"/>
              </a:rPr>
              <a:t>Squares cannot be negative. Larger deviations contribute more.</a:t>
            </a:r>
          </a:p>
        </p:txBody>
      </p:sp>
      <p:sp>
        <p:nvSpPr>
          <p:cNvPr id="8"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WORKED EXAMPLE</a:t>
            </a:r>
          </a:p>
        </p:txBody>
      </p:sp>
    </p:spTree>
    <p:extLst>
      <p:ext uri="{BB962C8B-B14F-4D97-AF65-F5344CB8AC3E}">
        <p14:creationId xmlns:p14="http://schemas.microsoft.com/office/powerpoint/2010/main" val="3281361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B1a: add the squared deviations</a:t>
            </a:r>
          </a:p>
        </p:txBody>
      </p:sp>
      <p:sp>
        <p:nvSpPr>
          <p:cNvPr id="3" name="body">
            <a:extLst>
              <a:ext uri="{FF2B5EF4-FFF2-40B4-BE49-F238E27FC236}">
                <a16:creationId xmlns:a16="http://schemas.microsoft.com/office/drawing/2014/main" id="{E799D982-FAF0-4200-AC82-B2C4E9F30741}"/>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Keep the same values and the same mean: 10 minutes.</a:t>
            </a:r>
          </a:p>
        </p:txBody>
      </p:sp>
      <p:graphicFrame>
        <p:nvGraphicFramePr>
          <p:cNvPr id="4" name="Table 3"/>
          <p:cNvGraphicFramePr/>
          <p:nvPr/>
        </p:nvGraphicFramePr>
        <p:xfrm>
          <a:off x="523875" y="2714625"/>
          <a:ext cx="11144250" cy="3067050"/>
        </p:xfrm>
        <a:graphic>
          <a:graphicData uri="http://schemas.openxmlformats.org/drawingml/2006/table">
            <a:tbl>
              <a:tblPr/>
              <a:tblGrid>
                <a:gridCol w="2476500">
                  <a:extLst>
                    <a:ext uri="{9D8B030D-6E8A-4147-A177-3AD203B41FA5}">
                      <a16:colId xmlns:a16="http://schemas.microsoft.com/office/drawing/2014/main" val="20000"/>
                    </a:ext>
                  </a:extLst>
                </a:gridCol>
                <a:gridCol w="3333750">
                  <a:extLst>
                    <a:ext uri="{9D8B030D-6E8A-4147-A177-3AD203B41FA5}">
                      <a16:colId xmlns:a16="http://schemas.microsoft.com/office/drawing/2014/main" val="20001"/>
                    </a:ext>
                  </a:extLst>
                </a:gridCol>
                <a:gridCol w="5334000">
                  <a:extLst>
                    <a:ext uri="{9D8B030D-6E8A-4147-A177-3AD203B41FA5}">
                      <a16:colId xmlns:a16="http://schemas.microsoft.com/office/drawing/2014/main" val="20002"/>
                    </a:ext>
                  </a:extLst>
                </a:gridCol>
              </a:tblGrid>
              <a:tr h="438150">
                <a:tc>
                  <a:txBody>
                    <a:bodyPr/>
                    <a:lstStyle/>
                    <a:p>
                      <a:pPr marL="0" marR="0" indent="0">
                        <a:lnSpc>
                          <a:spcPct val="105000"/>
                        </a:lnSpc>
                        <a:spcBef>
                          <a:spcPts val="0"/>
                        </a:spcBef>
                        <a:spcAft>
                          <a:spcPts val="0"/>
                        </a:spcAft>
                      </a:pPr>
                      <a:r>
                        <a:rPr sz="1950" b="1">
                          <a:solidFill>
                            <a:srgbClr val="FFFFFF"/>
                          </a:solidFill>
                          <a:latin typeface="Aptos"/>
                          <a:ea typeface="Aptos"/>
                          <a:cs typeface="Aptos"/>
                        </a:rPr>
                        <a:t>Wait (min)</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950" b="1">
                          <a:solidFill>
                            <a:srgbClr val="FFFFFF"/>
                          </a:solidFill>
                          <a:latin typeface="Aptos"/>
                          <a:ea typeface="Aptos"/>
                          <a:cs typeface="Aptos"/>
                        </a:rPr>
                        <a:t>Deviation (min)</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950" b="1">
                          <a:solidFill>
                            <a:srgbClr val="FFFFFF"/>
                          </a:solidFill>
                          <a:latin typeface="Aptos"/>
                          <a:ea typeface="Aptos"/>
                          <a:cs typeface="Aptos"/>
                        </a:rPr>
                        <a:t>Squared deviation (min²)</a:t>
                      </a:r>
                    </a:p>
                  </a:txBody>
                  <a:tcPr marL="76200" marR="57150" marT="19050" marB="19050" anchor="ctr">
                    <a:solidFill>
                      <a:srgbClr val="D6171D"/>
                    </a:solidFill>
                  </a:tcPr>
                </a:tc>
                <a:extLst>
                  <a:ext uri="{0D108BD9-81ED-4DB2-BD59-A6C34878D82A}">
                    <a16:rowId xmlns:a16="http://schemas.microsoft.com/office/drawing/2014/main" val="10000"/>
                  </a:ext>
                </a:extLst>
              </a:tr>
              <a:tr h="438150">
                <a:tc>
                  <a:txBody>
                    <a:bodyPr/>
                    <a:lstStyle/>
                    <a:p>
                      <a:pPr marL="0" marR="0" indent="0">
                        <a:lnSpc>
                          <a:spcPct val="105000"/>
                        </a:lnSpc>
                        <a:spcBef>
                          <a:spcPts val="0"/>
                        </a:spcBef>
                        <a:spcAft>
                          <a:spcPts val="0"/>
                        </a:spcAft>
                      </a:pPr>
                      <a:r>
                        <a:rPr sz="2100" b="0">
                          <a:solidFill>
                            <a:srgbClr val="111111"/>
                          </a:solidFill>
                          <a:latin typeface="Aptos"/>
                          <a:ea typeface="Aptos"/>
                          <a:cs typeface="Aptos"/>
                        </a:rPr>
                        <a:t>6</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−4</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dirty="0">
                          <a:solidFill>
                            <a:srgbClr val="111111"/>
                          </a:solidFill>
                          <a:latin typeface="Aptos"/>
                          <a:ea typeface="Aptos"/>
                          <a:cs typeface="Aptos"/>
                        </a:rPr>
                        <a:t>16</a:t>
                      </a:r>
                    </a:p>
                  </a:txBody>
                  <a:tcPr marL="76200" marR="57150" marT="19050" marB="19050" anchor="ctr">
                    <a:solidFill>
                      <a:srgbClr val="FFFFFF"/>
                    </a:solidFill>
                  </a:tcPr>
                </a:tc>
                <a:extLst>
                  <a:ext uri="{0D108BD9-81ED-4DB2-BD59-A6C34878D82A}">
                    <a16:rowId xmlns:a16="http://schemas.microsoft.com/office/drawing/2014/main" val="10001"/>
                  </a:ext>
                </a:extLst>
              </a:tr>
              <a:tr h="438150">
                <a:tc>
                  <a:txBody>
                    <a:bodyPr/>
                    <a:lstStyle/>
                    <a:p>
                      <a:pPr marL="0" marR="0" indent="0">
                        <a:lnSpc>
                          <a:spcPct val="105000"/>
                        </a:lnSpc>
                        <a:spcBef>
                          <a:spcPts val="0"/>
                        </a:spcBef>
                        <a:spcAft>
                          <a:spcPts val="0"/>
                        </a:spcAft>
                      </a:pPr>
                      <a:r>
                        <a:rPr sz="2100" b="0">
                          <a:solidFill>
                            <a:srgbClr val="111111"/>
                          </a:solidFill>
                          <a:latin typeface="Aptos"/>
                          <a:ea typeface="Aptos"/>
                          <a:cs typeface="Aptos"/>
                        </a:rPr>
                        <a:t>10</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dirty="0">
                          <a:solidFill>
                            <a:srgbClr val="111111"/>
                          </a:solidFill>
                          <a:latin typeface="Aptos"/>
                          <a:ea typeface="Aptos"/>
                          <a:cs typeface="Aptos"/>
                        </a:rPr>
                        <a:t>0</a:t>
                      </a:r>
                    </a:p>
                  </a:txBody>
                  <a:tcPr marL="76200" marR="57150" marT="19050" marB="19050" anchor="ctr">
                    <a:solidFill>
                      <a:srgbClr val="EFF8FF"/>
                    </a:solidFill>
                  </a:tcPr>
                </a:tc>
                <a:tc>
                  <a:txBody>
                    <a:bodyPr/>
                    <a:lstStyle/>
                    <a:p>
                      <a:pPr marL="0" marR="0" indent="0">
                        <a:lnSpc>
                          <a:spcPct val="105000"/>
                        </a:lnSpc>
                        <a:spcBef>
                          <a:spcPts val="0"/>
                        </a:spcBef>
                        <a:spcAft>
                          <a:spcPts val="0"/>
                        </a:spcAft>
                      </a:pPr>
                      <a:endParaRPr dirty="0"/>
                    </a:p>
                  </a:txBody>
                  <a:tcPr marL="76200" marR="57150" marT="19050" marB="19050" anchor="ctr">
                    <a:solidFill>
                      <a:srgbClr val="EFF8FF"/>
                    </a:solidFill>
                  </a:tcPr>
                </a:tc>
                <a:extLst>
                  <a:ext uri="{0D108BD9-81ED-4DB2-BD59-A6C34878D82A}">
                    <a16:rowId xmlns:a16="http://schemas.microsoft.com/office/drawing/2014/main" val="10002"/>
                  </a:ext>
                </a:extLst>
              </a:tr>
              <a:tr h="438150">
                <a:tc>
                  <a:txBody>
                    <a:bodyPr/>
                    <a:lstStyle/>
                    <a:p>
                      <a:pPr marL="0" marR="0" indent="0">
                        <a:lnSpc>
                          <a:spcPct val="105000"/>
                        </a:lnSpc>
                        <a:spcBef>
                          <a:spcPts val="0"/>
                        </a:spcBef>
                        <a:spcAft>
                          <a:spcPts val="0"/>
                        </a:spcAft>
                      </a:pPr>
                      <a:r>
                        <a:rPr sz="2100" b="0">
                          <a:solidFill>
                            <a:srgbClr val="111111"/>
                          </a:solidFill>
                          <a:latin typeface="Aptos"/>
                          <a:ea typeface="Aptos"/>
                          <a:cs typeface="Aptos"/>
                        </a:rPr>
                        <a:t>10</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0</a:t>
                      </a:r>
                    </a:p>
                  </a:txBody>
                  <a:tcPr marL="76200" marR="57150" marT="19050" marB="19050" anchor="ctr">
                    <a:solidFill>
                      <a:srgbClr val="FFFFFF"/>
                    </a:solidFill>
                  </a:tcPr>
                </a:tc>
                <a:tc>
                  <a:txBody>
                    <a:bodyPr/>
                    <a:lstStyle/>
                    <a:p>
                      <a:pPr marL="0" marR="0" indent="0">
                        <a:lnSpc>
                          <a:spcPct val="105000"/>
                        </a:lnSpc>
                        <a:spcBef>
                          <a:spcPts val="0"/>
                        </a:spcBef>
                        <a:spcAft>
                          <a:spcPts val="0"/>
                        </a:spcAft>
                      </a:pPr>
                      <a:endParaRPr/>
                    </a:p>
                  </a:txBody>
                  <a:tcPr marL="76200" marR="57150" marT="19050" marB="19050" anchor="ctr">
                    <a:solidFill>
                      <a:srgbClr val="FFFFFF"/>
                    </a:solidFill>
                  </a:tcPr>
                </a:tc>
                <a:extLst>
                  <a:ext uri="{0D108BD9-81ED-4DB2-BD59-A6C34878D82A}">
                    <a16:rowId xmlns:a16="http://schemas.microsoft.com/office/drawing/2014/main" val="10003"/>
                  </a:ext>
                </a:extLst>
              </a:tr>
              <a:tr h="438150">
                <a:tc>
                  <a:txBody>
                    <a:bodyPr/>
                    <a:lstStyle/>
                    <a:p>
                      <a:pPr marL="0" marR="0" indent="0">
                        <a:lnSpc>
                          <a:spcPct val="105000"/>
                        </a:lnSpc>
                        <a:spcBef>
                          <a:spcPts val="0"/>
                        </a:spcBef>
                        <a:spcAft>
                          <a:spcPts val="0"/>
                        </a:spcAft>
                      </a:pPr>
                      <a:r>
                        <a:rPr sz="2100" b="0">
                          <a:solidFill>
                            <a:srgbClr val="111111"/>
                          </a:solidFill>
                          <a:latin typeface="Aptos"/>
                          <a:ea typeface="Aptos"/>
                          <a:cs typeface="Aptos"/>
                        </a:rPr>
                        <a:t>10</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0</a:t>
                      </a:r>
                    </a:p>
                  </a:txBody>
                  <a:tcPr marL="76200" marR="57150" marT="19050" marB="19050" anchor="ctr">
                    <a:solidFill>
                      <a:srgbClr val="EFF8FF"/>
                    </a:solidFill>
                  </a:tcPr>
                </a:tc>
                <a:tc>
                  <a:txBody>
                    <a:bodyPr/>
                    <a:lstStyle/>
                    <a:p>
                      <a:pPr marL="0" marR="0" indent="0">
                        <a:lnSpc>
                          <a:spcPct val="105000"/>
                        </a:lnSpc>
                        <a:spcBef>
                          <a:spcPts val="0"/>
                        </a:spcBef>
                        <a:spcAft>
                          <a:spcPts val="0"/>
                        </a:spcAft>
                      </a:pPr>
                      <a:endParaRPr/>
                    </a:p>
                  </a:txBody>
                  <a:tcPr marL="76200" marR="57150" marT="19050" marB="19050" anchor="ctr">
                    <a:solidFill>
                      <a:srgbClr val="EFF8FF"/>
                    </a:solidFill>
                  </a:tcPr>
                </a:tc>
                <a:extLst>
                  <a:ext uri="{0D108BD9-81ED-4DB2-BD59-A6C34878D82A}">
                    <a16:rowId xmlns:a16="http://schemas.microsoft.com/office/drawing/2014/main" val="10004"/>
                  </a:ext>
                </a:extLst>
              </a:tr>
              <a:tr h="438150">
                <a:tc>
                  <a:txBody>
                    <a:bodyPr/>
                    <a:lstStyle/>
                    <a:p>
                      <a:pPr marL="0" marR="0" indent="0">
                        <a:lnSpc>
                          <a:spcPct val="105000"/>
                        </a:lnSpc>
                        <a:spcBef>
                          <a:spcPts val="0"/>
                        </a:spcBef>
                        <a:spcAft>
                          <a:spcPts val="0"/>
                        </a:spcAft>
                      </a:pPr>
                      <a:r>
                        <a:rPr sz="2100" b="0">
                          <a:solidFill>
                            <a:srgbClr val="111111"/>
                          </a:solidFill>
                          <a:latin typeface="Aptos"/>
                          <a:ea typeface="Aptos"/>
                          <a:cs typeface="Aptos"/>
                        </a:rPr>
                        <a:t>14</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+4</a:t>
                      </a:r>
                    </a:p>
                  </a:txBody>
                  <a:tcPr marL="76200" marR="57150" marT="19050" marB="19050" anchor="ctr">
                    <a:solidFill>
                      <a:srgbClr val="FFFFFF"/>
                    </a:solidFill>
                  </a:tcPr>
                </a:tc>
                <a:tc>
                  <a:txBody>
                    <a:bodyPr/>
                    <a:lstStyle/>
                    <a:p>
                      <a:pPr marL="0" marR="0" indent="0">
                        <a:lnSpc>
                          <a:spcPct val="105000"/>
                        </a:lnSpc>
                        <a:spcBef>
                          <a:spcPts val="0"/>
                        </a:spcBef>
                        <a:spcAft>
                          <a:spcPts val="0"/>
                        </a:spcAft>
                      </a:pPr>
                      <a:endParaRPr/>
                    </a:p>
                  </a:txBody>
                  <a:tcPr marL="76200" marR="57150" marT="19050" marB="19050" anchor="ctr">
                    <a:solidFill>
                      <a:srgbClr val="FFFFFF"/>
                    </a:solidFill>
                  </a:tcPr>
                </a:tc>
                <a:extLst>
                  <a:ext uri="{0D108BD9-81ED-4DB2-BD59-A6C34878D82A}">
                    <a16:rowId xmlns:a16="http://schemas.microsoft.com/office/drawing/2014/main" val="10005"/>
                  </a:ext>
                </a:extLst>
              </a:tr>
              <a:tr h="438150">
                <a:tc>
                  <a:txBody>
                    <a:bodyPr/>
                    <a:lstStyle/>
                    <a:p>
                      <a:pPr marL="0" marR="0" indent="0">
                        <a:lnSpc>
                          <a:spcPct val="105000"/>
                        </a:lnSpc>
                        <a:spcBef>
                          <a:spcPts val="0"/>
                        </a:spcBef>
                        <a:spcAft>
                          <a:spcPts val="0"/>
                        </a:spcAft>
                      </a:pPr>
                      <a:r>
                        <a:rPr sz="2100" b="0">
                          <a:solidFill>
                            <a:srgbClr val="111111"/>
                          </a:solidFill>
                          <a:latin typeface="Aptos"/>
                          <a:ea typeface="Aptos"/>
                          <a:cs typeface="Aptos"/>
                        </a:rPr>
                        <a:t>Total</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0</a:t>
                      </a:r>
                    </a:p>
                  </a:txBody>
                  <a:tcPr marL="76200" marR="57150" marT="19050" marB="19050" anchor="ctr">
                    <a:solidFill>
                      <a:srgbClr val="EFF8FF"/>
                    </a:solidFill>
                  </a:tcPr>
                </a:tc>
                <a:tc>
                  <a:txBody>
                    <a:bodyPr/>
                    <a:lstStyle/>
                    <a:p>
                      <a:pPr marL="0" marR="0" indent="0">
                        <a:lnSpc>
                          <a:spcPct val="105000"/>
                        </a:lnSpc>
                        <a:spcBef>
                          <a:spcPts val="0"/>
                        </a:spcBef>
                        <a:spcAft>
                          <a:spcPts val="0"/>
                        </a:spcAft>
                      </a:pPr>
                      <a:endParaRPr dirty="0"/>
                    </a:p>
                  </a:txBody>
                  <a:tcPr marL="76200" marR="57150" marT="19050" marB="19050" anchor="ctr">
                    <a:solidFill>
                      <a:srgbClr val="EFF8FF"/>
                    </a:solidFill>
                  </a:tcPr>
                </a:tc>
                <a:extLst>
                  <a:ext uri="{0D108BD9-81ED-4DB2-BD59-A6C34878D82A}">
                    <a16:rowId xmlns:a16="http://schemas.microsoft.com/office/drawing/2014/main" val="10006"/>
                  </a:ext>
                </a:extLst>
              </a:tr>
            </a:tbl>
          </a:graphicData>
        </a:graphic>
      </p:graphicFrame>
      <p:sp>
        <p:nvSpPr>
          <p:cNvPr id="5" name="body">
            <a:extLst>
              <a:ext uri="{FF2B5EF4-FFF2-40B4-BE49-F238E27FC236}">
                <a16:creationId xmlns:a16="http://schemas.microsoft.com/office/drawing/2014/main" id="{51C9F7F1-0694-4005-85B7-C3C378C680DF}"/>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Σ is capital sigma. It means “add all these terms”. Total the last column.</a:t>
            </a:r>
          </a:p>
        </p:txBody>
      </p:sp>
      <p:sp>
        <p:nvSpPr>
          <p:cNvPr id="6"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B1a • GUIDED PRACTICE</a:t>
            </a:r>
          </a:p>
        </p:txBody>
      </p:sp>
      <p:pic>
        <p:nvPicPr>
          <p:cNvPr id="10" name="Picture 9">
            <a:extLst>
              <a:ext uri="{FF2B5EF4-FFF2-40B4-BE49-F238E27FC236}">
                <a16:creationId xmlns:a16="http://schemas.microsoft.com/office/drawing/2014/main" id="{C28002BB-A0F1-F147-F577-972E6E9D83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72908" y="1420272"/>
            <a:ext cx="3092427" cy="794385"/>
          </a:xfrm>
          <a:prstGeom prst="rect">
            <a:avLst/>
          </a:prstGeom>
          <a:ln w="19050">
            <a:solidFill>
              <a:schemeClr val="accent1"/>
            </a:solidFill>
          </a:ln>
        </p:spPr>
      </p:pic>
    </p:spTree>
    <p:extLst>
      <p:ext uri="{BB962C8B-B14F-4D97-AF65-F5344CB8AC3E}">
        <p14:creationId xmlns:p14="http://schemas.microsoft.com/office/powerpoint/2010/main" val="32813612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Population variance</a:t>
            </a:r>
          </a:p>
        </p:txBody>
      </p:sp>
      <p:sp>
        <p:nvSpPr>
          <p:cNvPr id="3" name="body">
            <a:extLst>
              <a:ext uri="{FF2B5EF4-FFF2-40B4-BE49-F238E27FC236}">
                <a16:creationId xmlns:a16="http://schemas.microsoft.com/office/drawing/2014/main" id="{0DC35320-7E25-45F9-A8AB-D103ACE2D50D}"/>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Population variance is the average of the squared deviations.</a:t>
            </a:r>
          </a:p>
        </p:txBody>
      </p:sp>
      <p:pic>
        <p:nvPicPr>
          <p:cNvPr id="4" name="Picture 3"/>
          <p:cNvPicPr>
            <a:picLocks noChangeAspect="1"/>
          </p:cNvPicPr>
          <p:nvPr/>
        </p:nvPicPr>
        <p:blipFill>
          <a:blip r:embed="rId3"/>
          <a:stretch/>
        </p:blipFill>
        <p:spPr>
          <a:xfrm>
            <a:off x="571500" y="2805317"/>
            <a:ext cx="5667375" cy="513942"/>
          </a:xfrm>
          <a:prstGeom prst="rect">
            <a:avLst/>
          </a:prstGeom>
        </p:spPr>
      </p:pic>
      <p:pic>
        <p:nvPicPr>
          <p:cNvPr id="5" name="Picture 4"/>
          <p:cNvPicPr>
            <a:picLocks noChangeAspect="1"/>
          </p:cNvPicPr>
          <p:nvPr/>
        </p:nvPicPr>
        <p:blipFill>
          <a:blip r:embed="rId4"/>
          <a:stretch/>
        </p:blipFill>
        <p:spPr>
          <a:xfrm>
            <a:off x="1932214" y="3686175"/>
            <a:ext cx="2993571" cy="1047750"/>
          </a:xfrm>
          <a:prstGeom prst="rect">
            <a:avLst/>
          </a:prstGeom>
          <a:ln w="28575">
            <a:solidFill>
              <a:schemeClr val="accent1"/>
            </a:solidFill>
          </a:ln>
        </p:spPr>
      </p:pic>
      <p:pic>
        <p:nvPicPr>
          <p:cNvPr id="6" name="Picture 5"/>
          <p:cNvPicPr>
            <a:picLocks noChangeAspect="1"/>
          </p:cNvPicPr>
          <p:nvPr/>
        </p:nvPicPr>
        <p:blipFill>
          <a:blip r:embed="rId5"/>
          <a:stretch/>
        </p:blipFill>
        <p:spPr>
          <a:xfrm>
            <a:off x="1546412" y="4991100"/>
            <a:ext cx="3765176" cy="762000"/>
          </a:xfrm>
          <a:prstGeom prst="rect">
            <a:avLst/>
          </a:prstGeom>
        </p:spPr>
      </p:pic>
      <p:graphicFrame>
        <p:nvGraphicFramePr>
          <p:cNvPr id="7" name="Table 6"/>
          <p:cNvGraphicFramePr/>
          <p:nvPr/>
        </p:nvGraphicFramePr>
        <p:xfrm>
          <a:off x="6667500" y="2781300"/>
          <a:ext cx="5000625" cy="2952750"/>
        </p:xfrm>
        <a:graphic>
          <a:graphicData uri="http://schemas.openxmlformats.org/drawingml/2006/table">
            <a:tbl>
              <a:tblPr/>
              <a:tblGrid>
                <a:gridCol w="2428875">
                  <a:extLst>
                    <a:ext uri="{9D8B030D-6E8A-4147-A177-3AD203B41FA5}">
                      <a16:colId xmlns:a16="http://schemas.microsoft.com/office/drawing/2014/main" val="20000"/>
                    </a:ext>
                  </a:extLst>
                </a:gridCol>
                <a:gridCol w="2571750">
                  <a:extLst>
                    <a:ext uri="{9D8B030D-6E8A-4147-A177-3AD203B41FA5}">
                      <a16:colId xmlns:a16="http://schemas.microsoft.com/office/drawing/2014/main" val="20001"/>
                    </a:ext>
                  </a:extLst>
                </a:gridCol>
              </a:tblGrid>
              <a:tr h="492125">
                <a:tc>
                  <a:txBody>
                    <a:bodyPr/>
                    <a:lstStyle/>
                    <a:p>
                      <a:pPr marL="0" marR="0" indent="0">
                        <a:lnSpc>
                          <a:spcPct val="105000"/>
                        </a:lnSpc>
                        <a:spcBef>
                          <a:spcPts val="0"/>
                        </a:spcBef>
                        <a:spcAft>
                          <a:spcPts val="0"/>
                        </a:spcAft>
                      </a:pPr>
                      <a:r>
                        <a:rPr sz="1800" b="1">
                          <a:solidFill>
                            <a:srgbClr val="FFFFFF"/>
                          </a:solidFill>
                          <a:latin typeface="Aptos"/>
                          <a:ea typeface="Aptos"/>
                          <a:cs typeface="Aptos"/>
                        </a:rPr>
                        <a:t>Symbol / name</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00" b="1">
                          <a:solidFill>
                            <a:srgbClr val="FFFFFF"/>
                          </a:solidFill>
                          <a:latin typeface="Aptos"/>
                          <a:ea typeface="Aptos"/>
                          <a:cs typeface="Aptos"/>
                        </a:rPr>
                        <a:t>Meaning</a:t>
                      </a:r>
                    </a:p>
                  </a:txBody>
                  <a:tcPr marL="76200" marR="57150" marT="19050" marB="19050" anchor="ctr">
                    <a:solidFill>
                      <a:srgbClr val="D6171D"/>
                    </a:solidFill>
                  </a:tcPr>
                </a:tc>
                <a:extLst>
                  <a:ext uri="{0D108BD9-81ED-4DB2-BD59-A6C34878D82A}">
                    <a16:rowId xmlns:a16="http://schemas.microsoft.com/office/drawing/2014/main" val="10000"/>
                  </a:ext>
                </a:extLst>
              </a:tr>
              <a:tr h="492125">
                <a:tc>
                  <a:txBody>
                    <a:bodyPr/>
                    <a:lstStyle/>
                    <a:p>
                      <a:pPr marL="0" marR="0" indent="0">
                        <a:lnSpc>
                          <a:spcPct val="105000"/>
                        </a:lnSpc>
                        <a:spcBef>
                          <a:spcPts val="0"/>
                        </a:spcBef>
                        <a:spcAft>
                          <a:spcPts val="0"/>
                        </a:spcAft>
                      </a:pPr>
                      <a:r>
                        <a:rPr sz="1725" b="0">
                          <a:solidFill>
                            <a:srgbClr val="111111"/>
                          </a:solidFill>
                          <a:latin typeface="Aptos"/>
                          <a:ea typeface="Aptos"/>
                          <a:cs typeface="Aptos"/>
                        </a:rPr>
                        <a:t>σ²  sigma squared</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725" b="0">
                          <a:solidFill>
                            <a:srgbClr val="111111"/>
                          </a:solidFill>
                          <a:latin typeface="Aptos"/>
                          <a:ea typeface="Aptos"/>
                          <a:cs typeface="Aptos"/>
                        </a:rPr>
                        <a:t>Population variance</a:t>
                      </a:r>
                    </a:p>
                  </a:txBody>
                  <a:tcPr marL="76200" marR="57150" marT="19050" marB="19050" anchor="ctr">
                    <a:solidFill>
                      <a:srgbClr val="FFFFFF"/>
                    </a:solidFill>
                  </a:tcPr>
                </a:tc>
                <a:extLst>
                  <a:ext uri="{0D108BD9-81ED-4DB2-BD59-A6C34878D82A}">
                    <a16:rowId xmlns:a16="http://schemas.microsoft.com/office/drawing/2014/main" val="10001"/>
                  </a:ext>
                </a:extLst>
              </a:tr>
              <a:tr h="492125">
                <a:tc>
                  <a:txBody>
                    <a:bodyPr/>
                    <a:lstStyle/>
                    <a:p>
                      <a:pPr marL="0" marR="0" indent="0">
                        <a:lnSpc>
                          <a:spcPct val="105000"/>
                        </a:lnSpc>
                        <a:spcBef>
                          <a:spcPts val="0"/>
                        </a:spcBef>
                        <a:spcAft>
                          <a:spcPts val="0"/>
                        </a:spcAft>
                      </a:pPr>
                      <a:r>
                        <a:rPr sz="1725" b="0">
                          <a:solidFill>
                            <a:srgbClr val="111111"/>
                          </a:solidFill>
                          <a:latin typeface="Aptos"/>
                          <a:ea typeface="Aptos"/>
                          <a:cs typeface="Aptos"/>
                        </a:rPr>
                        <a:t>xᵢ  x sub i</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725" b="0">
                          <a:solidFill>
                            <a:srgbClr val="111111"/>
                          </a:solidFill>
                          <a:latin typeface="Aptos"/>
                          <a:ea typeface="Aptos"/>
                          <a:cs typeface="Aptos"/>
                        </a:rPr>
                        <a:t>One observation</a:t>
                      </a:r>
                    </a:p>
                  </a:txBody>
                  <a:tcPr marL="76200" marR="57150" marT="19050" marB="19050" anchor="ctr">
                    <a:solidFill>
                      <a:srgbClr val="EFF8FF"/>
                    </a:solidFill>
                  </a:tcPr>
                </a:tc>
                <a:extLst>
                  <a:ext uri="{0D108BD9-81ED-4DB2-BD59-A6C34878D82A}">
                    <a16:rowId xmlns:a16="http://schemas.microsoft.com/office/drawing/2014/main" val="10002"/>
                  </a:ext>
                </a:extLst>
              </a:tr>
              <a:tr h="492125">
                <a:tc>
                  <a:txBody>
                    <a:bodyPr/>
                    <a:lstStyle/>
                    <a:p>
                      <a:pPr marL="0" marR="0" indent="0">
                        <a:lnSpc>
                          <a:spcPct val="105000"/>
                        </a:lnSpc>
                        <a:spcBef>
                          <a:spcPts val="0"/>
                        </a:spcBef>
                        <a:spcAft>
                          <a:spcPts val="0"/>
                        </a:spcAft>
                      </a:pPr>
                      <a:r>
                        <a:rPr sz="1725" b="0">
                          <a:solidFill>
                            <a:srgbClr val="111111"/>
                          </a:solidFill>
                          <a:latin typeface="Aptos"/>
                          <a:ea typeface="Aptos"/>
                          <a:cs typeface="Aptos"/>
                        </a:rPr>
                        <a:t>μ  mu</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725" b="0">
                          <a:solidFill>
                            <a:srgbClr val="111111"/>
                          </a:solidFill>
                          <a:latin typeface="Aptos"/>
                          <a:ea typeface="Aptos"/>
                          <a:cs typeface="Aptos"/>
                        </a:rPr>
                        <a:t>Population mean</a:t>
                      </a:r>
                    </a:p>
                  </a:txBody>
                  <a:tcPr marL="76200" marR="57150" marT="19050" marB="19050" anchor="ctr">
                    <a:solidFill>
                      <a:srgbClr val="FFFFFF"/>
                    </a:solidFill>
                  </a:tcPr>
                </a:tc>
                <a:extLst>
                  <a:ext uri="{0D108BD9-81ED-4DB2-BD59-A6C34878D82A}">
                    <a16:rowId xmlns:a16="http://schemas.microsoft.com/office/drawing/2014/main" val="10003"/>
                  </a:ext>
                </a:extLst>
              </a:tr>
              <a:tr h="492125">
                <a:tc>
                  <a:txBody>
                    <a:bodyPr/>
                    <a:lstStyle/>
                    <a:p>
                      <a:pPr marL="0" marR="0" indent="0">
                        <a:lnSpc>
                          <a:spcPct val="105000"/>
                        </a:lnSpc>
                        <a:spcBef>
                          <a:spcPts val="0"/>
                        </a:spcBef>
                        <a:spcAft>
                          <a:spcPts val="0"/>
                        </a:spcAft>
                      </a:pPr>
                      <a:r>
                        <a:rPr sz="1725" b="0">
                          <a:solidFill>
                            <a:srgbClr val="111111"/>
                          </a:solidFill>
                          <a:latin typeface="Aptos"/>
                          <a:ea typeface="Aptos"/>
                          <a:cs typeface="Aptos"/>
                        </a:rPr>
                        <a:t>N  capital N</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725" b="0">
                          <a:solidFill>
                            <a:srgbClr val="111111"/>
                          </a:solidFill>
                          <a:latin typeface="Aptos"/>
                          <a:ea typeface="Aptos"/>
                          <a:cs typeface="Aptos"/>
                        </a:rPr>
                        <a:t>Population count</a:t>
                      </a:r>
                    </a:p>
                  </a:txBody>
                  <a:tcPr marL="76200" marR="57150" marT="19050" marB="19050" anchor="ctr">
                    <a:solidFill>
                      <a:srgbClr val="EFF8FF"/>
                    </a:solidFill>
                  </a:tcPr>
                </a:tc>
                <a:extLst>
                  <a:ext uri="{0D108BD9-81ED-4DB2-BD59-A6C34878D82A}">
                    <a16:rowId xmlns:a16="http://schemas.microsoft.com/office/drawing/2014/main" val="10004"/>
                  </a:ext>
                </a:extLst>
              </a:tr>
              <a:tr h="492125">
                <a:tc>
                  <a:txBody>
                    <a:bodyPr/>
                    <a:lstStyle/>
                    <a:p>
                      <a:pPr marL="0" marR="0" indent="0">
                        <a:lnSpc>
                          <a:spcPct val="105000"/>
                        </a:lnSpc>
                        <a:spcBef>
                          <a:spcPts val="0"/>
                        </a:spcBef>
                        <a:spcAft>
                          <a:spcPts val="0"/>
                        </a:spcAft>
                      </a:pPr>
                      <a:r>
                        <a:rPr sz="1725" b="0">
                          <a:solidFill>
                            <a:srgbClr val="111111"/>
                          </a:solidFill>
                          <a:latin typeface="Aptos"/>
                          <a:ea typeface="Aptos"/>
                          <a:cs typeface="Aptos"/>
                        </a:rPr>
                        <a:t>Σ  capital sigma</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725" b="0">
                          <a:solidFill>
                            <a:srgbClr val="111111"/>
                          </a:solidFill>
                          <a:latin typeface="Aptos"/>
                          <a:ea typeface="Aptos"/>
                          <a:cs typeface="Aptos"/>
                        </a:rPr>
                        <a:t>Add all terms</a:t>
                      </a:r>
                    </a:p>
                  </a:txBody>
                  <a:tcPr marL="76200" marR="5715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8" name="body">
            <a:extLst>
              <a:ext uri="{FF2B5EF4-FFF2-40B4-BE49-F238E27FC236}">
                <a16:creationId xmlns:a16="http://schemas.microsoft.com/office/drawing/2014/main" id="{9AC4B351-1C7F-407F-A4A0-C912FA89BA5E}"/>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All five customers are included. Divide by 5. Variance has squared units.</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WORKED EXAMPLE</a:t>
            </a:r>
          </a:p>
        </p:txBody>
      </p:sp>
    </p:spTree>
    <p:extLst>
      <p:ext uri="{BB962C8B-B14F-4D97-AF65-F5344CB8AC3E}">
        <p14:creationId xmlns:p14="http://schemas.microsoft.com/office/powerpoint/2010/main" val="32813612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Standard deviation: back to minutes</a:t>
            </a:r>
          </a:p>
        </p:txBody>
      </p:sp>
      <p:sp>
        <p:nvSpPr>
          <p:cNvPr id="3" name="body">
            <a:extLst>
              <a:ext uri="{FF2B5EF4-FFF2-40B4-BE49-F238E27FC236}">
                <a16:creationId xmlns:a16="http://schemas.microsoft.com/office/drawing/2014/main" id="{3E624D0B-0E5B-455C-ADEA-A693CB18314B}"/>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Standard deviation is the square root of variance.</a:t>
            </a:r>
          </a:p>
        </p:txBody>
      </p:sp>
      <p:pic>
        <p:nvPicPr>
          <p:cNvPr id="4" name="Picture 3"/>
          <p:cNvPicPr>
            <a:picLocks noChangeAspect="1"/>
          </p:cNvPicPr>
          <p:nvPr/>
        </p:nvPicPr>
        <p:blipFill>
          <a:blip r:embed="rId3"/>
          <a:stretch/>
        </p:blipFill>
        <p:spPr>
          <a:xfrm>
            <a:off x="5007738" y="2971800"/>
            <a:ext cx="2176524" cy="857250"/>
          </a:xfrm>
          <a:prstGeom prst="rect">
            <a:avLst/>
          </a:prstGeom>
        </p:spPr>
      </p:pic>
      <p:pic>
        <p:nvPicPr>
          <p:cNvPr id="5" name="Picture 4"/>
          <p:cNvPicPr>
            <a:picLocks noChangeAspect="1"/>
          </p:cNvPicPr>
          <p:nvPr/>
        </p:nvPicPr>
        <p:blipFill>
          <a:blip r:embed="rId4"/>
          <a:stretch/>
        </p:blipFill>
        <p:spPr>
          <a:xfrm>
            <a:off x="3756499" y="4219575"/>
            <a:ext cx="4679002" cy="809625"/>
          </a:xfrm>
          <a:prstGeom prst="rect">
            <a:avLst/>
          </a:prstGeom>
        </p:spPr>
      </p:pic>
      <p:sp>
        <p:nvSpPr>
          <p:cNvPr id="6" name="body">
            <a:extLst>
              <a:ext uri="{FF2B5EF4-FFF2-40B4-BE49-F238E27FC236}">
                <a16:creationId xmlns:a16="http://schemas.microsoft.com/office/drawing/2014/main" id="{9988CB54-D0CC-402C-B388-CF439C634B3D}"/>
              </a:ext>
            </a:extLst>
          </p:cNvPr>
          <p:cNvSpPr>
            <a:spLocks noGrp="1"/>
          </p:cNvSpPr>
          <p:nvPr/>
        </p:nvSpPr>
        <p:spPr>
          <a:xfrm>
            <a:off x="523875" y="5524500"/>
            <a:ext cx="11144250" cy="438150"/>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σ is “sigma”, population standard deviation.</a:t>
            </a:r>
          </a:p>
        </p:txBody>
      </p:sp>
      <p:sp>
        <p:nvSpPr>
          <p:cNvPr id="7" name="body">
            <a:extLst>
              <a:ext uri="{FF2B5EF4-FFF2-40B4-BE49-F238E27FC236}">
                <a16:creationId xmlns:a16="http://schemas.microsoft.com/office/drawing/2014/main" id="{187A7089-9F81-48B2-92ED-54AC0EB2ADDA}"/>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The square root returns the result to the original units: minutes.</a:t>
            </a:r>
          </a:p>
        </p:txBody>
      </p:sp>
      <p:sp>
        <p:nvSpPr>
          <p:cNvPr id="8"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WORKED EXAMPLE</a:t>
            </a:r>
          </a:p>
        </p:txBody>
      </p:sp>
    </p:spTree>
    <p:extLst>
      <p:ext uri="{BB962C8B-B14F-4D97-AF65-F5344CB8AC3E}">
        <p14:creationId xmlns:p14="http://schemas.microsoft.com/office/powerpoint/2010/main" val="3281361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Mean and SD answer different questions</a:t>
            </a:r>
          </a:p>
        </p:txBody>
      </p:sp>
      <p:sp>
        <p:nvSpPr>
          <p:cNvPr id="3" name="body">
            <a:extLst>
              <a:ext uri="{FF2B5EF4-FFF2-40B4-BE49-F238E27FC236}">
                <a16:creationId xmlns:a16="http://schemas.microsoft.com/office/drawing/2014/main" id="{C3D8C853-F46C-4358-A294-B884CA3ADF7A}"/>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 manager wants short waits and consistent waits.</a:t>
            </a:r>
          </a:p>
        </p:txBody>
      </p:sp>
      <p:graphicFrame>
        <p:nvGraphicFramePr>
          <p:cNvPr id="4" name="Table 3"/>
          <p:cNvGraphicFramePr/>
          <p:nvPr/>
        </p:nvGraphicFramePr>
        <p:xfrm>
          <a:off x="523875" y="2952750"/>
          <a:ext cx="11144250" cy="2114550"/>
        </p:xfrm>
        <a:graphic>
          <a:graphicData uri="http://schemas.openxmlformats.org/drawingml/2006/table">
            <a:tbl>
              <a:tblPr/>
              <a:tblGrid>
                <a:gridCol w="3048000">
                  <a:extLst>
                    <a:ext uri="{9D8B030D-6E8A-4147-A177-3AD203B41FA5}">
                      <a16:colId xmlns:a16="http://schemas.microsoft.com/office/drawing/2014/main" val="20000"/>
                    </a:ext>
                  </a:extLst>
                </a:gridCol>
                <a:gridCol w="2762250">
                  <a:extLst>
                    <a:ext uri="{9D8B030D-6E8A-4147-A177-3AD203B41FA5}">
                      <a16:colId xmlns:a16="http://schemas.microsoft.com/office/drawing/2014/main" val="20001"/>
                    </a:ext>
                  </a:extLst>
                </a:gridCol>
                <a:gridCol w="5334000">
                  <a:extLst>
                    <a:ext uri="{9D8B030D-6E8A-4147-A177-3AD203B41FA5}">
                      <a16:colId xmlns:a16="http://schemas.microsoft.com/office/drawing/2014/main" val="20002"/>
                    </a:ext>
                  </a:extLst>
                </a:gridCol>
              </a:tblGrid>
              <a:tr h="704850">
                <a:tc>
                  <a:txBody>
                    <a:bodyPr/>
                    <a:lstStyle/>
                    <a:p>
                      <a:pPr marL="0" marR="0" indent="0">
                        <a:lnSpc>
                          <a:spcPct val="105000"/>
                        </a:lnSpc>
                        <a:spcBef>
                          <a:spcPts val="0"/>
                        </a:spcBef>
                        <a:spcAft>
                          <a:spcPts val="0"/>
                        </a:spcAft>
                      </a:pPr>
                      <a:r>
                        <a:rPr sz="1875" b="1">
                          <a:solidFill>
                            <a:srgbClr val="FFFFFF"/>
                          </a:solidFill>
                          <a:latin typeface="Aptos"/>
                          <a:ea typeface="Aptos"/>
                          <a:cs typeface="Aptos"/>
                        </a:rPr>
                        <a:t>Measure</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75" b="1">
                          <a:solidFill>
                            <a:srgbClr val="FFFFFF"/>
                          </a:solidFill>
                          <a:latin typeface="Aptos"/>
                          <a:ea typeface="Aptos"/>
                          <a:cs typeface="Aptos"/>
                        </a:rPr>
                        <a:t>Our shift</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75" b="1">
                          <a:solidFill>
                            <a:srgbClr val="FFFFFF"/>
                          </a:solidFill>
                          <a:latin typeface="Aptos"/>
                          <a:ea typeface="Aptos"/>
                          <a:cs typeface="Aptos"/>
                        </a:rPr>
                        <a:t>What it tells us</a:t>
                      </a:r>
                    </a:p>
                  </a:txBody>
                  <a:tcPr marL="76200" marR="57150" marT="19050" marB="19050" anchor="ctr">
                    <a:solidFill>
                      <a:srgbClr val="D6171D"/>
                    </a:solidFill>
                  </a:tcPr>
                </a:tc>
                <a:extLst>
                  <a:ext uri="{0D108BD9-81ED-4DB2-BD59-A6C34878D82A}">
                    <a16:rowId xmlns:a16="http://schemas.microsoft.com/office/drawing/2014/main" val="10000"/>
                  </a:ext>
                </a:extLst>
              </a:tr>
              <a:tr h="704850">
                <a:tc>
                  <a:txBody>
                    <a:bodyPr/>
                    <a:lstStyle/>
                    <a:p>
                      <a:pPr marL="0" marR="0" indent="0">
                        <a:lnSpc>
                          <a:spcPct val="105000"/>
                        </a:lnSpc>
                        <a:spcBef>
                          <a:spcPts val="0"/>
                        </a:spcBef>
                        <a:spcAft>
                          <a:spcPts val="0"/>
                        </a:spcAft>
                      </a:pPr>
                      <a:r>
                        <a:rPr sz="2175" b="0">
                          <a:solidFill>
                            <a:srgbClr val="111111"/>
                          </a:solidFill>
                          <a:latin typeface="Aptos"/>
                          <a:ea typeface="Aptos"/>
                          <a:cs typeface="Aptos"/>
                        </a:rPr>
                        <a:t>Mean</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75" b="0">
                          <a:solidFill>
                            <a:srgbClr val="111111"/>
                          </a:solidFill>
                          <a:latin typeface="Aptos"/>
                          <a:ea typeface="Aptos"/>
                          <a:cs typeface="Aptos"/>
                        </a:rPr>
                        <a:t>10 minutes</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75" b="0">
                          <a:solidFill>
                            <a:srgbClr val="111111"/>
                          </a:solidFill>
                          <a:latin typeface="Aptos"/>
                          <a:ea typeface="Aptos"/>
                          <a:cs typeface="Aptos"/>
                        </a:rPr>
                        <a:t>The average wait</a:t>
                      </a:r>
                    </a:p>
                  </a:txBody>
                  <a:tcPr marL="76200" marR="57150" marT="19050" marB="19050" anchor="ctr">
                    <a:solidFill>
                      <a:srgbClr val="FFFFFF"/>
                    </a:solidFill>
                  </a:tcPr>
                </a:tc>
                <a:extLst>
                  <a:ext uri="{0D108BD9-81ED-4DB2-BD59-A6C34878D82A}">
                    <a16:rowId xmlns:a16="http://schemas.microsoft.com/office/drawing/2014/main" val="10001"/>
                  </a:ext>
                </a:extLst>
              </a:tr>
              <a:tr h="704850">
                <a:tc>
                  <a:txBody>
                    <a:bodyPr/>
                    <a:lstStyle/>
                    <a:p>
                      <a:pPr marL="0" marR="0" indent="0">
                        <a:lnSpc>
                          <a:spcPct val="105000"/>
                        </a:lnSpc>
                        <a:spcBef>
                          <a:spcPts val="0"/>
                        </a:spcBef>
                        <a:spcAft>
                          <a:spcPts val="0"/>
                        </a:spcAft>
                      </a:pPr>
                      <a:r>
                        <a:rPr sz="2175" b="0">
                          <a:solidFill>
                            <a:srgbClr val="111111"/>
                          </a:solidFill>
                          <a:latin typeface="Aptos"/>
                          <a:ea typeface="Aptos"/>
                          <a:cs typeface="Aptos"/>
                        </a:rPr>
                        <a:t>Standard deviation</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75" b="0" dirty="0">
                          <a:solidFill>
                            <a:srgbClr val="111111"/>
                          </a:solidFill>
                          <a:latin typeface="Aptos"/>
                          <a:ea typeface="Aptos"/>
                          <a:cs typeface="Aptos"/>
                        </a:rPr>
                        <a:t>About 2.53 minutes</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75" b="0" dirty="0">
                          <a:solidFill>
                            <a:srgbClr val="111111"/>
                          </a:solidFill>
                          <a:latin typeface="Aptos"/>
                          <a:ea typeface="Aptos"/>
                          <a:cs typeface="Aptos"/>
                        </a:rPr>
                        <a:t>Spread around the mean</a:t>
                      </a:r>
                    </a:p>
                  </a:txBody>
                  <a:tcPr marL="76200" marR="57150" marT="19050" marB="19050" anchor="ctr">
                    <a:solidFill>
                      <a:srgbClr val="EFF8FF"/>
                    </a:solidFill>
                  </a:tcPr>
                </a:tc>
                <a:extLst>
                  <a:ext uri="{0D108BD9-81ED-4DB2-BD59-A6C34878D82A}">
                    <a16:rowId xmlns:a16="http://schemas.microsoft.com/office/drawing/2014/main" val="10002"/>
                  </a:ext>
                </a:extLst>
              </a:tr>
            </a:tbl>
          </a:graphicData>
        </a:graphic>
      </p:graphicFrame>
      <p:sp>
        <p:nvSpPr>
          <p:cNvPr id="5" name="body">
            <a:extLst>
              <a:ext uri="{FF2B5EF4-FFF2-40B4-BE49-F238E27FC236}">
                <a16:creationId xmlns:a16="http://schemas.microsoft.com/office/drawing/2014/main" id="{83F26D4C-DA42-4245-A195-7A50FE03B0B3}"/>
              </a:ext>
            </a:extLst>
          </p:cNvPr>
          <p:cNvSpPr>
            <a:spLocks noGrp="1"/>
          </p:cNvSpPr>
          <p:nvPr/>
        </p:nvSpPr>
        <p:spPr>
          <a:xfrm>
            <a:off x="523875" y="5514975"/>
            <a:ext cx="11144250" cy="5905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If every customer waited 10 minutes: mean = 10, SD = 0.</a:t>
            </a:r>
          </a:p>
        </p:txBody>
      </p:sp>
    </p:spTree>
    <p:extLst>
      <p:ext uri="{BB962C8B-B14F-4D97-AF65-F5344CB8AC3E}">
        <p14:creationId xmlns:p14="http://schemas.microsoft.com/office/powerpoint/2010/main" val="3281361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Deviation and standard deviation</a:t>
            </a:r>
          </a:p>
        </p:txBody>
      </p:sp>
      <p:sp>
        <p:nvSpPr>
          <p:cNvPr id="3" name="body">
            <a:extLst>
              <a:ext uri="{FF2B5EF4-FFF2-40B4-BE49-F238E27FC236}">
                <a16:creationId xmlns:a16="http://schemas.microsoft.com/office/drawing/2014/main" id="{D1CCEA28-BF27-401B-90DE-7078D35F9431}"/>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One observation or spread across the whole dataset?</a:t>
            </a:r>
          </a:p>
        </p:txBody>
      </p:sp>
      <p:graphicFrame>
        <p:nvGraphicFramePr>
          <p:cNvPr id="4" name="Table 3"/>
          <p:cNvGraphicFramePr/>
          <p:nvPr/>
        </p:nvGraphicFramePr>
        <p:xfrm>
          <a:off x="523875" y="2695575"/>
          <a:ext cx="11144250" cy="3208655"/>
        </p:xfrm>
        <a:graphic>
          <a:graphicData uri="http://schemas.openxmlformats.org/drawingml/2006/table">
            <a:tbl>
              <a:tblPr/>
              <a:tblGrid>
                <a:gridCol w="2333625">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619625">
                  <a:extLst>
                    <a:ext uri="{9D8B030D-6E8A-4147-A177-3AD203B41FA5}">
                      <a16:colId xmlns:a16="http://schemas.microsoft.com/office/drawing/2014/main" val="20002"/>
                    </a:ext>
                  </a:extLst>
                </a:gridCol>
              </a:tblGrid>
              <a:tr h="511175">
                <a:tc>
                  <a:txBody>
                    <a:bodyPr/>
                    <a:lstStyle/>
                    <a:p>
                      <a:pPr marL="0" marR="0" indent="0">
                        <a:lnSpc>
                          <a:spcPct val="105000"/>
                        </a:lnSpc>
                        <a:spcBef>
                          <a:spcPts val="0"/>
                        </a:spcBef>
                        <a:spcAft>
                          <a:spcPts val="0"/>
                        </a:spcAft>
                      </a:pPr>
                      <a:r>
                        <a:rPr sz="2025" b="1">
                          <a:solidFill>
                            <a:srgbClr val="FFFFFF"/>
                          </a:solidFill>
                          <a:latin typeface="Aptos"/>
                          <a:ea typeface="Aptos"/>
                          <a:cs typeface="Aptos"/>
                        </a:rPr>
                        <a:t>Feature</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Deviation</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Standard deviation</a:t>
                      </a:r>
                    </a:p>
                  </a:txBody>
                  <a:tcPr marL="76200" marR="57150" marT="19050" marB="19050" anchor="ctr">
                    <a:solidFill>
                      <a:srgbClr val="D6171D"/>
                    </a:solidFill>
                  </a:tcPr>
                </a:tc>
                <a:extLst>
                  <a:ext uri="{0D108BD9-81ED-4DB2-BD59-A6C34878D82A}">
                    <a16:rowId xmlns:a16="http://schemas.microsoft.com/office/drawing/2014/main" val="10000"/>
                  </a:ext>
                </a:extLst>
              </a:tr>
              <a:tr h="511175">
                <a:tc>
                  <a:txBody>
                    <a:bodyPr/>
                    <a:lstStyle/>
                    <a:p>
                      <a:pPr marL="0" marR="0" indent="0">
                        <a:lnSpc>
                          <a:spcPct val="105000"/>
                        </a:lnSpc>
                        <a:spcBef>
                          <a:spcPts val="0"/>
                        </a:spcBef>
                        <a:spcAft>
                          <a:spcPts val="0"/>
                        </a:spcAft>
                      </a:pPr>
                      <a:r>
                        <a:rPr sz="1950" b="0">
                          <a:solidFill>
                            <a:srgbClr val="111111"/>
                          </a:solidFill>
                          <a:latin typeface="Aptos"/>
                          <a:ea typeface="Aptos"/>
                          <a:cs typeface="Aptos"/>
                        </a:rPr>
                        <a:t>Describes</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One observation</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The whole dataset</a:t>
                      </a:r>
                    </a:p>
                  </a:txBody>
                  <a:tcPr marL="76200" marR="57150" marT="19050" marB="19050" anchor="ctr">
                    <a:solidFill>
                      <a:srgbClr val="FFFFFF"/>
                    </a:solidFill>
                  </a:tcPr>
                </a:tc>
                <a:extLst>
                  <a:ext uri="{0D108BD9-81ED-4DB2-BD59-A6C34878D82A}">
                    <a16:rowId xmlns:a16="http://schemas.microsoft.com/office/drawing/2014/main" val="10001"/>
                  </a:ext>
                </a:extLst>
              </a:tr>
              <a:tr h="511175">
                <a:tc>
                  <a:txBody>
                    <a:bodyPr/>
                    <a:lstStyle/>
                    <a:p>
                      <a:pPr marL="0" marR="0" indent="0">
                        <a:lnSpc>
                          <a:spcPct val="105000"/>
                        </a:lnSpc>
                        <a:spcBef>
                          <a:spcPts val="0"/>
                        </a:spcBef>
                        <a:spcAft>
                          <a:spcPts val="0"/>
                        </a:spcAft>
                      </a:pPr>
                      <a:r>
                        <a:rPr sz="1950" b="0">
                          <a:solidFill>
                            <a:srgbClr val="111111"/>
                          </a:solidFill>
                          <a:latin typeface="Aptos"/>
                          <a:ea typeface="Aptos"/>
                          <a:cs typeface="Aptos"/>
                        </a:rPr>
                        <a:t>Meaning</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950" b="0" dirty="0">
                          <a:solidFill>
                            <a:srgbClr val="111111"/>
                          </a:solidFill>
                          <a:latin typeface="Aptos"/>
                          <a:ea typeface="Aptos"/>
                          <a:cs typeface="Aptos"/>
                        </a:rPr>
                        <a:t>Signed difference</a:t>
                      </a:r>
                    </a:p>
                    <a:p>
                      <a:pPr marL="0" marR="0" indent="0">
                        <a:lnSpc>
                          <a:spcPct val="105000"/>
                        </a:lnSpc>
                        <a:spcBef>
                          <a:spcPts val="0"/>
                        </a:spcBef>
                        <a:spcAft>
                          <a:spcPts val="0"/>
                        </a:spcAft>
                      </a:pPr>
                      <a:r>
                        <a:rPr sz="1950" b="0" dirty="0">
                          <a:solidFill>
                            <a:srgbClr val="111111"/>
                          </a:solidFill>
                          <a:latin typeface="Aptos"/>
                          <a:ea typeface="Aptos"/>
                          <a:cs typeface="Aptos"/>
                        </a:rPr>
                        <a:t>from the mean</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Overall spread</a:t>
                      </a:r>
                    </a:p>
                    <a:p>
                      <a:pPr marL="0" marR="0" indent="0">
                        <a:lnSpc>
                          <a:spcPct val="105000"/>
                        </a:lnSpc>
                        <a:spcBef>
                          <a:spcPts val="0"/>
                        </a:spcBef>
                        <a:spcAft>
                          <a:spcPts val="0"/>
                        </a:spcAft>
                      </a:pPr>
                      <a:r>
                        <a:rPr sz="1950" b="0">
                          <a:solidFill>
                            <a:srgbClr val="111111"/>
                          </a:solidFill>
                          <a:latin typeface="Aptos"/>
                          <a:ea typeface="Aptos"/>
                          <a:cs typeface="Aptos"/>
                        </a:rPr>
                        <a:t>around the mean</a:t>
                      </a:r>
                    </a:p>
                  </a:txBody>
                  <a:tcPr marL="76200" marR="57150" marT="19050" marB="19050" anchor="ctr">
                    <a:solidFill>
                      <a:srgbClr val="EFF8FF"/>
                    </a:solidFill>
                  </a:tcPr>
                </a:tc>
                <a:extLst>
                  <a:ext uri="{0D108BD9-81ED-4DB2-BD59-A6C34878D82A}">
                    <a16:rowId xmlns:a16="http://schemas.microsoft.com/office/drawing/2014/main" val="10002"/>
                  </a:ext>
                </a:extLst>
              </a:tr>
              <a:tr h="511175">
                <a:tc>
                  <a:txBody>
                    <a:bodyPr/>
                    <a:lstStyle/>
                    <a:p>
                      <a:pPr marL="0" marR="0" indent="0">
                        <a:lnSpc>
                          <a:spcPct val="105000"/>
                        </a:lnSpc>
                        <a:spcBef>
                          <a:spcPts val="0"/>
                        </a:spcBef>
                        <a:spcAft>
                          <a:spcPts val="0"/>
                        </a:spcAft>
                      </a:pPr>
                      <a:r>
                        <a:rPr sz="1950" b="0">
                          <a:solidFill>
                            <a:srgbClr val="111111"/>
                          </a:solidFill>
                          <a:latin typeface="Aptos"/>
                          <a:ea typeface="Aptos"/>
                          <a:cs typeface="Aptos"/>
                        </a:rPr>
                        <a:t>Possible sign</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Negative, zero or positive</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Zero or positive</a:t>
                      </a:r>
                    </a:p>
                  </a:txBody>
                  <a:tcPr marL="76200" marR="57150" marT="19050" marB="19050" anchor="ctr">
                    <a:solidFill>
                      <a:srgbClr val="FFFFFF"/>
                    </a:solidFill>
                  </a:tcPr>
                </a:tc>
                <a:extLst>
                  <a:ext uri="{0D108BD9-81ED-4DB2-BD59-A6C34878D82A}">
                    <a16:rowId xmlns:a16="http://schemas.microsoft.com/office/drawing/2014/main" val="10003"/>
                  </a:ext>
                </a:extLst>
              </a:tr>
              <a:tr h="511175">
                <a:tc>
                  <a:txBody>
                    <a:bodyPr/>
                    <a:lstStyle/>
                    <a:p>
                      <a:pPr marL="0" marR="0" indent="0">
                        <a:lnSpc>
                          <a:spcPct val="105000"/>
                        </a:lnSpc>
                        <a:spcBef>
                          <a:spcPts val="0"/>
                        </a:spcBef>
                        <a:spcAft>
                          <a:spcPts val="0"/>
                        </a:spcAft>
                      </a:pPr>
                      <a:r>
                        <a:rPr sz="1950" b="0">
                          <a:solidFill>
                            <a:srgbClr val="111111"/>
                          </a:solidFill>
                          <a:latin typeface="Aptos"/>
                          <a:ea typeface="Aptos"/>
                          <a:cs typeface="Aptos"/>
                        </a:rPr>
                        <a:t>Units</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Original units</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Original units</a:t>
                      </a:r>
                    </a:p>
                  </a:txBody>
                  <a:tcPr marL="76200" marR="57150" marT="19050" marB="19050" anchor="ctr">
                    <a:solidFill>
                      <a:srgbClr val="EFF8FF"/>
                    </a:solidFill>
                  </a:tcPr>
                </a:tc>
                <a:extLst>
                  <a:ext uri="{0D108BD9-81ED-4DB2-BD59-A6C34878D82A}">
                    <a16:rowId xmlns:a16="http://schemas.microsoft.com/office/drawing/2014/main" val="10004"/>
                  </a:ext>
                </a:extLst>
              </a:tr>
              <a:tr h="511175">
                <a:tc>
                  <a:txBody>
                    <a:bodyPr/>
                    <a:lstStyle/>
                    <a:p>
                      <a:pPr marL="0" marR="0" indent="0">
                        <a:lnSpc>
                          <a:spcPct val="105000"/>
                        </a:lnSpc>
                        <a:spcBef>
                          <a:spcPts val="0"/>
                        </a:spcBef>
                        <a:spcAft>
                          <a:spcPts val="0"/>
                        </a:spcAft>
                      </a:pPr>
                      <a:r>
                        <a:rPr sz="1950" b="0">
                          <a:solidFill>
                            <a:srgbClr val="111111"/>
                          </a:solidFill>
                          <a:latin typeface="Aptos"/>
                          <a:ea typeface="Aptos"/>
                          <a:cs typeface="Aptos"/>
                        </a:rPr>
                        <a:t>Example</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950" b="0">
                          <a:solidFill>
                            <a:srgbClr val="111111"/>
                          </a:solidFill>
                          <a:latin typeface="Aptos"/>
                          <a:ea typeface="Aptos"/>
                          <a:cs typeface="Aptos"/>
                        </a:rPr>
                        <a:t>6 − 10 = −4 minutes</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950" b="0" dirty="0">
                          <a:solidFill>
                            <a:srgbClr val="111111"/>
                          </a:solidFill>
                          <a:latin typeface="Aptos"/>
                          <a:ea typeface="Aptos"/>
                          <a:cs typeface="Aptos"/>
                        </a:rPr>
                        <a:t>About 2.53 minutes</a:t>
                      </a:r>
                    </a:p>
                  </a:txBody>
                  <a:tcPr marL="76200" marR="5715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5" name="body">
            <a:extLst>
              <a:ext uri="{FF2B5EF4-FFF2-40B4-BE49-F238E27FC236}">
                <a16:creationId xmlns:a16="http://schemas.microsoft.com/office/drawing/2014/main" id="{2A5FA355-B55A-484A-8FD1-DF57956079D0}"/>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dirty="0">
                <a:solidFill>
                  <a:srgbClr val="111111"/>
                </a:solidFill>
                <a:latin typeface="Aptos"/>
                <a:ea typeface="Aptos"/>
                <a:cs typeface="Aptos"/>
              </a:rPr>
              <a:t>Several deviations combine through their squares to produce one SD.</a:t>
            </a:r>
          </a:p>
        </p:txBody>
      </p:sp>
    </p:spTree>
    <p:extLst>
      <p:ext uri="{BB962C8B-B14F-4D97-AF65-F5344CB8AC3E}">
        <p14:creationId xmlns:p14="http://schemas.microsoft.com/office/powerpoint/2010/main" val="32813612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B1b: another complete shift</a:t>
            </a:r>
          </a:p>
        </p:txBody>
      </p:sp>
      <p:sp>
        <p:nvSpPr>
          <p:cNvPr id="3" name="body">
            <a:extLst>
              <a:ext uri="{FF2B5EF4-FFF2-40B4-BE49-F238E27FC236}">
                <a16:creationId xmlns:a16="http://schemas.microsoft.com/office/drawing/2014/main" id="{C083B71B-D987-4EE2-89B9-5346494E118C}"/>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1" u="sng" dirty="0">
                <a:solidFill>
                  <a:srgbClr val="FF0000"/>
                </a:solidFill>
                <a:latin typeface="Aptos"/>
                <a:ea typeface="Aptos"/>
                <a:cs typeface="Aptos"/>
              </a:rPr>
              <a:t>All</a:t>
            </a:r>
            <a:r>
              <a:rPr sz="2325" b="0" dirty="0">
                <a:solidFill>
                  <a:srgbClr val="111111"/>
                </a:solidFill>
                <a:latin typeface="Aptos"/>
                <a:ea typeface="Aptos"/>
                <a:cs typeface="Aptos"/>
              </a:rPr>
              <a:t> eight customers waited the following times, in minutes.</a:t>
            </a:r>
          </a:p>
        </p:txBody>
      </p:sp>
      <p:sp>
        <p:nvSpPr>
          <p:cNvPr id="4" name="body">
            <a:extLst>
              <a:ext uri="{FF2B5EF4-FFF2-40B4-BE49-F238E27FC236}">
                <a16:creationId xmlns:a16="http://schemas.microsoft.com/office/drawing/2014/main" id="{C3F784EB-5EBE-408A-A4BC-1885D0F866DF}"/>
              </a:ext>
            </a:extLst>
          </p:cNvPr>
          <p:cNvSpPr>
            <a:spLocks noGrp="1"/>
          </p:cNvSpPr>
          <p:nvPr/>
        </p:nvSpPr>
        <p:spPr>
          <a:xfrm>
            <a:off x="523875" y="2838450"/>
            <a:ext cx="11144250" cy="666750"/>
          </a:xfrm>
          <a:prstGeom prst="rect">
            <a:avLst/>
          </a:prstGeom>
          <a:noFill/>
          <a:ln w="0">
            <a:noFill/>
          </a:ln>
        </p:spPr>
        <p:txBody>
          <a:bodyPr wrap="square" lIns="0" tIns="0" rIns="0" bIns="0" anchor="t">
            <a:noAutofit/>
          </a:bodyPr>
          <a:lstStyle/>
          <a:p>
            <a:pPr marL="0" marR="0" indent="0">
              <a:defRPr sz="2850" b="1">
                <a:solidFill>
                  <a:srgbClr val="111111"/>
                </a:solidFill>
                <a:latin typeface="Aptos"/>
                <a:ea typeface="Aptos"/>
                <a:cs typeface="Aptos"/>
              </a:defRPr>
            </a:pPr>
            <a:r>
              <a:rPr sz="2850" b="1">
                <a:solidFill>
                  <a:srgbClr val="111111"/>
                </a:solidFill>
                <a:latin typeface="Aptos"/>
                <a:ea typeface="Aptos"/>
                <a:cs typeface="Aptos"/>
              </a:rPr>
              <a:t>7, 12, 9, 14, 8, 11, 15, 10</a:t>
            </a:r>
          </a:p>
        </p:txBody>
      </p:sp>
      <p:sp>
        <p:nvSpPr>
          <p:cNvPr id="5" name="body">
            <a:extLst>
              <a:ext uri="{FF2B5EF4-FFF2-40B4-BE49-F238E27FC236}">
                <a16:creationId xmlns:a16="http://schemas.microsoft.com/office/drawing/2014/main" id="{F15EA8FB-3869-452E-AD09-E18FCB839BC7}"/>
              </a:ext>
            </a:extLst>
          </p:cNvPr>
          <p:cNvSpPr>
            <a:spLocks noGrp="1"/>
          </p:cNvSpPr>
          <p:nvPr/>
        </p:nvSpPr>
        <p:spPr>
          <a:xfrm>
            <a:off x="523875" y="3790950"/>
            <a:ext cx="11144250" cy="5524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dirty="0">
                <a:solidFill>
                  <a:srgbClr val="111111"/>
                </a:solidFill>
                <a:latin typeface="Aptos"/>
                <a:ea typeface="Aptos"/>
                <a:cs typeface="Aptos"/>
              </a:rPr>
              <a:t>1. Calculate the mean and complete your working table.</a:t>
            </a:r>
          </a:p>
        </p:txBody>
      </p:sp>
      <p:sp>
        <p:nvSpPr>
          <p:cNvPr id="6" name="body">
            <a:extLst>
              <a:ext uri="{FF2B5EF4-FFF2-40B4-BE49-F238E27FC236}">
                <a16:creationId xmlns:a16="http://schemas.microsoft.com/office/drawing/2014/main" id="{BA2AB15D-1611-43F9-94ED-418944C5BFB9}"/>
              </a:ext>
            </a:extLst>
          </p:cNvPr>
          <p:cNvSpPr>
            <a:spLocks noGrp="1"/>
          </p:cNvSpPr>
          <p:nvPr/>
        </p:nvSpPr>
        <p:spPr>
          <a:xfrm>
            <a:off x="523875" y="4457700"/>
            <a:ext cx="11144250" cy="5524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2. Calculate variance and standard deviation.</a:t>
            </a:r>
          </a:p>
        </p:txBody>
      </p:sp>
      <p:sp>
        <p:nvSpPr>
          <p:cNvPr id="7" name="body">
            <a:extLst>
              <a:ext uri="{FF2B5EF4-FFF2-40B4-BE49-F238E27FC236}">
                <a16:creationId xmlns:a16="http://schemas.microsoft.com/office/drawing/2014/main" id="{F6EE863F-47FC-4104-BBD7-92FE9A7BAE28}"/>
              </a:ext>
            </a:extLst>
          </p:cNvPr>
          <p:cNvSpPr>
            <a:spLocks noGrp="1"/>
          </p:cNvSpPr>
          <p:nvPr/>
        </p:nvSpPr>
        <p:spPr>
          <a:xfrm>
            <a:off x="523875" y="5124450"/>
            <a:ext cx="11144250" cy="5524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3. Compare the average and spread with Shift A.</a:t>
            </a:r>
          </a:p>
        </p:txBody>
      </p:sp>
      <p:sp>
        <p:nvSpPr>
          <p:cNvPr id="8" name="body">
            <a:extLst>
              <a:ext uri="{FF2B5EF4-FFF2-40B4-BE49-F238E27FC236}">
                <a16:creationId xmlns:a16="http://schemas.microsoft.com/office/drawing/2014/main" id="{33BF7115-7374-45C7-98EB-EED770D8AC56}"/>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Shift A: mean 10 min, SD 2.53 min. Give your SD to two decimal places.</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B1b • INDEPENDENT PRACTICE</a:t>
            </a:r>
          </a:p>
        </p:txBody>
      </p:sp>
    </p:spTree>
    <p:extLst>
      <p:ext uri="{BB962C8B-B14F-4D97-AF65-F5344CB8AC3E}">
        <p14:creationId xmlns:p14="http://schemas.microsoft.com/office/powerpoint/2010/main" val="3281361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B1b: calculation and interpretation</a:t>
            </a:r>
          </a:p>
        </p:txBody>
      </p:sp>
      <p:sp>
        <p:nvSpPr>
          <p:cNvPr id="3" name="body">
            <a:extLst>
              <a:ext uri="{FF2B5EF4-FFF2-40B4-BE49-F238E27FC236}">
                <a16:creationId xmlns:a16="http://schemas.microsoft.com/office/drawing/2014/main" id="{F461CF06-22B1-4A0A-97AE-EA0F349CBDA6}"/>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Use every customer in this shift: divide by 8.</a:t>
            </a:r>
          </a:p>
        </p:txBody>
      </p:sp>
      <p:graphicFrame>
        <p:nvGraphicFramePr>
          <p:cNvPr id="4" name="Table 3"/>
          <p:cNvGraphicFramePr/>
          <p:nvPr/>
        </p:nvGraphicFramePr>
        <p:xfrm>
          <a:off x="523875" y="2667000"/>
          <a:ext cx="6286500" cy="3190880"/>
        </p:xfrm>
        <a:graphic>
          <a:graphicData uri="http://schemas.openxmlformats.org/drawingml/2006/table">
            <a:tbl>
              <a:tblPr/>
              <a:tblGrid>
                <a:gridCol w="1285875">
                  <a:extLst>
                    <a:ext uri="{9D8B030D-6E8A-4147-A177-3AD203B41FA5}">
                      <a16:colId xmlns:a16="http://schemas.microsoft.com/office/drawing/2014/main" val="20000"/>
                    </a:ext>
                  </a:extLst>
                </a:gridCol>
                <a:gridCol w="2047875">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319088">
                <a:tc>
                  <a:txBody>
                    <a:bodyPr/>
                    <a:lstStyle/>
                    <a:p>
                      <a:pPr marL="0" marR="0" indent="0">
                        <a:lnSpc>
                          <a:spcPct val="105000"/>
                        </a:lnSpc>
                        <a:spcBef>
                          <a:spcPts val="0"/>
                        </a:spcBef>
                        <a:spcAft>
                          <a:spcPts val="0"/>
                        </a:spcAft>
                      </a:pPr>
                      <a:r>
                        <a:rPr sz="1725" b="1">
                          <a:solidFill>
                            <a:srgbClr val="FFFFFF"/>
                          </a:solidFill>
                          <a:latin typeface="Aptos"/>
                          <a:ea typeface="Aptos"/>
                          <a:cs typeface="Aptos"/>
                        </a:rPr>
                        <a:t>Wait</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725" b="1">
                          <a:solidFill>
                            <a:srgbClr val="FFFFFF"/>
                          </a:solidFill>
                          <a:latin typeface="Aptos"/>
                          <a:ea typeface="Aptos"/>
                          <a:cs typeface="Aptos"/>
                        </a:rPr>
                        <a:t>Deviation</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725" b="1">
                          <a:solidFill>
                            <a:srgbClr val="FFFFFF"/>
                          </a:solidFill>
                          <a:latin typeface="Aptos"/>
                          <a:ea typeface="Aptos"/>
                          <a:cs typeface="Aptos"/>
                        </a:rPr>
                        <a:t>Squared deviation</a:t>
                      </a:r>
                    </a:p>
                  </a:txBody>
                  <a:tcPr marL="76200" marR="57150" marT="19050" marB="19050" anchor="ctr">
                    <a:solidFill>
                      <a:srgbClr val="D6171D"/>
                    </a:solidFill>
                  </a:tcPr>
                </a:tc>
                <a:extLst>
                  <a:ext uri="{0D108BD9-81ED-4DB2-BD59-A6C34878D82A}">
                    <a16:rowId xmlns:a16="http://schemas.microsoft.com/office/drawing/2014/main" val="10000"/>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7</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−3.75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14.0625</a:t>
                      </a:r>
                    </a:p>
                  </a:txBody>
                  <a:tcPr marL="76200" marR="57150" marT="19050" marB="19050" anchor="ctr">
                    <a:solidFill>
                      <a:srgbClr val="FFFFFF"/>
                    </a:solidFill>
                  </a:tcPr>
                </a:tc>
                <a:extLst>
                  <a:ext uri="{0D108BD9-81ED-4DB2-BD59-A6C34878D82A}">
                    <a16:rowId xmlns:a16="http://schemas.microsoft.com/office/drawing/2014/main" val="10001"/>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12</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1.25</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1.5625</a:t>
                      </a:r>
                    </a:p>
                  </a:txBody>
                  <a:tcPr marL="76200" marR="57150" marT="19050" marB="19050" anchor="ctr">
                    <a:solidFill>
                      <a:srgbClr val="EFF8FF"/>
                    </a:solidFill>
                  </a:tcPr>
                </a:tc>
                <a:extLst>
                  <a:ext uri="{0D108BD9-81ED-4DB2-BD59-A6C34878D82A}">
                    <a16:rowId xmlns:a16="http://schemas.microsoft.com/office/drawing/2014/main" val="10002"/>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9</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−1.75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3.0625</a:t>
                      </a:r>
                    </a:p>
                  </a:txBody>
                  <a:tcPr marL="76200" marR="57150" marT="19050" marB="19050" anchor="ctr">
                    <a:solidFill>
                      <a:srgbClr val="FFFFFF"/>
                    </a:solidFill>
                  </a:tcPr>
                </a:tc>
                <a:extLst>
                  <a:ext uri="{0D108BD9-81ED-4DB2-BD59-A6C34878D82A}">
                    <a16:rowId xmlns:a16="http://schemas.microsoft.com/office/drawing/2014/main" val="10003"/>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14</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3.25</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10.5625</a:t>
                      </a:r>
                    </a:p>
                  </a:txBody>
                  <a:tcPr marL="76200" marR="57150" marT="19050" marB="19050" anchor="ctr">
                    <a:solidFill>
                      <a:srgbClr val="EFF8FF"/>
                    </a:solidFill>
                  </a:tcPr>
                </a:tc>
                <a:extLst>
                  <a:ext uri="{0D108BD9-81ED-4DB2-BD59-A6C34878D82A}">
                    <a16:rowId xmlns:a16="http://schemas.microsoft.com/office/drawing/2014/main" val="10004"/>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8</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−2.75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7.5625</a:t>
                      </a:r>
                    </a:p>
                  </a:txBody>
                  <a:tcPr marL="76200" marR="57150" marT="19050" marB="19050" anchor="ctr">
                    <a:solidFill>
                      <a:srgbClr val="FFFFFF"/>
                    </a:solidFill>
                  </a:tcPr>
                </a:tc>
                <a:extLst>
                  <a:ext uri="{0D108BD9-81ED-4DB2-BD59-A6C34878D82A}">
                    <a16:rowId xmlns:a16="http://schemas.microsoft.com/office/drawing/2014/main" val="10005"/>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11</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0.25</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0.0625</a:t>
                      </a:r>
                    </a:p>
                  </a:txBody>
                  <a:tcPr marL="76200" marR="57150" marT="19050" marB="19050" anchor="ctr">
                    <a:solidFill>
                      <a:srgbClr val="EFF8FF"/>
                    </a:solidFill>
                  </a:tcPr>
                </a:tc>
                <a:extLst>
                  <a:ext uri="{0D108BD9-81ED-4DB2-BD59-A6C34878D82A}">
                    <a16:rowId xmlns:a16="http://schemas.microsoft.com/office/drawing/2014/main" val="10006"/>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15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4.25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18.0625</a:t>
                      </a:r>
                    </a:p>
                  </a:txBody>
                  <a:tcPr marL="76200" marR="57150" marT="19050" marB="19050" anchor="ctr">
                    <a:solidFill>
                      <a:srgbClr val="FFFFFF"/>
                    </a:solidFill>
                  </a:tcPr>
                </a:tc>
                <a:extLst>
                  <a:ext uri="{0D108BD9-81ED-4DB2-BD59-A6C34878D82A}">
                    <a16:rowId xmlns:a16="http://schemas.microsoft.com/office/drawing/2014/main" val="10007"/>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10</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−0.75</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0.5625</a:t>
                      </a:r>
                    </a:p>
                  </a:txBody>
                  <a:tcPr marL="76200" marR="57150" marT="19050" marB="19050" anchor="ctr">
                    <a:solidFill>
                      <a:srgbClr val="EFF8FF"/>
                    </a:solidFill>
                  </a:tcPr>
                </a:tc>
                <a:extLst>
                  <a:ext uri="{0D108BD9-81ED-4DB2-BD59-A6C34878D82A}">
                    <a16:rowId xmlns:a16="http://schemas.microsoft.com/office/drawing/2014/main" val="10008"/>
                  </a:ext>
                </a:extLst>
              </a:tr>
              <a:tr h="319088">
                <a:tc>
                  <a:txBody>
                    <a:bodyPr/>
                    <a:lstStyle/>
                    <a:p>
                      <a:pPr marL="0" marR="0" indent="0">
                        <a:lnSpc>
                          <a:spcPct val="105000"/>
                        </a:lnSpc>
                        <a:spcBef>
                          <a:spcPts val="0"/>
                        </a:spcBef>
                        <a:spcAft>
                          <a:spcPts val="0"/>
                        </a:spcAft>
                      </a:pPr>
                      <a:r>
                        <a:rPr sz="1800" b="0" dirty="0">
                          <a:solidFill>
                            <a:srgbClr val="111111"/>
                          </a:solidFill>
                          <a:latin typeface="Aptos"/>
                          <a:ea typeface="Aptos"/>
                          <a:cs typeface="Aptos"/>
                        </a:rPr>
                        <a:t>Total</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0</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dirty="0">
                          <a:solidFill>
                            <a:srgbClr val="111111"/>
                          </a:solidFill>
                          <a:latin typeface="Aptos"/>
                          <a:ea typeface="Aptos"/>
                          <a:cs typeface="Aptos"/>
                        </a:rPr>
                        <a:t>55.5</a:t>
                      </a:r>
                    </a:p>
                  </a:txBody>
                  <a:tcPr marL="76200" marR="57150" marT="19050" marB="19050" anchor="ctr">
                    <a:solidFill>
                      <a:srgbClr val="FFFFFF"/>
                    </a:solidFill>
                  </a:tcPr>
                </a:tc>
                <a:extLst>
                  <a:ext uri="{0D108BD9-81ED-4DB2-BD59-A6C34878D82A}">
                    <a16:rowId xmlns:a16="http://schemas.microsoft.com/office/drawing/2014/main" val="10009"/>
                  </a:ext>
                </a:extLst>
              </a:tr>
            </a:tbl>
          </a:graphicData>
        </a:graphic>
      </p:graphicFrame>
      <p:pic>
        <p:nvPicPr>
          <p:cNvPr id="5" name="Picture 4"/>
          <p:cNvPicPr>
            <a:picLocks noChangeAspect="1"/>
          </p:cNvPicPr>
          <p:nvPr/>
        </p:nvPicPr>
        <p:blipFill>
          <a:blip r:embed="rId3"/>
          <a:stretch/>
        </p:blipFill>
        <p:spPr>
          <a:xfrm>
            <a:off x="7810191" y="2876550"/>
            <a:ext cx="3143869" cy="619125"/>
          </a:xfrm>
          <a:prstGeom prst="rect">
            <a:avLst/>
          </a:prstGeom>
        </p:spPr>
      </p:pic>
      <p:pic>
        <p:nvPicPr>
          <p:cNvPr id="6" name="Picture 5"/>
          <p:cNvPicPr>
            <a:picLocks noChangeAspect="1"/>
          </p:cNvPicPr>
          <p:nvPr/>
        </p:nvPicPr>
        <p:blipFill>
          <a:blip r:embed="rId4"/>
          <a:stretch/>
        </p:blipFill>
        <p:spPr>
          <a:xfrm>
            <a:off x="7115175" y="3867997"/>
            <a:ext cx="4476750" cy="722206"/>
          </a:xfrm>
          <a:prstGeom prst="rect">
            <a:avLst/>
          </a:prstGeom>
        </p:spPr>
      </p:pic>
      <p:pic>
        <p:nvPicPr>
          <p:cNvPr id="7" name="Picture 6"/>
          <p:cNvPicPr>
            <a:picLocks noChangeAspect="1"/>
          </p:cNvPicPr>
          <p:nvPr/>
        </p:nvPicPr>
        <p:blipFill>
          <a:blip r:embed="rId5"/>
          <a:stretch/>
        </p:blipFill>
        <p:spPr>
          <a:xfrm>
            <a:off x="7153894" y="4933950"/>
            <a:ext cx="4399313" cy="647700"/>
          </a:xfrm>
          <a:prstGeom prst="rect">
            <a:avLst/>
          </a:prstGeom>
        </p:spPr>
      </p:pic>
      <p:sp>
        <p:nvSpPr>
          <p:cNvPr id="8" name="body">
            <a:extLst>
              <a:ext uri="{FF2B5EF4-FFF2-40B4-BE49-F238E27FC236}">
                <a16:creationId xmlns:a16="http://schemas.microsoft.com/office/drawing/2014/main" id="{59A2E60A-9F79-4482-9EF5-FAE490918D17}"/>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Higher mean (10.75 vs 10) and slightly greater spread (2.63 vs 2.53).</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B1b • WORKED ANSWERS</a:t>
            </a:r>
          </a:p>
        </p:txBody>
      </p:sp>
    </p:spTree>
    <p:extLst>
      <p:ext uri="{BB962C8B-B14F-4D97-AF65-F5344CB8AC3E}">
        <p14:creationId xmlns:p14="http://schemas.microsoft.com/office/powerpoint/2010/main" val="32813612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235" y="2238375"/>
            <a:ext cx="5953125" cy="2705100"/>
          </a:xfrm>
        </p:spPr>
        <p:txBody>
          <a:bodyPr wrap="square" lIns="0" tIns="0" rIns="0" bIns="0" anchor="t">
            <a:noAutofit/>
          </a:bodyPr>
          <a:lstStyle/>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Section 3:</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Population</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and sample</a:t>
            </a:r>
          </a:p>
        </p:txBody>
      </p:sp>
      <p:sp>
        <p:nvSpPr>
          <p:cNvPr id="3" name="divider-question">
            <a:extLst>
              <a:ext uri="{FF2B5EF4-FFF2-40B4-BE49-F238E27FC236}">
                <a16:creationId xmlns:a16="http://schemas.microsoft.com/office/drawing/2014/main" id="{216B5CFE-E797-4EEA-A662-538795ABC7D0}"/>
              </a:ext>
            </a:extLst>
          </p:cNvPr>
          <p:cNvSpPr>
            <a:spLocks noGrp="1"/>
          </p:cNvSpPr>
          <p:nvPr/>
        </p:nvSpPr>
        <p:spPr>
          <a:xfrm>
            <a:off x="428625" y="5200650"/>
            <a:ext cx="5715000" cy="1028700"/>
          </a:xfrm>
          <a:prstGeom prst="rect">
            <a:avLst/>
          </a:prstGeom>
          <a:noFill/>
          <a:ln w="0">
            <a:noFill/>
          </a:ln>
        </p:spPr>
        <p:txBody>
          <a:bodyPr wrap="square" lIns="0" tIns="0" rIns="0" bIns="0" anchor="t">
            <a:noAutofit/>
          </a:bodyPr>
          <a:lstStyle/>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Are we describing the whole group</a:t>
            </a:r>
          </a:p>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or estimating it from a sample?</a:t>
            </a:r>
          </a:p>
        </p:txBody>
      </p:sp>
    </p:spTree>
    <p:extLst>
      <p:ext uri="{BB962C8B-B14F-4D97-AF65-F5344CB8AC3E}">
        <p14:creationId xmlns:p14="http://schemas.microsoft.com/office/powerpoint/2010/main" val="32813612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Population, sample and estimate</a:t>
            </a:r>
          </a:p>
        </p:txBody>
      </p:sp>
      <p:sp>
        <p:nvSpPr>
          <p:cNvPr id="3" name="body">
            <a:extLst>
              <a:ext uri="{FF2B5EF4-FFF2-40B4-BE49-F238E27FC236}">
                <a16:creationId xmlns:a16="http://schemas.microsoft.com/office/drawing/2014/main" id="{C2214B64-3AC3-4E06-9AA6-C1BF86C44A16}"/>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 manager wants to understand all 2,000 customers in a month.</a:t>
            </a:r>
          </a:p>
        </p:txBody>
      </p:sp>
      <p:graphicFrame>
        <p:nvGraphicFramePr>
          <p:cNvPr id="4" name="Table 3"/>
          <p:cNvGraphicFramePr/>
          <p:nvPr/>
        </p:nvGraphicFramePr>
        <p:xfrm>
          <a:off x="523875" y="2790825"/>
          <a:ext cx="11144250" cy="2857500"/>
        </p:xfrm>
        <a:graphic>
          <a:graphicData uri="http://schemas.openxmlformats.org/drawingml/2006/table">
            <a:tbl>
              <a:tblPr/>
              <a:tblGrid>
                <a:gridCol w="2095500">
                  <a:extLst>
                    <a:ext uri="{9D8B030D-6E8A-4147-A177-3AD203B41FA5}">
                      <a16:colId xmlns:a16="http://schemas.microsoft.com/office/drawing/2014/main" val="20000"/>
                    </a:ext>
                  </a:extLst>
                </a:gridCol>
                <a:gridCol w="4476750">
                  <a:extLst>
                    <a:ext uri="{9D8B030D-6E8A-4147-A177-3AD203B41FA5}">
                      <a16:colId xmlns:a16="http://schemas.microsoft.com/office/drawing/2014/main" val="20001"/>
                    </a:ext>
                  </a:extLst>
                </a:gridCol>
                <a:gridCol w="4572000">
                  <a:extLst>
                    <a:ext uri="{9D8B030D-6E8A-4147-A177-3AD203B41FA5}">
                      <a16:colId xmlns:a16="http://schemas.microsoft.com/office/drawing/2014/main" val="20002"/>
                    </a:ext>
                  </a:extLst>
                </a:gridCol>
              </a:tblGrid>
              <a:tr h="714375">
                <a:tc>
                  <a:txBody>
                    <a:bodyPr/>
                    <a:lstStyle/>
                    <a:p>
                      <a:pPr marL="0" marR="0" indent="0">
                        <a:lnSpc>
                          <a:spcPct val="105000"/>
                        </a:lnSpc>
                        <a:spcBef>
                          <a:spcPts val="0"/>
                        </a:spcBef>
                        <a:spcAft>
                          <a:spcPts val="0"/>
                        </a:spcAft>
                      </a:pPr>
                      <a:r>
                        <a:rPr sz="2025" b="1">
                          <a:solidFill>
                            <a:srgbClr val="FFFFFF"/>
                          </a:solidFill>
                          <a:latin typeface="Aptos"/>
                          <a:ea typeface="Aptos"/>
                          <a:cs typeface="Aptos"/>
                        </a:rPr>
                        <a:t>Term</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Plain meaning</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Our café example</a:t>
                      </a:r>
                    </a:p>
                  </a:txBody>
                  <a:tcPr marL="76200" marR="57150" marT="19050" marB="19050" anchor="ctr">
                    <a:solidFill>
                      <a:srgbClr val="D6171D"/>
                    </a:solidFill>
                  </a:tcPr>
                </a:tc>
                <a:extLst>
                  <a:ext uri="{0D108BD9-81ED-4DB2-BD59-A6C34878D82A}">
                    <a16:rowId xmlns:a16="http://schemas.microsoft.com/office/drawing/2014/main" val="10000"/>
                  </a:ext>
                </a:extLst>
              </a:tr>
              <a:tr h="714375">
                <a:tc>
                  <a:txBody>
                    <a:bodyPr/>
                    <a:lstStyle/>
                    <a:p>
                      <a:pPr marL="0" marR="0" indent="0">
                        <a:lnSpc>
                          <a:spcPct val="105000"/>
                        </a:lnSpc>
                        <a:spcBef>
                          <a:spcPts val="0"/>
                        </a:spcBef>
                        <a:spcAft>
                          <a:spcPts val="0"/>
                        </a:spcAft>
                      </a:pPr>
                      <a:r>
                        <a:rPr sz="2025" b="0">
                          <a:solidFill>
                            <a:srgbClr val="111111"/>
                          </a:solidFill>
                          <a:latin typeface="Aptos"/>
                          <a:ea typeface="Aptos"/>
                          <a:cs typeface="Aptos"/>
                        </a:rPr>
                        <a:t>Population</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The complete target group</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All 2,000 customers</a:t>
                      </a:r>
                    </a:p>
                  </a:txBody>
                  <a:tcPr marL="76200" marR="57150" marT="19050" marB="19050" anchor="ctr">
                    <a:solidFill>
                      <a:srgbClr val="FFFFFF"/>
                    </a:solidFill>
                  </a:tcPr>
                </a:tc>
                <a:extLst>
                  <a:ext uri="{0D108BD9-81ED-4DB2-BD59-A6C34878D82A}">
                    <a16:rowId xmlns:a16="http://schemas.microsoft.com/office/drawing/2014/main" val="10001"/>
                  </a:ext>
                </a:extLst>
              </a:tr>
              <a:tr h="714375">
                <a:tc>
                  <a:txBody>
                    <a:bodyPr/>
                    <a:lstStyle/>
                    <a:p>
                      <a:pPr marL="0" marR="0" indent="0">
                        <a:lnSpc>
                          <a:spcPct val="105000"/>
                        </a:lnSpc>
                        <a:spcBef>
                          <a:spcPts val="0"/>
                        </a:spcBef>
                        <a:spcAft>
                          <a:spcPts val="0"/>
                        </a:spcAft>
                      </a:pPr>
                      <a:r>
                        <a:rPr sz="2025" b="0">
                          <a:solidFill>
                            <a:srgbClr val="111111"/>
                          </a:solidFill>
                          <a:latin typeface="Aptos"/>
                          <a:ea typeface="Aptos"/>
                          <a:cs typeface="Aptos"/>
                        </a:rPr>
                        <a:t>Sample</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Selected observations</a:t>
                      </a:r>
                    </a:p>
                    <a:p>
                      <a:pPr marL="0" marR="0" indent="0">
                        <a:lnSpc>
                          <a:spcPct val="105000"/>
                        </a:lnSpc>
                        <a:spcBef>
                          <a:spcPts val="0"/>
                        </a:spcBef>
                        <a:spcAft>
                          <a:spcPts val="0"/>
                        </a:spcAft>
                      </a:pPr>
                      <a:r>
                        <a:rPr sz="2025" b="0">
                          <a:solidFill>
                            <a:srgbClr val="111111"/>
                          </a:solidFill>
                          <a:latin typeface="Aptos"/>
                          <a:ea typeface="Aptos"/>
                          <a:cs typeface="Aptos"/>
                        </a:rPr>
                        <a:t>from that group</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8 randomly selected</a:t>
                      </a:r>
                    </a:p>
                    <a:p>
                      <a:pPr marL="0" marR="0" indent="0">
                        <a:lnSpc>
                          <a:spcPct val="105000"/>
                        </a:lnSpc>
                        <a:spcBef>
                          <a:spcPts val="0"/>
                        </a:spcBef>
                        <a:spcAft>
                          <a:spcPts val="0"/>
                        </a:spcAft>
                      </a:pPr>
                      <a:r>
                        <a:rPr sz="2025" b="0">
                          <a:solidFill>
                            <a:srgbClr val="111111"/>
                          </a:solidFill>
                          <a:latin typeface="Aptos"/>
                          <a:ea typeface="Aptos"/>
                          <a:cs typeface="Aptos"/>
                        </a:rPr>
                        <a:t>customers</a:t>
                      </a:r>
                    </a:p>
                  </a:txBody>
                  <a:tcPr marL="76200" marR="57150" marT="19050" marB="19050" anchor="ctr">
                    <a:solidFill>
                      <a:srgbClr val="EFF8FF"/>
                    </a:solidFill>
                  </a:tcPr>
                </a:tc>
                <a:extLst>
                  <a:ext uri="{0D108BD9-81ED-4DB2-BD59-A6C34878D82A}">
                    <a16:rowId xmlns:a16="http://schemas.microsoft.com/office/drawing/2014/main" val="10002"/>
                  </a:ext>
                </a:extLst>
              </a:tr>
              <a:tr h="714375">
                <a:tc>
                  <a:txBody>
                    <a:bodyPr/>
                    <a:lstStyle/>
                    <a:p>
                      <a:pPr marL="0" marR="0" indent="0">
                        <a:lnSpc>
                          <a:spcPct val="105000"/>
                        </a:lnSpc>
                        <a:spcBef>
                          <a:spcPts val="0"/>
                        </a:spcBef>
                        <a:spcAft>
                          <a:spcPts val="0"/>
                        </a:spcAft>
                      </a:pPr>
                      <a:r>
                        <a:rPr sz="2025" b="0">
                          <a:solidFill>
                            <a:srgbClr val="111111"/>
                          </a:solidFill>
                          <a:latin typeface="Aptos"/>
                          <a:ea typeface="Aptos"/>
                          <a:cs typeface="Aptos"/>
                        </a:rPr>
                        <a:t>Estimate</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A calculated approximation</a:t>
                      </a:r>
                    </a:p>
                    <a:p>
                      <a:pPr marL="0" marR="0" indent="0">
                        <a:lnSpc>
                          <a:spcPct val="105000"/>
                        </a:lnSpc>
                        <a:spcBef>
                          <a:spcPts val="0"/>
                        </a:spcBef>
                        <a:spcAft>
                          <a:spcPts val="0"/>
                        </a:spcAft>
                      </a:pPr>
                      <a:r>
                        <a:rPr sz="2025" b="0">
                          <a:solidFill>
                            <a:srgbClr val="111111"/>
                          </a:solidFill>
                          <a:latin typeface="Aptos"/>
                          <a:ea typeface="Aptos"/>
                          <a:cs typeface="Aptos"/>
                        </a:rPr>
                        <a:t>of an unknown value</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Use the sample to estimate</a:t>
                      </a:r>
                    </a:p>
                    <a:p>
                      <a:pPr marL="0" marR="0" indent="0">
                        <a:lnSpc>
                          <a:spcPct val="105000"/>
                        </a:lnSpc>
                        <a:spcBef>
                          <a:spcPts val="0"/>
                        </a:spcBef>
                        <a:spcAft>
                          <a:spcPts val="0"/>
                        </a:spcAft>
                      </a:pPr>
                      <a:r>
                        <a:rPr sz="2025" b="0">
                          <a:solidFill>
                            <a:srgbClr val="111111"/>
                          </a:solidFill>
                          <a:latin typeface="Aptos"/>
                          <a:ea typeface="Aptos"/>
                          <a:cs typeface="Aptos"/>
                        </a:rPr>
                        <a:t>the month’s mean and SD</a:t>
                      </a:r>
                    </a:p>
                  </a:txBody>
                  <a:tcPr marL="76200" marR="571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5" name="body">
            <a:extLst>
              <a:ext uri="{FF2B5EF4-FFF2-40B4-BE49-F238E27FC236}">
                <a16:creationId xmlns:a16="http://schemas.microsoft.com/office/drawing/2014/main" id="{650BAA32-72B1-44BA-829A-CAD5D907FE30}"/>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A sample saves time. A different sample can give different estimates.</a:t>
            </a:r>
          </a:p>
        </p:txBody>
      </p:sp>
    </p:spTree>
    <p:extLst>
      <p:ext uri="{BB962C8B-B14F-4D97-AF65-F5344CB8AC3E}">
        <p14:creationId xmlns:p14="http://schemas.microsoft.com/office/powerpoint/2010/main" val="32813612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Population mean and sample mean</a:t>
            </a:r>
          </a:p>
        </p:txBody>
      </p:sp>
      <p:sp>
        <p:nvSpPr>
          <p:cNvPr id="3" name="body">
            <a:extLst>
              <a:ext uri="{FF2B5EF4-FFF2-40B4-BE49-F238E27FC236}">
                <a16:creationId xmlns:a16="http://schemas.microsoft.com/office/drawing/2014/main" id="{C06CB51F-90C4-4905-8DC2-8A0FE4DAE1BE}"/>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Both means use total divided by count. Their purposes differ.</a:t>
            </a:r>
          </a:p>
        </p:txBody>
      </p:sp>
      <p:sp>
        <p:nvSpPr>
          <p:cNvPr id="4" name="body">
            <a:extLst>
              <a:ext uri="{FF2B5EF4-FFF2-40B4-BE49-F238E27FC236}">
                <a16:creationId xmlns:a16="http://schemas.microsoft.com/office/drawing/2014/main" id="{E4634A2B-03C0-40C9-90DB-1998BB920A0C}"/>
              </a:ext>
            </a:extLst>
          </p:cNvPr>
          <p:cNvSpPr>
            <a:spLocks noGrp="1"/>
          </p:cNvSpPr>
          <p:nvPr/>
        </p:nvSpPr>
        <p:spPr>
          <a:xfrm>
            <a:off x="762000" y="2857500"/>
            <a:ext cx="4857750" cy="523875"/>
          </a:xfrm>
          <a:prstGeom prst="rect">
            <a:avLst/>
          </a:prstGeom>
          <a:noFill/>
          <a:ln w="0">
            <a:noFill/>
          </a:ln>
        </p:spPr>
        <p:txBody>
          <a:bodyPr wrap="square" lIns="0" tIns="0" rIns="0" bIns="0" anchor="t">
            <a:noAutofit/>
          </a:bodyPr>
          <a:lstStyle/>
          <a:p>
            <a:pPr marL="0" marR="0" indent="0">
              <a:defRPr sz="2475" b="1">
                <a:solidFill>
                  <a:srgbClr val="111111"/>
                </a:solidFill>
                <a:latin typeface="Aptos"/>
                <a:ea typeface="Aptos"/>
                <a:cs typeface="Aptos"/>
              </a:defRPr>
            </a:pPr>
            <a:r>
              <a:rPr sz="2475" b="1">
                <a:solidFill>
                  <a:srgbClr val="111111"/>
                </a:solidFill>
                <a:latin typeface="Aptos"/>
                <a:ea typeface="Aptos"/>
                <a:cs typeface="Aptos"/>
              </a:rPr>
              <a:t>Population mean</a:t>
            </a:r>
          </a:p>
        </p:txBody>
      </p:sp>
      <p:sp>
        <p:nvSpPr>
          <p:cNvPr id="5" name="body">
            <a:extLst>
              <a:ext uri="{FF2B5EF4-FFF2-40B4-BE49-F238E27FC236}">
                <a16:creationId xmlns:a16="http://schemas.microsoft.com/office/drawing/2014/main" id="{2FA75333-3B29-473D-8D1E-D9D97B6E88C9}"/>
              </a:ext>
            </a:extLst>
          </p:cNvPr>
          <p:cNvSpPr>
            <a:spLocks noGrp="1"/>
          </p:cNvSpPr>
          <p:nvPr/>
        </p:nvSpPr>
        <p:spPr>
          <a:xfrm>
            <a:off x="6762750" y="2857500"/>
            <a:ext cx="4857750" cy="523875"/>
          </a:xfrm>
          <a:prstGeom prst="rect">
            <a:avLst/>
          </a:prstGeom>
          <a:noFill/>
          <a:ln w="0">
            <a:noFill/>
          </a:ln>
        </p:spPr>
        <p:txBody>
          <a:bodyPr wrap="square" lIns="0" tIns="0" rIns="0" bIns="0" anchor="t">
            <a:noAutofit/>
          </a:bodyPr>
          <a:lstStyle/>
          <a:p>
            <a:pPr marL="0" marR="0" indent="0">
              <a:defRPr sz="2475" b="1">
                <a:solidFill>
                  <a:srgbClr val="111111"/>
                </a:solidFill>
                <a:latin typeface="Aptos"/>
                <a:ea typeface="Aptos"/>
                <a:cs typeface="Aptos"/>
              </a:defRPr>
            </a:pPr>
            <a:r>
              <a:rPr sz="2475" b="1">
                <a:solidFill>
                  <a:srgbClr val="111111"/>
                </a:solidFill>
                <a:latin typeface="Aptos"/>
                <a:ea typeface="Aptos"/>
                <a:cs typeface="Aptos"/>
              </a:rPr>
              <a:t>Sample mean</a:t>
            </a:r>
          </a:p>
        </p:txBody>
      </p:sp>
      <p:pic>
        <p:nvPicPr>
          <p:cNvPr id="6" name="Picture 5"/>
          <p:cNvPicPr>
            <a:picLocks noChangeAspect="1"/>
          </p:cNvPicPr>
          <p:nvPr/>
        </p:nvPicPr>
        <p:blipFill>
          <a:blip r:embed="rId3"/>
          <a:stretch/>
        </p:blipFill>
        <p:spPr>
          <a:xfrm>
            <a:off x="2374254" y="3524250"/>
            <a:ext cx="1728492" cy="1047750"/>
          </a:xfrm>
          <a:prstGeom prst="rect">
            <a:avLst/>
          </a:prstGeom>
        </p:spPr>
      </p:pic>
      <p:pic>
        <p:nvPicPr>
          <p:cNvPr id="7" name="Picture 6"/>
          <p:cNvPicPr>
            <a:picLocks noChangeAspect="1"/>
          </p:cNvPicPr>
          <p:nvPr/>
        </p:nvPicPr>
        <p:blipFill>
          <a:blip r:embed="rId4"/>
          <a:stretch/>
        </p:blipFill>
        <p:spPr>
          <a:xfrm>
            <a:off x="8217396" y="3524250"/>
            <a:ext cx="1853208" cy="1047750"/>
          </a:xfrm>
          <a:prstGeom prst="rect">
            <a:avLst/>
          </a:prstGeom>
        </p:spPr>
      </p:pic>
      <p:sp>
        <p:nvSpPr>
          <p:cNvPr id="8" name="body">
            <a:extLst>
              <a:ext uri="{FF2B5EF4-FFF2-40B4-BE49-F238E27FC236}">
                <a16:creationId xmlns:a16="http://schemas.microsoft.com/office/drawing/2014/main" id="{D2AB8787-2FFC-47BD-8610-EC7A2208DC66}"/>
              </a:ext>
            </a:extLst>
          </p:cNvPr>
          <p:cNvSpPr>
            <a:spLocks noGrp="1"/>
          </p:cNvSpPr>
          <p:nvPr/>
        </p:nvSpPr>
        <p:spPr>
          <a:xfrm>
            <a:off x="666750" y="4962525"/>
            <a:ext cx="5286375" cy="838200"/>
          </a:xfrm>
          <a:prstGeom prst="rect">
            <a:avLst/>
          </a:prstGeom>
          <a:noFill/>
          <a:ln w="0">
            <a:noFill/>
          </a:ln>
        </p:spPr>
        <p:txBody>
          <a:bodyPr wrap="square" lIns="0" tIns="0" rIns="0" bIns="0" anchor="t">
            <a:noAutofit/>
          </a:bodyPr>
          <a:lstStyle/>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μ “mu”       N population count</a:t>
            </a:r>
          </a:p>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Describes the complete group.</a:t>
            </a:r>
          </a:p>
        </p:txBody>
      </p:sp>
      <p:sp>
        <p:nvSpPr>
          <p:cNvPr id="9" name="body">
            <a:extLst>
              <a:ext uri="{FF2B5EF4-FFF2-40B4-BE49-F238E27FC236}">
                <a16:creationId xmlns:a16="http://schemas.microsoft.com/office/drawing/2014/main" id="{0D08C90B-D3D7-4D6C-81EB-A179DB1D95DB}"/>
              </a:ext>
            </a:extLst>
          </p:cNvPr>
          <p:cNvSpPr>
            <a:spLocks noGrp="1"/>
          </p:cNvSpPr>
          <p:nvPr/>
        </p:nvSpPr>
        <p:spPr>
          <a:xfrm>
            <a:off x="6572250" y="4962525"/>
            <a:ext cx="5286375" cy="838200"/>
          </a:xfrm>
          <a:prstGeom prst="rect">
            <a:avLst/>
          </a:prstGeom>
          <a:noFill/>
          <a:ln w="0">
            <a:noFill/>
          </a:ln>
        </p:spPr>
        <p:txBody>
          <a:bodyPr wrap="square" lIns="0" tIns="0" rIns="0" bIns="0" anchor="t">
            <a:noAutofit/>
          </a:bodyPr>
          <a:lstStyle/>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x̄ “x-bar”    n sample count</a:t>
            </a:r>
          </a:p>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Estimates the population mean.</a:t>
            </a:r>
          </a:p>
        </p:txBody>
      </p:sp>
      <p:sp>
        <p:nvSpPr>
          <p:cNvPr id="10" name="body">
            <a:extLst>
              <a:ext uri="{FF2B5EF4-FFF2-40B4-BE49-F238E27FC236}">
                <a16:creationId xmlns:a16="http://schemas.microsoft.com/office/drawing/2014/main" id="{EA325959-DBE5-4BD1-800B-0566F8161DDD}"/>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The sample mean describes the observed sample and estimates the larger group.</a:t>
            </a:r>
          </a:p>
        </p:txBody>
      </p:sp>
    </p:spTree>
    <p:extLst>
      <p:ext uri="{BB962C8B-B14F-4D97-AF65-F5344CB8AC3E}">
        <p14:creationId xmlns:p14="http://schemas.microsoft.com/office/powerpoint/2010/main" val="32813612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Sample variance and standard deviation</a:t>
            </a:r>
          </a:p>
        </p:txBody>
      </p:sp>
      <p:sp>
        <p:nvSpPr>
          <p:cNvPr id="3" name="body">
            <a:extLst>
              <a:ext uri="{FF2B5EF4-FFF2-40B4-BE49-F238E27FC236}">
                <a16:creationId xmlns:a16="http://schemas.microsoft.com/office/drawing/2014/main" id="{256D848E-A9F5-48C7-8870-ECE7C97A1E3A}"/>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Use the same working table, with divisor n − 1.</a:t>
            </a:r>
          </a:p>
        </p:txBody>
      </p:sp>
      <p:pic>
        <p:nvPicPr>
          <p:cNvPr id="4" name="Picture 3"/>
          <p:cNvPicPr>
            <a:picLocks noChangeAspect="1"/>
          </p:cNvPicPr>
          <p:nvPr/>
        </p:nvPicPr>
        <p:blipFill>
          <a:blip r:embed="rId3"/>
          <a:stretch/>
        </p:blipFill>
        <p:spPr>
          <a:xfrm>
            <a:off x="1875983" y="3048000"/>
            <a:ext cx="3010785" cy="1095375"/>
          </a:xfrm>
          <a:prstGeom prst="rect">
            <a:avLst/>
          </a:prstGeom>
        </p:spPr>
      </p:pic>
      <p:pic>
        <p:nvPicPr>
          <p:cNvPr id="5" name="Picture 4"/>
          <p:cNvPicPr>
            <a:picLocks noChangeAspect="1"/>
          </p:cNvPicPr>
          <p:nvPr/>
        </p:nvPicPr>
        <p:blipFill>
          <a:blip r:embed="rId4"/>
          <a:stretch/>
        </p:blipFill>
        <p:spPr>
          <a:xfrm>
            <a:off x="2329543" y="4591050"/>
            <a:ext cx="2008414" cy="838200"/>
          </a:xfrm>
          <a:prstGeom prst="rect">
            <a:avLst/>
          </a:prstGeom>
        </p:spPr>
      </p:pic>
      <p:graphicFrame>
        <p:nvGraphicFramePr>
          <p:cNvPr id="6" name="Table 5"/>
          <p:cNvGraphicFramePr/>
          <p:nvPr/>
        </p:nvGraphicFramePr>
        <p:xfrm>
          <a:off x="6667500" y="2857500"/>
          <a:ext cx="5000625" cy="2857500"/>
        </p:xfrm>
        <a:graphic>
          <a:graphicData uri="http://schemas.openxmlformats.org/drawingml/2006/table">
            <a:tbl>
              <a:tblPr/>
              <a:tblGrid>
                <a:gridCol w="2476500">
                  <a:extLst>
                    <a:ext uri="{9D8B030D-6E8A-4147-A177-3AD203B41FA5}">
                      <a16:colId xmlns:a16="http://schemas.microsoft.com/office/drawing/2014/main" val="20000"/>
                    </a:ext>
                  </a:extLst>
                </a:gridCol>
                <a:gridCol w="2524125">
                  <a:extLst>
                    <a:ext uri="{9D8B030D-6E8A-4147-A177-3AD203B41FA5}">
                      <a16:colId xmlns:a16="http://schemas.microsoft.com/office/drawing/2014/main" val="20001"/>
                    </a:ext>
                  </a:extLst>
                </a:gridCol>
              </a:tblGrid>
              <a:tr h="476250">
                <a:tc>
                  <a:txBody>
                    <a:bodyPr/>
                    <a:lstStyle/>
                    <a:p>
                      <a:pPr marL="0" marR="0" indent="0">
                        <a:lnSpc>
                          <a:spcPct val="105000"/>
                        </a:lnSpc>
                        <a:spcBef>
                          <a:spcPts val="0"/>
                        </a:spcBef>
                        <a:spcAft>
                          <a:spcPts val="0"/>
                        </a:spcAft>
                      </a:pPr>
                      <a:r>
                        <a:rPr sz="1800" b="1">
                          <a:solidFill>
                            <a:srgbClr val="FFFFFF"/>
                          </a:solidFill>
                          <a:latin typeface="Aptos"/>
                          <a:ea typeface="Aptos"/>
                          <a:cs typeface="Aptos"/>
                        </a:rPr>
                        <a:t>Symbol / name</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00" b="1">
                          <a:solidFill>
                            <a:srgbClr val="FFFFFF"/>
                          </a:solidFill>
                          <a:latin typeface="Aptos"/>
                          <a:ea typeface="Aptos"/>
                          <a:cs typeface="Aptos"/>
                        </a:rPr>
                        <a:t>Meaning</a:t>
                      </a:r>
                    </a:p>
                  </a:txBody>
                  <a:tcPr marL="76200" marR="57150" marT="19050" marB="19050" anchor="ctr">
                    <a:solidFill>
                      <a:srgbClr val="D6171D"/>
                    </a:solidFill>
                  </a:tcPr>
                </a:tc>
                <a:extLst>
                  <a:ext uri="{0D108BD9-81ED-4DB2-BD59-A6C34878D82A}">
                    <a16:rowId xmlns:a16="http://schemas.microsoft.com/office/drawing/2014/main" val="10000"/>
                  </a:ext>
                </a:extLst>
              </a:tr>
              <a:tr h="476250">
                <a:tc>
                  <a:txBody>
                    <a:bodyPr/>
                    <a:lstStyle/>
                    <a:p>
                      <a:pPr marL="0" marR="0" indent="0">
                        <a:lnSpc>
                          <a:spcPct val="105000"/>
                        </a:lnSpc>
                        <a:spcBef>
                          <a:spcPts val="0"/>
                        </a:spcBef>
                        <a:spcAft>
                          <a:spcPts val="0"/>
                        </a:spcAft>
                      </a:pPr>
                      <a:r>
                        <a:rPr sz="1800" b="0">
                          <a:solidFill>
                            <a:srgbClr val="111111"/>
                          </a:solidFill>
                          <a:latin typeface="Aptos"/>
                          <a:ea typeface="Aptos"/>
                          <a:cs typeface="Aptos"/>
                        </a:rPr>
                        <a:t>s²  s squared</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Sample variance</a:t>
                      </a:r>
                    </a:p>
                  </a:txBody>
                  <a:tcPr marL="76200" marR="57150" marT="19050" marB="19050" anchor="ctr">
                    <a:solidFill>
                      <a:srgbClr val="FFFFFF"/>
                    </a:solidFill>
                  </a:tcPr>
                </a:tc>
                <a:extLst>
                  <a:ext uri="{0D108BD9-81ED-4DB2-BD59-A6C34878D82A}">
                    <a16:rowId xmlns:a16="http://schemas.microsoft.com/office/drawing/2014/main" val="10001"/>
                  </a:ext>
                </a:extLst>
              </a:tr>
              <a:tr h="476250">
                <a:tc>
                  <a:txBody>
                    <a:bodyPr/>
                    <a:lstStyle/>
                    <a:p>
                      <a:pPr marL="0" marR="0" indent="0">
                        <a:lnSpc>
                          <a:spcPct val="105000"/>
                        </a:lnSpc>
                        <a:spcBef>
                          <a:spcPts val="0"/>
                        </a:spcBef>
                        <a:spcAft>
                          <a:spcPts val="0"/>
                        </a:spcAft>
                      </a:pPr>
                      <a:r>
                        <a:rPr sz="1800" b="0">
                          <a:solidFill>
                            <a:srgbClr val="111111"/>
                          </a:solidFill>
                          <a:latin typeface="Aptos"/>
                          <a:ea typeface="Aptos"/>
                          <a:cs typeface="Aptos"/>
                        </a:rPr>
                        <a:t>s  s</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Sample SD</a:t>
                      </a:r>
                    </a:p>
                  </a:txBody>
                  <a:tcPr marL="76200" marR="57150" marT="19050" marB="19050" anchor="ctr">
                    <a:solidFill>
                      <a:srgbClr val="EFF8FF"/>
                    </a:solidFill>
                  </a:tcPr>
                </a:tc>
                <a:extLst>
                  <a:ext uri="{0D108BD9-81ED-4DB2-BD59-A6C34878D82A}">
                    <a16:rowId xmlns:a16="http://schemas.microsoft.com/office/drawing/2014/main" val="10002"/>
                  </a:ext>
                </a:extLst>
              </a:tr>
              <a:tr h="476250">
                <a:tc>
                  <a:txBody>
                    <a:bodyPr/>
                    <a:lstStyle/>
                    <a:p>
                      <a:pPr marL="0" marR="0" indent="0">
                        <a:lnSpc>
                          <a:spcPct val="105000"/>
                        </a:lnSpc>
                        <a:spcBef>
                          <a:spcPts val="0"/>
                        </a:spcBef>
                        <a:spcAft>
                          <a:spcPts val="0"/>
                        </a:spcAft>
                      </a:pPr>
                      <a:r>
                        <a:rPr sz="1800" b="0">
                          <a:solidFill>
                            <a:srgbClr val="111111"/>
                          </a:solidFill>
                          <a:latin typeface="Aptos"/>
                          <a:ea typeface="Aptos"/>
                          <a:cs typeface="Aptos"/>
                        </a:rPr>
                        <a:t>xᵢ  x sub i</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One observation</a:t>
                      </a:r>
                    </a:p>
                  </a:txBody>
                  <a:tcPr marL="76200" marR="57150" marT="19050" marB="19050" anchor="ctr">
                    <a:solidFill>
                      <a:srgbClr val="FFFFFF"/>
                    </a:solidFill>
                  </a:tcPr>
                </a:tc>
                <a:extLst>
                  <a:ext uri="{0D108BD9-81ED-4DB2-BD59-A6C34878D82A}">
                    <a16:rowId xmlns:a16="http://schemas.microsoft.com/office/drawing/2014/main" val="10003"/>
                  </a:ext>
                </a:extLst>
              </a:tr>
              <a:tr h="476250">
                <a:tc>
                  <a:txBody>
                    <a:bodyPr/>
                    <a:lstStyle/>
                    <a:p>
                      <a:pPr marL="0" marR="0" indent="0">
                        <a:lnSpc>
                          <a:spcPct val="105000"/>
                        </a:lnSpc>
                        <a:spcBef>
                          <a:spcPts val="0"/>
                        </a:spcBef>
                        <a:spcAft>
                          <a:spcPts val="0"/>
                        </a:spcAft>
                      </a:pPr>
                      <a:r>
                        <a:rPr sz="1800" b="0">
                          <a:solidFill>
                            <a:srgbClr val="111111"/>
                          </a:solidFill>
                          <a:latin typeface="Aptos"/>
                          <a:ea typeface="Aptos"/>
                          <a:cs typeface="Aptos"/>
                        </a:rPr>
                        <a:t>x̄  x-bar</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Sample mean</a:t>
                      </a:r>
                    </a:p>
                  </a:txBody>
                  <a:tcPr marL="76200" marR="57150" marT="19050" marB="19050" anchor="ctr">
                    <a:solidFill>
                      <a:srgbClr val="EFF8FF"/>
                    </a:solidFill>
                  </a:tcPr>
                </a:tc>
                <a:extLst>
                  <a:ext uri="{0D108BD9-81ED-4DB2-BD59-A6C34878D82A}">
                    <a16:rowId xmlns:a16="http://schemas.microsoft.com/office/drawing/2014/main" val="10004"/>
                  </a:ext>
                </a:extLst>
              </a:tr>
              <a:tr h="476250">
                <a:tc>
                  <a:txBody>
                    <a:bodyPr/>
                    <a:lstStyle/>
                    <a:p>
                      <a:pPr marL="0" marR="0" indent="0">
                        <a:lnSpc>
                          <a:spcPct val="105000"/>
                        </a:lnSpc>
                        <a:spcBef>
                          <a:spcPts val="0"/>
                        </a:spcBef>
                        <a:spcAft>
                          <a:spcPts val="0"/>
                        </a:spcAft>
                      </a:pPr>
                      <a:r>
                        <a:rPr sz="1800" b="0">
                          <a:solidFill>
                            <a:srgbClr val="111111"/>
                          </a:solidFill>
                          <a:latin typeface="Aptos"/>
                          <a:ea typeface="Aptos"/>
                          <a:cs typeface="Aptos"/>
                        </a:rPr>
                        <a:t>n  lowercase n</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Sample count</a:t>
                      </a:r>
                    </a:p>
                  </a:txBody>
                  <a:tcPr marL="76200" marR="57150" marT="19050" marB="19050" anchor="ctr">
                    <a:solidFill>
                      <a:srgbClr val="FFFFFF"/>
                    </a:solidFill>
                  </a:tcPr>
                </a:tc>
                <a:extLst>
                  <a:ext uri="{0D108BD9-81ED-4DB2-BD59-A6C34878D82A}">
                    <a16:rowId xmlns:a16="http://schemas.microsoft.com/office/drawing/2014/main" val="10005"/>
                  </a:ext>
                </a:extLst>
              </a:tr>
            </a:tbl>
          </a:graphicData>
        </a:graphic>
      </p:graphicFrame>
      <p:sp>
        <p:nvSpPr>
          <p:cNvPr id="7" name="body">
            <a:extLst>
              <a:ext uri="{FF2B5EF4-FFF2-40B4-BE49-F238E27FC236}">
                <a16:creationId xmlns:a16="http://schemas.microsoft.com/office/drawing/2014/main" id="{BD67C4B5-3707-43DB-806F-31DC70752B2E}"/>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Mean: divide by n. Variance: divide by n − 1. SD: take the square root.</a:t>
            </a:r>
          </a:p>
        </p:txBody>
      </p:sp>
    </p:spTree>
    <p:extLst>
      <p:ext uri="{BB962C8B-B14F-4D97-AF65-F5344CB8AC3E}">
        <p14:creationId xmlns:p14="http://schemas.microsoft.com/office/powerpoint/2010/main" val="32813612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Why a sample needs an adjustment</a:t>
            </a:r>
          </a:p>
        </p:txBody>
      </p:sp>
      <p:sp>
        <p:nvSpPr>
          <p:cNvPr id="3" name="body">
            <a:extLst>
              <a:ext uri="{FF2B5EF4-FFF2-40B4-BE49-F238E27FC236}">
                <a16:creationId xmlns:a16="http://schemas.microsoft.com/office/drawing/2014/main" id="{2AD43040-5C5B-45FA-83D3-944907937CA8}"/>
              </a:ext>
            </a:extLst>
          </p:cNvPr>
          <p:cNvSpPr>
            <a:spLocks noGrp="1"/>
          </p:cNvSpPr>
          <p:nvPr/>
        </p:nvSpPr>
        <p:spPr>
          <a:xfrm>
            <a:off x="428625" y="2009775"/>
            <a:ext cx="11239500" cy="45720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We use a sample to estimate the spread of the whole population.</a:t>
            </a:r>
          </a:p>
        </p:txBody>
      </p:sp>
      <p:sp>
        <p:nvSpPr>
          <p:cNvPr id="4" name="body">
            <a:extLst>
              <a:ext uri="{FF2B5EF4-FFF2-40B4-BE49-F238E27FC236}">
                <a16:creationId xmlns:a16="http://schemas.microsoft.com/office/drawing/2014/main" id="{D1ECA8D2-994E-461A-8A18-81F2F3AF06F2}"/>
              </a:ext>
            </a:extLst>
          </p:cNvPr>
          <p:cNvSpPr>
            <a:spLocks noGrp="1"/>
          </p:cNvSpPr>
          <p:nvPr/>
        </p:nvSpPr>
        <p:spPr>
          <a:xfrm>
            <a:off x="523875" y="2667000"/>
            <a:ext cx="5381625" cy="38100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Sample waits: 4, 7, 10 minutes</a:t>
            </a:r>
          </a:p>
        </p:txBody>
      </p:sp>
      <p:pic>
        <p:nvPicPr>
          <p:cNvPr id="5" name="Picture 4"/>
          <p:cNvPicPr>
            <a:picLocks noChangeAspect="1"/>
          </p:cNvPicPr>
          <p:nvPr/>
        </p:nvPicPr>
        <p:blipFill>
          <a:blip r:embed="rId3"/>
          <a:stretch/>
        </p:blipFill>
        <p:spPr>
          <a:xfrm>
            <a:off x="1471198" y="3114675"/>
            <a:ext cx="3486978" cy="666750"/>
          </a:xfrm>
          <a:prstGeom prst="rect">
            <a:avLst/>
          </a:prstGeom>
        </p:spPr>
      </p:pic>
      <p:graphicFrame>
        <p:nvGraphicFramePr>
          <p:cNvPr id="6" name="Table 5"/>
          <p:cNvGraphicFramePr/>
          <p:nvPr/>
        </p:nvGraphicFramePr>
        <p:xfrm>
          <a:off x="523875" y="3962400"/>
          <a:ext cx="5381625" cy="1743076"/>
        </p:xfrm>
        <a:graphic>
          <a:graphicData uri="http://schemas.openxmlformats.org/drawingml/2006/table">
            <a:tbl>
              <a:tblPr/>
              <a:tblGrid>
                <a:gridCol w="1333500">
                  <a:extLst>
                    <a:ext uri="{9D8B030D-6E8A-4147-A177-3AD203B41FA5}">
                      <a16:colId xmlns:a16="http://schemas.microsoft.com/office/drawing/2014/main" val="20000"/>
                    </a:ext>
                  </a:extLst>
                </a:gridCol>
                <a:gridCol w="2714625">
                  <a:extLst>
                    <a:ext uri="{9D8B030D-6E8A-4147-A177-3AD203B41FA5}">
                      <a16:colId xmlns:a16="http://schemas.microsoft.com/office/drawing/2014/main" val="20001"/>
                    </a:ext>
                  </a:extLst>
                </a:gridCol>
                <a:gridCol w="1333500">
                  <a:extLst>
                    <a:ext uri="{9D8B030D-6E8A-4147-A177-3AD203B41FA5}">
                      <a16:colId xmlns:a16="http://schemas.microsoft.com/office/drawing/2014/main" val="20002"/>
                    </a:ext>
                  </a:extLst>
                </a:gridCol>
              </a:tblGrid>
              <a:tr h="435769">
                <a:tc>
                  <a:txBody>
                    <a:bodyPr/>
                    <a:lstStyle/>
                    <a:p>
                      <a:pPr marL="0" marR="0" indent="0">
                        <a:lnSpc>
                          <a:spcPct val="105000"/>
                        </a:lnSpc>
                        <a:spcBef>
                          <a:spcPts val="0"/>
                        </a:spcBef>
                        <a:spcAft>
                          <a:spcPts val="0"/>
                        </a:spcAft>
                      </a:pPr>
                      <a:r>
                        <a:rPr sz="1800" b="1">
                          <a:solidFill>
                            <a:srgbClr val="FFFFFF"/>
                          </a:solidFill>
                          <a:latin typeface="Aptos"/>
                          <a:ea typeface="Aptos"/>
                          <a:cs typeface="Aptos"/>
                        </a:rPr>
                        <a:t>Centre</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00" b="1">
                          <a:solidFill>
                            <a:srgbClr val="FFFFFF"/>
                          </a:solidFill>
                          <a:latin typeface="Aptos"/>
                          <a:ea typeface="Aptos"/>
                          <a:cs typeface="Aptos"/>
                        </a:rPr>
                        <a:t>Squared deviations</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00" b="1">
                          <a:solidFill>
                            <a:srgbClr val="FFFFFF"/>
                          </a:solidFill>
                          <a:latin typeface="Aptos"/>
                          <a:ea typeface="Aptos"/>
                          <a:cs typeface="Aptos"/>
                        </a:rPr>
                        <a:t>Total</a:t>
                      </a:r>
                    </a:p>
                  </a:txBody>
                  <a:tcPr marL="76200" marR="57150" marT="19050" marB="19050" anchor="ctr">
                    <a:solidFill>
                      <a:srgbClr val="D6171D"/>
                    </a:solidFill>
                  </a:tcPr>
                </a:tc>
                <a:extLst>
                  <a:ext uri="{0D108BD9-81ED-4DB2-BD59-A6C34878D82A}">
                    <a16:rowId xmlns:a16="http://schemas.microsoft.com/office/drawing/2014/main" val="10000"/>
                  </a:ext>
                </a:extLst>
              </a:tr>
              <a:tr h="435769">
                <a:tc>
                  <a:txBody>
                    <a:bodyPr/>
                    <a:lstStyle/>
                    <a:p>
                      <a:pPr marL="0" marR="0" indent="0">
                        <a:lnSpc>
                          <a:spcPct val="105000"/>
                        </a:lnSpc>
                        <a:spcBef>
                          <a:spcPts val="0"/>
                        </a:spcBef>
                        <a:spcAft>
                          <a:spcPts val="0"/>
                        </a:spcAft>
                      </a:pPr>
                      <a:r>
                        <a:rPr sz="1875" b="0">
                          <a:solidFill>
                            <a:srgbClr val="111111"/>
                          </a:solidFill>
                          <a:latin typeface="Aptos"/>
                          <a:ea typeface="Aptos"/>
                          <a:cs typeface="Aptos"/>
                        </a:rPr>
                        <a:t>6</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4 + 1 + 16</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21</a:t>
                      </a:r>
                    </a:p>
                  </a:txBody>
                  <a:tcPr marL="76200" marR="57150" marT="19050" marB="19050" anchor="ctr">
                    <a:solidFill>
                      <a:srgbClr val="FFFFFF"/>
                    </a:solidFill>
                  </a:tcPr>
                </a:tc>
                <a:extLst>
                  <a:ext uri="{0D108BD9-81ED-4DB2-BD59-A6C34878D82A}">
                    <a16:rowId xmlns:a16="http://schemas.microsoft.com/office/drawing/2014/main" val="10001"/>
                  </a:ext>
                </a:extLst>
              </a:tr>
              <a:tr h="435769">
                <a:tc>
                  <a:txBody>
                    <a:bodyPr/>
                    <a:lstStyle/>
                    <a:p>
                      <a:pPr marL="0" marR="0" indent="0">
                        <a:lnSpc>
                          <a:spcPct val="105000"/>
                        </a:lnSpc>
                        <a:spcBef>
                          <a:spcPts val="0"/>
                        </a:spcBef>
                        <a:spcAft>
                          <a:spcPts val="0"/>
                        </a:spcAft>
                      </a:pPr>
                      <a:r>
                        <a:rPr sz="1875" b="0">
                          <a:solidFill>
                            <a:srgbClr val="111111"/>
                          </a:solidFill>
                          <a:latin typeface="Aptos"/>
                          <a:ea typeface="Aptos"/>
                          <a:cs typeface="Aptos"/>
                        </a:rPr>
                        <a:t>7 (mean)</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9 + 0 + 9</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18</a:t>
                      </a:r>
                    </a:p>
                  </a:txBody>
                  <a:tcPr marL="76200" marR="57150" marT="19050" marB="19050" anchor="ctr">
                    <a:solidFill>
                      <a:srgbClr val="EFF8FF"/>
                    </a:solidFill>
                  </a:tcPr>
                </a:tc>
                <a:extLst>
                  <a:ext uri="{0D108BD9-81ED-4DB2-BD59-A6C34878D82A}">
                    <a16:rowId xmlns:a16="http://schemas.microsoft.com/office/drawing/2014/main" val="10002"/>
                  </a:ext>
                </a:extLst>
              </a:tr>
              <a:tr h="435769">
                <a:tc>
                  <a:txBody>
                    <a:bodyPr/>
                    <a:lstStyle/>
                    <a:p>
                      <a:pPr marL="0" marR="0" indent="0">
                        <a:lnSpc>
                          <a:spcPct val="105000"/>
                        </a:lnSpc>
                        <a:spcBef>
                          <a:spcPts val="0"/>
                        </a:spcBef>
                        <a:spcAft>
                          <a:spcPts val="0"/>
                        </a:spcAft>
                      </a:pPr>
                      <a:r>
                        <a:rPr sz="1875" b="0">
                          <a:solidFill>
                            <a:srgbClr val="111111"/>
                          </a:solidFill>
                          <a:latin typeface="Aptos"/>
                          <a:ea typeface="Aptos"/>
                          <a:cs typeface="Aptos"/>
                        </a:rPr>
                        <a:t>8</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16 + 1 + 4</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21</a:t>
                      </a:r>
                    </a:p>
                  </a:txBody>
                  <a:tcPr marL="76200" marR="571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7" name="body">
            <a:extLst>
              <a:ext uri="{FF2B5EF4-FFF2-40B4-BE49-F238E27FC236}">
                <a16:creationId xmlns:a16="http://schemas.microsoft.com/office/drawing/2014/main" id="{96B3F4F0-A7EF-47F2-BF8F-61DCCF9D2D79}"/>
              </a:ext>
            </a:extLst>
          </p:cNvPr>
          <p:cNvSpPr>
            <a:spLocks noGrp="1"/>
          </p:cNvSpPr>
          <p:nvPr/>
        </p:nvSpPr>
        <p:spPr>
          <a:xfrm>
            <a:off x="523875" y="5772150"/>
            <a:ext cx="5381625" cy="28575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The other centres are comparisons.</a:t>
            </a:r>
          </a:p>
        </p:txBody>
      </p:sp>
      <p:sp>
        <p:nvSpPr>
          <p:cNvPr id="8" name="body">
            <a:extLst>
              <a:ext uri="{FF2B5EF4-FFF2-40B4-BE49-F238E27FC236}">
                <a16:creationId xmlns:a16="http://schemas.microsoft.com/office/drawing/2014/main" id="{27BFBD76-DAD9-45C4-AEB3-E79770368729}"/>
              </a:ext>
            </a:extLst>
          </p:cNvPr>
          <p:cNvSpPr>
            <a:spLocks noGrp="1"/>
          </p:cNvSpPr>
          <p:nvPr/>
        </p:nvSpPr>
        <p:spPr>
          <a:xfrm>
            <a:off x="6477000" y="2686050"/>
            <a:ext cx="5238750" cy="752475"/>
          </a:xfrm>
          <a:prstGeom prst="rect">
            <a:avLst/>
          </a:prstGeom>
          <a:noFill/>
          <a:ln w="0">
            <a:noFill/>
          </a:ln>
        </p:spPr>
        <p:txBody>
          <a:bodyPr wrap="square" lIns="0" tIns="0" rIns="0" bIns="0" anchor="t">
            <a:noAutofit/>
          </a:bodyPr>
          <a:lstStyle/>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1. We calculate the mean from the</a:t>
            </a:r>
          </a:p>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    same sample.</a:t>
            </a:r>
          </a:p>
        </p:txBody>
      </p:sp>
      <p:sp>
        <p:nvSpPr>
          <p:cNvPr id="9" name="body">
            <a:extLst>
              <a:ext uri="{FF2B5EF4-FFF2-40B4-BE49-F238E27FC236}">
                <a16:creationId xmlns:a16="http://schemas.microsoft.com/office/drawing/2014/main" id="{02680AB3-CD2A-4267-817C-CFC9738480F0}"/>
              </a:ext>
            </a:extLst>
          </p:cNvPr>
          <p:cNvSpPr>
            <a:spLocks noGrp="1"/>
          </p:cNvSpPr>
          <p:nvPr/>
        </p:nvSpPr>
        <p:spPr>
          <a:xfrm>
            <a:off x="6477000" y="3619500"/>
            <a:ext cx="5238750" cy="781050"/>
          </a:xfrm>
          <a:prstGeom prst="rect">
            <a:avLst/>
          </a:prstGeom>
          <a:noFill/>
          <a:ln w="0">
            <a:noFill/>
          </a:ln>
        </p:spPr>
        <p:txBody>
          <a:bodyPr wrap="square" lIns="0" tIns="0" rIns="0" bIns="0" anchor="t">
            <a:noAutofit/>
          </a:bodyPr>
          <a:lstStyle/>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2. This mean makes the total of</a:t>
            </a:r>
          </a:p>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    squared deviations smallest.</a:t>
            </a:r>
          </a:p>
        </p:txBody>
      </p:sp>
      <p:sp>
        <p:nvSpPr>
          <p:cNvPr id="10" name="body">
            <a:extLst>
              <a:ext uri="{FF2B5EF4-FFF2-40B4-BE49-F238E27FC236}">
                <a16:creationId xmlns:a16="http://schemas.microsoft.com/office/drawing/2014/main" id="{4714E353-55BF-4812-B5E9-7BD987247069}"/>
              </a:ext>
            </a:extLst>
          </p:cNvPr>
          <p:cNvSpPr>
            <a:spLocks noGrp="1"/>
          </p:cNvSpPr>
          <p:nvPr/>
        </p:nvSpPr>
        <p:spPr>
          <a:xfrm>
            <a:off x="6477000" y="4572000"/>
            <a:ext cx="5238750" cy="1123950"/>
          </a:xfrm>
          <a:prstGeom prst="rect">
            <a:avLst/>
          </a:prstGeom>
          <a:noFill/>
          <a:ln w="0">
            <a:noFill/>
          </a:ln>
        </p:spPr>
        <p:txBody>
          <a:bodyPr wrap="square" lIns="0" tIns="0" rIns="0" bIns="0" anchor="t">
            <a:noAutofit/>
          </a:bodyPr>
          <a:lstStyle/>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3. Dividing that total by n gives</a:t>
            </a:r>
          </a:p>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    population variance estimates</a:t>
            </a:r>
          </a:p>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    that are too small on average.</a:t>
            </a:r>
          </a:p>
        </p:txBody>
      </p:sp>
      <p:sp>
        <p:nvSpPr>
          <p:cNvPr id="11" name="body">
            <a:extLst>
              <a:ext uri="{FF2B5EF4-FFF2-40B4-BE49-F238E27FC236}">
                <a16:creationId xmlns:a16="http://schemas.microsoft.com/office/drawing/2014/main" id="{37CF6B5E-6EA1-4E8C-AD3B-C7CF4CE618EC}"/>
              </a:ext>
            </a:extLst>
          </p:cNvPr>
          <p:cNvSpPr>
            <a:spLocks noGrp="1"/>
          </p:cNvSpPr>
          <p:nvPr/>
        </p:nvSpPr>
        <p:spPr>
          <a:xfrm>
            <a:off x="523875" y="6019800"/>
            <a:ext cx="11144250" cy="304800"/>
          </a:xfrm>
          <a:prstGeom prst="rect">
            <a:avLst/>
          </a:prstGeom>
          <a:noFill/>
          <a:ln w="0">
            <a:noFill/>
          </a:ln>
        </p:spPr>
        <p:txBody>
          <a:bodyPr wrap="square" lIns="0" tIns="0" rIns="0" bIns="0" anchor="t">
            <a:noAutofit/>
          </a:bodyPr>
          <a:lstStyle/>
          <a:p>
            <a:pPr marL="0" marR="0" indent="0">
              <a:defRPr sz="1800" b="1">
                <a:solidFill>
                  <a:srgbClr val="111111"/>
                </a:solidFill>
                <a:latin typeface="Aptos"/>
                <a:ea typeface="Aptos"/>
                <a:cs typeface="Aptos"/>
              </a:defRPr>
            </a:pPr>
            <a:r>
              <a:rPr sz="1800" b="1">
                <a:solidFill>
                  <a:srgbClr val="111111"/>
                </a:solidFill>
                <a:latin typeface="Aptos"/>
                <a:ea typeface="Aptos"/>
                <a:cs typeface="Aptos"/>
              </a:rPr>
              <a:t>Using n − 1 corrects this average underestimate across repeated random samples.</a:t>
            </a:r>
          </a:p>
        </p:txBody>
      </p:sp>
      <p:sp>
        <p:nvSpPr>
          <p:cNvPr id="12"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WORKED EXAMPLE</a:t>
            </a:r>
          </a:p>
        </p:txBody>
      </p:sp>
    </p:spTree>
    <p:extLst>
      <p:ext uri="{BB962C8B-B14F-4D97-AF65-F5344CB8AC3E}">
        <p14:creationId xmlns:p14="http://schemas.microsoft.com/office/powerpoint/2010/main" val="29679371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Why exactly one less?</a:t>
            </a:r>
          </a:p>
        </p:txBody>
      </p:sp>
      <p:sp>
        <p:nvSpPr>
          <p:cNvPr id="3" name="body">
            <a:extLst>
              <a:ext uri="{FF2B5EF4-FFF2-40B4-BE49-F238E27FC236}">
                <a16:creationId xmlns:a16="http://schemas.microsoft.com/office/drawing/2014/main" id="{DB1DADDE-761D-4263-A48C-9219C3ACD1FA}"/>
              </a:ext>
            </a:extLst>
          </p:cNvPr>
          <p:cNvSpPr>
            <a:spLocks noGrp="1"/>
          </p:cNvSpPr>
          <p:nvPr/>
        </p:nvSpPr>
        <p:spPr>
          <a:xfrm>
            <a:off x="428625" y="2009775"/>
            <a:ext cx="11239500" cy="45720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Deviations from the sample mean must add to zero.</a:t>
            </a:r>
          </a:p>
        </p:txBody>
      </p:sp>
      <p:sp>
        <p:nvSpPr>
          <p:cNvPr id="4" name="body">
            <a:extLst>
              <a:ext uri="{FF2B5EF4-FFF2-40B4-BE49-F238E27FC236}">
                <a16:creationId xmlns:a16="http://schemas.microsoft.com/office/drawing/2014/main" id="{931AE930-E6DE-4142-88CA-4B44A020A2B1}"/>
              </a:ext>
            </a:extLst>
          </p:cNvPr>
          <p:cNvSpPr>
            <a:spLocks noGrp="1"/>
          </p:cNvSpPr>
          <p:nvPr/>
        </p:nvSpPr>
        <p:spPr>
          <a:xfrm>
            <a:off x="523875" y="2676525"/>
            <a:ext cx="5619750" cy="361950"/>
          </a:xfrm>
          <a:prstGeom prst="rect">
            <a:avLst/>
          </a:prstGeom>
          <a:noFill/>
          <a:ln w="0">
            <a:noFill/>
          </a:ln>
        </p:spPr>
        <p:txBody>
          <a:bodyPr wrap="square" lIns="0" tIns="0" rIns="0" bIns="0" anchor="t">
            <a:noAutofit/>
          </a:bodyPr>
          <a:lstStyle/>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Three values (n = 3). Mean = 7 min.</a:t>
            </a:r>
          </a:p>
        </p:txBody>
      </p:sp>
      <p:graphicFrame>
        <p:nvGraphicFramePr>
          <p:cNvPr id="5" name="Table 4"/>
          <p:cNvGraphicFramePr/>
          <p:nvPr/>
        </p:nvGraphicFramePr>
        <p:xfrm>
          <a:off x="523875" y="3219450"/>
          <a:ext cx="5619750" cy="2095500"/>
        </p:xfrm>
        <a:graphic>
          <a:graphicData uri="http://schemas.openxmlformats.org/drawingml/2006/table">
            <a:tbl>
              <a:tblPr/>
              <a:tblGrid>
                <a:gridCol w="1095375">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1571625">
                  <a:extLst>
                    <a:ext uri="{9D8B030D-6E8A-4147-A177-3AD203B41FA5}">
                      <a16:colId xmlns:a16="http://schemas.microsoft.com/office/drawing/2014/main" val="20002"/>
                    </a:ext>
                  </a:extLst>
                </a:gridCol>
              </a:tblGrid>
              <a:tr h="419100">
                <a:tc>
                  <a:txBody>
                    <a:bodyPr/>
                    <a:lstStyle/>
                    <a:p>
                      <a:pPr marL="0" marR="0" indent="0">
                        <a:lnSpc>
                          <a:spcPct val="105000"/>
                        </a:lnSpc>
                        <a:spcBef>
                          <a:spcPts val="0"/>
                        </a:spcBef>
                        <a:spcAft>
                          <a:spcPts val="0"/>
                        </a:spcAft>
                      </a:pPr>
                      <a:r>
                        <a:rPr sz="1950" b="1">
                          <a:solidFill>
                            <a:srgbClr val="FFFFFF"/>
                          </a:solidFill>
                          <a:latin typeface="Aptos"/>
                          <a:ea typeface="Aptos"/>
                          <a:cs typeface="Aptos"/>
                        </a:rPr>
                        <a:t>Wait</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950" b="1">
                          <a:solidFill>
                            <a:srgbClr val="FFFFFF"/>
                          </a:solidFill>
                          <a:latin typeface="Aptos"/>
                          <a:ea typeface="Aptos"/>
                          <a:cs typeface="Aptos"/>
                        </a:rPr>
                        <a:t>Deviation</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950" b="1">
                          <a:solidFill>
                            <a:srgbClr val="FFFFFF"/>
                          </a:solidFill>
                          <a:latin typeface="Aptos"/>
                          <a:ea typeface="Aptos"/>
                          <a:cs typeface="Aptos"/>
                        </a:rPr>
                        <a:t>Squared</a:t>
                      </a:r>
                    </a:p>
                  </a:txBody>
                  <a:tcPr marL="76200" marR="57150" marT="19050" marB="19050" anchor="ctr">
                    <a:solidFill>
                      <a:srgbClr val="D6171D"/>
                    </a:solidFill>
                  </a:tcPr>
                </a:tc>
                <a:extLst>
                  <a:ext uri="{0D108BD9-81ED-4DB2-BD59-A6C34878D82A}">
                    <a16:rowId xmlns:a16="http://schemas.microsoft.com/office/drawing/2014/main" val="10000"/>
                  </a:ext>
                </a:extLst>
              </a:tr>
              <a:tr h="419100">
                <a:tc>
                  <a:txBody>
                    <a:bodyPr/>
                    <a:lstStyle/>
                    <a:p>
                      <a:pPr marL="0" marR="0" indent="0">
                        <a:lnSpc>
                          <a:spcPct val="105000"/>
                        </a:lnSpc>
                        <a:spcBef>
                          <a:spcPts val="0"/>
                        </a:spcBef>
                        <a:spcAft>
                          <a:spcPts val="0"/>
                        </a:spcAft>
                      </a:pPr>
                      <a:r>
                        <a:rPr sz="2025" b="0">
                          <a:solidFill>
                            <a:srgbClr val="111111"/>
                          </a:solidFill>
                          <a:latin typeface="Aptos"/>
                          <a:ea typeface="Aptos"/>
                          <a:cs typeface="Aptos"/>
                        </a:rPr>
                        <a:t>4</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4 − 7 = −3</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9</a:t>
                      </a:r>
                    </a:p>
                  </a:txBody>
                  <a:tcPr marL="76200" marR="57150" marT="19050" marB="19050" anchor="ctr">
                    <a:solidFill>
                      <a:srgbClr val="FFFFFF"/>
                    </a:solidFill>
                  </a:tcPr>
                </a:tc>
                <a:extLst>
                  <a:ext uri="{0D108BD9-81ED-4DB2-BD59-A6C34878D82A}">
                    <a16:rowId xmlns:a16="http://schemas.microsoft.com/office/drawing/2014/main" val="10001"/>
                  </a:ext>
                </a:extLst>
              </a:tr>
              <a:tr h="419100">
                <a:tc>
                  <a:txBody>
                    <a:bodyPr/>
                    <a:lstStyle/>
                    <a:p>
                      <a:pPr marL="0" marR="0" indent="0">
                        <a:lnSpc>
                          <a:spcPct val="105000"/>
                        </a:lnSpc>
                        <a:spcBef>
                          <a:spcPts val="0"/>
                        </a:spcBef>
                        <a:spcAft>
                          <a:spcPts val="0"/>
                        </a:spcAft>
                      </a:pPr>
                      <a:r>
                        <a:rPr sz="2025" b="0">
                          <a:solidFill>
                            <a:srgbClr val="111111"/>
                          </a:solidFill>
                          <a:latin typeface="Aptos"/>
                          <a:ea typeface="Aptos"/>
                          <a:cs typeface="Aptos"/>
                        </a:rPr>
                        <a:t>7</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7 − 7 = 0</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0</a:t>
                      </a:r>
                    </a:p>
                  </a:txBody>
                  <a:tcPr marL="76200" marR="57150" marT="19050" marB="19050" anchor="ctr">
                    <a:solidFill>
                      <a:srgbClr val="EFF8FF"/>
                    </a:solidFill>
                  </a:tcPr>
                </a:tc>
                <a:extLst>
                  <a:ext uri="{0D108BD9-81ED-4DB2-BD59-A6C34878D82A}">
                    <a16:rowId xmlns:a16="http://schemas.microsoft.com/office/drawing/2014/main" val="10002"/>
                  </a:ext>
                </a:extLst>
              </a:tr>
              <a:tr h="419100">
                <a:tc>
                  <a:txBody>
                    <a:bodyPr/>
                    <a:lstStyle/>
                    <a:p>
                      <a:pPr marL="0" marR="0" indent="0">
                        <a:lnSpc>
                          <a:spcPct val="105000"/>
                        </a:lnSpc>
                        <a:spcBef>
                          <a:spcPts val="0"/>
                        </a:spcBef>
                        <a:spcAft>
                          <a:spcPts val="0"/>
                        </a:spcAft>
                      </a:pPr>
                      <a:r>
                        <a:rPr sz="2025" b="0">
                          <a:solidFill>
                            <a:srgbClr val="111111"/>
                          </a:solidFill>
                          <a:latin typeface="Aptos"/>
                          <a:ea typeface="Aptos"/>
                          <a:cs typeface="Aptos"/>
                        </a:rPr>
                        <a:t>10</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10 − 7 = +3</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9</a:t>
                      </a:r>
                    </a:p>
                  </a:txBody>
                  <a:tcPr marL="76200" marR="57150" marT="19050" marB="19050" anchor="ctr">
                    <a:solidFill>
                      <a:srgbClr val="FFFFFF"/>
                    </a:solidFill>
                  </a:tcPr>
                </a:tc>
                <a:extLst>
                  <a:ext uri="{0D108BD9-81ED-4DB2-BD59-A6C34878D82A}">
                    <a16:rowId xmlns:a16="http://schemas.microsoft.com/office/drawing/2014/main" val="10003"/>
                  </a:ext>
                </a:extLst>
              </a:tr>
              <a:tr h="419100">
                <a:tc>
                  <a:txBody>
                    <a:bodyPr/>
                    <a:lstStyle/>
                    <a:p>
                      <a:pPr marL="0" marR="0" indent="0">
                        <a:lnSpc>
                          <a:spcPct val="105000"/>
                        </a:lnSpc>
                        <a:spcBef>
                          <a:spcPts val="0"/>
                        </a:spcBef>
                        <a:spcAft>
                          <a:spcPts val="0"/>
                        </a:spcAft>
                      </a:pPr>
                      <a:r>
                        <a:rPr sz="2025" b="0">
                          <a:solidFill>
                            <a:srgbClr val="111111"/>
                          </a:solidFill>
                          <a:latin typeface="Aptos"/>
                          <a:ea typeface="Aptos"/>
                          <a:cs typeface="Aptos"/>
                        </a:rPr>
                        <a:t>Total</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0</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18</a:t>
                      </a:r>
                    </a:p>
                  </a:txBody>
                  <a:tcPr marL="76200" marR="57150" marT="19050" marB="19050" anchor="ctr">
                    <a:solidFill>
                      <a:srgbClr val="EFF8FF"/>
                    </a:solidFill>
                  </a:tcPr>
                </a:tc>
                <a:extLst>
                  <a:ext uri="{0D108BD9-81ED-4DB2-BD59-A6C34878D82A}">
                    <a16:rowId xmlns:a16="http://schemas.microsoft.com/office/drawing/2014/main" val="10004"/>
                  </a:ext>
                </a:extLst>
              </a:tr>
            </a:tbl>
          </a:graphicData>
        </a:graphic>
      </p:graphicFrame>
      <p:pic>
        <p:nvPicPr>
          <p:cNvPr id="6" name="Picture 5"/>
          <p:cNvPicPr>
            <a:picLocks noChangeAspect="1"/>
          </p:cNvPicPr>
          <p:nvPr/>
        </p:nvPicPr>
        <p:blipFill>
          <a:blip r:embed="rId3"/>
          <a:stretch/>
        </p:blipFill>
        <p:spPr>
          <a:xfrm>
            <a:off x="6912808" y="2714625"/>
            <a:ext cx="4176634" cy="685800"/>
          </a:xfrm>
          <a:prstGeom prst="rect">
            <a:avLst/>
          </a:prstGeom>
        </p:spPr>
      </p:pic>
      <p:sp>
        <p:nvSpPr>
          <p:cNvPr id="7" name="body">
            <a:extLst>
              <a:ext uri="{FF2B5EF4-FFF2-40B4-BE49-F238E27FC236}">
                <a16:creationId xmlns:a16="http://schemas.microsoft.com/office/drawing/2014/main" id="{E0A48CFA-51C8-454F-ADF3-34DF3ABAB02D}"/>
              </a:ext>
            </a:extLst>
          </p:cNvPr>
          <p:cNvSpPr>
            <a:spLocks noGrp="1"/>
          </p:cNvSpPr>
          <p:nvPr/>
        </p:nvSpPr>
        <p:spPr>
          <a:xfrm>
            <a:off x="6477000" y="3571875"/>
            <a:ext cx="5238750" cy="400050"/>
          </a:xfrm>
          <a:prstGeom prst="rect">
            <a:avLst/>
          </a:prstGeom>
          <a:noFill/>
          <a:ln w="0">
            <a:noFill/>
          </a:ln>
        </p:spPr>
        <p:txBody>
          <a:bodyPr wrap="square" lIns="0" tIns="0" rIns="0" bIns="0" anchor="t">
            <a:noAutofit/>
          </a:bodyPr>
          <a:lstStyle/>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The last deviation must be +3.</a:t>
            </a:r>
          </a:p>
        </p:txBody>
      </p:sp>
      <p:sp>
        <p:nvSpPr>
          <p:cNvPr id="8" name="body">
            <a:extLst>
              <a:ext uri="{FF2B5EF4-FFF2-40B4-BE49-F238E27FC236}">
                <a16:creationId xmlns:a16="http://schemas.microsoft.com/office/drawing/2014/main" id="{A31D1BA8-5E41-42EE-8BC7-CD0578D96745}"/>
              </a:ext>
            </a:extLst>
          </p:cNvPr>
          <p:cNvSpPr>
            <a:spLocks noGrp="1"/>
          </p:cNvSpPr>
          <p:nvPr/>
        </p:nvSpPr>
        <p:spPr>
          <a:xfrm>
            <a:off x="6477000" y="4048125"/>
            <a:ext cx="5238750" cy="685800"/>
          </a:xfrm>
          <a:prstGeom prst="rect">
            <a:avLst/>
          </a:prstGeom>
          <a:noFill/>
          <a:ln w="0">
            <a:noFill/>
          </a:ln>
        </p:spPr>
        <p:txBody>
          <a:bodyPr wrap="square" lIns="0" tIns="0" rIns="0" bIns="0" anchor="t">
            <a:noAutofit/>
          </a:bodyPr>
          <a:lstStyle/>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Once the other two are known,</a:t>
            </a:r>
          </a:p>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the last one is fixed.</a:t>
            </a:r>
          </a:p>
        </p:txBody>
      </p:sp>
      <p:sp>
        <p:nvSpPr>
          <p:cNvPr id="9" name="body">
            <a:extLst>
              <a:ext uri="{FF2B5EF4-FFF2-40B4-BE49-F238E27FC236}">
                <a16:creationId xmlns:a16="http://schemas.microsoft.com/office/drawing/2014/main" id="{4A8F40EF-1A98-423F-94F1-37FD223FAEB6}"/>
              </a:ext>
            </a:extLst>
          </p:cNvPr>
          <p:cNvSpPr>
            <a:spLocks noGrp="1"/>
          </p:cNvSpPr>
          <p:nvPr/>
        </p:nvSpPr>
        <p:spPr>
          <a:xfrm>
            <a:off x="6477000" y="4743450"/>
            <a:ext cx="5238750" cy="600075"/>
          </a:xfrm>
          <a:prstGeom prst="rect">
            <a:avLst/>
          </a:prstGeom>
          <a:noFill/>
          <a:ln w="0">
            <a:noFill/>
          </a:ln>
        </p:spPr>
        <p:txBody>
          <a:bodyPr wrap="square" lIns="0" tIns="0" rIns="0" bIns="0" anchor="t">
            <a:noAutofit/>
          </a:bodyPr>
          <a:lstStyle/>
          <a:p>
            <a:pPr marL="0" marR="0" indent="0">
              <a:defRPr sz="2025" b="0">
                <a:solidFill>
                  <a:srgbClr val="111111"/>
                </a:solidFill>
                <a:latin typeface="Aptos"/>
                <a:ea typeface="Aptos"/>
                <a:cs typeface="Aptos"/>
              </a:defRPr>
            </a:pPr>
            <a:r>
              <a:rPr sz="2025" b="0">
                <a:solidFill>
                  <a:srgbClr val="111111"/>
                </a:solidFill>
                <a:latin typeface="Aptos"/>
                <a:ea typeface="Aptos"/>
                <a:cs typeface="Aptos"/>
              </a:rPr>
              <a:t>Two deviations can vary freely.</a:t>
            </a:r>
          </a:p>
          <a:p>
            <a:pPr marL="0" marR="0" indent="0">
              <a:defRPr sz="2025" b="0">
                <a:solidFill>
                  <a:srgbClr val="111111"/>
                </a:solidFill>
                <a:latin typeface="Aptos"/>
                <a:ea typeface="Aptos"/>
                <a:cs typeface="Aptos"/>
              </a:defRPr>
            </a:pPr>
            <a:r>
              <a:rPr sz="2025" b="0">
                <a:solidFill>
                  <a:srgbClr val="111111"/>
                </a:solidFill>
                <a:latin typeface="Aptos"/>
                <a:ea typeface="Aptos"/>
                <a:cs typeface="Aptos"/>
              </a:rPr>
              <a:t>These are 2 degrees of freedom.</a:t>
            </a:r>
          </a:p>
        </p:txBody>
      </p:sp>
      <p:pic>
        <p:nvPicPr>
          <p:cNvPr id="10" name="Picture 9"/>
          <p:cNvPicPr>
            <a:picLocks noChangeAspect="1"/>
          </p:cNvPicPr>
          <p:nvPr/>
        </p:nvPicPr>
        <p:blipFill>
          <a:blip r:embed="rId4"/>
          <a:stretch/>
        </p:blipFill>
        <p:spPr>
          <a:xfrm>
            <a:off x="3938064" y="5372100"/>
            <a:ext cx="4315872" cy="685800"/>
          </a:xfrm>
          <a:prstGeom prst="rect">
            <a:avLst/>
          </a:prstGeom>
        </p:spPr>
      </p:pic>
      <p:sp>
        <p:nvSpPr>
          <p:cNvPr id="11" name="body">
            <a:extLst>
              <a:ext uri="{FF2B5EF4-FFF2-40B4-BE49-F238E27FC236}">
                <a16:creationId xmlns:a16="http://schemas.microsoft.com/office/drawing/2014/main" id="{5266F8D3-B91B-4493-A02D-F747DFF029A3}"/>
              </a:ext>
            </a:extLst>
          </p:cNvPr>
          <p:cNvSpPr>
            <a:spLocks noGrp="1"/>
          </p:cNvSpPr>
          <p:nvPr/>
        </p:nvSpPr>
        <p:spPr>
          <a:xfrm>
            <a:off x="523875" y="6076950"/>
            <a:ext cx="11144250" cy="2286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We use all three values. The −1 changes the divisor and removes no observation.</a:t>
            </a:r>
          </a:p>
        </p:txBody>
      </p:sp>
      <p:sp>
        <p:nvSpPr>
          <p:cNvPr id="12"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WORKED EXAMPLE</a:t>
            </a:r>
          </a:p>
        </p:txBody>
      </p:sp>
    </p:spTree>
    <p:extLst>
      <p:ext uri="{BB962C8B-B14F-4D97-AF65-F5344CB8AC3E}">
        <p14:creationId xmlns:p14="http://schemas.microsoft.com/office/powerpoint/2010/main" val="10002277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Population and sample: compare</a:t>
            </a:r>
          </a:p>
        </p:txBody>
      </p:sp>
      <p:sp>
        <p:nvSpPr>
          <p:cNvPr id="3" name="body">
            <a:extLst>
              <a:ext uri="{FF2B5EF4-FFF2-40B4-BE49-F238E27FC236}">
                <a16:creationId xmlns:a16="http://schemas.microsoft.com/office/drawing/2014/main" id="{6008BE86-5231-4FF7-8777-ED2B55118807}"/>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Which group does the question ask us to understand?</a:t>
            </a:r>
          </a:p>
        </p:txBody>
      </p:sp>
      <p:graphicFrame>
        <p:nvGraphicFramePr>
          <p:cNvPr id="4" name="Table 3"/>
          <p:cNvGraphicFramePr/>
          <p:nvPr/>
        </p:nvGraphicFramePr>
        <p:xfrm>
          <a:off x="523875" y="2724150"/>
          <a:ext cx="11144250" cy="3067050"/>
        </p:xfrm>
        <a:graphic>
          <a:graphicData uri="http://schemas.openxmlformats.org/drawingml/2006/table">
            <a:tbl>
              <a:tblPr/>
              <a:tblGrid>
                <a:gridCol w="3000375">
                  <a:extLst>
                    <a:ext uri="{9D8B030D-6E8A-4147-A177-3AD203B41FA5}">
                      <a16:colId xmlns:a16="http://schemas.microsoft.com/office/drawing/2014/main" val="20000"/>
                    </a:ext>
                  </a:extLst>
                </a:gridCol>
                <a:gridCol w="3905250">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438150">
                <a:tc>
                  <a:txBody>
                    <a:bodyPr/>
                    <a:lstStyle/>
                    <a:p>
                      <a:pPr marL="0" marR="0" indent="0">
                        <a:lnSpc>
                          <a:spcPct val="105000"/>
                        </a:lnSpc>
                        <a:spcBef>
                          <a:spcPts val="0"/>
                        </a:spcBef>
                        <a:spcAft>
                          <a:spcPts val="0"/>
                        </a:spcAft>
                      </a:pPr>
                      <a:r>
                        <a:rPr sz="2025" b="1">
                          <a:solidFill>
                            <a:srgbClr val="FFFFFF"/>
                          </a:solidFill>
                          <a:latin typeface="Aptos"/>
                          <a:ea typeface="Aptos"/>
                          <a:cs typeface="Aptos"/>
                        </a:rPr>
                        <a:t>Feature</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Population</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Sample</a:t>
                      </a:r>
                    </a:p>
                  </a:txBody>
                  <a:tcPr marL="76200" marR="57150" marT="19050" marB="19050" anchor="ctr">
                    <a:solidFill>
                      <a:srgbClr val="D6171D"/>
                    </a:solidFill>
                  </a:tcPr>
                </a:tc>
                <a:extLst>
                  <a:ext uri="{0D108BD9-81ED-4DB2-BD59-A6C34878D82A}">
                    <a16:rowId xmlns:a16="http://schemas.microsoft.com/office/drawing/2014/main" val="10000"/>
                  </a:ext>
                </a:extLst>
              </a:tr>
              <a:tr h="438150">
                <a:tc>
                  <a:txBody>
                    <a:bodyPr/>
                    <a:lstStyle/>
                    <a:p>
                      <a:pPr marL="0" marR="0" indent="0">
                        <a:lnSpc>
                          <a:spcPct val="105000"/>
                        </a:lnSpc>
                        <a:spcBef>
                          <a:spcPts val="0"/>
                        </a:spcBef>
                        <a:spcAft>
                          <a:spcPts val="0"/>
                        </a:spcAft>
                      </a:pPr>
                      <a:r>
                        <a:rPr sz="1875" b="0">
                          <a:solidFill>
                            <a:srgbClr val="111111"/>
                          </a:solidFill>
                          <a:latin typeface="Aptos"/>
                          <a:ea typeface="Aptos"/>
                          <a:cs typeface="Aptos"/>
                        </a:rPr>
                        <a:t>Purpose here</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Describe the whole group</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Estimate the larger group</a:t>
                      </a:r>
                    </a:p>
                  </a:txBody>
                  <a:tcPr marL="76200" marR="57150" marT="19050" marB="19050" anchor="ctr">
                    <a:solidFill>
                      <a:srgbClr val="FFFFFF"/>
                    </a:solidFill>
                  </a:tcPr>
                </a:tc>
                <a:extLst>
                  <a:ext uri="{0D108BD9-81ED-4DB2-BD59-A6C34878D82A}">
                    <a16:rowId xmlns:a16="http://schemas.microsoft.com/office/drawing/2014/main" val="10001"/>
                  </a:ext>
                </a:extLst>
              </a:tr>
              <a:tr h="438150">
                <a:tc>
                  <a:txBody>
                    <a:bodyPr/>
                    <a:lstStyle/>
                    <a:p>
                      <a:pPr marL="0" marR="0" indent="0">
                        <a:lnSpc>
                          <a:spcPct val="105000"/>
                        </a:lnSpc>
                        <a:spcBef>
                          <a:spcPts val="0"/>
                        </a:spcBef>
                        <a:spcAft>
                          <a:spcPts val="0"/>
                        </a:spcAft>
                      </a:pPr>
                      <a:r>
                        <a:rPr sz="1875" b="0">
                          <a:solidFill>
                            <a:srgbClr val="111111"/>
                          </a:solidFill>
                          <a:latin typeface="Aptos"/>
                          <a:ea typeface="Aptos"/>
                          <a:cs typeface="Aptos"/>
                        </a:rPr>
                        <a:t>Count</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N</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n</a:t>
                      </a:r>
                    </a:p>
                  </a:txBody>
                  <a:tcPr marL="76200" marR="57150" marT="19050" marB="19050" anchor="ctr">
                    <a:solidFill>
                      <a:srgbClr val="EFF8FF"/>
                    </a:solidFill>
                  </a:tcPr>
                </a:tc>
                <a:extLst>
                  <a:ext uri="{0D108BD9-81ED-4DB2-BD59-A6C34878D82A}">
                    <a16:rowId xmlns:a16="http://schemas.microsoft.com/office/drawing/2014/main" val="10002"/>
                  </a:ext>
                </a:extLst>
              </a:tr>
              <a:tr h="438150">
                <a:tc>
                  <a:txBody>
                    <a:bodyPr/>
                    <a:lstStyle/>
                    <a:p>
                      <a:pPr marL="0" marR="0" indent="0">
                        <a:lnSpc>
                          <a:spcPct val="105000"/>
                        </a:lnSpc>
                        <a:spcBef>
                          <a:spcPts val="0"/>
                        </a:spcBef>
                        <a:spcAft>
                          <a:spcPts val="0"/>
                        </a:spcAft>
                      </a:pPr>
                      <a:r>
                        <a:rPr sz="1875" b="0">
                          <a:solidFill>
                            <a:srgbClr val="111111"/>
                          </a:solidFill>
                          <a:latin typeface="Aptos"/>
                          <a:ea typeface="Aptos"/>
                          <a:cs typeface="Aptos"/>
                        </a:rPr>
                        <a:t>Mean</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μ  population mean</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x̄  sample mean</a:t>
                      </a:r>
                    </a:p>
                  </a:txBody>
                  <a:tcPr marL="76200" marR="57150" marT="19050" marB="19050" anchor="ctr">
                    <a:solidFill>
                      <a:srgbClr val="FFFFFF"/>
                    </a:solidFill>
                  </a:tcPr>
                </a:tc>
                <a:extLst>
                  <a:ext uri="{0D108BD9-81ED-4DB2-BD59-A6C34878D82A}">
                    <a16:rowId xmlns:a16="http://schemas.microsoft.com/office/drawing/2014/main" val="10003"/>
                  </a:ext>
                </a:extLst>
              </a:tr>
              <a:tr h="438150">
                <a:tc>
                  <a:txBody>
                    <a:bodyPr/>
                    <a:lstStyle/>
                    <a:p>
                      <a:pPr marL="0" marR="0" indent="0">
                        <a:lnSpc>
                          <a:spcPct val="105000"/>
                        </a:lnSpc>
                        <a:spcBef>
                          <a:spcPts val="0"/>
                        </a:spcBef>
                        <a:spcAft>
                          <a:spcPts val="0"/>
                        </a:spcAft>
                      </a:pPr>
                      <a:r>
                        <a:rPr sz="1875" b="0">
                          <a:solidFill>
                            <a:srgbClr val="111111"/>
                          </a:solidFill>
                          <a:latin typeface="Aptos"/>
                          <a:ea typeface="Aptos"/>
                          <a:cs typeface="Aptos"/>
                        </a:rPr>
                        <a:t>Variance</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σ²  population variance</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s²  sample variance</a:t>
                      </a:r>
                    </a:p>
                  </a:txBody>
                  <a:tcPr marL="76200" marR="57150" marT="19050" marB="19050" anchor="ctr">
                    <a:solidFill>
                      <a:srgbClr val="EFF8FF"/>
                    </a:solidFill>
                  </a:tcPr>
                </a:tc>
                <a:extLst>
                  <a:ext uri="{0D108BD9-81ED-4DB2-BD59-A6C34878D82A}">
                    <a16:rowId xmlns:a16="http://schemas.microsoft.com/office/drawing/2014/main" val="10004"/>
                  </a:ext>
                </a:extLst>
              </a:tr>
              <a:tr h="438150">
                <a:tc>
                  <a:txBody>
                    <a:bodyPr/>
                    <a:lstStyle/>
                    <a:p>
                      <a:pPr marL="0" marR="0" indent="0">
                        <a:lnSpc>
                          <a:spcPct val="105000"/>
                        </a:lnSpc>
                        <a:spcBef>
                          <a:spcPts val="0"/>
                        </a:spcBef>
                        <a:spcAft>
                          <a:spcPts val="0"/>
                        </a:spcAft>
                      </a:pPr>
                      <a:r>
                        <a:rPr sz="1875" b="0">
                          <a:solidFill>
                            <a:srgbClr val="111111"/>
                          </a:solidFill>
                          <a:latin typeface="Aptos"/>
                          <a:ea typeface="Aptos"/>
                          <a:cs typeface="Aptos"/>
                        </a:rPr>
                        <a:t>Variance divisor</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N</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n − 1</a:t>
                      </a:r>
                    </a:p>
                  </a:txBody>
                  <a:tcPr marL="76200" marR="57150" marT="19050" marB="19050" anchor="ctr">
                    <a:solidFill>
                      <a:srgbClr val="FFFFFF"/>
                    </a:solidFill>
                  </a:tcPr>
                </a:tc>
                <a:extLst>
                  <a:ext uri="{0D108BD9-81ED-4DB2-BD59-A6C34878D82A}">
                    <a16:rowId xmlns:a16="http://schemas.microsoft.com/office/drawing/2014/main" val="10005"/>
                  </a:ext>
                </a:extLst>
              </a:tr>
              <a:tr h="438150">
                <a:tc>
                  <a:txBody>
                    <a:bodyPr/>
                    <a:lstStyle/>
                    <a:p>
                      <a:pPr marL="0" marR="0" indent="0">
                        <a:lnSpc>
                          <a:spcPct val="105000"/>
                        </a:lnSpc>
                        <a:spcBef>
                          <a:spcPts val="0"/>
                        </a:spcBef>
                        <a:spcAft>
                          <a:spcPts val="0"/>
                        </a:spcAft>
                      </a:pPr>
                      <a:r>
                        <a:rPr sz="1875" b="0">
                          <a:solidFill>
                            <a:srgbClr val="111111"/>
                          </a:solidFill>
                          <a:latin typeface="Aptos"/>
                          <a:ea typeface="Aptos"/>
                          <a:cs typeface="Aptos"/>
                        </a:rPr>
                        <a:t>Standard deviation</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σ  population SD</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75" b="0">
                          <a:solidFill>
                            <a:srgbClr val="111111"/>
                          </a:solidFill>
                          <a:latin typeface="Aptos"/>
                          <a:ea typeface="Aptos"/>
                          <a:cs typeface="Aptos"/>
                        </a:rPr>
                        <a:t>s  sample SD</a:t>
                      </a:r>
                    </a:p>
                  </a:txBody>
                  <a:tcPr marL="76200" marR="57150" marT="19050" marB="19050" anchor="ctr">
                    <a:solidFill>
                      <a:srgbClr val="EFF8FF"/>
                    </a:solidFill>
                  </a:tcPr>
                </a:tc>
                <a:extLst>
                  <a:ext uri="{0D108BD9-81ED-4DB2-BD59-A6C34878D82A}">
                    <a16:rowId xmlns:a16="http://schemas.microsoft.com/office/drawing/2014/main" val="10006"/>
                  </a:ext>
                </a:extLst>
              </a:tr>
            </a:tbl>
          </a:graphicData>
        </a:graphic>
      </p:graphicFrame>
      <p:sp>
        <p:nvSpPr>
          <p:cNvPr id="5" name="body">
            <a:extLst>
              <a:ext uri="{FF2B5EF4-FFF2-40B4-BE49-F238E27FC236}">
                <a16:creationId xmlns:a16="http://schemas.microsoft.com/office/drawing/2014/main" id="{F66AFA7D-BB97-47FE-884A-D3AE833F6AA8}"/>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Both means use total ÷ count. The adjustment belongs to sample variance.</a:t>
            </a:r>
          </a:p>
        </p:txBody>
      </p:sp>
    </p:spTree>
    <p:extLst>
      <p:ext uri="{BB962C8B-B14F-4D97-AF65-F5344CB8AC3E}">
        <p14:creationId xmlns:p14="http://schemas.microsoft.com/office/powerpoint/2010/main" val="32813612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B2a: guided sample calculation</a:t>
            </a:r>
          </a:p>
        </p:txBody>
      </p:sp>
      <p:sp>
        <p:nvSpPr>
          <p:cNvPr id="3" name="body">
            <a:extLst>
              <a:ext uri="{FF2B5EF4-FFF2-40B4-BE49-F238E27FC236}">
                <a16:creationId xmlns:a16="http://schemas.microsoft.com/office/drawing/2014/main" id="{C1342937-C070-4B36-8864-72BAC11E7B87}"/>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Eight randomly selected customers help us estimate the month’s waits.</a:t>
            </a:r>
          </a:p>
        </p:txBody>
      </p:sp>
      <p:pic>
        <p:nvPicPr>
          <p:cNvPr id="4" name="Picture 3"/>
          <p:cNvPicPr>
            <a:picLocks noChangeAspect="1"/>
          </p:cNvPicPr>
          <p:nvPr/>
        </p:nvPicPr>
        <p:blipFill>
          <a:blip r:embed="rId3"/>
          <a:stretch/>
        </p:blipFill>
        <p:spPr>
          <a:xfrm>
            <a:off x="758133" y="2876550"/>
            <a:ext cx="10675735" cy="790575"/>
          </a:xfrm>
          <a:prstGeom prst="rect">
            <a:avLst/>
          </a:prstGeom>
        </p:spPr>
      </p:pic>
      <p:sp>
        <p:nvSpPr>
          <p:cNvPr id="5" name="body">
            <a:extLst>
              <a:ext uri="{FF2B5EF4-FFF2-40B4-BE49-F238E27FC236}">
                <a16:creationId xmlns:a16="http://schemas.microsoft.com/office/drawing/2014/main" id="{76A9C492-83DE-477C-B14F-147455C67317}"/>
              </a:ext>
            </a:extLst>
          </p:cNvPr>
          <p:cNvSpPr>
            <a:spLocks noGrp="1"/>
          </p:cNvSpPr>
          <p:nvPr/>
        </p:nvSpPr>
        <p:spPr>
          <a:xfrm>
            <a:off x="523875" y="4076700"/>
            <a:ext cx="11144250" cy="5143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1. Identify the target population and choose the divisor.</a:t>
            </a:r>
          </a:p>
        </p:txBody>
      </p:sp>
      <p:sp>
        <p:nvSpPr>
          <p:cNvPr id="6" name="body">
            <a:extLst>
              <a:ext uri="{FF2B5EF4-FFF2-40B4-BE49-F238E27FC236}">
                <a16:creationId xmlns:a16="http://schemas.microsoft.com/office/drawing/2014/main" id="{862FBFA5-8E47-44AF-B671-F29820694B4C}"/>
              </a:ext>
            </a:extLst>
          </p:cNvPr>
          <p:cNvSpPr>
            <a:spLocks noGrp="1"/>
          </p:cNvSpPr>
          <p:nvPr/>
        </p:nvSpPr>
        <p:spPr>
          <a:xfrm>
            <a:off x="523875" y="4705350"/>
            <a:ext cx="11144250" cy="5143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2. Calculate the variance, then the standard deviation.</a:t>
            </a:r>
          </a:p>
        </p:txBody>
      </p:sp>
      <p:sp>
        <p:nvSpPr>
          <p:cNvPr id="7" name="body">
            <a:extLst>
              <a:ext uri="{FF2B5EF4-FFF2-40B4-BE49-F238E27FC236}">
                <a16:creationId xmlns:a16="http://schemas.microsoft.com/office/drawing/2014/main" id="{13842030-9757-448C-AEC5-4EBCC636BE69}"/>
              </a:ext>
            </a:extLst>
          </p:cNvPr>
          <p:cNvSpPr>
            <a:spLocks noGrp="1"/>
          </p:cNvSpPr>
          <p:nvPr/>
        </p:nvSpPr>
        <p:spPr>
          <a:xfrm>
            <a:off x="523875" y="5334000"/>
            <a:ext cx="11144250" cy="5143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3. Explain what the mean and SD estimate.</a:t>
            </a:r>
          </a:p>
        </p:txBody>
      </p:sp>
      <p:sp>
        <p:nvSpPr>
          <p:cNvPr id="8" name="body">
            <a:extLst>
              <a:ext uri="{FF2B5EF4-FFF2-40B4-BE49-F238E27FC236}">
                <a16:creationId xmlns:a16="http://schemas.microsoft.com/office/drawing/2014/main" id="{7F63DE5C-0949-4E77-8392-A727BEB9E101}"/>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The mean and squared-deviation total are supplied so we can focus on the method.</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B2a • GUIDED PRACTICE</a:t>
            </a:r>
          </a:p>
        </p:txBody>
      </p:sp>
    </p:spTree>
    <p:extLst>
      <p:ext uri="{BB962C8B-B14F-4D97-AF65-F5344CB8AC3E}">
        <p14:creationId xmlns:p14="http://schemas.microsoft.com/office/powerpoint/2010/main" val="3281361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B2a: check the sample calculation</a:t>
            </a:r>
          </a:p>
        </p:txBody>
      </p:sp>
      <p:sp>
        <p:nvSpPr>
          <p:cNvPr id="3" name="body">
            <a:extLst>
              <a:ext uri="{FF2B5EF4-FFF2-40B4-BE49-F238E27FC236}">
                <a16:creationId xmlns:a16="http://schemas.microsoft.com/office/drawing/2014/main" id="{42D84EED-C53A-4082-B7AB-AE85FB29B7EF}"/>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 target is the whole month. We observed a sample of eight.</a:t>
            </a:r>
          </a:p>
        </p:txBody>
      </p:sp>
      <p:pic>
        <p:nvPicPr>
          <p:cNvPr id="4" name="Picture 3"/>
          <p:cNvPicPr>
            <a:picLocks noChangeAspect="1"/>
          </p:cNvPicPr>
          <p:nvPr/>
        </p:nvPicPr>
        <p:blipFill>
          <a:blip r:embed="rId3"/>
          <a:stretch/>
        </p:blipFill>
        <p:spPr>
          <a:xfrm>
            <a:off x="3670258" y="3000375"/>
            <a:ext cx="4851484" cy="933450"/>
          </a:xfrm>
          <a:prstGeom prst="rect">
            <a:avLst/>
          </a:prstGeom>
        </p:spPr>
      </p:pic>
      <p:pic>
        <p:nvPicPr>
          <p:cNvPr id="5" name="Picture 4"/>
          <p:cNvPicPr>
            <a:picLocks noChangeAspect="1"/>
          </p:cNvPicPr>
          <p:nvPr/>
        </p:nvPicPr>
        <p:blipFill>
          <a:blip r:embed="rId4"/>
          <a:stretch/>
        </p:blipFill>
        <p:spPr>
          <a:xfrm>
            <a:off x="4262561" y="4381500"/>
            <a:ext cx="3666878" cy="781050"/>
          </a:xfrm>
          <a:prstGeom prst="rect">
            <a:avLst/>
          </a:prstGeom>
        </p:spPr>
      </p:pic>
      <p:sp>
        <p:nvSpPr>
          <p:cNvPr id="6" name="body">
            <a:extLst>
              <a:ext uri="{FF2B5EF4-FFF2-40B4-BE49-F238E27FC236}">
                <a16:creationId xmlns:a16="http://schemas.microsoft.com/office/drawing/2014/main" id="{0B377637-CEA0-4C4B-90B8-6ED44FE646CF}"/>
              </a:ext>
            </a:extLst>
          </p:cNvPr>
          <p:cNvSpPr>
            <a:spLocks noGrp="1"/>
          </p:cNvSpPr>
          <p:nvPr/>
        </p:nvSpPr>
        <p:spPr>
          <a:xfrm>
            <a:off x="523875" y="5524500"/>
            <a:ext cx="11144250" cy="5905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Mean 15 min and SD 4 min estimate the month’s average and spread.</a:t>
            </a:r>
          </a:p>
        </p:txBody>
      </p:sp>
      <p:sp>
        <p:nvSpPr>
          <p:cNvPr id="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B2a • WORKED ANSWERS</a:t>
            </a:r>
          </a:p>
        </p:txBody>
      </p:sp>
    </p:spTree>
    <p:extLst>
      <p:ext uri="{BB962C8B-B14F-4D97-AF65-F5344CB8AC3E}">
        <p14:creationId xmlns:p14="http://schemas.microsoft.com/office/powerpoint/2010/main" val="32813612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B2b: independent sample calculation</a:t>
            </a:r>
          </a:p>
        </p:txBody>
      </p:sp>
      <p:sp>
        <p:nvSpPr>
          <p:cNvPr id="3" name="body">
            <a:extLst>
              <a:ext uri="{FF2B5EF4-FFF2-40B4-BE49-F238E27FC236}">
                <a16:creationId xmlns:a16="http://schemas.microsoft.com/office/drawing/2014/main" id="{1BA34CA8-BD4D-4F0D-9604-E1B788FA53AB}"/>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A new random sample of eight customers has these waits, in minutes.</a:t>
            </a:r>
          </a:p>
        </p:txBody>
      </p:sp>
      <p:sp>
        <p:nvSpPr>
          <p:cNvPr id="4" name="body">
            <a:extLst>
              <a:ext uri="{FF2B5EF4-FFF2-40B4-BE49-F238E27FC236}">
                <a16:creationId xmlns:a16="http://schemas.microsoft.com/office/drawing/2014/main" id="{AB793611-217C-4EDD-854D-F231C6E0BFC6}"/>
              </a:ext>
            </a:extLst>
          </p:cNvPr>
          <p:cNvSpPr>
            <a:spLocks noGrp="1"/>
          </p:cNvSpPr>
          <p:nvPr/>
        </p:nvSpPr>
        <p:spPr>
          <a:xfrm>
            <a:off x="523875" y="2857500"/>
            <a:ext cx="11144250" cy="619125"/>
          </a:xfrm>
          <a:prstGeom prst="rect">
            <a:avLst/>
          </a:prstGeom>
          <a:noFill/>
          <a:ln w="0">
            <a:noFill/>
          </a:ln>
        </p:spPr>
        <p:txBody>
          <a:bodyPr wrap="square" lIns="0" tIns="0" rIns="0" bIns="0" anchor="t">
            <a:noAutofit/>
          </a:bodyPr>
          <a:lstStyle/>
          <a:p>
            <a:pPr marL="0" marR="0" indent="0">
              <a:defRPr sz="2850" b="1">
                <a:solidFill>
                  <a:srgbClr val="111111"/>
                </a:solidFill>
                <a:latin typeface="Aptos"/>
                <a:ea typeface="Aptos"/>
                <a:cs typeface="Aptos"/>
              </a:defRPr>
            </a:pPr>
            <a:r>
              <a:rPr sz="2850" b="1">
                <a:solidFill>
                  <a:srgbClr val="111111"/>
                </a:solidFill>
                <a:latin typeface="Aptos"/>
                <a:ea typeface="Aptos"/>
                <a:cs typeface="Aptos"/>
              </a:rPr>
              <a:t>25, 18, 31, 22, 28, 21, 30, 26</a:t>
            </a:r>
          </a:p>
        </p:txBody>
      </p:sp>
      <p:sp>
        <p:nvSpPr>
          <p:cNvPr id="5" name="body">
            <a:extLst>
              <a:ext uri="{FF2B5EF4-FFF2-40B4-BE49-F238E27FC236}">
                <a16:creationId xmlns:a16="http://schemas.microsoft.com/office/drawing/2014/main" id="{9958D9A9-351D-430A-8BAC-14EE6B4DD2C7}"/>
              </a:ext>
            </a:extLst>
          </p:cNvPr>
          <p:cNvSpPr>
            <a:spLocks noGrp="1"/>
          </p:cNvSpPr>
          <p:nvPr/>
        </p:nvSpPr>
        <p:spPr>
          <a:xfrm>
            <a:off x="523875" y="3905250"/>
            <a:ext cx="11144250" cy="5524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1. Choose the method and explain your choice.</a:t>
            </a:r>
          </a:p>
        </p:txBody>
      </p:sp>
      <p:sp>
        <p:nvSpPr>
          <p:cNvPr id="6" name="body">
            <a:extLst>
              <a:ext uri="{FF2B5EF4-FFF2-40B4-BE49-F238E27FC236}">
                <a16:creationId xmlns:a16="http://schemas.microsoft.com/office/drawing/2014/main" id="{1525112E-8A83-489F-8DFF-0153593FBA7B}"/>
              </a:ext>
            </a:extLst>
          </p:cNvPr>
          <p:cNvSpPr>
            <a:spLocks noGrp="1"/>
          </p:cNvSpPr>
          <p:nvPr/>
        </p:nvSpPr>
        <p:spPr>
          <a:xfrm>
            <a:off x="523875" y="4572000"/>
            <a:ext cx="11144250" cy="5524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2. Find the mean and complete the working table.</a:t>
            </a:r>
          </a:p>
        </p:txBody>
      </p:sp>
      <p:sp>
        <p:nvSpPr>
          <p:cNvPr id="7" name="body">
            <a:extLst>
              <a:ext uri="{FF2B5EF4-FFF2-40B4-BE49-F238E27FC236}">
                <a16:creationId xmlns:a16="http://schemas.microsoft.com/office/drawing/2014/main" id="{0EFC3C87-7F86-4172-9BAE-9C2FADD8EFC9}"/>
              </a:ext>
            </a:extLst>
          </p:cNvPr>
          <p:cNvSpPr>
            <a:spLocks noGrp="1"/>
          </p:cNvSpPr>
          <p:nvPr/>
        </p:nvSpPr>
        <p:spPr>
          <a:xfrm>
            <a:off x="523875" y="5238750"/>
            <a:ext cx="11144250" cy="55245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3. Calculate variance and SD. Interpret the results.</a:t>
            </a:r>
          </a:p>
        </p:txBody>
      </p:sp>
      <p:sp>
        <p:nvSpPr>
          <p:cNvPr id="8" name="body">
            <a:extLst>
              <a:ext uri="{FF2B5EF4-FFF2-40B4-BE49-F238E27FC236}">
                <a16:creationId xmlns:a16="http://schemas.microsoft.com/office/drawing/2014/main" id="{5E9180E3-A624-499F-9E6F-E2973C2B10E6}"/>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Keep the exact mean in your working. Round variance and SD only at the end.</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B2b • INDEPENDENT PRACTICE</a:t>
            </a:r>
          </a:p>
        </p:txBody>
      </p:sp>
    </p:spTree>
    <p:extLst>
      <p:ext uri="{BB962C8B-B14F-4D97-AF65-F5344CB8AC3E}">
        <p14:creationId xmlns:p14="http://schemas.microsoft.com/office/powerpoint/2010/main" val="3281361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B2b: full working and answers</a:t>
            </a:r>
          </a:p>
        </p:txBody>
      </p:sp>
      <p:sp>
        <p:nvSpPr>
          <p:cNvPr id="3" name="body">
            <a:extLst>
              <a:ext uri="{FF2B5EF4-FFF2-40B4-BE49-F238E27FC236}">
                <a16:creationId xmlns:a16="http://schemas.microsoft.com/office/drawing/2014/main" id="{10B2D44A-491D-4090-ADDB-D2B65602B83E}"/>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Sample mean = 25.125 minutes. Use n − 1 = 7 for variance.</a:t>
            </a:r>
          </a:p>
        </p:txBody>
      </p:sp>
      <p:graphicFrame>
        <p:nvGraphicFramePr>
          <p:cNvPr id="4" name="Table 3"/>
          <p:cNvGraphicFramePr/>
          <p:nvPr/>
        </p:nvGraphicFramePr>
        <p:xfrm>
          <a:off x="523875" y="2667000"/>
          <a:ext cx="6286500" cy="3190880"/>
        </p:xfrm>
        <a:graphic>
          <a:graphicData uri="http://schemas.openxmlformats.org/drawingml/2006/table">
            <a:tbl>
              <a:tblPr/>
              <a:tblGrid>
                <a:gridCol w="1238250">
                  <a:extLst>
                    <a:ext uri="{9D8B030D-6E8A-4147-A177-3AD203B41FA5}">
                      <a16:colId xmlns:a16="http://schemas.microsoft.com/office/drawing/2014/main" val="20000"/>
                    </a:ext>
                  </a:extLst>
                </a:gridCol>
                <a:gridCol w="209550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319088">
                <a:tc>
                  <a:txBody>
                    <a:bodyPr/>
                    <a:lstStyle/>
                    <a:p>
                      <a:pPr marL="0" marR="0" indent="0">
                        <a:lnSpc>
                          <a:spcPct val="105000"/>
                        </a:lnSpc>
                        <a:spcBef>
                          <a:spcPts val="0"/>
                        </a:spcBef>
                        <a:spcAft>
                          <a:spcPts val="0"/>
                        </a:spcAft>
                      </a:pPr>
                      <a:r>
                        <a:rPr sz="1725" b="1">
                          <a:solidFill>
                            <a:srgbClr val="FFFFFF"/>
                          </a:solidFill>
                          <a:latin typeface="Aptos"/>
                          <a:ea typeface="Aptos"/>
                          <a:cs typeface="Aptos"/>
                        </a:rPr>
                        <a:t>Wait</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725" b="1">
                          <a:solidFill>
                            <a:srgbClr val="FFFFFF"/>
                          </a:solidFill>
                          <a:latin typeface="Aptos"/>
                          <a:ea typeface="Aptos"/>
                          <a:cs typeface="Aptos"/>
                        </a:rPr>
                        <a:t>Deviation</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725" b="1">
                          <a:solidFill>
                            <a:srgbClr val="FFFFFF"/>
                          </a:solidFill>
                          <a:latin typeface="Aptos"/>
                          <a:ea typeface="Aptos"/>
                          <a:cs typeface="Aptos"/>
                        </a:rPr>
                        <a:t>Squared deviation</a:t>
                      </a:r>
                    </a:p>
                  </a:txBody>
                  <a:tcPr marL="76200" marR="57150" marT="19050" marB="19050" anchor="ctr">
                    <a:solidFill>
                      <a:srgbClr val="D6171D"/>
                    </a:solidFill>
                  </a:tcPr>
                </a:tc>
                <a:extLst>
                  <a:ext uri="{0D108BD9-81ED-4DB2-BD59-A6C34878D82A}">
                    <a16:rowId xmlns:a16="http://schemas.microsoft.com/office/drawing/2014/main" val="10000"/>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25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−0.125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0.015625</a:t>
                      </a:r>
                    </a:p>
                  </a:txBody>
                  <a:tcPr marL="76200" marR="57150" marT="19050" marB="19050" anchor="ctr">
                    <a:solidFill>
                      <a:srgbClr val="FFFFFF"/>
                    </a:solidFill>
                  </a:tcPr>
                </a:tc>
                <a:extLst>
                  <a:ext uri="{0D108BD9-81ED-4DB2-BD59-A6C34878D82A}">
                    <a16:rowId xmlns:a16="http://schemas.microsoft.com/office/drawing/2014/main" val="10001"/>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18</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−7.125</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50.765625</a:t>
                      </a:r>
                    </a:p>
                  </a:txBody>
                  <a:tcPr marL="76200" marR="57150" marT="19050" marB="19050" anchor="ctr">
                    <a:solidFill>
                      <a:srgbClr val="EFF8FF"/>
                    </a:solidFill>
                  </a:tcPr>
                </a:tc>
                <a:extLst>
                  <a:ext uri="{0D108BD9-81ED-4DB2-BD59-A6C34878D82A}">
                    <a16:rowId xmlns:a16="http://schemas.microsoft.com/office/drawing/2014/main" val="10002"/>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31</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5.875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34.515625</a:t>
                      </a:r>
                    </a:p>
                  </a:txBody>
                  <a:tcPr marL="76200" marR="57150" marT="19050" marB="19050" anchor="ctr">
                    <a:solidFill>
                      <a:srgbClr val="FFFFFF"/>
                    </a:solidFill>
                  </a:tcPr>
                </a:tc>
                <a:extLst>
                  <a:ext uri="{0D108BD9-81ED-4DB2-BD59-A6C34878D82A}">
                    <a16:rowId xmlns:a16="http://schemas.microsoft.com/office/drawing/2014/main" val="10003"/>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22</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−3.125</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9.765625</a:t>
                      </a:r>
                    </a:p>
                  </a:txBody>
                  <a:tcPr marL="76200" marR="57150" marT="19050" marB="19050" anchor="ctr">
                    <a:solidFill>
                      <a:srgbClr val="EFF8FF"/>
                    </a:solidFill>
                  </a:tcPr>
                </a:tc>
                <a:extLst>
                  <a:ext uri="{0D108BD9-81ED-4DB2-BD59-A6C34878D82A}">
                    <a16:rowId xmlns:a16="http://schemas.microsoft.com/office/drawing/2014/main" val="10004"/>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28</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2.875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8.265625</a:t>
                      </a:r>
                    </a:p>
                  </a:txBody>
                  <a:tcPr marL="76200" marR="57150" marT="19050" marB="19050" anchor="ctr">
                    <a:solidFill>
                      <a:srgbClr val="FFFFFF"/>
                    </a:solidFill>
                  </a:tcPr>
                </a:tc>
                <a:extLst>
                  <a:ext uri="{0D108BD9-81ED-4DB2-BD59-A6C34878D82A}">
                    <a16:rowId xmlns:a16="http://schemas.microsoft.com/office/drawing/2014/main" val="10005"/>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21</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−4.125</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17.015625</a:t>
                      </a:r>
                    </a:p>
                  </a:txBody>
                  <a:tcPr marL="76200" marR="57150" marT="19050" marB="19050" anchor="ctr">
                    <a:solidFill>
                      <a:srgbClr val="EFF8FF"/>
                    </a:solidFill>
                  </a:tcPr>
                </a:tc>
                <a:extLst>
                  <a:ext uri="{0D108BD9-81ED-4DB2-BD59-A6C34878D82A}">
                    <a16:rowId xmlns:a16="http://schemas.microsoft.com/office/drawing/2014/main" val="10006"/>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30</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4.875</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23.765625</a:t>
                      </a:r>
                    </a:p>
                  </a:txBody>
                  <a:tcPr marL="76200" marR="57150" marT="19050" marB="19050" anchor="ctr">
                    <a:solidFill>
                      <a:srgbClr val="FFFFFF"/>
                    </a:solidFill>
                  </a:tcPr>
                </a:tc>
                <a:extLst>
                  <a:ext uri="{0D108BD9-81ED-4DB2-BD59-A6C34878D82A}">
                    <a16:rowId xmlns:a16="http://schemas.microsoft.com/office/drawing/2014/main" val="10007"/>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26</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0.875</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0.765625</a:t>
                      </a:r>
                    </a:p>
                  </a:txBody>
                  <a:tcPr marL="76200" marR="57150" marT="19050" marB="19050" anchor="ctr">
                    <a:solidFill>
                      <a:srgbClr val="EFF8FF"/>
                    </a:solidFill>
                  </a:tcPr>
                </a:tc>
                <a:extLst>
                  <a:ext uri="{0D108BD9-81ED-4DB2-BD59-A6C34878D82A}">
                    <a16:rowId xmlns:a16="http://schemas.microsoft.com/office/drawing/2014/main" val="10008"/>
                  </a:ext>
                </a:extLst>
              </a:tr>
              <a:tr h="319088">
                <a:tc>
                  <a:txBody>
                    <a:bodyPr/>
                    <a:lstStyle/>
                    <a:p>
                      <a:pPr marL="0" marR="0" indent="0">
                        <a:lnSpc>
                          <a:spcPct val="105000"/>
                        </a:lnSpc>
                        <a:spcBef>
                          <a:spcPts val="0"/>
                        </a:spcBef>
                        <a:spcAft>
                          <a:spcPts val="0"/>
                        </a:spcAft>
                      </a:pPr>
                      <a:r>
                        <a:rPr sz="1800" b="0">
                          <a:solidFill>
                            <a:srgbClr val="111111"/>
                          </a:solidFill>
                          <a:latin typeface="Aptos"/>
                          <a:ea typeface="Aptos"/>
                          <a:cs typeface="Aptos"/>
                        </a:rPr>
                        <a:t>Total</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0</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1800" b="0">
                          <a:solidFill>
                            <a:srgbClr val="111111"/>
                          </a:solidFill>
                          <a:latin typeface="Aptos"/>
                          <a:ea typeface="Aptos"/>
                          <a:cs typeface="Aptos"/>
                        </a:rPr>
                        <a:t>144.875</a:t>
                      </a:r>
                    </a:p>
                  </a:txBody>
                  <a:tcPr marL="76200" marR="57150" marT="19050" marB="19050" anchor="ctr">
                    <a:solidFill>
                      <a:srgbClr val="FFFFFF"/>
                    </a:solidFill>
                  </a:tcPr>
                </a:tc>
                <a:extLst>
                  <a:ext uri="{0D108BD9-81ED-4DB2-BD59-A6C34878D82A}">
                    <a16:rowId xmlns:a16="http://schemas.microsoft.com/office/drawing/2014/main" val="10009"/>
                  </a:ext>
                </a:extLst>
              </a:tr>
            </a:tbl>
          </a:graphicData>
        </a:graphic>
      </p:graphicFrame>
      <p:pic>
        <p:nvPicPr>
          <p:cNvPr id="5" name="Picture 4"/>
          <p:cNvPicPr>
            <a:picLocks noChangeAspect="1"/>
          </p:cNvPicPr>
          <p:nvPr/>
        </p:nvPicPr>
        <p:blipFill>
          <a:blip r:embed="rId3"/>
          <a:stretch/>
        </p:blipFill>
        <p:spPr>
          <a:xfrm>
            <a:off x="7651389" y="2876550"/>
            <a:ext cx="3461472" cy="619125"/>
          </a:xfrm>
          <a:prstGeom prst="rect">
            <a:avLst/>
          </a:prstGeom>
        </p:spPr>
      </p:pic>
      <p:pic>
        <p:nvPicPr>
          <p:cNvPr id="6" name="Picture 5"/>
          <p:cNvPicPr>
            <a:picLocks noChangeAspect="1"/>
          </p:cNvPicPr>
          <p:nvPr/>
        </p:nvPicPr>
        <p:blipFill>
          <a:blip r:embed="rId4"/>
          <a:stretch/>
        </p:blipFill>
        <p:spPr>
          <a:xfrm>
            <a:off x="7115175" y="3896129"/>
            <a:ext cx="4476750" cy="684991"/>
          </a:xfrm>
          <a:prstGeom prst="rect">
            <a:avLst/>
          </a:prstGeom>
        </p:spPr>
      </p:pic>
      <p:pic>
        <p:nvPicPr>
          <p:cNvPr id="7" name="Picture 6"/>
          <p:cNvPicPr>
            <a:picLocks noChangeAspect="1"/>
          </p:cNvPicPr>
          <p:nvPr/>
        </p:nvPicPr>
        <p:blipFill>
          <a:blip r:embed="rId5"/>
          <a:stretch/>
        </p:blipFill>
        <p:spPr>
          <a:xfrm>
            <a:off x="7242591" y="4905375"/>
            <a:ext cx="4221919" cy="809625"/>
          </a:xfrm>
          <a:prstGeom prst="rect">
            <a:avLst/>
          </a:prstGeom>
        </p:spPr>
      </p:pic>
      <p:sp>
        <p:nvSpPr>
          <p:cNvPr id="8" name="body">
            <a:extLst>
              <a:ext uri="{FF2B5EF4-FFF2-40B4-BE49-F238E27FC236}">
                <a16:creationId xmlns:a16="http://schemas.microsoft.com/office/drawing/2014/main" id="{E96245FA-A80F-449C-84D6-7C6388C2F044}"/>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These estimate the month’s average wait and spread. SD is in minutes.</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B2b • WORKED ANSWERS</a:t>
            </a:r>
          </a:p>
        </p:txBody>
      </p:sp>
    </p:spTree>
    <p:extLst>
      <p:ext uri="{BB962C8B-B14F-4D97-AF65-F5344CB8AC3E}">
        <p14:creationId xmlns:p14="http://schemas.microsoft.com/office/powerpoint/2010/main" val="32813612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235" y="2238375"/>
            <a:ext cx="5953125" cy="2705100"/>
          </a:xfrm>
        </p:spPr>
        <p:txBody>
          <a:bodyPr wrap="square" lIns="0" tIns="0" rIns="0" bIns="0" anchor="t">
            <a:noAutofit/>
          </a:bodyPr>
          <a:lstStyle/>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Section 4:</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Coefficient</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of variation</a:t>
            </a:r>
          </a:p>
        </p:txBody>
      </p:sp>
      <p:sp>
        <p:nvSpPr>
          <p:cNvPr id="3" name="divider-question">
            <a:extLst>
              <a:ext uri="{FF2B5EF4-FFF2-40B4-BE49-F238E27FC236}">
                <a16:creationId xmlns:a16="http://schemas.microsoft.com/office/drawing/2014/main" id="{F2690C1F-B21F-4DF3-9CFB-15CFCBF7E5C6}"/>
              </a:ext>
            </a:extLst>
          </p:cNvPr>
          <p:cNvSpPr>
            <a:spLocks noGrp="1"/>
          </p:cNvSpPr>
          <p:nvPr/>
        </p:nvSpPr>
        <p:spPr>
          <a:xfrm>
            <a:off x="428625" y="5200650"/>
            <a:ext cx="5715000" cy="1028700"/>
          </a:xfrm>
          <a:prstGeom prst="rect">
            <a:avLst/>
          </a:prstGeom>
          <a:noFill/>
          <a:ln w="0">
            <a:noFill/>
          </a:ln>
        </p:spPr>
        <p:txBody>
          <a:bodyPr wrap="square" lIns="0" tIns="0" rIns="0" bIns="0" anchor="t">
            <a:noAutofit/>
          </a:bodyPr>
          <a:lstStyle/>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Is an SD of 5 mL equally large</a:t>
            </a:r>
          </a:p>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for a small and a large bottle?</a:t>
            </a:r>
          </a:p>
        </p:txBody>
      </p:sp>
    </p:spTree>
    <p:extLst>
      <p:ext uri="{BB962C8B-B14F-4D97-AF65-F5344CB8AC3E}">
        <p14:creationId xmlns:p14="http://schemas.microsoft.com/office/powerpoint/2010/main" val="32813612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Absolute and relative variation</a:t>
            </a:r>
          </a:p>
        </p:txBody>
      </p:sp>
      <p:sp>
        <p:nvSpPr>
          <p:cNvPr id="3" name="body">
            <a:extLst>
              <a:ext uri="{FF2B5EF4-FFF2-40B4-BE49-F238E27FC236}">
                <a16:creationId xmlns:a16="http://schemas.microsoft.com/office/drawing/2014/main" id="{BBF86972-98DA-4662-8313-E3DC8A6A5CFD}"/>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Absolute: spread in mL. Relative: spread compared with the mean.</a:t>
            </a:r>
          </a:p>
        </p:txBody>
      </p:sp>
      <p:pic>
        <p:nvPicPr>
          <p:cNvPr id="4" name="Picture 3"/>
          <p:cNvPicPr>
            <a:picLocks noChangeAspect="1"/>
          </p:cNvPicPr>
          <p:nvPr/>
        </p:nvPicPr>
        <p:blipFill>
          <a:blip r:embed="rId3"/>
          <a:stretch/>
        </p:blipFill>
        <p:spPr>
          <a:xfrm>
            <a:off x="619125" y="2895600"/>
            <a:ext cx="10953750" cy="2486025"/>
          </a:xfrm>
          <a:prstGeom prst="rect">
            <a:avLst/>
          </a:prstGeom>
        </p:spPr>
      </p:pic>
      <p:sp>
        <p:nvSpPr>
          <p:cNvPr id="5" name="body">
            <a:extLst>
              <a:ext uri="{FF2B5EF4-FFF2-40B4-BE49-F238E27FC236}">
                <a16:creationId xmlns:a16="http://schemas.microsoft.com/office/drawing/2014/main" id="{40B762DC-A0A8-4620-8E59-084A56BD0C34}"/>
              </a:ext>
            </a:extLst>
          </p:cNvPr>
          <p:cNvSpPr>
            <a:spLocks noGrp="1"/>
          </p:cNvSpPr>
          <p:nvPr/>
        </p:nvSpPr>
        <p:spPr>
          <a:xfrm>
            <a:off x="523875" y="5572125"/>
            <a:ext cx="11144250" cy="571500"/>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Both SDs are 5 mL. Which is larger relative to its mean?</a:t>
            </a:r>
          </a:p>
        </p:txBody>
      </p:sp>
    </p:spTree>
    <p:extLst>
      <p:ext uri="{BB962C8B-B14F-4D97-AF65-F5344CB8AC3E}">
        <p14:creationId xmlns:p14="http://schemas.microsoft.com/office/powerpoint/2010/main" val="32813612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Coefficient of variation (CV)</a:t>
            </a:r>
          </a:p>
        </p:txBody>
      </p:sp>
      <p:sp>
        <p:nvSpPr>
          <p:cNvPr id="3" name="body">
            <a:extLst>
              <a:ext uri="{FF2B5EF4-FFF2-40B4-BE49-F238E27FC236}">
                <a16:creationId xmlns:a16="http://schemas.microsoft.com/office/drawing/2014/main" id="{B0E72CFA-7A43-4074-B105-5520C20DAA70}"/>
              </a:ext>
            </a:extLst>
          </p:cNvPr>
          <p:cNvSpPr>
            <a:spLocks noGrp="1"/>
          </p:cNvSpPr>
          <p:nvPr/>
        </p:nvSpPr>
        <p:spPr>
          <a:xfrm>
            <a:off x="428625" y="1703164"/>
            <a:ext cx="11239500" cy="794385"/>
          </a:xfrm>
          <a:prstGeom prst="rect">
            <a:avLst/>
          </a:prstGeom>
          <a:noFill/>
          <a:ln w="0">
            <a:noFill/>
          </a:ln>
        </p:spPr>
        <p:txBody>
          <a:bodyPr wrap="square" lIns="0" tIns="0" rIns="0" bIns="0" anchor="t">
            <a:noAutofit/>
          </a:bodyPr>
          <a:lstStyle/>
          <a:p>
            <a:pPr>
              <a:defRPr sz="2325" b="0">
                <a:solidFill>
                  <a:srgbClr val="111111"/>
                </a:solidFill>
                <a:latin typeface="Aptos"/>
                <a:ea typeface="Aptos"/>
                <a:cs typeface="Aptos"/>
              </a:defRPr>
            </a:pPr>
            <a:r>
              <a:rPr lang="en-GB" sz="2325" dirty="0"/>
              <a:t>The coefficient of variation (CV) helps us compare how consistent different groups are relative to their averages: a lower CV means greater relative consistency.</a:t>
            </a:r>
            <a:endParaRPr sz="2325" b="0" dirty="0">
              <a:solidFill>
                <a:srgbClr val="111111"/>
              </a:solidFill>
              <a:latin typeface="Aptos"/>
              <a:ea typeface="Aptos"/>
              <a:cs typeface="Aptos"/>
            </a:endParaRPr>
          </a:p>
        </p:txBody>
      </p:sp>
      <p:pic>
        <p:nvPicPr>
          <p:cNvPr id="4" name="Picture 3"/>
          <p:cNvPicPr>
            <a:picLocks noChangeAspect="1"/>
          </p:cNvPicPr>
          <p:nvPr/>
        </p:nvPicPr>
        <p:blipFill>
          <a:blip r:embed="rId3"/>
          <a:stretch/>
        </p:blipFill>
        <p:spPr>
          <a:xfrm>
            <a:off x="2912800" y="2752725"/>
            <a:ext cx="6366400" cy="781050"/>
          </a:xfrm>
          <a:prstGeom prst="rect">
            <a:avLst/>
          </a:prstGeom>
        </p:spPr>
      </p:pic>
      <p:pic>
        <p:nvPicPr>
          <p:cNvPr id="5" name="Picture 4"/>
          <p:cNvPicPr>
            <a:picLocks noChangeAspect="1"/>
          </p:cNvPicPr>
          <p:nvPr/>
        </p:nvPicPr>
        <p:blipFill>
          <a:blip r:embed="rId4"/>
          <a:stretch/>
        </p:blipFill>
        <p:spPr>
          <a:xfrm>
            <a:off x="739053" y="3800475"/>
            <a:ext cx="5094143" cy="704850"/>
          </a:xfrm>
          <a:prstGeom prst="rect">
            <a:avLst/>
          </a:prstGeom>
        </p:spPr>
      </p:pic>
      <p:pic>
        <p:nvPicPr>
          <p:cNvPr id="6" name="Picture 5"/>
          <p:cNvPicPr>
            <a:picLocks noChangeAspect="1"/>
          </p:cNvPicPr>
          <p:nvPr/>
        </p:nvPicPr>
        <p:blipFill>
          <a:blip r:embed="rId5"/>
          <a:stretch/>
        </p:blipFill>
        <p:spPr>
          <a:xfrm>
            <a:off x="6685605" y="3800475"/>
            <a:ext cx="4535790" cy="704850"/>
          </a:xfrm>
          <a:prstGeom prst="rect">
            <a:avLst/>
          </a:prstGeom>
        </p:spPr>
      </p:pic>
      <p:pic>
        <p:nvPicPr>
          <p:cNvPr id="7" name="Picture 6"/>
          <p:cNvPicPr>
            <a:picLocks noChangeAspect="1"/>
          </p:cNvPicPr>
          <p:nvPr/>
        </p:nvPicPr>
        <p:blipFill>
          <a:blip r:embed="rId6"/>
          <a:stretch/>
        </p:blipFill>
        <p:spPr>
          <a:xfrm>
            <a:off x="1554529" y="4905375"/>
            <a:ext cx="3463192" cy="762000"/>
          </a:xfrm>
          <a:prstGeom prst="rect">
            <a:avLst/>
          </a:prstGeom>
        </p:spPr>
      </p:pic>
      <p:pic>
        <p:nvPicPr>
          <p:cNvPr id="8" name="Picture 7"/>
          <p:cNvPicPr>
            <a:picLocks noChangeAspect="1"/>
          </p:cNvPicPr>
          <p:nvPr/>
        </p:nvPicPr>
        <p:blipFill>
          <a:blip r:embed="rId7"/>
          <a:stretch/>
        </p:blipFill>
        <p:spPr>
          <a:xfrm>
            <a:off x="7395308" y="4905375"/>
            <a:ext cx="3116385" cy="762000"/>
          </a:xfrm>
          <a:prstGeom prst="rect">
            <a:avLst/>
          </a:prstGeom>
        </p:spPr>
      </p:pic>
      <p:sp>
        <p:nvSpPr>
          <p:cNvPr id="9" name="body">
            <a:extLst>
              <a:ext uri="{FF2B5EF4-FFF2-40B4-BE49-F238E27FC236}">
                <a16:creationId xmlns:a16="http://schemas.microsoft.com/office/drawing/2014/main" id="{C705F2AD-6B1F-43AF-A12C-B067CCE07800}"/>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Your turn: finish the 100 mL example. Here, 0 mL means no liquid.</a:t>
            </a:r>
          </a:p>
        </p:txBody>
      </p:sp>
      <p:sp>
        <p:nvSpPr>
          <p:cNvPr id="10"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WORKED EXAMPLE</a:t>
            </a:r>
          </a:p>
        </p:txBody>
      </p:sp>
    </p:spTree>
    <p:extLst>
      <p:ext uri="{BB962C8B-B14F-4D97-AF65-F5344CB8AC3E}">
        <p14:creationId xmlns:p14="http://schemas.microsoft.com/office/powerpoint/2010/main" val="32813612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B3a: calculate relative spread</a:t>
            </a:r>
          </a:p>
        </p:txBody>
      </p:sp>
      <p:sp>
        <p:nvSpPr>
          <p:cNvPr id="3" name="body">
            <a:extLst>
              <a:ext uri="{FF2B5EF4-FFF2-40B4-BE49-F238E27FC236}">
                <a16:creationId xmlns:a16="http://schemas.microsoft.com/office/drawing/2014/main" id="{ADE32617-C8C0-405D-A841-A063C3E7CD7C}"/>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A sample of bottle fills has mean 137.5 mL and SD 4.4 mL.</a:t>
            </a:r>
          </a:p>
        </p:txBody>
      </p:sp>
      <p:pic>
        <p:nvPicPr>
          <p:cNvPr id="4" name="Picture 3"/>
          <p:cNvPicPr>
            <a:picLocks noChangeAspect="1"/>
          </p:cNvPicPr>
          <p:nvPr/>
        </p:nvPicPr>
        <p:blipFill>
          <a:blip r:embed="rId3"/>
          <a:stretch/>
        </p:blipFill>
        <p:spPr>
          <a:xfrm>
            <a:off x="4009273" y="3095625"/>
            <a:ext cx="4173454" cy="952500"/>
          </a:xfrm>
          <a:prstGeom prst="rect">
            <a:avLst/>
          </a:prstGeom>
        </p:spPr>
      </p:pic>
      <p:sp>
        <p:nvSpPr>
          <p:cNvPr id="5" name="body">
            <a:extLst>
              <a:ext uri="{FF2B5EF4-FFF2-40B4-BE49-F238E27FC236}">
                <a16:creationId xmlns:a16="http://schemas.microsoft.com/office/drawing/2014/main" id="{6A3994B0-00A0-4112-BD74-0092F398F9A1}"/>
              </a:ext>
            </a:extLst>
          </p:cNvPr>
          <p:cNvSpPr>
            <a:spLocks noGrp="1"/>
          </p:cNvSpPr>
          <p:nvPr/>
        </p:nvSpPr>
        <p:spPr>
          <a:xfrm>
            <a:off x="523875" y="4448175"/>
            <a:ext cx="11144250" cy="609600"/>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Which number belongs on top? Which belongs underneath?</a:t>
            </a:r>
          </a:p>
        </p:txBody>
      </p:sp>
      <p:sp>
        <p:nvSpPr>
          <p:cNvPr id="6" name="body">
            <a:extLst>
              <a:ext uri="{FF2B5EF4-FFF2-40B4-BE49-F238E27FC236}">
                <a16:creationId xmlns:a16="http://schemas.microsoft.com/office/drawing/2014/main" id="{88EFCD4C-F077-4A6A-801F-F037D1D344F3}"/>
              </a:ext>
            </a:extLst>
          </p:cNvPr>
          <p:cNvSpPr>
            <a:spLocks noGrp="1"/>
          </p:cNvSpPr>
          <p:nvPr/>
        </p:nvSpPr>
        <p:spPr>
          <a:xfrm>
            <a:off x="523875" y="5391150"/>
            <a:ext cx="11144250" cy="5905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 standard deviation is ______% of the mean.</a:t>
            </a:r>
          </a:p>
        </p:txBody>
      </p:sp>
      <p:sp>
        <p:nvSpPr>
          <p:cNvPr id="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B3a • GUIDED PRACTICE</a:t>
            </a:r>
          </a:p>
        </p:txBody>
      </p:sp>
    </p:spTree>
    <p:extLst>
      <p:ext uri="{BB962C8B-B14F-4D97-AF65-F5344CB8AC3E}">
        <p14:creationId xmlns:p14="http://schemas.microsoft.com/office/powerpoint/2010/main" val="32813612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B3a: check the percentage</a:t>
            </a:r>
          </a:p>
        </p:txBody>
      </p:sp>
      <p:sp>
        <p:nvSpPr>
          <p:cNvPr id="3" name="body">
            <a:extLst>
              <a:ext uri="{FF2B5EF4-FFF2-40B4-BE49-F238E27FC236}">
                <a16:creationId xmlns:a16="http://schemas.microsoft.com/office/drawing/2014/main" id="{CE72C419-641B-419F-8644-B5B1BBB0B193}"/>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Divide the sample SD by the sample mean.</a:t>
            </a:r>
          </a:p>
        </p:txBody>
      </p:sp>
      <p:pic>
        <p:nvPicPr>
          <p:cNvPr id="4" name="Picture 3"/>
          <p:cNvPicPr>
            <a:picLocks noChangeAspect="1"/>
          </p:cNvPicPr>
          <p:nvPr/>
        </p:nvPicPr>
        <p:blipFill>
          <a:blip r:embed="rId3"/>
          <a:stretch/>
        </p:blipFill>
        <p:spPr>
          <a:xfrm>
            <a:off x="2640729" y="3143250"/>
            <a:ext cx="6910541" cy="1000125"/>
          </a:xfrm>
          <a:prstGeom prst="rect">
            <a:avLst/>
          </a:prstGeom>
        </p:spPr>
      </p:pic>
      <p:sp>
        <p:nvSpPr>
          <p:cNvPr id="5" name="body">
            <a:extLst>
              <a:ext uri="{FF2B5EF4-FFF2-40B4-BE49-F238E27FC236}">
                <a16:creationId xmlns:a16="http://schemas.microsoft.com/office/drawing/2014/main" id="{17C6F856-0A0A-41BF-B25B-9DB3E79C3576}"/>
              </a:ext>
            </a:extLst>
          </p:cNvPr>
          <p:cNvSpPr>
            <a:spLocks noGrp="1"/>
          </p:cNvSpPr>
          <p:nvPr/>
        </p:nvSpPr>
        <p:spPr>
          <a:xfrm>
            <a:off x="523875" y="4800600"/>
            <a:ext cx="11144250" cy="628650"/>
          </a:xfrm>
          <a:prstGeom prst="rect">
            <a:avLst/>
          </a:prstGeom>
          <a:noFill/>
          <a:ln w="0">
            <a:noFill/>
          </a:ln>
        </p:spPr>
        <p:txBody>
          <a:bodyPr wrap="square" lIns="0" tIns="0" rIns="0" bIns="0" anchor="t">
            <a:noAutofit/>
          </a:bodyPr>
          <a:lstStyle/>
          <a:p>
            <a:pPr marL="0" marR="0" indent="0">
              <a:defRPr sz="2550" b="1">
                <a:solidFill>
                  <a:srgbClr val="111111"/>
                </a:solidFill>
                <a:latin typeface="Aptos"/>
                <a:ea typeface="Aptos"/>
                <a:cs typeface="Aptos"/>
              </a:defRPr>
            </a:pPr>
            <a:r>
              <a:rPr sz="2550" b="1">
                <a:solidFill>
                  <a:srgbClr val="111111"/>
                </a:solidFill>
                <a:latin typeface="Aptos"/>
                <a:ea typeface="Aptos"/>
                <a:cs typeface="Aptos"/>
              </a:rPr>
              <a:t>The standard deviation is 3.2% of the mean.</a:t>
            </a:r>
          </a:p>
        </p:txBody>
      </p:sp>
      <p:sp>
        <p:nvSpPr>
          <p:cNvPr id="6" name="body">
            <a:extLst>
              <a:ext uri="{FF2B5EF4-FFF2-40B4-BE49-F238E27FC236}">
                <a16:creationId xmlns:a16="http://schemas.microsoft.com/office/drawing/2014/main" id="{5B8D8E99-8E39-4A94-9CC1-750E13DE205F}"/>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This percentage describes relative spread, not the percentage of defective bottles.</a:t>
            </a:r>
          </a:p>
        </p:txBody>
      </p:sp>
      <p:sp>
        <p:nvSpPr>
          <p:cNvPr id="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B3a • WORKED ANSWERS</a:t>
            </a:r>
          </a:p>
        </p:txBody>
      </p:sp>
    </p:spTree>
    <p:extLst>
      <p:ext uri="{BB962C8B-B14F-4D97-AF65-F5344CB8AC3E}">
        <p14:creationId xmlns:p14="http://schemas.microsoft.com/office/powerpoint/2010/main" val="32813612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B3b: compare the bottle fills</a:t>
            </a:r>
          </a:p>
        </p:txBody>
      </p:sp>
      <p:sp>
        <p:nvSpPr>
          <p:cNvPr id="3" name="body">
            <a:extLst>
              <a:ext uri="{FF2B5EF4-FFF2-40B4-BE49-F238E27FC236}">
                <a16:creationId xmlns:a16="http://schemas.microsoft.com/office/drawing/2014/main" id="{1EC60AE9-45FB-4DE7-8648-1D16610E50A4}"/>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Two random samples of bottle fills, measured in millilitres.</a:t>
            </a:r>
          </a:p>
        </p:txBody>
      </p:sp>
      <p:graphicFrame>
        <p:nvGraphicFramePr>
          <p:cNvPr id="4" name="Table 3"/>
          <p:cNvGraphicFramePr/>
          <p:nvPr/>
        </p:nvGraphicFramePr>
        <p:xfrm>
          <a:off x="523875" y="2752725"/>
          <a:ext cx="11144250" cy="1571625"/>
        </p:xfrm>
        <a:graphic>
          <a:graphicData uri="http://schemas.openxmlformats.org/drawingml/2006/table">
            <a:tbl>
              <a:tblPr/>
              <a:tblGrid>
                <a:gridCol w="3143250">
                  <a:extLst>
                    <a:ext uri="{9D8B030D-6E8A-4147-A177-3AD203B41FA5}">
                      <a16:colId xmlns:a16="http://schemas.microsoft.com/office/drawing/2014/main" val="20000"/>
                    </a:ext>
                  </a:extLst>
                </a:gridCol>
                <a:gridCol w="4000500">
                  <a:extLst>
                    <a:ext uri="{9D8B030D-6E8A-4147-A177-3AD203B41FA5}">
                      <a16:colId xmlns:a16="http://schemas.microsoft.com/office/drawing/2014/main" val="20001"/>
                    </a:ext>
                  </a:extLst>
                </a:gridCol>
                <a:gridCol w="4000500">
                  <a:extLst>
                    <a:ext uri="{9D8B030D-6E8A-4147-A177-3AD203B41FA5}">
                      <a16:colId xmlns:a16="http://schemas.microsoft.com/office/drawing/2014/main" val="20002"/>
                    </a:ext>
                  </a:extLst>
                </a:gridCol>
              </a:tblGrid>
              <a:tr h="523875">
                <a:tc>
                  <a:txBody>
                    <a:bodyPr/>
                    <a:lstStyle/>
                    <a:p>
                      <a:pPr marL="0" marR="0" indent="0">
                        <a:lnSpc>
                          <a:spcPct val="105000"/>
                        </a:lnSpc>
                        <a:spcBef>
                          <a:spcPts val="0"/>
                        </a:spcBef>
                        <a:spcAft>
                          <a:spcPts val="0"/>
                        </a:spcAft>
                      </a:pPr>
                      <a:r>
                        <a:rPr sz="2025" b="1">
                          <a:solidFill>
                            <a:srgbClr val="FFFFFF"/>
                          </a:solidFill>
                          <a:latin typeface="Aptos"/>
                          <a:ea typeface="Aptos"/>
                          <a:cs typeface="Aptos"/>
                        </a:rPr>
                        <a:t>Bottle type</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Sample mean (mL)</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2025" b="1">
                          <a:solidFill>
                            <a:srgbClr val="FFFFFF"/>
                          </a:solidFill>
                          <a:latin typeface="Aptos"/>
                          <a:ea typeface="Aptos"/>
                          <a:cs typeface="Aptos"/>
                        </a:rPr>
                        <a:t>Sample SD (mL)</a:t>
                      </a:r>
                    </a:p>
                  </a:txBody>
                  <a:tcPr marL="76200" marR="57150" marT="19050" marB="19050" anchor="ctr">
                    <a:solidFill>
                      <a:srgbClr val="D6171D"/>
                    </a:solidFill>
                  </a:tcPr>
                </a:tc>
                <a:extLst>
                  <a:ext uri="{0D108BD9-81ED-4DB2-BD59-A6C34878D82A}">
                    <a16:rowId xmlns:a16="http://schemas.microsoft.com/office/drawing/2014/main" val="10000"/>
                  </a:ext>
                </a:extLst>
              </a:tr>
              <a:tr h="523875">
                <a:tc>
                  <a:txBody>
                    <a:bodyPr/>
                    <a:lstStyle/>
                    <a:p>
                      <a:pPr marL="0" marR="0" indent="0">
                        <a:lnSpc>
                          <a:spcPct val="105000"/>
                        </a:lnSpc>
                        <a:spcBef>
                          <a:spcPts val="0"/>
                        </a:spcBef>
                        <a:spcAft>
                          <a:spcPts val="0"/>
                        </a:spcAft>
                      </a:pPr>
                      <a:r>
                        <a:rPr sz="2250" b="0">
                          <a:solidFill>
                            <a:srgbClr val="111111"/>
                          </a:solidFill>
                          <a:latin typeface="Aptos"/>
                          <a:ea typeface="Aptos"/>
                          <a:cs typeface="Aptos"/>
                        </a:rPr>
                        <a:t>Small</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250" b="0">
                          <a:solidFill>
                            <a:srgbClr val="111111"/>
                          </a:solidFill>
                          <a:latin typeface="Aptos"/>
                          <a:ea typeface="Aptos"/>
                          <a:cs typeface="Aptos"/>
                        </a:rPr>
                        <a:t>248.6</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250" b="0">
                          <a:solidFill>
                            <a:srgbClr val="111111"/>
                          </a:solidFill>
                          <a:latin typeface="Aptos"/>
                          <a:ea typeface="Aptos"/>
                          <a:cs typeface="Aptos"/>
                        </a:rPr>
                        <a:t>6.8</a:t>
                      </a:r>
                    </a:p>
                  </a:txBody>
                  <a:tcPr marL="76200" marR="57150" marT="19050" marB="19050" anchor="ctr">
                    <a:solidFill>
                      <a:srgbClr val="FFFFFF"/>
                    </a:solidFill>
                  </a:tcPr>
                </a:tc>
                <a:extLst>
                  <a:ext uri="{0D108BD9-81ED-4DB2-BD59-A6C34878D82A}">
                    <a16:rowId xmlns:a16="http://schemas.microsoft.com/office/drawing/2014/main" val="10001"/>
                  </a:ext>
                </a:extLst>
              </a:tr>
              <a:tr h="523875">
                <a:tc>
                  <a:txBody>
                    <a:bodyPr/>
                    <a:lstStyle/>
                    <a:p>
                      <a:pPr marL="0" marR="0" indent="0">
                        <a:lnSpc>
                          <a:spcPct val="105000"/>
                        </a:lnSpc>
                        <a:spcBef>
                          <a:spcPts val="0"/>
                        </a:spcBef>
                        <a:spcAft>
                          <a:spcPts val="0"/>
                        </a:spcAft>
                      </a:pPr>
                      <a:r>
                        <a:rPr sz="2250" b="0">
                          <a:solidFill>
                            <a:srgbClr val="111111"/>
                          </a:solidFill>
                          <a:latin typeface="Aptos"/>
                          <a:ea typeface="Aptos"/>
                          <a:cs typeface="Aptos"/>
                        </a:rPr>
                        <a:t>Large</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250" b="0">
                          <a:solidFill>
                            <a:srgbClr val="111111"/>
                          </a:solidFill>
                          <a:latin typeface="Aptos"/>
                          <a:ea typeface="Aptos"/>
                          <a:cs typeface="Aptos"/>
                        </a:rPr>
                        <a:t>742.3</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250" b="0">
                          <a:solidFill>
                            <a:srgbClr val="111111"/>
                          </a:solidFill>
                          <a:latin typeface="Aptos"/>
                          <a:ea typeface="Aptos"/>
                          <a:cs typeface="Aptos"/>
                        </a:rPr>
                        <a:t>18.9</a:t>
                      </a:r>
                    </a:p>
                  </a:txBody>
                  <a:tcPr marL="76200" marR="57150" marT="19050" marB="19050" anchor="ctr">
                    <a:solidFill>
                      <a:srgbClr val="EFF8FF"/>
                    </a:solidFill>
                  </a:tcPr>
                </a:tc>
                <a:extLst>
                  <a:ext uri="{0D108BD9-81ED-4DB2-BD59-A6C34878D82A}">
                    <a16:rowId xmlns:a16="http://schemas.microsoft.com/office/drawing/2014/main" val="10002"/>
                  </a:ext>
                </a:extLst>
              </a:tr>
            </a:tbl>
          </a:graphicData>
        </a:graphic>
      </p:graphicFrame>
      <p:sp>
        <p:nvSpPr>
          <p:cNvPr id="5" name="body">
            <a:extLst>
              <a:ext uri="{FF2B5EF4-FFF2-40B4-BE49-F238E27FC236}">
                <a16:creationId xmlns:a16="http://schemas.microsoft.com/office/drawing/2014/main" id="{4D01E4E7-D876-4644-AE20-909A5E15C648}"/>
              </a:ext>
            </a:extLst>
          </p:cNvPr>
          <p:cNvSpPr>
            <a:spLocks noGrp="1"/>
          </p:cNvSpPr>
          <p:nvPr/>
        </p:nvSpPr>
        <p:spPr>
          <a:xfrm>
            <a:off x="523875" y="4676775"/>
            <a:ext cx="11144250" cy="352425"/>
          </a:xfrm>
          <a:prstGeom prst="rect">
            <a:avLst/>
          </a:prstGeom>
          <a:noFill/>
          <a:ln w="0">
            <a:noFill/>
          </a:ln>
        </p:spPr>
        <p:txBody>
          <a:bodyPr wrap="square" lIns="0" tIns="0" rIns="0" bIns="0" anchor="t">
            <a:noAutofit/>
          </a:bodyPr>
          <a:lstStyle/>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1. Which has the lower absolute standard deviation?</a:t>
            </a:r>
          </a:p>
        </p:txBody>
      </p:sp>
      <p:sp>
        <p:nvSpPr>
          <p:cNvPr id="6" name="body">
            <a:extLst>
              <a:ext uri="{FF2B5EF4-FFF2-40B4-BE49-F238E27FC236}">
                <a16:creationId xmlns:a16="http://schemas.microsoft.com/office/drawing/2014/main" id="{0CE75276-EAFD-4B03-839B-71AF3C86175B}"/>
              </a:ext>
            </a:extLst>
          </p:cNvPr>
          <p:cNvSpPr>
            <a:spLocks noGrp="1"/>
          </p:cNvSpPr>
          <p:nvPr/>
        </p:nvSpPr>
        <p:spPr>
          <a:xfrm>
            <a:off x="523875" y="5143500"/>
            <a:ext cx="11144250" cy="352425"/>
          </a:xfrm>
          <a:prstGeom prst="rect">
            <a:avLst/>
          </a:prstGeom>
          <a:noFill/>
          <a:ln w="0">
            <a:noFill/>
          </a:ln>
        </p:spPr>
        <p:txBody>
          <a:bodyPr wrap="square" lIns="0" tIns="0" rIns="0" bIns="0" anchor="t">
            <a:noAutofit/>
          </a:bodyPr>
          <a:lstStyle/>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2. Calculate both CVs to two decimal places.</a:t>
            </a:r>
          </a:p>
        </p:txBody>
      </p:sp>
      <p:sp>
        <p:nvSpPr>
          <p:cNvPr id="7" name="body">
            <a:extLst>
              <a:ext uri="{FF2B5EF4-FFF2-40B4-BE49-F238E27FC236}">
                <a16:creationId xmlns:a16="http://schemas.microsoft.com/office/drawing/2014/main" id="{4854DD47-925A-45C9-9173-6F7511D73A94}"/>
              </a:ext>
            </a:extLst>
          </p:cNvPr>
          <p:cNvSpPr>
            <a:spLocks noGrp="1"/>
          </p:cNvSpPr>
          <p:nvPr/>
        </p:nvSpPr>
        <p:spPr>
          <a:xfrm>
            <a:off x="523875" y="5610225"/>
            <a:ext cx="11144250" cy="352425"/>
          </a:xfrm>
          <a:prstGeom prst="rect">
            <a:avLst/>
          </a:prstGeom>
          <a:noFill/>
          <a:ln w="0">
            <a:noFill/>
          </a:ln>
        </p:spPr>
        <p:txBody>
          <a:bodyPr wrap="square" lIns="0" tIns="0" rIns="0" bIns="0" anchor="t">
            <a:noAutofit/>
          </a:bodyPr>
          <a:lstStyle/>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3. Which has less relative variation? Explain.</a:t>
            </a:r>
          </a:p>
        </p:txBody>
      </p:sp>
      <p:sp>
        <p:nvSpPr>
          <p:cNvPr id="8" name="body">
            <a:extLst>
              <a:ext uri="{FF2B5EF4-FFF2-40B4-BE49-F238E27FC236}">
                <a16:creationId xmlns:a16="http://schemas.microsoft.com/office/drawing/2014/main" id="{46B82AAA-053C-4753-8B2E-99083D3A0CE2}"/>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Your absolute and relative comparisons may give different answers.</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B3b • INDEPENDENT PRACTICE</a:t>
            </a:r>
          </a:p>
        </p:txBody>
      </p:sp>
    </p:spTree>
    <p:extLst>
      <p:ext uri="{BB962C8B-B14F-4D97-AF65-F5344CB8AC3E}">
        <p14:creationId xmlns:p14="http://schemas.microsoft.com/office/powerpoint/2010/main" val="328136123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B3b: absolute and relative answers</a:t>
            </a:r>
          </a:p>
        </p:txBody>
      </p:sp>
      <p:sp>
        <p:nvSpPr>
          <p:cNvPr id="3" name="body">
            <a:extLst>
              <a:ext uri="{FF2B5EF4-FFF2-40B4-BE49-F238E27FC236}">
                <a16:creationId xmlns:a16="http://schemas.microsoft.com/office/drawing/2014/main" id="{5A0B5476-6908-40D3-B1FA-6DB9503F6D91}"/>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For each sample, divide its SD by its own mean.</a:t>
            </a:r>
          </a:p>
        </p:txBody>
      </p:sp>
      <p:sp>
        <p:nvSpPr>
          <p:cNvPr id="4" name="body">
            <a:extLst>
              <a:ext uri="{FF2B5EF4-FFF2-40B4-BE49-F238E27FC236}">
                <a16:creationId xmlns:a16="http://schemas.microsoft.com/office/drawing/2014/main" id="{040E3F31-F637-4718-A159-A7503829E6DE}"/>
              </a:ext>
            </a:extLst>
          </p:cNvPr>
          <p:cNvSpPr>
            <a:spLocks noGrp="1"/>
          </p:cNvSpPr>
          <p:nvPr/>
        </p:nvSpPr>
        <p:spPr>
          <a:xfrm>
            <a:off x="666750" y="2924175"/>
            <a:ext cx="5143500" cy="476250"/>
          </a:xfrm>
          <a:prstGeom prst="rect">
            <a:avLst/>
          </a:prstGeom>
          <a:noFill/>
          <a:ln w="0">
            <a:noFill/>
          </a:ln>
        </p:spPr>
        <p:txBody>
          <a:bodyPr wrap="square" lIns="0" tIns="0" rIns="0" bIns="0" anchor="t">
            <a:noAutofit/>
          </a:bodyPr>
          <a:lstStyle/>
          <a:p>
            <a:pPr marL="0" marR="0" indent="0">
              <a:defRPr sz="2475" b="1">
                <a:solidFill>
                  <a:srgbClr val="111111"/>
                </a:solidFill>
                <a:latin typeface="Aptos"/>
                <a:ea typeface="Aptos"/>
                <a:cs typeface="Aptos"/>
              </a:defRPr>
            </a:pPr>
            <a:r>
              <a:rPr sz="2475" b="1">
                <a:solidFill>
                  <a:srgbClr val="111111"/>
                </a:solidFill>
                <a:latin typeface="Aptos"/>
                <a:ea typeface="Aptos"/>
                <a:cs typeface="Aptos"/>
              </a:rPr>
              <a:t>Small bottles</a:t>
            </a:r>
          </a:p>
        </p:txBody>
      </p:sp>
      <p:sp>
        <p:nvSpPr>
          <p:cNvPr id="5" name="body">
            <a:extLst>
              <a:ext uri="{FF2B5EF4-FFF2-40B4-BE49-F238E27FC236}">
                <a16:creationId xmlns:a16="http://schemas.microsoft.com/office/drawing/2014/main" id="{4D326B3B-F157-446B-8173-48AA868FAFB6}"/>
              </a:ext>
            </a:extLst>
          </p:cNvPr>
          <p:cNvSpPr>
            <a:spLocks noGrp="1"/>
          </p:cNvSpPr>
          <p:nvPr/>
        </p:nvSpPr>
        <p:spPr>
          <a:xfrm>
            <a:off x="6572250" y="2924175"/>
            <a:ext cx="5143500" cy="476250"/>
          </a:xfrm>
          <a:prstGeom prst="rect">
            <a:avLst/>
          </a:prstGeom>
          <a:noFill/>
          <a:ln w="0">
            <a:noFill/>
          </a:ln>
        </p:spPr>
        <p:txBody>
          <a:bodyPr wrap="square" lIns="0" tIns="0" rIns="0" bIns="0" anchor="t">
            <a:noAutofit/>
          </a:bodyPr>
          <a:lstStyle/>
          <a:p>
            <a:pPr marL="0" marR="0" indent="0">
              <a:defRPr sz="2475" b="1">
                <a:solidFill>
                  <a:srgbClr val="111111"/>
                </a:solidFill>
                <a:latin typeface="Aptos"/>
                <a:ea typeface="Aptos"/>
                <a:cs typeface="Aptos"/>
              </a:defRPr>
            </a:pPr>
            <a:r>
              <a:rPr sz="2475" b="1">
                <a:solidFill>
                  <a:srgbClr val="111111"/>
                </a:solidFill>
                <a:latin typeface="Aptos"/>
                <a:ea typeface="Aptos"/>
                <a:cs typeface="Aptos"/>
              </a:rPr>
              <a:t>Large bottles</a:t>
            </a:r>
          </a:p>
        </p:txBody>
      </p:sp>
      <p:pic>
        <p:nvPicPr>
          <p:cNvPr id="6" name="Picture 5"/>
          <p:cNvPicPr>
            <a:picLocks noChangeAspect="1"/>
          </p:cNvPicPr>
          <p:nvPr/>
        </p:nvPicPr>
        <p:blipFill>
          <a:blip r:embed="rId3"/>
          <a:stretch/>
        </p:blipFill>
        <p:spPr>
          <a:xfrm>
            <a:off x="619125" y="3781841"/>
            <a:ext cx="5238750" cy="723069"/>
          </a:xfrm>
          <a:prstGeom prst="rect">
            <a:avLst/>
          </a:prstGeom>
        </p:spPr>
      </p:pic>
      <p:pic>
        <p:nvPicPr>
          <p:cNvPr id="7" name="Picture 6"/>
          <p:cNvPicPr>
            <a:picLocks noChangeAspect="1"/>
          </p:cNvPicPr>
          <p:nvPr/>
        </p:nvPicPr>
        <p:blipFill>
          <a:blip r:embed="rId4"/>
          <a:stretch/>
        </p:blipFill>
        <p:spPr>
          <a:xfrm>
            <a:off x="6334125" y="3781841"/>
            <a:ext cx="5238750" cy="723069"/>
          </a:xfrm>
          <a:prstGeom prst="rect">
            <a:avLst/>
          </a:prstGeom>
        </p:spPr>
      </p:pic>
      <p:sp>
        <p:nvSpPr>
          <p:cNvPr id="8" name="body">
            <a:extLst>
              <a:ext uri="{FF2B5EF4-FFF2-40B4-BE49-F238E27FC236}">
                <a16:creationId xmlns:a16="http://schemas.microsoft.com/office/drawing/2014/main" id="{26339E8E-F095-4898-A698-74DAD6F8D0A8}"/>
              </a:ext>
            </a:extLst>
          </p:cNvPr>
          <p:cNvSpPr>
            <a:spLocks noGrp="1"/>
          </p:cNvSpPr>
          <p:nvPr/>
        </p:nvSpPr>
        <p:spPr>
          <a:xfrm>
            <a:off x="666750" y="5048250"/>
            <a:ext cx="5143500" cy="781050"/>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Lower absolute SD:</a:t>
            </a:r>
          </a:p>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small bottles.</a:t>
            </a:r>
          </a:p>
        </p:txBody>
      </p:sp>
      <p:sp>
        <p:nvSpPr>
          <p:cNvPr id="9" name="body">
            <a:extLst>
              <a:ext uri="{FF2B5EF4-FFF2-40B4-BE49-F238E27FC236}">
                <a16:creationId xmlns:a16="http://schemas.microsoft.com/office/drawing/2014/main" id="{35CEF8FB-A751-4197-896F-CC0CEBA3AD83}"/>
              </a:ext>
            </a:extLst>
          </p:cNvPr>
          <p:cNvSpPr>
            <a:spLocks noGrp="1"/>
          </p:cNvSpPr>
          <p:nvPr/>
        </p:nvSpPr>
        <p:spPr>
          <a:xfrm>
            <a:off x="6572250" y="5048250"/>
            <a:ext cx="5143500" cy="781050"/>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Lower relative variation:</a:t>
            </a:r>
          </a:p>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large bottles.</a:t>
            </a:r>
          </a:p>
        </p:txBody>
      </p:sp>
      <p:sp>
        <p:nvSpPr>
          <p:cNvPr id="10" name="body">
            <a:extLst>
              <a:ext uri="{FF2B5EF4-FFF2-40B4-BE49-F238E27FC236}">
                <a16:creationId xmlns:a16="http://schemas.microsoft.com/office/drawing/2014/main" id="{40332E12-A7EC-4532-89DC-F45A3523F3C5}"/>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Accuracy also requires a target fill volume.</a:t>
            </a:r>
          </a:p>
        </p:txBody>
      </p:sp>
      <p:sp>
        <p:nvSpPr>
          <p:cNvPr id="11"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B3b • WORKED ANSWERS</a:t>
            </a:r>
          </a:p>
        </p:txBody>
      </p:sp>
    </p:spTree>
    <p:extLst>
      <p:ext uri="{BB962C8B-B14F-4D97-AF65-F5344CB8AC3E}">
        <p14:creationId xmlns:p14="http://schemas.microsoft.com/office/powerpoint/2010/main" val="32813612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356235" y="2238375"/>
            <a:ext cx="5953125" cy="2705100"/>
          </a:xfrm>
        </p:spPr>
        <p:txBody>
          <a:bodyPr wrap="square" lIns="0" tIns="0" rIns="0" bIns="0" anchor="t">
            <a:noAutofit/>
          </a:bodyPr>
          <a:lstStyle/>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Section 5:</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Kurtosis</a:t>
            </a:r>
          </a:p>
          <a:p>
            <a:pPr marL="0" marR="0" indent="0" algn="l">
              <a:buNone/>
              <a:defRPr sz="4200" b="0">
                <a:solidFill>
                  <a:srgbClr val="FFFFFF"/>
                </a:solidFill>
                <a:latin typeface="Aptos Display"/>
                <a:ea typeface="Aptos Display"/>
                <a:cs typeface="Aptos Display"/>
              </a:defRPr>
            </a:pPr>
            <a:r>
              <a:rPr sz="4200" b="0">
                <a:solidFill>
                  <a:srgbClr val="FFFFFF"/>
                </a:solidFill>
                <a:latin typeface="Aptos Display"/>
                <a:ea typeface="Aptos Display"/>
                <a:cs typeface="Aptos Display"/>
              </a:rPr>
              <a:t>and tail patterns</a:t>
            </a:r>
          </a:p>
        </p:txBody>
      </p:sp>
      <p:sp>
        <p:nvSpPr>
          <p:cNvPr id="3" name="divider-question">
            <a:extLst>
              <a:ext uri="{FF2B5EF4-FFF2-40B4-BE49-F238E27FC236}">
                <a16:creationId xmlns:a16="http://schemas.microsoft.com/office/drawing/2014/main" id="{9704A175-3E07-414D-84B8-0D94AB9595D3}"/>
              </a:ext>
            </a:extLst>
          </p:cNvPr>
          <p:cNvSpPr>
            <a:spLocks noGrp="1"/>
          </p:cNvSpPr>
          <p:nvPr/>
        </p:nvSpPr>
        <p:spPr>
          <a:xfrm>
            <a:off x="428625" y="5200650"/>
            <a:ext cx="5715000" cy="1028700"/>
          </a:xfrm>
          <a:prstGeom prst="rect">
            <a:avLst/>
          </a:prstGeom>
          <a:noFill/>
          <a:ln w="0">
            <a:noFill/>
          </a:ln>
        </p:spPr>
        <p:txBody>
          <a:bodyPr wrap="square" lIns="0" tIns="0" rIns="0" bIns="0" anchor="t">
            <a:noAutofit/>
          </a:bodyPr>
          <a:lstStyle/>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Can equal means and SDs</a:t>
            </a:r>
          </a:p>
          <a:p>
            <a:pPr marL="0" marR="0" indent="0">
              <a:defRPr sz="2250" b="0">
                <a:solidFill>
                  <a:srgbClr val="FFFFFF"/>
                </a:solidFill>
                <a:latin typeface="Aptos"/>
                <a:ea typeface="Aptos"/>
                <a:cs typeface="Aptos"/>
              </a:defRPr>
            </a:pPr>
            <a:r>
              <a:rPr sz="2250" b="0">
                <a:solidFill>
                  <a:srgbClr val="FFFFFF"/>
                </a:solidFill>
                <a:latin typeface="Aptos"/>
                <a:ea typeface="Aptos"/>
                <a:cs typeface="Aptos"/>
              </a:rPr>
              <a:t>hide different distribution shapes?</a:t>
            </a:r>
          </a:p>
        </p:txBody>
      </p:sp>
    </p:spTree>
    <p:extLst>
      <p:ext uri="{BB962C8B-B14F-4D97-AF65-F5344CB8AC3E}">
        <p14:creationId xmlns:p14="http://schemas.microsoft.com/office/powerpoint/2010/main" val="3281361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Tails and the normal reference</a:t>
            </a:r>
          </a:p>
        </p:txBody>
      </p:sp>
      <p:sp>
        <p:nvSpPr>
          <p:cNvPr id="3" name="body">
            <a:extLst>
              <a:ext uri="{FF2B5EF4-FFF2-40B4-BE49-F238E27FC236}">
                <a16:creationId xmlns:a16="http://schemas.microsoft.com/office/drawing/2014/main" id="{E03C2E4B-4DA0-49C2-AC36-D87E5EF0DAA9}"/>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Tails are the outer regions containing unusually low or high values.</a:t>
            </a:r>
          </a:p>
        </p:txBody>
      </p:sp>
      <p:pic>
        <p:nvPicPr>
          <p:cNvPr id="4" name="Picture 3"/>
          <p:cNvPicPr>
            <a:picLocks noChangeAspect="1"/>
          </p:cNvPicPr>
          <p:nvPr/>
        </p:nvPicPr>
        <p:blipFill>
          <a:blip r:embed="rId3"/>
          <a:stretch/>
        </p:blipFill>
        <p:spPr>
          <a:xfrm>
            <a:off x="1270567" y="2781300"/>
            <a:ext cx="9841366" cy="2505075"/>
          </a:xfrm>
          <a:prstGeom prst="rect">
            <a:avLst/>
          </a:prstGeom>
        </p:spPr>
      </p:pic>
      <p:sp>
        <p:nvSpPr>
          <p:cNvPr id="5" name="body">
            <a:extLst>
              <a:ext uri="{FF2B5EF4-FFF2-40B4-BE49-F238E27FC236}">
                <a16:creationId xmlns:a16="http://schemas.microsoft.com/office/drawing/2014/main" id="{D413C74D-0C6E-40A8-88C3-977BD4E07A1A}"/>
              </a:ext>
            </a:extLst>
          </p:cNvPr>
          <p:cNvSpPr>
            <a:spLocks noGrp="1"/>
          </p:cNvSpPr>
          <p:nvPr/>
        </p:nvSpPr>
        <p:spPr>
          <a:xfrm>
            <a:off x="523875" y="5448300"/>
            <a:ext cx="11144250" cy="49530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dirty="0">
                <a:solidFill>
                  <a:srgbClr val="111111"/>
                </a:solidFill>
                <a:latin typeface="Aptos"/>
                <a:ea typeface="Aptos"/>
                <a:cs typeface="Aptos"/>
              </a:rPr>
              <a:t>Normal distribution: a symmetric, bell-shaped reference.</a:t>
            </a:r>
          </a:p>
        </p:txBody>
      </p:sp>
      <p:sp>
        <p:nvSpPr>
          <p:cNvPr id="6" name="body">
            <a:extLst>
              <a:ext uri="{FF2B5EF4-FFF2-40B4-BE49-F238E27FC236}">
                <a16:creationId xmlns:a16="http://schemas.microsoft.com/office/drawing/2014/main" id="{322820EE-8063-421E-BA3F-26A99E1046E2}"/>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Recall: skewness describes left–right asymmetry.</a:t>
            </a:r>
          </a:p>
        </p:txBody>
      </p:sp>
    </p:spTree>
    <p:extLst>
      <p:ext uri="{BB962C8B-B14F-4D97-AF65-F5344CB8AC3E}">
        <p14:creationId xmlns:p14="http://schemas.microsoft.com/office/powerpoint/2010/main" val="328136123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Kurtosis: extreme values and tails</a:t>
            </a:r>
          </a:p>
        </p:txBody>
      </p:sp>
      <p:sp>
        <p:nvSpPr>
          <p:cNvPr id="3" name="body">
            <a:extLst>
              <a:ext uri="{FF2B5EF4-FFF2-40B4-BE49-F238E27FC236}">
                <a16:creationId xmlns:a16="http://schemas.microsoft.com/office/drawing/2014/main" id="{28D159AF-703A-4A3D-A978-626DFECBBC02}"/>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Kurtosis describes the influence of extreme values, relative to spread.</a:t>
            </a:r>
          </a:p>
        </p:txBody>
      </p:sp>
      <p:graphicFrame>
        <p:nvGraphicFramePr>
          <p:cNvPr id="4" name="Table 3"/>
          <p:cNvGraphicFramePr/>
          <p:nvPr/>
        </p:nvGraphicFramePr>
        <p:xfrm>
          <a:off x="523875" y="2914650"/>
          <a:ext cx="11144250" cy="2419352"/>
        </p:xfrm>
        <a:graphic>
          <a:graphicData uri="http://schemas.openxmlformats.org/drawingml/2006/table">
            <a:tbl>
              <a:tblPr/>
              <a:tblGrid>
                <a:gridCol w="2857500">
                  <a:extLst>
                    <a:ext uri="{9D8B030D-6E8A-4147-A177-3AD203B41FA5}">
                      <a16:colId xmlns:a16="http://schemas.microsoft.com/office/drawing/2014/main" val="20000"/>
                    </a:ext>
                  </a:extLst>
                </a:gridCol>
                <a:gridCol w="3143250">
                  <a:extLst>
                    <a:ext uri="{9D8B030D-6E8A-4147-A177-3AD203B41FA5}">
                      <a16:colId xmlns:a16="http://schemas.microsoft.com/office/drawing/2014/main" val="20001"/>
                    </a:ext>
                  </a:extLst>
                </a:gridCol>
                <a:gridCol w="5143500">
                  <a:extLst>
                    <a:ext uri="{9D8B030D-6E8A-4147-A177-3AD203B41FA5}">
                      <a16:colId xmlns:a16="http://schemas.microsoft.com/office/drawing/2014/main" val="20002"/>
                    </a:ext>
                  </a:extLst>
                </a:gridCol>
              </a:tblGrid>
              <a:tr h="604838">
                <a:tc>
                  <a:txBody>
                    <a:bodyPr/>
                    <a:lstStyle/>
                    <a:p>
                      <a:pPr marL="0" marR="0" indent="0">
                        <a:lnSpc>
                          <a:spcPct val="105000"/>
                        </a:lnSpc>
                        <a:spcBef>
                          <a:spcPts val="0"/>
                        </a:spcBef>
                        <a:spcAft>
                          <a:spcPts val="0"/>
                        </a:spcAft>
                      </a:pPr>
                      <a:r>
                        <a:rPr sz="1950" b="1">
                          <a:solidFill>
                            <a:srgbClr val="FFFFFF"/>
                          </a:solidFill>
                          <a:latin typeface="Aptos"/>
                          <a:ea typeface="Aptos"/>
                          <a:cs typeface="Aptos"/>
                        </a:rPr>
                        <a:t>Term</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950" b="1">
                          <a:solidFill>
                            <a:srgbClr val="FFFFFF"/>
                          </a:solidFill>
                          <a:latin typeface="Aptos"/>
                          <a:ea typeface="Aptos"/>
                          <a:cs typeface="Aptos"/>
                        </a:rPr>
                        <a:t>Ordinary kurtosis</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950" b="1">
                          <a:solidFill>
                            <a:srgbClr val="FFFFFF"/>
                          </a:solidFill>
                          <a:latin typeface="Aptos"/>
                          <a:ea typeface="Aptos"/>
                          <a:cs typeface="Aptos"/>
                        </a:rPr>
                        <a:t>Compared with normal</a:t>
                      </a:r>
                    </a:p>
                  </a:txBody>
                  <a:tcPr marL="76200" marR="57150" marT="19050" marB="19050" anchor="ctr">
                    <a:solidFill>
                      <a:srgbClr val="D6171D"/>
                    </a:solidFill>
                  </a:tcPr>
                </a:tc>
                <a:extLst>
                  <a:ext uri="{0D108BD9-81ED-4DB2-BD59-A6C34878D82A}">
                    <a16:rowId xmlns:a16="http://schemas.microsoft.com/office/drawing/2014/main" val="10000"/>
                  </a:ext>
                </a:extLst>
              </a:tr>
              <a:tr h="604838">
                <a:tc>
                  <a:txBody>
                    <a:bodyPr/>
                    <a:lstStyle/>
                    <a:p>
                      <a:pPr marL="0" marR="0" indent="0">
                        <a:lnSpc>
                          <a:spcPct val="105000"/>
                        </a:lnSpc>
                        <a:spcBef>
                          <a:spcPts val="0"/>
                        </a:spcBef>
                        <a:spcAft>
                          <a:spcPts val="0"/>
                        </a:spcAft>
                      </a:pPr>
                      <a:r>
                        <a:rPr sz="2100" b="0">
                          <a:solidFill>
                            <a:srgbClr val="111111"/>
                          </a:solidFill>
                          <a:latin typeface="Aptos"/>
                          <a:ea typeface="Aptos"/>
                          <a:cs typeface="Aptos"/>
                        </a:rPr>
                        <a:t>Mesokurtic</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3</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Same kurtosis benchmark</a:t>
                      </a:r>
                    </a:p>
                  </a:txBody>
                  <a:tcPr marL="76200" marR="57150" marT="19050" marB="19050" anchor="ctr">
                    <a:solidFill>
                      <a:srgbClr val="FFFFFF"/>
                    </a:solidFill>
                  </a:tcPr>
                </a:tc>
                <a:extLst>
                  <a:ext uri="{0D108BD9-81ED-4DB2-BD59-A6C34878D82A}">
                    <a16:rowId xmlns:a16="http://schemas.microsoft.com/office/drawing/2014/main" val="10001"/>
                  </a:ext>
                </a:extLst>
              </a:tr>
              <a:tr h="604838">
                <a:tc>
                  <a:txBody>
                    <a:bodyPr/>
                    <a:lstStyle/>
                    <a:p>
                      <a:pPr marL="0" marR="0" indent="0">
                        <a:lnSpc>
                          <a:spcPct val="105000"/>
                        </a:lnSpc>
                        <a:spcBef>
                          <a:spcPts val="0"/>
                        </a:spcBef>
                        <a:spcAft>
                          <a:spcPts val="0"/>
                        </a:spcAft>
                      </a:pPr>
                      <a:r>
                        <a:rPr sz="2100" b="0" dirty="0">
                          <a:solidFill>
                            <a:srgbClr val="111111"/>
                          </a:solidFill>
                          <a:latin typeface="Aptos"/>
                          <a:ea typeface="Aptos"/>
                          <a:cs typeface="Aptos"/>
                        </a:rPr>
                        <a:t>Leptokurtic</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Above 3</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100" b="0">
                          <a:solidFill>
                            <a:srgbClr val="111111"/>
                          </a:solidFill>
                          <a:latin typeface="Aptos"/>
                          <a:ea typeface="Aptos"/>
                          <a:cs typeface="Aptos"/>
                        </a:rPr>
                        <a:t>Greater influence of extremes</a:t>
                      </a:r>
                    </a:p>
                  </a:txBody>
                  <a:tcPr marL="76200" marR="57150" marT="19050" marB="19050" anchor="ctr">
                    <a:solidFill>
                      <a:srgbClr val="EFF8FF"/>
                    </a:solidFill>
                  </a:tcPr>
                </a:tc>
                <a:extLst>
                  <a:ext uri="{0D108BD9-81ED-4DB2-BD59-A6C34878D82A}">
                    <a16:rowId xmlns:a16="http://schemas.microsoft.com/office/drawing/2014/main" val="10002"/>
                  </a:ext>
                </a:extLst>
              </a:tr>
              <a:tr h="604838">
                <a:tc>
                  <a:txBody>
                    <a:bodyPr/>
                    <a:lstStyle/>
                    <a:p>
                      <a:pPr marL="0" marR="0" indent="0">
                        <a:lnSpc>
                          <a:spcPct val="105000"/>
                        </a:lnSpc>
                        <a:spcBef>
                          <a:spcPts val="0"/>
                        </a:spcBef>
                        <a:spcAft>
                          <a:spcPts val="0"/>
                        </a:spcAft>
                      </a:pPr>
                      <a:r>
                        <a:rPr sz="2100" b="0" dirty="0">
                          <a:solidFill>
                            <a:srgbClr val="111111"/>
                          </a:solidFill>
                          <a:latin typeface="Aptos"/>
                          <a:ea typeface="Aptos"/>
                          <a:cs typeface="Aptos"/>
                        </a:rPr>
                        <a:t>Platykurtic</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dirty="0">
                          <a:solidFill>
                            <a:srgbClr val="111111"/>
                          </a:solidFill>
                          <a:latin typeface="Aptos"/>
                          <a:ea typeface="Aptos"/>
                          <a:cs typeface="Aptos"/>
                        </a:rPr>
                        <a:t>Below 3</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100" b="0" dirty="0">
                          <a:solidFill>
                            <a:srgbClr val="111111"/>
                          </a:solidFill>
                          <a:latin typeface="Aptos"/>
                          <a:ea typeface="Aptos"/>
                          <a:cs typeface="Aptos"/>
                        </a:rPr>
                        <a:t>Lower influence of extremes</a:t>
                      </a:r>
                    </a:p>
                  </a:txBody>
                  <a:tcPr marL="76200" marR="571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5" name="body">
            <a:extLst>
              <a:ext uri="{FF2B5EF4-FFF2-40B4-BE49-F238E27FC236}">
                <a16:creationId xmlns:a16="http://schemas.microsoft.com/office/drawing/2014/main" id="{C8AD9499-6AA8-499A-BB3B-DE3783F9EF72}"/>
              </a:ext>
            </a:extLst>
          </p:cNvPr>
          <p:cNvSpPr>
            <a:spLocks noGrp="1"/>
          </p:cNvSpPr>
          <p:nvPr/>
        </p:nvSpPr>
        <p:spPr>
          <a:xfrm>
            <a:off x="523875" y="5572125"/>
            <a:ext cx="11144250" cy="466725"/>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dirty="0">
                <a:solidFill>
                  <a:srgbClr val="111111"/>
                </a:solidFill>
                <a:latin typeface="Aptos"/>
                <a:ea typeface="Aptos"/>
                <a:cs typeface="Aptos"/>
              </a:rPr>
              <a:t>The normal reference has kurtosis 3.</a:t>
            </a:r>
          </a:p>
        </p:txBody>
      </p:sp>
      <p:sp>
        <p:nvSpPr>
          <p:cNvPr id="6" name="body">
            <a:extLst>
              <a:ext uri="{FF2B5EF4-FFF2-40B4-BE49-F238E27FC236}">
                <a16:creationId xmlns:a16="http://schemas.microsoft.com/office/drawing/2014/main" id="{27C72BDC-3E93-4EA2-96E3-B7D30B316152}"/>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dirty="0">
                <a:solidFill>
                  <a:srgbClr val="111111"/>
                </a:solidFill>
                <a:latin typeface="Aptos"/>
                <a:ea typeface="Aptos"/>
                <a:cs typeface="Aptos"/>
              </a:rPr>
              <a:t>Peak height alone does not determine kurtosis.</a:t>
            </a:r>
          </a:p>
        </p:txBody>
      </p:sp>
    </p:spTree>
    <p:extLst>
      <p:ext uri="{BB962C8B-B14F-4D97-AF65-F5344CB8AC3E}">
        <p14:creationId xmlns:p14="http://schemas.microsoft.com/office/powerpoint/2010/main" val="328136123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B4: interpret the tail patterns</a:t>
            </a:r>
          </a:p>
        </p:txBody>
      </p:sp>
      <p:sp>
        <p:nvSpPr>
          <p:cNvPr id="3" name="body">
            <a:extLst>
              <a:ext uri="{FF2B5EF4-FFF2-40B4-BE49-F238E27FC236}">
                <a16:creationId xmlns:a16="http://schemas.microsoft.com/office/drawing/2014/main" id="{13C91030-1234-4695-AA44-F8817D38925C}"/>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These symmetric distributions have the same mean and SD.</a:t>
            </a:r>
          </a:p>
        </p:txBody>
      </p:sp>
      <p:pic>
        <p:nvPicPr>
          <p:cNvPr id="4" name="Picture 3"/>
          <p:cNvPicPr>
            <a:picLocks noChangeAspect="1"/>
          </p:cNvPicPr>
          <p:nvPr/>
        </p:nvPicPr>
        <p:blipFill>
          <a:blip r:embed="rId3"/>
          <a:stretch/>
        </p:blipFill>
        <p:spPr>
          <a:xfrm>
            <a:off x="1047750" y="2687334"/>
            <a:ext cx="10191750" cy="2454882"/>
          </a:xfrm>
          <a:prstGeom prst="rect">
            <a:avLst/>
          </a:prstGeom>
        </p:spPr>
      </p:pic>
      <p:sp>
        <p:nvSpPr>
          <p:cNvPr id="5" name="body">
            <a:extLst>
              <a:ext uri="{FF2B5EF4-FFF2-40B4-BE49-F238E27FC236}">
                <a16:creationId xmlns:a16="http://schemas.microsoft.com/office/drawing/2014/main" id="{B64B90FC-5B40-4E64-A6C1-D87FE0F45839}"/>
              </a:ext>
            </a:extLst>
          </p:cNvPr>
          <p:cNvSpPr>
            <a:spLocks noGrp="1"/>
          </p:cNvSpPr>
          <p:nvPr/>
        </p:nvSpPr>
        <p:spPr>
          <a:xfrm>
            <a:off x="523875" y="5391150"/>
            <a:ext cx="11144250" cy="419100"/>
          </a:xfrm>
          <a:prstGeom prst="rect">
            <a:avLst/>
          </a:prstGeom>
          <a:noFill/>
          <a:ln w="0">
            <a:noFill/>
          </a:ln>
        </p:spPr>
        <p:txBody>
          <a:bodyPr wrap="square" lIns="0" tIns="0" rIns="0" bIns="0" anchor="t">
            <a:noAutofit/>
          </a:bodyPr>
          <a:lstStyle/>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1. Which has the greatest influence from extreme values?</a:t>
            </a:r>
          </a:p>
        </p:txBody>
      </p:sp>
      <p:sp>
        <p:nvSpPr>
          <p:cNvPr id="6" name="body">
            <a:extLst>
              <a:ext uri="{FF2B5EF4-FFF2-40B4-BE49-F238E27FC236}">
                <a16:creationId xmlns:a16="http://schemas.microsoft.com/office/drawing/2014/main" id="{BCD13371-FB58-41D2-BA6B-ADD31B756C28}"/>
              </a:ext>
            </a:extLst>
          </p:cNvPr>
          <p:cNvSpPr>
            <a:spLocks noGrp="1"/>
          </p:cNvSpPr>
          <p:nvPr/>
        </p:nvSpPr>
        <p:spPr>
          <a:xfrm>
            <a:off x="523875" y="5876925"/>
            <a:ext cx="11144250" cy="409575"/>
          </a:xfrm>
          <a:prstGeom prst="rect">
            <a:avLst/>
          </a:prstGeom>
          <a:noFill/>
          <a:ln w="0">
            <a:noFill/>
          </a:ln>
        </p:spPr>
        <p:txBody>
          <a:bodyPr wrap="square" lIns="0" tIns="0" rIns="0" bIns="0" anchor="t">
            <a:noAutofit/>
          </a:bodyPr>
          <a:lstStyle/>
          <a:p>
            <a:pPr marL="0" marR="0" indent="0">
              <a:defRPr sz="2100" b="1">
                <a:solidFill>
                  <a:srgbClr val="111111"/>
                </a:solidFill>
                <a:latin typeface="Aptos"/>
                <a:ea typeface="Aptos"/>
                <a:cs typeface="Aptos"/>
              </a:defRPr>
            </a:pPr>
            <a:r>
              <a:rPr sz="2100" b="1">
                <a:solidFill>
                  <a:srgbClr val="111111"/>
                </a:solidFill>
                <a:latin typeface="Aptos"/>
                <a:ea typeface="Aptos"/>
                <a:cs typeface="Aptos"/>
              </a:rPr>
              <a:t>2. Correct: “Equal SDs mean the distributions have the same shape.”</a:t>
            </a:r>
          </a:p>
        </p:txBody>
      </p:sp>
      <p:sp>
        <p:nvSpPr>
          <p:cNvPr id="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B4 • INTERPRETATION</a:t>
            </a:r>
          </a:p>
        </p:txBody>
      </p:sp>
    </p:spTree>
    <p:extLst>
      <p:ext uri="{BB962C8B-B14F-4D97-AF65-F5344CB8AC3E}">
        <p14:creationId xmlns:p14="http://schemas.microsoft.com/office/powerpoint/2010/main" val="3281361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B4: equal SDs, different tails</a:t>
            </a:r>
          </a:p>
        </p:txBody>
      </p:sp>
      <p:sp>
        <p:nvSpPr>
          <p:cNvPr id="3" name="body">
            <a:extLst>
              <a:ext uri="{FF2B5EF4-FFF2-40B4-BE49-F238E27FC236}">
                <a16:creationId xmlns:a16="http://schemas.microsoft.com/office/drawing/2014/main" id="{6383BA52-6D11-4660-9079-3D43EE1312D6}"/>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Q has the greatest influence from very extreme values.</a:t>
            </a:r>
          </a:p>
        </p:txBody>
      </p:sp>
      <p:graphicFrame>
        <p:nvGraphicFramePr>
          <p:cNvPr id="4" name="Table 3"/>
          <p:cNvGraphicFramePr/>
          <p:nvPr/>
        </p:nvGraphicFramePr>
        <p:xfrm>
          <a:off x="523875" y="2809875"/>
          <a:ext cx="11144250" cy="2190752"/>
        </p:xfrm>
        <a:graphic>
          <a:graphicData uri="http://schemas.openxmlformats.org/drawingml/2006/table">
            <a:tbl>
              <a:tblPr/>
              <a:tblGrid>
                <a:gridCol w="1333500">
                  <a:extLst>
                    <a:ext uri="{9D8B030D-6E8A-4147-A177-3AD203B41FA5}">
                      <a16:colId xmlns:a16="http://schemas.microsoft.com/office/drawing/2014/main" val="20000"/>
                    </a:ext>
                  </a:extLst>
                </a:gridCol>
                <a:gridCol w="6667500">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tblGrid>
              <a:tr h="547688">
                <a:tc>
                  <a:txBody>
                    <a:bodyPr/>
                    <a:lstStyle/>
                    <a:p>
                      <a:pPr marL="0" marR="0" indent="0">
                        <a:lnSpc>
                          <a:spcPct val="105000"/>
                        </a:lnSpc>
                        <a:spcBef>
                          <a:spcPts val="0"/>
                        </a:spcBef>
                        <a:spcAft>
                          <a:spcPts val="0"/>
                        </a:spcAft>
                      </a:pPr>
                      <a:r>
                        <a:rPr sz="1875" b="1">
                          <a:solidFill>
                            <a:srgbClr val="FFFFFF"/>
                          </a:solidFill>
                          <a:latin typeface="Aptos"/>
                          <a:ea typeface="Aptos"/>
                          <a:cs typeface="Aptos"/>
                        </a:rPr>
                        <a:t>Plot</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75" b="1">
                          <a:solidFill>
                            <a:srgbClr val="FFFFFF"/>
                          </a:solidFill>
                          <a:latin typeface="Aptos"/>
                          <a:ea typeface="Aptos"/>
                          <a:cs typeface="Aptos"/>
                        </a:rPr>
                        <a:t>Description</a:t>
                      </a:r>
                    </a:p>
                  </a:txBody>
                  <a:tcPr marL="76200" marR="57150" marT="19050" marB="19050" anchor="ctr">
                    <a:solidFill>
                      <a:srgbClr val="D6171D"/>
                    </a:solidFill>
                  </a:tcPr>
                </a:tc>
                <a:tc>
                  <a:txBody>
                    <a:bodyPr/>
                    <a:lstStyle/>
                    <a:p>
                      <a:pPr marL="0" marR="0" indent="0">
                        <a:lnSpc>
                          <a:spcPct val="105000"/>
                        </a:lnSpc>
                        <a:spcBef>
                          <a:spcPts val="0"/>
                        </a:spcBef>
                        <a:spcAft>
                          <a:spcPts val="0"/>
                        </a:spcAft>
                      </a:pPr>
                      <a:r>
                        <a:rPr sz="1875" b="1">
                          <a:solidFill>
                            <a:srgbClr val="FFFFFF"/>
                          </a:solidFill>
                          <a:latin typeface="Aptos"/>
                          <a:ea typeface="Aptos"/>
                          <a:cs typeface="Aptos"/>
                        </a:rPr>
                        <a:t>Ordinary kurtosis</a:t>
                      </a:r>
                    </a:p>
                  </a:txBody>
                  <a:tcPr marL="76200" marR="57150" marT="19050" marB="19050" anchor="ctr">
                    <a:solidFill>
                      <a:srgbClr val="D6171D"/>
                    </a:solidFill>
                  </a:tcPr>
                </a:tc>
                <a:extLst>
                  <a:ext uri="{0D108BD9-81ED-4DB2-BD59-A6C34878D82A}">
                    <a16:rowId xmlns:a16="http://schemas.microsoft.com/office/drawing/2014/main" val="10000"/>
                  </a:ext>
                </a:extLst>
              </a:tr>
              <a:tr h="547688">
                <a:tc>
                  <a:txBody>
                    <a:bodyPr/>
                    <a:lstStyle/>
                    <a:p>
                      <a:pPr marL="0" marR="0" indent="0">
                        <a:lnSpc>
                          <a:spcPct val="105000"/>
                        </a:lnSpc>
                        <a:spcBef>
                          <a:spcPts val="0"/>
                        </a:spcBef>
                        <a:spcAft>
                          <a:spcPts val="0"/>
                        </a:spcAft>
                      </a:pPr>
                      <a:r>
                        <a:rPr sz="2025" b="0">
                          <a:solidFill>
                            <a:srgbClr val="111111"/>
                          </a:solidFill>
                          <a:latin typeface="Aptos"/>
                          <a:ea typeface="Aptos"/>
                          <a:cs typeface="Aptos"/>
                        </a:rPr>
                        <a:t>P</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Normal reference / mesokurtic</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3</a:t>
                      </a:r>
                    </a:p>
                  </a:txBody>
                  <a:tcPr marL="76200" marR="57150" marT="19050" marB="19050" anchor="ctr">
                    <a:solidFill>
                      <a:srgbClr val="FFFFFF"/>
                    </a:solidFill>
                  </a:tcPr>
                </a:tc>
                <a:extLst>
                  <a:ext uri="{0D108BD9-81ED-4DB2-BD59-A6C34878D82A}">
                    <a16:rowId xmlns:a16="http://schemas.microsoft.com/office/drawing/2014/main" val="10001"/>
                  </a:ext>
                </a:extLst>
              </a:tr>
              <a:tr h="547688">
                <a:tc>
                  <a:txBody>
                    <a:bodyPr/>
                    <a:lstStyle/>
                    <a:p>
                      <a:pPr marL="0" marR="0" indent="0">
                        <a:lnSpc>
                          <a:spcPct val="105000"/>
                        </a:lnSpc>
                        <a:spcBef>
                          <a:spcPts val="0"/>
                        </a:spcBef>
                        <a:spcAft>
                          <a:spcPts val="0"/>
                        </a:spcAft>
                      </a:pPr>
                      <a:r>
                        <a:rPr sz="2025" b="0">
                          <a:solidFill>
                            <a:srgbClr val="111111"/>
                          </a:solidFill>
                          <a:latin typeface="Aptos"/>
                          <a:ea typeface="Aptos"/>
                          <a:cs typeface="Aptos"/>
                        </a:rPr>
                        <a:t>Q</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Heavier far tails / leptokurtic</a:t>
                      </a:r>
                    </a:p>
                  </a:txBody>
                  <a:tcPr marL="76200" marR="57150" marT="19050" marB="19050" anchor="ctr">
                    <a:solidFill>
                      <a:srgbClr val="EFF8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6</a:t>
                      </a:r>
                    </a:p>
                  </a:txBody>
                  <a:tcPr marL="76200" marR="57150" marT="19050" marB="19050" anchor="ctr">
                    <a:solidFill>
                      <a:srgbClr val="EFF8FF"/>
                    </a:solidFill>
                  </a:tcPr>
                </a:tc>
                <a:extLst>
                  <a:ext uri="{0D108BD9-81ED-4DB2-BD59-A6C34878D82A}">
                    <a16:rowId xmlns:a16="http://schemas.microsoft.com/office/drawing/2014/main" val="10002"/>
                  </a:ext>
                </a:extLst>
              </a:tr>
              <a:tr h="547688">
                <a:tc>
                  <a:txBody>
                    <a:bodyPr/>
                    <a:lstStyle/>
                    <a:p>
                      <a:pPr marL="0" marR="0" indent="0">
                        <a:lnSpc>
                          <a:spcPct val="105000"/>
                        </a:lnSpc>
                        <a:spcBef>
                          <a:spcPts val="0"/>
                        </a:spcBef>
                        <a:spcAft>
                          <a:spcPts val="0"/>
                        </a:spcAft>
                      </a:pPr>
                      <a:r>
                        <a:rPr sz="2025" b="0">
                          <a:solidFill>
                            <a:srgbClr val="111111"/>
                          </a:solidFill>
                          <a:latin typeface="Aptos"/>
                          <a:ea typeface="Aptos"/>
                          <a:cs typeface="Aptos"/>
                        </a:rPr>
                        <a:t>R</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Bounded lighter tails / platykurtic</a:t>
                      </a:r>
                    </a:p>
                  </a:txBody>
                  <a:tcPr marL="76200" marR="57150" marT="19050" marB="19050" anchor="ctr">
                    <a:solidFill>
                      <a:srgbClr val="FFFFFF"/>
                    </a:solidFill>
                  </a:tcPr>
                </a:tc>
                <a:tc>
                  <a:txBody>
                    <a:bodyPr/>
                    <a:lstStyle/>
                    <a:p>
                      <a:pPr marL="0" marR="0" indent="0">
                        <a:lnSpc>
                          <a:spcPct val="105000"/>
                        </a:lnSpc>
                        <a:spcBef>
                          <a:spcPts val="0"/>
                        </a:spcBef>
                        <a:spcAft>
                          <a:spcPts val="0"/>
                        </a:spcAft>
                      </a:pPr>
                      <a:r>
                        <a:rPr sz="2025" b="0">
                          <a:solidFill>
                            <a:srgbClr val="111111"/>
                          </a:solidFill>
                          <a:latin typeface="Aptos"/>
                          <a:ea typeface="Aptos"/>
                          <a:cs typeface="Aptos"/>
                        </a:rPr>
                        <a:t>1.8</a:t>
                      </a:r>
                    </a:p>
                  </a:txBody>
                  <a:tcPr marL="76200" marR="57150" marT="19050" marB="19050" anchor="ctr">
                    <a:solidFill>
                      <a:srgbClr val="FFFFFF"/>
                    </a:solidFill>
                  </a:tcPr>
                </a:tc>
                <a:extLst>
                  <a:ext uri="{0D108BD9-81ED-4DB2-BD59-A6C34878D82A}">
                    <a16:rowId xmlns:a16="http://schemas.microsoft.com/office/drawing/2014/main" val="10003"/>
                  </a:ext>
                </a:extLst>
              </a:tr>
            </a:tbl>
          </a:graphicData>
        </a:graphic>
      </p:graphicFrame>
      <p:sp>
        <p:nvSpPr>
          <p:cNvPr id="5" name="body">
            <a:extLst>
              <a:ext uri="{FF2B5EF4-FFF2-40B4-BE49-F238E27FC236}">
                <a16:creationId xmlns:a16="http://schemas.microsoft.com/office/drawing/2014/main" id="{F223F61D-2703-453D-9F36-BF218FD1AB23}"/>
              </a:ext>
            </a:extLst>
          </p:cNvPr>
          <p:cNvSpPr>
            <a:spLocks noGrp="1"/>
          </p:cNvSpPr>
          <p:nvPr/>
        </p:nvSpPr>
        <p:spPr>
          <a:xfrm>
            <a:off x="523875" y="5267325"/>
            <a:ext cx="11144250" cy="476250"/>
          </a:xfrm>
          <a:prstGeom prst="rect">
            <a:avLst/>
          </a:prstGeom>
          <a:noFill/>
          <a:ln w="0">
            <a:noFill/>
          </a:ln>
        </p:spPr>
        <p:txBody>
          <a:bodyPr wrap="square" lIns="0" tIns="0" rIns="0" bIns="0" anchor="t">
            <a:noAutofit/>
          </a:bodyPr>
          <a:lstStyle/>
          <a:p>
            <a:pPr marL="0" marR="0" indent="0">
              <a:defRPr sz="2325" b="1">
                <a:solidFill>
                  <a:srgbClr val="111111"/>
                </a:solidFill>
                <a:latin typeface="Aptos"/>
                <a:ea typeface="Aptos"/>
                <a:cs typeface="Aptos"/>
              </a:defRPr>
            </a:pPr>
            <a:r>
              <a:rPr sz="2325" b="1">
                <a:solidFill>
                  <a:srgbClr val="111111"/>
                </a:solidFill>
                <a:latin typeface="Aptos"/>
                <a:ea typeface="Aptos"/>
                <a:cs typeface="Aptos"/>
              </a:rPr>
              <a:t>Equal SDs can accompany different tail patterns.</a:t>
            </a:r>
          </a:p>
        </p:txBody>
      </p:sp>
      <p:sp>
        <p:nvSpPr>
          <p:cNvPr id="6" name="body">
            <a:extLst>
              <a:ext uri="{FF2B5EF4-FFF2-40B4-BE49-F238E27FC236}">
                <a16:creationId xmlns:a16="http://schemas.microsoft.com/office/drawing/2014/main" id="{45801869-2E73-4FE7-A81C-D56665544748}"/>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Kurtosis values are supplied here. We interpret them rather than calculate them.</a:t>
            </a:r>
          </a:p>
        </p:txBody>
      </p:sp>
      <p:sp>
        <p:nvSpPr>
          <p:cNvPr id="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B4 • WORKED ANSWERS</a:t>
            </a:r>
          </a:p>
        </p:txBody>
      </p:sp>
    </p:spTree>
    <p:extLst>
      <p:ext uri="{BB962C8B-B14F-4D97-AF65-F5344CB8AC3E}">
        <p14:creationId xmlns:p14="http://schemas.microsoft.com/office/powerpoint/2010/main" val="32813612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B5: independent exit check</a:t>
            </a:r>
          </a:p>
        </p:txBody>
      </p:sp>
      <p:sp>
        <p:nvSpPr>
          <p:cNvPr id="3" name="body">
            <a:extLst>
              <a:ext uri="{FF2B5EF4-FFF2-40B4-BE49-F238E27FC236}">
                <a16:creationId xmlns:a16="http://schemas.microsoft.com/office/drawing/2014/main" id="{B973B06F-AD1B-48B7-B884-4188926C0D54}"/>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A new random sample of ten customers gives these results.</a:t>
            </a:r>
          </a:p>
        </p:txBody>
      </p:sp>
      <p:pic>
        <p:nvPicPr>
          <p:cNvPr id="4" name="Picture 3"/>
          <p:cNvPicPr>
            <a:picLocks noChangeAspect="1"/>
          </p:cNvPicPr>
          <p:nvPr/>
        </p:nvPicPr>
        <p:blipFill>
          <a:blip r:embed="rId3"/>
          <a:stretch/>
        </p:blipFill>
        <p:spPr>
          <a:xfrm>
            <a:off x="758133" y="2819400"/>
            <a:ext cx="10675735" cy="790575"/>
          </a:xfrm>
          <a:prstGeom prst="rect">
            <a:avLst/>
          </a:prstGeom>
        </p:spPr>
      </p:pic>
      <p:sp>
        <p:nvSpPr>
          <p:cNvPr id="5" name="body">
            <a:extLst>
              <a:ext uri="{FF2B5EF4-FFF2-40B4-BE49-F238E27FC236}">
                <a16:creationId xmlns:a16="http://schemas.microsoft.com/office/drawing/2014/main" id="{9F126B78-DB42-4763-B1BB-6CBA9AE00582}"/>
              </a:ext>
            </a:extLst>
          </p:cNvPr>
          <p:cNvSpPr>
            <a:spLocks noGrp="1"/>
          </p:cNvSpPr>
          <p:nvPr/>
        </p:nvSpPr>
        <p:spPr>
          <a:xfrm>
            <a:off x="523875" y="4038600"/>
            <a:ext cx="11144250" cy="571500"/>
          </a:xfrm>
          <a:prstGeom prst="rect">
            <a:avLst/>
          </a:prstGeom>
          <a:noFill/>
          <a:ln w="0">
            <a:noFill/>
          </a:ln>
        </p:spPr>
        <p:txBody>
          <a:bodyPr wrap="square" lIns="0" tIns="0" rIns="0" bIns="0" anchor="t">
            <a:noAutofit/>
          </a:bodyPr>
          <a:lstStyle/>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1. Calculate variance and SD. Explain your divisor.</a:t>
            </a:r>
          </a:p>
        </p:txBody>
      </p:sp>
      <p:sp>
        <p:nvSpPr>
          <p:cNvPr id="6" name="body">
            <a:extLst>
              <a:ext uri="{FF2B5EF4-FFF2-40B4-BE49-F238E27FC236}">
                <a16:creationId xmlns:a16="http://schemas.microsoft.com/office/drawing/2014/main" id="{0EB693B0-3A1D-4FF8-967A-7578FEEA9D8A}"/>
              </a:ext>
            </a:extLst>
          </p:cNvPr>
          <p:cNvSpPr>
            <a:spLocks noGrp="1"/>
          </p:cNvSpPr>
          <p:nvPr/>
        </p:nvSpPr>
        <p:spPr>
          <a:xfrm>
            <a:off x="523875" y="4724400"/>
            <a:ext cx="11144250" cy="571500"/>
          </a:xfrm>
          <a:prstGeom prst="rect">
            <a:avLst/>
          </a:prstGeom>
          <a:noFill/>
          <a:ln w="0">
            <a:noFill/>
          </a:ln>
        </p:spPr>
        <p:txBody>
          <a:bodyPr wrap="square" lIns="0" tIns="0" rIns="0" bIns="0" anchor="t">
            <a:noAutofit/>
          </a:bodyPr>
          <a:lstStyle/>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2. Find the deviation of a 19-minute wait. Explain its sign.</a:t>
            </a:r>
          </a:p>
        </p:txBody>
      </p:sp>
      <p:sp>
        <p:nvSpPr>
          <p:cNvPr id="7" name="body">
            <a:extLst>
              <a:ext uri="{FF2B5EF4-FFF2-40B4-BE49-F238E27FC236}">
                <a16:creationId xmlns:a16="http://schemas.microsoft.com/office/drawing/2014/main" id="{CCB08ADA-A0C7-439F-825E-59F20946E6B9}"/>
              </a:ext>
            </a:extLst>
          </p:cNvPr>
          <p:cNvSpPr>
            <a:spLocks noGrp="1"/>
          </p:cNvSpPr>
          <p:nvPr/>
        </p:nvSpPr>
        <p:spPr>
          <a:xfrm>
            <a:off x="523875" y="5410200"/>
            <a:ext cx="11144250" cy="571500"/>
          </a:xfrm>
          <a:prstGeom prst="rect">
            <a:avLst/>
          </a:prstGeom>
          <a:noFill/>
          <a:ln w="0">
            <a:noFill/>
          </a:ln>
        </p:spPr>
        <p:txBody>
          <a:bodyPr wrap="square" lIns="0" tIns="0" rIns="0" bIns="0" anchor="t">
            <a:noAutofit/>
          </a:bodyPr>
          <a:lstStyle/>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3. Correct: “Every observation is exactly one SD</a:t>
            </a:r>
          </a:p>
          <a:p>
            <a:pPr marL="0" marR="0" indent="0">
              <a:defRPr sz="2175" b="1">
                <a:solidFill>
                  <a:srgbClr val="111111"/>
                </a:solidFill>
                <a:latin typeface="Aptos"/>
                <a:ea typeface="Aptos"/>
                <a:cs typeface="Aptos"/>
              </a:defRPr>
            </a:pPr>
            <a:r>
              <a:rPr sz="2175" b="1">
                <a:solidFill>
                  <a:srgbClr val="111111"/>
                </a:solidFill>
                <a:latin typeface="Aptos"/>
                <a:ea typeface="Aptos"/>
                <a:cs typeface="Aptos"/>
              </a:rPr>
              <a:t>    from the mean.”</a:t>
            </a:r>
          </a:p>
        </p:txBody>
      </p:sp>
      <p:sp>
        <p:nvSpPr>
          <p:cNvPr id="8"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B5 • INDEPENDENT CHECK</a:t>
            </a:r>
          </a:p>
        </p:txBody>
      </p:sp>
    </p:spTree>
    <p:extLst>
      <p:ext uri="{BB962C8B-B14F-4D97-AF65-F5344CB8AC3E}">
        <p14:creationId xmlns:p14="http://schemas.microsoft.com/office/powerpoint/2010/main" val="328136123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B5: check your understanding</a:t>
            </a:r>
          </a:p>
        </p:txBody>
      </p:sp>
      <p:sp>
        <p:nvSpPr>
          <p:cNvPr id="3" name="body">
            <a:extLst>
              <a:ext uri="{FF2B5EF4-FFF2-40B4-BE49-F238E27FC236}">
                <a16:creationId xmlns:a16="http://schemas.microsoft.com/office/drawing/2014/main" id="{639285E9-AF90-4E86-9EAE-745A140FB700}"/>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A sample estimates the larger group, so variance uses n − 1.</a:t>
            </a:r>
          </a:p>
        </p:txBody>
      </p:sp>
      <p:pic>
        <p:nvPicPr>
          <p:cNvPr id="4" name="Picture 3"/>
          <p:cNvPicPr>
            <a:picLocks noChangeAspect="1"/>
          </p:cNvPicPr>
          <p:nvPr/>
        </p:nvPicPr>
        <p:blipFill>
          <a:blip r:embed="rId3"/>
          <a:stretch/>
        </p:blipFill>
        <p:spPr>
          <a:xfrm>
            <a:off x="1043232" y="3009900"/>
            <a:ext cx="4438162" cy="838200"/>
          </a:xfrm>
          <a:prstGeom prst="rect">
            <a:avLst/>
          </a:prstGeom>
        </p:spPr>
      </p:pic>
      <p:pic>
        <p:nvPicPr>
          <p:cNvPr id="5" name="Picture 4"/>
          <p:cNvPicPr>
            <a:picLocks noChangeAspect="1"/>
          </p:cNvPicPr>
          <p:nvPr/>
        </p:nvPicPr>
        <p:blipFill>
          <a:blip r:embed="rId4"/>
          <a:stretch/>
        </p:blipFill>
        <p:spPr>
          <a:xfrm>
            <a:off x="6560684" y="3009900"/>
            <a:ext cx="4642757" cy="838200"/>
          </a:xfrm>
          <a:prstGeom prst="rect">
            <a:avLst/>
          </a:prstGeom>
        </p:spPr>
      </p:pic>
      <p:pic>
        <p:nvPicPr>
          <p:cNvPr id="6" name="Picture 5"/>
          <p:cNvPicPr>
            <a:picLocks noChangeAspect="1"/>
          </p:cNvPicPr>
          <p:nvPr/>
        </p:nvPicPr>
        <p:blipFill>
          <a:blip r:embed="rId5"/>
          <a:stretch/>
        </p:blipFill>
        <p:spPr>
          <a:xfrm>
            <a:off x="1142782" y="4343400"/>
            <a:ext cx="4239062" cy="628650"/>
          </a:xfrm>
          <a:prstGeom prst="rect">
            <a:avLst/>
          </a:prstGeom>
        </p:spPr>
      </p:pic>
      <p:sp>
        <p:nvSpPr>
          <p:cNvPr id="7" name="body">
            <a:extLst>
              <a:ext uri="{FF2B5EF4-FFF2-40B4-BE49-F238E27FC236}">
                <a16:creationId xmlns:a16="http://schemas.microsoft.com/office/drawing/2014/main" id="{3504125C-A4FD-49BD-82CA-381A6BD95B74}"/>
              </a:ext>
            </a:extLst>
          </p:cNvPr>
          <p:cNvSpPr>
            <a:spLocks noGrp="1"/>
          </p:cNvSpPr>
          <p:nvPr/>
        </p:nvSpPr>
        <p:spPr>
          <a:xfrm>
            <a:off x="6286500" y="4391025"/>
            <a:ext cx="5286375" cy="590550"/>
          </a:xfrm>
          <a:prstGeom prst="rect">
            <a:avLst/>
          </a:prstGeom>
          <a:noFill/>
          <a:ln w="0">
            <a:noFill/>
          </a:ln>
        </p:spPr>
        <p:txBody>
          <a:bodyPr wrap="square" lIns="0" tIns="0" rIns="0" bIns="0" anchor="t">
            <a:noAutofit/>
          </a:bodyPr>
          <a:lstStyle/>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5 minutes below the sample mean.</a:t>
            </a:r>
          </a:p>
        </p:txBody>
      </p:sp>
      <p:sp>
        <p:nvSpPr>
          <p:cNvPr id="8" name="body">
            <a:extLst>
              <a:ext uri="{FF2B5EF4-FFF2-40B4-BE49-F238E27FC236}">
                <a16:creationId xmlns:a16="http://schemas.microsoft.com/office/drawing/2014/main" id="{9E3DBAFA-5F52-4989-84F7-3D68109024CA}"/>
              </a:ext>
            </a:extLst>
          </p:cNvPr>
          <p:cNvSpPr>
            <a:spLocks noGrp="1"/>
          </p:cNvSpPr>
          <p:nvPr/>
        </p:nvSpPr>
        <p:spPr>
          <a:xfrm>
            <a:off x="523875" y="5562600"/>
            <a:ext cx="11144250" cy="609600"/>
          </a:xfrm>
          <a:prstGeom prst="rect">
            <a:avLst/>
          </a:prstGeom>
          <a:noFill/>
          <a:ln w="0">
            <a:noFill/>
          </a:ln>
        </p:spPr>
        <p:txBody>
          <a:bodyPr wrap="square" lIns="0" tIns="0" rIns="0" bIns="0" anchor="t">
            <a:noAutofit/>
          </a:bodyPr>
          <a:lstStyle/>
          <a:p>
            <a:pPr marL="0" marR="0" indent="0">
              <a:defRPr sz="2250" b="1">
                <a:solidFill>
                  <a:srgbClr val="111111"/>
                </a:solidFill>
                <a:latin typeface="Aptos"/>
                <a:ea typeface="Aptos"/>
                <a:cs typeface="Aptos"/>
              </a:defRPr>
            </a:pPr>
            <a:r>
              <a:rPr sz="2250" b="1">
                <a:solidFill>
                  <a:srgbClr val="111111"/>
                </a:solidFill>
                <a:latin typeface="Aptos"/>
                <a:ea typeface="Aptos"/>
                <a:cs typeface="Aptos"/>
              </a:rPr>
              <a:t>SD summarises the spread. Individual deviations can differ.</a:t>
            </a:r>
          </a:p>
        </p:txBody>
      </p:sp>
      <p:sp>
        <p:nvSpPr>
          <p:cNvPr id="9"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B5 • WORKED ANSWERS</a:t>
            </a:r>
          </a:p>
        </p:txBody>
      </p:sp>
    </p:spTree>
    <p:extLst>
      <p:ext uri="{BB962C8B-B14F-4D97-AF65-F5344CB8AC3E}">
        <p14:creationId xmlns:p14="http://schemas.microsoft.com/office/powerpoint/2010/main" val="32813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B6: work backwards</a:t>
            </a:r>
          </a:p>
        </p:txBody>
      </p:sp>
      <p:sp>
        <p:nvSpPr>
          <p:cNvPr id="3" name="body">
            <a:extLst>
              <a:ext uri="{FF2B5EF4-FFF2-40B4-BE49-F238E27FC236}">
                <a16:creationId xmlns:a16="http://schemas.microsoft.com/office/drawing/2014/main" id="{AEA0C180-8DD1-4DD8-B4BF-9C712CBB6C98}"/>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Six values have mean 7 and sample standard deviation 2.</a:t>
            </a:r>
          </a:p>
        </p:txBody>
      </p:sp>
      <p:sp>
        <p:nvSpPr>
          <p:cNvPr id="4" name="body">
            <a:extLst>
              <a:ext uri="{FF2B5EF4-FFF2-40B4-BE49-F238E27FC236}">
                <a16:creationId xmlns:a16="http://schemas.microsoft.com/office/drawing/2014/main" id="{683A5447-5E13-4686-AF1B-A283F24F62FA}"/>
              </a:ext>
            </a:extLst>
          </p:cNvPr>
          <p:cNvSpPr>
            <a:spLocks noGrp="1"/>
          </p:cNvSpPr>
          <p:nvPr/>
        </p:nvSpPr>
        <p:spPr>
          <a:xfrm>
            <a:off x="523875" y="2952750"/>
            <a:ext cx="11144250" cy="733425"/>
          </a:xfrm>
          <a:prstGeom prst="rect">
            <a:avLst/>
          </a:prstGeom>
          <a:noFill/>
          <a:ln w="0">
            <a:noFill/>
          </a:ln>
        </p:spPr>
        <p:txBody>
          <a:bodyPr wrap="square" lIns="0" tIns="0" rIns="0" bIns="0" anchor="t">
            <a:noAutofit/>
          </a:bodyPr>
          <a:lstStyle/>
          <a:p>
            <a:pPr marL="0" marR="0" indent="0">
              <a:defRPr sz="3300" b="1">
                <a:solidFill>
                  <a:srgbClr val="111111"/>
                </a:solidFill>
                <a:latin typeface="Aptos"/>
                <a:ea typeface="Aptos"/>
                <a:cs typeface="Aptos"/>
              </a:defRPr>
            </a:pPr>
            <a:r>
              <a:rPr sz="3300" b="1">
                <a:solidFill>
                  <a:srgbClr val="111111"/>
                </a:solidFill>
                <a:latin typeface="Aptos"/>
                <a:ea typeface="Aptos"/>
                <a:cs typeface="Aptos"/>
              </a:rPr>
              <a:t>6, 7, 7, 8, ?, ?</a:t>
            </a:r>
          </a:p>
        </p:txBody>
      </p:sp>
      <p:sp>
        <p:nvSpPr>
          <p:cNvPr id="5" name="body">
            <a:extLst>
              <a:ext uri="{FF2B5EF4-FFF2-40B4-BE49-F238E27FC236}">
                <a16:creationId xmlns:a16="http://schemas.microsoft.com/office/drawing/2014/main" id="{13E2518E-3F50-4D13-BAC6-56120AF4C31D}"/>
              </a:ext>
            </a:extLst>
          </p:cNvPr>
          <p:cNvSpPr>
            <a:spLocks noGrp="1"/>
          </p:cNvSpPr>
          <p:nvPr/>
        </p:nvSpPr>
        <p:spPr>
          <a:xfrm>
            <a:off x="523875" y="4181475"/>
            <a:ext cx="11144250" cy="1038225"/>
          </a:xfrm>
          <a:prstGeom prst="rect">
            <a:avLst/>
          </a:prstGeom>
          <a:noFill/>
          <a:ln w="0">
            <a:noFill/>
          </a:ln>
        </p:spPr>
        <p:txBody>
          <a:bodyPr wrap="square" lIns="0" tIns="0" rIns="0" bIns="0" anchor="t">
            <a:noAutofit/>
          </a:bodyPr>
          <a:lstStyle/>
          <a:p>
            <a:pPr marL="0" marR="0" indent="0">
              <a:defRPr sz="2550" b="1">
                <a:solidFill>
                  <a:srgbClr val="111111"/>
                </a:solidFill>
                <a:latin typeface="Aptos"/>
                <a:ea typeface="Aptos"/>
                <a:cs typeface="Aptos"/>
              </a:defRPr>
            </a:pPr>
            <a:r>
              <a:rPr sz="2550" b="1">
                <a:solidFill>
                  <a:srgbClr val="111111"/>
                </a:solidFill>
                <a:latin typeface="Aptos"/>
                <a:ea typeface="Aptos"/>
                <a:cs typeface="Aptos"/>
              </a:rPr>
              <a:t>Find the two missing values.</a:t>
            </a:r>
          </a:p>
          <a:p>
            <a:pPr marL="0" marR="0" indent="0">
              <a:defRPr sz="2550" b="1">
                <a:solidFill>
                  <a:srgbClr val="111111"/>
                </a:solidFill>
                <a:latin typeface="Aptos"/>
                <a:ea typeface="Aptos"/>
                <a:cs typeface="Aptos"/>
              </a:defRPr>
            </a:pPr>
            <a:r>
              <a:rPr sz="2550" b="1">
                <a:solidFill>
                  <a:srgbClr val="111111"/>
                </a:solidFill>
                <a:latin typeface="Aptos"/>
                <a:ea typeface="Aptos"/>
                <a:cs typeface="Aptos"/>
              </a:rPr>
              <a:t>Use both the mean and the standard deviation.</a:t>
            </a:r>
          </a:p>
        </p:txBody>
      </p:sp>
      <p:sp>
        <p:nvSpPr>
          <p:cNvPr id="6" name="body">
            <a:extLst>
              <a:ext uri="{FF2B5EF4-FFF2-40B4-BE49-F238E27FC236}">
                <a16:creationId xmlns:a16="http://schemas.microsoft.com/office/drawing/2014/main" id="{AACFF3AC-82DE-40D0-9E08-98A8BE9F393C}"/>
              </a:ext>
            </a:extLst>
          </p:cNvPr>
          <p:cNvSpPr>
            <a:spLocks noGrp="1"/>
          </p:cNvSpPr>
          <p:nvPr/>
        </p:nvSpPr>
        <p:spPr>
          <a:xfrm>
            <a:off x="523875" y="6000750"/>
            <a:ext cx="11144250" cy="304800"/>
          </a:xfrm>
          <a:prstGeom prst="rect">
            <a:avLst/>
          </a:prstGeom>
          <a:noFill/>
          <a:ln w="0">
            <a:noFill/>
          </a:ln>
        </p:spPr>
        <p:txBody>
          <a:bodyPr wrap="square" lIns="0" tIns="0" rIns="0" bIns="0" anchor="t">
            <a:noAutofit/>
          </a:bodyPr>
          <a:lstStyle/>
          <a:p>
            <a:pPr marL="0" marR="0" indent="0">
              <a:defRPr sz="1650" b="0">
                <a:solidFill>
                  <a:srgbClr val="111111"/>
                </a:solidFill>
                <a:latin typeface="Aptos"/>
                <a:ea typeface="Aptos"/>
                <a:cs typeface="Aptos"/>
              </a:defRPr>
            </a:pPr>
            <a:r>
              <a:rPr sz="1650" b="0">
                <a:solidFill>
                  <a:srgbClr val="111111"/>
                </a:solidFill>
                <a:latin typeface="Aptos"/>
                <a:ea typeface="Aptos"/>
                <a:cs typeface="Aptos"/>
              </a:rPr>
              <a:t>Hint: the mean fixes the total. The SD fixes the squared-deviation total.</a:t>
            </a:r>
          </a:p>
        </p:txBody>
      </p:sp>
      <p:sp>
        <p:nvSpPr>
          <p:cNvPr id="7"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B6 • OPTIONAL CHALLENGE</a:t>
            </a:r>
          </a:p>
        </p:txBody>
      </p:sp>
    </p:spTree>
    <p:extLst>
      <p:ext uri="{BB962C8B-B14F-4D97-AF65-F5344CB8AC3E}">
        <p14:creationId xmlns:p14="http://schemas.microsoft.com/office/powerpoint/2010/main" val="32813612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A9D60-7B61-25EC-BCD0-72CCE5A58E92}"/>
              </a:ext>
            </a:extLst>
          </p:cNvPr>
          <p:cNvSpPr>
            <a:spLocks noGrp="1"/>
          </p:cNvSpPr>
          <p:nvPr>
            <p:ph type="title"/>
          </p:nvPr>
        </p:nvSpPr>
        <p:spPr>
          <a:xfrm>
            <a:off x="430816" y="1023080"/>
            <a:ext cx="11293412" cy="794385"/>
          </a:xfrm>
        </p:spPr>
        <p:txBody>
          <a:bodyPr wrap="square" lIns="0" tIns="0" rIns="0" bIns="0" anchor="t">
            <a:noAutofit/>
          </a:bodyPr>
          <a:lstStyle/>
          <a:p>
            <a:pPr marL="0" marR="0" indent="0" algn="l">
              <a:buNone/>
              <a:defRPr sz="4400" b="0">
                <a:solidFill>
                  <a:srgbClr val="111111"/>
                </a:solidFill>
                <a:latin typeface="Aptos Display"/>
                <a:ea typeface="Aptos Display"/>
                <a:cs typeface="Aptos Display"/>
              </a:defRPr>
            </a:pPr>
            <a:r>
              <a:rPr sz="4400" b="0">
                <a:solidFill>
                  <a:srgbClr val="111111"/>
                </a:solidFill>
                <a:latin typeface="Aptos Display"/>
                <a:ea typeface="Aptos Display"/>
                <a:cs typeface="Aptos Display"/>
              </a:rPr>
              <a:t>B6: the missing values</a:t>
            </a:r>
          </a:p>
        </p:txBody>
      </p:sp>
      <p:sp>
        <p:nvSpPr>
          <p:cNvPr id="3" name="body">
            <a:extLst>
              <a:ext uri="{FF2B5EF4-FFF2-40B4-BE49-F238E27FC236}">
                <a16:creationId xmlns:a16="http://schemas.microsoft.com/office/drawing/2014/main" id="{8A07C463-7112-4313-B4B9-D57D2D36B1DA}"/>
              </a:ext>
            </a:extLst>
          </p:cNvPr>
          <p:cNvSpPr>
            <a:spLocks noGrp="1"/>
          </p:cNvSpPr>
          <p:nvPr/>
        </p:nvSpPr>
        <p:spPr>
          <a:xfrm>
            <a:off x="428625" y="1981200"/>
            <a:ext cx="11239500" cy="628650"/>
          </a:xfrm>
          <a:prstGeom prst="rect">
            <a:avLst/>
          </a:prstGeom>
          <a:noFill/>
          <a:ln w="0">
            <a:noFill/>
          </a:ln>
        </p:spPr>
        <p:txBody>
          <a:bodyPr wrap="square" lIns="0" tIns="0" rIns="0" bIns="0" anchor="t">
            <a:noAutofit/>
          </a:bodyPr>
          <a:lstStyle/>
          <a:p>
            <a:pPr marL="0" marR="0" indent="0">
              <a:defRPr sz="2325" b="0">
                <a:solidFill>
                  <a:srgbClr val="111111"/>
                </a:solidFill>
                <a:latin typeface="Aptos"/>
                <a:ea typeface="Aptos"/>
                <a:cs typeface="Aptos"/>
              </a:defRPr>
            </a:pPr>
            <a:r>
              <a:rPr sz="2325" b="0">
                <a:solidFill>
                  <a:srgbClr val="111111"/>
                </a:solidFill>
                <a:latin typeface="Aptos"/>
                <a:ea typeface="Aptos"/>
                <a:cs typeface="Aptos"/>
              </a:rPr>
              <a:t>The mean fixes the total. The SD fixes the squared spread.</a:t>
            </a:r>
          </a:p>
        </p:txBody>
      </p:sp>
      <p:pic>
        <p:nvPicPr>
          <p:cNvPr id="4" name="Picture 3"/>
          <p:cNvPicPr>
            <a:picLocks noChangeAspect="1"/>
          </p:cNvPicPr>
          <p:nvPr/>
        </p:nvPicPr>
        <p:blipFill>
          <a:blip r:embed="rId3"/>
          <a:stretch/>
        </p:blipFill>
        <p:spPr>
          <a:xfrm>
            <a:off x="2388547" y="2667000"/>
            <a:ext cx="7414907" cy="504825"/>
          </a:xfrm>
          <a:prstGeom prst="rect">
            <a:avLst/>
          </a:prstGeom>
        </p:spPr>
      </p:pic>
      <p:sp>
        <p:nvSpPr>
          <p:cNvPr id="5" name="body">
            <a:extLst>
              <a:ext uri="{FF2B5EF4-FFF2-40B4-BE49-F238E27FC236}">
                <a16:creationId xmlns:a16="http://schemas.microsoft.com/office/drawing/2014/main" id="{3155D9E2-C092-42D0-A677-8FF6083DA60E}"/>
              </a:ext>
            </a:extLst>
          </p:cNvPr>
          <p:cNvSpPr>
            <a:spLocks noGrp="1"/>
          </p:cNvSpPr>
          <p:nvPr/>
        </p:nvSpPr>
        <p:spPr>
          <a:xfrm>
            <a:off x="523875" y="3343275"/>
            <a:ext cx="11144250" cy="457200"/>
          </a:xfrm>
          <a:prstGeom prst="rect">
            <a:avLst/>
          </a:prstGeom>
          <a:noFill/>
          <a:ln w="0">
            <a:noFill/>
          </a:ln>
        </p:spPr>
        <p:txBody>
          <a:bodyPr wrap="square" lIns="0" tIns="0" rIns="0" bIns="0" anchor="t">
            <a:noAutofit/>
          </a:bodyPr>
          <a:lstStyle/>
          <a:p>
            <a:pPr marL="0" marR="0" indent="0">
              <a:defRPr sz="2175" b="0">
                <a:solidFill>
                  <a:srgbClr val="111111"/>
                </a:solidFill>
                <a:latin typeface="Aptos"/>
                <a:ea typeface="Aptos"/>
                <a:cs typeface="Aptos"/>
              </a:defRPr>
            </a:pPr>
            <a:r>
              <a:rPr sz="2175" b="0">
                <a:solidFill>
                  <a:srgbClr val="111111"/>
                </a:solidFill>
                <a:latin typeface="Aptos"/>
                <a:ea typeface="Aptos"/>
                <a:cs typeface="Aptos"/>
              </a:rPr>
              <a:t>Missing values total 14: write them as 7 − d and 7 + d.</a:t>
            </a:r>
          </a:p>
        </p:txBody>
      </p:sp>
      <p:sp>
        <p:nvSpPr>
          <p:cNvPr id="6" name="body">
            <a:extLst>
              <a:ext uri="{FF2B5EF4-FFF2-40B4-BE49-F238E27FC236}">
                <a16:creationId xmlns:a16="http://schemas.microsoft.com/office/drawing/2014/main" id="{8108D977-4C93-464D-BC40-A2EE91F18EC1}"/>
              </a:ext>
            </a:extLst>
          </p:cNvPr>
          <p:cNvSpPr>
            <a:spLocks noGrp="1"/>
          </p:cNvSpPr>
          <p:nvPr/>
        </p:nvSpPr>
        <p:spPr>
          <a:xfrm>
            <a:off x="523875" y="3743325"/>
            <a:ext cx="11144250" cy="428625"/>
          </a:xfrm>
          <a:prstGeom prst="rect">
            <a:avLst/>
          </a:prstGeom>
          <a:noFill/>
          <a:ln w="0">
            <a:noFill/>
          </a:ln>
        </p:spPr>
        <p:txBody>
          <a:bodyPr wrap="square" lIns="0" tIns="0" rIns="0" bIns="0" anchor="t">
            <a:noAutofit/>
          </a:bodyPr>
          <a:lstStyle/>
          <a:p>
            <a:pPr marL="0" marR="0" indent="0">
              <a:defRPr sz="2025" b="0">
                <a:solidFill>
                  <a:srgbClr val="111111"/>
                </a:solidFill>
                <a:latin typeface="Aptos"/>
                <a:ea typeface="Aptos"/>
                <a:cs typeface="Aptos"/>
              </a:defRPr>
            </a:pPr>
            <a:r>
              <a:rPr sz="2025" b="0">
                <a:solidFill>
                  <a:srgbClr val="111111"/>
                </a:solidFill>
                <a:latin typeface="Aptos"/>
                <a:ea typeface="Aptos"/>
                <a:cs typeface="Aptos"/>
              </a:rPr>
              <a:t>Here, d is the distance of each missing value from the mean of 7.</a:t>
            </a:r>
          </a:p>
        </p:txBody>
      </p:sp>
      <p:pic>
        <p:nvPicPr>
          <p:cNvPr id="7" name="Picture 6"/>
          <p:cNvPicPr>
            <a:picLocks noChangeAspect="1"/>
          </p:cNvPicPr>
          <p:nvPr/>
        </p:nvPicPr>
        <p:blipFill>
          <a:blip r:embed="rId4"/>
          <a:stretch/>
        </p:blipFill>
        <p:spPr>
          <a:xfrm>
            <a:off x="1076683" y="4324350"/>
            <a:ext cx="5752384" cy="628650"/>
          </a:xfrm>
          <a:prstGeom prst="rect">
            <a:avLst/>
          </a:prstGeom>
        </p:spPr>
      </p:pic>
      <p:pic>
        <p:nvPicPr>
          <p:cNvPr id="8" name="Picture 7"/>
          <p:cNvPicPr>
            <a:picLocks noChangeAspect="1"/>
          </p:cNvPicPr>
          <p:nvPr/>
        </p:nvPicPr>
        <p:blipFill>
          <a:blip r:embed="rId5"/>
          <a:stretch/>
        </p:blipFill>
        <p:spPr>
          <a:xfrm>
            <a:off x="7762875" y="4401605"/>
            <a:ext cx="3857625" cy="483666"/>
          </a:xfrm>
          <a:prstGeom prst="rect">
            <a:avLst/>
          </a:prstGeom>
        </p:spPr>
      </p:pic>
      <p:pic>
        <p:nvPicPr>
          <p:cNvPr id="9" name="Picture 8"/>
          <p:cNvPicPr>
            <a:picLocks noChangeAspect="1"/>
          </p:cNvPicPr>
          <p:nvPr/>
        </p:nvPicPr>
        <p:blipFill>
          <a:blip r:embed="rId6"/>
          <a:stretch/>
        </p:blipFill>
        <p:spPr>
          <a:xfrm>
            <a:off x="3638153" y="5114925"/>
            <a:ext cx="4915694" cy="523875"/>
          </a:xfrm>
          <a:prstGeom prst="rect">
            <a:avLst/>
          </a:prstGeom>
        </p:spPr>
      </p:pic>
      <p:pic>
        <p:nvPicPr>
          <p:cNvPr id="10" name="Picture 9"/>
          <p:cNvPicPr>
            <a:picLocks noChangeAspect="1"/>
          </p:cNvPicPr>
          <p:nvPr/>
        </p:nvPicPr>
        <p:blipFill>
          <a:blip r:embed="rId7"/>
          <a:stretch/>
        </p:blipFill>
        <p:spPr>
          <a:xfrm>
            <a:off x="3968167" y="5800725"/>
            <a:ext cx="4255665" cy="476250"/>
          </a:xfrm>
          <a:prstGeom prst="rect">
            <a:avLst/>
          </a:prstGeom>
        </p:spPr>
      </p:pic>
      <p:sp>
        <p:nvSpPr>
          <p:cNvPr id="11" name="Handout-REVISION">
            <a:extLst>
              <a:ext uri="{FF2B5EF4-FFF2-40B4-BE49-F238E27FC236}">
                <a16:creationId xmlns:a16="http://schemas.microsoft.com/office/drawing/2014/main" id="{70094F24-BB66-4E46-B9C2-29905C5A7540}"/>
              </a:ext>
            </a:extLst>
          </p:cNvPr>
          <p:cNvSpPr>
            <a:spLocks noGrp="1"/>
          </p:cNvSpPr>
          <p:nvPr/>
        </p:nvSpPr>
        <p:spPr>
          <a:xfrm>
            <a:off x="7858125" y="476250"/>
            <a:ext cx="3857625" cy="400050"/>
          </a:xfrm>
          <a:prstGeom prst="rect">
            <a:avLst/>
          </a:prstGeom>
          <a:solidFill>
            <a:srgbClr val="D6171D"/>
          </a:solidFill>
          <a:ln w="0">
            <a:noFill/>
          </a:ln>
        </p:spPr>
        <p:txBody>
          <a:bodyPr wrap="square" lIns="0" tIns="0" rIns="0" bIns="0" anchor="ctr">
            <a:noAutofit/>
          </a:bodyPr>
          <a:lstStyle/>
          <a:p>
            <a:pPr marL="0" marR="0" indent="0" algn="ctr">
              <a:buNone/>
              <a:defRPr sz="1500" b="1">
                <a:solidFill>
                  <a:srgbClr val="FFFFFF"/>
                </a:solidFill>
                <a:latin typeface="Aptos"/>
                <a:ea typeface="Aptos"/>
                <a:cs typeface="Aptos"/>
              </a:defRPr>
            </a:pPr>
            <a:r>
              <a:rPr sz="1500" b="1">
                <a:solidFill>
                  <a:srgbClr val="FFFFFF"/>
                </a:solidFill>
                <a:latin typeface="Aptos"/>
                <a:ea typeface="Aptos"/>
                <a:cs typeface="Aptos"/>
              </a:rPr>
              <a:t>B6 • WORKED ANSWERS</a:t>
            </a:r>
          </a:p>
        </p:txBody>
      </p:sp>
    </p:spTree>
    <p:extLst>
      <p:ext uri="{BB962C8B-B14F-4D97-AF65-F5344CB8AC3E}">
        <p14:creationId xmlns:p14="http://schemas.microsoft.com/office/powerpoint/2010/main" val="3281361232"/>
      </p:ext>
    </p:extLst>
  </p:cSld>
  <p:clrMapOvr>
    <a:masterClrMapping/>
  </p:clrMapOvr>
</p:sld>
</file>

<file path=ppt/theme/theme1.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Bellerbys">
      <a:dk1>
        <a:srgbClr val="000000"/>
      </a:dk1>
      <a:lt1>
        <a:srgbClr val="FFFFFF"/>
      </a:lt1>
      <a:dk2>
        <a:srgbClr val="0E2841"/>
      </a:dk2>
      <a:lt2>
        <a:srgbClr val="E8E8E8"/>
      </a:lt2>
      <a:accent1>
        <a:srgbClr val="D6171D"/>
      </a:accent1>
      <a:accent2>
        <a:srgbClr val="3F3E3A"/>
      </a:accent2>
      <a:accent3>
        <a:srgbClr val="BA3793"/>
      </a:accent3>
      <a:accent4>
        <a:srgbClr val="ADD8FF"/>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ellerby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667</TotalTime>
  <Words>8253</Words>
  <Application>Microsoft Macintosh PowerPoint</Application>
  <DocSecurity>0</DocSecurity>
  <PresentationFormat>Widescreen</PresentationFormat>
  <Paragraphs>629</Paragraphs>
  <Slides>46</Slides>
  <Notes>46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Aptos</vt:lpstr>
      <vt:lpstr>Aptos Display</vt:lpstr>
      <vt:lpstr>Arial</vt:lpstr>
      <vt:lpstr>Office Theme</vt:lpstr>
      <vt:lpstr>IFY Statistics Week 3 • Class B  Understanding variation</vt:lpstr>
      <vt:lpstr>Today’s route</vt:lpstr>
      <vt:lpstr>Revision: one complete shift</vt:lpstr>
      <vt:lpstr>Revision: check your answers</vt:lpstr>
      <vt:lpstr>Section 1: Deviation</vt:lpstr>
      <vt:lpstr>Same mean, same range</vt:lpstr>
      <vt:lpstr>Above or below the mean?</vt:lpstr>
      <vt:lpstr>Deviation: one value and the mean</vt:lpstr>
      <vt:lpstr>B1a: complete the deviations</vt:lpstr>
      <vt:lpstr>B1a: why does the total equal zero?</vt:lpstr>
      <vt:lpstr>Section 2: Variance and standard deviation</vt:lpstr>
      <vt:lpstr>Squared deviation</vt:lpstr>
      <vt:lpstr>B1a: add the squared deviations</vt:lpstr>
      <vt:lpstr>Population variance</vt:lpstr>
      <vt:lpstr>Standard deviation: back to minutes</vt:lpstr>
      <vt:lpstr>Mean and SD answer different questions</vt:lpstr>
      <vt:lpstr>Deviation and standard deviation</vt:lpstr>
      <vt:lpstr>B1b: another complete shift</vt:lpstr>
      <vt:lpstr>B1b: calculation and interpretation</vt:lpstr>
      <vt:lpstr>Section 3: Population and sample</vt:lpstr>
      <vt:lpstr>Population, sample and estimate</vt:lpstr>
      <vt:lpstr>Population mean and sample mean</vt:lpstr>
      <vt:lpstr>Sample variance and standard deviation</vt:lpstr>
      <vt:lpstr>Why a sample needs an adjustment</vt:lpstr>
      <vt:lpstr>Why exactly one less?</vt:lpstr>
      <vt:lpstr>Population and sample: compare</vt:lpstr>
      <vt:lpstr>B2a: guided sample calculation</vt:lpstr>
      <vt:lpstr>B2a: check the sample calculation</vt:lpstr>
      <vt:lpstr>B2b: independent sample calculation</vt:lpstr>
      <vt:lpstr>B2b: full working and answers</vt:lpstr>
      <vt:lpstr>Section 4: Coefficient of variation</vt:lpstr>
      <vt:lpstr>Absolute and relative variation</vt:lpstr>
      <vt:lpstr>Coefficient of variation (CV)</vt:lpstr>
      <vt:lpstr>B3a: calculate relative spread</vt:lpstr>
      <vt:lpstr>B3a: check the percentage</vt:lpstr>
      <vt:lpstr>B3b: compare the bottle fills</vt:lpstr>
      <vt:lpstr>B3b: absolute and relative answers</vt:lpstr>
      <vt:lpstr>Section 5: Kurtosis and tail patterns</vt:lpstr>
      <vt:lpstr>Tails and the normal reference</vt:lpstr>
      <vt:lpstr>Kurtosis: extreme values and tails</vt:lpstr>
      <vt:lpstr>B4: interpret the tail patterns</vt:lpstr>
      <vt:lpstr>B4: equal SDs, different tails</vt:lpstr>
      <vt:lpstr>B5: independent exit check</vt:lpstr>
      <vt:lpstr>B5: check your understanding</vt:lpstr>
      <vt:lpstr>B6: work backwards</vt:lpstr>
      <vt:lpstr>B6: the missing values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Jacob Mlynarski</cp:lastModifiedBy>
  <cp:revision>1</cp:revision>
  <dcterms:created xsi:type="dcterms:W3CDTF">2026-09-08T14:12:29Z</dcterms:created>
  <dcterms:modified xsi:type="dcterms:W3CDTF">2026-09-28T01:03:07Z</dcterms:modified>
</cp:coreProperties>
</file>