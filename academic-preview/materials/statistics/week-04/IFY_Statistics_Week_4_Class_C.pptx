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50ed786bad134092" /><Relationship Type="http://schemas.openxmlformats.org/officeDocument/2006/relationships/extended-properties" Target="/docProps/app.xml" Id="R689f274a8d3846c2" /><Relationship Type="http://schemas.openxmlformats.org/officeDocument/2006/relationships/officeDocument" Target="/ppt/presentation.xml" Id="R03c06174ce1e43af" /></Relationships>
</file>

<file path=ppt/presentation.xml><?xml version="1.0" encoding="utf-8"?>
<p:presentation xmlns:p="http://schemas.openxmlformats.org/presentationml/2006/main">
  <p:sldMasterIdLst>
    <p:sldMasterId xmlns:r="http://schemas.openxmlformats.org/officeDocument/2006/relationships" id="2147483648" r:id="Ra7accfde55504f35"/>
  </p:sldMasterIdLst>
  <p:notesMasterIdLst>
    <p:notesMasterId xmlns:r="http://schemas.openxmlformats.org/officeDocument/2006/relationships" r:id="Re1a007a5ce0248a5"/>
  </p:notesMasterIdLst>
  <p:sldIdLst>
    <p:sldId xmlns:r="http://schemas.openxmlformats.org/officeDocument/2006/relationships" id="256" r:id="Rf54874e6df294dab"/>
    <p:sldId xmlns:r="http://schemas.openxmlformats.org/officeDocument/2006/relationships" id="257" r:id="R7de004ca1ce54ebd"/>
    <p:sldId xmlns:r="http://schemas.openxmlformats.org/officeDocument/2006/relationships" id="258" r:id="R0f5c7624e9774b67"/>
    <p:sldId xmlns:r="http://schemas.openxmlformats.org/officeDocument/2006/relationships" id="259" r:id="Rb6f05b23ff924390"/>
    <p:sldId xmlns:r="http://schemas.openxmlformats.org/officeDocument/2006/relationships" id="260" r:id="R5958b5b20f614380"/>
    <p:sldId xmlns:r="http://schemas.openxmlformats.org/officeDocument/2006/relationships" id="261" r:id="Re249d69c3b404fa3"/>
    <p:sldId xmlns:r="http://schemas.openxmlformats.org/officeDocument/2006/relationships" id="262" r:id="Rb2b9f9bd80db4bb2"/>
    <p:sldId xmlns:r="http://schemas.openxmlformats.org/officeDocument/2006/relationships" id="263" r:id="Rc656c9b802aa4641"/>
    <p:sldId xmlns:r="http://schemas.openxmlformats.org/officeDocument/2006/relationships" id="264" r:id="R7441b4d2878d436c"/>
    <p:sldId xmlns:r="http://schemas.openxmlformats.org/officeDocument/2006/relationships" id="265" r:id="Rfeb31254047c4304"/>
    <p:sldId xmlns:r="http://schemas.openxmlformats.org/officeDocument/2006/relationships" id="266" r:id="R9bf434e0005d4cc7"/>
    <p:sldId xmlns:r="http://schemas.openxmlformats.org/officeDocument/2006/relationships" id="267" r:id="R180556dc4e344726"/>
    <p:sldId xmlns:r="http://schemas.openxmlformats.org/officeDocument/2006/relationships" id="268" r:id="R7340a3bd6c0d4a05"/>
    <p:sldId xmlns:r="http://schemas.openxmlformats.org/officeDocument/2006/relationships" id="269" r:id="R35e425d92d1a4e79"/>
    <p:sldId xmlns:r="http://schemas.openxmlformats.org/officeDocument/2006/relationships" id="270" r:id="R34b4781a15e84db9"/>
    <p:sldId xmlns:r="http://schemas.openxmlformats.org/officeDocument/2006/relationships" id="271" r:id="R88af0cda59f34e73"/>
    <p:sldId xmlns:r="http://schemas.openxmlformats.org/officeDocument/2006/relationships" id="272" r:id="R5235433849ac4f0c"/>
    <p:sldId xmlns:r="http://schemas.openxmlformats.org/officeDocument/2006/relationships" id="273" r:id="R719bb6ab44644cda"/>
    <p:sldId xmlns:r="http://schemas.openxmlformats.org/officeDocument/2006/relationships" id="274" r:id="R2bd330be88d44628"/>
    <p:sldId xmlns:r="http://schemas.openxmlformats.org/officeDocument/2006/relationships" id="275" r:id="R6f4c10b2cc7941d6"/>
    <p:sldId xmlns:r="http://schemas.openxmlformats.org/officeDocument/2006/relationships" id="276" r:id="Rf8b220e03da64f54"/>
    <p:sldId xmlns:r="http://schemas.openxmlformats.org/officeDocument/2006/relationships" id="277" r:id="R9c118be333a24a73"/>
    <p:sldId xmlns:r="http://schemas.openxmlformats.org/officeDocument/2006/relationships" id="278" r:id="Re5933c272b8049ab"/>
    <p:sldId xmlns:r="http://schemas.openxmlformats.org/officeDocument/2006/relationships" id="279" r:id="R330683efafee4971"/>
    <p:sldId xmlns:r="http://schemas.openxmlformats.org/officeDocument/2006/relationships" id="280" r:id="R94806d77b2344bdc"/>
    <p:sldId xmlns:r="http://schemas.openxmlformats.org/officeDocument/2006/relationships" id="281" r:id="Ree6d629bc1444605"/>
    <p:sldId xmlns:r="http://schemas.openxmlformats.org/officeDocument/2006/relationships" id="282" r:id="R6799d4ed1a9c400c"/>
    <p:sldId xmlns:r="http://schemas.openxmlformats.org/officeDocument/2006/relationships" id="283" r:id="R6b054d7a0a6040b2"/>
    <p:sldId xmlns:r="http://schemas.openxmlformats.org/officeDocument/2006/relationships" id="284" r:id="R71baaa30241640c3"/>
    <p:sldId xmlns:r="http://schemas.openxmlformats.org/officeDocument/2006/relationships" id="285" r:id="R1c1c15e31a3a4f32"/>
    <p:sldId xmlns:r="http://schemas.openxmlformats.org/officeDocument/2006/relationships" id="286" r:id="Rba4334ac53f44c92"/>
    <p:sldId xmlns:r="http://schemas.openxmlformats.org/officeDocument/2006/relationships" id="287" r:id="R851d42c6f0ec4f90"/>
    <p:sldId xmlns:r="http://schemas.openxmlformats.org/officeDocument/2006/relationships" id="288" r:id="Rac5d22593185435c"/>
    <p:sldId xmlns:r="http://schemas.openxmlformats.org/officeDocument/2006/relationships" id="289" r:id="Rfbba93a69b3e4a73"/>
    <p:sldId xmlns:r="http://schemas.openxmlformats.org/officeDocument/2006/relationships" id="290" r:id="R76b3be5b950a42ed"/>
    <p:sldId xmlns:r="http://schemas.openxmlformats.org/officeDocument/2006/relationships" id="291" r:id="R74c2cc13fa994058"/>
    <p:sldId xmlns:r="http://schemas.openxmlformats.org/officeDocument/2006/relationships" id="292" r:id="R25d3205d4ea94de3"/>
    <p:sldId xmlns:r="http://schemas.openxmlformats.org/officeDocument/2006/relationships" id="293" r:id="R73c98181fe654a90"/>
    <p:sldId xmlns:r="http://schemas.openxmlformats.org/officeDocument/2006/relationships" id="294" r:id="R99c37df5cd054e48"/>
    <p:sldId xmlns:r="http://schemas.openxmlformats.org/officeDocument/2006/relationships" id="295" r:id="Re1c02f74553a400a"/>
    <p:sldId xmlns:r="http://schemas.openxmlformats.org/officeDocument/2006/relationships" id="296" r:id="Rf9b9d4bfa492436d"/>
    <p:sldId xmlns:r="http://schemas.openxmlformats.org/officeDocument/2006/relationships" id="297" r:id="Rbae22baed1714992"/>
    <p:sldId xmlns:r="http://schemas.openxmlformats.org/officeDocument/2006/relationships" id="298" r:id="R1ccb7b2558644952"/>
    <p:sldId xmlns:r="http://schemas.openxmlformats.org/officeDocument/2006/relationships" id="299" r:id="Rcec15838164e472b"/>
    <p:sldId xmlns:r="http://schemas.openxmlformats.org/officeDocument/2006/relationships" id="300" r:id="R2da90102eca646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9e3f670485a4b83" /><Relationship Type="http://schemas.openxmlformats.org/officeDocument/2006/relationships/slideMaster" Target="/ppt/slideMasters/slideMaster1.xml" Id="Ra7accfde55504f35" /><Relationship Type="http://schemas.openxmlformats.org/officeDocument/2006/relationships/notesMaster" Target="/ppt/notesMasters/notesMaster1.xml" Id="Re1a007a5ce0248a5" /><Relationship Type="http://schemas.openxmlformats.org/officeDocument/2006/relationships/presProps" Target="/ppt/presProps.xml" Id="R81b726b8ab3541b1" /><Relationship Type="http://schemas.openxmlformats.org/officeDocument/2006/relationships/viewProps" Target="/ppt/viewProps.xml" Id="R416ba3d711404be6" /><Relationship Type="http://schemas.openxmlformats.org/officeDocument/2006/relationships/tableStyles" Target="/ppt/tableStyles.xml" Id="R29a0a9f1e0744b5e" /><Relationship Type="http://schemas.openxmlformats.org/officeDocument/2006/relationships/slide" Target="/ppt/slides/slide1.xml" Id="Rf54874e6df294dab" /><Relationship Type="http://schemas.openxmlformats.org/officeDocument/2006/relationships/slide" Target="/ppt/slides/slide2.xml" Id="R7de004ca1ce54ebd" /><Relationship Type="http://schemas.openxmlformats.org/officeDocument/2006/relationships/slide" Target="/ppt/slides/slide3.xml" Id="R0f5c7624e9774b67" /><Relationship Type="http://schemas.openxmlformats.org/officeDocument/2006/relationships/slide" Target="/ppt/slides/slide4.xml" Id="Rb6f05b23ff924390" /><Relationship Type="http://schemas.openxmlformats.org/officeDocument/2006/relationships/slide" Target="/ppt/slides/slide5.xml" Id="R5958b5b20f614380" /><Relationship Type="http://schemas.openxmlformats.org/officeDocument/2006/relationships/slide" Target="/ppt/slides/slide6.xml" Id="Re249d69c3b404fa3" /><Relationship Type="http://schemas.openxmlformats.org/officeDocument/2006/relationships/slide" Target="/ppt/slides/slide7.xml" Id="Rb2b9f9bd80db4bb2" /><Relationship Type="http://schemas.openxmlformats.org/officeDocument/2006/relationships/slide" Target="/ppt/slides/slide8.xml" Id="Rc656c9b802aa4641" /><Relationship Type="http://schemas.openxmlformats.org/officeDocument/2006/relationships/slide" Target="/ppt/slides/slide9.xml" Id="R7441b4d2878d436c" /><Relationship Type="http://schemas.openxmlformats.org/officeDocument/2006/relationships/slide" Target="/ppt/slides/slide10.xml" Id="Rfeb31254047c4304" /><Relationship Type="http://schemas.openxmlformats.org/officeDocument/2006/relationships/slide" Target="/ppt/slides/slide11.xml" Id="R9bf434e0005d4cc7" /><Relationship Type="http://schemas.openxmlformats.org/officeDocument/2006/relationships/slide" Target="/ppt/slides/slide12.xml" Id="R180556dc4e344726" /><Relationship Type="http://schemas.openxmlformats.org/officeDocument/2006/relationships/slide" Target="/ppt/slides/slide13.xml" Id="R7340a3bd6c0d4a05" /><Relationship Type="http://schemas.openxmlformats.org/officeDocument/2006/relationships/slide" Target="/ppt/slides/slide14.xml" Id="R35e425d92d1a4e79" /><Relationship Type="http://schemas.openxmlformats.org/officeDocument/2006/relationships/slide" Target="/ppt/slides/slide15.xml" Id="R34b4781a15e84db9" /><Relationship Type="http://schemas.openxmlformats.org/officeDocument/2006/relationships/slide" Target="/ppt/slides/slide16.xml" Id="R88af0cda59f34e73" /><Relationship Type="http://schemas.openxmlformats.org/officeDocument/2006/relationships/slide" Target="/ppt/slides/slide17.xml" Id="R5235433849ac4f0c" /><Relationship Type="http://schemas.openxmlformats.org/officeDocument/2006/relationships/slide" Target="/ppt/slides/slide18.xml" Id="R719bb6ab44644cda" /><Relationship Type="http://schemas.openxmlformats.org/officeDocument/2006/relationships/slide" Target="/ppt/slides/slide19.xml" Id="R2bd330be88d44628" /><Relationship Type="http://schemas.openxmlformats.org/officeDocument/2006/relationships/slide" Target="/ppt/slides/slide20.xml" Id="R6f4c10b2cc7941d6" /><Relationship Type="http://schemas.openxmlformats.org/officeDocument/2006/relationships/slide" Target="/ppt/slides/slide21.xml" Id="Rf8b220e03da64f54" /><Relationship Type="http://schemas.openxmlformats.org/officeDocument/2006/relationships/slide" Target="/ppt/slides/slide22.xml" Id="R9c118be333a24a73" /><Relationship Type="http://schemas.openxmlformats.org/officeDocument/2006/relationships/slide" Target="/ppt/slides/slide23.xml" Id="Re5933c272b8049ab" /><Relationship Type="http://schemas.openxmlformats.org/officeDocument/2006/relationships/slide" Target="/ppt/slides/slide24.xml" Id="R330683efafee4971" /><Relationship Type="http://schemas.openxmlformats.org/officeDocument/2006/relationships/slide" Target="/ppt/slides/slide25.xml" Id="R94806d77b2344bdc" /><Relationship Type="http://schemas.openxmlformats.org/officeDocument/2006/relationships/slide" Target="/ppt/slides/slide26.xml" Id="Ree6d629bc1444605" /><Relationship Type="http://schemas.openxmlformats.org/officeDocument/2006/relationships/slide" Target="/ppt/slides/slide27.xml" Id="R6799d4ed1a9c400c" /><Relationship Type="http://schemas.openxmlformats.org/officeDocument/2006/relationships/slide" Target="/ppt/slides/slide28.xml" Id="R6b054d7a0a6040b2" /><Relationship Type="http://schemas.openxmlformats.org/officeDocument/2006/relationships/slide" Target="/ppt/slides/slide29.xml" Id="R71baaa30241640c3" /><Relationship Type="http://schemas.openxmlformats.org/officeDocument/2006/relationships/slide" Target="/ppt/slides/slide30.xml" Id="R1c1c15e31a3a4f32" /><Relationship Type="http://schemas.openxmlformats.org/officeDocument/2006/relationships/slide" Target="/ppt/slides/slide31.xml" Id="Rba4334ac53f44c92" /><Relationship Type="http://schemas.openxmlformats.org/officeDocument/2006/relationships/slide" Target="/ppt/slides/slide32.xml" Id="R851d42c6f0ec4f90" /><Relationship Type="http://schemas.openxmlformats.org/officeDocument/2006/relationships/slide" Target="/ppt/slides/slide33.xml" Id="Rac5d22593185435c" /><Relationship Type="http://schemas.openxmlformats.org/officeDocument/2006/relationships/slide" Target="/ppt/slides/slide34.xml" Id="Rfbba93a69b3e4a73" /><Relationship Type="http://schemas.openxmlformats.org/officeDocument/2006/relationships/slide" Target="/ppt/slides/slide35.xml" Id="R76b3be5b950a42ed" /><Relationship Type="http://schemas.openxmlformats.org/officeDocument/2006/relationships/slide" Target="/ppt/slides/slide36.xml" Id="R74c2cc13fa994058" /><Relationship Type="http://schemas.openxmlformats.org/officeDocument/2006/relationships/slide" Target="/ppt/slides/slide37.xml" Id="R25d3205d4ea94de3" /><Relationship Type="http://schemas.openxmlformats.org/officeDocument/2006/relationships/slide" Target="/ppt/slides/slide38.xml" Id="R73c98181fe654a90" /><Relationship Type="http://schemas.openxmlformats.org/officeDocument/2006/relationships/slide" Target="/ppt/slides/slide39.xml" Id="R99c37df5cd054e48" /><Relationship Type="http://schemas.openxmlformats.org/officeDocument/2006/relationships/slide" Target="/ppt/slides/slide40.xml" Id="Re1c02f74553a400a" /><Relationship Type="http://schemas.openxmlformats.org/officeDocument/2006/relationships/slide" Target="/ppt/slides/slide41.xml" Id="Rf9b9d4bfa492436d" /><Relationship Type="http://schemas.openxmlformats.org/officeDocument/2006/relationships/slide" Target="/ppt/slides/slide42.xml" Id="Rbae22baed1714992" /><Relationship Type="http://schemas.openxmlformats.org/officeDocument/2006/relationships/slide" Target="/ppt/slides/slide43.xml" Id="R1ccb7b2558644952" /><Relationship Type="http://schemas.openxmlformats.org/officeDocument/2006/relationships/slide" Target="/ppt/slides/slide44.xml" Id="Rcec15838164e472b" /><Relationship Type="http://schemas.openxmlformats.org/officeDocument/2006/relationships/slide" Target="/ppt/slides/slide45.xml" Id="R2da90102eca6462c"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prstDash val="solid"/>
            </a:ln>
          </c:spPr>
          <c:invertIfNegative val="1"/>
          <c:dLbls>
            <c:spPr>
              <a:noFill/>
              <a:ln>
                <a:noFill/>
              </a:ln>
              <a:effectLst/>
            </c:spPr>
            <c:txPr>
              <a:bodyPr anchorCtr="1"/>
              <a:lstStyle/>
              <a:p>
                <a:pPr>
                  <a:defRPr sz="142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Noodles</c:v>
                </c:pt>
                <c:pt idx="1">
                  <c:v>Pasta</c:v>
                </c:pt>
                <c:pt idx="2">
                  <c:v>Rice</c:v>
                </c:pt>
                <c:pt idx="3">
                  <c:v>Salad</c:v>
                </c:pt>
              </c:strCache>
            </c:strRef>
          </c:cat>
          <c:val>
            <c:numRef>
              <c:f>'Chart Data'!$B$2:$B$5</c:f>
              <c:numCache>
                <c:formatCode>0</c:formatCode>
                <c:ptCount val="4"/>
                <c:pt idx="0">
                  <c:v>8</c:v>
                </c:pt>
                <c:pt idx="1">
                  <c:v>4</c:v>
                </c:pt>
                <c:pt idx="2">
                  <c:v>6</c:v>
                </c:pt>
                <c:pt idx="3">
                  <c:v>2</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prstDash val="solid"/>
                  </a:ln>
                </c14:spPr>
              </c14:invertSolidFillFmt>
            </c:ext>
            <c:ext xmlns:c16="http://schemas.microsoft.com/office/drawing/2014/chart" uri="{C3380CC4-5D6E-409C-BE32-E72D297353CC}">
              <c16:uniqueId val="{00000000-E616-46B8-9913-0FE493C23475}"/>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title>
          <c:tx>
            <c:rich>
              <a:bodyPr/>
              <a:lstStyle/>
              <a:p>
                <a:r>
                  <a:rPr sz="1425">
                    <a:solidFill>
                      <a:srgbClr val="111111"/>
                    </a:solidFill>
                    <a:latin typeface="Aptos"/>
                    <a:ea typeface="Aptos"/>
                    <a:cs typeface="Aptos"/>
                  </a:rPr>
                  <a:t>Meal type (X)</a:t>
                </a:r>
              </a:p>
            </c:rich>
          </c:tx>
          <c:overlay val="0"/>
        </c:title>
        <c:numFmt formatCode="General" sourceLinked="1"/>
        <c:majorTickMark val="none"/>
        <c:minorTickMark val="none"/>
        <c:tickLblPos val="nextTo"/>
        <c:spPr>
          <a:ln w="13335">
            <a:solidFill>
              <a:srgbClr val="111111"/>
            </a:solidFill>
            <a:prstDash val="solid"/>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0"/>
          <c:min val="0"/>
        </c:scaling>
        <c:delete val="0"/>
        <c:axPos val="l"/>
        <c:majorGridlines>
          <c:spPr>
            <a:ln w="6668">
              <a:solidFill>
                <a:srgbClr val="D0D8DD"/>
              </a:solidFill>
              <a:prstDash val="solid"/>
            </a:ln>
          </c:spPr>
        </c:majorGridlines>
        <c:title>
          <c:tx>
            <c:rich>
              <a:bodyPr/>
              <a:lstStyle/>
              <a:p>
                <a:r>
                  <a:rPr sz="1425">
                    <a:solidFill>
                      <a:srgbClr val="111111"/>
                    </a:solidFill>
                    <a:latin typeface="Aptos"/>
                    <a:ea typeface="Aptos"/>
                    <a:cs typeface="Aptos"/>
                  </a:rPr>
                  <a:t>Number of meals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prstDash val="solid"/>
            </a:ln>
          </c:spPr>
          <c:invertIfNegative val="1"/>
          <c:dLbls>
            <c:spPr>
              <a:noFill/>
              <a:ln>
                <a:noFill/>
              </a:ln>
              <a:effectLst/>
            </c:spPr>
            <c:txPr>
              <a:bodyPr anchorCtr="1"/>
              <a:lstStyle/>
              <a:p>
                <a:pPr>
                  <a:defRPr sz="172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Noodles</c:v>
                </c:pt>
                <c:pt idx="1">
                  <c:v>Pasta</c:v>
                </c:pt>
                <c:pt idx="2">
                  <c:v>Rice</c:v>
                </c:pt>
                <c:pt idx="3">
                  <c:v>Salad</c:v>
                </c:pt>
              </c:strCache>
            </c:strRef>
          </c:cat>
          <c:val>
            <c:numRef>
              <c:f>'Chart Data'!$B$2:$B$5</c:f>
              <c:numCache>
                <c:formatCode>0</c:formatCode>
                <c:ptCount val="4"/>
                <c:pt idx="0">
                  <c:v>114</c:v>
                </c:pt>
                <c:pt idx="1">
                  <c:v>63</c:v>
                </c:pt>
                <c:pt idx="2">
                  <c:v>87</c:v>
                </c:pt>
                <c:pt idx="3">
                  <c:v>36</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prstDash val="solid"/>
                  </a:ln>
                </c14:spPr>
              </c14:invertSolidFillFmt>
            </c:ext>
            <c:ext xmlns:c16="http://schemas.microsoft.com/office/drawing/2014/chart" uri="{C3380CC4-5D6E-409C-BE32-E72D297353CC}">
              <c16:uniqueId val="{00000000-8649-457C-B1F3-808AE966BE7E}"/>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title>
          <c:tx>
            <c:rich>
              <a:bodyPr/>
              <a:lstStyle/>
              <a:p>
                <a:r>
                  <a:rPr sz="1725">
                    <a:solidFill>
                      <a:srgbClr val="111111"/>
                    </a:solidFill>
                    <a:latin typeface="Aptos"/>
                    <a:ea typeface="Aptos"/>
                    <a:cs typeface="Aptos"/>
                  </a:rPr>
                  <a:t>Meal type (X)</a:t>
                </a:r>
              </a:p>
            </c:rich>
          </c:tx>
          <c:overlay val="0"/>
        </c:title>
        <c:numFmt formatCode="General" sourceLinked="1"/>
        <c:majorTickMark val="none"/>
        <c:minorTickMark val="none"/>
        <c:tickLblPos val="nextTo"/>
        <c:spPr>
          <a:ln w="13335">
            <a:solidFill>
              <a:srgbClr val="111111"/>
            </a:solidFill>
            <a:prstDash val="solid"/>
          </a:ln>
        </c:spPr>
        <c:txPr>
          <a:bodyPr anchorCtr="1"/>
          <a:lstStyle/>
          <a:p>
            <a:pPr>
              <a:defRPr sz="17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40"/>
          <c:min val="0"/>
        </c:scaling>
        <c:delete val="0"/>
        <c:axPos val="l"/>
        <c:majorGridlines>
          <c:spPr>
            <a:ln w="6668">
              <a:solidFill>
                <a:srgbClr val="D0D8DD"/>
              </a:solidFill>
              <a:prstDash val="solid"/>
            </a:ln>
          </c:spPr>
        </c:majorGridlines>
        <c:title>
          <c:tx>
            <c:rich>
              <a:bodyPr/>
              <a:lstStyle/>
              <a:p>
                <a:r>
                  <a:rPr sz="1725">
                    <a:solidFill>
                      <a:srgbClr val="111111"/>
                    </a:solidFill>
                    <a:latin typeface="Aptos"/>
                    <a:ea typeface="Aptos"/>
                    <a:cs typeface="Aptos"/>
                  </a:rPr>
                  <a:t>Number of meals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725">
                <a:solidFill>
                  <a:srgbClr val="111111"/>
                </a:solidFill>
                <a:latin typeface="Aptos"/>
                <a:ea typeface="Aptos"/>
                <a:cs typeface="Aptos"/>
              </a:defRPr>
            </a:pPr>
            <a:endParaRPr lang="en-US"/>
          </a:p>
        </c:txPr>
        <c:crossAx val="48650112"/>
        <c:crosses val="autoZero"/>
        <c:crossBetween val="between"/>
        <c:majorUnit val="20"/>
      </c:valAx>
      <c:spPr>
        <a:noFill/>
        <a:ln w="0">
          <a:noFill/>
        </a:ln>
      </c:spPr>
    </c:plotArea>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prstDash val="solid"/>
            </a:ln>
          </c:spPr>
          <c:invertIfNegative val="1"/>
          <c:dLbls>
            <c:spPr>
              <a:noFill/>
              <a:ln>
                <a:noFill/>
              </a:ln>
              <a:effectLst/>
            </c:spPr>
            <c:txPr>
              <a:bodyPr anchorCtr="1"/>
              <a:lstStyle/>
              <a:p>
                <a:pPr>
                  <a:defRPr sz="142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0 ≤ x &lt; 20</c:v>
                </c:pt>
                <c:pt idx="1">
                  <c:v>20 ≤ x &lt; 40</c:v>
                </c:pt>
                <c:pt idx="2">
                  <c:v>40 ≤ x &lt; 60</c:v>
                </c:pt>
                <c:pt idx="3">
                  <c:v>60 ≤ x &lt; 80</c:v>
                </c:pt>
                <c:pt idx="4">
                  <c:v>80 ≤ x &lt; 100</c:v>
                </c:pt>
              </c:strCache>
            </c:strRef>
          </c:cat>
          <c:val>
            <c:numRef>
              <c:f>'Chart Data'!$B$2:$B$6</c:f>
              <c:numCache>
                <c:formatCode>0</c:formatCode>
                <c:ptCount val="5"/>
                <c:pt idx="0">
                  <c:v>3</c:v>
                </c:pt>
                <c:pt idx="1">
                  <c:v>7</c:v>
                </c:pt>
                <c:pt idx="2">
                  <c:v>6</c:v>
                </c:pt>
                <c:pt idx="3">
                  <c:v>3</c:v>
                </c:pt>
                <c:pt idx="4">
                  <c:v>1</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prstDash val="solid"/>
                  </a:ln>
                </c14:spPr>
              </c14:invertSolidFillFmt>
            </c:ext>
            <c:ext xmlns:c16="http://schemas.microsoft.com/office/drawing/2014/chart" uri="{C3380CC4-5D6E-409C-BE32-E72D297353CC}">
              <c16:uniqueId val="{00000000-E432-4D65-97CF-3903017B2EB4}"/>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425">
                    <a:solidFill>
                      <a:srgbClr val="111111"/>
                    </a:solidFill>
                    <a:latin typeface="Aptos"/>
                    <a:ea typeface="Aptos"/>
                    <a:cs typeface="Aptos"/>
                  </a:rPr>
                  <a:t>Leftover food per meal (g) (X)</a:t>
                </a:r>
              </a:p>
            </c:rich>
          </c:tx>
          <c:overlay val="0"/>
        </c:title>
        <c:numFmt formatCode="General" sourceLinked="1"/>
        <c:majorTickMark val="none"/>
        <c:minorTickMark val="none"/>
        <c:tickLblPos val="nextTo"/>
        <c:spPr>
          <a:ln w="13335">
            <a:solidFill>
              <a:srgbClr val="111111"/>
            </a:solidFill>
            <a:prstDash val="solid"/>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8"/>
          <c:min val="0"/>
        </c:scaling>
        <c:delete val="0"/>
        <c:axPos val="l"/>
        <c:majorGridlines>
          <c:spPr>
            <a:ln w="6668">
              <a:solidFill>
                <a:srgbClr val="D0D8DD"/>
              </a:solidFill>
              <a:prstDash val="solid"/>
            </a:ln>
          </c:spPr>
        </c:majorGridlines>
        <c:title>
          <c:tx>
            <c:rich>
              <a:bodyPr/>
              <a:lstStyle/>
              <a:p>
                <a:r>
                  <a:rPr sz="1425">
                    <a:solidFill>
                      <a:srgbClr val="111111"/>
                    </a:solidFill>
                    <a:latin typeface="Aptos"/>
                    <a:ea typeface="Aptos"/>
                    <a:cs typeface="Aptos"/>
                  </a:rPr>
                  <a:t>Number of meals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prstDash val="solid"/>
            </a:ln>
          </c:spPr>
          <c:invertIfNegative val="1"/>
          <c:dLbls>
            <c:spPr>
              <a:noFill/>
              <a:ln>
                <a:noFill/>
              </a:ln>
              <a:effectLst/>
            </c:spPr>
            <c:txPr>
              <a:bodyPr anchorCtr="1"/>
              <a:lstStyle/>
              <a:p>
                <a:pPr>
                  <a:defRPr sz="15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0 ≤ x &lt; 20</c:v>
                </c:pt>
                <c:pt idx="1">
                  <c:v>20 ≤ x &lt; 40</c:v>
                </c:pt>
                <c:pt idx="2">
                  <c:v>40 ≤ x &lt; 60</c:v>
                </c:pt>
                <c:pt idx="3">
                  <c:v>60 ≤ x &lt; 80</c:v>
                </c:pt>
                <c:pt idx="4">
                  <c:v>80 ≤ x &lt; 100</c:v>
                </c:pt>
              </c:strCache>
            </c:strRef>
          </c:cat>
          <c:val>
            <c:numRef>
              <c:f>'Chart Data'!$B$2:$B$6</c:f>
              <c:numCache>
                <c:formatCode>0</c:formatCode>
                <c:ptCount val="5"/>
                <c:pt idx="0">
                  <c:v>41</c:v>
                </c:pt>
                <c:pt idx="1">
                  <c:v>92</c:v>
                </c:pt>
                <c:pt idx="2">
                  <c:v>99</c:v>
                </c:pt>
                <c:pt idx="3">
                  <c:v>53</c:v>
                </c:pt>
                <c:pt idx="4">
                  <c:v>15</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prstDash val="solid"/>
                  </a:ln>
                </c14:spPr>
              </c14:invertSolidFillFmt>
            </c:ext>
            <c:ext xmlns:c16="http://schemas.microsoft.com/office/drawing/2014/chart" uri="{C3380CC4-5D6E-409C-BE32-E72D297353CC}">
              <c16:uniqueId val="{00000000-1B6F-415F-8722-0F7895E9BE9A}"/>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500">
                    <a:solidFill>
                      <a:srgbClr val="111111"/>
                    </a:solidFill>
                    <a:latin typeface="Aptos"/>
                    <a:ea typeface="Aptos"/>
                    <a:cs typeface="Aptos"/>
                  </a:rPr>
                  <a:t>Leftover food per meal (g) (X)</a:t>
                </a:r>
              </a:p>
            </c:rich>
          </c:tx>
          <c:overlay val="0"/>
        </c:title>
        <c:numFmt formatCode="General" sourceLinked="1"/>
        <c:majorTickMark val="none"/>
        <c:minorTickMark val="none"/>
        <c:tickLblPos val="nextTo"/>
        <c:spPr>
          <a:ln w="13335">
            <a:solidFill>
              <a:srgbClr val="111111"/>
            </a:solidFill>
            <a:prstDash val="solid"/>
          </a:ln>
        </c:spPr>
        <c:txPr>
          <a:bodyPr anchorCtr="1"/>
          <a:lstStyle/>
          <a:p>
            <a:pPr>
              <a:defRPr sz="150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0"/>
          <c:min val="0"/>
        </c:scaling>
        <c:delete val="0"/>
        <c:axPos val="l"/>
        <c:majorGridlines>
          <c:spPr>
            <a:ln w="6668">
              <a:solidFill>
                <a:srgbClr val="D0D8DD"/>
              </a:solidFill>
              <a:prstDash val="solid"/>
            </a:ln>
          </c:spPr>
        </c:majorGridlines>
        <c:title>
          <c:tx>
            <c:rich>
              <a:bodyPr/>
              <a:lstStyle/>
              <a:p>
                <a:r>
                  <a:rPr sz="1500">
                    <a:solidFill>
                      <a:srgbClr val="111111"/>
                    </a:solidFill>
                    <a:latin typeface="Aptos"/>
                    <a:ea typeface="Aptos"/>
                    <a:cs typeface="Aptos"/>
                  </a:rPr>
                  <a:t>Number of meals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500">
                <a:solidFill>
                  <a:srgbClr val="111111"/>
                </a:solidFill>
                <a:latin typeface="Aptos"/>
                <a:ea typeface="Aptos"/>
                <a:cs typeface="Aptos"/>
              </a:defRPr>
            </a:pPr>
            <a:endParaRPr lang="en-US"/>
          </a:p>
        </c:txPr>
        <c:crossAx val="48650112"/>
        <c:crosses val="autoZero"/>
        <c:crossBetween val="between"/>
        <c:majorUnit val="20"/>
      </c:valAx>
      <c:spPr>
        <a:noFill/>
        <a:ln w="0">
          <a:noFill/>
        </a:ln>
      </c:spPr>
    </c:plotArea>
    <c:plotVisOnly val="1"/>
    <c:dispBlanksAs val="zero"/>
    <c:showDLblsOverMax val="1"/>
  </c:chart>
  <c:spPr>
    <a:no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Meals</c:v>
          </c:tx>
          <c:spPr>
            <a:ln w="0">
              <a:noFill/>
            </a:ln>
          </c:spPr>
          <c:marker>
            <c:symbol val="circle"/>
            <c:size val="4"/>
            <c:spPr>
              <a:noFill/>
            </c:spPr>
          </c:marker>
          <c:xVal>
            <c:numRef>
              <c:f>'Chart Data'!$A$2:$A$21</c:f>
              <c:numCache>
                <c:formatCode>0.##</c:formatCode>
                <c:ptCount val="20"/>
                <c:pt idx="0">
                  <c:v>357</c:v>
                </c:pt>
                <c:pt idx="1">
                  <c:v>346.7</c:v>
                </c:pt>
                <c:pt idx="2">
                  <c:v>357.5</c:v>
                </c:pt>
                <c:pt idx="3">
                  <c:v>418.1</c:v>
                </c:pt>
                <c:pt idx="4">
                  <c:v>383</c:v>
                </c:pt>
                <c:pt idx="5">
                  <c:v>414.8</c:v>
                </c:pt>
                <c:pt idx="6">
                  <c:v>427.5</c:v>
                </c:pt>
                <c:pt idx="7">
                  <c:v>359.8</c:v>
                </c:pt>
                <c:pt idx="8">
                  <c:v>363.6</c:v>
                </c:pt>
                <c:pt idx="9">
                  <c:v>362.4</c:v>
                </c:pt>
                <c:pt idx="10">
                  <c:v>353.8</c:v>
                </c:pt>
                <c:pt idx="11">
                  <c:v>357.5</c:v>
                </c:pt>
                <c:pt idx="12">
                  <c:v>317.9</c:v>
                </c:pt>
                <c:pt idx="13">
                  <c:v>382.1</c:v>
                </c:pt>
                <c:pt idx="14">
                  <c:v>378.9</c:v>
                </c:pt>
                <c:pt idx="15">
                  <c:v>407.6</c:v>
                </c:pt>
                <c:pt idx="16">
                  <c:v>404.9</c:v>
                </c:pt>
                <c:pt idx="17">
                  <c:v>360.4</c:v>
                </c:pt>
                <c:pt idx="18">
                  <c:v>461</c:v>
                </c:pt>
                <c:pt idx="19">
                  <c:v>320.2</c:v>
                </c:pt>
              </c:numCache>
            </c:numRef>
          </c:xVal>
          <c:yVal>
            <c:numRef>
              <c:f>'Chart Data'!$B$2:$B$21</c:f>
              <c:numCache>
                <c:formatCode>0.##</c:formatCode>
                <c:ptCount val="20"/>
                <c:pt idx="0">
                  <c:v>45</c:v>
                </c:pt>
                <c:pt idx="1">
                  <c:v>12</c:v>
                </c:pt>
                <c:pt idx="2">
                  <c:v>31</c:v>
                </c:pt>
                <c:pt idx="3">
                  <c:v>72</c:v>
                </c:pt>
                <c:pt idx="4">
                  <c:v>26</c:v>
                </c:pt>
                <c:pt idx="5">
                  <c:v>88</c:v>
                </c:pt>
                <c:pt idx="6">
                  <c:v>52</c:v>
                </c:pt>
                <c:pt idx="7">
                  <c:v>39</c:v>
                </c:pt>
                <c:pt idx="8">
                  <c:v>60</c:v>
                </c:pt>
                <c:pt idx="9">
                  <c:v>19</c:v>
                </c:pt>
                <c:pt idx="10">
                  <c:v>47</c:v>
                </c:pt>
                <c:pt idx="11">
                  <c:v>34</c:v>
                </c:pt>
                <c:pt idx="12">
                  <c:v>5</c:v>
                </c:pt>
                <c:pt idx="13">
                  <c:v>58</c:v>
                </c:pt>
                <c:pt idx="14">
                  <c:v>23</c:v>
                </c:pt>
                <c:pt idx="15">
                  <c:v>67</c:v>
                </c:pt>
                <c:pt idx="16">
                  <c:v>42</c:v>
                </c:pt>
                <c:pt idx="17">
                  <c:v>28</c:v>
                </c:pt>
                <c:pt idx="18">
                  <c:v>56</c:v>
                </c:pt>
                <c:pt idx="19">
                  <c:v>36</c:v>
                </c:pt>
              </c:numCache>
            </c:numRef>
          </c:yVal>
          <c:smooth val="1"/>
          <c:extLst>
            <c:ext xmlns:c16="http://schemas.microsoft.com/office/drawing/2014/chart" uri="{C3380CC4-5D6E-409C-BE32-E72D297353CC}">
              <c16:uniqueId val="{00000000-0AA2-45CA-AF5D-4879BED4FC17}"/>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Leftover food (g)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20"/>
      </c:valAx>
      <c:valAx>
        <c:axId val="48650112"/>
        <c:scaling>
          <c:orientation val="minMax"/>
          <c:max val="650"/>
          <c:min val="150"/>
        </c:scaling>
        <c:delete val="0"/>
        <c:axPos val="b"/>
        <c:title>
          <c:tx>
            <c:rich>
              <a:bodyPr/>
              <a:lstStyle/>
              <a:p>
                <a:r>
                  <a:rPr sz="1650">
                    <a:solidFill>
                      <a:srgbClr val="111111"/>
                    </a:solidFill>
                    <a:latin typeface="Aptos"/>
                    <a:ea typeface="Aptos"/>
                    <a:cs typeface="Aptos"/>
                  </a:rPr>
                  <a:t>Portion weight (g)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0"/>
      </c:valAx>
      <c:spPr>
        <a:noFill/>
        <a:ln w="0">
          <a:noFill/>
        </a:ln>
      </c:spPr>
    </c:plotArea>
    <c:plotVisOnly val="1"/>
    <c:dispBlanksAs val="zero"/>
    <c:showDLblsOverMax val="1"/>
  </c:chart>
  <c:spPr>
    <a:no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Meals</c:v>
          </c:tx>
          <c:spPr>
            <a:ln w="0">
              <a:noFill/>
            </a:ln>
          </c:spPr>
          <c:marker>
            <c:symbol val="circle"/>
            <c:size val="4"/>
            <c:spPr>
              <a:noFill/>
            </c:spPr>
          </c:marker>
          <c:xVal>
            <c:numRef>
              <c:f>'Chart Data'!$A$2:$A$301</c:f>
              <c:numCache>
                <c:formatCode>0.##</c:formatCode>
                <c:ptCount val="300"/>
                <c:pt idx="0">
                  <c:v>565.3</c:v>
                </c:pt>
                <c:pt idx="1">
                  <c:v>541.7</c:v>
                </c:pt>
                <c:pt idx="2">
                  <c:v>502.8</c:v>
                </c:pt>
                <c:pt idx="3">
                  <c:v>596.9</c:v>
                </c:pt>
                <c:pt idx="4">
                  <c:v>375.7</c:v>
                </c:pt>
                <c:pt idx="5">
                  <c:v>300.6</c:v>
                </c:pt>
                <c:pt idx="6">
                  <c:v>266.3</c:v>
                </c:pt>
                <c:pt idx="7">
                  <c:v>542.8</c:v>
                </c:pt>
                <c:pt idx="8">
                  <c:v>241.8</c:v>
                </c:pt>
                <c:pt idx="9">
                  <c:v>479.7</c:v>
                </c:pt>
                <c:pt idx="10">
                  <c:v>272.6</c:v>
                </c:pt>
                <c:pt idx="11">
                  <c:v>525.4</c:v>
                </c:pt>
                <c:pt idx="12">
                  <c:v>535.7</c:v>
                </c:pt>
                <c:pt idx="13">
                  <c:v>189.8</c:v>
                </c:pt>
                <c:pt idx="14">
                  <c:v>229.8</c:v>
                </c:pt>
                <c:pt idx="15">
                  <c:v>488</c:v>
                </c:pt>
                <c:pt idx="16">
                  <c:v>437.7</c:v>
                </c:pt>
                <c:pt idx="17">
                  <c:v>286</c:v>
                </c:pt>
                <c:pt idx="18">
                  <c:v>440.5</c:v>
                </c:pt>
                <c:pt idx="19">
                  <c:v>309.6</c:v>
                </c:pt>
                <c:pt idx="20">
                  <c:v>224.1</c:v>
                </c:pt>
                <c:pt idx="21">
                  <c:v>454.5</c:v>
                </c:pt>
                <c:pt idx="22">
                  <c:v>470.6</c:v>
                </c:pt>
                <c:pt idx="23">
                  <c:v>272.3</c:v>
                </c:pt>
                <c:pt idx="24">
                  <c:v>268.8</c:v>
                </c:pt>
                <c:pt idx="25">
                  <c:v>391.5</c:v>
                </c:pt>
                <c:pt idx="26">
                  <c:v>552.7</c:v>
                </c:pt>
                <c:pt idx="27">
                  <c:v>447.1</c:v>
                </c:pt>
                <c:pt idx="28">
                  <c:v>211.9</c:v>
                </c:pt>
                <c:pt idx="29">
                  <c:v>219</c:v>
                </c:pt>
                <c:pt idx="30">
                  <c:v>470.1</c:v>
                </c:pt>
                <c:pt idx="31">
                  <c:v>478.4</c:v>
                </c:pt>
                <c:pt idx="32">
                  <c:v>408.7</c:v>
                </c:pt>
                <c:pt idx="33">
                  <c:v>226.7</c:v>
                </c:pt>
                <c:pt idx="34">
                  <c:v>424.9</c:v>
                </c:pt>
                <c:pt idx="35">
                  <c:v>536.1</c:v>
                </c:pt>
                <c:pt idx="36">
                  <c:v>588.2</c:v>
                </c:pt>
                <c:pt idx="37">
                  <c:v>536.4</c:v>
                </c:pt>
                <c:pt idx="38">
                  <c:v>398.1</c:v>
                </c:pt>
                <c:pt idx="39">
                  <c:v>245.3</c:v>
                </c:pt>
                <c:pt idx="40">
                  <c:v>510.4</c:v>
                </c:pt>
                <c:pt idx="41">
                  <c:v>199.4</c:v>
                </c:pt>
                <c:pt idx="42">
                  <c:v>506</c:v>
                </c:pt>
                <c:pt idx="43">
                  <c:v>388.3</c:v>
                </c:pt>
                <c:pt idx="44">
                  <c:v>220.7</c:v>
                </c:pt>
                <c:pt idx="45">
                  <c:v>225.9</c:v>
                </c:pt>
                <c:pt idx="46">
                  <c:v>312.1</c:v>
                </c:pt>
                <c:pt idx="47">
                  <c:v>273.5</c:v>
                </c:pt>
                <c:pt idx="48">
                  <c:v>428.7</c:v>
                </c:pt>
                <c:pt idx="49">
                  <c:v>340.7</c:v>
                </c:pt>
                <c:pt idx="50">
                  <c:v>526.9</c:v>
                </c:pt>
                <c:pt idx="51">
                  <c:v>423.6</c:v>
                </c:pt>
                <c:pt idx="52">
                  <c:v>478.8</c:v>
                </c:pt>
                <c:pt idx="53">
                  <c:v>458.4</c:v>
                </c:pt>
                <c:pt idx="54">
                  <c:v>225.1</c:v>
                </c:pt>
                <c:pt idx="55">
                  <c:v>561.9</c:v>
                </c:pt>
                <c:pt idx="56">
                  <c:v>451.9</c:v>
                </c:pt>
                <c:pt idx="57">
                  <c:v>370</c:v>
                </c:pt>
                <c:pt idx="58">
                  <c:v>547</c:v>
                </c:pt>
                <c:pt idx="59">
                  <c:v>450.1</c:v>
                </c:pt>
                <c:pt idx="60">
                  <c:v>503.9</c:v>
                </c:pt>
                <c:pt idx="61">
                  <c:v>568.9</c:v>
                </c:pt>
                <c:pt idx="62">
                  <c:v>356.8</c:v>
                </c:pt>
                <c:pt idx="63">
                  <c:v>319.4</c:v>
                </c:pt>
                <c:pt idx="64">
                  <c:v>575</c:v>
                </c:pt>
                <c:pt idx="65">
                  <c:v>589.1</c:v>
                </c:pt>
                <c:pt idx="66">
                  <c:v>417.5</c:v>
                </c:pt>
                <c:pt idx="67">
                  <c:v>198.8</c:v>
                </c:pt>
                <c:pt idx="68">
                  <c:v>488.1</c:v>
                </c:pt>
                <c:pt idx="69">
                  <c:v>522.7</c:v>
                </c:pt>
                <c:pt idx="70">
                  <c:v>225.2</c:v>
                </c:pt>
                <c:pt idx="71">
                  <c:v>430</c:v>
                </c:pt>
                <c:pt idx="72">
                  <c:v>595.5</c:v>
                </c:pt>
                <c:pt idx="73">
                  <c:v>404.2</c:v>
                </c:pt>
                <c:pt idx="74">
                  <c:v>306.1</c:v>
                </c:pt>
                <c:pt idx="75">
                  <c:v>272.2</c:v>
                </c:pt>
                <c:pt idx="76">
                  <c:v>424.5</c:v>
                </c:pt>
                <c:pt idx="77">
                  <c:v>236.3</c:v>
                </c:pt>
                <c:pt idx="78">
                  <c:v>216.8</c:v>
                </c:pt>
                <c:pt idx="79">
                  <c:v>563.7</c:v>
                </c:pt>
                <c:pt idx="80">
                  <c:v>313.3</c:v>
                </c:pt>
                <c:pt idx="81">
                  <c:v>583.2</c:v>
                </c:pt>
                <c:pt idx="82">
                  <c:v>234.5</c:v>
                </c:pt>
                <c:pt idx="83">
                  <c:v>549.1</c:v>
                </c:pt>
                <c:pt idx="84">
                  <c:v>217.2</c:v>
                </c:pt>
                <c:pt idx="85">
                  <c:v>405</c:v>
                </c:pt>
                <c:pt idx="86">
                  <c:v>549.6</c:v>
                </c:pt>
                <c:pt idx="87">
                  <c:v>508.7</c:v>
                </c:pt>
                <c:pt idx="88">
                  <c:v>469.8</c:v>
                </c:pt>
                <c:pt idx="89">
                  <c:v>250.4</c:v>
                </c:pt>
                <c:pt idx="90">
                  <c:v>276</c:v>
                </c:pt>
                <c:pt idx="91">
                  <c:v>509.6</c:v>
                </c:pt>
                <c:pt idx="92">
                  <c:v>567.3</c:v>
                </c:pt>
                <c:pt idx="93">
                  <c:v>551.5</c:v>
                </c:pt>
                <c:pt idx="94">
                  <c:v>381.4</c:v>
                </c:pt>
                <c:pt idx="95">
                  <c:v>404.6</c:v>
                </c:pt>
                <c:pt idx="96">
                  <c:v>550.2</c:v>
                </c:pt>
                <c:pt idx="97">
                  <c:v>407.6</c:v>
                </c:pt>
                <c:pt idx="98">
                  <c:v>464.4</c:v>
                </c:pt>
                <c:pt idx="99">
                  <c:v>427.5</c:v>
                </c:pt>
                <c:pt idx="100">
                  <c:v>421.8</c:v>
                </c:pt>
                <c:pt idx="101">
                  <c:v>250.8</c:v>
                </c:pt>
                <c:pt idx="102">
                  <c:v>409</c:v>
                </c:pt>
                <c:pt idx="103">
                  <c:v>582.9</c:v>
                </c:pt>
                <c:pt idx="104">
                  <c:v>287.2</c:v>
                </c:pt>
                <c:pt idx="105">
                  <c:v>563.2</c:v>
                </c:pt>
                <c:pt idx="106">
                  <c:v>417.2</c:v>
                </c:pt>
                <c:pt idx="107">
                  <c:v>226</c:v>
                </c:pt>
                <c:pt idx="108">
                  <c:v>323</c:v>
                </c:pt>
                <c:pt idx="109">
                  <c:v>414.8</c:v>
                </c:pt>
                <c:pt idx="110">
                  <c:v>300.2</c:v>
                </c:pt>
                <c:pt idx="111">
                  <c:v>192.2</c:v>
                </c:pt>
                <c:pt idx="112">
                  <c:v>461.8</c:v>
                </c:pt>
                <c:pt idx="113">
                  <c:v>423.6</c:v>
                </c:pt>
                <c:pt idx="114">
                  <c:v>348.9</c:v>
                </c:pt>
                <c:pt idx="115">
                  <c:v>189.8</c:v>
                </c:pt>
                <c:pt idx="116">
                  <c:v>555.1</c:v>
                </c:pt>
                <c:pt idx="117">
                  <c:v>566.2</c:v>
                </c:pt>
                <c:pt idx="118">
                  <c:v>531.3</c:v>
                </c:pt>
                <c:pt idx="119">
                  <c:v>450.1</c:v>
                </c:pt>
                <c:pt idx="120">
                  <c:v>574.2</c:v>
                </c:pt>
                <c:pt idx="121">
                  <c:v>288.7</c:v>
                </c:pt>
                <c:pt idx="122">
                  <c:v>237.7</c:v>
                </c:pt>
                <c:pt idx="123">
                  <c:v>246.4</c:v>
                </c:pt>
                <c:pt idx="124">
                  <c:v>387.6</c:v>
                </c:pt>
                <c:pt idx="125">
                  <c:v>571.5</c:v>
                </c:pt>
                <c:pt idx="126">
                  <c:v>305.5</c:v>
                </c:pt>
                <c:pt idx="127">
                  <c:v>262.7</c:v>
                </c:pt>
                <c:pt idx="128">
                  <c:v>541.9</c:v>
                </c:pt>
                <c:pt idx="129">
                  <c:v>293.2</c:v>
                </c:pt>
                <c:pt idx="130">
                  <c:v>594.7</c:v>
                </c:pt>
                <c:pt idx="131">
                  <c:v>486</c:v>
                </c:pt>
                <c:pt idx="132">
                  <c:v>469.1</c:v>
                </c:pt>
                <c:pt idx="133">
                  <c:v>572.9</c:v>
                </c:pt>
                <c:pt idx="134">
                  <c:v>300.5</c:v>
                </c:pt>
                <c:pt idx="135">
                  <c:v>592.9</c:v>
                </c:pt>
                <c:pt idx="136">
                  <c:v>343.1</c:v>
                </c:pt>
                <c:pt idx="137">
                  <c:v>419.5</c:v>
                </c:pt>
                <c:pt idx="138">
                  <c:v>422.3</c:v>
                </c:pt>
                <c:pt idx="139">
                  <c:v>405.1</c:v>
                </c:pt>
                <c:pt idx="140">
                  <c:v>182.5</c:v>
                </c:pt>
                <c:pt idx="141">
                  <c:v>294.5</c:v>
                </c:pt>
                <c:pt idx="142">
                  <c:v>277.5</c:v>
                </c:pt>
                <c:pt idx="143">
                  <c:v>377.1</c:v>
                </c:pt>
                <c:pt idx="144">
                  <c:v>291.3</c:v>
                </c:pt>
                <c:pt idx="145">
                  <c:v>199.4</c:v>
                </c:pt>
                <c:pt idx="146">
                  <c:v>598.6</c:v>
                </c:pt>
                <c:pt idx="147">
                  <c:v>195.2</c:v>
                </c:pt>
                <c:pt idx="148">
                  <c:v>525.2</c:v>
                </c:pt>
                <c:pt idx="149">
                  <c:v>427.3</c:v>
                </c:pt>
                <c:pt idx="150">
                  <c:v>279.3</c:v>
                </c:pt>
                <c:pt idx="151">
                  <c:v>243</c:v>
                </c:pt>
                <c:pt idx="152">
                  <c:v>281.8</c:v>
                </c:pt>
                <c:pt idx="153">
                  <c:v>472.7</c:v>
                </c:pt>
                <c:pt idx="154">
                  <c:v>291.3</c:v>
                </c:pt>
                <c:pt idx="155">
                  <c:v>328</c:v>
                </c:pt>
                <c:pt idx="156">
                  <c:v>350.3</c:v>
                </c:pt>
                <c:pt idx="157">
                  <c:v>508.9</c:v>
                </c:pt>
                <c:pt idx="158">
                  <c:v>590.7</c:v>
                </c:pt>
                <c:pt idx="159">
                  <c:v>559.5</c:v>
                </c:pt>
                <c:pt idx="160">
                  <c:v>568.3</c:v>
                </c:pt>
                <c:pt idx="161">
                  <c:v>257.8</c:v>
                </c:pt>
                <c:pt idx="162">
                  <c:v>306</c:v>
                </c:pt>
                <c:pt idx="163">
                  <c:v>392.8</c:v>
                </c:pt>
                <c:pt idx="164">
                  <c:v>534.2</c:v>
                </c:pt>
                <c:pt idx="165">
                  <c:v>366.4</c:v>
                </c:pt>
                <c:pt idx="166">
                  <c:v>286.6</c:v>
                </c:pt>
                <c:pt idx="167">
                  <c:v>202.3</c:v>
                </c:pt>
                <c:pt idx="168">
                  <c:v>520</c:v>
                </c:pt>
                <c:pt idx="169">
                  <c:v>452</c:v>
                </c:pt>
                <c:pt idx="170">
                  <c:v>442.3</c:v>
                </c:pt>
                <c:pt idx="171">
                  <c:v>318.7</c:v>
                </c:pt>
                <c:pt idx="172">
                  <c:v>552.5</c:v>
                </c:pt>
                <c:pt idx="173">
                  <c:v>580.9</c:v>
                </c:pt>
                <c:pt idx="174">
                  <c:v>185.7</c:v>
                </c:pt>
                <c:pt idx="175">
                  <c:v>297.1</c:v>
                </c:pt>
                <c:pt idx="176">
                  <c:v>333</c:v>
                </c:pt>
                <c:pt idx="177">
                  <c:v>454.3</c:v>
                </c:pt>
                <c:pt idx="178">
                  <c:v>303.3</c:v>
                </c:pt>
                <c:pt idx="179">
                  <c:v>456.1</c:v>
                </c:pt>
                <c:pt idx="180">
                  <c:v>461</c:v>
                </c:pt>
                <c:pt idx="181">
                  <c:v>287.9</c:v>
                </c:pt>
                <c:pt idx="182">
                  <c:v>206.4</c:v>
                </c:pt>
                <c:pt idx="183">
                  <c:v>521.6</c:v>
                </c:pt>
                <c:pt idx="184">
                  <c:v>187</c:v>
                </c:pt>
                <c:pt idx="185">
                  <c:v>464.7</c:v>
                </c:pt>
                <c:pt idx="186">
                  <c:v>276.6</c:v>
                </c:pt>
                <c:pt idx="187">
                  <c:v>563.1</c:v>
                </c:pt>
                <c:pt idx="188">
                  <c:v>588.2</c:v>
                </c:pt>
                <c:pt idx="189">
                  <c:v>330.9</c:v>
                </c:pt>
                <c:pt idx="190">
                  <c:v>194.4</c:v>
                </c:pt>
                <c:pt idx="191">
                  <c:v>282.7</c:v>
                </c:pt>
                <c:pt idx="192">
                  <c:v>181.3</c:v>
                </c:pt>
                <c:pt idx="193">
                  <c:v>257.8</c:v>
                </c:pt>
                <c:pt idx="194">
                  <c:v>331.6</c:v>
                </c:pt>
                <c:pt idx="195">
                  <c:v>252.3</c:v>
                </c:pt>
                <c:pt idx="196">
                  <c:v>399</c:v>
                </c:pt>
                <c:pt idx="197">
                  <c:v>193.4</c:v>
                </c:pt>
                <c:pt idx="198">
                  <c:v>342.9</c:v>
                </c:pt>
                <c:pt idx="199">
                  <c:v>464.9</c:v>
                </c:pt>
                <c:pt idx="200">
                  <c:v>323.4</c:v>
                </c:pt>
                <c:pt idx="201">
                  <c:v>578.3</c:v>
                </c:pt>
                <c:pt idx="202">
                  <c:v>193.5</c:v>
                </c:pt>
                <c:pt idx="203">
                  <c:v>257.9</c:v>
                </c:pt>
                <c:pt idx="204">
                  <c:v>350.5</c:v>
                </c:pt>
                <c:pt idx="205">
                  <c:v>305.4</c:v>
                </c:pt>
                <c:pt idx="206">
                  <c:v>325.5</c:v>
                </c:pt>
                <c:pt idx="207">
                  <c:v>453.1</c:v>
                </c:pt>
                <c:pt idx="208">
                  <c:v>591.8</c:v>
                </c:pt>
                <c:pt idx="209">
                  <c:v>330.9</c:v>
                </c:pt>
                <c:pt idx="210">
                  <c:v>346.2</c:v>
                </c:pt>
                <c:pt idx="211">
                  <c:v>361.4</c:v>
                </c:pt>
                <c:pt idx="212">
                  <c:v>218.6</c:v>
                </c:pt>
                <c:pt idx="213">
                  <c:v>256.6</c:v>
                </c:pt>
                <c:pt idx="214">
                  <c:v>262.8</c:v>
                </c:pt>
                <c:pt idx="215">
                  <c:v>475.3</c:v>
                </c:pt>
                <c:pt idx="216">
                  <c:v>260.1</c:v>
                </c:pt>
                <c:pt idx="217">
                  <c:v>288</c:v>
                </c:pt>
                <c:pt idx="218">
                  <c:v>540.6</c:v>
                </c:pt>
                <c:pt idx="219">
                  <c:v>379.4</c:v>
                </c:pt>
                <c:pt idx="220">
                  <c:v>306.1</c:v>
                </c:pt>
                <c:pt idx="221">
                  <c:v>462.2</c:v>
                </c:pt>
                <c:pt idx="222">
                  <c:v>309.3</c:v>
                </c:pt>
                <c:pt idx="223">
                  <c:v>420.2</c:v>
                </c:pt>
                <c:pt idx="224">
                  <c:v>253.3</c:v>
                </c:pt>
                <c:pt idx="225">
                  <c:v>487.1</c:v>
                </c:pt>
                <c:pt idx="226">
                  <c:v>286.8</c:v>
                </c:pt>
                <c:pt idx="227">
                  <c:v>234.2</c:v>
                </c:pt>
                <c:pt idx="228">
                  <c:v>273.6</c:v>
                </c:pt>
                <c:pt idx="229">
                  <c:v>276.4</c:v>
                </c:pt>
                <c:pt idx="230">
                  <c:v>293.7</c:v>
                </c:pt>
                <c:pt idx="231">
                  <c:v>366</c:v>
                </c:pt>
                <c:pt idx="232">
                  <c:v>273.9</c:v>
                </c:pt>
                <c:pt idx="233">
                  <c:v>530.5</c:v>
                </c:pt>
                <c:pt idx="234">
                  <c:v>239.1</c:v>
                </c:pt>
                <c:pt idx="235">
                  <c:v>285.6</c:v>
                </c:pt>
                <c:pt idx="236">
                  <c:v>216.9</c:v>
                </c:pt>
                <c:pt idx="237">
                  <c:v>300.1</c:v>
                </c:pt>
                <c:pt idx="238">
                  <c:v>539.8</c:v>
                </c:pt>
                <c:pt idx="239">
                  <c:v>505.6</c:v>
                </c:pt>
                <c:pt idx="240">
                  <c:v>260</c:v>
                </c:pt>
                <c:pt idx="241">
                  <c:v>536.5</c:v>
                </c:pt>
                <c:pt idx="242">
                  <c:v>285.9</c:v>
                </c:pt>
                <c:pt idx="243">
                  <c:v>526.7</c:v>
                </c:pt>
                <c:pt idx="244">
                  <c:v>547.4</c:v>
                </c:pt>
                <c:pt idx="245">
                  <c:v>502.6</c:v>
                </c:pt>
                <c:pt idx="246">
                  <c:v>571.3</c:v>
                </c:pt>
                <c:pt idx="247">
                  <c:v>288.4</c:v>
                </c:pt>
                <c:pt idx="248">
                  <c:v>576.6</c:v>
                </c:pt>
                <c:pt idx="249">
                  <c:v>521.8</c:v>
                </c:pt>
                <c:pt idx="250">
                  <c:v>545</c:v>
                </c:pt>
                <c:pt idx="251">
                  <c:v>329.8</c:v>
                </c:pt>
                <c:pt idx="252">
                  <c:v>367.8</c:v>
                </c:pt>
                <c:pt idx="253">
                  <c:v>594.1</c:v>
                </c:pt>
                <c:pt idx="254">
                  <c:v>347.7</c:v>
                </c:pt>
                <c:pt idx="255">
                  <c:v>299.9</c:v>
                </c:pt>
                <c:pt idx="256">
                  <c:v>248.3</c:v>
                </c:pt>
                <c:pt idx="257">
                  <c:v>233.5</c:v>
                </c:pt>
                <c:pt idx="258">
                  <c:v>475.6</c:v>
                </c:pt>
                <c:pt idx="259">
                  <c:v>241.9</c:v>
                </c:pt>
                <c:pt idx="260">
                  <c:v>265.9</c:v>
                </c:pt>
                <c:pt idx="261">
                  <c:v>497.3</c:v>
                </c:pt>
                <c:pt idx="262">
                  <c:v>225</c:v>
                </c:pt>
                <c:pt idx="263">
                  <c:v>516.3</c:v>
                </c:pt>
                <c:pt idx="264">
                  <c:v>361.6</c:v>
                </c:pt>
                <c:pt idx="265">
                  <c:v>492.8</c:v>
                </c:pt>
                <c:pt idx="266">
                  <c:v>338.3</c:v>
                </c:pt>
                <c:pt idx="267">
                  <c:v>265.4</c:v>
                </c:pt>
                <c:pt idx="268">
                  <c:v>341.1</c:v>
                </c:pt>
                <c:pt idx="269">
                  <c:v>498.2</c:v>
                </c:pt>
                <c:pt idx="270">
                  <c:v>235.3</c:v>
                </c:pt>
                <c:pt idx="271">
                  <c:v>543.3</c:v>
                </c:pt>
                <c:pt idx="272">
                  <c:v>253.1</c:v>
                </c:pt>
                <c:pt idx="273">
                  <c:v>408.8</c:v>
                </c:pt>
                <c:pt idx="274">
                  <c:v>487.9</c:v>
                </c:pt>
                <c:pt idx="275">
                  <c:v>328.7</c:v>
                </c:pt>
                <c:pt idx="276">
                  <c:v>209.8</c:v>
                </c:pt>
                <c:pt idx="277">
                  <c:v>487.6</c:v>
                </c:pt>
                <c:pt idx="278">
                  <c:v>506.8</c:v>
                </c:pt>
                <c:pt idx="279">
                  <c:v>598.6</c:v>
                </c:pt>
                <c:pt idx="280">
                  <c:v>539.2</c:v>
                </c:pt>
                <c:pt idx="281">
                  <c:v>344.9</c:v>
                </c:pt>
                <c:pt idx="282">
                  <c:v>558.8</c:v>
                </c:pt>
                <c:pt idx="283">
                  <c:v>496.6</c:v>
                </c:pt>
                <c:pt idx="284">
                  <c:v>555.8</c:v>
                </c:pt>
                <c:pt idx="285">
                  <c:v>193.3</c:v>
                </c:pt>
                <c:pt idx="286">
                  <c:v>285.5</c:v>
                </c:pt>
                <c:pt idx="287">
                  <c:v>308.8</c:v>
                </c:pt>
                <c:pt idx="288">
                  <c:v>568.7</c:v>
                </c:pt>
                <c:pt idx="289">
                  <c:v>356.9</c:v>
                </c:pt>
                <c:pt idx="290">
                  <c:v>443.5</c:v>
                </c:pt>
                <c:pt idx="291">
                  <c:v>433.5</c:v>
                </c:pt>
                <c:pt idx="292">
                  <c:v>389.8</c:v>
                </c:pt>
                <c:pt idx="293">
                  <c:v>571.4</c:v>
                </c:pt>
                <c:pt idx="294">
                  <c:v>289.9</c:v>
                </c:pt>
                <c:pt idx="295">
                  <c:v>258.8</c:v>
                </c:pt>
                <c:pt idx="296">
                  <c:v>262.5</c:v>
                </c:pt>
                <c:pt idx="297">
                  <c:v>371.7</c:v>
                </c:pt>
                <c:pt idx="298">
                  <c:v>217.3</c:v>
                </c:pt>
                <c:pt idx="299">
                  <c:v>438.9</c:v>
                </c:pt>
              </c:numCache>
            </c:numRef>
          </c:xVal>
          <c:yVal>
            <c:numRef>
              <c:f>'Chart Data'!$B$2:$B$301</c:f>
              <c:numCache>
                <c:formatCode>0.##</c:formatCode>
                <c:ptCount val="300"/>
                <c:pt idx="0">
                  <c:v>20</c:v>
                </c:pt>
                <c:pt idx="1">
                  <c:v>40</c:v>
                </c:pt>
                <c:pt idx="2">
                  <c:v>60</c:v>
                </c:pt>
                <c:pt idx="3">
                  <c:v>80</c:v>
                </c:pt>
                <c:pt idx="4">
                  <c:v>20</c:v>
                </c:pt>
                <c:pt idx="5">
                  <c:v>40</c:v>
                </c:pt>
                <c:pt idx="6">
                  <c:v>60</c:v>
                </c:pt>
                <c:pt idx="7">
                  <c:v>80</c:v>
                </c:pt>
                <c:pt idx="8">
                  <c:v>0</c:v>
                </c:pt>
                <c:pt idx="9">
                  <c:v>99.9</c:v>
                </c:pt>
                <c:pt idx="10">
                  <c:v>4.4</c:v>
                </c:pt>
                <c:pt idx="11">
                  <c:v>42.2</c:v>
                </c:pt>
                <c:pt idx="12">
                  <c:v>66.1</c:v>
                </c:pt>
                <c:pt idx="13">
                  <c:v>12.1</c:v>
                </c:pt>
                <c:pt idx="14">
                  <c:v>41.6</c:v>
                </c:pt>
                <c:pt idx="15">
                  <c:v>43</c:v>
                </c:pt>
                <c:pt idx="16">
                  <c:v>66.1</c:v>
                </c:pt>
                <c:pt idx="17">
                  <c:v>56.2</c:v>
                </c:pt>
                <c:pt idx="18">
                  <c:v>52.5</c:v>
                </c:pt>
                <c:pt idx="19">
                  <c:v>21.5</c:v>
                </c:pt>
                <c:pt idx="20">
                  <c:v>4.3</c:v>
                </c:pt>
                <c:pt idx="21">
                  <c:v>52.1</c:v>
                </c:pt>
                <c:pt idx="22">
                  <c:v>49</c:v>
                </c:pt>
                <c:pt idx="23">
                  <c:v>31.5</c:v>
                </c:pt>
                <c:pt idx="24">
                  <c:v>23.6</c:v>
                </c:pt>
                <c:pt idx="25">
                  <c:v>71.4</c:v>
                </c:pt>
                <c:pt idx="26">
                  <c:v>76.2</c:v>
                </c:pt>
                <c:pt idx="27">
                  <c:v>44.2</c:v>
                </c:pt>
                <c:pt idx="28">
                  <c:v>10.5</c:v>
                </c:pt>
                <c:pt idx="29">
                  <c:v>29.3</c:v>
                </c:pt>
                <c:pt idx="30">
                  <c:v>9.5</c:v>
                </c:pt>
                <c:pt idx="31">
                  <c:v>52.9</c:v>
                </c:pt>
                <c:pt idx="32">
                  <c:v>35.4</c:v>
                </c:pt>
                <c:pt idx="33">
                  <c:v>31.6</c:v>
                </c:pt>
                <c:pt idx="34">
                  <c:v>28.3</c:v>
                </c:pt>
                <c:pt idx="35">
                  <c:v>77.6</c:v>
                </c:pt>
                <c:pt idx="36">
                  <c:v>48</c:v>
                </c:pt>
                <c:pt idx="37">
                  <c:v>80.3</c:v>
                </c:pt>
                <c:pt idx="38">
                  <c:v>73.7</c:v>
                </c:pt>
                <c:pt idx="39">
                  <c:v>28.8</c:v>
                </c:pt>
                <c:pt idx="40">
                  <c:v>37.8</c:v>
                </c:pt>
                <c:pt idx="41">
                  <c:v>21</c:v>
                </c:pt>
                <c:pt idx="42">
                  <c:v>22.4</c:v>
                </c:pt>
                <c:pt idx="43">
                  <c:v>76.1</c:v>
                </c:pt>
                <c:pt idx="44">
                  <c:v>62.2</c:v>
                </c:pt>
                <c:pt idx="45">
                  <c:v>25.5</c:v>
                </c:pt>
                <c:pt idx="46">
                  <c:v>28.5</c:v>
                </c:pt>
                <c:pt idx="47">
                  <c:v>73.4</c:v>
                </c:pt>
                <c:pt idx="48">
                  <c:v>61.1</c:v>
                </c:pt>
                <c:pt idx="49">
                  <c:v>16.3</c:v>
                </c:pt>
                <c:pt idx="50">
                  <c:v>36</c:v>
                </c:pt>
                <c:pt idx="51">
                  <c:v>68.3</c:v>
                </c:pt>
                <c:pt idx="52">
                  <c:v>59.5</c:v>
                </c:pt>
                <c:pt idx="53">
                  <c:v>35.9</c:v>
                </c:pt>
                <c:pt idx="54">
                  <c:v>22.8</c:v>
                </c:pt>
                <c:pt idx="55">
                  <c:v>55.6</c:v>
                </c:pt>
                <c:pt idx="56">
                  <c:v>30.2</c:v>
                </c:pt>
                <c:pt idx="57">
                  <c:v>60.7</c:v>
                </c:pt>
                <c:pt idx="58">
                  <c:v>22.4</c:v>
                </c:pt>
                <c:pt idx="59">
                  <c:v>50.1</c:v>
                </c:pt>
                <c:pt idx="60">
                  <c:v>35.6</c:v>
                </c:pt>
                <c:pt idx="61">
                  <c:v>92.4</c:v>
                </c:pt>
                <c:pt idx="62">
                  <c:v>59.4</c:v>
                </c:pt>
                <c:pt idx="63">
                  <c:v>58</c:v>
                </c:pt>
                <c:pt idx="64">
                  <c:v>58.5</c:v>
                </c:pt>
                <c:pt idx="65">
                  <c:v>38.4</c:v>
                </c:pt>
                <c:pt idx="66">
                  <c:v>28.6</c:v>
                </c:pt>
                <c:pt idx="67">
                  <c:v>27.6</c:v>
                </c:pt>
                <c:pt idx="68">
                  <c:v>27.9</c:v>
                </c:pt>
                <c:pt idx="69">
                  <c:v>57.4</c:v>
                </c:pt>
                <c:pt idx="70">
                  <c:v>6.2</c:v>
                </c:pt>
                <c:pt idx="71">
                  <c:v>54.4</c:v>
                </c:pt>
                <c:pt idx="72">
                  <c:v>95.7</c:v>
                </c:pt>
                <c:pt idx="73">
                  <c:v>1.8</c:v>
                </c:pt>
                <c:pt idx="74">
                  <c:v>6.4</c:v>
                </c:pt>
                <c:pt idx="75">
                  <c:v>47.6</c:v>
                </c:pt>
                <c:pt idx="76">
                  <c:v>54.5</c:v>
                </c:pt>
                <c:pt idx="77">
                  <c:v>0.7</c:v>
                </c:pt>
                <c:pt idx="78">
                  <c:v>7.1</c:v>
                </c:pt>
                <c:pt idx="79">
                  <c:v>79.5</c:v>
                </c:pt>
                <c:pt idx="80">
                  <c:v>41.8</c:v>
                </c:pt>
                <c:pt idx="81">
                  <c:v>75.8</c:v>
                </c:pt>
                <c:pt idx="82">
                  <c:v>11.8</c:v>
                </c:pt>
                <c:pt idx="83">
                  <c:v>30.8</c:v>
                </c:pt>
                <c:pt idx="84">
                  <c:v>56.8</c:v>
                </c:pt>
                <c:pt idx="85">
                  <c:v>22.3</c:v>
                </c:pt>
                <c:pt idx="86">
                  <c:v>42.6</c:v>
                </c:pt>
                <c:pt idx="87">
                  <c:v>41.6</c:v>
                </c:pt>
                <c:pt idx="88">
                  <c:v>24.6</c:v>
                </c:pt>
                <c:pt idx="89">
                  <c:v>33.6</c:v>
                </c:pt>
                <c:pt idx="90">
                  <c:v>24.4</c:v>
                </c:pt>
                <c:pt idx="91">
                  <c:v>33.4</c:v>
                </c:pt>
                <c:pt idx="92">
                  <c:v>42.7</c:v>
                </c:pt>
                <c:pt idx="93">
                  <c:v>26.9</c:v>
                </c:pt>
                <c:pt idx="94">
                  <c:v>34.6</c:v>
                </c:pt>
                <c:pt idx="95">
                  <c:v>58.6</c:v>
                </c:pt>
                <c:pt idx="96">
                  <c:v>78.2</c:v>
                </c:pt>
                <c:pt idx="97">
                  <c:v>77.2</c:v>
                </c:pt>
                <c:pt idx="98">
                  <c:v>42.2</c:v>
                </c:pt>
                <c:pt idx="99">
                  <c:v>41.7</c:v>
                </c:pt>
                <c:pt idx="100">
                  <c:v>59.1</c:v>
                </c:pt>
                <c:pt idx="101">
                  <c:v>44</c:v>
                </c:pt>
                <c:pt idx="102">
                  <c:v>78.2</c:v>
                </c:pt>
                <c:pt idx="103">
                  <c:v>83.4</c:v>
                </c:pt>
                <c:pt idx="104">
                  <c:v>47.9</c:v>
                </c:pt>
                <c:pt idx="105">
                  <c:v>69.8</c:v>
                </c:pt>
                <c:pt idx="106">
                  <c:v>39.5</c:v>
                </c:pt>
                <c:pt idx="107">
                  <c:v>46.9</c:v>
                </c:pt>
                <c:pt idx="108">
                  <c:v>2.2</c:v>
                </c:pt>
                <c:pt idx="109">
                  <c:v>55.5</c:v>
                </c:pt>
                <c:pt idx="110">
                  <c:v>54.8</c:v>
                </c:pt>
                <c:pt idx="111">
                  <c:v>48.9</c:v>
                </c:pt>
                <c:pt idx="112">
                  <c:v>50.3</c:v>
                </c:pt>
                <c:pt idx="113">
                  <c:v>72</c:v>
                </c:pt>
                <c:pt idx="114">
                  <c:v>20.5</c:v>
                </c:pt>
                <c:pt idx="115">
                  <c:v>8.7</c:v>
                </c:pt>
                <c:pt idx="116">
                  <c:v>78.1</c:v>
                </c:pt>
                <c:pt idx="117">
                  <c:v>56.3</c:v>
                </c:pt>
                <c:pt idx="118">
                  <c:v>26.5</c:v>
                </c:pt>
                <c:pt idx="119">
                  <c:v>37.8</c:v>
                </c:pt>
                <c:pt idx="120">
                  <c:v>32.5</c:v>
                </c:pt>
                <c:pt idx="121">
                  <c:v>44.8</c:v>
                </c:pt>
                <c:pt idx="122">
                  <c:v>5.7</c:v>
                </c:pt>
                <c:pt idx="123">
                  <c:v>38.3</c:v>
                </c:pt>
                <c:pt idx="124">
                  <c:v>42.6</c:v>
                </c:pt>
                <c:pt idx="125">
                  <c:v>57.7</c:v>
                </c:pt>
                <c:pt idx="126">
                  <c:v>26.3</c:v>
                </c:pt>
                <c:pt idx="127">
                  <c:v>22.8</c:v>
                </c:pt>
                <c:pt idx="128">
                  <c:v>68.8</c:v>
                </c:pt>
                <c:pt idx="129">
                  <c:v>47.9</c:v>
                </c:pt>
                <c:pt idx="130">
                  <c:v>52.4</c:v>
                </c:pt>
                <c:pt idx="131">
                  <c:v>63.3</c:v>
                </c:pt>
                <c:pt idx="132">
                  <c:v>54.1</c:v>
                </c:pt>
                <c:pt idx="133">
                  <c:v>50.5</c:v>
                </c:pt>
                <c:pt idx="134">
                  <c:v>21.3</c:v>
                </c:pt>
                <c:pt idx="135">
                  <c:v>80.3</c:v>
                </c:pt>
                <c:pt idx="136">
                  <c:v>28.4</c:v>
                </c:pt>
                <c:pt idx="137">
                  <c:v>82.3</c:v>
                </c:pt>
                <c:pt idx="138">
                  <c:v>47.5</c:v>
                </c:pt>
                <c:pt idx="139">
                  <c:v>23.5</c:v>
                </c:pt>
                <c:pt idx="140">
                  <c:v>78.7</c:v>
                </c:pt>
                <c:pt idx="141">
                  <c:v>73.4</c:v>
                </c:pt>
                <c:pt idx="142">
                  <c:v>5.9</c:v>
                </c:pt>
                <c:pt idx="143">
                  <c:v>64</c:v>
                </c:pt>
                <c:pt idx="144">
                  <c:v>64.3</c:v>
                </c:pt>
                <c:pt idx="145">
                  <c:v>32.5</c:v>
                </c:pt>
                <c:pt idx="146">
                  <c:v>84</c:v>
                </c:pt>
                <c:pt idx="147">
                  <c:v>36.4</c:v>
                </c:pt>
                <c:pt idx="148">
                  <c:v>23.3</c:v>
                </c:pt>
                <c:pt idx="149">
                  <c:v>44.4</c:v>
                </c:pt>
                <c:pt idx="150">
                  <c:v>0.6</c:v>
                </c:pt>
                <c:pt idx="151">
                  <c:v>13.2</c:v>
                </c:pt>
                <c:pt idx="152">
                  <c:v>22.9</c:v>
                </c:pt>
                <c:pt idx="153">
                  <c:v>83.4</c:v>
                </c:pt>
                <c:pt idx="154">
                  <c:v>30.2</c:v>
                </c:pt>
                <c:pt idx="155">
                  <c:v>39.9</c:v>
                </c:pt>
                <c:pt idx="156">
                  <c:v>47.3</c:v>
                </c:pt>
                <c:pt idx="157">
                  <c:v>38.9</c:v>
                </c:pt>
                <c:pt idx="158">
                  <c:v>89.8</c:v>
                </c:pt>
                <c:pt idx="159">
                  <c:v>10.2</c:v>
                </c:pt>
                <c:pt idx="160">
                  <c:v>62.8</c:v>
                </c:pt>
                <c:pt idx="161">
                  <c:v>30.9</c:v>
                </c:pt>
                <c:pt idx="162">
                  <c:v>0.5</c:v>
                </c:pt>
                <c:pt idx="163">
                  <c:v>31.4</c:v>
                </c:pt>
                <c:pt idx="164">
                  <c:v>71.8</c:v>
                </c:pt>
                <c:pt idx="165">
                  <c:v>62.9</c:v>
                </c:pt>
                <c:pt idx="166">
                  <c:v>2.8</c:v>
                </c:pt>
                <c:pt idx="167">
                  <c:v>13.6</c:v>
                </c:pt>
                <c:pt idx="168">
                  <c:v>50.6</c:v>
                </c:pt>
                <c:pt idx="169">
                  <c:v>58.5</c:v>
                </c:pt>
                <c:pt idx="170">
                  <c:v>61.2</c:v>
                </c:pt>
                <c:pt idx="171">
                  <c:v>0</c:v>
                </c:pt>
                <c:pt idx="172">
                  <c:v>51.7</c:v>
                </c:pt>
                <c:pt idx="173">
                  <c:v>54.2</c:v>
                </c:pt>
                <c:pt idx="174">
                  <c:v>48.4</c:v>
                </c:pt>
                <c:pt idx="175">
                  <c:v>34.7</c:v>
                </c:pt>
                <c:pt idx="176">
                  <c:v>27</c:v>
                </c:pt>
                <c:pt idx="177">
                  <c:v>32.3</c:v>
                </c:pt>
                <c:pt idx="178">
                  <c:v>31.1</c:v>
                </c:pt>
                <c:pt idx="179">
                  <c:v>60.2</c:v>
                </c:pt>
                <c:pt idx="180">
                  <c:v>34.6</c:v>
                </c:pt>
                <c:pt idx="181">
                  <c:v>33.9</c:v>
                </c:pt>
                <c:pt idx="182">
                  <c:v>24.7</c:v>
                </c:pt>
                <c:pt idx="183">
                  <c:v>47</c:v>
                </c:pt>
                <c:pt idx="184">
                  <c:v>27.4</c:v>
                </c:pt>
                <c:pt idx="185">
                  <c:v>64</c:v>
                </c:pt>
                <c:pt idx="186">
                  <c:v>48.5</c:v>
                </c:pt>
                <c:pt idx="187">
                  <c:v>71.5</c:v>
                </c:pt>
                <c:pt idx="188">
                  <c:v>85.4</c:v>
                </c:pt>
                <c:pt idx="189">
                  <c:v>58</c:v>
                </c:pt>
                <c:pt idx="190">
                  <c:v>43.3</c:v>
                </c:pt>
                <c:pt idx="191">
                  <c:v>22</c:v>
                </c:pt>
                <c:pt idx="192">
                  <c:v>27.5</c:v>
                </c:pt>
                <c:pt idx="193">
                  <c:v>59.3</c:v>
                </c:pt>
                <c:pt idx="194">
                  <c:v>35.1</c:v>
                </c:pt>
                <c:pt idx="195">
                  <c:v>45.6</c:v>
                </c:pt>
                <c:pt idx="196">
                  <c:v>42.3</c:v>
                </c:pt>
                <c:pt idx="197">
                  <c:v>58.4</c:v>
                </c:pt>
                <c:pt idx="198">
                  <c:v>36.3</c:v>
                </c:pt>
                <c:pt idx="199">
                  <c:v>52</c:v>
                </c:pt>
                <c:pt idx="200">
                  <c:v>24.7</c:v>
                </c:pt>
                <c:pt idx="201">
                  <c:v>58.9</c:v>
                </c:pt>
                <c:pt idx="202">
                  <c:v>2.7</c:v>
                </c:pt>
                <c:pt idx="203">
                  <c:v>19.6</c:v>
                </c:pt>
                <c:pt idx="204">
                  <c:v>56</c:v>
                </c:pt>
                <c:pt idx="205">
                  <c:v>63.5</c:v>
                </c:pt>
                <c:pt idx="206">
                  <c:v>25.2</c:v>
                </c:pt>
                <c:pt idx="207">
                  <c:v>53.5</c:v>
                </c:pt>
                <c:pt idx="208">
                  <c:v>38.4</c:v>
                </c:pt>
                <c:pt idx="209">
                  <c:v>69.4</c:v>
                </c:pt>
                <c:pt idx="210">
                  <c:v>42.4</c:v>
                </c:pt>
                <c:pt idx="211">
                  <c:v>44.5</c:v>
                </c:pt>
                <c:pt idx="212">
                  <c:v>27.6</c:v>
                </c:pt>
                <c:pt idx="213">
                  <c:v>19</c:v>
                </c:pt>
                <c:pt idx="214">
                  <c:v>22.1</c:v>
                </c:pt>
                <c:pt idx="215">
                  <c:v>72</c:v>
                </c:pt>
                <c:pt idx="216">
                  <c:v>15.6</c:v>
                </c:pt>
                <c:pt idx="217">
                  <c:v>54.5</c:v>
                </c:pt>
                <c:pt idx="218">
                  <c:v>55.9</c:v>
                </c:pt>
                <c:pt idx="219">
                  <c:v>65.6</c:v>
                </c:pt>
                <c:pt idx="220">
                  <c:v>9.5</c:v>
                </c:pt>
                <c:pt idx="221">
                  <c:v>45.2</c:v>
                </c:pt>
                <c:pt idx="222">
                  <c:v>15.1</c:v>
                </c:pt>
                <c:pt idx="223">
                  <c:v>65.3</c:v>
                </c:pt>
                <c:pt idx="224">
                  <c:v>37.4</c:v>
                </c:pt>
                <c:pt idx="225">
                  <c:v>59.5</c:v>
                </c:pt>
                <c:pt idx="226">
                  <c:v>45.7</c:v>
                </c:pt>
                <c:pt idx="227">
                  <c:v>25.6</c:v>
                </c:pt>
                <c:pt idx="228">
                  <c:v>31.5</c:v>
                </c:pt>
                <c:pt idx="229">
                  <c:v>45.5</c:v>
                </c:pt>
                <c:pt idx="230">
                  <c:v>31</c:v>
                </c:pt>
                <c:pt idx="231">
                  <c:v>54.7</c:v>
                </c:pt>
                <c:pt idx="232">
                  <c:v>12.4</c:v>
                </c:pt>
                <c:pt idx="233">
                  <c:v>86.1</c:v>
                </c:pt>
                <c:pt idx="234">
                  <c:v>64.5</c:v>
                </c:pt>
                <c:pt idx="235">
                  <c:v>7.6</c:v>
                </c:pt>
                <c:pt idx="236">
                  <c:v>20.6</c:v>
                </c:pt>
                <c:pt idx="237">
                  <c:v>35.3</c:v>
                </c:pt>
                <c:pt idx="238">
                  <c:v>83.3</c:v>
                </c:pt>
                <c:pt idx="239">
                  <c:v>50.7</c:v>
                </c:pt>
                <c:pt idx="240">
                  <c:v>41.9</c:v>
                </c:pt>
                <c:pt idx="241">
                  <c:v>53</c:v>
                </c:pt>
                <c:pt idx="242">
                  <c:v>46.5</c:v>
                </c:pt>
                <c:pt idx="243">
                  <c:v>11.1</c:v>
                </c:pt>
                <c:pt idx="244">
                  <c:v>72</c:v>
                </c:pt>
                <c:pt idx="245">
                  <c:v>52.7</c:v>
                </c:pt>
                <c:pt idx="246">
                  <c:v>49.6</c:v>
                </c:pt>
                <c:pt idx="247">
                  <c:v>5.9</c:v>
                </c:pt>
                <c:pt idx="248">
                  <c:v>38.2</c:v>
                </c:pt>
                <c:pt idx="249">
                  <c:v>78.6</c:v>
                </c:pt>
                <c:pt idx="250">
                  <c:v>69.1</c:v>
                </c:pt>
                <c:pt idx="251">
                  <c:v>43.6</c:v>
                </c:pt>
                <c:pt idx="252">
                  <c:v>23.4</c:v>
                </c:pt>
                <c:pt idx="253">
                  <c:v>38.5</c:v>
                </c:pt>
                <c:pt idx="254">
                  <c:v>37.1</c:v>
                </c:pt>
                <c:pt idx="255">
                  <c:v>43.2</c:v>
                </c:pt>
                <c:pt idx="256">
                  <c:v>53.9</c:v>
                </c:pt>
                <c:pt idx="257">
                  <c:v>21.2</c:v>
                </c:pt>
                <c:pt idx="258">
                  <c:v>21.9</c:v>
                </c:pt>
                <c:pt idx="259">
                  <c:v>1</c:v>
                </c:pt>
                <c:pt idx="260">
                  <c:v>10.8</c:v>
                </c:pt>
                <c:pt idx="261">
                  <c:v>58.5</c:v>
                </c:pt>
                <c:pt idx="262">
                  <c:v>9.5</c:v>
                </c:pt>
                <c:pt idx="263">
                  <c:v>29.1</c:v>
                </c:pt>
                <c:pt idx="264">
                  <c:v>38.5</c:v>
                </c:pt>
                <c:pt idx="265">
                  <c:v>50.3</c:v>
                </c:pt>
                <c:pt idx="266">
                  <c:v>37.6</c:v>
                </c:pt>
                <c:pt idx="267">
                  <c:v>35.4</c:v>
                </c:pt>
                <c:pt idx="268">
                  <c:v>45.3</c:v>
                </c:pt>
                <c:pt idx="269">
                  <c:v>46.9</c:v>
                </c:pt>
                <c:pt idx="270">
                  <c:v>31.6</c:v>
                </c:pt>
                <c:pt idx="271">
                  <c:v>65.6</c:v>
                </c:pt>
                <c:pt idx="272">
                  <c:v>63.7</c:v>
                </c:pt>
                <c:pt idx="273">
                  <c:v>69.5</c:v>
                </c:pt>
                <c:pt idx="274">
                  <c:v>55.8</c:v>
                </c:pt>
                <c:pt idx="275">
                  <c:v>34.2</c:v>
                </c:pt>
                <c:pt idx="276">
                  <c:v>1</c:v>
                </c:pt>
                <c:pt idx="277">
                  <c:v>53.8</c:v>
                </c:pt>
                <c:pt idx="278">
                  <c:v>77.7</c:v>
                </c:pt>
                <c:pt idx="279">
                  <c:v>69.2</c:v>
                </c:pt>
                <c:pt idx="280">
                  <c:v>79.5</c:v>
                </c:pt>
                <c:pt idx="281">
                  <c:v>53.7</c:v>
                </c:pt>
                <c:pt idx="282">
                  <c:v>73.6</c:v>
                </c:pt>
                <c:pt idx="283">
                  <c:v>53.4</c:v>
                </c:pt>
                <c:pt idx="284">
                  <c:v>39.2</c:v>
                </c:pt>
                <c:pt idx="285">
                  <c:v>35.4</c:v>
                </c:pt>
                <c:pt idx="286">
                  <c:v>40</c:v>
                </c:pt>
                <c:pt idx="287">
                  <c:v>50.6</c:v>
                </c:pt>
                <c:pt idx="288">
                  <c:v>48</c:v>
                </c:pt>
                <c:pt idx="289">
                  <c:v>25.9</c:v>
                </c:pt>
                <c:pt idx="290">
                  <c:v>58.9</c:v>
                </c:pt>
                <c:pt idx="291">
                  <c:v>62.9</c:v>
                </c:pt>
                <c:pt idx="292">
                  <c:v>48.5</c:v>
                </c:pt>
                <c:pt idx="293">
                  <c:v>54.2</c:v>
                </c:pt>
                <c:pt idx="294">
                  <c:v>59.9</c:v>
                </c:pt>
                <c:pt idx="295">
                  <c:v>28.4</c:v>
                </c:pt>
                <c:pt idx="296">
                  <c:v>18.8</c:v>
                </c:pt>
                <c:pt idx="297">
                  <c:v>13</c:v>
                </c:pt>
                <c:pt idx="298">
                  <c:v>12.3</c:v>
                </c:pt>
                <c:pt idx="299">
                  <c:v>61.8</c:v>
                </c:pt>
              </c:numCache>
            </c:numRef>
          </c:yVal>
          <c:smooth val="1"/>
          <c:extLst>
            <c:ext xmlns:c16="http://schemas.microsoft.com/office/drawing/2014/chart" uri="{C3380CC4-5D6E-409C-BE32-E72D297353CC}">
              <c16:uniqueId val="{00000000-86BB-4938-A91F-EC65A382ECE1}"/>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Leftover food (g)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20"/>
      </c:valAx>
      <c:valAx>
        <c:axId val="48650112"/>
        <c:scaling>
          <c:orientation val="minMax"/>
          <c:max val="650"/>
          <c:min val="150"/>
        </c:scaling>
        <c:delete val="0"/>
        <c:axPos val="b"/>
        <c:title>
          <c:tx>
            <c:rich>
              <a:bodyPr/>
              <a:lstStyle/>
              <a:p>
                <a:r>
                  <a:rPr sz="1650">
                    <a:solidFill>
                      <a:srgbClr val="111111"/>
                    </a:solidFill>
                    <a:latin typeface="Aptos"/>
                    <a:ea typeface="Aptos"/>
                    <a:cs typeface="Aptos"/>
                  </a:rPr>
                  <a:t>Portion weight (g)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0"/>
      </c:valAx>
      <c:spPr>
        <a:noFill/>
        <a:ln w="0">
          <a:noFill/>
        </a:ln>
      </c:spPr>
    </c:plotArea>
    <c:plotVisOnly val="1"/>
    <c:dispBlanksAs val="zero"/>
    <c:showDLblsOverMax val="1"/>
  </c:chart>
  <c:spPr>
    <a:no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Ogive segment 0</c:v>
          </c:tx>
          <c:spPr>
            <a:ln w="28575">
              <a:solidFill>
                <a:srgbClr val="D6171D"/>
              </a:solidFill>
              <a:prstDash val="solid"/>
            </a:ln>
          </c:spPr>
          <c:marker>
            <c:symbol val="none"/>
          </c:marker>
          <c:xVal>
            <c:numRef>
              <c:f>'Chart Data'!$A$2:$A$3</c:f>
              <c:numCache>
                <c:formatCode>0.##</c:formatCode>
                <c:ptCount val="2"/>
                <c:pt idx="0">
                  <c:v>0</c:v>
                </c:pt>
                <c:pt idx="1">
                  <c:v>20</c:v>
                </c:pt>
              </c:numCache>
            </c:numRef>
          </c:xVal>
          <c:yVal>
            <c:numRef>
              <c:f>'Chart Data'!$B$2:$B$3</c:f>
              <c:numCache>
                <c:formatCode>0.##</c:formatCode>
                <c:ptCount val="2"/>
                <c:pt idx="0">
                  <c:v>0</c:v>
                </c:pt>
                <c:pt idx="1">
                  <c:v>13.666667</c:v>
                </c:pt>
              </c:numCache>
            </c:numRef>
          </c:yVal>
          <c:smooth val="1"/>
          <c:extLst>
            <c:ext xmlns:c16="http://schemas.microsoft.com/office/drawing/2014/chart" uri="{C3380CC4-5D6E-409C-BE32-E72D297353CC}">
              <c16:uniqueId val="{00000000-E9EA-4437-AEB3-F2C03B494815}"/>
            </c:ext>
          </c:extLst>
        </c:ser>
        <c:ser>
          <c:idx val="1"/>
          <c:order val="1"/>
          <c:tx>
            <c:v>Ogive segment 1</c:v>
          </c:tx>
          <c:spPr>
            <a:ln w="28575">
              <a:solidFill>
                <a:srgbClr val="D6171D"/>
              </a:solidFill>
              <a:prstDash val="solid"/>
            </a:ln>
          </c:spPr>
          <c:marker>
            <c:symbol val="none"/>
          </c:marker>
          <c:xVal>
            <c:numRef>
              <c:f>'Chart Data'!$C$2:$C$3</c:f>
              <c:numCache>
                <c:formatCode>0.##</c:formatCode>
                <c:ptCount val="2"/>
                <c:pt idx="0">
                  <c:v>20</c:v>
                </c:pt>
                <c:pt idx="1">
                  <c:v>40</c:v>
                </c:pt>
              </c:numCache>
            </c:numRef>
          </c:xVal>
          <c:yVal>
            <c:numRef>
              <c:f>'Chart Data'!$D$2:$D$3</c:f>
              <c:numCache>
                <c:formatCode>0.##</c:formatCode>
                <c:ptCount val="2"/>
                <c:pt idx="0">
                  <c:v>13.666667</c:v>
                </c:pt>
                <c:pt idx="1">
                  <c:v>44.333333</c:v>
                </c:pt>
              </c:numCache>
            </c:numRef>
          </c:yVal>
          <c:smooth val="1"/>
          <c:extLst>
            <c:ext xmlns:c16="http://schemas.microsoft.com/office/drawing/2014/chart" uri="{C3380CC4-5D6E-409C-BE32-E72D297353CC}">
              <c16:uniqueId val="{00000001-E9EA-4437-AEB3-F2C03B494815}"/>
            </c:ext>
          </c:extLst>
        </c:ser>
        <c:ser>
          <c:idx val="2"/>
          <c:order val="2"/>
          <c:tx>
            <c:v>Ogive segment 2</c:v>
          </c:tx>
          <c:spPr>
            <a:ln w="28575">
              <a:solidFill>
                <a:srgbClr val="D6171D"/>
              </a:solidFill>
              <a:prstDash val="solid"/>
            </a:ln>
          </c:spPr>
          <c:marker>
            <c:symbol val="none"/>
          </c:marker>
          <c:xVal>
            <c:numRef>
              <c:f>'Chart Data'!$E$2:$E$3</c:f>
              <c:numCache>
                <c:formatCode>0.##</c:formatCode>
                <c:ptCount val="2"/>
                <c:pt idx="0">
                  <c:v>40</c:v>
                </c:pt>
                <c:pt idx="1">
                  <c:v>60</c:v>
                </c:pt>
              </c:numCache>
            </c:numRef>
          </c:xVal>
          <c:yVal>
            <c:numRef>
              <c:f>'Chart Data'!$F$2:$F$3</c:f>
              <c:numCache>
                <c:formatCode>0.##</c:formatCode>
                <c:ptCount val="2"/>
                <c:pt idx="0">
                  <c:v>44.333333</c:v>
                </c:pt>
                <c:pt idx="1">
                  <c:v>77.333333</c:v>
                </c:pt>
              </c:numCache>
            </c:numRef>
          </c:yVal>
          <c:smooth val="1"/>
          <c:extLst>
            <c:ext xmlns:c16="http://schemas.microsoft.com/office/drawing/2014/chart" uri="{C3380CC4-5D6E-409C-BE32-E72D297353CC}">
              <c16:uniqueId val="{00000002-E9EA-4437-AEB3-F2C03B494815}"/>
            </c:ext>
          </c:extLst>
        </c:ser>
        <c:ser>
          <c:idx val="3"/>
          <c:order val="3"/>
          <c:tx>
            <c:v>Ogive segment 3</c:v>
          </c:tx>
          <c:spPr>
            <a:ln w="28575">
              <a:solidFill>
                <a:srgbClr val="D6171D"/>
              </a:solidFill>
              <a:prstDash val="solid"/>
            </a:ln>
          </c:spPr>
          <c:marker>
            <c:symbol val="none"/>
          </c:marker>
          <c:xVal>
            <c:numRef>
              <c:f>'Chart Data'!$G$2:$G$3</c:f>
              <c:numCache>
                <c:formatCode>0.##</c:formatCode>
                <c:ptCount val="2"/>
                <c:pt idx="0">
                  <c:v>60</c:v>
                </c:pt>
                <c:pt idx="1">
                  <c:v>80</c:v>
                </c:pt>
              </c:numCache>
            </c:numRef>
          </c:xVal>
          <c:yVal>
            <c:numRef>
              <c:f>'Chart Data'!$H$2:$H$3</c:f>
              <c:numCache>
                <c:formatCode>0.##</c:formatCode>
                <c:ptCount val="2"/>
                <c:pt idx="0">
                  <c:v>77.333333</c:v>
                </c:pt>
                <c:pt idx="1">
                  <c:v>95</c:v>
                </c:pt>
              </c:numCache>
            </c:numRef>
          </c:yVal>
          <c:smooth val="1"/>
          <c:extLst>
            <c:ext xmlns:c16="http://schemas.microsoft.com/office/drawing/2014/chart" uri="{C3380CC4-5D6E-409C-BE32-E72D297353CC}">
              <c16:uniqueId val="{00000003-E9EA-4437-AEB3-F2C03B494815}"/>
            </c:ext>
          </c:extLst>
        </c:ser>
        <c:ser>
          <c:idx val="4"/>
          <c:order val="4"/>
          <c:tx>
            <c:v>Ogive segment 4</c:v>
          </c:tx>
          <c:spPr>
            <a:ln w="28575">
              <a:solidFill>
                <a:srgbClr val="D6171D"/>
              </a:solidFill>
              <a:prstDash val="solid"/>
            </a:ln>
          </c:spPr>
          <c:marker>
            <c:symbol val="none"/>
          </c:marker>
          <c:xVal>
            <c:numRef>
              <c:f>'Chart Data'!$I$2:$I$3</c:f>
              <c:numCache>
                <c:formatCode>0.##</c:formatCode>
                <c:ptCount val="2"/>
                <c:pt idx="0">
                  <c:v>80</c:v>
                </c:pt>
                <c:pt idx="1">
                  <c:v>100</c:v>
                </c:pt>
              </c:numCache>
            </c:numRef>
          </c:xVal>
          <c:yVal>
            <c:numRef>
              <c:f>'Chart Data'!$J$2:$J$3</c:f>
              <c:numCache>
                <c:formatCode>0.##</c:formatCode>
                <c:ptCount val="2"/>
                <c:pt idx="0">
                  <c:v>95</c:v>
                </c:pt>
                <c:pt idx="1">
                  <c:v>100</c:v>
                </c:pt>
              </c:numCache>
            </c:numRef>
          </c:yVal>
          <c:smooth val="1"/>
          <c:extLst>
            <c:ext xmlns:c16="http://schemas.microsoft.com/office/drawing/2014/chart" uri="{C3380CC4-5D6E-409C-BE32-E72D297353CC}">
              <c16:uniqueId val="{00000004-E9EA-4437-AEB3-F2C03B494815}"/>
            </c:ext>
          </c:extLst>
        </c:ser>
        <c:ser>
          <c:idx val="5"/>
          <c:order val="5"/>
          <c:tx>
            <c:v>Cumulative percentage</c:v>
          </c:tx>
          <c:spPr>
            <a:ln w="0">
              <a:noFill/>
            </a:ln>
          </c:spPr>
          <c:marker>
            <c:symbol val="circle"/>
            <c:size val="7"/>
            <c:spPr>
              <a:noFill/>
            </c:spPr>
          </c:marker>
          <c:xVal>
            <c:numRef>
              <c:f>'Chart Data'!$K$2:$K$7</c:f>
              <c:numCache>
                <c:formatCode>0.##</c:formatCode>
                <c:ptCount val="6"/>
                <c:pt idx="0">
                  <c:v>0</c:v>
                </c:pt>
                <c:pt idx="1">
                  <c:v>20</c:v>
                </c:pt>
                <c:pt idx="2">
                  <c:v>40</c:v>
                </c:pt>
                <c:pt idx="3">
                  <c:v>60</c:v>
                </c:pt>
                <c:pt idx="4">
                  <c:v>80</c:v>
                </c:pt>
                <c:pt idx="5">
                  <c:v>100</c:v>
                </c:pt>
              </c:numCache>
            </c:numRef>
          </c:xVal>
          <c:yVal>
            <c:numRef>
              <c:f>'Chart Data'!$L$2:$L$7</c:f>
              <c:numCache>
                <c:formatCode>0.##</c:formatCode>
                <c:ptCount val="6"/>
                <c:pt idx="0">
                  <c:v>0</c:v>
                </c:pt>
                <c:pt idx="1">
                  <c:v>13.666667</c:v>
                </c:pt>
                <c:pt idx="2">
                  <c:v>44.333333</c:v>
                </c:pt>
                <c:pt idx="3">
                  <c:v>77.333333</c:v>
                </c:pt>
                <c:pt idx="4">
                  <c:v>95</c:v>
                </c:pt>
                <c:pt idx="5">
                  <c:v>100</c:v>
                </c:pt>
              </c:numCache>
            </c:numRef>
          </c:yVal>
          <c:smooth val="1"/>
          <c:extLst>
            <c:ext xmlns:c16="http://schemas.microsoft.com/office/drawing/2014/chart" uri="{C3380CC4-5D6E-409C-BE32-E72D297353CC}">
              <c16:uniqueId val="{00000005-E9EA-4437-AEB3-F2C03B494815}"/>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6668">
              <a:solidFill>
                <a:srgbClr val="D0D8DD"/>
              </a:solidFill>
              <a:prstDash val="solid"/>
            </a:ln>
          </c:spPr>
        </c:majorGridlines>
        <c:title>
          <c:tx>
            <c:rich>
              <a:bodyPr/>
              <a:lstStyle/>
              <a:p>
                <a:r>
                  <a:rPr sz="1425">
                    <a:solidFill>
                      <a:srgbClr val="111111"/>
                    </a:solidFill>
                    <a:latin typeface="Aptos"/>
                    <a:ea typeface="Aptos"/>
                    <a:cs typeface="Aptos"/>
                  </a:rPr>
                  <a:t>Cumulative %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425">
                <a:solidFill>
                  <a:srgbClr val="111111"/>
                </a:solidFill>
                <a:latin typeface="Aptos"/>
                <a:ea typeface="Aptos"/>
                <a:cs typeface="Aptos"/>
              </a:defRPr>
            </a:pPr>
            <a:endParaRPr lang="en-US"/>
          </a:p>
        </c:txPr>
        <c:crossAx val="48650112"/>
        <c:crosses val="autoZero"/>
        <c:crossBetween val="midCat"/>
        <c:majorUnit val="20"/>
      </c:valAx>
      <c:valAx>
        <c:axId val="48650112"/>
        <c:scaling>
          <c:orientation val="minMax"/>
          <c:max val="100"/>
          <c:min val="0"/>
        </c:scaling>
        <c:delete val="0"/>
        <c:axPos val="b"/>
        <c:title>
          <c:tx>
            <c:rich>
              <a:bodyPr/>
              <a:lstStyle/>
              <a:p>
                <a:r>
                  <a:rPr sz="1425">
                    <a:solidFill>
                      <a:srgbClr val="111111"/>
                    </a:solidFill>
                    <a:latin typeface="Aptos"/>
                    <a:ea typeface="Aptos"/>
                    <a:cs typeface="Aptos"/>
                  </a:rPr>
                  <a:t>Upper boundary (g)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425">
                <a:solidFill>
                  <a:srgbClr val="111111"/>
                </a:solidFill>
                <a:latin typeface="Aptos"/>
                <a:ea typeface="Aptos"/>
                <a:cs typeface="Aptos"/>
              </a:defRPr>
            </a:pPr>
            <a:endParaRPr lang="en-US"/>
          </a:p>
        </c:txPr>
        <c:crossAx val="48672768"/>
        <c:crosses val="autoZero"/>
        <c:crossBetween val="midCat"/>
        <c:majorUnit val="20"/>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&#65279;<?xml version="1.0" encoding="utf-8"?><Relationships xmlns="http://schemas.openxmlformats.org/package/2006/relationships"><Relationship Type="http://schemas.openxmlformats.org/officeDocument/2006/relationships/theme" Target="/ppt/notesMasters/theme/theme3.xml" Id="R81679a41428a47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ce53c8b0804964" /><Relationship Type="http://schemas.openxmlformats.org/officeDocument/2006/relationships/notesMaster" Target="/ppt/notesMasters/notesMaster1.xml" Id="R63c90911efe84a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29087ba23448ad" /><Relationship Type="http://schemas.openxmlformats.org/officeDocument/2006/relationships/notesMaster" Target="/ppt/notesMasters/notesMaster1.xml" Id="R42f76ba0cb8946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c6977e935e4de0" /><Relationship Type="http://schemas.openxmlformats.org/officeDocument/2006/relationships/notesMaster" Target="/ppt/notesMasters/notesMaster1.xml" Id="R9999d878108d4f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41dab07adb49a4" /><Relationship Type="http://schemas.openxmlformats.org/officeDocument/2006/relationships/notesMaster" Target="/ppt/notesMasters/notesMaster1.xml" Id="R1b82ada2eff246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f59744905b4a7b" /><Relationship Type="http://schemas.openxmlformats.org/officeDocument/2006/relationships/notesMaster" Target="/ppt/notesMasters/notesMaster1.xml" Id="R26ae049971a047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e661c427c84a05" /><Relationship Type="http://schemas.openxmlformats.org/officeDocument/2006/relationships/notesMaster" Target="/ppt/notesMasters/notesMaster1.xml" Id="Ra2476e2b140f40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2adfca9862469e" /><Relationship Type="http://schemas.openxmlformats.org/officeDocument/2006/relationships/notesMaster" Target="/ppt/notesMasters/notesMaster1.xml" Id="Rff5a3c3260404c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3c7a9d79404a38" /><Relationship Type="http://schemas.openxmlformats.org/officeDocument/2006/relationships/notesMaster" Target="/ppt/notesMasters/notesMaster1.xml" Id="Rf81adaefb6234f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1e71d6e6ee4fc4" /><Relationship Type="http://schemas.openxmlformats.org/officeDocument/2006/relationships/notesMaster" Target="/ppt/notesMasters/notesMaster1.xml" Id="Re29052d7cf0c4d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89939ee30441f6" /><Relationship Type="http://schemas.openxmlformats.org/officeDocument/2006/relationships/notesMaster" Target="/ppt/notesMasters/notesMaster1.xml" Id="Rd0105062b1394c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90a960ca87474e" /><Relationship Type="http://schemas.openxmlformats.org/officeDocument/2006/relationships/notesMaster" Target="/ppt/notesMasters/notesMaster1.xml" Id="R5fd0a47e31fe4c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b23b0374ed493a" /><Relationship Type="http://schemas.openxmlformats.org/officeDocument/2006/relationships/notesMaster" Target="/ppt/notesMasters/notesMaster1.xml" Id="R79718c3437b64e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6e5f413c464940" /><Relationship Type="http://schemas.openxmlformats.org/officeDocument/2006/relationships/notesMaster" Target="/ppt/notesMasters/notesMaster1.xml" Id="R7a0354d041144a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dcca5fae0848cf" /><Relationship Type="http://schemas.openxmlformats.org/officeDocument/2006/relationships/notesMaster" Target="/ppt/notesMasters/notesMaster1.xml" Id="Re7c9c90099f849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b333dcdf8f4a13" /><Relationship Type="http://schemas.openxmlformats.org/officeDocument/2006/relationships/notesMaster" Target="/ppt/notesMasters/notesMaster1.xml" Id="Rc4e305cc9f424a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9f2080cffd48bf" /><Relationship Type="http://schemas.openxmlformats.org/officeDocument/2006/relationships/notesMaster" Target="/ppt/notesMasters/notesMaster1.xml" Id="Rb448826d717e45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dadf1b4eed484d" /><Relationship Type="http://schemas.openxmlformats.org/officeDocument/2006/relationships/notesMaster" Target="/ppt/notesMasters/notesMaster1.xml" Id="R85b72f3d995a456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0231533d8b45f9" /><Relationship Type="http://schemas.openxmlformats.org/officeDocument/2006/relationships/notesMaster" Target="/ppt/notesMasters/notesMaster1.xml" Id="Rd3ef91e6250a4ab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255921d50d8462e" /><Relationship Type="http://schemas.openxmlformats.org/officeDocument/2006/relationships/notesMaster" Target="/ppt/notesMasters/notesMaster1.xml" Id="R10e2033b5de74fa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a1a4cbce6e4e4d" /><Relationship Type="http://schemas.openxmlformats.org/officeDocument/2006/relationships/notesMaster" Target="/ppt/notesMasters/notesMaster1.xml" Id="R10c46eb2d56642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86e740d84d4058" /><Relationship Type="http://schemas.openxmlformats.org/officeDocument/2006/relationships/notesMaster" Target="/ppt/notesMasters/notesMaster1.xml" Id="Re8d91a8225e94b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d9421bb78f49da" /><Relationship Type="http://schemas.openxmlformats.org/officeDocument/2006/relationships/notesMaster" Target="/ppt/notesMasters/notesMaster1.xml" Id="R36ab6d92438444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f22681e74e4def" /><Relationship Type="http://schemas.openxmlformats.org/officeDocument/2006/relationships/notesMaster" Target="/ppt/notesMasters/notesMaster1.xml" Id="Ra60b7014871c47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a5c07b5f50d436e" /><Relationship Type="http://schemas.openxmlformats.org/officeDocument/2006/relationships/notesMaster" Target="/ppt/notesMasters/notesMaster1.xml" Id="Re5fcd36848774d2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c807b49eefa49b8" /><Relationship Type="http://schemas.openxmlformats.org/officeDocument/2006/relationships/notesMaster" Target="/ppt/notesMasters/notesMaster1.xml" Id="R2112ad3074fd46b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2172ec0ffd4828" /><Relationship Type="http://schemas.openxmlformats.org/officeDocument/2006/relationships/notesMaster" Target="/ppt/notesMasters/notesMaster1.xml" Id="Rabef786ca63e484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2d5dc265db4c53" /><Relationship Type="http://schemas.openxmlformats.org/officeDocument/2006/relationships/notesMaster" Target="/ppt/notesMasters/notesMaster1.xml" Id="R3f988bf58129449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e8f5b1527e846c7" /><Relationship Type="http://schemas.openxmlformats.org/officeDocument/2006/relationships/notesMaster" Target="/ppt/notesMasters/notesMaster1.xml" Id="Rc678eabcd56748b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48188f97dec41d6" /><Relationship Type="http://schemas.openxmlformats.org/officeDocument/2006/relationships/notesMaster" Target="/ppt/notesMasters/notesMaster1.xml" Id="Re0a708e3e98a4d6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7141697b0064fe5" /><Relationship Type="http://schemas.openxmlformats.org/officeDocument/2006/relationships/notesMaster" Target="/ppt/notesMasters/notesMaster1.xml" Id="R6b59e30388664f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74d328d9d54e48" /><Relationship Type="http://schemas.openxmlformats.org/officeDocument/2006/relationships/notesMaster" Target="/ppt/notesMasters/notesMaster1.xml" Id="Rdf15c49c8d1248e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c93e50ba6040b1" /><Relationship Type="http://schemas.openxmlformats.org/officeDocument/2006/relationships/notesMaster" Target="/ppt/notesMasters/notesMaster1.xml" Id="R47152f56a9ac4ca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23efd5269c04b4d" /><Relationship Type="http://schemas.openxmlformats.org/officeDocument/2006/relationships/notesMaster" Target="/ppt/notesMasters/notesMaster1.xml" Id="Re850e8ebf48d46b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bee70ebbeb94021" /><Relationship Type="http://schemas.openxmlformats.org/officeDocument/2006/relationships/notesMaster" Target="/ppt/notesMasters/notesMaster1.xml" Id="R4adf0d60a749431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83c1d1974794d94" /><Relationship Type="http://schemas.openxmlformats.org/officeDocument/2006/relationships/notesMaster" Target="/ppt/notesMasters/notesMaster1.xml" Id="R755207d373634a2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ff9203495e740b6" /><Relationship Type="http://schemas.openxmlformats.org/officeDocument/2006/relationships/notesMaster" Target="/ppt/notesMasters/notesMaster1.xml" Id="R2cf235949eb24cf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2d818a6fc104385" /><Relationship Type="http://schemas.openxmlformats.org/officeDocument/2006/relationships/notesMaster" Target="/ppt/notesMasters/notesMaster1.xml" Id="Redd0f5073d16438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ec6a318a6ed4768" /><Relationship Type="http://schemas.openxmlformats.org/officeDocument/2006/relationships/notesMaster" Target="/ppt/notesMasters/notesMaster1.xml" Id="Rab55031b75cd410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f2cd1c161f24825" /><Relationship Type="http://schemas.openxmlformats.org/officeDocument/2006/relationships/notesMaster" Target="/ppt/notesMasters/notesMaster1.xml" Id="Raaa44a5009924ff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a1f955e468d4830" /><Relationship Type="http://schemas.openxmlformats.org/officeDocument/2006/relationships/notesMaster" Target="/ppt/notesMasters/notesMaster1.xml" Id="R9c35395a33a245b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aba12f5807c4dcb" /><Relationship Type="http://schemas.openxmlformats.org/officeDocument/2006/relationships/notesMaster" Target="/ppt/notesMasters/notesMaster1.xml" Id="R67e580411c1d4ce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d6f7896480d4123" /><Relationship Type="http://schemas.openxmlformats.org/officeDocument/2006/relationships/notesMaster" Target="/ppt/notesMasters/notesMaster1.xml" Id="R2229f72faa50452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fddde65307b4bad" /><Relationship Type="http://schemas.openxmlformats.org/officeDocument/2006/relationships/notesMaster" Target="/ppt/notesMasters/notesMaster1.xml" Id="R224c4a8ca3c84b7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01f62e8353e4408" /><Relationship Type="http://schemas.openxmlformats.org/officeDocument/2006/relationships/notesMaster" Target="/ppt/notesMasters/notesMaster1.xml" Id="Ra99581d662b4474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e228e1b585b408c" /><Relationship Type="http://schemas.openxmlformats.org/officeDocument/2006/relationships/notesMaster" Target="/ppt/notesMasters/notesMaster1.xml" Id="R90e99955782349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 Core lesson.</a:t>
            </a:r>
          </a:p>
          <a:p xmlns:a="http://schemas.openxmlformats.org/drawingml/2006/main">
            <a:endParaRPr/>
          </a:p>
          <a:p xmlns:a="http://schemas.openxmlformats.org/drawingml/2006/main">
            <a:r>
              <a:t>Before class, distribute the Student workbook and project a fresh working copy. Teacher uses Demo throughout. Students use Data throughout. Both tabs have identical cell positions: raw records in A:F and work in H:L. Keep the completed Teacher workbook private as an answer reference. Rehearse the eight short live demonstrations. Check Excel calculation is Automatic. The instructions use desktop Excel with English function names; menu wording and argument separators can vary. Core slides 1–43 take 90 minutes. Slides 44–45 are optional. Revision, classification and the recommendation are oral or notebook activities.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0.75 minutes.</a:t>
            </a:r>
          </a:p>
          <a:p xmlns:a="http://schemas.openxmlformats.org/drawingml/2006/main">
            <a:endParaRPr/>
          </a:p>
          <a:p xmlns:a="http://schemas.openxmlformats.org/drawingml/2006/main">
            <a:r>
              <a:t>Project a fresh copy of Statistics-Week-4-Class-C-Simplified-Student.xlsx and select Demo. Students select Data in their own copies and remain there. The completed Teacher workbook is the answer key. This is a rendered view of the real worksheet, showing the exact cells students will use. Point to the source records on the left and the calculation tables on the right. Both worksheets contain every practical section. Scroll down within the same worksheet as the lesson progresses. Keep the brief demonstration, independent practice and answer-check rhythm.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Core lesson. Use the three retrieval questions. Students discuss and write on Handout C0. Frequency counts observations, not grams. 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 Core lesson.</a:t>
            </a:r>
          </a:p>
          <a:p xmlns:a="http://schemas.openxmlformats.org/drawingml/2006/main">
            <a:endParaRPr/>
          </a:p>
          <a:p xmlns:a="http://schemas.openxmlformats.org/drawingml/2006/main">
            <a:r>
              <a:t>40 belongs in the second interval. The observations here are meals. A scatterplot displays paired numerical measurements.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0.75 minutes. Core lesson.</a:t>
            </a:r>
          </a:p>
          <a:p xmlns:a="http://schemas.openxmlformats.org/drawingml/2006/main">
            <a:endParaRPr/>
          </a:p>
          <a:p xmlns:a="http://schemas.openxmlformats.org/drawingml/2006/main">
            <a:r>
              <a:t>Set the café scenario. One row describes one meal. The data are simulated. Students propose a change to test, rather than claim a proven finding about the actual university café.</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Core lesson. Review identifiers, nominal and ordinal categories, discrete counts and continuous measurements. Use Handout C1 for the classification responses. No spreadsheet response fields are needed. 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 minutes. Core lesson.</a:t>
            </a:r>
          </a:p>
          <a:p xmlns:a="http://schemas.openxmlformats.org/drawingml/2006/main">
            <a:endParaRPr/>
          </a:p>
          <a:p xmlns:a="http://schemas.openxmlformats.org/drawingml/2006/main">
            <a:r>
              <a:t>Meal ID labels the record. Meal type is nominal, satisfaction ordinal, items discrete, and the weights continuous. Recording a weight to one decimal place does not turn it into a count.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 Core lesson.</a:t>
            </a:r>
          </a:p>
          <a:p xmlns:a="http://schemas.openxmlformats.org/drawingml/2006/main">
            <a:endParaRPr/>
          </a:p>
          <a:p xmlns:a="http://schemas.openxmlformats.org/drawingml/2006/main">
            <a:r>
              <a:t>Introduce the section. Teacher continues on Demo. Students continue on Data. The next task sits further down the same sheet.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0.75 minutes.</a:t>
            </a:r>
          </a:p>
          <a:p xmlns:a="http://schemas.openxmlformats.org/drawingml/2006/main">
            <a:endParaRPr/>
          </a:p>
          <a:p xmlns:a="http://schemas.openxmlformats.org/drawingml/2006/main">
            <a:r>
              <a:t>Students open Data once in the Simplified-Student workbook. Compare this real worksheet view with Demo on slide 2. The raw records are in A:F. The meal count and category table are beside them in H:L. The interval table and chart spaces are further down in the same columns. Every cell address in a demonstration is the same address students use on Data. Only the length of the source range changes. Keep variable classification and written recommendations in notebooks.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 Core lesson.</a:t>
            </a:r>
          </a:p>
          <a:p xmlns:a="http://schemas.openxmlformats.org/drawingml/2006/main">
            <a:endParaRPr/>
          </a:p>
          <a:p xmlns:a="http://schemas.openxmlformats.org/drawingml/2006/main">
            <a:r>
              <a:t>Point to column A and row 2. A2:A21 contains text IDs, one per meal. COUNTA counts non-empty cells, including text. Keep heading A1 outside the count. Use the Name Box beside the formula bar to select a long range without scrolling.</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Switch to Demo. Click K5, type =COUNTA(A2:A21), and press Enter. Expect 20. Click K5 again to show the formula bar. COUNTA counts the 20 non-empty IDs. Exclude heading row 1. Return to the practice slide.</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Students enter =COUNTA(A2:A301) in K5 on Data. Ask what each ID represents. The first row contains headings, not an observation.</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 Core lesson.</a:t>
            </a:r>
          </a:p>
          <a:p xmlns:a="http://schemas.openxmlformats.org/drawingml/2006/main">
            <a:endParaRPr/>
          </a:p>
          <a:p xmlns:a="http://schemas.openxmlformats.org/drawingml/2006/main">
            <a:r>
              <a:t>Compare Demo 20 with Data 300. A result of 301 suggests the heading was included. There are no cross-sheet references because each source and result is already on the same sheet.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 Core lesson.</a:t>
            </a:r>
          </a:p>
          <a:p xmlns:a="http://schemas.openxmlformats.org/drawingml/2006/main">
            <a:endParaRPr/>
          </a:p>
          <a:p xmlns:a="http://schemas.openxmlformats.org/drawingml/2006/main">
            <a:r>
              <a:t>Introduce the section. Teacher continues on Demo. Students continue on Data. The next task sits further down the same sheet.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a:t>
            </a:r>
          </a:p>
          <a:p xmlns:a="http://schemas.openxmlformats.org/drawingml/2006/main">
            <a:endParaRPr/>
          </a:p>
          <a:p xmlns:a="http://schemas.openxmlformats.org/drawingml/2006/main">
            <a:r>
              <a:t>Use a quick oral or notebook task. These are the unchanged first eight records from Demo. Ask students to list each meal name once. The labels are Noodles, Pasta, Rice and Salad. Eight meal records contain four distinct types. Repeated names do not create new types. Do not calculate frequencies yet. Next, use the Excel filter list to discover the labels in all 20 Demo records, then let students repeat the method on all 300 Data records. Source: original Class C simulated café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Core lesson.</a:t>
            </a:r>
          </a:p>
          <a:p xmlns:a="http://schemas.openxmlformats.org/drawingml/2006/main">
            <a:endParaRPr/>
          </a:p>
          <a:p xmlns:a="http://schemas.openxmlformats.org/drawingml/2006/main">
            <a:r>
              <a:t>Switch to Demo. Select A1:F21 and choose Data &gt; Filter. Open the dropdown on B1 (Meal type). Read the distinct labels: Noodles, Pasta, Rice, Salad. Keep Select All checked and close with Escape or Cancel. All raw rows must stay visible. Enter each label once, alphabetically, in H11:H14. Leave spare H15:H16 blank. Enter =COUNTA(H11:H16) in K8, giving 4. K8 counts names, whereas K5 counts meal IDs. If arrows already exist, open B1 without toggling Filter off.</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Core lesson.</a:t>
            </a:r>
          </a:p>
          <a:p xmlns:a="http://schemas.openxmlformats.org/drawingml/2006/main">
            <a:endParaRPr/>
          </a:p>
          <a:p xmlns:a="http://schemas.openxmlformats.org/drawingml/2006/main">
            <a:r>
              <a:t>Students select A1:F301 on Data and enable Data &gt; Filter. They open B1, read the distinct names, close without deselecting values, and enter each name once in alphabetical order beginning H11. Use =COUNTA(H11:H16) in K8. Do not supply the number of types in advance. Clear any applied filter so all rows remain visible.</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a:t>
            </a:r>
          </a:p>
          <a:p xmlns:a="http://schemas.openxmlformats.org/drawingml/2006/main">
            <a:endParaRPr/>
          </a:p>
          <a:p xmlns:a="http://schemas.openxmlformats.org/drawingml/2006/main">
            <a:r>
              <a:t>Reveal after students discover the labels and enter them alphabetically. H11:H14 contains Noodles, Pasta, Rice and Salad. Leave H15:H16 blank. K8 =COUNTA(H11:H16) gives 4. This counts the different names, not all meal records. K5 is the separate count of records. I11:J14 remains blank for now. The next demonstration counts how many meals match each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On Demo enter =COUNTIF($B$2:$B$21,H11) in I11. B2:B21 contains the original meal types and H11 contains Noodles. Press Enter: 8. Read the formula as “look through these records and count matches to this name.” Explain the dollar signs before copying on the next slide.</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 Core lesson.</a:t>
            </a:r>
          </a:p>
          <a:p xmlns:a="http://schemas.openxmlformats.org/drawingml/2006/main">
            <a:endParaRPr/>
          </a:p>
          <a:p xmlns:a="http://schemas.openxmlformats.org/drawingml/2006/main">
            <a:r>
              <a:t>On Demo drag the fill handle from I11 down to I14. The category reference changes from H11 to H12, while $B$2:$B$21 stays fixed. Results: 8, 4, 6, 2 in alphabetical order. Leave I15:I16 blank. Focus on this one copying pattern.</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Students enter =COUNTIF($B$2:$B$301,H11) in I11 and fill through I14 beside the four names. In I17 enter =SUM(I11:I16). Spare blank rows contribute nothing. Compare I17 with the independent meal count in K5.</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0.75 minutes. Core lesson.</a:t>
            </a:r>
          </a:p>
          <a:p xmlns:a="http://schemas.openxmlformats.org/drawingml/2006/main">
            <a:endParaRPr/>
          </a:p>
          <a:p xmlns:a="http://schemas.openxmlformats.org/drawingml/2006/main">
            <a:r>
              <a:t>Check Noodles 114, Pasta 63, Rice 87, Salad 36, total 300. If a result is zero, check spelling and range. All four categories must account for the meal count.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On Demo, I17 =SUM(I11:I16) gives 20. In J11 enter =I11/$I$17. The numerator is the category frequency; the denominator is all meals. The result .4 displays as 40% with Home &gt; Number &gt; Percent Style. Fill J11:J14, then J17 =SUM(J11:J16). Do not also multiply by 100. The same formula works on Data because its layout matches.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On Demo select H10:I14, including headings and populated rows but excluding spare rows and total. Insert &gt; Column or Bar Chart &gt; 2-D Clustered Column. Add a title and axes: X Meal type, Y Number of meals. Keep gaps between categories. Place the chart at H22:L35.</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Core lesson.</a:t>
            </a:r>
          </a:p>
          <a:p xmlns:a="http://schemas.openxmlformats.org/drawingml/2006/main">
            <a:endParaRPr/>
          </a:p>
          <a:p xmlns:a="http://schemas.openxmlformats.org/drawingml/2006/main">
            <a:r>
              <a:t>Students enter =I11/$I$17 in J11, fill to J14, format as percentages, and total with J17 =SUM(J11:J16). Build a column chart from H10:I14, excluding blanks and total. Label it and identify the most common meal type. All work stays on Data.</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 Core lesson.</a:t>
            </a:r>
          </a:p>
          <a:p xmlns:a="http://schemas.openxmlformats.org/drawingml/2006/main">
            <a:endParaRPr/>
          </a:p>
          <a:p xmlns:a="http://schemas.openxmlformats.org/drawingml/2006/main">
            <a:r>
              <a:t>Noodles 114/300 = 38%, Pasta 21%, Rice 29%, Salad 12%. This is a vertical bar chart, with gaps between categories. It shows the mix of meals, not the waste from each meal type. Students now move down on Data to C4.</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 Core lesson.</a:t>
            </a:r>
          </a:p>
          <a:p xmlns:a="http://schemas.openxmlformats.org/drawingml/2006/main">
            <a:endParaRPr/>
          </a:p>
          <a:p xmlns:a="http://schemas.openxmlformats.org/drawingml/2006/main">
            <a:r>
              <a:t>Introduce the section. Teacher continues on Demo. Students continue on Data. The next task sits further down the same sheet.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 Core lesson.</a:t>
            </a:r>
          </a:p>
          <a:p xmlns:a="http://schemas.openxmlformats.org/drawingml/2006/main">
            <a:endParaRPr/>
          </a:p>
          <a:p xmlns:a="http://schemas.openxmlformats.org/drawingml/2006/main">
            <a:r>
              <a:t>The C4 table starts at H39 on both sheets. Test 20, 40 and 60 aloud. Bellerbys includes the lower boundary and excludes the upper. The observed values run from 0 to 99.9 g, so the five intervals cover every record once.</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1.75 minutes. Core lesson.</a:t>
            </a:r>
          </a:p>
          <a:p xmlns:a="http://schemas.openxmlformats.org/drawingml/2006/main">
            <a:endParaRPr/>
          </a:p>
          <a:p xmlns:a="http://schemas.openxmlformats.org/drawingml/2006/main">
            <a:r>
              <a:t>K40 will count weights from F2:F21 on Demo. The &amp; symbol joins each quoted comparison sign to its boundary value. Both conditions use the same range because each weight must pass both. Dollar signs fix the raw range when copying. H40 and I40 advance to the next row.</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On Demo, scroll to H39. In K40 enter =COUNTIFS($F$2:$F$21,"&gt;="&amp;H40,$F$2:$F$21,"&lt;"&amp;I40). Expect 3 from weights 5, 12, 19. Fill to K44: 3, 7, 6, 3, 1. K45 =SUM(K40:K44) gives 20. Point to each boundary row and its frequency before returning to the student task.</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 Core lesson.</a:t>
            </a:r>
          </a:p>
          <a:p xmlns:a="http://schemas.openxmlformats.org/drawingml/2006/main">
            <a:endParaRPr/>
          </a:p>
          <a:p xmlns:a="http://schemas.openxmlformats.org/drawingml/2006/main">
            <a:r>
              <a:t>On Data enter =COUNTIFS($F$2:$F$301,"&gt;="&amp;H40,$F$2:$F$301,"&lt;"&amp;I40) in K40, then fill to K44. K45 =SUM(K40:K44). L40 =K40/$K$45, filled to L44 and formatted as percentages. L45 =SUM(L40:L44). Check the total against K5. Keep the table and all references on Data.</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Check Data frequencies 41, 92, 99, 53, 15, total 300. Shares display 13.7%, 30.7%, 33.0%, 17.7%, 5.0%. Rounding these displayed values gives 100.1%, although the unrounded shares total 100%. Keep full precision in formulas. The most common interval is 40 ≤ x &lt; 60 and contains 99 meals.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On Demo select J39:K44, interval labels and frequencies. Insert &gt; Column or Bar Chart &gt; 2-D Clustered Column. Right-click a bar and open Format Data Series &gt; Series Options. Set Gap Width to 0%. Add title and axes with grams per meal on X and number of meals on Y. Place at H54:L67. Heights 3, 7, 6, 3, 1. This frequency-height approach works for equal widths. Unequal widths need density. Avoid automatic binning, which may change boundary membership.</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 Core lesson.</a:t>
            </a:r>
          </a:p>
          <a:p xmlns:a="http://schemas.openxmlformats.org/drawingml/2006/main">
            <a:endParaRPr/>
          </a:p>
          <a:p xmlns:a="http://schemas.openxmlformats.org/drawingml/2006/main">
            <a:r>
              <a:t>Students build a column chart from J39:K44, set Gap Width 0%, add a clear title and axis labels, then place it at H54:L67. Partners check touching bars, interval order, equal widths and heights. No sheet switching is needed.</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 minutes. Core lesson.</a:t>
            </a:r>
          </a:p>
          <a:p xmlns:a="http://schemas.openxmlformats.org/drawingml/2006/main">
            <a:endParaRPr/>
          </a:p>
          <a:p xmlns:a="http://schemas.openxmlformats.org/drawingml/2006/main">
            <a:r>
              <a:t>Students enter counts in I48:I49 and shares in J48:J49. Below 40 uses the first two intervals. At least 60 uses the last two. They can use =SUM(K40:K41) and =SUM(K43:K44), then divide each count by K45. Ask them to state units. Reveal answers next.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Below 40 g: 41 + 92 = 133 meals, or 44.3%. At least 60 g: 53 + 15 = 68 meals, or 22.7%. Both questions combine whole classes, so the counts are exact. The modal class contains 99 meals, 33%, which is not a majority.</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 Core lesson.</a:t>
            </a:r>
          </a:p>
          <a:p xmlns:a="http://schemas.openxmlformats.org/drawingml/2006/main">
            <a:endParaRPr/>
          </a:p>
          <a:p xmlns:a="http://schemas.openxmlformats.org/drawingml/2006/main">
            <a:r>
              <a:t>Introduce the section. Teacher continues on Demo. Students continue on Data. The next task sits further down the same sheet.</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 minutes. Core lesson.</a:t>
            </a:r>
          </a:p>
          <a:p xmlns:a="http://schemas.openxmlformats.org/drawingml/2006/main">
            <a:endParaRPr/>
          </a:p>
          <a:p xmlns:a="http://schemas.openxmlformats.org/drawingml/2006/main">
            <a:r>
              <a:t>Use E (portion) on X and F (leftover) on Y because of this investigation question. Choosing an explanatory axis does not establish causation. With no proposed explanatory direction, a different choice may be reasonable. Never sort one column independently because this breaks the pairs.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Core lesson.</a:t>
            </a:r>
          </a:p>
          <a:p xmlns:a="http://schemas.openxmlformats.org/drawingml/2006/main">
            <a:endParaRPr/>
          </a:p>
          <a:p xmlns:a="http://schemas.openxmlformats.org/drawingml/2006/main">
            <a:r>
              <a:t>On Demo select E1:F21. Insert &gt; Scatter (X,Y) &gt; Scatter with only Markers. Verify X uses E and Y uses F. Add a title and axis labels in grams. Place at H74:L87. Interpret the first point: 357 g served and 45 g left. Use no joined lines or regression equation. Chart Design &gt; Select Data &gt; Edit can check the series ranges.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 minutes. Core lesson.</a:t>
            </a:r>
          </a:p>
          <a:p xmlns:a="http://schemas.openxmlformats.org/drawingml/2006/main">
            <a:endParaRPr/>
          </a:p>
          <a:p xmlns:a="http://schemas.openxmlformats.org/drawingml/2006/main">
            <a:r>
              <a:t>Students create a markers-only XY scatterplot from E1:F301 on Data. Use the Name Box for the long selection. Add a title and axes, then place in C5. Each pair writes one statement about the overall pattern and one limitation in their notebook. No spreadsheet response area is needed.</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minutes. Core lesson.</a:t>
            </a:r>
          </a:p>
          <a:p xmlns:a="http://schemas.openxmlformats.org/drawingml/2006/main">
            <a:endParaRPr/>
          </a:p>
          <a:p xmlns:a="http://schemas.openxmlformats.org/drawingml/2006/main">
            <a:r>
              <a:t>Describe positive association with considerable scatter. Compare M001 (565.3 g served, 20 g left) with M004 (596.9 g served, 80 g left). Portion size does not explain every meal. Other influences may include appetite, meal type, taste or time. Association does not prove causation. A smaller-portion option is a proposal to test while checking satisfaction. The data are simulated, so no conclusion about the actual café follows.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 minutes. Core lesson.</a:t>
            </a:r>
          </a:p>
          <a:p xmlns:a="http://schemas.openxmlformats.org/drawingml/2006/main">
            <a:endParaRPr/>
          </a:p>
          <a:p xmlns:a="http://schemas.openxmlformats.org/drawingml/2006/main">
            <a:r>
              <a:t>Allow 9 minutes to propose one action to test, support it with two numerical findings and a chart, and state a limitation. Allow 3 minutes for sharing. Require at least one waste finding, such as 68 of 300 meals at or above 60 g (22.7%) or 133 of 300 below 40 g (44.3%). A smaller-portion trial is a testable proposal. Keep the writing outside Excel; students can refer to the charts on Data.</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 Core lesson.</a:t>
            </a:r>
          </a:p>
          <a:p xmlns:a="http://schemas.openxmlformats.org/drawingml/2006/main">
            <a:endParaRPr/>
          </a:p>
          <a:p xmlns:a="http://schemas.openxmlformats.org/drawingml/2006/main">
            <a:r>
              <a:t>Check K5=300, K8=4 types, I17=300, K45=300. J17 and L45 should display 100%. The category table, interval table, threshold answers and three charts should be complete. Ask how the number of meal types differs from the number of meals. Written classification and recommendations stay in the notebook. Leave the ogive for extra time or fast finishers.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 minutes. Optional extension outside the 90-minute core.</a:t>
            </a:r>
          </a:p>
          <a:p xmlns:a="http://schemas.openxmlformats.org/drawingml/2006/main">
            <a:endParaRPr/>
          </a:p>
          <a:p xmlns:a="http://schemas.openxmlformats.org/drawingml/2006/main">
            <a:r>
              <a:t>Optional only. H93:H98 contains 0, 20, 40, 60, 80, 100. Enter 0 in I93. In I94 enter =SUM($K$40:K40) and fill to I98. In J93 enter =I93/$K$45, fill to J98 and format as percentages. Insert a 2-D Line chart with markers. Use Select Data to set category labels to H93:H98 and the one series to J93:J98. This works here because the numerical boundaries are equally spaced in steps of 20 g. Use an XY scatter chart for unequal numerical spacing. Keep straight segments and percentage formatting on Y. Demo has the same positions if another live demonstration is useful.</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 Optional extension outside the 90-minute core.</a:t>
            </a:r>
          </a:p>
          <a:p xmlns:a="http://schemas.openxmlformats.org/drawingml/2006/main">
            <a:endParaRPr/>
          </a:p>
          <a:p xmlns:a="http://schemas.openxmlformats.org/drawingml/2006/main">
            <a:r>
              <a:t>Cumulative frequencies are 0, 41, 133, 232, 285, 300 at boundaries 0, 20, 40, 60, 80, 100. Corresponding percentages are 0%, 13.7%, 44.3%, 77.3%, 95%, 100%. The workbook retains full precision. Below 40 g gives 44.3%. At least 60 g is 100% minus 77.333…% = 22.7%. Join points with straight segments.</a:t>
            </a:r>
          </a:p>
          <a:p xmlns:a="http://schemas.openxmlformats.org/drawingml/2006/main">
            <a:endParaRPr/>
          </a:p>
          <a:p xmlns:a="http://schemas.openxmlformats.org/drawingml/2006/main">
            <a:r>
              <a:t>Sources: user-supplied Bellerbys Semester 1 Week 4 materials and IFY Statistics with Project Skills module specification. Original Class C simulated café records retained unchanged. Microsoft Excel documentation: https://support.microsoft.com/en-us/excel/get-started/filter-data-in-a-range-or-table-in-excel ; https://support.microsoft.com/en-us/excel/get-started/use-the-countif-function-in-microsoft-excel ; https://support.microsoft.com/en-us/excel/functions/countifs-function ; https://support.microsoft.com/en-us/excel/create-a-histogram ; https://support.microsoft.com/en-us/excel/present-your-data-in-a-scatter-chart-or-a-line-chart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5513f061354794" /><Relationship Type="http://schemas.openxmlformats.org/officeDocument/2006/relationships/image" Target="/ppt/media/image.jpeg" Id="R6e25c1155fa04a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a0f464e35f4744" /><Relationship Type="http://schemas.openxmlformats.org/officeDocument/2006/relationships/image" Target="/ppt/media/image2.jpeg" Id="R5fde80f43acc45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7ab92bf1074012" /><Relationship Type="http://schemas.openxmlformats.org/officeDocument/2006/relationships/image" Target="/ppt/media/image3.jpeg" Id="R415123b9f97646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b4277faf314351" /><Relationship Type="http://schemas.openxmlformats.org/officeDocument/2006/relationships/image" Target="/ppt/media/image4.jpeg" Id="Rb7292a8d27ad4b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154766b0e345e4" /><Relationship Type="http://schemas.openxmlformats.org/officeDocument/2006/relationships/image" Target="/ppt/media/image5.jpeg" Id="R136ec20a27344a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72562ad213490d" /><Relationship Type="http://schemas.openxmlformats.org/officeDocument/2006/relationships/image" Target="/ppt/media/image6.jpeg" Id="Rdf23c596ec894a5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ca1af33344e4752" /><Relationship Type="http://schemas.openxmlformats.org/officeDocument/2006/relationships/image" Target="/ppt/media/image7.jpeg" Id="R613cf2fd9cb449f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489906d4c804359" /><Relationship Type="http://schemas.openxmlformats.org/officeDocument/2006/relationships/image" Target="/ppt/media/image8.jpeg" Id="R0cf1e2ce78674a5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3183015855f4015" /><Relationship Type="http://schemas.openxmlformats.org/officeDocument/2006/relationships/image" Target="/ppt/media/image9.jpeg" Id="Reb20c8f30b854f4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87297c3a4fc4391" /><Relationship Type="http://schemas.openxmlformats.org/officeDocument/2006/relationships/image" Target="/ppt/media/image10.jpeg" Id="Rcec33b81d67a463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6201961fafa4313" /><Relationship Type="http://schemas.openxmlformats.org/officeDocument/2006/relationships/image" Target="/ppt/media/image11.jpeg" Id="R4323533a96284ce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a963ff89d3f4217" /><Relationship Type="http://schemas.openxmlformats.org/officeDocument/2006/relationships/image" Target="/ppt/media/image12.jpeg" Id="Rdcd2be4ed905437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a147524e823044ec" /><Relationship Type="http://schemas.openxmlformats.org/officeDocument/2006/relationships/image" Target="/ppt/media/image13.jpeg" Id="Re6d290f5e27f451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02757496a704719" /><Relationship Type="http://schemas.openxmlformats.org/officeDocument/2006/relationships/image" Target="/ppt/media/image14.jpeg" Id="R016123d6792d4bd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2e8ccd031424457d" /><Relationship Type="http://schemas.openxmlformats.org/officeDocument/2006/relationships/image" Target="/ppt/media/image15.jpeg" Id="Rc65fcae7a04d40f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9a3a92488bb34602" /><Relationship Type="http://schemas.openxmlformats.org/officeDocument/2006/relationships/image" Target="/ppt/media/image16.jpeg" Id="R21f98c86d90d4e6b"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3d00e90575684e52" /><Relationship Type="http://schemas.openxmlformats.org/officeDocument/2006/relationships/image" Target="/ppt/media/image16.jpeg" Id="R8d8b7a3f8fe24f1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2a471b1f6f254705" /><Relationship Type="http://schemas.openxmlformats.org/officeDocument/2006/relationships/image" Target="/ppt/media/image17.jpeg" Id="R05e56123be064e0f"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91cc31760d11498c" /><Relationship Type="http://schemas.openxmlformats.org/officeDocument/2006/relationships/image" Target="/ppt/media/image18.jpeg" Id="Raae07eeaf3ee429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411a9f7ba0044727" /><Relationship Type="http://schemas.openxmlformats.org/officeDocument/2006/relationships/image" Target="/ppt/media/image16.jpeg" Id="Rdc9b3f350f8f47d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913691a7152a4f22" /><Relationship Type="http://schemas.openxmlformats.org/officeDocument/2006/relationships/image" Target="/ppt/media/image16.jpeg" Id="R052237878629493d"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1d5d67045fcf4907" /><Relationship Type="http://schemas.openxmlformats.org/officeDocument/2006/relationships/image" Target="/ppt/media/image15.jpeg" Id="Rd2d288d9e75541b4"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c7b3c21620264c49" /><Relationship Type="http://schemas.openxmlformats.org/officeDocument/2006/relationships/image" Target="/ppt/media/image19.jpeg" Id="R3a020a6436eb4db0" /></Relationships>
</file>

<file path=ppt/slideLayouts/slideLayout1.xml><?xml version="1.0" encoding="utf-8"?>
<p:sldLayout xmlns:p="http://schemas.openxmlformats.org/presentationml/2006/main" preserve="1" userDrawn="1">
  <p:cSld name="Title Slide">
    <p:bg>
      <p:bgPr>
        <a:blipFill xmlns:a="http://schemas.openxmlformats.org/drawingml/2006/main" rotWithShape="1">
          <a:blip xmlns:r="http://schemas.openxmlformats.org/officeDocument/2006/relationships" r:embed="R6e25c1155fa04ab0">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userDrawn="1">
  <p:cSld name="1_Title Slide">
    <p:bg>
      <p:bgPr>
        <a:blipFill xmlns:a="http://schemas.openxmlformats.org/drawingml/2006/main" rotWithShape="1">
          <a:blip xmlns:r="http://schemas.openxmlformats.org/officeDocument/2006/relationships" r:embed="R5fde80f43acc45c2">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userDrawn="1">
  <p:cSld name="Title Slide - Editable">
    <p:bg>
      <p:bgPr>
        <a:blipFill xmlns:a="http://schemas.openxmlformats.org/drawingml/2006/main" rotWithShape="1">
          <a:blip xmlns:r="http://schemas.openxmlformats.org/officeDocument/2006/relationships" r:embed="R415123b9f97646a1">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1_Title Slide - Editable">
    <p:bg>
      <p:bgPr>
        <a:blipFill xmlns:a="http://schemas.openxmlformats.org/drawingml/2006/main" rotWithShape="1">
          <a:blip xmlns:r="http://schemas.openxmlformats.org/officeDocument/2006/relationships" r:embed="Rb7292a8d27ad4be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Divider 1">
    <p:bg>
      <p:bgPr>
        <a:blipFill xmlns:a="http://schemas.openxmlformats.org/drawingml/2006/main" rotWithShape="1">
          <a:blip xmlns:r="http://schemas.openxmlformats.org/officeDocument/2006/relationships" r:embed="R136ec20a27344a2c">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6.xml><?xml version="1.0" encoding="utf-8"?>
<p:sldLayout xmlns:p="http://schemas.openxmlformats.org/presentationml/2006/main" preserve="1" userDrawn="1">
  <p:cSld name="Divider 2">
    <p:bg>
      <p:bgPr>
        <a:blipFill xmlns:a="http://schemas.openxmlformats.org/drawingml/2006/main" rotWithShape="1">
          <a:blip xmlns:r="http://schemas.openxmlformats.org/officeDocument/2006/relationships" r:embed="Rdf23c596ec894a5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Divder 3">
    <p:bg>
      <p:bgPr>
        <a:blipFill xmlns:a="http://schemas.openxmlformats.org/drawingml/2006/main" rotWithShape="1">
          <a:blip xmlns:r="http://schemas.openxmlformats.org/officeDocument/2006/relationships" r:embed="R613cf2fd9cb449f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tx1"/>
                </a:solidFill>
              </a:defRPr>
            </a:lvl1pPr>
          </a:lstStyle>
          <a:p xmlns:a="http://schemas.openxmlformats.org/drawingml/2006/main">
            <a:r>
              <a:t>Click to edit Master title style</a:t>
            </a:r>
          </a:p>
        </p:txBody>
      </p:sp>
    </p:spTree>
  </p:cSld>
</p:sldLayout>
</file>

<file path=ppt/slideLayouts/slideLayout8.xml><?xml version="1.0" encoding="utf-8"?>
<p:sldLayout xmlns:p="http://schemas.openxmlformats.org/presentationml/2006/main" preserve="1" userDrawn="1">
  <p:cSld name="Divider 4">
    <p:bg>
      <p:bgPr>
        <a:blipFill xmlns:a="http://schemas.openxmlformats.org/drawingml/2006/main" rotWithShape="1">
          <a:blip xmlns:r="http://schemas.openxmlformats.org/officeDocument/2006/relationships" r:embed="R0cf1e2ce78674a56">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9.xml><?xml version="1.0" encoding="utf-8"?>
<p:sldLayout xmlns:p="http://schemas.openxmlformats.org/presentationml/2006/main" preserve="1" userDrawn="1">
  <p:cSld name="Divider 5">
    <p:bg>
      <p:bgPr>
        <a:blipFill xmlns:a="http://schemas.openxmlformats.org/drawingml/2006/main" rotWithShape="1">
          <a:blip xmlns:r="http://schemas.openxmlformats.org/officeDocument/2006/relationships" r:embed="Reb20c8f30b854f4a">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10.xml><?xml version="1.0" encoding="utf-8"?>
<p:sldLayout xmlns:p="http://schemas.openxmlformats.org/presentationml/2006/main" preserve="1" userDrawn="1">
  <p:cSld name="Image divider 1">
    <p:bg>
      <p:bgPr>
        <a:blipFill xmlns:a="http://schemas.openxmlformats.org/drawingml/2006/main" rotWithShape="1">
          <a:blip xmlns:r="http://schemas.openxmlformats.org/officeDocument/2006/relationships" r:embed="Rcec33b81d67a4635">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8D414EE0-1AFC-779B-28F3-92E97752B8DC}"/>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11.xml><?xml version="1.0" encoding="utf-8"?>
<p:sldLayout xmlns:p="http://schemas.openxmlformats.org/presentationml/2006/main" preserve="1" userDrawn="1">
  <p:cSld name="1_Image divider 1">
    <p:bg>
      <p:bgPr>
        <a:blipFill xmlns:a="http://schemas.openxmlformats.org/drawingml/2006/main" rotWithShape="1">
          <a:blip xmlns:r="http://schemas.openxmlformats.org/officeDocument/2006/relationships" r:embed="R4323533a96284ce2">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8D414EE0-1AFC-779B-28F3-92E97752B8DC}"/>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userDrawn="1">
  <p:cSld name="Image divider 2">
    <p:bg>
      <p:bgPr>
        <a:blipFill xmlns:a="http://schemas.openxmlformats.org/drawingml/2006/main" rotWithShape="1">
          <a:blip xmlns:r="http://schemas.openxmlformats.org/officeDocument/2006/relationships" r:embed="Rdcd2be4ed9054370">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8D414EE0-1AFC-779B-28F3-92E97752B8DC}"/>
              </a:ext>
            </a:extLst>
          </p:cNvPr>
          <p:cNvSpPr>
            <a:spLocks xmlns:a="http://schemas.openxmlformats.org/drawingml/2006/main" noGrp="1"/>
          </p:cNvSpPr>
          <p:nvPr>
            <p:ph type="ctrTitle" idx="0"/>
          </p:nvPr>
        </p:nvSpPr>
        <p:spPr>
          <a:xfrm xmlns:a="http://schemas.openxmlformats.org/drawingml/2006/main">
            <a:off x="356102" y="1384914"/>
            <a:ext cx="5012602" cy="2387600"/>
          </a:xfrm>
        </p:spPr>
        <p:txBody>
          <a:bodyPr xmlns:a="http://schemas.openxmlformats.org/drawingml/2006/main" anchor="ctr">
            <a:normAutofit/>
          </a:bodyPr>
          <a:lstStyle xmlns:a="http://schemas.openxmlformats.org/drawingml/2006/main">
            <a:lvl1pPr algn="l">
              <a:buNone/>
              <a:defRPr sz="5400">
                <a:solidFill>
                  <a:schemeClr val="tx1"/>
                </a:solidFill>
              </a:defRPr>
            </a:lvl1pPr>
          </a:lstStyle>
          <a:p xmlns:a="http://schemas.openxmlformats.org/drawingml/2006/main">
            <a:r>
              <a:t>Click to edit Master title style</a:t>
            </a:r>
          </a:p>
        </p:txBody>
      </p:sp>
    </p:spTree>
  </p:cSld>
</p:sldLayout>
</file>

<file path=ppt/slideLayouts/slideLayout13.xml><?xml version="1.0" encoding="utf-8"?>
<p:sldLayout xmlns:p="http://schemas.openxmlformats.org/presentationml/2006/main" type="obj" preserve="1">
  <p:cSld name="Text and image 1">
    <p:bg>
      <p:bgPr>
        <a:blipFill xmlns:a="http://schemas.openxmlformats.org/drawingml/2006/main" rotWithShape="1">
          <a:blip xmlns:r="http://schemas.openxmlformats.org/officeDocument/2006/relationships" r:embed="Re6d290f5e27f4511">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7337079"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7337079"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4.xml><?xml version="1.0" encoding="utf-8"?>
<p:sldLayout xmlns:p="http://schemas.openxmlformats.org/presentationml/2006/main" type="obj" preserve="1">
  <p:cSld name="Text and image 2">
    <p:bg>
      <p:bgPr>
        <a:blipFill xmlns:a="http://schemas.openxmlformats.org/drawingml/2006/main" rotWithShape="1">
          <a:blip xmlns:r="http://schemas.openxmlformats.org/officeDocument/2006/relationships" r:embed="R016123d6792d4bd2">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7337079"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7337079"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5.xml><?xml version="1.0" encoding="utf-8"?>
<p:sldLayout xmlns:p="http://schemas.openxmlformats.org/presentationml/2006/main" type="obj" preserve="1">
  <p:cSld name="1_Text and logos">
    <p:bg>
      <p:bgPr>
        <a:blipFill xmlns:a="http://schemas.openxmlformats.org/drawingml/2006/main" rotWithShape="1">
          <a:blip xmlns:r="http://schemas.openxmlformats.org/officeDocument/2006/relationships" r:embed="Rc65fcae7a04d40f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11293444" cy="4330731"/>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6.xml><?xml version="1.0" encoding="utf-8"?>
<p:sldLayout xmlns:p="http://schemas.openxmlformats.org/presentationml/2006/main" preserve="1" userDrawn="1">
  <p:cSld name="Two Content">
    <p:bg>
      <p:bgPr>
        <a:blipFill xmlns:a="http://schemas.openxmlformats.org/drawingml/2006/main" rotWithShape="1">
          <a:blip xmlns:r="http://schemas.openxmlformats.org/officeDocument/2006/relationships" r:embed="R21f98c86d90d4e6b">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CF2DCDF-5CC4-CB00-9A72-4FA0DB40B207}"/>
              </a:ext>
            </a:extLst>
          </p:cNvPr>
          <p:cNvSpPr>
            <a:spLocks xmlns:a="http://schemas.openxmlformats.org/drawingml/2006/main" noGrp="1"/>
          </p:cNvSpPr>
          <p:nvPr>
            <p:ph idx="1"/>
          </p:nvPr>
        </p:nvSpPr>
        <p:spPr>
          <a:xfrm xmlns:a="http://schemas.openxmlformats.org/drawingml/2006/main">
            <a:off x="430794" y="1979534"/>
            <a:ext cx="5589006"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B27F821-23A1-E30C-4CF7-BCB0A54C884C}"/>
              </a:ext>
            </a:extLst>
          </p:cNvPr>
          <p:cNvSpPr>
            <a:spLocks xmlns:a="http://schemas.openxmlformats.org/drawingml/2006/main" noGrp="1"/>
          </p:cNvSpPr>
          <p:nvPr>
            <p:ph idx="2"/>
          </p:nvPr>
        </p:nvSpPr>
        <p:spPr>
          <a:xfrm xmlns:a="http://schemas.openxmlformats.org/drawingml/2006/main">
            <a:off x="6172200" y="1979534"/>
            <a:ext cx="5552038"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7.xml><?xml version="1.0" encoding="utf-8"?>
<p:sldLayout xmlns:p="http://schemas.openxmlformats.org/presentationml/2006/main" preserve="1" userDrawn="1">
  <p:cSld name="Three Content">
    <p:bg>
      <p:bgPr>
        <a:blipFill xmlns:a="http://schemas.openxmlformats.org/drawingml/2006/main" rotWithShape="1">
          <a:blip xmlns:r="http://schemas.openxmlformats.org/officeDocument/2006/relationships" r:embed="R8d8b7a3f8fe24f1e">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CF2DCDF-5CC4-CB00-9A72-4FA0DB40B207}"/>
              </a:ext>
            </a:extLst>
          </p:cNvPr>
          <p:cNvSpPr>
            <a:spLocks xmlns:a="http://schemas.openxmlformats.org/drawingml/2006/main" noGrp="1"/>
          </p:cNvSpPr>
          <p:nvPr>
            <p:ph idx="1"/>
          </p:nvPr>
        </p:nvSpPr>
        <p:spPr>
          <a:xfrm xmlns:a="http://schemas.openxmlformats.org/drawingml/2006/main">
            <a:off x="430793" y="1979534"/>
            <a:ext cx="3604254"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5" name="Content Placeholder 2">
            <a:extLst xmlns:a="http://schemas.openxmlformats.org/drawingml/2006/main">
              <a:ext uri="{FF2B5EF4-FFF2-40B4-BE49-F238E27FC236}">
                <a16:creationId xmlns:a16="http://schemas.microsoft.com/office/drawing/2014/main" id="{39B8B3E1-3E22-853B-33F7-08DB9B6F05C9}"/>
              </a:ext>
            </a:extLst>
          </p:cNvPr>
          <p:cNvSpPr>
            <a:spLocks xmlns:a="http://schemas.openxmlformats.org/drawingml/2006/main" noGrp="1"/>
          </p:cNvSpPr>
          <p:nvPr>
            <p:ph idx="10"/>
          </p:nvPr>
        </p:nvSpPr>
        <p:spPr>
          <a:xfrm xmlns:a="http://schemas.openxmlformats.org/drawingml/2006/main">
            <a:off x="4293873" y="1989591"/>
            <a:ext cx="3604254"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ntent Placeholder 2">
            <a:extLst xmlns:a="http://schemas.openxmlformats.org/drawingml/2006/main">
              <a:ext uri="{FF2B5EF4-FFF2-40B4-BE49-F238E27FC236}">
                <a16:creationId xmlns:a16="http://schemas.microsoft.com/office/drawing/2014/main" id="{03F7CAF5-096C-F6FE-105D-033F35B064E8}"/>
              </a:ext>
            </a:extLst>
          </p:cNvPr>
          <p:cNvSpPr>
            <a:spLocks xmlns:a="http://schemas.openxmlformats.org/drawingml/2006/main" noGrp="1"/>
          </p:cNvSpPr>
          <p:nvPr>
            <p:ph idx="11"/>
          </p:nvPr>
        </p:nvSpPr>
        <p:spPr>
          <a:xfrm xmlns:a="http://schemas.openxmlformats.org/drawingml/2006/main">
            <a:off x="8119985" y="1979534"/>
            <a:ext cx="3604253"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8.xml><?xml version="1.0" encoding="utf-8"?>
<p:sldLayout xmlns:p="http://schemas.openxmlformats.org/presentationml/2006/main" type="obj" preserve="1">
  <p:cSld name="Text and stat slide">
    <p:bg>
      <p:bgPr>
        <a:blipFill xmlns:a="http://schemas.openxmlformats.org/drawingml/2006/main" rotWithShape="1">
          <a:blip xmlns:r="http://schemas.openxmlformats.org/officeDocument/2006/relationships" r:embed="R05e56123be064e0f">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8150498"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8150498"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9.xml><?xml version="1.0" encoding="utf-8"?>
<p:sldLayout xmlns:p="http://schemas.openxmlformats.org/presentationml/2006/main" type="obj" preserve="1">
  <p:cSld name="Text and testimonial">
    <p:bg>
      <p:bgPr>
        <a:blipFill xmlns:a="http://schemas.openxmlformats.org/drawingml/2006/main" rotWithShape="1">
          <a:blip xmlns:r="http://schemas.openxmlformats.org/officeDocument/2006/relationships" r:embed="Raae07eeaf3ee429a">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74119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7411944"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20.xml><?xml version="1.0" encoding="utf-8"?>
<p:sldLayout xmlns:p="http://schemas.openxmlformats.org/presentationml/2006/main" preserve="1" userDrawn="1">
  <p:cSld name="Single Column with Image">
    <p:bg>
      <p:bgPr>
        <a:blipFill xmlns:a="http://schemas.openxmlformats.org/drawingml/2006/main" rotWithShape="1">
          <a:blip xmlns:r="http://schemas.openxmlformats.org/officeDocument/2006/relationships" r:embed="Rdc9b3f350f8f47d0">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CF2DCDF-5CC4-CB00-9A72-4FA0DB40B207}"/>
              </a:ext>
            </a:extLst>
          </p:cNvPr>
          <p:cNvSpPr>
            <a:spLocks xmlns:a="http://schemas.openxmlformats.org/drawingml/2006/main" noGrp="1"/>
          </p:cNvSpPr>
          <p:nvPr>
            <p:ph idx="1"/>
          </p:nvPr>
        </p:nvSpPr>
        <p:spPr>
          <a:xfrm xmlns:a="http://schemas.openxmlformats.org/drawingml/2006/main">
            <a:off x="430794" y="1979534"/>
            <a:ext cx="5589006"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5" name="Picture Placeholder 4">
            <a:extLst xmlns:a="http://schemas.openxmlformats.org/drawingml/2006/main">
              <a:ext uri="{FF2B5EF4-FFF2-40B4-BE49-F238E27FC236}">
                <a16:creationId xmlns:a16="http://schemas.microsoft.com/office/drawing/2014/main" id="{1D4466F3-6EF4-7C6C-700F-D82BD03B0915}"/>
              </a:ext>
            </a:extLst>
          </p:cNvPr>
          <p:cNvSpPr>
            <a:spLocks xmlns:a="http://schemas.openxmlformats.org/drawingml/2006/main" noGrp="1"/>
          </p:cNvSpPr>
          <p:nvPr>
            <p:ph type="pic" idx="10"/>
          </p:nvPr>
        </p:nvSpPr>
        <p:spPr>
          <a:xfrm xmlns:a="http://schemas.openxmlformats.org/drawingml/2006/main">
            <a:off x="6096000" y="1979613"/>
            <a:ext cx="5627688" cy="4351337"/>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1.xml><?xml version="1.0" encoding="utf-8"?>
<p:sldLayout xmlns:p="http://schemas.openxmlformats.org/presentationml/2006/main" preserve="1" userDrawn="1">
  <p:cSld name="Chart">
    <p:bg>
      <p:bgPr>
        <a:blipFill xmlns:a="http://schemas.openxmlformats.org/drawingml/2006/main" rotWithShape="1">
          <a:blip xmlns:r="http://schemas.openxmlformats.org/officeDocument/2006/relationships" r:embed="R052237878629493d">
            <a:lum/>
          </a:blip>
          <a:srcRect l="0" t="0" r="0" b="0"/>
          <a:stretch>
            <a:fillRect l="0" t="0" r="0" b="0"/>
          </a:stretch>
        </a:blipFill>
      </p:bgPr>
    </p:bg>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Chart Placeholder 3">
            <a:extLst xmlns:a="http://schemas.openxmlformats.org/drawingml/2006/main">
              <a:ext uri="{FF2B5EF4-FFF2-40B4-BE49-F238E27FC236}">
                <a16:creationId xmlns:a16="http://schemas.microsoft.com/office/drawing/2014/main" id="{06F8C7EE-44FF-25E2-FD85-4A9A4E59F43C}"/>
              </a:ext>
            </a:extLst>
          </p:cNvPr>
          <p:cNvSpPr>
            <a:spLocks xmlns:a="http://schemas.openxmlformats.org/drawingml/2006/main" noGrp="1"/>
          </p:cNvSpPr>
          <p:nvPr>
            <p:ph type="chart" idx="10"/>
          </p:nvPr>
        </p:nvSpPr>
        <p:spPr>
          <a:xfrm xmlns:a="http://schemas.openxmlformats.org/drawingml/2006/main">
            <a:off x="430213" y="1928813"/>
            <a:ext cx="11293475" cy="4354512"/>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2.xml><?xml version="1.0" encoding="utf-8"?>
<p:sldLayout xmlns:p="http://schemas.openxmlformats.org/presentationml/2006/main" preserve="1" userDrawn="1">
  <p:cSld name="Table">
    <p:bg>
      <p:bgPr>
        <a:blipFill xmlns:a="http://schemas.openxmlformats.org/drawingml/2006/main" rotWithShape="1">
          <a:blip xmlns:r="http://schemas.openxmlformats.org/officeDocument/2006/relationships" r:embed="Rd2d288d9e75541b4">
            <a:lum/>
          </a:blip>
          <a:srcRect l="0" t="0" r="0" b="0"/>
          <a:stretch>
            <a:fillRect l="0" t="0" r="0" b="0"/>
          </a:stretch>
        </a:blipFill>
      </p:bgPr>
    </p:bg>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able Placeholder 2">
            <a:extLst xmlns:a="http://schemas.openxmlformats.org/drawingml/2006/main">
              <a:ext uri="{FF2B5EF4-FFF2-40B4-BE49-F238E27FC236}">
                <a16:creationId xmlns:a16="http://schemas.microsoft.com/office/drawing/2014/main" id="{9F2E8F34-9DD5-6734-21E2-9B7CCAD9F297}"/>
              </a:ext>
            </a:extLst>
          </p:cNvPr>
          <p:cNvSpPr>
            <a:spLocks xmlns:a="http://schemas.openxmlformats.org/drawingml/2006/main" noGrp="1"/>
          </p:cNvSpPr>
          <p:nvPr>
            <p:ph type="tbl" idx="10"/>
          </p:nvPr>
        </p:nvSpPr>
        <p:spPr>
          <a:xfrm xmlns:a="http://schemas.openxmlformats.org/drawingml/2006/main">
            <a:off x="430213" y="1919288"/>
            <a:ext cx="11293475" cy="4391025"/>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3.xml><?xml version="1.0" encoding="utf-8"?>
<p:sldLayout xmlns:p="http://schemas.openxmlformats.org/presentationml/2006/main" preserve="1" userDrawn="1">
  <p:cSld name="Thank You">
    <p:bg>
      <p:bgPr>
        <a:blipFill xmlns:a="http://schemas.openxmlformats.org/drawingml/2006/main" rotWithShape="1">
          <a:blip xmlns:r="http://schemas.openxmlformats.org/officeDocument/2006/relationships" r:embed="R3a020a6436eb4db0">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1f469c900c4363" /><Relationship Type="http://schemas.openxmlformats.org/officeDocument/2006/relationships/slideLayout" Target="/ppt/slideLayouts/slideLayout1.xml" Id="R310fe44f3f664698" /><Relationship Type="http://schemas.openxmlformats.org/officeDocument/2006/relationships/slideLayout" Target="/ppt/slideLayouts/slideLayout2.xml" Id="R18049c0724db4335" /><Relationship Type="http://schemas.openxmlformats.org/officeDocument/2006/relationships/slideLayout" Target="/ppt/slideLayouts/slideLayout3.xml" Id="R7e5aadda9d034c4d" /><Relationship Type="http://schemas.openxmlformats.org/officeDocument/2006/relationships/slideLayout" Target="/ppt/slideLayouts/slideLayout4.xml" Id="Rab566dda82224aaa" /><Relationship Type="http://schemas.openxmlformats.org/officeDocument/2006/relationships/slideLayout" Target="/ppt/slideLayouts/slideLayout5.xml" Id="Rb05580f7ed6a4be0" /><Relationship Type="http://schemas.openxmlformats.org/officeDocument/2006/relationships/slideLayout" Target="/ppt/slideLayouts/slideLayout6.xml" Id="Rec8e9af33e4d4579" /><Relationship Type="http://schemas.openxmlformats.org/officeDocument/2006/relationships/slideLayout" Target="/ppt/slideLayouts/slideLayout7.xml" Id="R2dc8d094082a41c4" /><Relationship Type="http://schemas.openxmlformats.org/officeDocument/2006/relationships/slideLayout" Target="/ppt/slideLayouts/slideLayout8.xml" Id="R9d9ad392d0b04ce8" /><Relationship Type="http://schemas.openxmlformats.org/officeDocument/2006/relationships/slideLayout" Target="/ppt/slideLayouts/slideLayout9.xml" Id="R97b4cce31eb8482e" /><Relationship Type="http://schemas.openxmlformats.org/officeDocument/2006/relationships/slideLayout" Target="/ppt/slideLayouts/slideLayout10.xml" Id="Re007e33f400b48db" /><Relationship Type="http://schemas.openxmlformats.org/officeDocument/2006/relationships/slideLayout" Target="/ppt/slideLayouts/slideLayout11.xml" Id="R2e24ad7ae0ea4cd2" /><Relationship Type="http://schemas.openxmlformats.org/officeDocument/2006/relationships/slideLayout" Target="/ppt/slideLayouts/slideLayout12.xml" Id="Rf04d7319c4074668" /><Relationship Type="http://schemas.openxmlformats.org/officeDocument/2006/relationships/slideLayout" Target="/ppt/slideLayouts/slideLayout13.xml" Id="R09a9624784b144ad" /><Relationship Type="http://schemas.openxmlformats.org/officeDocument/2006/relationships/slideLayout" Target="/ppt/slideLayouts/slideLayout14.xml" Id="R1f1d5dfe44ce4a4f" /><Relationship Type="http://schemas.openxmlformats.org/officeDocument/2006/relationships/slideLayout" Target="/ppt/slideLayouts/slideLayout15.xml" Id="R0a04780e86f64342" /><Relationship Type="http://schemas.openxmlformats.org/officeDocument/2006/relationships/slideLayout" Target="/ppt/slideLayouts/slideLayout16.xml" Id="R6b25b99ddf6d47fd" /><Relationship Type="http://schemas.openxmlformats.org/officeDocument/2006/relationships/slideLayout" Target="/ppt/slideLayouts/slideLayout17.xml" Id="R78c71e5aae574f46" /><Relationship Type="http://schemas.openxmlformats.org/officeDocument/2006/relationships/slideLayout" Target="/ppt/slideLayouts/slideLayout18.xml" Id="R6cc878eb445c4f45" /><Relationship Type="http://schemas.openxmlformats.org/officeDocument/2006/relationships/slideLayout" Target="/ppt/slideLayouts/slideLayout19.xml" Id="R21d29bf7b6a24b94" /><Relationship Type="http://schemas.openxmlformats.org/officeDocument/2006/relationships/slideLayout" Target="/ppt/slideLayouts/slideLayout20.xml" Id="Rf62b7491c22f46e6" /><Relationship Type="http://schemas.openxmlformats.org/officeDocument/2006/relationships/slideLayout" Target="/ppt/slideLayouts/slideLayout21.xml" Id="R7daaf5cb9b0d4eb7" /><Relationship Type="http://schemas.openxmlformats.org/officeDocument/2006/relationships/slideLayout" Target="/ppt/slideLayouts/slideLayout22.xml" Id="R80e41cb9c08c49b5" /><Relationship Type="http://schemas.openxmlformats.org/officeDocument/2006/relationships/slideLayout" Target="/ppt/slideLayouts/slideLayout23.xml" Id="Rf5d588e43a6c451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88C7BB9-ED14-2EE7-B747-6D3AC509C6F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C5B5F42-1935-63EA-A56F-BCFFCC5F384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4A4FD98-5FB3-0F33-190B-F09E379EA8D3}"/>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577B4DDA-DC7A-BA44-95F8-6F5B47B98114}" type="datetimeFigureOut">
              <a:t>9/10/2026</a:t>
            </a:fld>
            <a:endParaRPr/>
          </a:p>
        </p:txBody>
      </p:sp>
      <p:sp>
        <p:nvSpPr>
          <p:cNvPr id="5" name="Footer Placeholder 4">
            <a:extLst xmlns:a="http://schemas.openxmlformats.org/drawingml/2006/main">
              <a:ext uri="{FF2B5EF4-FFF2-40B4-BE49-F238E27FC236}">
                <a16:creationId xmlns:a16="http://schemas.microsoft.com/office/drawing/2014/main" id="{34199F5F-1ACA-4A1A-5173-27733EE4567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4C4A5E-3279-A2E1-BFFA-8259ABF8BC4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0fe44f3f664698"/>
    <p:sldLayoutId xmlns:r="http://schemas.openxmlformats.org/officeDocument/2006/relationships" id="2147483650" r:id="R18049c0724db4335"/>
    <p:sldLayoutId xmlns:r="http://schemas.openxmlformats.org/officeDocument/2006/relationships" id="2147483651" r:id="R7e5aadda9d034c4d"/>
    <p:sldLayoutId xmlns:r="http://schemas.openxmlformats.org/officeDocument/2006/relationships" id="2147483652" r:id="Rab566dda82224aaa"/>
    <p:sldLayoutId xmlns:r="http://schemas.openxmlformats.org/officeDocument/2006/relationships" id="2147483653" r:id="Rb05580f7ed6a4be0"/>
    <p:sldLayoutId xmlns:r="http://schemas.openxmlformats.org/officeDocument/2006/relationships" id="2147483654" r:id="Rec8e9af33e4d4579"/>
    <p:sldLayoutId xmlns:r="http://schemas.openxmlformats.org/officeDocument/2006/relationships" id="2147483655" r:id="R2dc8d094082a41c4"/>
    <p:sldLayoutId xmlns:r="http://schemas.openxmlformats.org/officeDocument/2006/relationships" id="2147483656" r:id="R9d9ad392d0b04ce8"/>
    <p:sldLayoutId xmlns:r="http://schemas.openxmlformats.org/officeDocument/2006/relationships" id="2147483657" r:id="R97b4cce31eb8482e"/>
    <p:sldLayoutId xmlns:r="http://schemas.openxmlformats.org/officeDocument/2006/relationships" id="2147483658" r:id="Re007e33f400b48db"/>
    <p:sldLayoutId xmlns:r="http://schemas.openxmlformats.org/officeDocument/2006/relationships" id="2147483659" r:id="R2e24ad7ae0ea4cd2"/>
    <p:sldLayoutId xmlns:r="http://schemas.openxmlformats.org/officeDocument/2006/relationships" id="2147483660" r:id="Rf04d7319c4074668"/>
    <p:sldLayoutId xmlns:r="http://schemas.openxmlformats.org/officeDocument/2006/relationships" id="2147483661" r:id="R09a9624784b144ad"/>
    <p:sldLayoutId xmlns:r="http://schemas.openxmlformats.org/officeDocument/2006/relationships" id="2147483662" r:id="R1f1d5dfe44ce4a4f"/>
    <p:sldLayoutId xmlns:r="http://schemas.openxmlformats.org/officeDocument/2006/relationships" id="2147483663" r:id="R0a04780e86f64342"/>
    <p:sldLayoutId xmlns:r="http://schemas.openxmlformats.org/officeDocument/2006/relationships" id="2147483664" r:id="R6b25b99ddf6d47fd"/>
    <p:sldLayoutId xmlns:r="http://schemas.openxmlformats.org/officeDocument/2006/relationships" id="2147483665" r:id="R78c71e5aae574f46"/>
    <p:sldLayoutId xmlns:r="http://schemas.openxmlformats.org/officeDocument/2006/relationships" id="2147483666" r:id="R6cc878eb445c4f45"/>
    <p:sldLayoutId xmlns:r="http://schemas.openxmlformats.org/officeDocument/2006/relationships" id="2147483667" r:id="R21d29bf7b6a24b94"/>
    <p:sldLayoutId xmlns:r="http://schemas.openxmlformats.org/officeDocument/2006/relationships" id="2147483668" r:id="Rf62b7491c22f46e6"/>
    <p:sldLayoutId xmlns:r="http://schemas.openxmlformats.org/officeDocument/2006/relationships" id="2147483669" r:id="R7daaf5cb9b0d4eb7"/>
    <p:sldLayoutId xmlns:r="http://schemas.openxmlformats.org/officeDocument/2006/relationships" id="2147483670" r:id="R80e41cb9c08c49b5"/>
    <p:sldLayoutId xmlns:r="http://schemas.openxmlformats.org/officeDocument/2006/relationships" id="2147483671" r:id="Rf5d588e43a6c4511"/>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748856c894f64e82" /><Relationship Type="http://schemas.openxmlformats.org/officeDocument/2006/relationships/notesSlide" Target="/ppt/notesSlides/notesSlide1.xml" Id="Rd6c507e4c4e047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5.xml" Id="Rb354ad99bde345d4" /><Relationship Type="http://schemas.openxmlformats.org/officeDocument/2006/relationships/image" Target="/ppt/media/image.png" Id="Re2bcd558f0f94cf8" /><Relationship Type="http://schemas.openxmlformats.org/officeDocument/2006/relationships/notesSlide" Target="/ppt/notesSlides/notesSlide2.xml" Id="R0ce30177e63548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5.xml" Id="Ra88a04e6cce7402f" /><Relationship Type="http://schemas.openxmlformats.org/officeDocument/2006/relationships/notesSlide" Target="/ppt/notesSlides/notesSlide3.xml" Id="Re818725de40f41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5.xml" Id="Rff2d413f4556498b" /><Relationship Type="http://schemas.openxmlformats.org/officeDocument/2006/relationships/notesSlide" Target="/ppt/notesSlides/notesSlide4.xml" Id="Rf758da50e39b40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5.xml" Id="R5ddf6423054f4f12" /><Relationship Type="http://schemas.openxmlformats.org/officeDocument/2006/relationships/notesSlide" Target="/ppt/notesSlides/notesSlide5.xml" Id="Rcaef4aa3f73640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5.xml" Id="R4c7c29b9792f4dbf" /><Relationship Type="http://schemas.openxmlformats.org/officeDocument/2006/relationships/notesSlide" Target="/ppt/notesSlides/notesSlide6.xml" Id="R945634e4dc8a42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5.xml" Id="R2667ca02249e4552" /><Relationship Type="http://schemas.openxmlformats.org/officeDocument/2006/relationships/notesSlide" Target="/ppt/notesSlides/notesSlide7.xml" Id="Rb52b55e2407148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f3a22d562fe04e02" /><Relationship Type="http://schemas.openxmlformats.org/officeDocument/2006/relationships/notesSlide" Target="/ppt/notesSlides/notesSlide8.xml" Id="R8199526b0c1342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5.xml" Id="R43d54e239b7b4cef" /><Relationship Type="http://schemas.openxmlformats.org/officeDocument/2006/relationships/image" Target="/ppt/media/image2.png" Id="R7552a8466a9d4b2f" /><Relationship Type="http://schemas.openxmlformats.org/officeDocument/2006/relationships/notesSlide" Target="/ppt/notesSlides/notesSlide9.xml" Id="R20ba4df3c75445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5.xml" Id="R6f9c3bcc6b21491b" /><Relationship Type="http://schemas.openxmlformats.org/officeDocument/2006/relationships/notesSlide" Target="/ppt/notesSlides/notesSlide10.xml" Id="Rff5bb97572c04b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5.xml" Id="Red3b9b85d10e4390" /><Relationship Type="http://schemas.openxmlformats.org/officeDocument/2006/relationships/notesSlide" Target="/ppt/notesSlides/notesSlide11.xml" Id="R9c536a51bbc749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5.xml" Id="Re73c5bfab3d64297" /><Relationship Type="http://schemas.openxmlformats.org/officeDocument/2006/relationships/notesSlide" Target="/ppt/notesSlides/notesSlide12.xml" Id="R675bf2f0da9647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5.xml" Id="R0d9d36624d8848a4" /><Relationship Type="http://schemas.openxmlformats.org/officeDocument/2006/relationships/notesSlide" Target="/ppt/notesSlides/notesSlide13.xml" Id="R1cdc5c7dc86147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00083328f5e84b14" /><Relationship Type="http://schemas.openxmlformats.org/officeDocument/2006/relationships/notesSlide" Target="/ppt/notesSlides/notesSlide14.xml" Id="R92fa0a2ba7c742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5.xml" Id="R10a2b7818ae44a00" /><Relationship Type="http://schemas.openxmlformats.org/officeDocument/2006/relationships/notesSlide" Target="/ppt/notesSlides/notesSlide15.xml" Id="R96a99a036d6243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5.xml" Id="R139d4f780bb54908" /><Relationship Type="http://schemas.openxmlformats.org/officeDocument/2006/relationships/notesSlide" Target="/ppt/notesSlides/notesSlide16.xml" Id="R389754e5bf0d43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5.xml" Id="R7e532a7a72f540b1" /><Relationship Type="http://schemas.openxmlformats.org/officeDocument/2006/relationships/notesSlide" Target="/ppt/notesSlides/notesSlide17.xml" Id="R5a0212e557dc4d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5.xml" Id="R5d9a3eaa1d4643e2" /><Relationship Type="http://schemas.openxmlformats.org/officeDocument/2006/relationships/notesSlide" Target="/ppt/notesSlides/notesSlide18.xml" Id="R6dd361d408df40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5.xml" Id="R69847582c08a46e1" /><Relationship Type="http://schemas.openxmlformats.org/officeDocument/2006/relationships/notesSlide" Target="/ppt/notesSlides/notesSlide19.xml" Id="R77ae381333ae4c4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5.xml" Id="R80b5d4d56d074c23" /><Relationship Type="http://schemas.openxmlformats.org/officeDocument/2006/relationships/notesSlide" Target="/ppt/notesSlides/notesSlide20.xml" Id="Ra1dc0bf31be248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5.xml" Id="R14ecd0e8982849bb" /><Relationship Type="http://schemas.openxmlformats.org/officeDocument/2006/relationships/notesSlide" Target="/ppt/notesSlides/notesSlide21.xml" Id="R51414b5bd57645f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5.xml" Id="R9ad07c6036574009" /><Relationship Type="http://schemas.openxmlformats.org/officeDocument/2006/relationships/notesSlide" Target="/ppt/notesSlides/notesSlide22.xml" Id="Ra14bf9e998c144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5.xml" Id="Rf0cf7815010f47cc" /><Relationship Type="http://schemas.openxmlformats.org/officeDocument/2006/relationships/notesSlide" Target="/ppt/notesSlides/notesSlide23.xml" Id="Rf76b29fa4edb4d5a" /></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5.xml" Id="R5236ba977ed348e5"/><Relationship Type="http://schemas.openxmlformats.org/officeDocument/2006/relationships/chart" Target="../charts/chart1.xml" Id="R0a8fed6317af4434"/><Relationship Type="http://schemas.openxmlformats.org/officeDocument/2006/relationships/notesSlide" Target="/ppt/notesSlides/notesSlide24.xml" Id="R313b2cc8e3794e75"/></Relationships>
</file>

<file path=ppt/slides/_rels/slide25.xml.rels>&#65279;<?xml version="1.0" encoding="utf-8"?><Relationships xmlns="http://schemas.openxmlformats.org/package/2006/relationships"><Relationship Type="http://schemas.openxmlformats.org/officeDocument/2006/relationships/slideLayout" Target="/ppt/slideLayouts/slideLayout15.xml" Id="R16e964562ea44329" /><Relationship Type="http://schemas.openxmlformats.org/officeDocument/2006/relationships/notesSlide" Target="/ppt/notesSlides/notesSlide25.xml" Id="R5b192bc198b5431d" /></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5.xml" Id="R6de363a5b7e84a47"/><Relationship Type="http://schemas.openxmlformats.org/officeDocument/2006/relationships/chart" Target="../charts/chart2.xml" Id="R303183b6e4354a00"/><Relationship Type="http://schemas.openxmlformats.org/officeDocument/2006/relationships/notesSlide" Target="/ppt/notesSlides/notesSlide26.xml" Id="Rc296e243e8b84938"/></Relationships>
</file>

<file path=ppt/slides/_rels/slide27.xml.rels>&#65279;<?xml version="1.0" encoding="utf-8"?><Relationships xmlns="http://schemas.openxmlformats.org/package/2006/relationships"><Relationship Type="http://schemas.openxmlformats.org/officeDocument/2006/relationships/slideLayout" Target="/ppt/slideLayouts/slideLayout11.xml" Id="R3a7e8e8a41a346be" /><Relationship Type="http://schemas.openxmlformats.org/officeDocument/2006/relationships/notesSlide" Target="/ppt/notesSlides/notesSlide27.xml" Id="Rc4e89db774904f6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5.xml" Id="Rc73e6882cd9f40b8" /><Relationship Type="http://schemas.openxmlformats.org/officeDocument/2006/relationships/notesSlide" Target="/ppt/notesSlides/notesSlide28.xml" Id="R74ce1df33d354d9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5.xml" Id="Ra96a2a52f4434736" /><Relationship Type="http://schemas.openxmlformats.org/officeDocument/2006/relationships/notesSlide" Target="/ppt/notesSlides/notesSlide29.xml" Id="R0fc775975a164e2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5.xml" Id="Rba7fdeee43014741" /><Relationship Type="http://schemas.openxmlformats.org/officeDocument/2006/relationships/notesSlide" Target="/ppt/notesSlides/notesSlide30.xml" Id="Rc27e2d504d694d1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5.xml" Id="Ra511e2ded86e4f0e" /><Relationship Type="http://schemas.openxmlformats.org/officeDocument/2006/relationships/notesSlide" Target="/ppt/notesSlides/notesSlide31.xml" Id="R6421139f330243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5.xml" Id="R1f4e2c0a325d4840" /><Relationship Type="http://schemas.openxmlformats.org/officeDocument/2006/relationships/notesSlide" Target="/ppt/notesSlides/notesSlide32.xml" Id="Rdd891e612aac4a2c" /></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5.xml" Id="R8206259c5ffc4df2"/><Relationship Type="http://schemas.openxmlformats.org/officeDocument/2006/relationships/chart" Target="../charts/chart3.xml" Id="R5caa787218da4871"/><Relationship Type="http://schemas.openxmlformats.org/officeDocument/2006/relationships/notesSlide" Target="/ppt/notesSlides/notesSlide33.xml" Id="R294759a31300487f"/></Relationships>
</file>

<file path=ppt/slides/_rels/slide34.xml.rels>&#65279;<?xml version="1.0" encoding="utf-8"?><Relationships xmlns="http://schemas.openxmlformats.org/package/2006/relationships"><Relationship Type="http://schemas.openxmlformats.org/officeDocument/2006/relationships/slideLayout" Target="/ppt/slideLayouts/slideLayout15.xml" Id="R0df8bf1995654e94" /><Relationship Type="http://schemas.openxmlformats.org/officeDocument/2006/relationships/notesSlide" Target="/ppt/notesSlides/notesSlide34.xml" Id="R0e5a5498cf314b2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5.xml" Id="R6b4501a30fe0466a" /><Relationship Type="http://schemas.openxmlformats.org/officeDocument/2006/relationships/notesSlide" Target="/ppt/notesSlides/notesSlide35.xml" Id="R89cb73508f504ab0" /></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5.xml" Id="Rcf7399fc593c4780"/><Relationship Type="http://schemas.openxmlformats.org/officeDocument/2006/relationships/chart" Target="../charts/chart4.xml" Id="Rca6e28601f6541ff"/><Relationship Type="http://schemas.openxmlformats.org/officeDocument/2006/relationships/notesSlide" Target="/ppt/notesSlides/notesSlide36.xml" Id="Rb873fc5a4fec4b52"/></Relationships>
</file>

<file path=ppt/slides/_rels/slide37.xml.rels>&#65279;<?xml version="1.0" encoding="utf-8"?><Relationships xmlns="http://schemas.openxmlformats.org/package/2006/relationships"><Relationship Type="http://schemas.openxmlformats.org/officeDocument/2006/relationships/slideLayout" Target="/ppt/slideLayouts/slideLayout11.xml" Id="Rc109d5fdcbcc4c4f" /><Relationship Type="http://schemas.openxmlformats.org/officeDocument/2006/relationships/notesSlide" Target="/ppt/notesSlides/notesSlide37.xml" Id="Rc2c511e8eb754d5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5.xml" Id="Rc64043722c164871" /><Relationship Type="http://schemas.openxmlformats.org/officeDocument/2006/relationships/notesSlide" Target="/ppt/notesSlides/notesSlide38.xml" Id="Rfcaadb965c824edb" /></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5.xml" Id="R890bfb3ff1b74541"/><Relationship Type="http://schemas.openxmlformats.org/officeDocument/2006/relationships/chart" Target="../charts/chart5.xml" Id="R02acd5d0dad741dd"/><Relationship Type="http://schemas.openxmlformats.org/officeDocument/2006/relationships/notesSlide" Target="/ppt/notesSlides/notesSlide39.xml" Id="R9e03aa07bd0247f8"/></Relationships>
</file>

<file path=ppt/slides/_rels/slide40.xml.rels>&#65279;<?xml version="1.0" encoding="utf-8"?><Relationships xmlns="http://schemas.openxmlformats.org/package/2006/relationships"><Relationship Type="http://schemas.openxmlformats.org/officeDocument/2006/relationships/slideLayout" Target="/ppt/slideLayouts/slideLayout15.xml" Id="R2491248f3bd9452c" /><Relationship Type="http://schemas.openxmlformats.org/officeDocument/2006/relationships/notesSlide" Target="/ppt/notesSlides/notesSlide40.xml" Id="R60fa711110544f19" /></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5.xml" Id="R60cca9f1c4ae47df"/><Relationship Type="http://schemas.openxmlformats.org/officeDocument/2006/relationships/chart" Target="../charts/chart6.xml" Id="R372a61842f3a4c87"/><Relationship Type="http://schemas.openxmlformats.org/officeDocument/2006/relationships/notesSlide" Target="/ppt/notesSlides/notesSlide41.xml" Id="R8e6bbdb9d8624ad8"/></Relationships>
</file>

<file path=ppt/slides/_rels/slide42.xml.rels>&#65279;<?xml version="1.0" encoding="utf-8"?><Relationships xmlns="http://schemas.openxmlformats.org/package/2006/relationships"><Relationship Type="http://schemas.openxmlformats.org/officeDocument/2006/relationships/slideLayout" Target="/ppt/slideLayouts/slideLayout15.xml" Id="R6f8c4a2800d14619" /><Relationship Type="http://schemas.openxmlformats.org/officeDocument/2006/relationships/notesSlide" Target="/ppt/notesSlides/notesSlide42.xml" Id="Rf763efa94bde424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5.xml" Id="R6252492933644abb" /><Relationship Type="http://schemas.openxmlformats.org/officeDocument/2006/relationships/notesSlide" Target="/ppt/notesSlides/notesSlide43.xml" Id="R41d1da9c95df4f5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5.xml" Id="R38d3d59b71144824" /><Relationship Type="http://schemas.openxmlformats.org/officeDocument/2006/relationships/notesSlide" Target="/ppt/notesSlides/notesSlide44.xml" Id="R4fbd95406f5d446d" /></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5.xml" Id="R26c252fe33204d52"/><Relationship Type="http://schemas.openxmlformats.org/officeDocument/2006/relationships/chart" Target="../charts/chart7.xml" Id="R871a6be6cd6f493a"/><Relationship Type="http://schemas.openxmlformats.org/officeDocument/2006/relationships/notesSlide" Target="/ppt/notesSlides/notesSlide45.xml" Id="R1c7fde5bb2f648e1"/></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a:extLst xmlns:a="http://schemas.openxmlformats.org/drawingml/2006/main">
              <a:ext uri="{FF2B5EF4-FFF2-40B4-BE49-F238E27FC236}">
                <a16:creationId xmlns:a16="http://schemas.microsoft.com/office/drawing/2014/main" id="{1049D5AE-637D-4DB3-A494-2488C7EB8C69}"/>
              </a:ext>
            </a:extLst>
          </p:cNvPr>
          <p:cNvSpPr>
            <a:spLocks xmlns:a="http://schemas.openxmlformats.org/drawingml/2006/main" noGrp="1"/>
          </p:cNvSpPr>
          <p:nvPr/>
        </p:nvSpPr>
        <p:spPr>
          <a:xfrm xmlns:a="http://schemas.openxmlformats.org/drawingml/2006/main">
            <a:off x="447675" y="2314575"/>
            <a:ext cx="5810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IFY Statistics</a:t>
            </a:r>
          </a:p>
          <a:p xmlns:a="http://schemas.openxmlformats.org/drawingml/2006/main">
            <a:pPr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Week 4 Class C</a:t>
            </a:r>
          </a:p>
        </p:txBody>
      </p:sp>
      <p:sp>
        <p:nvSpPr>
          <p:cNvPr id="2" name="Text">
            <a:extLst xmlns:a="http://schemas.openxmlformats.org/drawingml/2006/main">
              <a:ext uri="{FF2B5EF4-FFF2-40B4-BE49-F238E27FC236}">
                <a16:creationId xmlns:a16="http://schemas.microsoft.com/office/drawing/2014/main" id="{4F776EF4-2EBF-4D73-BEBB-0938A68B2C13}"/>
              </a:ext>
            </a:extLst>
          </p:cNvPr>
          <p:cNvSpPr>
            <a:spLocks xmlns:a="http://schemas.openxmlformats.org/drawingml/2006/main" noGrp="1"/>
          </p:cNvSpPr>
          <p:nvPr/>
        </p:nvSpPr>
        <p:spPr>
          <a:xfrm xmlns:a="http://schemas.openxmlformats.org/drawingml/2006/main">
            <a:off x="447675" y="4391025"/>
            <a:ext cx="5619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FFFFFF"/>
                </a:solidFill>
                <a:latin typeface="Aptos Display"/>
                <a:ea typeface="Aptos Display"/>
                <a:cs typeface="Aptos Display"/>
              </a:defRPr>
            </a:pPr>
            <a:r>
              <a:rPr sz="4400" b="0">
                <a:solidFill>
                  <a:srgbClr val="FFFFFF"/>
                </a:solidFill>
                <a:latin typeface="Aptos Display"/>
                <a:ea typeface="Aptos Display"/>
                <a:cs typeface="Aptos Display"/>
              </a:rPr>
              <a:t>Excel</a:t>
            </a:r>
          </a:p>
          <a:p xmlns:a="http://schemas.openxmlformats.org/drawingml/2006/main">
            <a:pPr algn="l">
              <a:buNone/>
              <a:defRPr sz="4400" b="0">
                <a:solidFill>
                  <a:srgbClr val="FFFFFF"/>
                </a:solidFill>
                <a:latin typeface="Aptos Display"/>
                <a:ea typeface="Aptos Display"/>
                <a:cs typeface="Aptos Display"/>
              </a:defRPr>
            </a:pPr>
            <a:r>
              <a:rPr sz="4400" b="0">
                <a:solidFill>
                  <a:srgbClr val="FFFFFF"/>
                </a:solidFill>
                <a:latin typeface="Aptos Display"/>
                <a:ea typeface="Aptos Display"/>
                <a:cs typeface="Aptos Display"/>
              </a:rPr>
              <a:t>practical</a:t>
            </a:r>
          </a:p>
        </p:txBody>
      </p:sp>
      <p:sp>
        <p:nvSpPr>
          <p:cNvPr id="4" name="Text">
            <a:extLst xmlns:a="http://schemas.openxmlformats.org/drawingml/2006/main">
              <a:ext uri="{FF2B5EF4-FFF2-40B4-BE49-F238E27FC236}">
                <a16:creationId xmlns:a16="http://schemas.microsoft.com/office/drawing/2014/main" id="{2B945601-1671-4BA3-B73E-9088E89583C6}"/>
              </a:ext>
            </a:extLst>
          </p:cNvPr>
          <p:cNvSpPr>
            <a:spLocks xmlns:a="http://schemas.openxmlformats.org/drawingml/2006/main" noGrp="1"/>
          </p:cNvSpPr>
          <p:nvPr/>
        </p:nvSpPr>
        <p:spPr>
          <a:xfrm xmlns:a="http://schemas.openxmlformats.org/drawingml/2006/main">
            <a:off x="447675" y="5905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FFFFFF"/>
                </a:solidFill>
                <a:latin typeface="Aptos"/>
                <a:ea typeface="Aptos"/>
                <a:cs typeface="Aptos"/>
              </a:defRPr>
            </a:pPr>
            <a:r>
              <a:rPr sz="2550" b="0">
                <a:solidFill>
                  <a:srgbClr val="FFFFFF"/>
                </a:solidFill>
                <a:latin typeface="Aptos"/>
                <a:ea typeface="Aptos"/>
                <a:cs typeface="Aptos"/>
              </a:rPr>
              <a:t>Demo + Data</a:t>
            </a:r>
          </a:p>
        </p:txBody>
      </p:sp>
    </p:spTree>
    <p:extLst>
      <p:ext uri="{BB962C8B-B14F-4D97-AF65-F5344CB8AC3E}">
        <p14:creationId xmlns:p14="http://schemas.microsoft.com/office/powerpoint/2010/main" val="15017708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A6A430E6-03A9-443D-A8F5-7F10B11CEF6C}"/>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Demo: the teacher’s worksheet</a:t>
            </a:r>
          </a:p>
        </p:txBody>
      </p:sp>
      <p:sp>
        <p:nvSpPr>
          <p:cNvPr id="2" name="Footer">
            <a:extLst xmlns:a="http://schemas.openxmlformats.org/drawingml/2006/main">
              <a:ext uri="{FF2B5EF4-FFF2-40B4-BE49-F238E27FC236}">
                <a16:creationId xmlns:a16="http://schemas.microsoft.com/office/drawing/2014/main" id="{4F18925F-5DA1-4DC8-8B7E-5902FCD12B8C}"/>
              </a:ext>
            </a:extLst>
          </p:cNvPr>
          <p:cNvSpPr>
            <a:spLocks xmlns:a="http://schemas.openxmlformats.org/drawingml/2006/main" noGrp="1"/>
          </p:cNvSpPr>
          <p:nvPr/>
        </p:nvSpPr>
        <p:spPr>
          <a:xfrm xmlns:a="http://schemas.openxmlformats.org/drawingml/2006/main">
            <a:off x="523875"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111111"/>
                </a:solidFill>
                <a:latin typeface="Aptos"/>
                <a:ea typeface="Aptos"/>
                <a:cs typeface="Aptos"/>
              </a:defRPr>
            </a:pPr>
            <a:r>
              <a:rPr sz="1500" b="0">
                <a:solidFill>
                  <a:srgbClr val="111111"/>
                </a:solidFill>
                <a:latin typeface="Aptos"/>
                <a:ea typeface="Aptos"/>
                <a:cs typeface="Aptos"/>
              </a:rPr>
              <a:t>20 records on the left. Calculation tables on the right. The teacher stays on Demo.</a:t>
            </a:r>
          </a:p>
        </p:txBody>
      </p:sp>
      <p:pic>
        <p:nvPicPr>
          <p:cNvPr id="8" name="Picture 5"/>
          <p:cNvPicPr>
            <a:picLocks xmlns:a="http://schemas.openxmlformats.org/drawingml/2006/main" noChangeAspect="1"/>
          </p:cNvPicPr>
          <p:nvPr/>
        </p:nvPicPr>
        <p:blipFill>
          <a:blip xmlns:r="http://schemas.openxmlformats.org/officeDocument/2006/relationships" xmlns:a="http://schemas.openxmlformats.org/drawingml/2006/main" r:embed="Re2bcd558f0f94cf8"/>
          <a:stretch xmlns:a="http://schemas.openxmlformats.org/drawingml/2006/main"/>
        </p:blipFill>
        <p:spPr>
          <a:xfrm xmlns:a="http://schemas.openxmlformats.org/drawingml/2006/main">
            <a:off x="607290" y="1924050"/>
            <a:ext cx="10882170" cy="4057650"/>
          </a:xfrm>
          <a:prstGeom xmlns:a="http://schemas.openxmlformats.org/drawingml/2006/main" prst="rect">
            <a:avLst/>
          </a:prstGeom>
        </p:spPr>
      </p:pic>
    </p:spTree>
    <p:extLst>
      <p:ext uri="{BB962C8B-B14F-4D97-AF65-F5344CB8AC3E}">
        <p14:creationId xmlns:p14="http://schemas.microsoft.com/office/powerpoint/2010/main" val="160602078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A47F82E4-67D9-49C8-BD52-845B80063BB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from Classes A and B</a:t>
            </a:r>
          </a:p>
        </p:txBody>
      </p:sp>
      <p:sp>
        <p:nvSpPr>
          <p:cNvPr id="2" name="Lead">
            <a:extLst xmlns:a="http://schemas.openxmlformats.org/drawingml/2006/main">
              <a:ext uri="{FF2B5EF4-FFF2-40B4-BE49-F238E27FC236}">
                <a16:creationId xmlns:a16="http://schemas.microsoft.com/office/drawing/2014/main" id="{4A7DEB37-8580-4C1D-AAA5-EE31D214E9DE}"/>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Answer before opening the chart menus.</a:t>
            </a:r>
          </a:p>
        </p:txBody>
      </p:sp>
      <p:sp>
        <p:nvSpPr>
          <p:cNvPr id="3" name="Text">
            <a:extLst xmlns:a="http://schemas.openxmlformats.org/drawingml/2006/main">
              <a:ext uri="{FF2B5EF4-FFF2-40B4-BE49-F238E27FC236}">
                <a16:creationId xmlns:a16="http://schemas.microsoft.com/office/drawing/2014/main" id="{8A22E7EC-32BB-4CFA-ACCF-DD8C6E293488}"/>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C0</a:t>
            </a:r>
          </a:p>
        </p:txBody>
      </p:sp>
      <p:sp>
        <p:nvSpPr>
          <p:cNvPr id="4" name="Footer">
            <a:extLst xmlns:a="http://schemas.openxmlformats.org/drawingml/2006/main">
              <a:ext uri="{FF2B5EF4-FFF2-40B4-BE49-F238E27FC236}">
                <a16:creationId xmlns:a16="http://schemas.microsoft.com/office/drawing/2014/main" id="{687C26EA-B91B-42FB-8E9B-59DC0730577D}"/>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Handout C0. Discuss with your partner before the answer slide.</a:t>
            </a:r>
          </a:p>
        </p:txBody>
      </p:sp>
      <p:sp>
        <p:nvSpPr>
          <p:cNvPr id="5" name="Text">
            <a:extLst xmlns:a="http://schemas.openxmlformats.org/drawingml/2006/main">
              <a:ext uri="{FF2B5EF4-FFF2-40B4-BE49-F238E27FC236}">
                <a16:creationId xmlns:a16="http://schemas.microsoft.com/office/drawing/2014/main" id="{55C75578-E9A9-4A03-82D4-EEDE2A8FE938}"/>
              </a:ext>
            </a:extLst>
          </p:cNvPr>
          <p:cNvSpPr>
            <a:spLocks xmlns:a="http://schemas.openxmlformats.org/drawingml/2006/main" noGrp="1"/>
          </p:cNvSpPr>
          <p:nvPr/>
        </p:nvSpPr>
        <p:spPr>
          <a:xfrm xmlns:a="http://schemas.openxmlformats.org/drawingml/2006/main">
            <a:off x="619125" y="29527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706B0EC9-B47B-46BF-97DD-4F32B694380A}"/>
              </a:ext>
            </a:extLst>
          </p:cNvPr>
          <p:cNvSpPr>
            <a:spLocks xmlns:a="http://schemas.openxmlformats.org/drawingml/2006/main" noGrp="1"/>
          </p:cNvSpPr>
          <p:nvPr/>
        </p:nvSpPr>
        <p:spPr>
          <a:xfrm xmlns:a="http://schemas.openxmlformats.org/drawingml/2006/main">
            <a:off x="1238250" y="2952750"/>
            <a:ext cx="1014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Which interval contains 40: 20 ≤ x &lt; 40 or 40 ≤ x &lt; 60?</a:t>
            </a:r>
          </a:p>
        </p:txBody>
      </p:sp>
      <p:sp>
        <p:nvSpPr>
          <p:cNvPr id="7" name="Text">
            <a:extLst xmlns:a="http://schemas.openxmlformats.org/drawingml/2006/main">
              <a:ext uri="{FF2B5EF4-FFF2-40B4-BE49-F238E27FC236}">
                <a16:creationId xmlns:a16="http://schemas.microsoft.com/office/drawing/2014/main" id="{5EE14C6F-6091-4843-82F7-0E2CA1B5357F}"/>
              </a:ext>
            </a:extLst>
          </p:cNvPr>
          <p:cNvSpPr>
            <a:spLocks xmlns:a="http://schemas.openxmlformats.org/drawingml/2006/main" noGrp="1"/>
          </p:cNvSpPr>
          <p:nvPr/>
        </p:nvSpPr>
        <p:spPr>
          <a:xfrm xmlns:a="http://schemas.openxmlformats.org/drawingml/2006/main">
            <a:off x="619125" y="38576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979BBC81-E89D-4386-9803-88ED1FEC4292}"/>
              </a:ext>
            </a:extLst>
          </p:cNvPr>
          <p:cNvSpPr>
            <a:spLocks xmlns:a="http://schemas.openxmlformats.org/drawingml/2006/main" noGrp="1"/>
          </p:cNvSpPr>
          <p:nvPr/>
        </p:nvSpPr>
        <p:spPr>
          <a:xfrm xmlns:a="http://schemas.openxmlformats.org/drawingml/2006/main">
            <a:off x="1238250" y="3857625"/>
            <a:ext cx="1014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 a meal dataset, what does frequency count?</a:t>
            </a:r>
          </a:p>
        </p:txBody>
      </p:sp>
      <p:sp>
        <p:nvSpPr>
          <p:cNvPr id="9" name="Text">
            <a:extLst xmlns:a="http://schemas.openxmlformats.org/drawingml/2006/main">
              <a:ext uri="{FF2B5EF4-FFF2-40B4-BE49-F238E27FC236}">
                <a16:creationId xmlns:a16="http://schemas.microsoft.com/office/drawing/2014/main" id="{3F5A47F0-ABD1-402D-8587-1DBB9BED9273}"/>
              </a:ext>
            </a:extLst>
          </p:cNvPr>
          <p:cNvSpPr>
            <a:spLocks xmlns:a="http://schemas.openxmlformats.org/drawingml/2006/main" noGrp="1"/>
          </p:cNvSpPr>
          <p:nvPr/>
        </p:nvSpPr>
        <p:spPr>
          <a:xfrm xmlns:a="http://schemas.openxmlformats.org/drawingml/2006/main">
            <a:off x="619125" y="47625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C432032B-CDFC-4AFF-8A9C-DB31264EF511}"/>
              </a:ext>
            </a:extLst>
          </p:cNvPr>
          <p:cNvSpPr>
            <a:spLocks xmlns:a="http://schemas.openxmlformats.org/drawingml/2006/main" noGrp="1"/>
          </p:cNvSpPr>
          <p:nvPr/>
        </p:nvSpPr>
        <p:spPr>
          <a:xfrm xmlns:a="http://schemas.openxmlformats.org/drawingml/2006/main">
            <a:off x="1238250" y="4762500"/>
            <a:ext cx="1014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Which graph shows two numerical variables together?</a:t>
            </a:r>
          </a:p>
        </p:txBody>
      </p:sp>
    </p:spTree>
    <p:extLst>
      <p:ext uri="{BB962C8B-B14F-4D97-AF65-F5344CB8AC3E}">
        <p14:creationId xmlns:p14="http://schemas.microsoft.com/office/powerpoint/2010/main" val="1510865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2D8ADA21-9A37-45D5-A2D3-DEC8F92DE813}"/>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check your reasoning</a:t>
            </a:r>
          </a:p>
        </p:txBody>
      </p:sp>
      <p:sp>
        <p:nvSpPr>
          <p:cNvPr id="2" name="Lead">
            <a:extLst xmlns:a="http://schemas.openxmlformats.org/drawingml/2006/main">
              <a:ext uri="{FF2B5EF4-FFF2-40B4-BE49-F238E27FC236}">
                <a16:creationId xmlns:a16="http://schemas.microsoft.com/office/drawing/2014/main" id="{D278FAE4-C4F3-41C0-AC49-0DFC92B983ED}"/>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Read the symbols and units carefully.</a:t>
            </a:r>
          </a:p>
        </p:txBody>
      </p:sp>
      <p:sp>
        <p:nvSpPr>
          <p:cNvPr id="3" name="Text">
            <a:extLst xmlns:a="http://schemas.openxmlformats.org/drawingml/2006/main">
              <a:ext uri="{FF2B5EF4-FFF2-40B4-BE49-F238E27FC236}">
                <a16:creationId xmlns:a16="http://schemas.microsoft.com/office/drawing/2014/main" id="{AB28E703-5120-4413-80F5-CDFF43ABCAB4}"/>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C0</a:t>
            </a:r>
          </a:p>
        </p:txBody>
      </p:sp>
      <p:sp>
        <p:nvSpPr>
          <p:cNvPr id="4" name="Footer">
            <a:extLst xmlns:a="http://schemas.openxmlformats.org/drawingml/2006/main">
              <a:ext uri="{FF2B5EF4-FFF2-40B4-BE49-F238E27FC236}">
                <a16:creationId xmlns:a16="http://schemas.microsoft.com/office/drawing/2014/main" id="{0A3A6FD0-F32F-4DBD-8393-356331A2114C}"/>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variable is the measurement. The frequency counts observations.</a:t>
            </a:r>
          </a:p>
        </p:txBody>
      </p:sp>
      <p:sp>
        <p:nvSpPr>
          <p:cNvPr id="5" name="Text">
            <a:extLst xmlns:a="http://schemas.openxmlformats.org/drawingml/2006/main">
              <a:ext uri="{FF2B5EF4-FFF2-40B4-BE49-F238E27FC236}">
                <a16:creationId xmlns:a16="http://schemas.microsoft.com/office/drawing/2014/main" id="{B4954DFF-1666-47F4-849C-2664EE4055D9}"/>
              </a:ext>
            </a:extLst>
          </p:cNvPr>
          <p:cNvSpPr>
            <a:spLocks xmlns:a="http://schemas.openxmlformats.org/drawingml/2006/main" noGrp="1"/>
          </p:cNvSpPr>
          <p:nvPr/>
        </p:nvSpPr>
        <p:spPr>
          <a:xfrm xmlns:a="http://schemas.openxmlformats.org/drawingml/2006/main">
            <a:off x="619125" y="29718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F9BEB4A6-0925-4C96-A0BF-FCA90194CCEA}"/>
              </a:ext>
            </a:extLst>
          </p:cNvPr>
          <p:cNvSpPr>
            <a:spLocks xmlns:a="http://schemas.openxmlformats.org/drawingml/2006/main" noGrp="1"/>
          </p:cNvSpPr>
          <p:nvPr/>
        </p:nvSpPr>
        <p:spPr>
          <a:xfrm xmlns:a="http://schemas.openxmlformats.org/drawingml/2006/main">
            <a:off x="1238250" y="2971800"/>
            <a:ext cx="1014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40 ≤ x &lt; 60 includes 40.</a:t>
            </a:r>
          </a:p>
        </p:txBody>
      </p:sp>
      <p:sp>
        <p:nvSpPr>
          <p:cNvPr id="7" name="Text">
            <a:extLst xmlns:a="http://schemas.openxmlformats.org/drawingml/2006/main">
              <a:ext uri="{FF2B5EF4-FFF2-40B4-BE49-F238E27FC236}">
                <a16:creationId xmlns:a16="http://schemas.microsoft.com/office/drawing/2014/main" id="{49111B31-EC92-4A09-903F-99D535183E91}"/>
              </a:ext>
            </a:extLst>
          </p:cNvPr>
          <p:cNvSpPr>
            <a:spLocks xmlns:a="http://schemas.openxmlformats.org/drawingml/2006/main" noGrp="1"/>
          </p:cNvSpPr>
          <p:nvPr/>
        </p:nvSpPr>
        <p:spPr>
          <a:xfrm xmlns:a="http://schemas.openxmlformats.org/drawingml/2006/main">
            <a:off x="619125" y="38290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FF34F44B-236D-4565-AA81-A7AF63D7BD81}"/>
              </a:ext>
            </a:extLst>
          </p:cNvPr>
          <p:cNvSpPr>
            <a:spLocks xmlns:a="http://schemas.openxmlformats.org/drawingml/2006/main" noGrp="1"/>
          </p:cNvSpPr>
          <p:nvPr/>
        </p:nvSpPr>
        <p:spPr>
          <a:xfrm xmlns:a="http://schemas.openxmlformats.org/drawingml/2006/main">
            <a:off x="1238250" y="3829050"/>
            <a:ext cx="1014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Frequency counts meals in a category or interval.</a:t>
            </a:r>
          </a:p>
        </p:txBody>
      </p:sp>
      <p:sp>
        <p:nvSpPr>
          <p:cNvPr id="9" name="Text">
            <a:extLst xmlns:a="http://schemas.openxmlformats.org/drawingml/2006/main">
              <a:ext uri="{FF2B5EF4-FFF2-40B4-BE49-F238E27FC236}">
                <a16:creationId xmlns:a16="http://schemas.microsoft.com/office/drawing/2014/main" id="{3C9D981E-97DB-4A7D-BA93-26A46582C416}"/>
              </a:ext>
            </a:extLst>
          </p:cNvPr>
          <p:cNvSpPr>
            <a:spLocks xmlns:a="http://schemas.openxmlformats.org/drawingml/2006/main" noGrp="1"/>
          </p:cNvSpPr>
          <p:nvPr/>
        </p:nvSpPr>
        <p:spPr>
          <a:xfrm xmlns:a="http://schemas.openxmlformats.org/drawingml/2006/main">
            <a:off x="619125" y="46863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377F84F1-1576-41CD-8039-37D5406083A3}"/>
              </a:ext>
            </a:extLst>
          </p:cNvPr>
          <p:cNvSpPr>
            <a:spLocks xmlns:a="http://schemas.openxmlformats.org/drawingml/2006/main" noGrp="1"/>
          </p:cNvSpPr>
          <p:nvPr/>
        </p:nvSpPr>
        <p:spPr>
          <a:xfrm xmlns:a="http://schemas.openxmlformats.org/drawingml/2006/main">
            <a:off x="1238250" y="4686300"/>
            <a:ext cx="1014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A scatterplot shows paired numerical values.</a:t>
            </a:r>
          </a:p>
        </p:txBody>
      </p:sp>
    </p:spTree>
    <p:extLst>
      <p:ext uri="{BB962C8B-B14F-4D97-AF65-F5344CB8AC3E}">
        <p14:creationId xmlns:p14="http://schemas.microsoft.com/office/powerpoint/2010/main" val="2970699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F394F2E7-2ED6-4E8C-987C-19AB766B0EA5}"/>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café’s question</a:t>
            </a:r>
          </a:p>
        </p:txBody>
      </p:sp>
      <p:sp>
        <p:nvSpPr>
          <p:cNvPr id="2" name="Lead">
            <a:extLst xmlns:a="http://schemas.openxmlformats.org/drawingml/2006/main">
              <a:ext uri="{FF2B5EF4-FFF2-40B4-BE49-F238E27FC236}">
                <a16:creationId xmlns:a16="http://schemas.microsoft.com/office/drawing/2014/main" id="{0E8DF177-15E3-486A-85B1-D66CCD137F0E}"/>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Can the café reduce food waste while keeping students satisfied?</a:t>
            </a:r>
          </a:p>
        </p:txBody>
      </p:sp>
      <p:sp>
        <p:nvSpPr>
          <p:cNvPr id="3" name="Footer">
            <a:extLst xmlns:a="http://schemas.openxmlformats.org/drawingml/2006/main">
              <a:ext uri="{FF2B5EF4-FFF2-40B4-BE49-F238E27FC236}">
                <a16:creationId xmlns:a16="http://schemas.microsoft.com/office/drawing/2014/main" id="{7ADD1002-1D92-49BD-B575-0299F6223C8D}"/>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These are simulated teaching data. They do not describe the actual university café.</a:t>
            </a:r>
          </a:p>
        </p:txBody>
      </p:sp>
      <p:sp>
        <p:nvSpPr>
          <p:cNvPr id="4" name="Text">
            <a:extLst xmlns:a="http://schemas.openxmlformats.org/drawingml/2006/main">
              <a:ext uri="{FF2B5EF4-FFF2-40B4-BE49-F238E27FC236}">
                <a16:creationId xmlns:a16="http://schemas.microsoft.com/office/drawing/2014/main" id="{2C57E5D6-7DC8-42EE-B84F-FB9D76CDB609}"/>
              </a:ext>
            </a:extLst>
          </p:cNvPr>
          <p:cNvSpPr>
            <a:spLocks xmlns:a="http://schemas.openxmlformats.org/drawingml/2006/main" noGrp="1"/>
          </p:cNvSpPr>
          <p:nvPr/>
        </p:nvSpPr>
        <p:spPr>
          <a:xfrm xmlns:a="http://schemas.openxmlformats.org/drawingml/2006/main">
            <a:off x="619125" y="3095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111111"/>
                </a:solidFill>
                <a:latin typeface="Aptos"/>
                <a:ea typeface="Aptos"/>
                <a:cs typeface="Aptos"/>
              </a:defRPr>
            </a:pPr>
            <a:r>
              <a:rPr sz="3150" b="1">
                <a:solidFill>
                  <a:srgbClr val="111111"/>
                </a:solidFill>
                <a:latin typeface="Aptos"/>
                <a:ea typeface="Aptos"/>
                <a:cs typeface="Aptos"/>
              </a:rPr>
              <a:t>300 meals in the investigation</a:t>
            </a:r>
          </a:p>
        </p:txBody>
      </p:sp>
      <p:sp>
        <p:nvSpPr>
          <p:cNvPr id="5" name="Text">
            <a:extLst xmlns:a="http://schemas.openxmlformats.org/drawingml/2006/main">
              <a:ext uri="{FF2B5EF4-FFF2-40B4-BE49-F238E27FC236}">
                <a16:creationId xmlns:a16="http://schemas.microsoft.com/office/drawing/2014/main" id="{5FD4B75C-D9C5-463C-862C-B0A92AC269E0}"/>
              </a:ext>
            </a:extLst>
          </p:cNvPr>
          <p:cNvSpPr>
            <a:spLocks xmlns:a="http://schemas.openxmlformats.org/drawingml/2006/main" noGrp="1"/>
          </p:cNvSpPr>
          <p:nvPr/>
        </p:nvSpPr>
        <p:spPr>
          <a:xfrm xmlns:a="http://schemas.openxmlformats.org/drawingml/2006/main">
            <a:off x="619125" y="4019550"/>
            <a:ext cx="10763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Which meals are most common?</a:t>
            </a:r>
          </a:p>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How much food remains on each tray?</a:t>
            </a:r>
          </a:p>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Do larger portions tend to leave more food?</a:t>
            </a:r>
          </a:p>
        </p:txBody>
      </p:sp>
    </p:spTree>
    <p:extLst>
      <p:ext uri="{BB962C8B-B14F-4D97-AF65-F5344CB8AC3E}">
        <p14:creationId xmlns:p14="http://schemas.microsoft.com/office/powerpoint/2010/main" val="14111218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A174BE03-4AF1-49E0-90D8-4AB75846C6C0}"/>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One row, one meal</a:t>
            </a:r>
          </a:p>
        </p:txBody>
      </p:sp>
      <p:sp>
        <p:nvSpPr>
          <p:cNvPr id="2" name="Lead">
            <a:extLst xmlns:a="http://schemas.openxmlformats.org/drawingml/2006/main">
              <a:ext uri="{FF2B5EF4-FFF2-40B4-BE49-F238E27FC236}">
                <a16:creationId xmlns:a16="http://schemas.microsoft.com/office/drawing/2014/main" id="{DCAD90F6-7F25-4044-A7DF-7F8402278ADB}"/>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Identify the type of each variable before choosing a graph.</a:t>
            </a:r>
          </a:p>
        </p:txBody>
      </p:sp>
      <p:sp>
        <p:nvSpPr>
          <p:cNvPr id="3" name="Text">
            <a:extLst xmlns:a="http://schemas.openxmlformats.org/drawingml/2006/main">
              <a:ext uri="{FF2B5EF4-FFF2-40B4-BE49-F238E27FC236}">
                <a16:creationId xmlns:a16="http://schemas.microsoft.com/office/drawing/2014/main" id="{E13857E4-B905-430C-8BC1-FDF3CA016391}"/>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C1</a:t>
            </a:r>
          </a:p>
        </p:txBody>
      </p:sp>
      <p:sp>
        <p:nvSpPr>
          <p:cNvPr id="4" name="Footer">
            <a:extLst xmlns:a="http://schemas.openxmlformats.org/drawingml/2006/main">
              <a:ext uri="{FF2B5EF4-FFF2-40B4-BE49-F238E27FC236}">
                <a16:creationId xmlns:a16="http://schemas.microsoft.com/office/drawing/2014/main" id="{68F8F225-1800-497C-8800-2199F206B104}"/>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Handout C1. Classify all six columns and give a short reason.</a:t>
            </a:r>
          </a:p>
        </p:txBody>
      </p:sp>
      <p:graphicFrame>
        <p:nvGraphicFramePr>
          <p:cNvPr id="13" name="Table 12"/>
          <p:cNvGraphicFramePr/>
          <p:nvPr/>
        </p:nvGraphicFramePr>
        <p:xfrm>
          <a:off xmlns:a="http://schemas.openxmlformats.org/drawingml/2006/main" x="619125" y="2857500"/>
          <a:ext xmlns:a="http://schemas.openxmlformats.org/drawingml/2006/main" cx="10953750" cy="2047875"/>
        </p:xfrm>
        <a:graphic xmlns:a="http://schemas.openxmlformats.org/drawingml/2006/main">
          <a:graphicData uri="http://schemas.openxmlformats.org/drawingml/2006/table">
            <a:tbl>
              <a:tblPr/>
              <a:tblGrid>
                <a:gridCol w="1571625"/>
                <a:gridCol w="1809750"/>
                <a:gridCol w="2095500"/>
                <a:gridCol w="1190625"/>
                <a:gridCol w="2143125"/>
                <a:gridCol w="2143125"/>
              </a:tblGrid>
              <a:tr h="416433">
                <a:tc>
                  <a:txBody>
                    <a:bodyPr/>
                    <a:lstStyle/>
                    <a:p>
                      <a:pPr algn="l">
                        <a:buNone/>
                      </a:pPr>
                      <a:r>
                        <a:rPr sz="1950" b="1">
                          <a:solidFill>
                            <a:srgbClr val="FFFFFF"/>
                          </a:solidFill>
                          <a:latin typeface="Aptos"/>
                          <a:ea typeface="Aptos"/>
                          <a:cs typeface="Aptos"/>
                        </a:rPr>
                        <a:t>Meal ID</a:t>
                      </a:r>
                    </a:p>
                  </a:txBody>
                  <a:tcPr marL="91440" marR="91440" marT="45720" marB="45720" anchor="ctr">
                    <a:solidFill>
                      <a:srgbClr val="D6171D"/>
                    </a:solidFill>
                  </a:tcPr>
                </a:tc>
                <a:tc>
                  <a:txBody>
                    <a:bodyPr/>
                    <a:lstStyle/>
                    <a:p>
                      <a:pPr algn="ctr">
                        <a:buNone/>
                      </a:pPr>
                      <a:r>
                        <a:rPr sz="1950" b="1">
                          <a:solidFill>
                            <a:srgbClr val="FFFFFF"/>
                          </a:solidFill>
                          <a:latin typeface="Aptos"/>
                          <a:ea typeface="Aptos"/>
                          <a:cs typeface="Aptos"/>
                        </a:rPr>
                        <a:t>Meal type</a:t>
                      </a:r>
                    </a:p>
                  </a:txBody>
                  <a:tcPr marL="91440" marR="91440" marT="45720" marB="45720" anchor="ctr">
                    <a:solidFill>
                      <a:srgbClr val="D6171D"/>
                    </a:solidFill>
                  </a:tcPr>
                </a:tc>
                <a:tc>
                  <a:txBody>
                    <a:bodyPr/>
                    <a:lstStyle/>
                    <a:p>
                      <a:pPr algn="ctr">
                        <a:buNone/>
                      </a:pPr>
                      <a:r>
                        <a:rPr sz="1950" b="1">
                          <a:solidFill>
                            <a:srgbClr val="FFFFFF"/>
                          </a:solidFill>
                          <a:latin typeface="Aptos"/>
                          <a:ea typeface="Aptos"/>
                          <a:cs typeface="Aptos"/>
                        </a:rPr>
                        <a:t>Satisfaction</a:t>
                      </a:r>
                    </a:p>
                  </a:txBody>
                  <a:tcPr marL="91440" marR="91440" marT="45720" marB="45720" anchor="ctr">
                    <a:solidFill>
                      <a:srgbClr val="D6171D"/>
                    </a:solidFill>
                  </a:tcPr>
                </a:tc>
                <a:tc>
                  <a:txBody>
                    <a:bodyPr/>
                    <a:lstStyle/>
                    <a:p>
                      <a:pPr algn="ctr">
                        <a:buNone/>
                      </a:pPr>
                      <a:r>
                        <a:rPr sz="1950" b="1">
                          <a:solidFill>
                            <a:srgbClr val="FFFFFF"/>
                          </a:solidFill>
                          <a:latin typeface="Aptos"/>
                          <a:ea typeface="Aptos"/>
                          <a:cs typeface="Aptos"/>
                        </a:rPr>
                        <a:t>Items</a:t>
                      </a:r>
                    </a:p>
                  </a:txBody>
                  <a:tcPr marL="91440" marR="91440" marT="45720" marB="45720" anchor="ctr">
                    <a:solidFill>
                      <a:srgbClr val="D6171D"/>
                    </a:solidFill>
                  </a:tcPr>
                </a:tc>
                <a:tc>
                  <a:txBody>
                    <a:bodyPr/>
                    <a:lstStyle/>
                    <a:p>
                      <a:pPr algn="ctr">
                        <a:buNone/>
                      </a:pPr>
                      <a:r>
                        <a:rPr sz="1950" b="1">
                          <a:solidFill>
                            <a:srgbClr val="FFFFFF"/>
                          </a:solidFill>
                          <a:latin typeface="Aptos"/>
                          <a:ea typeface="Aptos"/>
                          <a:cs typeface="Aptos"/>
                        </a:rPr>
                        <a:t>Portion (g)</a:t>
                      </a:r>
                    </a:p>
                  </a:txBody>
                  <a:tcPr marL="91440" marR="91440" marT="45720" marB="45720" anchor="ctr">
                    <a:solidFill>
                      <a:srgbClr val="D6171D"/>
                    </a:solidFill>
                  </a:tcPr>
                </a:tc>
                <a:tc>
                  <a:txBody>
                    <a:bodyPr/>
                    <a:lstStyle/>
                    <a:p>
                      <a:pPr algn="ctr">
                        <a:buNone/>
                      </a:pPr>
                      <a:r>
                        <a:rPr sz="1950" b="1">
                          <a:solidFill>
                            <a:srgbClr val="FFFFFF"/>
                          </a:solidFill>
                          <a:latin typeface="Aptos"/>
                          <a:ea typeface="Aptos"/>
                          <a:cs typeface="Aptos"/>
                        </a:rPr>
                        <a:t>Leftover (g)</a:t>
                      </a:r>
                    </a:p>
                  </a:txBody>
                  <a:tcPr marL="91440" marR="91440" marT="45720" marB="45720" anchor="ctr">
                    <a:solidFill>
                      <a:srgbClr val="D6171D"/>
                    </a:solidFill>
                  </a:tcPr>
                </a:tc>
              </a:tr>
              <a:tr h="543814">
                <a:tc>
                  <a:txBody>
                    <a:bodyPr/>
                    <a:lstStyle/>
                    <a:p>
                      <a:pPr algn="l">
                        <a:buNone/>
                      </a:pPr>
                      <a:r>
                        <a:rPr sz="1950" b="0">
                          <a:solidFill>
                            <a:srgbClr val="111111"/>
                          </a:solidFill>
                          <a:latin typeface="Aptos"/>
                          <a:ea typeface="Aptos"/>
                          <a:cs typeface="Aptos"/>
                        </a:rPr>
                        <a:t>M001</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Noodles</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Fair</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1</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565.3</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20</a:t>
                      </a:r>
                    </a:p>
                  </a:txBody>
                  <a:tcPr marL="91440" marR="91440" marT="45720" marB="45720" anchor="ctr">
                    <a:solidFill>
                      <a:srgbClr val="FFFFFF"/>
                    </a:solidFill>
                  </a:tcPr>
                </a:tc>
              </a:tr>
              <a:tr h="543814">
                <a:tc>
                  <a:txBody>
                    <a:bodyPr/>
                    <a:lstStyle/>
                    <a:p>
                      <a:pPr algn="l">
                        <a:buNone/>
                      </a:pPr>
                      <a:r>
                        <a:rPr sz="1950" b="0">
                          <a:solidFill>
                            <a:srgbClr val="111111"/>
                          </a:solidFill>
                          <a:latin typeface="Aptos"/>
                          <a:ea typeface="Aptos"/>
                          <a:cs typeface="Aptos"/>
                        </a:rPr>
                        <a:t>M002</a:t>
                      </a:r>
                    </a:p>
                  </a:txBody>
                  <a:tcPr marL="91440" marR="91440" marT="45720" marB="45720" anchor="ctr">
                    <a:solidFill>
                      <a:srgbClr val="EEF8FE"/>
                    </a:solidFill>
                  </a:tcPr>
                </a:tc>
                <a:tc>
                  <a:txBody>
                    <a:bodyPr/>
                    <a:lstStyle/>
                    <a:p>
                      <a:pPr algn="ctr">
                        <a:buNone/>
                      </a:pPr>
                      <a:r>
                        <a:rPr sz="1950" b="0">
                          <a:solidFill>
                            <a:srgbClr val="111111"/>
                          </a:solidFill>
                          <a:latin typeface="Aptos"/>
                          <a:ea typeface="Aptos"/>
                          <a:cs typeface="Aptos"/>
                        </a:rPr>
                        <a:t>Pasta</a:t>
                      </a:r>
                    </a:p>
                  </a:txBody>
                  <a:tcPr marL="91440" marR="91440" marT="45720" marB="45720" anchor="ctr">
                    <a:solidFill>
                      <a:srgbClr val="EEF8FE"/>
                    </a:solidFill>
                  </a:tcPr>
                </a:tc>
                <a:tc>
                  <a:txBody>
                    <a:bodyPr/>
                    <a:lstStyle/>
                    <a:p>
                      <a:pPr algn="ctr">
                        <a:buNone/>
                      </a:pPr>
                      <a:r>
                        <a:rPr sz="1950" b="0">
                          <a:solidFill>
                            <a:srgbClr val="111111"/>
                          </a:solidFill>
                          <a:latin typeface="Aptos"/>
                          <a:ea typeface="Aptos"/>
                          <a:cs typeface="Aptos"/>
                        </a:rPr>
                        <a:t>Good</a:t>
                      </a:r>
                    </a:p>
                  </a:txBody>
                  <a:tcPr marL="91440" marR="91440" marT="45720" marB="45720" anchor="ctr">
                    <a:solidFill>
                      <a:srgbClr val="EEF8FE"/>
                    </a:solidFill>
                  </a:tcPr>
                </a:tc>
                <a:tc>
                  <a:txBody>
                    <a:bodyPr/>
                    <a:lstStyle/>
                    <a:p>
                      <a:pPr algn="ctr">
                        <a:buNone/>
                      </a:pPr>
                      <a:r>
                        <a:rPr sz="1950" b="0">
                          <a:solidFill>
                            <a:srgbClr val="111111"/>
                          </a:solidFill>
                          <a:latin typeface="Aptos"/>
                          <a:ea typeface="Aptos"/>
                          <a:cs typeface="Aptos"/>
                        </a:rPr>
                        <a:t>2</a:t>
                      </a:r>
                    </a:p>
                  </a:txBody>
                  <a:tcPr marL="91440" marR="91440" marT="45720" marB="45720" anchor="ctr">
                    <a:solidFill>
                      <a:srgbClr val="EEF8FE"/>
                    </a:solidFill>
                  </a:tcPr>
                </a:tc>
                <a:tc>
                  <a:txBody>
                    <a:bodyPr/>
                    <a:lstStyle/>
                    <a:p>
                      <a:pPr algn="ctr">
                        <a:buNone/>
                      </a:pPr>
                      <a:r>
                        <a:rPr sz="1950" b="0">
                          <a:solidFill>
                            <a:srgbClr val="111111"/>
                          </a:solidFill>
                          <a:latin typeface="Aptos"/>
                          <a:ea typeface="Aptos"/>
                          <a:cs typeface="Aptos"/>
                        </a:rPr>
                        <a:t>541.7</a:t>
                      </a:r>
                    </a:p>
                  </a:txBody>
                  <a:tcPr marL="91440" marR="91440" marT="45720" marB="45720" anchor="ctr">
                    <a:solidFill>
                      <a:srgbClr val="EEF8FE"/>
                    </a:solidFill>
                  </a:tcPr>
                </a:tc>
                <a:tc>
                  <a:txBody>
                    <a:bodyPr/>
                    <a:lstStyle/>
                    <a:p>
                      <a:pPr algn="ctr">
                        <a:buNone/>
                      </a:pPr>
                      <a:r>
                        <a:rPr sz="1950" b="0">
                          <a:solidFill>
                            <a:srgbClr val="111111"/>
                          </a:solidFill>
                          <a:latin typeface="Aptos"/>
                          <a:ea typeface="Aptos"/>
                          <a:cs typeface="Aptos"/>
                        </a:rPr>
                        <a:t>40</a:t>
                      </a:r>
                    </a:p>
                  </a:txBody>
                  <a:tcPr marL="91440" marR="91440" marT="45720" marB="45720" anchor="ctr">
                    <a:solidFill>
                      <a:srgbClr val="EEF8FE"/>
                    </a:solidFill>
                  </a:tcPr>
                </a:tc>
              </a:tr>
              <a:tr h="543814">
                <a:tc>
                  <a:txBody>
                    <a:bodyPr/>
                    <a:lstStyle/>
                    <a:p>
                      <a:pPr algn="l">
                        <a:buNone/>
                      </a:pPr>
                      <a:r>
                        <a:rPr sz="1950" b="0">
                          <a:solidFill>
                            <a:srgbClr val="111111"/>
                          </a:solidFill>
                          <a:latin typeface="Aptos"/>
                          <a:ea typeface="Aptos"/>
                          <a:cs typeface="Aptos"/>
                        </a:rPr>
                        <a:t>M003</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Salad</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Excellent</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3</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502.8</a:t>
                      </a:r>
                    </a:p>
                  </a:txBody>
                  <a:tcPr marL="91440" marR="91440" marT="45720" marB="45720" anchor="ctr">
                    <a:solidFill>
                      <a:srgbClr val="FFFFFF"/>
                    </a:solidFill>
                  </a:tcPr>
                </a:tc>
                <a:tc>
                  <a:txBody>
                    <a:bodyPr/>
                    <a:lstStyle/>
                    <a:p>
                      <a:pPr algn="ctr">
                        <a:buNone/>
                      </a:pPr>
                      <a:r>
                        <a:rPr sz="1950" b="0">
                          <a:solidFill>
                            <a:srgbClr val="111111"/>
                          </a:solidFill>
                          <a:latin typeface="Aptos"/>
                          <a:ea typeface="Aptos"/>
                          <a:cs typeface="Aptos"/>
                        </a:rPr>
                        <a:t>60</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C3879F80-9663-4920-B113-D080B814A6ED}"/>
              </a:ext>
            </a:extLst>
          </p:cNvPr>
          <p:cNvSpPr>
            <a:spLocks xmlns:a="http://schemas.openxmlformats.org/drawingml/2006/main" noGrp="1"/>
          </p:cNvSpPr>
          <p:nvPr/>
        </p:nvSpPr>
        <p:spPr>
          <a:xfrm xmlns:a="http://schemas.openxmlformats.org/drawingml/2006/main">
            <a:off x="619125" y="52197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Nominal     Ordinal     Discrete     Continuous     Identifier</a:t>
            </a:r>
          </a:p>
        </p:txBody>
      </p:sp>
    </p:spTree>
    <p:extLst>
      <p:ext uri="{BB962C8B-B14F-4D97-AF65-F5344CB8AC3E}">
        <p14:creationId xmlns:p14="http://schemas.microsoft.com/office/powerpoint/2010/main" val="71671244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49A81FE1-B58B-471B-92D4-E26550FB9BFE}"/>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Variable types: check</a:t>
            </a:r>
          </a:p>
        </p:txBody>
      </p:sp>
      <p:sp>
        <p:nvSpPr>
          <p:cNvPr id="2" name="Lead">
            <a:extLst xmlns:a="http://schemas.openxmlformats.org/drawingml/2006/main">
              <a:ext uri="{FF2B5EF4-FFF2-40B4-BE49-F238E27FC236}">
                <a16:creationId xmlns:a16="http://schemas.microsoft.com/office/drawing/2014/main" id="{BDCECCC8-BE71-4CBF-9F04-78225A8F8485}"/>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Choose the classification from what the column means.</a:t>
            </a:r>
          </a:p>
        </p:txBody>
      </p:sp>
      <p:sp>
        <p:nvSpPr>
          <p:cNvPr id="3" name="Text">
            <a:extLst xmlns:a="http://schemas.openxmlformats.org/drawingml/2006/main">
              <a:ext uri="{FF2B5EF4-FFF2-40B4-BE49-F238E27FC236}">
                <a16:creationId xmlns:a16="http://schemas.microsoft.com/office/drawing/2014/main" id="{A3D62B8E-CC1F-494F-972B-B6FE65B31E0D}"/>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C1</a:t>
            </a:r>
          </a:p>
        </p:txBody>
      </p:sp>
      <p:sp>
        <p:nvSpPr>
          <p:cNvPr id="4" name="Footer">
            <a:extLst xmlns:a="http://schemas.openxmlformats.org/drawingml/2006/main">
              <a:ext uri="{FF2B5EF4-FFF2-40B4-BE49-F238E27FC236}">
                <a16:creationId xmlns:a16="http://schemas.microsoft.com/office/drawing/2014/main" id="{6F55C796-7F42-4D0B-8A8B-C59C33772F10}"/>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Weights are continuous measurements, even when recorded to one decimal place.</a:t>
            </a:r>
          </a:p>
        </p:txBody>
      </p:sp>
      <p:graphicFrame>
        <p:nvGraphicFramePr>
          <p:cNvPr id="12" name="Table 11"/>
          <p:cNvGraphicFramePr/>
          <p:nvPr/>
        </p:nvGraphicFramePr>
        <p:xfrm>
          <a:off xmlns:a="http://schemas.openxmlformats.org/drawingml/2006/main" x="619125" y="2819400"/>
          <a:ext xmlns:a="http://schemas.openxmlformats.org/drawingml/2006/main" cx="10953750" cy="2895599"/>
        </p:xfrm>
        <a:graphic xmlns:a="http://schemas.openxmlformats.org/drawingml/2006/main">
          <a:graphicData uri="http://schemas.openxmlformats.org/drawingml/2006/table">
            <a:tbl>
              <a:tblPr/>
              <a:tblGrid>
                <a:gridCol w="3095625"/>
                <a:gridCol w="2286000"/>
                <a:gridCol w="5572125"/>
              </a:tblGrid>
              <a:tr h="428054">
                <a:tc>
                  <a:txBody>
                    <a:bodyPr/>
                    <a:lstStyle/>
                    <a:p>
                      <a:pPr algn="l">
                        <a:buNone/>
                      </a:pPr>
                      <a:r>
                        <a:rPr sz="2025" b="1">
                          <a:solidFill>
                            <a:srgbClr val="FFFFFF"/>
                          </a:solidFill>
                          <a:latin typeface="Aptos"/>
                          <a:ea typeface="Aptos"/>
                          <a:cs typeface="Aptos"/>
                        </a:rPr>
                        <a:t>Column</a:t>
                      </a:r>
                    </a:p>
                  </a:txBody>
                  <a:tcPr marL="91440" marR="91440" marT="45720" marB="45720" anchor="ctr">
                    <a:solidFill>
                      <a:srgbClr val="D6171D"/>
                    </a:solidFill>
                  </a:tcPr>
                </a:tc>
                <a:tc>
                  <a:txBody>
                    <a:bodyPr/>
                    <a:lstStyle/>
                    <a:p>
                      <a:pPr algn="ctr">
                        <a:buNone/>
                      </a:pPr>
                      <a:r>
                        <a:rPr sz="2025" b="1">
                          <a:solidFill>
                            <a:srgbClr val="FFFFFF"/>
                          </a:solidFill>
                          <a:latin typeface="Aptos"/>
                          <a:ea typeface="Aptos"/>
                          <a:cs typeface="Aptos"/>
                        </a:rPr>
                        <a:t>Type</a:t>
                      </a:r>
                    </a:p>
                  </a:txBody>
                  <a:tcPr marL="91440" marR="91440" marT="45720" marB="45720" anchor="ctr">
                    <a:solidFill>
                      <a:srgbClr val="D6171D"/>
                    </a:solidFill>
                  </a:tcPr>
                </a:tc>
                <a:tc>
                  <a:txBody>
                    <a:bodyPr/>
                    <a:lstStyle/>
                    <a:p>
                      <a:pPr algn="ctr">
                        <a:buNone/>
                      </a:pPr>
                      <a:r>
                        <a:rPr sz="2025" b="1">
                          <a:solidFill>
                            <a:srgbClr val="FFFFFF"/>
                          </a:solidFill>
                          <a:latin typeface="Aptos"/>
                          <a:ea typeface="Aptos"/>
                          <a:cs typeface="Aptos"/>
                        </a:rPr>
                        <a:t>Reason</a:t>
                      </a:r>
                    </a:p>
                  </a:txBody>
                  <a:tcPr marL="91440" marR="91440" marT="45720" marB="45720" anchor="ctr">
                    <a:solidFill>
                      <a:srgbClr val="D6171D"/>
                    </a:solidFill>
                  </a:tcPr>
                </a:tc>
              </a:tr>
              <a:tr h="493509">
                <a:tc>
                  <a:txBody>
                    <a:bodyPr/>
                    <a:lstStyle/>
                    <a:p>
                      <a:pPr algn="l">
                        <a:buNone/>
                      </a:pPr>
                      <a:r>
                        <a:rPr sz="2025" b="0">
                          <a:solidFill>
                            <a:srgbClr val="111111"/>
                          </a:solidFill>
                          <a:latin typeface="Aptos"/>
                          <a:ea typeface="Aptos"/>
                          <a:cs typeface="Aptos"/>
                        </a:rPr>
                        <a:t>Meal ID</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Identifier</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Labels the meal</a:t>
                      </a:r>
                    </a:p>
                  </a:txBody>
                  <a:tcPr marL="91440" marR="91440" marT="45720" marB="45720" anchor="ctr">
                    <a:solidFill>
                      <a:srgbClr val="FFFFFF"/>
                    </a:solidFill>
                  </a:tcPr>
                </a:tc>
              </a:tr>
              <a:tr h="493509">
                <a:tc>
                  <a:txBody>
                    <a:bodyPr/>
                    <a:lstStyle/>
                    <a:p>
                      <a:pPr algn="l">
                        <a:buNone/>
                      </a:pPr>
                      <a:r>
                        <a:rPr sz="2025" b="0">
                          <a:solidFill>
                            <a:srgbClr val="111111"/>
                          </a:solidFill>
                          <a:latin typeface="Aptos"/>
                          <a:ea typeface="Aptos"/>
                          <a:cs typeface="Aptos"/>
                        </a:rPr>
                        <a:t>Meal type</a:t>
                      </a:r>
                    </a:p>
                  </a:txBody>
                  <a:tcPr marL="91440" marR="91440" marT="45720" marB="45720" anchor="ctr">
                    <a:solidFill>
                      <a:srgbClr val="EEF8FE"/>
                    </a:solidFill>
                  </a:tcPr>
                </a:tc>
                <a:tc>
                  <a:txBody>
                    <a:bodyPr/>
                    <a:lstStyle/>
                    <a:p>
                      <a:pPr algn="ctr">
                        <a:buNone/>
                      </a:pPr>
                      <a:r>
                        <a:rPr sz="2025" b="0">
                          <a:solidFill>
                            <a:srgbClr val="111111"/>
                          </a:solidFill>
                          <a:latin typeface="Aptos"/>
                          <a:ea typeface="Aptos"/>
                          <a:cs typeface="Aptos"/>
                        </a:rPr>
                        <a:t>Nominal</a:t>
                      </a:r>
                    </a:p>
                  </a:txBody>
                  <a:tcPr marL="91440" marR="91440" marT="45720" marB="45720" anchor="ctr">
                    <a:solidFill>
                      <a:srgbClr val="EEF8FE"/>
                    </a:solidFill>
                  </a:tcPr>
                </a:tc>
                <a:tc>
                  <a:txBody>
                    <a:bodyPr/>
                    <a:lstStyle/>
                    <a:p>
                      <a:pPr algn="ctr">
                        <a:buNone/>
                      </a:pPr>
                      <a:r>
                        <a:rPr sz="2025" b="0">
                          <a:solidFill>
                            <a:srgbClr val="111111"/>
                          </a:solidFill>
                          <a:latin typeface="Aptos"/>
                          <a:ea typeface="Aptos"/>
                          <a:cs typeface="Aptos"/>
                        </a:rPr>
                        <a:t>Names with no ranking</a:t>
                      </a:r>
                    </a:p>
                  </a:txBody>
                  <a:tcPr marL="91440" marR="91440" marT="45720" marB="45720" anchor="ctr">
                    <a:solidFill>
                      <a:srgbClr val="EEF8FE"/>
                    </a:solidFill>
                  </a:tcPr>
                </a:tc>
              </a:tr>
              <a:tr h="493509">
                <a:tc>
                  <a:txBody>
                    <a:bodyPr/>
                    <a:lstStyle/>
                    <a:p>
                      <a:pPr algn="l">
                        <a:buNone/>
                      </a:pPr>
                      <a:r>
                        <a:rPr sz="2025" b="0">
                          <a:solidFill>
                            <a:srgbClr val="111111"/>
                          </a:solidFill>
                          <a:latin typeface="Aptos"/>
                          <a:ea typeface="Aptos"/>
                          <a:cs typeface="Aptos"/>
                        </a:rPr>
                        <a:t>Satisfaction</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Ordinal</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Poor, Fair, Good, Excellent</a:t>
                      </a:r>
                    </a:p>
                  </a:txBody>
                  <a:tcPr marL="91440" marR="91440" marT="45720" marB="45720" anchor="ctr">
                    <a:solidFill>
                      <a:srgbClr val="FFFFFF"/>
                    </a:solidFill>
                  </a:tcPr>
                </a:tc>
              </a:tr>
              <a:tr h="493509">
                <a:tc>
                  <a:txBody>
                    <a:bodyPr/>
                    <a:lstStyle/>
                    <a:p>
                      <a:pPr algn="l">
                        <a:buNone/>
                      </a:pPr>
                      <a:r>
                        <a:rPr sz="2025" b="0">
                          <a:solidFill>
                            <a:srgbClr val="111111"/>
                          </a:solidFill>
                          <a:latin typeface="Aptos"/>
                          <a:ea typeface="Aptos"/>
                          <a:cs typeface="Aptos"/>
                        </a:rPr>
                        <a:t>Items</a:t>
                      </a:r>
                    </a:p>
                  </a:txBody>
                  <a:tcPr marL="91440" marR="91440" marT="45720" marB="45720" anchor="ctr">
                    <a:solidFill>
                      <a:srgbClr val="EEF8FE"/>
                    </a:solidFill>
                  </a:tcPr>
                </a:tc>
                <a:tc>
                  <a:txBody>
                    <a:bodyPr/>
                    <a:lstStyle/>
                    <a:p>
                      <a:pPr algn="ctr">
                        <a:buNone/>
                      </a:pPr>
                      <a:r>
                        <a:rPr sz="2025" b="0">
                          <a:solidFill>
                            <a:srgbClr val="111111"/>
                          </a:solidFill>
                          <a:latin typeface="Aptos"/>
                          <a:ea typeface="Aptos"/>
                          <a:cs typeface="Aptos"/>
                        </a:rPr>
                        <a:t>Discrete</a:t>
                      </a:r>
                    </a:p>
                  </a:txBody>
                  <a:tcPr marL="91440" marR="91440" marT="45720" marB="45720" anchor="ctr">
                    <a:solidFill>
                      <a:srgbClr val="EEF8FE"/>
                    </a:solidFill>
                  </a:tcPr>
                </a:tc>
                <a:tc>
                  <a:txBody>
                    <a:bodyPr/>
                    <a:lstStyle/>
                    <a:p>
                      <a:pPr algn="ctr">
                        <a:buNone/>
                      </a:pPr>
                      <a:r>
                        <a:rPr sz="2025" b="0">
                          <a:solidFill>
                            <a:srgbClr val="111111"/>
                          </a:solidFill>
                          <a:latin typeface="Aptos"/>
                          <a:ea typeface="Aptos"/>
                          <a:cs typeface="Aptos"/>
                        </a:rPr>
                        <a:t>A whole-number count</a:t>
                      </a:r>
                    </a:p>
                  </a:txBody>
                  <a:tcPr marL="91440" marR="91440" marT="45720" marB="45720" anchor="ctr">
                    <a:solidFill>
                      <a:srgbClr val="EEF8FE"/>
                    </a:solidFill>
                  </a:tcPr>
                </a:tc>
              </a:tr>
              <a:tr h="493509">
                <a:tc>
                  <a:txBody>
                    <a:bodyPr/>
                    <a:lstStyle/>
                    <a:p>
                      <a:pPr algn="l">
                        <a:buNone/>
                      </a:pPr>
                      <a:r>
                        <a:rPr sz="2025" b="0">
                          <a:solidFill>
                            <a:srgbClr val="111111"/>
                          </a:solidFill>
                          <a:latin typeface="Aptos"/>
                          <a:ea typeface="Aptos"/>
                          <a:cs typeface="Aptos"/>
                        </a:rPr>
                        <a:t>Portion / Leftover (g)</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Continuous</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Measured weights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6690712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F8BB7560-C52E-4BFC-950D-81807BB23DA3}"/>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1:</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Excel</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basics</a:t>
            </a:r>
          </a:p>
        </p:txBody>
      </p:sp>
    </p:spTree>
    <p:extLst>
      <p:ext uri="{BB962C8B-B14F-4D97-AF65-F5344CB8AC3E}">
        <p14:creationId xmlns:p14="http://schemas.microsoft.com/office/powerpoint/2010/main" val="14676486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2F63FF37-4362-4D4C-ABAF-CC44244CF188}"/>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Data: the same layout for your work</a:t>
            </a:r>
          </a:p>
        </p:txBody>
      </p:sp>
      <p:sp>
        <p:nvSpPr>
          <p:cNvPr id="2" name="Footer">
            <a:extLst xmlns:a="http://schemas.openxmlformats.org/drawingml/2006/main">
              <a:ext uri="{FF2B5EF4-FFF2-40B4-BE49-F238E27FC236}">
                <a16:creationId xmlns:a16="http://schemas.microsoft.com/office/drawing/2014/main" id="{CA8B30CA-6D70-40C0-8CE8-E2390C4302D9}"/>
              </a:ext>
            </a:extLst>
          </p:cNvPr>
          <p:cNvSpPr>
            <a:spLocks xmlns:a="http://schemas.openxmlformats.org/drawingml/2006/main" noGrp="1"/>
          </p:cNvSpPr>
          <p:nvPr/>
        </p:nvSpPr>
        <p:spPr>
          <a:xfrm xmlns:a="http://schemas.openxmlformats.org/drawingml/2006/main">
            <a:off x="523875"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111111"/>
                </a:solidFill>
                <a:latin typeface="Aptos"/>
                <a:ea typeface="Aptos"/>
                <a:cs typeface="Aptos"/>
              </a:defRPr>
            </a:pPr>
            <a:r>
              <a:rPr sz="1500" b="0">
                <a:solidFill>
                  <a:srgbClr val="111111"/>
                </a:solidFill>
                <a:latin typeface="Aptos"/>
                <a:ea typeface="Aptos"/>
                <a:cs typeface="Aptos"/>
              </a:rPr>
              <a:t>300 records. The same calculation cells as Demo. Students stay on Data.</a:t>
            </a:r>
          </a:p>
        </p:txBody>
      </p:sp>
      <p:pic>
        <p:nvPicPr>
          <p:cNvPr id="8" name="Picture 5"/>
          <p:cNvPicPr>
            <a:picLocks xmlns:a="http://schemas.openxmlformats.org/drawingml/2006/main" noChangeAspect="1"/>
          </p:cNvPicPr>
          <p:nvPr/>
        </p:nvPicPr>
        <p:blipFill>
          <a:blip xmlns:r="http://schemas.openxmlformats.org/officeDocument/2006/relationships" xmlns:a="http://schemas.openxmlformats.org/drawingml/2006/main" r:embed="R7552a8466a9d4b2f"/>
          <a:stretch xmlns:a="http://schemas.openxmlformats.org/drawingml/2006/main"/>
        </p:blipFill>
        <p:spPr>
          <a:xfrm xmlns:a="http://schemas.openxmlformats.org/drawingml/2006/main">
            <a:off x="607290" y="1924050"/>
            <a:ext cx="10882170" cy="4057650"/>
          </a:xfrm>
          <a:prstGeom xmlns:a="http://schemas.openxmlformats.org/drawingml/2006/main" prst="rect">
            <a:avLst/>
          </a:prstGeom>
        </p:spPr>
      </p:pic>
    </p:spTree>
    <p:extLst>
      <p:ext uri="{BB962C8B-B14F-4D97-AF65-F5344CB8AC3E}">
        <p14:creationId xmlns:p14="http://schemas.microsoft.com/office/powerpoint/2010/main" val="4278029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EBB1530F-5F25-4562-A161-42408410984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Cells, ranges and formulas</a:t>
            </a:r>
          </a:p>
        </p:txBody>
      </p:sp>
      <p:sp>
        <p:nvSpPr>
          <p:cNvPr id="2" name="Lead">
            <a:extLst xmlns:a="http://schemas.openxmlformats.org/drawingml/2006/main">
              <a:ext uri="{FF2B5EF4-FFF2-40B4-BE49-F238E27FC236}">
                <a16:creationId xmlns:a16="http://schemas.microsoft.com/office/drawing/2014/main" id="{F3898D44-C83A-4FAB-8EF0-2AEF471CFB7C}"/>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A cell address combines a column letter and a row number.</a:t>
            </a:r>
          </a:p>
        </p:txBody>
      </p:sp>
      <p:sp>
        <p:nvSpPr>
          <p:cNvPr id="3" name="Footer">
            <a:extLst xmlns:a="http://schemas.openxmlformats.org/drawingml/2006/main">
              <a:ext uri="{FF2B5EF4-FFF2-40B4-BE49-F238E27FC236}">
                <a16:creationId xmlns:a16="http://schemas.microsoft.com/office/drawing/2014/main" id="{5608B6F2-E22F-4149-A333-143874F0DE2E}"/>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A formula begins with =. A2:A21 includes both end cells and excludes the heading.</a:t>
            </a:r>
          </a:p>
        </p:txBody>
      </p:sp>
      <p:graphicFrame>
        <p:nvGraphicFramePr>
          <p:cNvPr id="10" name="Table 9"/>
          <p:cNvGraphicFramePr/>
          <p:nvPr/>
        </p:nvGraphicFramePr>
        <p:xfrm>
          <a:off xmlns:a="http://schemas.openxmlformats.org/drawingml/2006/main" x="619125" y="3019425"/>
          <a:ext xmlns:a="http://schemas.openxmlformats.org/drawingml/2006/main" cx="10953750" cy="2209800"/>
        </p:xfrm>
        <a:graphic xmlns:a="http://schemas.openxmlformats.org/drawingml/2006/main">
          <a:graphicData uri="http://schemas.openxmlformats.org/drawingml/2006/table">
            <a:tbl>
              <a:tblPr/>
              <a:tblGrid>
                <a:gridCol w="4476750"/>
                <a:gridCol w="6477000"/>
              </a:tblGrid>
              <a:tr h="474536">
                <a:tc>
                  <a:txBody>
                    <a:bodyPr/>
                    <a:lstStyle/>
                    <a:p>
                      <a:pPr algn="l">
                        <a:buNone/>
                      </a:pPr>
                      <a:r>
                        <a:rPr sz="2325" b="1">
                          <a:solidFill>
                            <a:srgbClr val="FFFFFF"/>
                          </a:solidFill>
                          <a:latin typeface="Aptos"/>
                          <a:ea typeface="Aptos"/>
                          <a:cs typeface="Aptos"/>
                        </a:rPr>
                        <a:t>Excel notation</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Meaning</a:t>
                      </a:r>
                    </a:p>
                  </a:txBody>
                  <a:tcPr marL="91440" marR="91440" marT="45720" marB="45720" anchor="ctr">
                    <a:solidFill>
                      <a:srgbClr val="D6171D"/>
                    </a:solidFill>
                  </a:tcPr>
                </a:tc>
              </a:tr>
              <a:tr h="578422">
                <a:tc>
                  <a:txBody>
                    <a:bodyPr/>
                    <a:lstStyle/>
                    <a:p>
                      <a:pPr algn="l">
                        <a:buNone/>
                      </a:pPr>
                      <a:r>
                        <a:rPr sz="2325" b="0">
                          <a:solidFill>
                            <a:srgbClr val="111111"/>
                          </a:solidFill>
                          <a:latin typeface="Aptos"/>
                          <a:ea typeface="Aptos"/>
                          <a:cs typeface="Aptos"/>
                        </a:rPr>
                        <a:t>A2</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Column A, row 2</a:t>
                      </a:r>
                    </a:p>
                  </a:txBody>
                  <a:tcPr marL="91440" marR="91440" marT="45720" marB="45720" anchor="ctr">
                    <a:solidFill>
                      <a:srgbClr val="FFFFFF"/>
                    </a:solidFill>
                  </a:tcPr>
                </a:tc>
              </a:tr>
              <a:tr h="578422">
                <a:tc>
                  <a:txBody>
                    <a:bodyPr/>
                    <a:lstStyle/>
                    <a:p>
                      <a:pPr algn="l">
                        <a:buNone/>
                      </a:pPr>
                      <a:r>
                        <a:rPr sz="2325" b="0">
                          <a:solidFill>
                            <a:srgbClr val="111111"/>
                          </a:solidFill>
                          <a:latin typeface="Aptos"/>
                          <a:ea typeface="Aptos"/>
                          <a:cs typeface="Aptos"/>
                        </a:rPr>
                        <a:t>A2:A21</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The cells from A2 down to A21</a:t>
                      </a:r>
                    </a:p>
                  </a:txBody>
                  <a:tcPr marL="91440" marR="91440" marT="45720" marB="45720" anchor="ctr">
                    <a:solidFill>
                      <a:srgbClr val="EEF8FE"/>
                    </a:solidFill>
                  </a:tcPr>
                </a:tc>
              </a:tr>
              <a:tr h="578422">
                <a:tc>
                  <a:txBody>
                    <a:bodyPr/>
                    <a:lstStyle/>
                    <a:p>
                      <a:pPr algn="l">
                        <a:buNone/>
                      </a:pPr>
                      <a:r>
                        <a:rPr sz="2325" b="0">
                          <a:solidFill>
                            <a:srgbClr val="111111"/>
                          </a:solidFill>
                          <a:latin typeface="Aptos"/>
                          <a:ea typeface="Aptos"/>
                          <a:cs typeface="Aptos"/>
                        </a:rPr>
                        <a:t>=COUNTA(A2:A21)</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Count the cells that contain something</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446783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AB4BE7AF-C3BE-47C7-AE5E-851B12EAED29}"/>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1: count the meals</a:t>
            </a:r>
          </a:p>
        </p:txBody>
      </p:sp>
      <p:sp>
        <p:nvSpPr>
          <p:cNvPr id="2" name="Lead">
            <a:extLst xmlns:a="http://schemas.openxmlformats.org/drawingml/2006/main">
              <a:ext uri="{FF2B5EF4-FFF2-40B4-BE49-F238E27FC236}">
                <a16:creationId xmlns:a16="http://schemas.microsoft.com/office/drawing/2014/main" id="{2803A630-668B-4E69-B2A3-6A8E86B824EC}"/>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Each meal has one ID in column A.</a:t>
            </a:r>
          </a:p>
        </p:txBody>
      </p:sp>
      <p:sp>
        <p:nvSpPr>
          <p:cNvPr id="3" name="Text">
            <a:extLst xmlns:a="http://schemas.openxmlformats.org/drawingml/2006/main">
              <a:ext uri="{FF2B5EF4-FFF2-40B4-BE49-F238E27FC236}">
                <a16:creationId xmlns:a16="http://schemas.microsoft.com/office/drawing/2014/main" id="{EA16B329-0C35-49A9-92B0-BA6DAB9B535D}"/>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1</a:t>
            </a:r>
          </a:p>
        </p:txBody>
      </p:sp>
      <p:sp>
        <p:nvSpPr>
          <p:cNvPr id="4" name="Footer">
            <a:extLst xmlns:a="http://schemas.openxmlformats.org/drawingml/2006/main">
              <a:ext uri="{FF2B5EF4-FFF2-40B4-BE49-F238E27FC236}">
                <a16:creationId xmlns:a16="http://schemas.microsoft.com/office/drawing/2014/main" id="{9819082B-5E98-4C02-93F3-B3EFD9B09569}"/>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Demo: enter the formula in K5. The result appears beside the records.</a:t>
            </a:r>
          </a:p>
        </p:txBody>
      </p:sp>
      <p:sp>
        <p:nvSpPr>
          <p:cNvPr id="5" name="Text">
            <a:extLst xmlns:a="http://schemas.openxmlformats.org/drawingml/2006/main">
              <a:ext uri="{FF2B5EF4-FFF2-40B4-BE49-F238E27FC236}">
                <a16:creationId xmlns:a16="http://schemas.microsoft.com/office/drawing/2014/main" id="{5A9C11CD-E0B1-449A-96BF-40F004069C56}"/>
              </a:ext>
            </a:extLst>
          </p:cNvPr>
          <p:cNvSpPr>
            <a:spLocks xmlns:a="http://schemas.openxmlformats.org/drawingml/2006/main" noGrp="1"/>
          </p:cNvSpPr>
          <p:nvPr/>
        </p:nvSpPr>
        <p:spPr>
          <a:xfrm xmlns:a="http://schemas.openxmlformats.org/drawingml/2006/main">
            <a:off x="619125" y="3057525"/>
            <a:ext cx="10953750" cy="619125"/>
          </a:xfrm>
          <a:prstGeom xmlns:a="http://schemas.openxmlformats.org/drawingml/2006/main" prst="rect">
            <a:avLst/>
          </a:prstGeom>
          <a:solidFill xmlns:a="http://schemas.openxmlformats.org/drawingml/2006/main">
            <a:srgbClr val="EEF8FE"/>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11111"/>
                </a:solidFill>
                <a:latin typeface="Aptos"/>
                <a:ea typeface="Aptos"/>
                <a:cs typeface="Aptos"/>
              </a:defRPr>
            </a:pPr>
            <a:r>
              <a:rPr sz="3150" b="1">
                <a:solidFill>
                  <a:srgbClr val="111111"/>
                </a:solidFill>
                <a:latin typeface="Aptos"/>
                <a:ea typeface="Aptos"/>
                <a:cs typeface="Aptos"/>
              </a:rPr>
              <a:t>=COUNTA(A2:A21)</a:t>
            </a:r>
          </a:p>
        </p:txBody>
      </p:sp>
      <p:sp>
        <p:nvSpPr>
          <p:cNvPr id="6" name="Text">
            <a:extLst xmlns:a="http://schemas.openxmlformats.org/drawingml/2006/main">
              <a:ext uri="{FF2B5EF4-FFF2-40B4-BE49-F238E27FC236}">
                <a16:creationId xmlns:a16="http://schemas.microsoft.com/office/drawing/2014/main" id="{ACD00DEC-90B3-42F9-A9DD-C0D2F2C8336B}"/>
              </a:ext>
            </a:extLst>
          </p:cNvPr>
          <p:cNvSpPr>
            <a:spLocks xmlns:a="http://schemas.openxmlformats.org/drawingml/2006/main" noGrp="1"/>
          </p:cNvSpPr>
          <p:nvPr/>
        </p:nvSpPr>
        <p:spPr>
          <a:xfrm xmlns:a="http://schemas.openxmlformats.org/drawingml/2006/main">
            <a:off x="619125" y="41148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111111"/>
                </a:solidFill>
                <a:latin typeface="Aptos"/>
                <a:ea typeface="Aptos"/>
                <a:cs typeface="Aptos"/>
              </a:defRPr>
            </a:pPr>
            <a:r>
              <a:rPr sz="2475" b="0">
                <a:solidFill>
                  <a:srgbClr val="111111"/>
                </a:solidFill>
                <a:latin typeface="Aptos"/>
                <a:ea typeface="Aptos"/>
                <a:cs typeface="Aptos"/>
              </a:rPr>
              <a:t>COUNTA counts non-empty cells, including text IDs.</a:t>
            </a:r>
          </a:p>
        </p:txBody>
      </p:sp>
      <p:sp>
        <p:nvSpPr>
          <p:cNvPr id="7" name="Text">
            <a:extLst xmlns:a="http://schemas.openxmlformats.org/drawingml/2006/main">
              <a:ext uri="{FF2B5EF4-FFF2-40B4-BE49-F238E27FC236}">
                <a16:creationId xmlns:a16="http://schemas.microsoft.com/office/drawing/2014/main" id="{02ED7E05-A4AE-4695-9C10-EC68D0486E6F}"/>
              </a:ext>
            </a:extLst>
          </p:cNvPr>
          <p:cNvSpPr>
            <a:spLocks xmlns:a="http://schemas.openxmlformats.org/drawingml/2006/main" noGrp="1"/>
          </p:cNvSpPr>
          <p:nvPr/>
        </p:nvSpPr>
        <p:spPr>
          <a:xfrm xmlns:a="http://schemas.openxmlformats.org/drawingml/2006/main">
            <a:off x="619125" y="49720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D6171D"/>
                </a:solidFill>
                <a:latin typeface="Aptos"/>
                <a:ea typeface="Aptos"/>
                <a:cs typeface="Aptos"/>
              </a:defRPr>
            </a:pPr>
            <a:r>
              <a:rPr sz="3000" b="1">
                <a:solidFill>
                  <a:srgbClr val="D6171D"/>
                </a:solidFill>
                <a:latin typeface="Aptos"/>
                <a:ea typeface="Aptos"/>
                <a:cs typeface="Aptos"/>
              </a:rPr>
              <a:t>Expected result: 20 meals</a:t>
            </a:r>
          </a:p>
        </p:txBody>
      </p:sp>
    </p:spTree>
    <p:extLst>
      <p:ext uri="{BB962C8B-B14F-4D97-AF65-F5344CB8AC3E}">
        <p14:creationId xmlns:p14="http://schemas.microsoft.com/office/powerpoint/2010/main" val="34466875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FB9F2F96-E2AA-4920-8D2D-6CE97A11479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count your meal records</a:t>
            </a:r>
          </a:p>
        </p:txBody>
      </p:sp>
      <p:sp>
        <p:nvSpPr>
          <p:cNvPr id="2" name="Lead">
            <a:extLst xmlns:a="http://schemas.openxmlformats.org/drawingml/2006/main">
              <a:ext uri="{FF2B5EF4-FFF2-40B4-BE49-F238E27FC236}">
                <a16:creationId xmlns:a16="http://schemas.microsoft.com/office/drawing/2014/main" id="{BEAFE8C9-D9E6-4971-8B68-4BFF42D65C85}"/>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Work on Data and put the result in the same cell, K5.</a:t>
            </a:r>
          </a:p>
        </p:txBody>
      </p:sp>
      <p:sp>
        <p:nvSpPr>
          <p:cNvPr id="3" name="Text">
            <a:extLst xmlns:a="http://schemas.openxmlformats.org/drawingml/2006/main">
              <a:ext uri="{FF2B5EF4-FFF2-40B4-BE49-F238E27FC236}">
                <a16:creationId xmlns:a16="http://schemas.microsoft.com/office/drawing/2014/main" id="{BFDC988E-B377-4F6D-849C-E31B7A62E26D}"/>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C2</a:t>
            </a:r>
          </a:p>
        </p:txBody>
      </p:sp>
      <p:sp>
        <p:nvSpPr>
          <p:cNvPr id="4" name="Footer">
            <a:extLst xmlns:a="http://schemas.openxmlformats.org/drawingml/2006/main">
              <a:ext uri="{FF2B5EF4-FFF2-40B4-BE49-F238E27FC236}">
                <a16:creationId xmlns:a16="http://schemas.microsoft.com/office/drawing/2014/main" id="{EC2A1EB6-C7E0-42D8-B1E6-5F2B09B704E0}"/>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Use A2:A301. All calculations stay on the Data sheet.</a:t>
            </a:r>
          </a:p>
        </p:txBody>
      </p:sp>
      <p:sp>
        <p:nvSpPr>
          <p:cNvPr id="5" name="Text">
            <a:extLst xmlns:a="http://schemas.openxmlformats.org/drawingml/2006/main">
              <a:ext uri="{FF2B5EF4-FFF2-40B4-BE49-F238E27FC236}">
                <a16:creationId xmlns:a16="http://schemas.microsoft.com/office/drawing/2014/main" id="{F365EFF5-7E5F-479E-A966-881185ADAE78}"/>
              </a:ext>
            </a:extLst>
          </p:cNvPr>
          <p:cNvSpPr>
            <a:spLocks xmlns:a="http://schemas.openxmlformats.org/drawingml/2006/main" noGrp="1"/>
          </p:cNvSpPr>
          <p:nvPr/>
        </p:nvSpPr>
        <p:spPr>
          <a:xfrm xmlns:a="http://schemas.openxmlformats.org/drawingml/2006/main">
            <a:off x="619125" y="29813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AB1BFF18-6542-4F81-9040-C82429C9B24B}"/>
              </a:ext>
            </a:extLst>
          </p:cNvPr>
          <p:cNvSpPr>
            <a:spLocks xmlns:a="http://schemas.openxmlformats.org/drawingml/2006/main" noGrp="1"/>
          </p:cNvSpPr>
          <p:nvPr/>
        </p:nvSpPr>
        <p:spPr>
          <a:xfrm xmlns:a="http://schemas.openxmlformats.org/drawingml/2006/main">
            <a:off x="1238250" y="29813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Find the Meal ID column.</a:t>
            </a:r>
          </a:p>
        </p:txBody>
      </p:sp>
      <p:sp>
        <p:nvSpPr>
          <p:cNvPr id="7" name="Text">
            <a:extLst xmlns:a="http://schemas.openxmlformats.org/drawingml/2006/main">
              <a:ext uri="{FF2B5EF4-FFF2-40B4-BE49-F238E27FC236}">
                <a16:creationId xmlns:a16="http://schemas.microsoft.com/office/drawing/2014/main" id="{5C5EFC80-09D0-4AB6-ACD9-0F41D392BA11}"/>
              </a:ext>
            </a:extLst>
          </p:cNvPr>
          <p:cNvSpPr>
            <a:spLocks xmlns:a="http://schemas.openxmlformats.org/drawingml/2006/main" noGrp="1"/>
          </p:cNvSpPr>
          <p:nvPr/>
        </p:nvSpPr>
        <p:spPr>
          <a:xfrm xmlns:a="http://schemas.openxmlformats.org/drawingml/2006/main">
            <a:off x="619125" y="38766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942ECACB-567A-4524-A011-85B4679A1BDE}"/>
              </a:ext>
            </a:extLst>
          </p:cNvPr>
          <p:cNvSpPr>
            <a:spLocks xmlns:a="http://schemas.openxmlformats.org/drawingml/2006/main" noGrp="1"/>
          </p:cNvSpPr>
          <p:nvPr/>
        </p:nvSpPr>
        <p:spPr>
          <a:xfrm xmlns:a="http://schemas.openxmlformats.org/drawingml/2006/main">
            <a:off x="1238250" y="387667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 K5, count the non-empty cells in A2:A301.</a:t>
            </a:r>
          </a:p>
        </p:txBody>
      </p:sp>
      <p:sp>
        <p:nvSpPr>
          <p:cNvPr id="9" name="Text">
            <a:extLst xmlns:a="http://schemas.openxmlformats.org/drawingml/2006/main">
              <a:ext uri="{FF2B5EF4-FFF2-40B4-BE49-F238E27FC236}">
                <a16:creationId xmlns:a16="http://schemas.microsoft.com/office/drawing/2014/main" id="{3DB44241-1D5E-4468-BB72-1528DF73018C}"/>
              </a:ext>
            </a:extLst>
          </p:cNvPr>
          <p:cNvSpPr>
            <a:spLocks xmlns:a="http://schemas.openxmlformats.org/drawingml/2006/main" noGrp="1"/>
          </p:cNvSpPr>
          <p:nvPr/>
        </p:nvSpPr>
        <p:spPr>
          <a:xfrm xmlns:a="http://schemas.openxmlformats.org/drawingml/2006/main">
            <a:off x="619125" y="47720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131B5147-18EC-45DA-B9C0-21C60DCFD4B9}"/>
              </a:ext>
            </a:extLst>
          </p:cNvPr>
          <p:cNvSpPr>
            <a:spLocks xmlns:a="http://schemas.openxmlformats.org/drawingml/2006/main" noGrp="1"/>
          </p:cNvSpPr>
          <p:nvPr/>
        </p:nvSpPr>
        <p:spPr>
          <a:xfrm xmlns:a="http://schemas.openxmlformats.org/drawingml/2006/main">
            <a:off x="1238250" y="47720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Explain what the number represents.</a:t>
            </a:r>
          </a:p>
        </p:txBody>
      </p:sp>
    </p:spTree>
    <p:extLst>
      <p:ext uri="{BB962C8B-B14F-4D97-AF65-F5344CB8AC3E}">
        <p14:creationId xmlns:p14="http://schemas.microsoft.com/office/powerpoint/2010/main" val="143064020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FA3FBFDD-C2BC-4B36-B1B6-E971E1AF9FA5}"/>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Check: 300 meals</a:t>
            </a:r>
          </a:p>
        </p:txBody>
      </p:sp>
      <p:sp>
        <p:nvSpPr>
          <p:cNvPr id="2" name="Lead">
            <a:extLst xmlns:a="http://schemas.openxmlformats.org/drawingml/2006/main">
              <a:ext uri="{FF2B5EF4-FFF2-40B4-BE49-F238E27FC236}">
                <a16:creationId xmlns:a16="http://schemas.microsoft.com/office/drawing/2014/main" id="{545543B5-3E3A-4F6E-A8BD-48EAB6B970A7}"/>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same formula counts a longer range on Data.</a:t>
            </a:r>
          </a:p>
        </p:txBody>
      </p:sp>
      <p:sp>
        <p:nvSpPr>
          <p:cNvPr id="3" name="Text">
            <a:extLst xmlns:a="http://schemas.openxmlformats.org/drawingml/2006/main">
              <a:ext uri="{FF2B5EF4-FFF2-40B4-BE49-F238E27FC236}">
                <a16:creationId xmlns:a16="http://schemas.microsoft.com/office/drawing/2014/main" id="{8C39F776-C2FA-4441-B476-635E1B5684D0}"/>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C2</a:t>
            </a:r>
          </a:p>
        </p:txBody>
      </p:sp>
      <p:sp>
        <p:nvSpPr>
          <p:cNvPr id="4" name="Footer">
            <a:extLst xmlns:a="http://schemas.openxmlformats.org/drawingml/2006/main">
              <a:ext uri="{FF2B5EF4-FFF2-40B4-BE49-F238E27FC236}">
                <a16:creationId xmlns:a16="http://schemas.microsoft.com/office/drawing/2014/main" id="{1397C27F-56AE-4FDB-9498-E100A7CC21CD}"/>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K5 is the meal count on both sheets. Only the source range changes.</a:t>
            </a:r>
          </a:p>
        </p:txBody>
      </p:sp>
      <p:graphicFrame>
        <p:nvGraphicFramePr>
          <p:cNvPr id="12" name="Table 11"/>
          <p:cNvGraphicFramePr/>
          <p:nvPr/>
        </p:nvGraphicFramePr>
        <p:xfrm>
          <a:off xmlns:a="http://schemas.openxmlformats.org/drawingml/2006/main" x="619125" y="3124200"/>
          <a:ext xmlns:a="http://schemas.openxmlformats.org/drawingml/2006/main" cx="10953750" cy="1933575"/>
        </p:xfrm>
        <a:graphic xmlns:a="http://schemas.openxmlformats.org/drawingml/2006/main">
          <a:graphicData uri="http://schemas.openxmlformats.org/drawingml/2006/table">
            <a:tbl>
              <a:tblPr/>
              <a:tblGrid>
                <a:gridCol w="2190750"/>
                <a:gridCol w="6096000"/>
                <a:gridCol w="2667000"/>
              </a:tblGrid>
              <a:tr h="474536">
                <a:tc>
                  <a:txBody>
                    <a:bodyPr/>
                    <a:lstStyle/>
                    <a:p>
                      <a:pPr algn="l">
                        <a:buNone/>
                      </a:pPr>
                      <a:r>
                        <a:rPr sz="2325" b="1">
                          <a:solidFill>
                            <a:srgbClr val="FFFFFF"/>
                          </a:solidFill>
                          <a:latin typeface="Aptos"/>
                          <a:ea typeface="Aptos"/>
                          <a:cs typeface="Aptos"/>
                        </a:rPr>
                        <a:t>Sheet</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Formula in K5</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Result</a:t>
                      </a:r>
                    </a:p>
                  </a:txBody>
                  <a:tcPr marL="91440" marR="91440" marT="45720" marB="45720" anchor="ctr">
                    <a:solidFill>
                      <a:srgbClr val="D6171D"/>
                    </a:solidFill>
                  </a:tcPr>
                </a:tc>
              </a:tr>
              <a:tr h="729520">
                <a:tc>
                  <a:txBody>
                    <a:bodyPr/>
                    <a:lstStyle/>
                    <a:p>
                      <a:pPr algn="l">
                        <a:buNone/>
                      </a:pPr>
                      <a:r>
                        <a:rPr sz="2325" b="0">
                          <a:solidFill>
                            <a:srgbClr val="111111"/>
                          </a:solidFill>
                          <a:latin typeface="Aptos"/>
                          <a:ea typeface="Aptos"/>
                          <a:cs typeface="Aptos"/>
                        </a:rPr>
                        <a:t>Demo</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=COUNTA(A2:A21)</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20 meals</a:t>
                      </a:r>
                    </a:p>
                  </a:txBody>
                  <a:tcPr marL="91440" marR="91440" marT="45720" marB="45720" anchor="ctr">
                    <a:solidFill>
                      <a:srgbClr val="FFFFFF"/>
                    </a:solidFill>
                  </a:tcPr>
                </a:tc>
              </a:tr>
              <a:tr h="729520">
                <a:tc>
                  <a:txBody>
                    <a:bodyPr/>
                    <a:lstStyle/>
                    <a:p>
                      <a:pPr algn="l">
                        <a:buNone/>
                      </a:pPr>
                      <a:r>
                        <a:rPr sz="2325" b="0">
                          <a:solidFill>
                            <a:srgbClr val="111111"/>
                          </a:solidFill>
                          <a:latin typeface="Aptos"/>
                          <a:ea typeface="Aptos"/>
                          <a:cs typeface="Aptos"/>
                        </a:rPr>
                        <a:t>Data</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=COUNTA(A2:A301)</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300 meals</a:t>
                      </a:r>
                    </a:p>
                  </a:txBody>
                  <a:tcPr marL="91440" marR="91440" marT="45720" marB="45720" anchor="ctr">
                    <a:solidFill>
                      <a:srgbClr val="EEF8FE"/>
                    </a:solidFill>
                  </a:tcPr>
                </a:tc>
              </a:tr>
            </a:tbl>
          </a:graphicData>
        </a:graphic>
      </p:graphicFrame>
    </p:spTree>
    <p:extLst>
      <p:ext uri="{BB962C8B-B14F-4D97-AF65-F5344CB8AC3E}">
        <p14:creationId xmlns:p14="http://schemas.microsoft.com/office/powerpoint/2010/main" val="33796778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66E6E208-B13A-46D3-8AC5-0F3FD28AA280}"/>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2:</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Meal</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choices</a:t>
            </a:r>
          </a:p>
        </p:txBody>
      </p:sp>
    </p:spTree>
    <p:extLst>
      <p:ext uri="{BB962C8B-B14F-4D97-AF65-F5344CB8AC3E}">
        <p14:creationId xmlns:p14="http://schemas.microsoft.com/office/powerpoint/2010/main" val="13986008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C5ACA3F0-1021-4AC8-B0DB-08738EE31E26}"/>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Practice: discover the meal types</a:t>
            </a:r>
          </a:p>
        </p:txBody>
      </p:sp>
      <p:sp>
        <p:nvSpPr>
          <p:cNvPr id="2" name="Footer">
            <a:extLst xmlns:a="http://schemas.openxmlformats.org/drawingml/2006/main">
              <a:ext uri="{FF2B5EF4-FFF2-40B4-BE49-F238E27FC236}">
                <a16:creationId xmlns:a16="http://schemas.microsoft.com/office/drawing/2014/main" id="{CB63136D-6FCC-437F-9FE2-8C7E89ADD591}"/>
              </a:ext>
            </a:extLst>
          </p:cNvPr>
          <p:cNvSpPr>
            <a:spLocks xmlns:a="http://schemas.openxmlformats.org/drawingml/2006/main" noGrp="1"/>
          </p:cNvSpPr>
          <p:nvPr/>
        </p:nvSpPr>
        <p:spPr>
          <a:xfrm xmlns:a="http://schemas.openxmlformats.org/drawingml/2006/main">
            <a:off x="523875"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111111"/>
                </a:solidFill>
                <a:latin typeface="Aptos"/>
                <a:ea typeface="Aptos"/>
                <a:cs typeface="Aptos"/>
              </a:defRPr>
            </a:pPr>
            <a:r>
              <a:rPr sz="1500" b="0">
                <a:solidFill>
                  <a:srgbClr val="111111"/>
                </a:solidFill>
                <a:latin typeface="Aptos"/>
                <a:ea typeface="Aptos"/>
                <a:cs typeface="Aptos"/>
              </a:rPr>
              <a:t>A category is a different label. First find the labels, then count their frequencies.</a:t>
            </a:r>
          </a:p>
        </p:txBody>
      </p:sp>
      <p:sp>
        <p:nvSpPr>
          <p:cNvPr id="3" name="Text">
            <a:extLst xmlns:a="http://schemas.openxmlformats.org/drawingml/2006/main">
              <a:ext uri="{FF2B5EF4-FFF2-40B4-BE49-F238E27FC236}">
                <a16:creationId xmlns:a16="http://schemas.microsoft.com/office/drawing/2014/main" id="{E146F5C6-D6CD-4AEA-9BFB-C0A5746E9FF2}"/>
              </a:ext>
            </a:extLst>
          </p:cNvPr>
          <p:cNvSpPr>
            <a:spLocks xmlns:a="http://schemas.openxmlformats.org/drawingml/2006/main" noGrp="1"/>
          </p:cNvSpPr>
          <p:nvPr/>
        </p:nvSpPr>
        <p:spPr>
          <a:xfrm xmlns:a="http://schemas.openxmlformats.org/drawingml/2006/main">
            <a:off x="523875" y="20002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Here are the first eight meals from Demo.</a:t>
            </a:r>
          </a:p>
        </p:txBody>
      </p:sp>
      <p:sp>
        <p:nvSpPr>
          <p:cNvPr id="4" name="Text">
            <a:extLst xmlns:a="http://schemas.openxmlformats.org/drawingml/2006/main">
              <a:ext uri="{FF2B5EF4-FFF2-40B4-BE49-F238E27FC236}">
                <a16:creationId xmlns:a16="http://schemas.microsoft.com/office/drawing/2014/main" id="{D3E47EB8-09E5-49A7-929A-8481CAC210F6}"/>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C3</a:t>
            </a:r>
          </a:p>
        </p:txBody>
      </p:sp>
      <p:graphicFrame>
        <p:nvGraphicFramePr>
          <p:cNvPr id="14" name="Table 11"/>
          <p:cNvGraphicFramePr/>
          <p:nvPr/>
        </p:nvGraphicFramePr>
        <p:xfrm>
          <a:off xmlns:a="http://schemas.openxmlformats.org/drawingml/2006/main" x="619125" y="2676525"/>
          <a:ext xmlns:a="http://schemas.openxmlformats.org/drawingml/2006/main" cx="5334000" cy="3124200"/>
        </p:xfrm>
        <a:graphic xmlns:a="http://schemas.openxmlformats.org/drawingml/2006/main">
          <a:graphicData uri="http://schemas.openxmlformats.org/drawingml/2006/table">
            <a:tbl>
              <a:tblPr/>
              <a:tblGrid>
                <a:gridCol w="2095500"/>
                <a:gridCol w="3238500"/>
              </a:tblGrid>
              <a:tr h="381572">
                <a:tc>
                  <a:txBody>
                    <a:bodyPr/>
                    <a:lstStyle/>
                    <a:p>
                      <a:pPr algn="l">
                        <a:buNone/>
                      </a:pPr>
                      <a:r>
                        <a:rPr sz="1725" b="1">
                          <a:solidFill>
                            <a:srgbClr val="FFFFFF"/>
                          </a:solidFill>
                          <a:latin typeface="Aptos"/>
                          <a:ea typeface="Aptos"/>
                          <a:cs typeface="Aptos"/>
                        </a:rPr>
                        <a:t>Meal ID</a:t>
                      </a:r>
                    </a:p>
                  </a:txBody>
                  <a:tcPr marL="91440" marR="91440" marT="45720" marB="45720" anchor="ctr">
                    <a:solidFill>
                      <a:srgbClr val="D6171D"/>
                    </a:solidFill>
                  </a:tcPr>
                </a:tc>
                <a:tc>
                  <a:txBody>
                    <a:bodyPr/>
                    <a:lstStyle/>
                    <a:p>
                      <a:pPr algn="ctr">
                        <a:buNone/>
                      </a:pPr>
                      <a:r>
                        <a:rPr sz="1725" b="1">
                          <a:solidFill>
                            <a:srgbClr val="FFFFFF"/>
                          </a:solidFill>
                          <a:latin typeface="Aptos"/>
                          <a:ea typeface="Aptos"/>
                          <a:cs typeface="Aptos"/>
                        </a:rPr>
                        <a:t>Meal type</a:t>
                      </a:r>
                    </a:p>
                  </a:txBody>
                  <a:tcPr marL="91440" marR="91440" marT="45720" marB="45720" anchor="ctr">
                    <a:solidFill>
                      <a:srgbClr val="D6171D"/>
                    </a:solidFill>
                  </a:tcPr>
                </a:tc>
              </a:tr>
              <a:tr h="342829">
                <a:tc>
                  <a:txBody>
                    <a:bodyPr/>
                    <a:lstStyle/>
                    <a:p>
                      <a:pPr algn="l">
                        <a:buNone/>
                      </a:pPr>
                      <a:r>
                        <a:rPr sz="1725" b="0">
                          <a:solidFill>
                            <a:srgbClr val="111111"/>
                          </a:solidFill>
                          <a:latin typeface="Aptos"/>
                          <a:ea typeface="Aptos"/>
                          <a:cs typeface="Aptos"/>
                        </a:rPr>
                        <a:t>D001</a:t>
                      </a:r>
                    </a:p>
                  </a:txBody>
                  <a:tcPr marL="91440" marR="91440" marT="45720" marB="45720" anchor="ctr">
                    <a:solidFill>
                      <a:srgbClr val="FFFFFF"/>
                    </a:solidFill>
                  </a:tcPr>
                </a:tc>
                <a:tc>
                  <a:txBody>
                    <a:bodyPr/>
                    <a:lstStyle/>
                    <a:p>
                      <a:pPr algn="ctr">
                        <a:buNone/>
                      </a:pPr>
                      <a:r>
                        <a:rPr sz="1725" b="0">
                          <a:solidFill>
                            <a:srgbClr val="111111"/>
                          </a:solidFill>
                          <a:latin typeface="Aptos"/>
                          <a:ea typeface="Aptos"/>
                          <a:cs typeface="Aptos"/>
                        </a:rPr>
                        <a:t>Pasta</a:t>
                      </a:r>
                    </a:p>
                  </a:txBody>
                  <a:tcPr marL="91440" marR="91440" marT="45720" marB="45720" anchor="ctr">
                    <a:solidFill>
                      <a:srgbClr val="FFFFFF"/>
                    </a:solidFill>
                  </a:tcPr>
                </a:tc>
              </a:tr>
              <a:tr h="342829">
                <a:tc>
                  <a:txBody>
                    <a:bodyPr/>
                    <a:lstStyle/>
                    <a:p>
                      <a:pPr algn="l">
                        <a:buNone/>
                      </a:pPr>
                      <a:r>
                        <a:rPr sz="1725" b="0">
                          <a:solidFill>
                            <a:srgbClr val="111111"/>
                          </a:solidFill>
                          <a:latin typeface="Aptos"/>
                          <a:ea typeface="Aptos"/>
                          <a:cs typeface="Aptos"/>
                        </a:rPr>
                        <a:t>D002</a:t>
                      </a:r>
                    </a:p>
                  </a:txBody>
                  <a:tcPr marL="91440" marR="91440" marT="45720" marB="45720" anchor="ctr">
                    <a:solidFill>
                      <a:srgbClr val="EEF8FE"/>
                    </a:solidFill>
                  </a:tcPr>
                </a:tc>
                <a:tc>
                  <a:txBody>
                    <a:bodyPr/>
                    <a:lstStyle/>
                    <a:p>
                      <a:pPr algn="ctr">
                        <a:buNone/>
                      </a:pPr>
                      <a:r>
                        <a:rPr sz="1725" b="0">
                          <a:solidFill>
                            <a:srgbClr val="111111"/>
                          </a:solidFill>
                          <a:latin typeface="Aptos"/>
                          <a:ea typeface="Aptos"/>
                          <a:cs typeface="Aptos"/>
                        </a:rPr>
                        <a:t>Rice</a:t>
                      </a:r>
                    </a:p>
                  </a:txBody>
                  <a:tcPr marL="91440" marR="91440" marT="45720" marB="45720" anchor="ctr">
                    <a:solidFill>
                      <a:srgbClr val="EEF8FE"/>
                    </a:solidFill>
                  </a:tcPr>
                </a:tc>
              </a:tr>
              <a:tr h="342829">
                <a:tc>
                  <a:txBody>
                    <a:bodyPr/>
                    <a:lstStyle/>
                    <a:p>
                      <a:pPr algn="l">
                        <a:buNone/>
                      </a:pPr>
                      <a:r>
                        <a:rPr sz="1725" b="0">
                          <a:solidFill>
                            <a:srgbClr val="111111"/>
                          </a:solidFill>
                          <a:latin typeface="Aptos"/>
                          <a:ea typeface="Aptos"/>
                          <a:cs typeface="Aptos"/>
                        </a:rPr>
                        <a:t>D003</a:t>
                      </a:r>
                    </a:p>
                  </a:txBody>
                  <a:tcPr marL="91440" marR="91440" marT="45720" marB="45720" anchor="ctr">
                    <a:solidFill>
                      <a:srgbClr val="FFFFFF"/>
                    </a:solidFill>
                  </a:tcPr>
                </a:tc>
                <a:tc>
                  <a:txBody>
                    <a:bodyPr/>
                    <a:lstStyle/>
                    <a:p>
                      <a:pPr algn="ctr">
                        <a:buNone/>
                      </a:pPr>
                      <a:r>
                        <a:rPr sz="1725" b="0">
                          <a:solidFill>
                            <a:srgbClr val="111111"/>
                          </a:solidFill>
                          <a:latin typeface="Aptos"/>
                          <a:ea typeface="Aptos"/>
                          <a:cs typeface="Aptos"/>
                        </a:rPr>
                        <a:t>Salad</a:t>
                      </a:r>
                    </a:p>
                  </a:txBody>
                  <a:tcPr marL="91440" marR="91440" marT="45720" marB="45720" anchor="ctr">
                    <a:solidFill>
                      <a:srgbClr val="FFFFFF"/>
                    </a:solidFill>
                  </a:tcPr>
                </a:tc>
              </a:tr>
              <a:tr h="342829">
                <a:tc>
                  <a:txBody>
                    <a:bodyPr/>
                    <a:lstStyle/>
                    <a:p>
                      <a:pPr algn="l">
                        <a:buNone/>
                      </a:pPr>
                      <a:r>
                        <a:rPr sz="1725" b="0">
                          <a:solidFill>
                            <a:srgbClr val="111111"/>
                          </a:solidFill>
                          <a:latin typeface="Aptos"/>
                          <a:ea typeface="Aptos"/>
                          <a:cs typeface="Aptos"/>
                        </a:rPr>
                        <a:t>D004</a:t>
                      </a:r>
                    </a:p>
                  </a:txBody>
                  <a:tcPr marL="91440" marR="91440" marT="45720" marB="45720" anchor="ctr">
                    <a:solidFill>
                      <a:srgbClr val="EEF8FE"/>
                    </a:solidFill>
                  </a:tcPr>
                </a:tc>
                <a:tc>
                  <a:txBody>
                    <a:bodyPr/>
                    <a:lstStyle/>
                    <a:p>
                      <a:pPr algn="ctr">
                        <a:buNone/>
                      </a:pPr>
                      <a:r>
                        <a:rPr sz="1725" b="0">
                          <a:solidFill>
                            <a:srgbClr val="111111"/>
                          </a:solidFill>
                          <a:latin typeface="Aptos"/>
                          <a:ea typeface="Aptos"/>
                          <a:cs typeface="Aptos"/>
                        </a:rPr>
                        <a:t>Pasta</a:t>
                      </a:r>
                    </a:p>
                  </a:txBody>
                  <a:tcPr marL="91440" marR="91440" marT="45720" marB="45720" anchor="ctr">
                    <a:solidFill>
                      <a:srgbClr val="EEF8FE"/>
                    </a:solidFill>
                  </a:tcPr>
                </a:tc>
              </a:tr>
              <a:tr h="342829">
                <a:tc>
                  <a:txBody>
                    <a:bodyPr/>
                    <a:lstStyle/>
                    <a:p>
                      <a:pPr algn="l">
                        <a:buNone/>
                      </a:pPr>
                      <a:r>
                        <a:rPr sz="1725" b="0">
                          <a:solidFill>
                            <a:srgbClr val="111111"/>
                          </a:solidFill>
                          <a:latin typeface="Aptos"/>
                          <a:ea typeface="Aptos"/>
                          <a:cs typeface="Aptos"/>
                        </a:rPr>
                        <a:t>D005</a:t>
                      </a:r>
                    </a:p>
                  </a:txBody>
                  <a:tcPr marL="91440" marR="91440" marT="45720" marB="45720" anchor="ctr">
                    <a:solidFill>
                      <a:srgbClr val="FFFFFF"/>
                    </a:solidFill>
                  </a:tcPr>
                </a:tc>
                <a:tc>
                  <a:txBody>
                    <a:bodyPr/>
                    <a:lstStyle/>
                    <a:p>
                      <a:pPr algn="ctr">
                        <a:buNone/>
                      </a:pPr>
                      <a:r>
                        <a:rPr sz="1725" b="0">
                          <a:solidFill>
                            <a:srgbClr val="111111"/>
                          </a:solidFill>
                          <a:latin typeface="Aptos"/>
                          <a:ea typeface="Aptos"/>
                          <a:cs typeface="Aptos"/>
                        </a:rPr>
                        <a:t>Rice</a:t>
                      </a:r>
                    </a:p>
                  </a:txBody>
                  <a:tcPr marL="91440" marR="91440" marT="45720" marB="45720" anchor="ctr">
                    <a:solidFill>
                      <a:srgbClr val="FFFFFF"/>
                    </a:solidFill>
                  </a:tcPr>
                </a:tc>
              </a:tr>
              <a:tr h="342829">
                <a:tc>
                  <a:txBody>
                    <a:bodyPr/>
                    <a:lstStyle/>
                    <a:p>
                      <a:pPr algn="l">
                        <a:buNone/>
                      </a:pPr>
                      <a:r>
                        <a:rPr sz="1725" b="0">
                          <a:solidFill>
                            <a:srgbClr val="111111"/>
                          </a:solidFill>
                          <a:latin typeface="Aptos"/>
                          <a:ea typeface="Aptos"/>
                          <a:cs typeface="Aptos"/>
                        </a:rPr>
                        <a:t>D006</a:t>
                      </a:r>
                    </a:p>
                  </a:txBody>
                  <a:tcPr marL="91440" marR="91440" marT="45720" marB="45720" anchor="ctr">
                    <a:solidFill>
                      <a:srgbClr val="EEF8FE"/>
                    </a:solidFill>
                  </a:tcPr>
                </a:tc>
                <a:tc>
                  <a:txBody>
                    <a:bodyPr/>
                    <a:lstStyle/>
                    <a:p>
                      <a:pPr algn="ctr">
                        <a:buNone/>
                      </a:pPr>
                      <a:r>
                        <a:rPr sz="1725" b="0">
                          <a:solidFill>
                            <a:srgbClr val="111111"/>
                          </a:solidFill>
                          <a:latin typeface="Aptos"/>
                          <a:ea typeface="Aptos"/>
                          <a:cs typeface="Aptos"/>
                        </a:rPr>
                        <a:t>Pasta</a:t>
                      </a:r>
                    </a:p>
                  </a:txBody>
                  <a:tcPr marL="91440" marR="91440" marT="45720" marB="45720" anchor="ctr">
                    <a:solidFill>
                      <a:srgbClr val="EEF8FE"/>
                    </a:solidFill>
                  </a:tcPr>
                </a:tc>
              </a:tr>
              <a:tr h="342829">
                <a:tc>
                  <a:txBody>
                    <a:bodyPr/>
                    <a:lstStyle/>
                    <a:p>
                      <a:pPr algn="l">
                        <a:buNone/>
                      </a:pPr>
                      <a:r>
                        <a:rPr sz="1725" b="0">
                          <a:solidFill>
                            <a:srgbClr val="111111"/>
                          </a:solidFill>
                          <a:latin typeface="Aptos"/>
                          <a:ea typeface="Aptos"/>
                          <a:cs typeface="Aptos"/>
                        </a:rPr>
                        <a:t>D007</a:t>
                      </a:r>
                    </a:p>
                  </a:txBody>
                  <a:tcPr marL="91440" marR="91440" marT="45720" marB="45720" anchor="ctr">
                    <a:solidFill>
                      <a:srgbClr val="FFFFFF"/>
                    </a:solidFill>
                  </a:tcPr>
                </a:tc>
                <a:tc>
                  <a:txBody>
                    <a:bodyPr/>
                    <a:lstStyle/>
                    <a:p>
                      <a:pPr algn="ctr">
                        <a:buNone/>
                      </a:pPr>
                      <a:r>
                        <a:rPr sz="1725" b="0">
                          <a:solidFill>
                            <a:srgbClr val="111111"/>
                          </a:solidFill>
                          <a:latin typeface="Aptos"/>
                          <a:ea typeface="Aptos"/>
                          <a:cs typeface="Aptos"/>
                        </a:rPr>
                        <a:t>Noodles</a:t>
                      </a:r>
                    </a:p>
                  </a:txBody>
                  <a:tcPr marL="91440" marR="91440" marT="45720" marB="45720" anchor="ctr">
                    <a:solidFill>
                      <a:srgbClr val="FFFFFF"/>
                    </a:solidFill>
                  </a:tcPr>
                </a:tc>
              </a:tr>
              <a:tr h="342829">
                <a:tc>
                  <a:txBody>
                    <a:bodyPr/>
                    <a:lstStyle/>
                    <a:p>
                      <a:pPr algn="l">
                        <a:buNone/>
                      </a:pPr>
                      <a:r>
                        <a:rPr sz="1725" b="0">
                          <a:solidFill>
                            <a:srgbClr val="111111"/>
                          </a:solidFill>
                          <a:latin typeface="Aptos"/>
                          <a:ea typeface="Aptos"/>
                          <a:cs typeface="Aptos"/>
                        </a:rPr>
                        <a:t>D008</a:t>
                      </a:r>
                    </a:p>
                  </a:txBody>
                  <a:tcPr marL="91440" marR="91440" marT="45720" marB="45720" anchor="ctr">
                    <a:solidFill>
                      <a:srgbClr val="EEF8FE"/>
                    </a:solidFill>
                  </a:tcPr>
                </a:tc>
                <a:tc>
                  <a:txBody>
                    <a:bodyPr/>
                    <a:lstStyle/>
                    <a:p>
                      <a:pPr algn="ctr">
                        <a:buNone/>
                      </a:pPr>
                      <a:r>
                        <a:rPr sz="1725" b="0">
                          <a:solidFill>
                            <a:srgbClr val="111111"/>
                          </a:solidFill>
                          <a:latin typeface="Aptos"/>
                          <a:ea typeface="Aptos"/>
                          <a:cs typeface="Aptos"/>
                        </a:rPr>
                        <a:t>Noodles</a:t>
                      </a:r>
                    </a:p>
                  </a:txBody>
                  <a:tcPr marL="91440" marR="91440" marT="45720" marB="45720" anchor="ctr">
                    <a:solidFill>
                      <a:srgbClr val="EEF8FE"/>
                    </a:solidFill>
                  </a:tcPr>
                </a:tc>
              </a:tr>
            </a:tbl>
          </a:graphicData>
        </a:graphic>
      </p:graphicFrame>
      <p:sp>
        <p:nvSpPr>
          <p:cNvPr id="6" name="Text">
            <a:extLst xmlns:a="http://schemas.openxmlformats.org/drawingml/2006/main">
              <a:ext uri="{FF2B5EF4-FFF2-40B4-BE49-F238E27FC236}">
                <a16:creationId xmlns:a16="http://schemas.microsoft.com/office/drawing/2014/main" id="{71BF7146-193A-4CE7-B911-4C4B8022E6FB}"/>
              </a:ext>
            </a:extLst>
          </p:cNvPr>
          <p:cNvSpPr>
            <a:spLocks xmlns:a="http://schemas.openxmlformats.org/drawingml/2006/main" noGrp="1"/>
          </p:cNvSpPr>
          <p:nvPr/>
        </p:nvSpPr>
        <p:spPr>
          <a:xfrm xmlns:a="http://schemas.openxmlformats.org/drawingml/2006/main">
            <a:off x="6667500" y="3076575"/>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11111"/>
                </a:solidFill>
                <a:latin typeface="Aptos"/>
                <a:ea typeface="Aptos"/>
                <a:cs typeface="Aptos"/>
              </a:defRPr>
            </a:pPr>
            <a:r>
              <a:rPr sz="2625" b="1">
                <a:solidFill>
                  <a:srgbClr val="111111"/>
                </a:solidFill>
                <a:latin typeface="Aptos"/>
                <a:ea typeface="Aptos"/>
                <a:cs typeface="Aptos"/>
              </a:rPr>
              <a:t>Write each different</a:t>
            </a:r>
          </a:p>
          <a:p xmlns:a="http://schemas.openxmlformats.org/drawingml/2006/main">
            <a:pPr algn="l">
              <a:buNone/>
              <a:defRPr sz="2625" b="1">
                <a:solidFill>
                  <a:srgbClr val="111111"/>
                </a:solidFill>
                <a:latin typeface="Aptos"/>
                <a:ea typeface="Aptos"/>
                <a:cs typeface="Aptos"/>
              </a:defRPr>
            </a:pPr>
            <a:r>
              <a:rPr sz="2625" b="1">
                <a:solidFill>
                  <a:srgbClr val="111111"/>
                </a:solidFill>
                <a:latin typeface="Aptos"/>
                <a:ea typeface="Aptos"/>
                <a:cs typeface="Aptos"/>
              </a:rPr>
              <a:t>meal name once.</a:t>
            </a:r>
          </a:p>
        </p:txBody>
      </p:sp>
      <p:sp>
        <p:nvSpPr>
          <p:cNvPr id="7" name="Text">
            <a:extLst xmlns:a="http://schemas.openxmlformats.org/drawingml/2006/main">
              <a:ext uri="{FF2B5EF4-FFF2-40B4-BE49-F238E27FC236}">
                <a16:creationId xmlns:a16="http://schemas.microsoft.com/office/drawing/2014/main" id="{5E7A9D43-7E5F-47EA-A4D3-5EE3617C3A9D}"/>
              </a:ext>
            </a:extLst>
          </p:cNvPr>
          <p:cNvSpPr>
            <a:spLocks xmlns:a="http://schemas.openxmlformats.org/drawingml/2006/main" noGrp="1"/>
          </p:cNvSpPr>
          <p:nvPr/>
        </p:nvSpPr>
        <p:spPr>
          <a:xfrm xmlns:a="http://schemas.openxmlformats.org/drawingml/2006/main">
            <a:off x="6667500" y="445770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How many different</a:t>
            </a:r>
          </a:p>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meal types are there?</a:t>
            </a:r>
          </a:p>
        </p:txBody>
      </p:sp>
    </p:spTree>
    <p:extLst>
      <p:ext uri="{BB962C8B-B14F-4D97-AF65-F5344CB8AC3E}">
        <p14:creationId xmlns:p14="http://schemas.microsoft.com/office/powerpoint/2010/main" val="71317218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7B65CE1B-88D1-47B1-B454-29FCBBF14FF9}"/>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2: discover the meal types</a:t>
            </a:r>
          </a:p>
        </p:txBody>
      </p:sp>
      <p:sp>
        <p:nvSpPr>
          <p:cNvPr id="2" name="Lead">
            <a:extLst xmlns:a="http://schemas.openxmlformats.org/drawingml/2006/main">
              <a:ext uri="{FF2B5EF4-FFF2-40B4-BE49-F238E27FC236}">
                <a16:creationId xmlns:a16="http://schemas.microsoft.com/office/drawing/2014/main" id="{69064D81-41F9-434C-8A9C-25D09D908883}"/>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filter dropdown lists each different meal-type label.</a:t>
            </a:r>
          </a:p>
        </p:txBody>
      </p:sp>
      <p:sp>
        <p:nvSpPr>
          <p:cNvPr id="3" name="Text">
            <a:extLst xmlns:a="http://schemas.openxmlformats.org/drawingml/2006/main">
              <a:ext uri="{FF2B5EF4-FFF2-40B4-BE49-F238E27FC236}">
                <a16:creationId xmlns:a16="http://schemas.microsoft.com/office/drawing/2014/main" id="{CAF2639F-229C-4A76-91D9-18DE922EED63}"/>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2</a:t>
            </a:r>
          </a:p>
        </p:txBody>
      </p:sp>
      <p:sp>
        <p:nvSpPr>
          <p:cNvPr id="4" name="Footer">
            <a:extLst xmlns:a="http://schemas.openxmlformats.org/drawingml/2006/main">
              <a:ext uri="{FF2B5EF4-FFF2-40B4-BE49-F238E27FC236}">
                <a16:creationId xmlns:a16="http://schemas.microsoft.com/office/drawing/2014/main" id="{3E538969-2DDA-4AE4-B1DA-AF0F26E0E96F}"/>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Demo: use the Meal type heading in B1. Leave every value selected.</a:t>
            </a:r>
          </a:p>
        </p:txBody>
      </p:sp>
      <p:sp>
        <p:nvSpPr>
          <p:cNvPr id="5" name="Text">
            <a:extLst xmlns:a="http://schemas.openxmlformats.org/drawingml/2006/main">
              <a:ext uri="{FF2B5EF4-FFF2-40B4-BE49-F238E27FC236}">
                <a16:creationId xmlns:a16="http://schemas.microsoft.com/office/drawing/2014/main" id="{C460DAB0-E3E5-4305-9017-C0458B81E7F9}"/>
              </a:ext>
            </a:extLst>
          </p:cNvPr>
          <p:cNvSpPr>
            <a:spLocks xmlns:a="http://schemas.openxmlformats.org/drawingml/2006/main" noGrp="1"/>
          </p:cNvSpPr>
          <p:nvPr/>
        </p:nvSpPr>
        <p:spPr>
          <a:xfrm xmlns:a="http://schemas.openxmlformats.org/drawingml/2006/main">
            <a:off x="619125" y="29241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86229B9A-AB9D-4AB3-BBD8-AB9B495B0E9F}"/>
              </a:ext>
            </a:extLst>
          </p:cNvPr>
          <p:cNvSpPr>
            <a:spLocks xmlns:a="http://schemas.openxmlformats.org/drawingml/2006/main" noGrp="1"/>
          </p:cNvSpPr>
          <p:nvPr/>
        </p:nvSpPr>
        <p:spPr>
          <a:xfrm xmlns:a="http://schemas.openxmlformats.org/drawingml/2006/main">
            <a:off x="1238250" y="292417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Select A1:F21. Choose Data &gt; Filter.</a:t>
            </a:r>
          </a:p>
        </p:txBody>
      </p:sp>
      <p:sp>
        <p:nvSpPr>
          <p:cNvPr id="7" name="Text">
            <a:extLst xmlns:a="http://schemas.openxmlformats.org/drawingml/2006/main">
              <a:ext uri="{FF2B5EF4-FFF2-40B4-BE49-F238E27FC236}">
                <a16:creationId xmlns:a16="http://schemas.microsoft.com/office/drawing/2014/main" id="{427C4B62-4E1F-4F25-BB3D-F3B0AD2DD751}"/>
              </a:ext>
            </a:extLst>
          </p:cNvPr>
          <p:cNvSpPr>
            <a:spLocks xmlns:a="http://schemas.openxmlformats.org/drawingml/2006/main" noGrp="1"/>
          </p:cNvSpPr>
          <p:nvPr/>
        </p:nvSpPr>
        <p:spPr>
          <a:xfrm xmlns:a="http://schemas.openxmlformats.org/drawingml/2006/main">
            <a:off x="619125" y="38290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E08962E4-01B3-4457-AF10-563F8D25515B}"/>
              </a:ext>
            </a:extLst>
          </p:cNvPr>
          <p:cNvSpPr>
            <a:spLocks xmlns:a="http://schemas.openxmlformats.org/drawingml/2006/main" noGrp="1"/>
          </p:cNvSpPr>
          <p:nvPr/>
        </p:nvSpPr>
        <p:spPr>
          <a:xfrm xmlns:a="http://schemas.openxmlformats.org/drawingml/2006/main">
            <a:off x="1238250" y="38290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Open the Meal type dropdown and read the different names.</a:t>
            </a:r>
          </a:p>
        </p:txBody>
      </p:sp>
      <p:sp>
        <p:nvSpPr>
          <p:cNvPr id="9" name="Text">
            <a:extLst xmlns:a="http://schemas.openxmlformats.org/drawingml/2006/main">
              <a:ext uri="{FF2B5EF4-FFF2-40B4-BE49-F238E27FC236}">
                <a16:creationId xmlns:a16="http://schemas.microsoft.com/office/drawing/2014/main" id="{AC151001-52DF-4783-BEBB-31A24D2E1AE3}"/>
              </a:ext>
            </a:extLst>
          </p:cNvPr>
          <p:cNvSpPr>
            <a:spLocks xmlns:a="http://schemas.openxmlformats.org/drawingml/2006/main" noGrp="1"/>
          </p:cNvSpPr>
          <p:nvPr/>
        </p:nvSpPr>
        <p:spPr>
          <a:xfrm xmlns:a="http://schemas.openxmlformats.org/drawingml/2006/main">
            <a:off x="619125" y="47339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890B083C-C48C-4F60-BFC2-E43CF5383A29}"/>
              </a:ext>
            </a:extLst>
          </p:cNvPr>
          <p:cNvSpPr>
            <a:spLocks xmlns:a="http://schemas.openxmlformats.org/drawingml/2006/main" noGrp="1"/>
          </p:cNvSpPr>
          <p:nvPr/>
        </p:nvSpPr>
        <p:spPr>
          <a:xfrm xmlns:a="http://schemas.openxmlformats.org/drawingml/2006/main">
            <a:off x="1238250" y="47339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Close it. Enter each name once in the table, starting at H11.</a:t>
            </a:r>
          </a:p>
        </p:txBody>
      </p:sp>
    </p:spTree>
    <p:extLst>
      <p:ext uri="{BB962C8B-B14F-4D97-AF65-F5344CB8AC3E}">
        <p14:creationId xmlns:p14="http://schemas.microsoft.com/office/powerpoint/2010/main" val="33152261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83B78F40-E602-4F85-8C17-14F601EBFDD0}"/>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build the category list</a:t>
            </a:r>
          </a:p>
        </p:txBody>
      </p:sp>
      <p:sp>
        <p:nvSpPr>
          <p:cNvPr id="2" name="Lead">
            <a:extLst xmlns:a="http://schemas.openxmlformats.org/drawingml/2006/main">
              <a:ext uri="{FF2B5EF4-FFF2-40B4-BE49-F238E27FC236}">
                <a16:creationId xmlns:a16="http://schemas.microsoft.com/office/drawing/2014/main" id="{99361CC6-BDBE-4B93-B335-DF45E2A78BE3}"/>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Discover the meal types in Data before counting their frequencies.</a:t>
            </a:r>
          </a:p>
        </p:txBody>
      </p:sp>
      <p:sp>
        <p:nvSpPr>
          <p:cNvPr id="3" name="Text">
            <a:extLst xmlns:a="http://schemas.openxmlformats.org/drawingml/2006/main">
              <a:ext uri="{FF2B5EF4-FFF2-40B4-BE49-F238E27FC236}">
                <a16:creationId xmlns:a16="http://schemas.microsoft.com/office/drawing/2014/main" id="{E749C2D4-EDC4-440D-9F2D-B59649D58C0F}"/>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C3</a:t>
            </a:r>
          </a:p>
        </p:txBody>
      </p:sp>
      <p:sp>
        <p:nvSpPr>
          <p:cNvPr id="4" name="Footer">
            <a:extLst xmlns:a="http://schemas.openxmlformats.org/drawingml/2006/main">
              <a:ext uri="{FF2B5EF4-FFF2-40B4-BE49-F238E27FC236}">
                <a16:creationId xmlns:a16="http://schemas.microsoft.com/office/drawing/2014/main" id="{13F7DBE2-7310-4C68-A8E8-E71BC1756646}"/>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Keep all records visible. Leave unused table rows blank.</a:t>
            </a:r>
          </a:p>
        </p:txBody>
      </p:sp>
      <p:sp>
        <p:nvSpPr>
          <p:cNvPr id="5" name="Text">
            <a:extLst xmlns:a="http://schemas.openxmlformats.org/drawingml/2006/main">
              <a:ext uri="{FF2B5EF4-FFF2-40B4-BE49-F238E27FC236}">
                <a16:creationId xmlns:a16="http://schemas.microsoft.com/office/drawing/2014/main" id="{4006AE5B-0E11-4F9E-ACF7-F6BADE057E9B}"/>
              </a:ext>
            </a:extLst>
          </p:cNvPr>
          <p:cNvSpPr>
            <a:spLocks xmlns:a="http://schemas.openxmlformats.org/drawingml/2006/main" noGrp="1"/>
          </p:cNvSpPr>
          <p:nvPr/>
        </p:nvSpPr>
        <p:spPr>
          <a:xfrm xmlns:a="http://schemas.openxmlformats.org/drawingml/2006/main">
            <a:off x="619125" y="29051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228A9CA2-949B-4C41-95A2-5FD8EA1C76CA}"/>
              </a:ext>
            </a:extLst>
          </p:cNvPr>
          <p:cNvSpPr>
            <a:spLocks xmlns:a="http://schemas.openxmlformats.org/drawingml/2006/main" noGrp="1"/>
          </p:cNvSpPr>
          <p:nvPr/>
        </p:nvSpPr>
        <p:spPr>
          <a:xfrm xmlns:a="http://schemas.openxmlformats.org/drawingml/2006/main">
            <a:off x="1238250" y="29051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Select A1:F301. Choose Data &gt; Filter; open the Meal type list.</a:t>
            </a:r>
          </a:p>
        </p:txBody>
      </p:sp>
      <p:sp>
        <p:nvSpPr>
          <p:cNvPr id="7" name="Text">
            <a:extLst xmlns:a="http://schemas.openxmlformats.org/drawingml/2006/main">
              <a:ext uri="{FF2B5EF4-FFF2-40B4-BE49-F238E27FC236}">
                <a16:creationId xmlns:a16="http://schemas.microsoft.com/office/drawing/2014/main" id="{64F82DC1-504B-467A-8CD2-C968F6601899}"/>
              </a:ext>
            </a:extLst>
          </p:cNvPr>
          <p:cNvSpPr>
            <a:spLocks xmlns:a="http://schemas.openxmlformats.org/drawingml/2006/main" noGrp="1"/>
          </p:cNvSpPr>
          <p:nvPr/>
        </p:nvSpPr>
        <p:spPr>
          <a:xfrm xmlns:a="http://schemas.openxmlformats.org/drawingml/2006/main">
            <a:off x="619125" y="3790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6623FCC9-F423-4120-BA74-66E3D147F834}"/>
              </a:ext>
            </a:extLst>
          </p:cNvPr>
          <p:cNvSpPr>
            <a:spLocks xmlns:a="http://schemas.openxmlformats.org/drawingml/2006/main" noGrp="1"/>
          </p:cNvSpPr>
          <p:nvPr/>
        </p:nvSpPr>
        <p:spPr>
          <a:xfrm xmlns:a="http://schemas.openxmlformats.org/drawingml/2006/main">
            <a:off x="1238250" y="37909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Enter the names alphabetically, starting in H11.</a:t>
            </a:r>
          </a:p>
        </p:txBody>
      </p:sp>
      <p:sp>
        <p:nvSpPr>
          <p:cNvPr id="9" name="Text">
            <a:extLst xmlns:a="http://schemas.openxmlformats.org/drawingml/2006/main">
              <a:ext uri="{FF2B5EF4-FFF2-40B4-BE49-F238E27FC236}">
                <a16:creationId xmlns:a16="http://schemas.microsoft.com/office/drawing/2014/main" id="{737CB737-45AA-4CEE-8493-4BFF12C6BB89}"/>
              </a:ext>
            </a:extLst>
          </p:cNvPr>
          <p:cNvSpPr>
            <a:spLocks xmlns:a="http://schemas.openxmlformats.org/drawingml/2006/main" noGrp="1"/>
          </p:cNvSpPr>
          <p:nvPr/>
        </p:nvSpPr>
        <p:spPr>
          <a:xfrm xmlns:a="http://schemas.openxmlformats.org/drawingml/2006/main">
            <a:off x="619125" y="46767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EAC74122-A343-41DB-BB8A-8E831C8C0967}"/>
              </a:ext>
            </a:extLst>
          </p:cNvPr>
          <p:cNvSpPr>
            <a:spLocks xmlns:a="http://schemas.openxmlformats.org/drawingml/2006/main" noGrp="1"/>
          </p:cNvSpPr>
          <p:nvPr/>
        </p:nvSpPr>
        <p:spPr>
          <a:xfrm xmlns:a="http://schemas.openxmlformats.org/drawingml/2006/main">
            <a:off x="1238250" y="467677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 K8, enter =COUNTA(H11:H16). What does it count?</a:t>
            </a:r>
          </a:p>
        </p:txBody>
      </p:sp>
    </p:spTree>
    <p:extLst>
      <p:ext uri="{BB962C8B-B14F-4D97-AF65-F5344CB8AC3E}">
        <p14:creationId xmlns:p14="http://schemas.microsoft.com/office/powerpoint/2010/main" val="10446459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CAA42C53-F9E7-466F-9F5E-EE572261C917}"/>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Check: your category list</a:t>
            </a:r>
          </a:p>
        </p:txBody>
      </p:sp>
      <p:sp>
        <p:nvSpPr>
          <p:cNvPr id="2" name="Footer">
            <a:extLst xmlns:a="http://schemas.openxmlformats.org/drawingml/2006/main">
              <a:ext uri="{FF2B5EF4-FFF2-40B4-BE49-F238E27FC236}">
                <a16:creationId xmlns:a16="http://schemas.microsoft.com/office/drawing/2014/main" id="{136CDF01-B3A0-48E4-83C7-7AC6BC26C996}"/>
              </a:ext>
            </a:extLst>
          </p:cNvPr>
          <p:cNvSpPr>
            <a:spLocks xmlns:a="http://schemas.openxmlformats.org/drawingml/2006/main" noGrp="1"/>
          </p:cNvSpPr>
          <p:nvPr/>
        </p:nvSpPr>
        <p:spPr>
          <a:xfrm xmlns:a="http://schemas.openxmlformats.org/drawingml/2006/main">
            <a:off x="523875"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111111"/>
                </a:solidFill>
                <a:latin typeface="Aptos"/>
                <a:ea typeface="Aptos"/>
                <a:cs typeface="Aptos"/>
              </a:defRPr>
            </a:pPr>
            <a:r>
              <a:rPr sz="1500" b="0">
                <a:solidFill>
                  <a:srgbClr val="111111"/>
                </a:solidFill>
                <a:latin typeface="Aptos"/>
                <a:ea typeface="Aptos"/>
                <a:cs typeface="Aptos"/>
              </a:rPr>
              <a:t>Only the names are filled at this stage. Frequency calculations come next.</a:t>
            </a:r>
          </a:p>
        </p:txBody>
      </p:sp>
      <p:sp>
        <p:nvSpPr>
          <p:cNvPr id="3" name="Text">
            <a:extLst xmlns:a="http://schemas.openxmlformats.org/drawingml/2006/main">
              <a:ext uri="{FF2B5EF4-FFF2-40B4-BE49-F238E27FC236}">
                <a16:creationId xmlns:a16="http://schemas.microsoft.com/office/drawing/2014/main" id="{2E5714D6-C09B-4CE6-8E59-E2BCACAD1057}"/>
              </a:ext>
            </a:extLst>
          </p:cNvPr>
          <p:cNvSpPr>
            <a:spLocks xmlns:a="http://schemas.openxmlformats.org/drawingml/2006/main" noGrp="1"/>
          </p:cNvSpPr>
          <p:nvPr/>
        </p:nvSpPr>
        <p:spPr>
          <a:xfrm xmlns:a="http://schemas.openxmlformats.org/drawingml/2006/main">
            <a:off x="523875" y="20002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Your four labels belong in H11:H14.</a:t>
            </a:r>
          </a:p>
        </p:txBody>
      </p:sp>
      <p:sp>
        <p:nvSpPr>
          <p:cNvPr id="4" name="Text">
            <a:extLst xmlns:a="http://schemas.openxmlformats.org/drawingml/2006/main">
              <a:ext uri="{FF2B5EF4-FFF2-40B4-BE49-F238E27FC236}">
                <a16:creationId xmlns:a16="http://schemas.microsoft.com/office/drawing/2014/main" id="{207A47B4-EC64-4910-9494-6E25F3B69C54}"/>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C3</a:t>
            </a:r>
          </a:p>
        </p:txBody>
      </p:sp>
      <p:graphicFrame>
        <p:nvGraphicFramePr>
          <p:cNvPr id="14" name="Table 11"/>
          <p:cNvGraphicFramePr/>
          <p:nvPr/>
        </p:nvGraphicFramePr>
        <p:xfrm>
          <a:off xmlns:a="http://schemas.openxmlformats.org/drawingml/2006/main" x="619125" y="3000375"/>
          <a:ext xmlns:a="http://schemas.openxmlformats.org/drawingml/2006/main" cx="7239000" cy="2457450"/>
        </p:xfrm>
        <a:graphic xmlns:a="http://schemas.openxmlformats.org/drawingml/2006/main">
          <a:graphicData uri="http://schemas.openxmlformats.org/drawingml/2006/table">
            <a:tbl>
              <a:tblPr/>
              <a:tblGrid>
                <a:gridCol w="3238500"/>
                <a:gridCol w="2286000"/>
                <a:gridCol w="1714500"/>
              </a:tblGrid>
              <a:tr h="439674">
                <a:tc>
                  <a:txBody>
                    <a:bodyPr/>
                    <a:lstStyle/>
                    <a:p>
                      <a:pPr algn="l">
                        <a:buNone/>
                      </a:pPr>
                      <a:r>
                        <a:rPr sz="2100" b="1">
                          <a:solidFill>
                            <a:srgbClr val="FFFFFF"/>
                          </a:solidFill>
                          <a:latin typeface="Aptos"/>
                          <a:ea typeface="Aptos"/>
                          <a:cs typeface="Aptos"/>
                        </a:rPr>
                        <a:t>Meal type (H)</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Frequency (I)</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Share (J)</a:t>
                      </a:r>
                    </a:p>
                  </a:txBody>
                  <a:tcPr marL="91440" marR="91440" marT="45720" marB="45720" anchor="ctr">
                    <a:solidFill>
                      <a:srgbClr val="D6171D"/>
                    </a:solidFill>
                  </a:tcPr>
                </a:tc>
              </a:tr>
              <a:tr h="504444">
                <a:tc>
                  <a:txBody>
                    <a:bodyPr/>
                    <a:lstStyle/>
                    <a:p>
                      <a:pPr algn="l">
                        <a:buNone/>
                      </a:pPr>
                      <a:r>
                        <a:rPr sz="2100" b="0">
                          <a:solidFill>
                            <a:srgbClr val="111111"/>
                          </a:solidFill>
                          <a:latin typeface="Aptos"/>
                          <a:ea typeface="Aptos"/>
                          <a:cs typeface="Aptos"/>
                        </a:rPr>
                        <a:t>Noodles</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504444">
                <a:tc>
                  <a:txBody>
                    <a:bodyPr/>
                    <a:lstStyle/>
                    <a:p>
                      <a:pPr algn="l">
                        <a:buNone/>
                      </a:pPr>
                      <a:r>
                        <a:rPr sz="2100" b="0">
                          <a:solidFill>
                            <a:srgbClr val="111111"/>
                          </a:solidFill>
                          <a:latin typeface="Aptos"/>
                          <a:ea typeface="Aptos"/>
                          <a:cs typeface="Aptos"/>
                        </a:rPr>
                        <a:t>Pasta</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504444">
                <a:tc>
                  <a:txBody>
                    <a:bodyPr/>
                    <a:lstStyle/>
                    <a:p>
                      <a:pPr algn="l">
                        <a:buNone/>
                      </a:pPr>
                      <a:r>
                        <a:rPr sz="2100" b="0">
                          <a:solidFill>
                            <a:srgbClr val="111111"/>
                          </a:solidFill>
                          <a:latin typeface="Aptos"/>
                          <a:ea typeface="Aptos"/>
                          <a:cs typeface="Aptos"/>
                        </a:rPr>
                        <a:t>Rice</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504444">
                <a:tc>
                  <a:txBody>
                    <a:bodyPr/>
                    <a:lstStyle/>
                    <a:p>
                      <a:pPr algn="l">
                        <a:buNone/>
                      </a:pPr>
                      <a:r>
                        <a:rPr sz="2100" b="0">
                          <a:solidFill>
                            <a:srgbClr val="111111"/>
                          </a:solidFill>
                          <a:latin typeface="Aptos"/>
                          <a:ea typeface="Aptos"/>
                          <a:cs typeface="Aptos"/>
                        </a:rPr>
                        <a:t>Salad</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bl>
          </a:graphicData>
        </a:graphic>
      </p:graphicFrame>
      <p:sp>
        <p:nvSpPr>
          <p:cNvPr id="6" name="Text">
            <a:extLst xmlns:a="http://schemas.openxmlformats.org/drawingml/2006/main">
              <a:ext uri="{FF2B5EF4-FFF2-40B4-BE49-F238E27FC236}">
                <a16:creationId xmlns:a16="http://schemas.microsoft.com/office/drawing/2014/main" id="{3F8E88BB-6229-4884-99EF-0132FC387872}"/>
              </a:ext>
            </a:extLst>
          </p:cNvPr>
          <p:cNvSpPr>
            <a:spLocks xmlns:a="http://schemas.openxmlformats.org/drawingml/2006/main" noGrp="1"/>
          </p:cNvSpPr>
          <p:nvPr/>
        </p:nvSpPr>
        <p:spPr>
          <a:xfrm xmlns:a="http://schemas.openxmlformats.org/drawingml/2006/main">
            <a:off x="8191500" y="31432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K8 = 4 meal types</a:t>
            </a:r>
          </a:p>
        </p:txBody>
      </p:sp>
      <p:sp>
        <p:nvSpPr>
          <p:cNvPr id="7" name="Text">
            <a:extLst xmlns:a="http://schemas.openxmlformats.org/drawingml/2006/main">
              <a:ext uri="{FF2B5EF4-FFF2-40B4-BE49-F238E27FC236}">
                <a16:creationId xmlns:a16="http://schemas.microsoft.com/office/drawing/2014/main" id="{8F7607F6-A485-45C7-B5E9-334ACF188B01}"/>
              </a:ext>
            </a:extLst>
          </p:cNvPr>
          <p:cNvSpPr>
            <a:spLocks xmlns:a="http://schemas.openxmlformats.org/drawingml/2006/main" noGrp="1"/>
          </p:cNvSpPr>
          <p:nvPr/>
        </p:nvSpPr>
        <p:spPr>
          <a:xfrm xmlns:a="http://schemas.openxmlformats.org/drawingml/2006/main">
            <a:off x="8191500" y="4086225"/>
            <a:ext cx="3286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K5 counts meals:</a:t>
            </a:r>
          </a:p>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20 on Demo</a:t>
            </a:r>
          </a:p>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300 on Data</a:t>
            </a:r>
          </a:p>
        </p:txBody>
      </p:sp>
    </p:spTree>
    <p:extLst>
      <p:ext uri="{BB962C8B-B14F-4D97-AF65-F5344CB8AC3E}">
        <p14:creationId xmlns:p14="http://schemas.microsoft.com/office/powerpoint/2010/main" val="174907512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B1AF8C93-5A0A-4AD2-AD18-0AE9B8486EAE}"/>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3: count one meal type</a:t>
            </a:r>
          </a:p>
        </p:txBody>
      </p:sp>
      <p:sp>
        <p:nvSpPr>
          <p:cNvPr id="2" name="Lead">
            <a:extLst xmlns:a="http://schemas.openxmlformats.org/drawingml/2006/main">
              <a:ext uri="{FF2B5EF4-FFF2-40B4-BE49-F238E27FC236}">
                <a16:creationId xmlns:a16="http://schemas.microsoft.com/office/drawing/2014/main" id="{53990AE9-412B-479D-8008-379D4E15D686}"/>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COUNTIF counts cells that match the name in your table.</a:t>
            </a:r>
          </a:p>
        </p:txBody>
      </p:sp>
      <p:sp>
        <p:nvSpPr>
          <p:cNvPr id="3" name="Text">
            <a:extLst xmlns:a="http://schemas.openxmlformats.org/drawingml/2006/main">
              <a:ext uri="{FF2B5EF4-FFF2-40B4-BE49-F238E27FC236}">
                <a16:creationId xmlns:a16="http://schemas.microsoft.com/office/drawing/2014/main" id="{693C9537-C7B1-4DAC-BB72-889D075C6C89}"/>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3</a:t>
            </a:r>
          </a:p>
        </p:txBody>
      </p:sp>
      <p:sp>
        <p:nvSpPr>
          <p:cNvPr id="4" name="Footer">
            <a:extLst xmlns:a="http://schemas.openxmlformats.org/drawingml/2006/main">
              <a:ext uri="{FF2B5EF4-FFF2-40B4-BE49-F238E27FC236}">
                <a16:creationId xmlns:a16="http://schemas.microsoft.com/office/drawing/2014/main" id="{26460744-7987-4F2A-B370-F509D9936E3A}"/>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Demo: enter the formula in I11, beside Noodles in H11.</a:t>
            </a:r>
          </a:p>
        </p:txBody>
      </p:sp>
      <p:sp>
        <p:nvSpPr>
          <p:cNvPr id="5" name="Text">
            <a:extLst xmlns:a="http://schemas.openxmlformats.org/drawingml/2006/main">
              <a:ext uri="{FF2B5EF4-FFF2-40B4-BE49-F238E27FC236}">
                <a16:creationId xmlns:a16="http://schemas.microsoft.com/office/drawing/2014/main" id="{CFE957B2-9694-4ECA-A6BF-36A20117FF62}"/>
              </a:ext>
            </a:extLst>
          </p:cNvPr>
          <p:cNvSpPr>
            <a:spLocks xmlns:a="http://schemas.openxmlformats.org/drawingml/2006/main" noGrp="1"/>
          </p:cNvSpPr>
          <p:nvPr/>
        </p:nvSpPr>
        <p:spPr>
          <a:xfrm xmlns:a="http://schemas.openxmlformats.org/drawingml/2006/main">
            <a:off x="619125" y="2952750"/>
            <a:ext cx="10953750" cy="619125"/>
          </a:xfrm>
          <a:prstGeom xmlns:a="http://schemas.openxmlformats.org/drawingml/2006/main" prst="rect">
            <a:avLst/>
          </a:prstGeom>
          <a:solidFill xmlns:a="http://schemas.openxmlformats.org/drawingml/2006/main">
            <a:srgbClr val="EEF8FE"/>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1">
                <a:solidFill>
                  <a:srgbClr val="111111"/>
                </a:solidFill>
                <a:latin typeface="Aptos"/>
                <a:ea typeface="Aptos"/>
                <a:cs typeface="Aptos"/>
              </a:defRPr>
            </a:pPr>
            <a:r>
              <a:rPr sz="2925" b="1">
                <a:solidFill>
                  <a:srgbClr val="111111"/>
                </a:solidFill>
                <a:latin typeface="Aptos"/>
                <a:ea typeface="Aptos"/>
                <a:cs typeface="Aptos"/>
              </a:rPr>
              <a:t>=COUNTIF($B$2:$B$21,H11)</a:t>
            </a:r>
          </a:p>
        </p:txBody>
      </p:sp>
      <p:graphicFrame>
        <p:nvGraphicFramePr>
          <p:cNvPr id="14" name="Table 13"/>
          <p:cNvGraphicFramePr/>
          <p:nvPr/>
        </p:nvGraphicFramePr>
        <p:xfrm>
          <a:off xmlns:a="http://schemas.openxmlformats.org/drawingml/2006/main" x="619125" y="3914775"/>
          <a:ext xmlns:a="http://schemas.openxmlformats.org/drawingml/2006/main" cx="10953750" cy="1676400"/>
        </p:xfrm>
        <a:graphic xmlns:a="http://schemas.openxmlformats.org/drawingml/2006/main">
          <a:graphicData uri="http://schemas.openxmlformats.org/drawingml/2006/table">
            <a:tbl>
              <a:tblPr/>
              <a:tblGrid>
                <a:gridCol w="3476625"/>
                <a:gridCol w="7477125"/>
              </a:tblGrid>
              <a:tr h="462915">
                <a:tc>
                  <a:txBody>
                    <a:bodyPr/>
                    <a:lstStyle/>
                    <a:p>
                      <a:pPr algn="l">
                        <a:buNone/>
                      </a:pPr>
                      <a:r>
                        <a:rPr sz="2250" b="1">
                          <a:solidFill>
                            <a:srgbClr val="FFFFFF"/>
                          </a:solidFill>
                          <a:latin typeface="Aptos"/>
                          <a:ea typeface="Aptos"/>
                          <a:cs typeface="Aptos"/>
                        </a:rPr>
                        <a:t>Part</a:t>
                      </a:r>
                    </a:p>
                  </a:txBody>
                  <a:tcPr marL="91440" marR="91440" marT="45720" marB="45720" anchor="ctr">
                    <a:solidFill>
                      <a:srgbClr val="D6171D"/>
                    </a:solidFill>
                  </a:tcPr>
                </a:tc>
                <a:tc>
                  <a:txBody>
                    <a:bodyPr/>
                    <a:lstStyle/>
                    <a:p>
                      <a:pPr algn="ctr">
                        <a:buNone/>
                      </a:pPr>
                      <a:r>
                        <a:rPr sz="2250" b="1">
                          <a:solidFill>
                            <a:srgbClr val="FFFFFF"/>
                          </a:solidFill>
                          <a:latin typeface="Aptos"/>
                          <a:ea typeface="Aptos"/>
                          <a:cs typeface="Aptos"/>
                        </a:rPr>
                        <a:t>Meaning</a:t>
                      </a:r>
                    </a:p>
                  </a:txBody>
                  <a:tcPr marL="91440" marR="91440" marT="45720" marB="45720" anchor="ctr">
                    <a:solidFill>
                      <a:srgbClr val="D6171D"/>
                    </a:solidFill>
                  </a:tcPr>
                </a:tc>
              </a:tr>
              <a:tr h="606743">
                <a:tc>
                  <a:txBody>
                    <a:bodyPr/>
                    <a:lstStyle/>
                    <a:p>
                      <a:pPr algn="l">
                        <a:buNone/>
                      </a:pPr>
                      <a:r>
                        <a:rPr sz="2250" b="0">
                          <a:solidFill>
                            <a:srgbClr val="111111"/>
                          </a:solidFill>
                          <a:latin typeface="Aptos"/>
                          <a:ea typeface="Aptos"/>
                          <a:cs typeface="Aptos"/>
                        </a:rPr>
                        <a:t>$B$2:$B$21</a:t>
                      </a:r>
                    </a:p>
                  </a:txBody>
                  <a:tcPr marL="91440" marR="91440" marT="45720" marB="45720" anchor="ctr">
                    <a:solidFill>
                      <a:srgbClr val="FFFFFF"/>
                    </a:solidFill>
                  </a:tcPr>
                </a:tc>
                <a:tc>
                  <a:txBody>
                    <a:bodyPr/>
                    <a:lstStyle/>
                    <a:p>
                      <a:pPr algn="ctr">
                        <a:buNone/>
                      </a:pPr>
                      <a:r>
                        <a:rPr sz="2250" b="0">
                          <a:solidFill>
                            <a:srgbClr val="111111"/>
                          </a:solidFill>
                          <a:latin typeface="Aptos"/>
                          <a:ea typeface="Aptos"/>
                          <a:cs typeface="Aptos"/>
                        </a:rPr>
                        <a:t>Where Excel looks: original meal types</a:t>
                      </a:r>
                    </a:p>
                  </a:txBody>
                  <a:tcPr marL="91440" marR="91440" marT="45720" marB="45720" anchor="ctr">
                    <a:solidFill>
                      <a:srgbClr val="FFFFFF"/>
                    </a:solidFill>
                  </a:tcPr>
                </a:tc>
              </a:tr>
              <a:tr h="606743">
                <a:tc>
                  <a:txBody>
                    <a:bodyPr/>
                    <a:lstStyle/>
                    <a:p>
                      <a:pPr algn="l">
                        <a:buNone/>
                      </a:pPr>
                      <a:r>
                        <a:rPr sz="2250" b="0">
                          <a:solidFill>
                            <a:srgbClr val="111111"/>
                          </a:solidFill>
                          <a:latin typeface="Aptos"/>
                          <a:ea typeface="Aptos"/>
                          <a:cs typeface="Aptos"/>
                        </a:rPr>
                        <a:t>H11</a:t>
                      </a:r>
                    </a:p>
                  </a:txBody>
                  <a:tcPr marL="91440" marR="91440" marT="45720" marB="45720" anchor="ctr">
                    <a:solidFill>
                      <a:srgbClr val="EEF8FE"/>
                    </a:solidFill>
                  </a:tcPr>
                </a:tc>
                <a:tc>
                  <a:txBody>
                    <a:bodyPr/>
                    <a:lstStyle/>
                    <a:p>
                      <a:pPr algn="ctr">
                        <a:buNone/>
                      </a:pPr>
                      <a:r>
                        <a:rPr sz="2250" b="0">
                          <a:solidFill>
                            <a:srgbClr val="111111"/>
                          </a:solidFill>
                          <a:latin typeface="Aptos"/>
                          <a:ea typeface="Aptos"/>
                          <a:cs typeface="Aptos"/>
                        </a:rPr>
                        <a:t>What Excel looks for: Noodles</a:t>
                      </a:r>
                    </a:p>
                  </a:txBody>
                  <a:tcPr marL="91440" marR="91440" marT="45720" marB="45720" anchor="ctr">
                    <a:solidFill>
                      <a:srgbClr val="EEF8FE"/>
                    </a:solidFill>
                  </a:tcPr>
                </a:tc>
              </a:tr>
            </a:tbl>
          </a:graphicData>
        </a:graphic>
      </p:graphicFrame>
    </p:spTree>
    <p:extLst>
      <p:ext uri="{BB962C8B-B14F-4D97-AF65-F5344CB8AC3E}">
        <p14:creationId xmlns:p14="http://schemas.microsoft.com/office/powerpoint/2010/main" val="73037052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143151DC-E35D-4368-9A8E-ED2EB07241F2}"/>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Copying the frequency formula</a:t>
            </a:r>
          </a:p>
        </p:txBody>
      </p:sp>
      <p:sp>
        <p:nvSpPr>
          <p:cNvPr id="2" name="Lead">
            <a:extLst xmlns:a="http://schemas.openxmlformats.org/drawingml/2006/main">
              <a:ext uri="{FF2B5EF4-FFF2-40B4-BE49-F238E27FC236}">
                <a16:creationId xmlns:a16="http://schemas.microsoft.com/office/drawing/2014/main" id="{4047C958-5B8B-41AB-AD4A-5CC582C389CF}"/>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 signs hold the raw-data range fixed as the formula moves down.</a:t>
            </a:r>
          </a:p>
        </p:txBody>
      </p:sp>
      <p:sp>
        <p:nvSpPr>
          <p:cNvPr id="3" name="Footer">
            <a:extLst xmlns:a="http://schemas.openxmlformats.org/drawingml/2006/main">
              <a:ext uri="{FF2B5EF4-FFF2-40B4-BE49-F238E27FC236}">
                <a16:creationId xmlns:a16="http://schemas.microsoft.com/office/drawing/2014/main" id="{D32766E5-68AB-4D92-98BE-FA72A50C22DD}"/>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Copy only alongside the four names you discovered.</a:t>
            </a:r>
          </a:p>
        </p:txBody>
      </p:sp>
      <p:graphicFrame>
        <p:nvGraphicFramePr>
          <p:cNvPr id="10" name="Table 9"/>
          <p:cNvGraphicFramePr/>
          <p:nvPr/>
        </p:nvGraphicFramePr>
        <p:xfrm>
          <a:off xmlns:a="http://schemas.openxmlformats.org/drawingml/2006/main" x="619125" y="3048000"/>
          <a:ext xmlns:a="http://schemas.openxmlformats.org/drawingml/2006/main" cx="10953750" cy="2152650"/>
        </p:xfrm>
        <a:graphic xmlns:a="http://schemas.openxmlformats.org/drawingml/2006/main">
          <a:graphicData uri="http://schemas.openxmlformats.org/drawingml/2006/table">
            <a:tbl>
              <a:tblPr/>
              <a:tblGrid>
                <a:gridCol w="2714625"/>
                <a:gridCol w="4191000"/>
                <a:gridCol w="4048125"/>
              </a:tblGrid>
              <a:tr h="474536">
                <a:tc>
                  <a:txBody>
                    <a:bodyPr/>
                    <a:lstStyle/>
                    <a:p>
                      <a:pPr algn="l">
                        <a:buNone/>
                      </a:pPr>
                      <a:r>
                        <a:rPr sz="2325" b="1">
                          <a:solidFill>
                            <a:srgbClr val="FFFFFF"/>
                          </a:solidFill>
                          <a:latin typeface="Aptos"/>
                          <a:ea typeface="Aptos"/>
                          <a:cs typeface="Aptos"/>
                        </a:rPr>
                        <a:t>Result cell</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Source range stays</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Category changes</a:t>
                      </a:r>
                    </a:p>
                  </a:txBody>
                  <a:tcPr marL="91440" marR="91440" marT="45720" marB="45720" anchor="ctr">
                    <a:solidFill>
                      <a:srgbClr val="D6171D"/>
                    </a:solidFill>
                  </a:tcPr>
                </a:tc>
              </a:tr>
              <a:tr h="559372">
                <a:tc>
                  <a:txBody>
                    <a:bodyPr/>
                    <a:lstStyle/>
                    <a:p>
                      <a:pPr algn="l">
                        <a:buNone/>
                      </a:pPr>
                      <a:r>
                        <a:rPr sz="2325" b="0">
                          <a:solidFill>
                            <a:srgbClr val="111111"/>
                          </a:solidFill>
                          <a:latin typeface="Aptos"/>
                          <a:ea typeface="Aptos"/>
                          <a:cs typeface="Aptos"/>
                        </a:rPr>
                        <a:t>I11</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$B$2:$B$21</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H11 = Noodles</a:t>
                      </a:r>
                    </a:p>
                  </a:txBody>
                  <a:tcPr marL="91440" marR="91440" marT="45720" marB="45720" anchor="ctr">
                    <a:solidFill>
                      <a:srgbClr val="FFFFFF"/>
                    </a:solidFill>
                  </a:tcPr>
                </a:tc>
              </a:tr>
              <a:tr h="559372">
                <a:tc>
                  <a:txBody>
                    <a:bodyPr/>
                    <a:lstStyle/>
                    <a:p>
                      <a:pPr algn="l">
                        <a:buNone/>
                      </a:pPr>
                      <a:r>
                        <a:rPr sz="2325" b="0">
                          <a:solidFill>
                            <a:srgbClr val="111111"/>
                          </a:solidFill>
                          <a:latin typeface="Aptos"/>
                          <a:ea typeface="Aptos"/>
                          <a:cs typeface="Aptos"/>
                        </a:rPr>
                        <a:t>I12</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$B$2:$B$21</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H12 = Pasta</a:t>
                      </a:r>
                    </a:p>
                  </a:txBody>
                  <a:tcPr marL="91440" marR="91440" marT="45720" marB="45720" anchor="ctr">
                    <a:solidFill>
                      <a:srgbClr val="EEF8FE"/>
                    </a:solidFill>
                  </a:tcPr>
                </a:tc>
              </a:tr>
              <a:tr h="559372">
                <a:tc>
                  <a:txBody>
                    <a:bodyPr/>
                    <a:lstStyle/>
                    <a:p>
                      <a:pPr algn="l">
                        <a:buNone/>
                      </a:pPr>
                      <a:r>
                        <a:rPr sz="2325" b="0">
                          <a:solidFill>
                            <a:srgbClr val="111111"/>
                          </a:solidFill>
                          <a:latin typeface="Aptos"/>
                          <a:ea typeface="Aptos"/>
                          <a:cs typeface="Aptos"/>
                        </a:rPr>
                        <a:t>I13</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$B$2:$B$21</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H13 = Rice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5057267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0D8E1464-DCF1-4533-A8DC-6B4E75940E12}"/>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complete the frequencies</a:t>
            </a:r>
          </a:p>
        </p:txBody>
      </p:sp>
      <p:sp>
        <p:nvSpPr>
          <p:cNvPr id="2" name="Lead">
            <a:extLst xmlns:a="http://schemas.openxmlformats.org/drawingml/2006/main">
              <a:ext uri="{FF2B5EF4-FFF2-40B4-BE49-F238E27FC236}">
                <a16:creationId xmlns:a16="http://schemas.microsoft.com/office/drawing/2014/main" id="{94D95C69-FEC8-4370-B982-B066558A4DD2}"/>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Keep using the category table on Data.</a:t>
            </a:r>
          </a:p>
        </p:txBody>
      </p:sp>
      <p:sp>
        <p:nvSpPr>
          <p:cNvPr id="3" name="Text">
            <a:extLst xmlns:a="http://schemas.openxmlformats.org/drawingml/2006/main">
              <a:ext uri="{FF2B5EF4-FFF2-40B4-BE49-F238E27FC236}">
                <a16:creationId xmlns:a16="http://schemas.microsoft.com/office/drawing/2014/main" id="{5F776133-08F8-49FD-A417-EDD4703FED7A}"/>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C3</a:t>
            </a:r>
          </a:p>
        </p:txBody>
      </p:sp>
      <p:sp>
        <p:nvSpPr>
          <p:cNvPr id="4" name="Footer">
            <a:extLst xmlns:a="http://schemas.openxmlformats.org/drawingml/2006/main">
              <a:ext uri="{FF2B5EF4-FFF2-40B4-BE49-F238E27FC236}">
                <a16:creationId xmlns:a16="http://schemas.microsoft.com/office/drawing/2014/main" id="{6637EEAE-37C2-4BC5-815F-0C5E22676229}"/>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Your category list, frequencies and total all sit together in H:J.</a:t>
            </a:r>
          </a:p>
        </p:txBody>
      </p:sp>
      <p:sp>
        <p:nvSpPr>
          <p:cNvPr id="5" name="Text">
            <a:extLst xmlns:a="http://schemas.openxmlformats.org/drawingml/2006/main">
              <a:ext uri="{FF2B5EF4-FFF2-40B4-BE49-F238E27FC236}">
                <a16:creationId xmlns:a16="http://schemas.microsoft.com/office/drawing/2014/main" id="{1A49B3AD-FBC2-42C5-86F3-9412A817D412}"/>
              </a:ext>
            </a:extLst>
          </p:cNvPr>
          <p:cNvSpPr>
            <a:spLocks xmlns:a="http://schemas.openxmlformats.org/drawingml/2006/main" noGrp="1"/>
          </p:cNvSpPr>
          <p:nvPr/>
        </p:nvSpPr>
        <p:spPr>
          <a:xfrm xmlns:a="http://schemas.openxmlformats.org/drawingml/2006/main">
            <a:off x="619125" y="2952750"/>
            <a:ext cx="10953750" cy="619125"/>
          </a:xfrm>
          <a:prstGeom xmlns:a="http://schemas.openxmlformats.org/drawingml/2006/main" prst="rect">
            <a:avLst/>
          </a:prstGeom>
          <a:solidFill xmlns:a="http://schemas.openxmlformats.org/drawingml/2006/main">
            <a:srgbClr val="EEF8FE"/>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111111"/>
                </a:solidFill>
                <a:latin typeface="Aptos"/>
                <a:ea typeface="Aptos"/>
                <a:cs typeface="Aptos"/>
              </a:defRPr>
            </a:pPr>
            <a:r>
              <a:rPr sz="2700" b="1">
                <a:solidFill>
                  <a:srgbClr val="111111"/>
                </a:solidFill>
                <a:latin typeface="Aptos"/>
                <a:ea typeface="Aptos"/>
                <a:cs typeface="Aptos"/>
              </a:rPr>
              <a:t>=COUNTIF($B$2:$B$301,H11)</a:t>
            </a:r>
          </a:p>
        </p:txBody>
      </p:sp>
      <p:sp>
        <p:nvSpPr>
          <p:cNvPr id="6" name="Text">
            <a:extLst xmlns:a="http://schemas.openxmlformats.org/drawingml/2006/main">
              <a:ext uri="{FF2B5EF4-FFF2-40B4-BE49-F238E27FC236}">
                <a16:creationId xmlns:a16="http://schemas.microsoft.com/office/drawing/2014/main" id="{3FD29BA4-670A-418F-B9C8-9A67B3CACD82}"/>
              </a:ext>
            </a:extLst>
          </p:cNvPr>
          <p:cNvSpPr>
            <a:spLocks xmlns:a="http://schemas.openxmlformats.org/drawingml/2006/main" noGrp="1"/>
          </p:cNvSpPr>
          <p:nvPr/>
        </p:nvSpPr>
        <p:spPr>
          <a:xfrm xmlns:a="http://schemas.openxmlformats.org/drawingml/2006/main">
            <a:off x="619125" y="39814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7" name="Text">
            <a:extLst xmlns:a="http://schemas.openxmlformats.org/drawingml/2006/main">
              <a:ext uri="{FF2B5EF4-FFF2-40B4-BE49-F238E27FC236}">
                <a16:creationId xmlns:a16="http://schemas.microsoft.com/office/drawing/2014/main" id="{CADE5545-75FB-4F5D-898C-5FE1BC2BBE5C}"/>
              </a:ext>
            </a:extLst>
          </p:cNvPr>
          <p:cNvSpPr>
            <a:spLocks xmlns:a="http://schemas.openxmlformats.org/drawingml/2006/main" noGrp="1"/>
          </p:cNvSpPr>
          <p:nvPr/>
        </p:nvSpPr>
        <p:spPr>
          <a:xfrm xmlns:a="http://schemas.openxmlformats.org/drawingml/2006/main">
            <a:off x="1238250" y="39814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Enter in I11. Copy down beside the names to I14.</a:t>
            </a:r>
          </a:p>
        </p:txBody>
      </p:sp>
      <p:sp>
        <p:nvSpPr>
          <p:cNvPr id="8" name="Text">
            <a:extLst xmlns:a="http://schemas.openxmlformats.org/drawingml/2006/main">
              <a:ext uri="{FF2B5EF4-FFF2-40B4-BE49-F238E27FC236}">
                <a16:creationId xmlns:a16="http://schemas.microsoft.com/office/drawing/2014/main" id="{1AA8AD3F-A6A7-46BD-A763-F7BCE6ABE010}"/>
              </a:ext>
            </a:extLst>
          </p:cNvPr>
          <p:cNvSpPr>
            <a:spLocks xmlns:a="http://schemas.openxmlformats.org/drawingml/2006/main" noGrp="1"/>
          </p:cNvSpPr>
          <p:nvPr/>
        </p:nvSpPr>
        <p:spPr>
          <a:xfrm xmlns:a="http://schemas.openxmlformats.org/drawingml/2006/main">
            <a:off x="619125" y="48863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9" name="Text">
            <a:extLst xmlns:a="http://schemas.openxmlformats.org/drawingml/2006/main">
              <a:ext uri="{FF2B5EF4-FFF2-40B4-BE49-F238E27FC236}">
                <a16:creationId xmlns:a16="http://schemas.microsoft.com/office/drawing/2014/main" id="{D205D1A5-47F8-48FF-946F-6EFDBE930684}"/>
              </a:ext>
            </a:extLst>
          </p:cNvPr>
          <p:cNvSpPr>
            <a:spLocks xmlns:a="http://schemas.openxmlformats.org/drawingml/2006/main" noGrp="1"/>
          </p:cNvSpPr>
          <p:nvPr/>
        </p:nvSpPr>
        <p:spPr>
          <a:xfrm xmlns:a="http://schemas.openxmlformats.org/drawingml/2006/main">
            <a:off x="1238250" y="48863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 I17, enter =SUM(I11:I16). Compare with K5.</a:t>
            </a:r>
          </a:p>
        </p:txBody>
      </p:sp>
    </p:spTree>
    <p:extLst>
      <p:ext uri="{BB962C8B-B14F-4D97-AF65-F5344CB8AC3E}">
        <p14:creationId xmlns:p14="http://schemas.microsoft.com/office/powerpoint/2010/main" val="116284825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E517A2C9-B99C-4DC6-AE65-FAD329564090}"/>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Frequency table: check</a:t>
            </a:r>
          </a:p>
        </p:txBody>
      </p:sp>
      <p:sp>
        <p:nvSpPr>
          <p:cNvPr id="2" name="Lead">
            <a:extLst xmlns:a="http://schemas.openxmlformats.org/drawingml/2006/main">
              <a:ext uri="{FF2B5EF4-FFF2-40B4-BE49-F238E27FC236}">
                <a16:creationId xmlns:a16="http://schemas.microsoft.com/office/drawing/2014/main" id="{DFAF8507-64A0-436E-9544-7380D65A9A98}"/>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Each meal belongs to exactly one meal-type category.</a:t>
            </a:r>
          </a:p>
        </p:txBody>
      </p:sp>
      <p:sp>
        <p:nvSpPr>
          <p:cNvPr id="3" name="Text">
            <a:extLst xmlns:a="http://schemas.openxmlformats.org/drawingml/2006/main">
              <a:ext uri="{FF2B5EF4-FFF2-40B4-BE49-F238E27FC236}">
                <a16:creationId xmlns:a16="http://schemas.microsoft.com/office/drawing/2014/main" id="{575D84E6-0255-444A-ACEA-37496B597308}"/>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C3</a:t>
            </a:r>
          </a:p>
        </p:txBody>
      </p:sp>
      <p:sp>
        <p:nvSpPr>
          <p:cNvPr id="4" name="Footer">
            <a:extLst xmlns:a="http://schemas.openxmlformats.org/drawingml/2006/main">
              <a:ext uri="{FF2B5EF4-FFF2-40B4-BE49-F238E27FC236}">
                <a16:creationId xmlns:a16="http://schemas.microsoft.com/office/drawing/2014/main" id="{1BFCFBC4-9312-4336-B91F-AAAF452AE608}"/>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Data: the frequency total in I17 should match the meal count in K5.</a:t>
            </a:r>
          </a:p>
        </p:txBody>
      </p:sp>
      <p:graphicFrame>
        <p:nvGraphicFramePr>
          <p:cNvPr id="12" name="Table 11"/>
          <p:cNvGraphicFramePr/>
          <p:nvPr/>
        </p:nvGraphicFramePr>
        <p:xfrm>
          <a:off xmlns:a="http://schemas.openxmlformats.org/drawingml/2006/main" x="2190750" y="2838450"/>
          <a:ext xmlns:a="http://schemas.openxmlformats.org/drawingml/2006/main" cx="7810500" cy="2743200"/>
        </p:xfrm>
        <a:graphic xmlns:a="http://schemas.openxmlformats.org/drawingml/2006/main">
          <a:graphicData uri="http://schemas.openxmlformats.org/drawingml/2006/table">
            <a:tbl>
              <a:tblPr/>
              <a:tblGrid>
                <a:gridCol w="4762500"/>
                <a:gridCol w="3048000"/>
              </a:tblGrid>
              <a:tr h="474536">
                <a:tc>
                  <a:txBody>
                    <a:bodyPr/>
                    <a:lstStyle/>
                    <a:p>
                      <a:pPr algn="l">
                        <a:buNone/>
                      </a:pPr>
                      <a:r>
                        <a:rPr sz="2325" b="1">
                          <a:solidFill>
                            <a:srgbClr val="FFFFFF"/>
                          </a:solidFill>
                          <a:latin typeface="Aptos"/>
                          <a:ea typeface="Aptos"/>
                          <a:cs typeface="Aptos"/>
                        </a:rPr>
                        <a:t>Meal type</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Frequency</a:t>
                      </a:r>
                    </a:p>
                  </a:txBody>
                  <a:tcPr marL="91440" marR="91440" marT="45720" marB="45720" anchor="ctr">
                    <a:solidFill>
                      <a:srgbClr val="D6171D"/>
                    </a:solidFill>
                  </a:tcPr>
                </a:tc>
              </a:tr>
              <a:tr h="453733">
                <a:tc>
                  <a:txBody>
                    <a:bodyPr/>
                    <a:lstStyle/>
                    <a:p>
                      <a:pPr algn="l">
                        <a:buNone/>
                      </a:pPr>
                      <a:r>
                        <a:rPr sz="2325" b="0">
                          <a:solidFill>
                            <a:srgbClr val="111111"/>
                          </a:solidFill>
                          <a:latin typeface="Aptos"/>
                          <a:ea typeface="Aptos"/>
                          <a:cs typeface="Aptos"/>
                        </a:rPr>
                        <a:t>Noodles</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114</a:t>
                      </a:r>
                    </a:p>
                  </a:txBody>
                  <a:tcPr marL="91440" marR="91440" marT="45720" marB="45720" anchor="ctr">
                    <a:solidFill>
                      <a:srgbClr val="FFFFFF"/>
                    </a:solidFill>
                  </a:tcPr>
                </a:tc>
              </a:tr>
              <a:tr h="453733">
                <a:tc>
                  <a:txBody>
                    <a:bodyPr/>
                    <a:lstStyle/>
                    <a:p>
                      <a:pPr algn="l">
                        <a:buNone/>
                      </a:pPr>
                      <a:r>
                        <a:rPr sz="2325" b="0">
                          <a:solidFill>
                            <a:srgbClr val="111111"/>
                          </a:solidFill>
                          <a:latin typeface="Aptos"/>
                          <a:ea typeface="Aptos"/>
                          <a:cs typeface="Aptos"/>
                        </a:rPr>
                        <a:t>Pasta</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63</a:t>
                      </a:r>
                    </a:p>
                  </a:txBody>
                  <a:tcPr marL="91440" marR="91440" marT="45720" marB="45720" anchor="ctr">
                    <a:solidFill>
                      <a:srgbClr val="EEF8FE"/>
                    </a:solidFill>
                  </a:tcPr>
                </a:tc>
              </a:tr>
              <a:tr h="453733">
                <a:tc>
                  <a:txBody>
                    <a:bodyPr/>
                    <a:lstStyle/>
                    <a:p>
                      <a:pPr algn="l">
                        <a:buNone/>
                      </a:pPr>
                      <a:r>
                        <a:rPr sz="2325" b="0">
                          <a:solidFill>
                            <a:srgbClr val="111111"/>
                          </a:solidFill>
                          <a:latin typeface="Aptos"/>
                          <a:ea typeface="Aptos"/>
                          <a:cs typeface="Aptos"/>
                        </a:rPr>
                        <a:t>Rice</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87</a:t>
                      </a:r>
                    </a:p>
                  </a:txBody>
                  <a:tcPr marL="91440" marR="91440" marT="45720" marB="45720" anchor="ctr">
                    <a:solidFill>
                      <a:srgbClr val="FFFFFF"/>
                    </a:solidFill>
                  </a:tcPr>
                </a:tc>
              </a:tr>
              <a:tr h="453733">
                <a:tc>
                  <a:txBody>
                    <a:bodyPr/>
                    <a:lstStyle/>
                    <a:p>
                      <a:pPr algn="l">
                        <a:buNone/>
                      </a:pPr>
                      <a:r>
                        <a:rPr sz="2325" b="0">
                          <a:solidFill>
                            <a:srgbClr val="111111"/>
                          </a:solidFill>
                          <a:latin typeface="Aptos"/>
                          <a:ea typeface="Aptos"/>
                          <a:cs typeface="Aptos"/>
                        </a:rPr>
                        <a:t>Salad</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36</a:t>
                      </a:r>
                    </a:p>
                  </a:txBody>
                  <a:tcPr marL="91440" marR="91440" marT="45720" marB="45720" anchor="ctr">
                    <a:solidFill>
                      <a:srgbClr val="EEF8FE"/>
                    </a:solidFill>
                  </a:tcPr>
                </a:tc>
              </a:tr>
              <a:tr h="453733">
                <a:tc>
                  <a:txBody>
                    <a:bodyPr/>
                    <a:lstStyle/>
                    <a:p>
                      <a:pPr algn="l">
                        <a:buNone/>
                      </a:pPr>
                      <a:r>
                        <a:rPr sz="2325"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300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15916105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192BF0A2-2065-440A-B30F-7AB85ABCFEBB}"/>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4: turn counts into shares</a:t>
            </a:r>
          </a:p>
        </p:txBody>
      </p:sp>
      <p:sp>
        <p:nvSpPr>
          <p:cNvPr id="2" name="Lead">
            <a:extLst xmlns:a="http://schemas.openxmlformats.org/drawingml/2006/main">
              <a:ext uri="{FF2B5EF4-FFF2-40B4-BE49-F238E27FC236}">
                <a16:creationId xmlns:a16="http://schemas.microsoft.com/office/drawing/2014/main" id="{B9B719D5-1561-45A8-AE2A-E3B840792EEB}"/>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On Demo: 8 noodle meals out of 20 meals in total.</a:t>
            </a:r>
          </a:p>
        </p:txBody>
      </p:sp>
      <p:sp>
        <p:nvSpPr>
          <p:cNvPr id="3" name="Text">
            <a:extLst xmlns:a="http://schemas.openxmlformats.org/drawingml/2006/main">
              <a:ext uri="{FF2B5EF4-FFF2-40B4-BE49-F238E27FC236}">
                <a16:creationId xmlns:a16="http://schemas.microsoft.com/office/drawing/2014/main" id="{BE783134-1F7B-4F2A-B3B3-B4E474ED8B3A}"/>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4</a:t>
            </a:r>
          </a:p>
        </p:txBody>
      </p:sp>
      <p:sp>
        <p:nvSpPr>
          <p:cNvPr id="4" name="Footer">
            <a:extLst xmlns:a="http://schemas.openxmlformats.org/drawingml/2006/main">
              <a:ext uri="{FF2B5EF4-FFF2-40B4-BE49-F238E27FC236}">
                <a16:creationId xmlns:a16="http://schemas.microsoft.com/office/drawing/2014/main" id="{8BEB2D88-601C-4958-B06E-2B51F075B189}"/>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Apply percentage formatting. Keep the underlying value as a proportion.</a:t>
            </a:r>
          </a:p>
        </p:txBody>
      </p:sp>
      <p:sp>
        <p:nvSpPr>
          <p:cNvPr id="5" name="Text">
            <a:extLst xmlns:a="http://schemas.openxmlformats.org/drawingml/2006/main">
              <a:ext uri="{FF2B5EF4-FFF2-40B4-BE49-F238E27FC236}">
                <a16:creationId xmlns:a16="http://schemas.microsoft.com/office/drawing/2014/main" id="{8B312480-76A3-4679-ADEE-DA811E62CE67}"/>
              </a:ext>
            </a:extLst>
          </p:cNvPr>
          <p:cNvSpPr>
            <a:spLocks xmlns:a="http://schemas.openxmlformats.org/drawingml/2006/main" noGrp="1"/>
          </p:cNvSpPr>
          <p:nvPr/>
        </p:nvSpPr>
        <p:spPr>
          <a:xfrm xmlns:a="http://schemas.openxmlformats.org/drawingml/2006/main">
            <a:off x="952500" y="2924175"/>
            <a:ext cx="119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8</a:t>
            </a:r>
          </a:p>
        </p:txBody>
      </p:sp>
      <p:sp>
        <p:nvSpPr>
          <p:cNvPr id="6" name="Diagram line">
            <a:extLst xmlns:a="http://schemas.openxmlformats.org/drawingml/2006/main">
              <a:ext uri="{FF2B5EF4-FFF2-40B4-BE49-F238E27FC236}">
                <a16:creationId xmlns:a16="http://schemas.microsoft.com/office/drawing/2014/main" id="{3C49616C-C41F-42CB-8BEC-71C1F8CB2B69}"/>
              </a:ext>
            </a:extLst>
          </p:cNvPr>
          <p:cNvSpPr>
            <a:spLocks xmlns:a="http://schemas.openxmlformats.org/drawingml/2006/main" noGrp="1"/>
          </p:cNvSpPr>
          <p:nvPr/>
        </p:nvSpPr>
        <p:spPr>
          <a:xfrm xmlns:a="http://schemas.openxmlformats.org/drawingml/2006/main">
            <a:off x="952500" y="3381375"/>
            <a:ext cx="1190625" cy="9525"/>
          </a:xfrm>
          <a:custGeom xmlns:a="http://schemas.openxmlformats.org/drawingml/2006/main">
            <a:rect l="0" t="0" r="0" b="0"/>
            <a:pathLst>
              <a:path w="1190625" h="9525">
                <a:moveTo>
                  <a:pt x="0" y="0"/>
                </a:moveTo>
                <a:lnTo>
                  <a:pt x="1190625" y="0"/>
                </a:lnTo>
              </a:path>
            </a:pathLst>
          </a:custGeom>
          <a:noFill xmlns:a="http://schemas.openxmlformats.org/drawingml/2006/main"/>
          <a:ln xmlns:a="http://schemas.openxmlformats.org/drawingml/2006/main" w="1905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7" name="Text">
            <a:extLst xmlns:a="http://schemas.openxmlformats.org/drawingml/2006/main">
              <a:ext uri="{FF2B5EF4-FFF2-40B4-BE49-F238E27FC236}">
                <a16:creationId xmlns:a16="http://schemas.microsoft.com/office/drawing/2014/main" id="{E80864B7-2910-4DB3-8CF3-308FDDD8B188}"/>
              </a:ext>
            </a:extLst>
          </p:cNvPr>
          <p:cNvSpPr>
            <a:spLocks xmlns:a="http://schemas.openxmlformats.org/drawingml/2006/main" noGrp="1"/>
          </p:cNvSpPr>
          <p:nvPr/>
        </p:nvSpPr>
        <p:spPr>
          <a:xfrm xmlns:a="http://schemas.openxmlformats.org/drawingml/2006/main">
            <a:off x="952500" y="3448050"/>
            <a:ext cx="119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20</a:t>
            </a:r>
          </a:p>
        </p:txBody>
      </p:sp>
      <p:sp>
        <p:nvSpPr>
          <p:cNvPr id="8" name="Text">
            <a:extLst xmlns:a="http://schemas.openxmlformats.org/drawingml/2006/main">
              <a:ext uri="{FF2B5EF4-FFF2-40B4-BE49-F238E27FC236}">
                <a16:creationId xmlns:a16="http://schemas.microsoft.com/office/drawing/2014/main" id="{46FC8DD4-D6F9-4947-B874-976185F34ED4}"/>
              </a:ext>
            </a:extLst>
          </p:cNvPr>
          <p:cNvSpPr>
            <a:spLocks xmlns:a="http://schemas.openxmlformats.org/drawingml/2006/main" noGrp="1"/>
          </p:cNvSpPr>
          <p:nvPr/>
        </p:nvSpPr>
        <p:spPr>
          <a:xfrm xmlns:a="http://schemas.openxmlformats.org/drawingml/2006/main">
            <a:off x="2619375" y="32766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11111"/>
                </a:solidFill>
                <a:latin typeface="Aptos"/>
                <a:ea typeface="Aptos"/>
                <a:cs typeface="Aptos"/>
              </a:defRPr>
            </a:pPr>
            <a:r>
              <a:rPr sz="3300" b="1">
                <a:solidFill>
                  <a:srgbClr val="111111"/>
                </a:solidFill>
                <a:latin typeface="Aptos"/>
                <a:ea typeface="Aptos"/>
                <a:cs typeface="Aptos"/>
              </a:rPr>
              <a:t>= 0.40 = 40%</a:t>
            </a:r>
          </a:p>
        </p:txBody>
      </p:sp>
      <p:sp>
        <p:nvSpPr>
          <p:cNvPr id="9" name="Text">
            <a:extLst xmlns:a="http://schemas.openxmlformats.org/drawingml/2006/main">
              <a:ext uri="{FF2B5EF4-FFF2-40B4-BE49-F238E27FC236}">
                <a16:creationId xmlns:a16="http://schemas.microsoft.com/office/drawing/2014/main" id="{89FD46E2-73C8-4D72-80ED-8F45039D25F1}"/>
              </a:ext>
            </a:extLst>
          </p:cNvPr>
          <p:cNvSpPr>
            <a:spLocks xmlns:a="http://schemas.openxmlformats.org/drawingml/2006/main" noGrp="1"/>
          </p:cNvSpPr>
          <p:nvPr/>
        </p:nvSpPr>
        <p:spPr>
          <a:xfrm xmlns:a="http://schemas.openxmlformats.org/drawingml/2006/main">
            <a:off x="619125" y="42195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111111"/>
                </a:solidFill>
                <a:latin typeface="Aptos"/>
                <a:ea typeface="Aptos"/>
                <a:cs typeface="Aptos"/>
              </a:defRPr>
            </a:pPr>
            <a:r>
              <a:rPr sz="2700" b="1">
                <a:solidFill>
                  <a:srgbClr val="111111"/>
                </a:solidFill>
                <a:latin typeface="Aptos"/>
                <a:ea typeface="Aptos"/>
                <a:cs typeface="Aptos"/>
              </a:rPr>
              <a:t>J11:  =I11/$I$17</a:t>
            </a:r>
          </a:p>
        </p:txBody>
      </p:sp>
      <p:sp>
        <p:nvSpPr>
          <p:cNvPr id="10" name="Text">
            <a:extLst xmlns:a="http://schemas.openxmlformats.org/drawingml/2006/main">
              <a:ext uri="{FF2B5EF4-FFF2-40B4-BE49-F238E27FC236}">
                <a16:creationId xmlns:a16="http://schemas.microsoft.com/office/drawing/2014/main" id="{F6D3482E-5ADB-4B78-B17F-4BFAECE611C9}"/>
              </a:ext>
            </a:extLst>
          </p:cNvPr>
          <p:cNvSpPr>
            <a:spLocks xmlns:a="http://schemas.openxmlformats.org/drawingml/2006/main" noGrp="1"/>
          </p:cNvSpPr>
          <p:nvPr/>
        </p:nvSpPr>
        <p:spPr>
          <a:xfrm xmlns:a="http://schemas.openxmlformats.org/drawingml/2006/main">
            <a:off x="619125" y="50577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Frequency ÷ total meals. Same formula on both sheets.</a:t>
            </a:r>
          </a:p>
        </p:txBody>
      </p:sp>
    </p:spTree>
    <p:extLst>
      <p:ext uri="{BB962C8B-B14F-4D97-AF65-F5344CB8AC3E}">
        <p14:creationId xmlns:p14="http://schemas.microsoft.com/office/powerpoint/2010/main" val="19873640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BC7A5A7C-2C06-473E-AAD3-0442410EC887}"/>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5: a category chart</a:t>
            </a:r>
          </a:p>
        </p:txBody>
      </p:sp>
      <p:sp>
        <p:nvSpPr>
          <p:cNvPr id="2" name="Lead">
            <a:extLst xmlns:a="http://schemas.openxmlformats.org/drawingml/2006/main">
              <a:ext uri="{FF2B5EF4-FFF2-40B4-BE49-F238E27FC236}">
                <a16:creationId xmlns:a16="http://schemas.microsoft.com/office/drawing/2014/main" id="{8939D9A0-D704-4950-BE8A-931262FF3DC9}"/>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table beside the original data.</a:t>
            </a:r>
          </a:p>
        </p:txBody>
      </p:sp>
      <p:sp>
        <p:nvSpPr>
          <p:cNvPr id="3" name="Text">
            <a:extLst xmlns:a="http://schemas.openxmlformats.org/drawingml/2006/main">
              <a:ext uri="{FF2B5EF4-FFF2-40B4-BE49-F238E27FC236}">
                <a16:creationId xmlns:a16="http://schemas.microsoft.com/office/drawing/2014/main" id="{D90AC96A-78BE-4340-B914-A839307F43E3}"/>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5</a:t>
            </a:r>
          </a:p>
        </p:txBody>
      </p:sp>
      <p:sp>
        <p:nvSpPr>
          <p:cNvPr id="4" name="Footer">
            <a:extLst xmlns:a="http://schemas.openxmlformats.org/drawingml/2006/main">
              <a:ext uri="{FF2B5EF4-FFF2-40B4-BE49-F238E27FC236}">
                <a16:creationId xmlns:a16="http://schemas.microsoft.com/office/drawing/2014/main" id="{78B02A2B-FC7F-4828-98A5-01ECAD303A89}"/>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Demo: select H10:I14. Place the chart in the space beginning at H22.</a:t>
            </a:r>
          </a:p>
        </p:txBody>
      </p:sp>
      <p:sp>
        <p:nvSpPr>
          <p:cNvPr id="5" name="Text">
            <a:extLst xmlns:a="http://schemas.openxmlformats.org/drawingml/2006/main">
              <a:ext uri="{FF2B5EF4-FFF2-40B4-BE49-F238E27FC236}">
                <a16:creationId xmlns:a16="http://schemas.microsoft.com/office/drawing/2014/main" id="{373F21E2-F759-4A5F-934D-E972B0E7EB74}"/>
              </a:ext>
            </a:extLst>
          </p:cNvPr>
          <p:cNvSpPr>
            <a:spLocks xmlns:a="http://schemas.openxmlformats.org/drawingml/2006/main" noGrp="1"/>
          </p:cNvSpPr>
          <p:nvPr/>
        </p:nvSpPr>
        <p:spPr>
          <a:xfrm xmlns:a="http://schemas.openxmlformats.org/drawingml/2006/main">
            <a:off x="619125" y="29718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F6511C92-0F8A-4A65-89B0-F1A10F07400E}"/>
              </a:ext>
            </a:extLst>
          </p:cNvPr>
          <p:cNvSpPr>
            <a:spLocks xmlns:a="http://schemas.openxmlformats.org/drawingml/2006/main" noGrp="1"/>
          </p:cNvSpPr>
          <p:nvPr/>
        </p:nvSpPr>
        <p:spPr>
          <a:xfrm xmlns:a="http://schemas.openxmlformats.org/drawingml/2006/main">
            <a:off x="1238250" y="297180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Select H10:I14.</a:t>
            </a:r>
          </a:p>
        </p:txBody>
      </p:sp>
      <p:sp>
        <p:nvSpPr>
          <p:cNvPr id="7" name="Text">
            <a:extLst xmlns:a="http://schemas.openxmlformats.org/drawingml/2006/main">
              <a:ext uri="{FF2B5EF4-FFF2-40B4-BE49-F238E27FC236}">
                <a16:creationId xmlns:a16="http://schemas.microsoft.com/office/drawing/2014/main" id="{7318798B-0C74-49D4-82B5-989E6EE3EF02}"/>
              </a:ext>
            </a:extLst>
          </p:cNvPr>
          <p:cNvSpPr>
            <a:spLocks xmlns:a="http://schemas.openxmlformats.org/drawingml/2006/main" noGrp="1"/>
          </p:cNvSpPr>
          <p:nvPr/>
        </p:nvSpPr>
        <p:spPr>
          <a:xfrm xmlns:a="http://schemas.openxmlformats.org/drawingml/2006/main">
            <a:off x="619125" y="38481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87DB2BAE-0099-4FDE-889C-D24F6015BEAE}"/>
              </a:ext>
            </a:extLst>
          </p:cNvPr>
          <p:cNvSpPr>
            <a:spLocks xmlns:a="http://schemas.openxmlformats.org/drawingml/2006/main" noGrp="1"/>
          </p:cNvSpPr>
          <p:nvPr/>
        </p:nvSpPr>
        <p:spPr>
          <a:xfrm xmlns:a="http://schemas.openxmlformats.org/drawingml/2006/main">
            <a:off x="1238250" y="384810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Insert a 2-D column chart.</a:t>
            </a:r>
          </a:p>
        </p:txBody>
      </p:sp>
      <p:sp>
        <p:nvSpPr>
          <p:cNvPr id="9" name="Text">
            <a:extLst xmlns:a="http://schemas.openxmlformats.org/drawingml/2006/main">
              <a:ext uri="{FF2B5EF4-FFF2-40B4-BE49-F238E27FC236}">
                <a16:creationId xmlns:a16="http://schemas.microsoft.com/office/drawing/2014/main" id="{24234E0E-6B63-42A7-AF99-A7BC41EA992A}"/>
              </a:ext>
            </a:extLst>
          </p:cNvPr>
          <p:cNvSpPr>
            <a:spLocks xmlns:a="http://schemas.openxmlformats.org/drawingml/2006/main" noGrp="1"/>
          </p:cNvSpPr>
          <p:nvPr/>
        </p:nvSpPr>
        <p:spPr>
          <a:xfrm xmlns:a="http://schemas.openxmlformats.org/drawingml/2006/main">
            <a:off x="619125" y="47244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6A598AFC-7762-4086-BFC2-15F040A8C8BE}"/>
              </a:ext>
            </a:extLst>
          </p:cNvPr>
          <p:cNvSpPr>
            <a:spLocks xmlns:a="http://schemas.openxmlformats.org/drawingml/2006/main" noGrp="1"/>
          </p:cNvSpPr>
          <p:nvPr/>
        </p:nvSpPr>
        <p:spPr>
          <a:xfrm xmlns:a="http://schemas.openxmlformats.org/drawingml/2006/main">
            <a:off x="1238250" y="472440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Add a title and both axis labels.</a:t>
            </a:r>
          </a:p>
        </p:txBody>
      </p:sp>
      <p:graphicFrame>
        <p:nvGraphicFramePr>
          <p:cNvPr id="24" name="Chart"/>
          <p:cNvGraphicFramePr/>
          <p:nvPr/>
        </p:nvGraphicFramePr>
        <p:xfrm>
          <a:off xmlns:a="http://schemas.openxmlformats.org/drawingml/2006/main" x="6572250" y="2943225"/>
          <a:ext xmlns:a="http://schemas.openxmlformats.org/drawingml/2006/main" cx="5000625" cy="2733675"/>
        </p:xfrm>
        <a:graphic xmlns:a="http://schemas.openxmlformats.org/drawingml/2006/main">
          <a:graphicData uri="http://schemas.openxmlformats.org/drawingml/2006/chart">
            <c:chart xmlns:r="http://schemas.openxmlformats.org/officeDocument/2006/relationships" xmlns:c="http://schemas.openxmlformats.org/drawingml/2006/chart" r:id="R0a8fed6317af4434"/>
          </a:graphicData>
        </a:graphic>
      </p:graphicFrame>
    </p:spTree>
    <p:extLst>
      <p:ext uri="{BB962C8B-B14F-4D97-AF65-F5344CB8AC3E}">
        <p14:creationId xmlns:p14="http://schemas.microsoft.com/office/powerpoint/2010/main" val="176568404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03A20E1C-A5CE-44A3-9751-DE72F27E2133}"/>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shares and a bar chart</a:t>
            </a:r>
          </a:p>
        </p:txBody>
      </p:sp>
      <p:sp>
        <p:nvSpPr>
          <p:cNvPr id="2" name="Lead">
            <a:extLst xmlns:a="http://schemas.openxmlformats.org/drawingml/2006/main">
              <a:ext uri="{FF2B5EF4-FFF2-40B4-BE49-F238E27FC236}">
                <a16:creationId xmlns:a16="http://schemas.microsoft.com/office/drawing/2014/main" id="{38C40ED7-3E31-4E2B-B3BD-A91783B7060C}"/>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Finish the same category section on Data.</a:t>
            </a:r>
          </a:p>
        </p:txBody>
      </p:sp>
      <p:sp>
        <p:nvSpPr>
          <p:cNvPr id="3" name="Text">
            <a:extLst xmlns:a="http://schemas.openxmlformats.org/drawingml/2006/main">
              <a:ext uri="{FF2B5EF4-FFF2-40B4-BE49-F238E27FC236}">
                <a16:creationId xmlns:a16="http://schemas.microsoft.com/office/drawing/2014/main" id="{49E59645-53B0-4384-AFE9-60BEC8CEA933}"/>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C3</a:t>
            </a:r>
          </a:p>
        </p:txBody>
      </p:sp>
      <p:sp>
        <p:nvSpPr>
          <p:cNvPr id="4" name="Footer">
            <a:extLst xmlns:a="http://schemas.openxmlformats.org/drawingml/2006/main">
              <a:ext uri="{FF2B5EF4-FFF2-40B4-BE49-F238E27FC236}">
                <a16:creationId xmlns:a16="http://schemas.microsoft.com/office/drawing/2014/main" id="{363662F9-6E62-485C-BB99-80F9FC2AE8F8}"/>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J11:J14 holds shares. H22:L35 is the chart space.</a:t>
            </a:r>
          </a:p>
        </p:txBody>
      </p:sp>
      <p:sp>
        <p:nvSpPr>
          <p:cNvPr id="5" name="Text">
            <a:extLst xmlns:a="http://schemas.openxmlformats.org/drawingml/2006/main">
              <a:ext uri="{FF2B5EF4-FFF2-40B4-BE49-F238E27FC236}">
                <a16:creationId xmlns:a16="http://schemas.microsoft.com/office/drawing/2014/main" id="{FD712667-FB30-4E98-B112-1C4EAB871654}"/>
              </a:ext>
            </a:extLst>
          </p:cNvPr>
          <p:cNvSpPr>
            <a:spLocks xmlns:a="http://schemas.openxmlformats.org/drawingml/2006/main" noGrp="1"/>
          </p:cNvSpPr>
          <p:nvPr/>
        </p:nvSpPr>
        <p:spPr>
          <a:xfrm xmlns:a="http://schemas.openxmlformats.org/drawingml/2006/main">
            <a:off x="619125" y="29527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AE37B193-0B0F-4A07-A888-B42F020FB590}"/>
              </a:ext>
            </a:extLst>
          </p:cNvPr>
          <p:cNvSpPr>
            <a:spLocks xmlns:a="http://schemas.openxmlformats.org/drawingml/2006/main" noGrp="1"/>
          </p:cNvSpPr>
          <p:nvPr/>
        </p:nvSpPr>
        <p:spPr>
          <a:xfrm xmlns:a="http://schemas.openxmlformats.org/drawingml/2006/main">
            <a:off x="1238250" y="29527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Calculate shares in J11:J14. Sum them in J17.</a:t>
            </a:r>
          </a:p>
        </p:txBody>
      </p:sp>
      <p:sp>
        <p:nvSpPr>
          <p:cNvPr id="7" name="Text">
            <a:extLst xmlns:a="http://schemas.openxmlformats.org/drawingml/2006/main">
              <a:ext uri="{FF2B5EF4-FFF2-40B4-BE49-F238E27FC236}">
                <a16:creationId xmlns:a16="http://schemas.microsoft.com/office/drawing/2014/main" id="{F10F69BF-437C-4509-80ED-693C4811A7ED}"/>
              </a:ext>
            </a:extLst>
          </p:cNvPr>
          <p:cNvSpPr>
            <a:spLocks xmlns:a="http://schemas.openxmlformats.org/drawingml/2006/main" noGrp="1"/>
          </p:cNvSpPr>
          <p:nvPr/>
        </p:nvSpPr>
        <p:spPr>
          <a:xfrm xmlns:a="http://schemas.openxmlformats.org/drawingml/2006/main">
            <a:off x="619125" y="38290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B22FD31E-4946-4533-8679-DBAA43EF8395}"/>
              </a:ext>
            </a:extLst>
          </p:cNvPr>
          <p:cNvSpPr>
            <a:spLocks xmlns:a="http://schemas.openxmlformats.org/drawingml/2006/main" noGrp="1"/>
          </p:cNvSpPr>
          <p:nvPr/>
        </p:nvSpPr>
        <p:spPr>
          <a:xfrm xmlns:a="http://schemas.openxmlformats.org/drawingml/2006/main">
            <a:off x="1238250" y="38290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Build a column chart from H10:I14. Label both axes.</a:t>
            </a:r>
          </a:p>
        </p:txBody>
      </p:sp>
      <p:sp>
        <p:nvSpPr>
          <p:cNvPr id="9" name="Text">
            <a:extLst xmlns:a="http://schemas.openxmlformats.org/drawingml/2006/main">
              <a:ext uri="{FF2B5EF4-FFF2-40B4-BE49-F238E27FC236}">
                <a16:creationId xmlns:a16="http://schemas.microsoft.com/office/drawing/2014/main" id="{0E330845-1E1B-41FB-B9BB-E6EC59ED98FF}"/>
              </a:ext>
            </a:extLst>
          </p:cNvPr>
          <p:cNvSpPr>
            <a:spLocks xmlns:a="http://schemas.openxmlformats.org/drawingml/2006/main" noGrp="1"/>
          </p:cNvSpPr>
          <p:nvPr/>
        </p:nvSpPr>
        <p:spPr>
          <a:xfrm xmlns:a="http://schemas.openxmlformats.org/drawingml/2006/main">
            <a:off x="619125" y="4705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3077C2A2-AAEC-41B4-86DF-6E2AB87F4CFC}"/>
              </a:ext>
            </a:extLst>
          </p:cNvPr>
          <p:cNvSpPr>
            <a:spLocks xmlns:a="http://schemas.openxmlformats.org/drawingml/2006/main" noGrp="1"/>
          </p:cNvSpPr>
          <p:nvPr/>
        </p:nvSpPr>
        <p:spPr>
          <a:xfrm xmlns:a="http://schemas.openxmlformats.org/drawingml/2006/main">
            <a:off x="1238250" y="47053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Which meal type is most common? What is its share?</a:t>
            </a:r>
          </a:p>
        </p:txBody>
      </p:sp>
    </p:spTree>
    <p:extLst>
      <p:ext uri="{BB962C8B-B14F-4D97-AF65-F5344CB8AC3E}">
        <p14:creationId xmlns:p14="http://schemas.microsoft.com/office/powerpoint/2010/main" val="54210713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702E2EEF-0438-4239-8553-41B37F6A4CF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Category chart: check</a:t>
            </a:r>
          </a:p>
        </p:txBody>
      </p:sp>
      <p:sp>
        <p:nvSpPr>
          <p:cNvPr id="2" name="Lead">
            <a:extLst xmlns:a="http://schemas.openxmlformats.org/drawingml/2006/main">
              <a:ext uri="{FF2B5EF4-FFF2-40B4-BE49-F238E27FC236}">
                <a16:creationId xmlns:a16="http://schemas.microsoft.com/office/drawing/2014/main" id="{B3F96DD0-9473-4BB8-BEE5-4E7FE6D8CA0A}"/>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Noodles are the most common category in these records.</a:t>
            </a:r>
          </a:p>
        </p:txBody>
      </p:sp>
      <p:sp>
        <p:nvSpPr>
          <p:cNvPr id="3" name="Text">
            <a:extLst xmlns:a="http://schemas.openxmlformats.org/drawingml/2006/main">
              <a:ext uri="{FF2B5EF4-FFF2-40B4-BE49-F238E27FC236}">
                <a16:creationId xmlns:a16="http://schemas.microsoft.com/office/drawing/2014/main" id="{B63DAE32-B1B2-4FF8-AAD4-325921F44082}"/>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C3</a:t>
            </a:r>
          </a:p>
        </p:txBody>
      </p:sp>
      <p:sp>
        <p:nvSpPr>
          <p:cNvPr id="4" name="Footer">
            <a:extLst xmlns:a="http://schemas.openxmlformats.org/drawingml/2006/main">
              <a:ext uri="{FF2B5EF4-FFF2-40B4-BE49-F238E27FC236}">
                <a16:creationId xmlns:a16="http://schemas.microsoft.com/office/drawing/2014/main" id="{69A29374-22EB-4031-96E1-1CB9870E8918}"/>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category list, frequency table and chart should tell the same story.</a:t>
            </a:r>
          </a:p>
        </p:txBody>
      </p:sp>
      <p:graphicFrame>
        <p:nvGraphicFramePr>
          <p:cNvPr id="15" name="Chart"/>
          <p:cNvGraphicFramePr/>
          <p:nvPr/>
        </p:nvGraphicFramePr>
        <p:xfrm>
          <a:off xmlns:a="http://schemas.openxmlformats.org/drawingml/2006/main" x="619125" y="2876550"/>
          <a:ext xmlns:a="http://schemas.openxmlformats.org/drawingml/2006/main" cx="6858000" cy="2867025"/>
        </p:xfrm>
        <a:graphic xmlns:a="http://schemas.openxmlformats.org/drawingml/2006/main">
          <a:graphicData uri="http://schemas.openxmlformats.org/drawingml/2006/chart">
            <c:chart xmlns:r="http://schemas.openxmlformats.org/officeDocument/2006/relationships" xmlns:c="http://schemas.openxmlformats.org/drawingml/2006/chart" r:id="R303183b6e4354a00"/>
          </a:graphicData>
        </a:graphic>
      </p:graphicFrame>
      <p:sp>
        <p:nvSpPr>
          <p:cNvPr id="6" name="Text">
            <a:extLst xmlns:a="http://schemas.openxmlformats.org/drawingml/2006/main">
              <a:ext uri="{FF2B5EF4-FFF2-40B4-BE49-F238E27FC236}">
                <a16:creationId xmlns:a16="http://schemas.microsoft.com/office/drawing/2014/main" id="{0A880C96-5480-460F-8482-6F769800B9C5}"/>
              </a:ext>
            </a:extLst>
          </p:cNvPr>
          <p:cNvSpPr>
            <a:spLocks xmlns:a="http://schemas.openxmlformats.org/drawingml/2006/main" noGrp="1"/>
          </p:cNvSpPr>
          <p:nvPr/>
        </p:nvSpPr>
        <p:spPr>
          <a:xfrm xmlns:a="http://schemas.openxmlformats.org/drawingml/2006/main">
            <a:off x="7905750" y="319087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11111"/>
                </a:solidFill>
                <a:latin typeface="Aptos"/>
                <a:ea typeface="Aptos"/>
                <a:cs typeface="Aptos"/>
              </a:defRPr>
            </a:pPr>
            <a:r>
              <a:rPr sz="2625" b="1">
                <a:solidFill>
                  <a:srgbClr val="111111"/>
                </a:solidFill>
                <a:latin typeface="Aptos"/>
                <a:ea typeface="Aptos"/>
                <a:cs typeface="Aptos"/>
              </a:rPr>
              <a:t>114 of 300 meals</a:t>
            </a:r>
          </a:p>
        </p:txBody>
      </p:sp>
      <p:sp>
        <p:nvSpPr>
          <p:cNvPr id="7" name="Text">
            <a:extLst xmlns:a="http://schemas.openxmlformats.org/drawingml/2006/main">
              <a:ext uri="{FF2B5EF4-FFF2-40B4-BE49-F238E27FC236}">
                <a16:creationId xmlns:a16="http://schemas.microsoft.com/office/drawing/2014/main" id="{43C9BCFF-C684-415D-B168-8AB0043A6E0A}"/>
              </a:ext>
            </a:extLst>
          </p:cNvPr>
          <p:cNvSpPr>
            <a:spLocks xmlns:a="http://schemas.openxmlformats.org/drawingml/2006/main" noGrp="1"/>
          </p:cNvSpPr>
          <p:nvPr/>
        </p:nvSpPr>
        <p:spPr>
          <a:xfrm xmlns:a="http://schemas.openxmlformats.org/drawingml/2006/main">
            <a:off x="7905750" y="39243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D6171D"/>
                </a:solidFill>
                <a:latin typeface="Aptos"/>
                <a:ea typeface="Aptos"/>
                <a:cs typeface="Aptos"/>
              </a:defRPr>
            </a:pPr>
            <a:r>
              <a:rPr sz="2625" b="1">
                <a:solidFill>
                  <a:srgbClr val="D6171D"/>
                </a:solidFill>
                <a:latin typeface="Aptos"/>
                <a:ea typeface="Aptos"/>
                <a:cs typeface="Aptos"/>
              </a:rPr>
              <a:t>38% chose noodles</a:t>
            </a:r>
          </a:p>
        </p:txBody>
      </p:sp>
      <p:sp>
        <p:nvSpPr>
          <p:cNvPr id="8" name="Text">
            <a:extLst xmlns:a="http://schemas.openxmlformats.org/drawingml/2006/main">
              <a:ext uri="{FF2B5EF4-FFF2-40B4-BE49-F238E27FC236}">
                <a16:creationId xmlns:a16="http://schemas.microsoft.com/office/drawing/2014/main" id="{6023C0CE-CB45-40F8-8905-D85807DD5D99}"/>
              </a:ext>
            </a:extLst>
          </p:cNvPr>
          <p:cNvSpPr>
            <a:spLocks xmlns:a="http://schemas.openxmlformats.org/drawingml/2006/main" noGrp="1"/>
          </p:cNvSpPr>
          <p:nvPr/>
        </p:nvSpPr>
        <p:spPr>
          <a:xfrm xmlns:a="http://schemas.openxmlformats.org/drawingml/2006/main">
            <a:off x="7905750" y="48196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11111"/>
                </a:solidFill>
                <a:latin typeface="Aptos"/>
                <a:ea typeface="Aptos"/>
                <a:cs typeface="Aptos"/>
              </a:defRPr>
            </a:pPr>
            <a:r>
              <a:rPr sz="2100" b="0">
                <a:solidFill>
                  <a:srgbClr val="111111"/>
                </a:solidFill>
                <a:latin typeface="Aptos"/>
                <a:ea typeface="Aptos"/>
                <a:cs typeface="Aptos"/>
              </a:rPr>
              <a:t>The chart shows how often</a:t>
            </a:r>
          </a:p>
          <a:p xmlns:a="http://schemas.openxmlformats.org/drawingml/2006/main">
            <a:pPr algn="l">
              <a:buNone/>
              <a:defRPr sz="2100" b="0">
                <a:solidFill>
                  <a:srgbClr val="111111"/>
                </a:solidFill>
                <a:latin typeface="Aptos"/>
                <a:ea typeface="Aptos"/>
                <a:cs typeface="Aptos"/>
              </a:defRPr>
            </a:pPr>
            <a:r>
              <a:rPr sz="2100" b="0">
                <a:solidFill>
                  <a:srgbClr val="111111"/>
                </a:solidFill>
                <a:latin typeface="Aptos"/>
                <a:ea typeface="Aptos"/>
                <a:cs typeface="Aptos"/>
              </a:rPr>
              <a:t>each meal type appears.</a:t>
            </a:r>
          </a:p>
        </p:txBody>
      </p:sp>
    </p:spTree>
    <p:extLst>
      <p:ext uri="{BB962C8B-B14F-4D97-AF65-F5344CB8AC3E}">
        <p14:creationId xmlns:p14="http://schemas.microsoft.com/office/powerpoint/2010/main" val="24563367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2BFD2B22-AACE-436C-BA5E-064FDAAE575A}"/>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3:</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Food waste</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and intervals</a:t>
            </a:r>
          </a:p>
        </p:txBody>
      </p:sp>
    </p:spTree>
    <p:extLst>
      <p:ext uri="{BB962C8B-B14F-4D97-AF65-F5344CB8AC3E}">
        <p14:creationId xmlns:p14="http://schemas.microsoft.com/office/powerpoint/2010/main" val="185325288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9A93F2C3-D859-4DC8-8E20-15378540BBBE}"/>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One interval has two boundaries</a:t>
            </a:r>
          </a:p>
        </p:txBody>
      </p:sp>
      <p:sp>
        <p:nvSpPr>
          <p:cNvPr id="2" name="Lead">
            <a:extLst xmlns:a="http://schemas.openxmlformats.org/drawingml/2006/main">
              <a:ext uri="{FF2B5EF4-FFF2-40B4-BE49-F238E27FC236}">
                <a16:creationId xmlns:a16="http://schemas.microsoft.com/office/drawing/2014/main" id="{FD0223D5-0786-4EBF-8BB5-8DC734E1BA0D}"/>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Count from the lower boundary up to, but excluding, the upper boundary.</a:t>
            </a:r>
          </a:p>
        </p:txBody>
      </p:sp>
      <p:sp>
        <p:nvSpPr>
          <p:cNvPr id="3" name="Footer">
            <a:extLst xmlns:a="http://schemas.openxmlformats.org/drawingml/2006/main">
              <a:ext uri="{FF2B5EF4-FFF2-40B4-BE49-F238E27FC236}">
                <a16:creationId xmlns:a16="http://schemas.microsoft.com/office/drawing/2014/main" id="{F2B764B3-DEE6-47BE-A7FB-7E72782B80B7}"/>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prepared classes are all 20 g wide and cover 0 g up to, but excluding, 100 g.</a:t>
            </a:r>
          </a:p>
        </p:txBody>
      </p:sp>
      <p:sp>
        <p:nvSpPr>
          <p:cNvPr id="4" name="Text">
            <a:extLst xmlns:a="http://schemas.openxmlformats.org/drawingml/2006/main">
              <a:ext uri="{FF2B5EF4-FFF2-40B4-BE49-F238E27FC236}">
                <a16:creationId xmlns:a16="http://schemas.microsoft.com/office/drawing/2014/main" id="{926DFAA5-A096-4F9B-9491-3D0D1DEDB187}"/>
              </a:ext>
            </a:extLst>
          </p:cNvPr>
          <p:cNvSpPr>
            <a:spLocks xmlns:a="http://schemas.openxmlformats.org/drawingml/2006/main" noGrp="1"/>
          </p:cNvSpPr>
          <p:nvPr/>
        </p:nvSpPr>
        <p:spPr>
          <a:xfrm xmlns:a="http://schemas.openxmlformats.org/drawingml/2006/main">
            <a:off x="619125" y="30765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975" b="1">
                <a:solidFill>
                  <a:srgbClr val="111111"/>
                </a:solidFill>
                <a:latin typeface="Aptos"/>
                <a:ea typeface="Aptos"/>
                <a:cs typeface="Aptos"/>
              </a:defRPr>
            </a:pPr>
            <a:r>
              <a:rPr sz="3975" b="1">
                <a:solidFill>
                  <a:srgbClr val="111111"/>
                </a:solidFill>
                <a:latin typeface="Aptos"/>
                <a:ea typeface="Aptos"/>
                <a:cs typeface="Aptos"/>
              </a:rPr>
              <a:t>20 ≤ x &lt; 40</a:t>
            </a:r>
          </a:p>
        </p:txBody>
      </p:sp>
      <p:graphicFrame>
        <p:nvGraphicFramePr>
          <p:cNvPr id="12" name="Table 11"/>
          <p:cNvGraphicFramePr/>
          <p:nvPr/>
        </p:nvGraphicFramePr>
        <p:xfrm>
          <a:off xmlns:a="http://schemas.openxmlformats.org/drawingml/2006/main" x="619125" y="4114800"/>
          <a:ext xmlns:a="http://schemas.openxmlformats.org/drawingml/2006/main" cx="10953750" cy="1552575"/>
        </p:xfrm>
        <a:graphic xmlns:a="http://schemas.openxmlformats.org/drawingml/2006/main">
          <a:graphicData uri="http://schemas.openxmlformats.org/drawingml/2006/table">
            <a:tbl>
              <a:tblPr/>
              <a:tblGrid>
                <a:gridCol w="2619375"/>
                <a:gridCol w="3571875"/>
                <a:gridCol w="4762500"/>
              </a:tblGrid>
              <a:tr h="428054">
                <a:tc>
                  <a:txBody>
                    <a:bodyPr/>
                    <a:lstStyle/>
                    <a:p>
                      <a:pPr algn="l">
                        <a:buNone/>
                      </a:pPr>
                      <a:r>
                        <a:rPr sz="2025" b="1">
                          <a:solidFill>
                            <a:srgbClr val="FFFFFF"/>
                          </a:solidFill>
                          <a:latin typeface="Aptos"/>
                          <a:ea typeface="Aptos"/>
                          <a:cs typeface="Aptos"/>
                        </a:rPr>
                        <a:t>Weight</a:t>
                      </a:r>
                    </a:p>
                  </a:txBody>
                  <a:tcPr marL="91440" marR="91440" marT="45720" marB="45720" anchor="ctr">
                    <a:solidFill>
                      <a:srgbClr val="D6171D"/>
                    </a:solidFill>
                  </a:tcPr>
                </a:tc>
                <a:tc>
                  <a:txBody>
                    <a:bodyPr/>
                    <a:lstStyle/>
                    <a:p>
                      <a:pPr algn="ctr">
                        <a:buNone/>
                      </a:pPr>
                      <a:r>
                        <a:rPr sz="2025" b="1">
                          <a:solidFill>
                            <a:srgbClr val="FFFFFF"/>
                          </a:solidFill>
                          <a:latin typeface="Aptos"/>
                          <a:ea typeface="Aptos"/>
                          <a:cs typeface="Aptos"/>
                        </a:rPr>
                        <a:t>In this interval?</a:t>
                      </a:r>
                    </a:p>
                  </a:txBody>
                  <a:tcPr marL="91440" marR="91440" marT="45720" marB="45720" anchor="ctr">
                    <a:solidFill>
                      <a:srgbClr val="D6171D"/>
                    </a:solidFill>
                  </a:tcPr>
                </a:tc>
                <a:tc>
                  <a:txBody>
                    <a:bodyPr/>
                    <a:lstStyle/>
                    <a:p>
                      <a:pPr algn="ctr">
                        <a:buNone/>
                      </a:pPr>
                      <a:r>
                        <a:rPr sz="2025" b="1">
                          <a:solidFill>
                            <a:srgbClr val="FFFFFF"/>
                          </a:solidFill>
                          <a:latin typeface="Aptos"/>
                          <a:ea typeface="Aptos"/>
                          <a:cs typeface="Aptos"/>
                        </a:rPr>
                        <a:t>Reason</a:t>
                      </a:r>
                    </a:p>
                  </a:txBody>
                  <a:tcPr marL="91440" marR="91440" marT="45720" marB="45720" anchor="ctr">
                    <a:solidFill>
                      <a:srgbClr val="D6171D"/>
                    </a:solidFill>
                  </a:tcPr>
                </a:tc>
              </a:tr>
              <a:tr h="374841">
                <a:tc>
                  <a:txBody>
                    <a:bodyPr/>
                    <a:lstStyle/>
                    <a:p>
                      <a:pPr algn="l">
                        <a:buNone/>
                      </a:pPr>
                      <a:r>
                        <a:rPr sz="2025" b="0">
                          <a:solidFill>
                            <a:srgbClr val="111111"/>
                          </a:solidFill>
                          <a:latin typeface="Aptos"/>
                          <a:ea typeface="Aptos"/>
                          <a:cs typeface="Aptos"/>
                        </a:rPr>
                        <a:t>20.0 g</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Yes</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Lower boundary is included</a:t>
                      </a:r>
                    </a:p>
                  </a:txBody>
                  <a:tcPr marL="91440" marR="91440" marT="45720" marB="45720" anchor="ctr">
                    <a:solidFill>
                      <a:srgbClr val="FFFFFF"/>
                    </a:solidFill>
                  </a:tcPr>
                </a:tc>
              </a:tr>
              <a:tr h="374841">
                <a:tc>
                  <a:txBody>
                    <a:bodyPr/>
                    <a:lstStyle/>
                    <a:p>
                      <a:pPr algn="l">
                        <a:buNone/>
                      </a:pPr>
                      <a:r>
                        <a:rPr sz="2025" b="0">
                          <a:solidFill>
                            <a:srgbClr val="111111"/>
                          </a:solidFill>
                          <a:latin typeface="Aptos"/>
                          <a:ea typeface="Aptos"/>
                          <a:cs typeface="Aptos"/>
                        </a:rPr>
                        <a:t>39.9 g</a:t>
                      </a:r>
                    </a:p>
                  </a:txBody>
                  <a:tcPr marL="91440" marR="91440" marT="45720" marB="45720" anchor="ctr">
                    <a:solidFill>
                      <a:srgbClr val="EEF8FE"/>
                    </a:solidFill>
                  </a:tcPr>
                </a:tc>
                <a:tc>
                  <a:txBody>
                    <a:bodyPr/>
                    <a:lstStyle/>
                    <a:p>
                      <a:pPr algn="ctr">
                        <a:buNone/>
                      </a:pPr>
                      <a:r>
                        <a:rPr sz="2025" b="0">
                          <a:solidFill>
                            <a:srgbClr val="111111"/>
                          </a:solidFill>
                          <a:latin typeface="Aptos"/>
                          <a:ea typeface="Aptos"/>
                          <a:cs typeface="Aptos"/>
                        </a:rPr>
                        <a:t>Yes</a:t>
                      </a:r>
                    </a:p>
                  </a:txBody>
                  <a:tcPr marL="91440" marR="91440" marT="45720" marB="45720" anchor="ctr">
                    <a:solidFill>
                      <a:srgbClr val="EEF8FE"/>
                    </a:solidFill>
                  </a:tcPr>
                </a:tc>
                <a:tc>
                  <a:txBody>
                    <a:bodyPr/>
                    <a:lstStyle/>
                    <a:p>
                      <a:pPr algn="ctr">
                        <a:buNone/>
                      </a:pPr>
                      <a:r>
                        <a:rPr sz="2025" b="0">
                          <a:solidFill>
                            <a:srgbClr val="111111"/>
                          </a:solidFill>
                          <a:latin typeface="Aptos"/>
                          <a:ea typeface="Aptos"/>
                          <a:cs typeface="Aptos"/>
                        </a:rPr>
                        <a:t>Still below 40</a:t>
                      </a:r>
                    </a:p>
                  </a:txBody>
                  <a:tcPr marL="91440" marR="91440" marT="45720" marB="45720" anchor="ctr">
                    <a:solidFill>
                      <a:srgbClr val="EEF8FE"/>
                    </a:solidFill>
                  </a:tcPr>
                </a:tc>
              </a:tr>
              <a:tr h="374841">
                <a:tc>
                  <a:txBody>
                    <a:bodyPr/>
                    <a:lstStyle/>
                    <a:p>
                      <a:pPr algn="l">
                        <a:buNone/>
                      </a:pPr>
                      <a:r>
                        <a:rPr sz="2025" b="0">
                          <a:solidFill>
                            <a:srgbClr val="111111"/>
                          </a:solidFill>
                          <a:latin typeface="Aptos"/>
                          <a:ea typeface="Aptos"/>
                          <a:cs typeface="Aptos"/>
                        </a:rPr>
                        <a:t>40.0 g</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No</a:t>
                      </a:r>
                    </a:p>
                  </a:txBody>
                  <a:tcPr marL="91440" marR="91440" marT="45720" marB="45720" anchor="ctr">
                    <a:solidFill>
                      <a:srgbClr val="FFFFFF"/>
                    </a:solidFill>
                  </a:tcPr>
                </a:tc>
                <a:tc>
                  <a:txBody>
                    <a:bodyPr/>
                    <a:lstStyle/>
                    <a:p>
                      <a:pPr algn="ctr">
                        <a:buNone/>
                      </a:pPr>
                      <a:r>
                        <a:rPr sz="2025" b="0">
                          <a:solidFill>
                            <a:srgbClr val="111111"/>
                          </a:solidFill>
                          <a:latin typeface="Aptos"/>
                          <a:ea typeface="Aptos"/>
                          <a:cs typeface="Aptos"/>
                        </a:rPr>
                        <a:t>Belongs in 40 ≤ x &lt; 60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2108175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B11699A9-D356-4C97-81C3-C31CC9FB0C1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COUNTIFS checks both boundaries</a:t>
            </a:r>
          </a:p>
        </p:txBody>
      </p:sp>
      <p:sp>
        <p:nvSpPr>
          <p:cNvPr id="2" name="Lead">
            <a:extLst xmlns:a="http://schemas.openxmlformats.org/drawingml/2006/main">
              <a:ext uri="{FF2B5EF4-FFF2-40B4-BE49-F238E27FC236}">
                <a16:creationId xmlns:a16="http://schemas.microsoft.com/office/drawing/2014/main" id="{96368AE7-68E0-47DF-BA9F-7139AB2E737B}"/>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Each leftover weight must pass both tests.</a:t>
            </a:r>
          </a:p>
        </p:txBody>
      </p:sp>
      <p:sp>
        <p:nvSpPr>
          <p:cNvPr id="3" name="Footer">
            <a:extLst xmlns:a="http://schemas.openxmlformats.org/drawingml/2006/main">
              <a:ext uri="{FF2B5EF4-FFF2-40B4-BE49-F238E27FC236}">
                <a16:creationId xmlns:a16="http://schemas.microsoft.com/office/drawing/2014/main" id="{D5FD251D-0B41-473C-BA3C-0CDD5A174012}"/>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H40 is the lower boundary. I40 is the upper boundary. F contains the original weights.</a:t>
            </a:r>
          </a:p>
        </p:txBody>
      </p:sp>
      <p:sp>
        <p:nvSpPr>
          <p:cNvPr id="4" name="Text">
            <a:extLst xmlns:a="http://schemas.openxmlformats.org/drawingml/2006/main">
              <a:ext uri="{FF2B5EF4-FFF2-40B4-BE49-F238E27FC236}">
                <a16:creationId xmlns:a16="http://schemas.microsoft.com/office/drawing/2014/main" id="{5A8C16C2-31FC-4B90-8476-D7EFE6D4A7CC}"/>
              </a:ext>
            </a:extLst>
          </p:cNvPr>
          <p:cNvSpPr>
            <a:spLocks xmlns:a="http://schemas.openxmlformats.org/drawingml/2006/main" noGrp="1"/>
          </p:cNvSpPr>
          <p:nvPr/>
        </p:nvSpPr>
        <p:spPr>
          <a:xfrm xmlns:a="http://schemas.openxmlformats.org/drawingml/2006/main">
            <a:off x="619125" y="2905125"/>
            <a:ext cx="10953750" cy="619125"/>
          </a:xfrm>
          <a:prstGeom xmlns:a="http://schemas.openxmlformats.org/drawingml/2006/main" prst="rect">
            <a:avLst/>
          </a:prstGeom>
          <a:solidFill xmlns:a="http://schemas.openxmlformats.org/drawingml/2006/main">
            <a:srgbClr val="EEF8FE"/>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11111"/>
                </a:solidFill>
                <a:latin typeface="Aptos"/>
                <a:ea typeface="Aptos"/>
                <a:cs typeface="Aptos"/>
              </a:defRPr>
            </a:pPr>
            <a:r>
              <a:rPr sz="2100" b="1">
                <a:solidFill>
                  <a:srgbClr val="111111"/>
                </a:solidFill>
                <a:latin typeface="Aptos"/>
                <a:ea typeface="Aptos"/>
                <a:cs typeface="Aptos"/>
              </a:rPr>
              <a:t>=COUNTIFS($F$2:$F$21,"&gt;="&amp;H40,$F$2:$F$21,"&lt;"&amp;I40)</a:t>
            </a:r>
          </a:p>
        </p:txBody>
      </p:sp>
      <p:graphicFrame>
        <p:nvGraphicFramePr>
          <p:cNvPr id="12" name="Table 11"/>
          <p:cNvGraphicFramePr/>
          <p:nvPr/>
        </p:nvGraphicFramePr>
        <p:xfrm>
          <a:off xmlns:a="http://schemas.openxmlformats.org/drawingml/2006/main" x="619125" y="3933825"/>
          <a:ext xmlns:a="http://schemas.openxmlformats.org/drawingml/2006/main" cx="10953750" cy="1905000"/>
        </p:xfrm>
        <a:graphic xmlns:a="http://schemas.openxmlformats.org/drawingml/2006/main">
          <a:graphicData uri="http://schemas.openxmlformats.org/drawingml/2006/table">
            <a:tbl>
              <a:tblPr/>
              <a:tblGrid>
                <a:gridCol w="3524250"/>
                <a:gridCol w="7429500"/>
              </a:tblGrid>
              <a:tr h="439674">
                <a:tc>
                  <a:txBody>
                    <a:bodyPr/>
                    <a:lstStyle/>
                    <a:p>
                      <a:pPr algn="l">
                        <a:buNone/>
                      </a:pPr>
                      <a:r>
                        <a:rPr sz="2100" b="1">
                          <a:solidFill>
                            <a:srgbClr val="FFFFFF"/>
                          </a:solidFill>
                          <a:latin typeface="Aptos"/>
                          <a:ea typeface="Aptos"/>
                          <a:cs typeface="Aptos"/>
                        </a:rPr>
                        <a:t>Part</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What it tells Excel</a:t>
                      </a:r>
                    </a:p>
                  </a:txBody>
                  <a:tcPr marL="91440" marR="91440" marT="45720" marB="45720" anchor="ctr">
                    <a:solidFill>
                      <a:srgbClr val="D6171D"/>
                    </a:solidFill>
                  </a:tcPr>
                </a:tc>
              </a:tr>
              <a:tr h="488442">
                <a:tc>
                  <a:txBody>
                    <a:bodyPr/>
                    <a:lstStyle/>
                    <a:p>
                      <a:pPr algn="l">
                        <a:buNone/>
                      </a:pPr>
                      <a:r>
                        <a:rPr sz="2100" b="0">
                          <a:solidFill>
                            <a:srgbClr val="111111"/>
                          </a:solidFill>
                          <a:latin typeface="Aptos"/>
                          <a:ea typeface="Aptos"/>
                          <a:cs typeface="Aptos"/>
                        </a:rPr>
                        <a:t>$F$2:$F$21</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Look at the leftover weights</a:t>
                      </a:r>
                    </a:p>
                  </a:txBody>
                  <a:tcPr marL="91440" marR="91440" marT="45720" marB="45720" anchor="ctr">
                    <a:solidFill>
                      <a:srgbClr val="FFFFFF"/>
                    </a:solidFill>
                  </a:tcPr>
                </a:tc>
              </a:tr>
              <a:tr h="488442">
                <a:tc>
                  <a:txBody>
                    <a:bodyPr/>
                    <a:lstStyle/>
                    <a:p>
                      <a:pPr algn="l">
                        <a:buNone/>
                      </a:pPr>
                      <a:r>
                        <a:rPr sz="2100" b="0">
                          <a:solidFill>
                            <a:srgbClr val="111111"/>
                          </a:solidFill>
                          <a:latin typeface="Aptos"/>
                          <a:ea typeface="Aptos"/>
                          <a:cs typeface="Aptos"/>
                        </a:rPr>
                        <a:t>"&gt;="&amp;H40</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Weight is at least the lower boundary</a:t>
                      </a:r>
                    </a:p>
                  </a:txBody>
                  <a:tcPr marL="91440" marR="91440" marT="45720" marB="45720" anchor="ctr">
                    <a:solidFill>
                      <a:srgbClr val="EEF8FE"/>
                    </a:solidFill>
                  </a:tcPr>
                </a:tc>
              </a:tr>
              <a:tr h="488442">
                <a:tc>
                  <a:txBody>
                    <a:bodyPr/>
                    <a:lstStyle/>
                    <a:p>
                      <a:pPr algn="l">
                        <a:buNone/>
                      </a:pPr>
                      <a:r>
                        <a:rPr sz="2100" b="0">
                          <a:solidFill>
                            <a:srgbClr val="111111"/>
                          </a:solidFill>
                          <a:latin typeface="Aptos"/>
                          <a:ea typeface="Aptos"/>
                          <a:cs typeface="Aptos"/>
                        </a:rPr>
                        <a:t>"&lt;"&amp;I40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Weight is below the upper boundary</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39135986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29E1E5C1-C7FF-4B1E-A51A-C97F9F3443D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6: count an interval</a:t>
            </a:r>
          </a:p>
        </p:txBody>
      </p:sp>
      <p:sp>
        <p:nvSpPr>
          <p:cNvPr id="2" name="Lead">
            <a:extLst xmlns:a="http://schemas.openxmlformats.org/drawingml/2006/main">
              <a:ext uri="{FF2B5EF4-FFF2-40B4-BE49-F238E27FC236}">
                <a16:creationId xmlns:a16="http://schemas.microsoft.com/office/drawing/2014/main" id="{8F6BE322-D196-4164-8806-70D0BB823F05}"/>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result belongs beside its interval, in column K.</a:t>
            </a:r>
          </a:p>
        </p:txBody>
      </p:sp>
      <p:sp>
        <p:nvSpPr>
          <p:cNvPr id="3" name="Text">
            <a:extLst xmlns:a="http://schemas.openxmlformats.org/drawingml/2006/main">
              <a:ext uri="{FF2B5EF4-FFF2-40B4-BE49-F238E27FC236}">
                <a16:creationId xmlns:a16="http://schemas.microsoft.com/office/drawing/2014/main" id="{6CA77A50-05F9-4D9F-971C-A7F5FA7936AA}"/>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6</a:t>
            </a:r>
          </a:p>
        </p:txBody>
      </p:sp>
      <p:sp>
        <p:nvSpPr>
          <p:cNvPr id="4" name="Footer">
            <a:extLst xmlns:a="http://schemas.openxmlformats.org/drawingml/2006/main">
              <a:ext uri="{FF2B5EF4-FFF2-40B4-BE49-F238E27FC236}">
                <a16:creationId xmlns:a16="http://schemas.microsoft.com/office/drawing/2014/main" id="{AD2E600E-D642-4AA0-BD64-C96F62C49159}"/>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Demo: enter the formula in K40. Fill down through K44.</a:t>
            </a:r>
          </a:p>
        </p:txBody>
      </p:sp>
      <p:graphicFrame>
        <p:nvGraphicFramePr>
          <p:cNvPr id="13" name="Table 12"/>
          <p:cNvGraphicFramePr/>
          <p:nvPr/>
        </p:nvGraphicFramePr>
        <p:xfrm>
          <a:off xmlns:a="http://schemas.openxmlformats.org/drawingml/2006/main" x="619125" y="3076575"/>
          <a:ext xmlns:a="http://schemas.openxmlformats.org/drawingml/2006/main" cx="10953750" cy="1314450"/>
        </p:xfrm>
        <a:graphic xmlns:a="http://schemas.openxmlformats.org/drawingml/2006/main">
          <a:graphicData uri="http://schemas.openxmlformats.org/drawingml/2006/table">
            <a:tbl>
              <a:tblPr/>
              <a:tblGrid>
                <a:gridCol w="7381875"/>
                <a:gridCol w="3571875"/>
              </a:tblGrid>
              <a:tr h="509397">
                <a:tc>
                  <a:txBody>
                    <a:bodyPr/>
                    <a:lstStyle/>
                    <a:p>
                      <a:pPr algn="l">
                        <a:buNone/>
                      </a:pPr>
                      <a:r>
                        <a:rPr sz="2550" b="1">
                          <a:solidFill>
                            <a:srgbClr val="FFFFFF"/>
                          </a:solidFill>
                          <a:latin typeface="Aptos"/>
                          <a:ea typeface="Aptos"/>
                          <a:cs typeface="Aptos"/>
                        </a:rPr>
                        <a:t>Demo weights below 20 g</a:t>
                      </a:r>
                    </a:p>
                  </a:txBody>
                  <a:tcPr marL="91440" marR="91440" marT="45720" marB="45720" anchor="ctr">
                    <a:solidFill>
                      <a:srgbClr val="D6171D"/>
                    </a:solidFill>
                  </a:tcPr>
                </a:tc>
                <a:tc>
                  <a:txBody>
                    <a:bodyPr/>
                    <a:lstStyle/>
                    <a:p>
                      <a:pPr algn="ctr">
                        <a:buNone/>
                      </a:pPr>
                      <a:r>
                        <a:rPr sz="2550" b="1">
                          <a:solidFill>
                            <a:srgbClr val="FFFFFF"/>
                          </a:solidFill>
                          <a:latin typeface="Aptos"/>
                          <a:ea typeface="Aptos"/>
                          <a:cs typeface="Aptos"/>
                        </a:rPr>
                        <a:t>Number of meals</a:t>
                      </a:r>
                    </a:p>
                  </a:txBody>
                  <a:tcPr marL="91440" marR="91440" marT="45720" marB="45720" anchor="ctr">
                    <a:solidFill>
                      <a:srgbClr val="D6171D"/>
                    </a:solidFill>
                  </a:tcPr>
                </a:tc>
              </a:tr>
              <a:tr h="805053">
                <a:tc>
                  <a:txBody>
                    <a:bodyPr/>
                    <a:lstStyle/>
                    <a:p>
                      <a:pPr algn="l">
                        <a:buNone/>
                      </a:pPr>
                      <a:r>
                        <a:rPr sz="2550" b="0">
                          <a:solidFill>
                            <a:srgbClr val="111111"/>
                          </a:solidFill>
                          <a:latin typeface="Aptos"/>
                          <a:ea typeface="Aptos"/>
                          <a:cs typeface="Aptos"/>
                        </a:rPr>
                        <a:t>5, 12, 19</a:t>
                      </a:r>
                    </a:p>
                  </a:txBody>
                  <a:tcPr marL="91440" marR="91440" marT="45720" marB="45720" anchor="ctr">
                    <a:solidFill>
                      <a:srgbClr val="FFFFFF"/>
                    </a:solidFill>
                  </a:tcPr>
                </a:tc>
                <a:tc>
                  <a:txBody>
                    <a:bodyPr/>
                    <a:lstStyle/>
                    <a:p>
                      <a:pPr algn="ctr">
                        <a:buNone/>
                      </a:pPr>
                      <a:r>
                        <a:rPr sz="2550" b="0">
                          <a:solidFill>
                            <a:srgbClr val="111111"/>
                          </a:solidFill>
                          <a:latin typeface="Aptos"/>
                          <a:ea typeface="Aptos"/>
                          <a:cs typeface="Aptos"/>
                        </a:rPr>
                        <a:t>3</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74A73FD0-B3AD-46CD-9A28-B7E79B494CA5}"/>
              </a:ext>
            </a:extLst>
          </p:cNvPr>
          <p:cNvSpPr>
            <a:spLocks xmlns:a="http://schemas.openxmlformats.org/drawingml/2006/main" noGrp="1"/>
          </p:cNvSpPr>
          <p:nvPr/>
        </p:nvSpPr>
        <p:spPr>
          <a:xfrm xmlns:a="http://schemas.openxmlformats.org/drawingml/2006/main">
            <a:off x="619125" y="47910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D6171D"/>
                </a:solidFill>
                <a:latin typeface="Aptos"/>
                <a:ea typeface="Aptos"/>
                <a:cs typeface="Aptos"/>
              </a:defRPr>
            </a:pPr>
            <a:r>
              <a:rPr sz="3225" b="1">
                <a:solidFill>
                  <a:srgbClr val="D6171D"/>
                </a:solidFill>
                <a:latin typeface="Aptos"/>
                <a:ea typeface="Aptos"/>
                <a:cs typeface="Aptos"/>
              </a:rPr>
              <a:t>K40 should show 3.</a:t>
            </a:r>
          </a:p>
        </p:txBody>
      </p:sp>
    </p:spTree>
    <p:extLst>
      <p:ext uri="{BB962C8B-B14F-4D97-AF65-F5344CB8AC3E}">
        <p14:creationId xmlns:p14="http://schemas.microsoft.com/office/powerpoint/2010/main" val="202876482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0ADFC2F3-26D3-45F7-8608-1B0D205ABC9B}"/>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the leftover frequency table</a:t>
            </a:r>
          </a:p>
        </p:txBody>
      </p:sp>
      <p:sp>
        <p:nvSpPr>
          <p:cNvPr id="2" name="Lead">
            <a:extLst xmlns:a="http://schemas.openxmlformats.org/drawingml/2006/main">
              <a:ext uri="{FF2B5EF4-FFF2-40B4-BE49-F238E27FC236}">
                <a16:creationId xmlns:a16="http://schemas.microsoft.com/office/drawing/2014/main" id="{4A89B4B3-C82B-438A-BA27-FD058AAB3C21}"/>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On Data, use the same table and the longer raw-data range.</a:t>
            </a:r>
          </a:p>
        </p:txBody>
      </p:sp>
      <p:sp>
        <p:nvSpPr>
          <p:cNvPr id="3" name="Text">
            <a:extLst xmlns:a="http://schemas.openxmlformats.org/drawingml/2006/main">
              <a:ext uri="{FF2B5EF4-FFF2-40B4-BE49-F238E27FC236}">
                <a16:creationId xmlns:a16="http://schemas.microsoft.com/office/drawing/2014/main" id="{8CA626A5-FA5F-45C7-8312-103D46239094}"/>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C4</a:t>
            </a:r>
          </a:p>
        </p:txBody>
      </p:sp>
      <p:sp>
        <p:nvSpPr>
          <p:cNvPr id="4" name="Footer">
            <a:extLst xmlns:a="http://schemas.openxmlformats.org/drawingml/2006/main">
              <a:ext uri="{FF2B5EF4-FFF2-40B4-BE49-F238E27FC236}">
                <a16:creationId xmlns:a16="http://schemas.microsoft.com/office/drawing/2014/main" id="{CCF7DD4A-4496-49F9-8AEA-A730D594DBE5}"/>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K45 = total frequency. In L45, enter =SUM(L40:L44).</a:t>
            </a:r>
          </a:p>
        </p:txBody>
      </p:sp>
      <p:sp>
        <p:nvSpPr>
          <p:cNvPr id="5" name="Text">
            <a:extLst xmlns:a="http://schemas.openxmlformats.org/drawingml/2006/main">
              <a:ext uri="{FF2B5EF4-FFF2-40B4-BE49-F238E27FC236}">
                <a16:creationId xmlns:a16="http://schemas.microsoft.com/office/drawing/2014/main" id="{B462ED76-FB74-48E3-A33B-DAB1B8E5DA20}"/>
              </a:ext>
            </a:extLst>
          </p:cNvPr>
          <p:cNvSpPr>
            <a:spLocks xmlns:a="http://schemas.openxmlformats.org/drawingml/2006/main" noGrp="1"/>
          </p:cNvSpPr>
          <p:nvPr/>
        </p:nvSpPr>
        <p:spPr>
          <a:xfrm xmlns:a="http://schemas.openxmlformats.org/drawingml/2006/main">
            <a:off x="619125" y="2876550"/>
            <a:ext cx="10953750" cy="619125"/>
          </a:xfrm>
          <a:prstGeom xmlns:a="http://schemas.openxmlformats.org/drawingml/2006/main" prst="rect">
            <a:avLst/>
          </a:prstGeom>
          <a:solidFill xmlns:a="http://schemas.openxmlformats.org/drawingml/2006/main">
            <a:srgbClr val="EEF8FE"/>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1">
                <a:solidFill>
                  <a:srgbClr val="111111"/>
                </a:solidFill>
                <a:latin typeface="Aptos"/>
                <a:ea typeface="Aptos"/>
                <a:cs typeface="Aptos"/>
              </a:defRPr>
            </a:pPr>
            <a:r>
              <a:rPr sz="2025" b="1">
                <a:solidFill>
                  <a:srgbClr val="111111"/>
                </a:solidFill>
                <a:latin typeface="Aptos"/>
                <a:ea typeface="Aptos"/>
                <a:cs typeface="Aptos"/>
              </a:rPr>
              <a:t>=COUNTIFS($F$2:$F$301,"&gt;="&amp;H40,$F$2:$F$301,"&lt;"&amp;I40)</a:t>
            </a:r>
          </a:p>
        </p:txBody>
      </p:sp>
      <p:sp>
        <p:nvSpPr>
          <p:cNvPr id="6" name="Text">
            <a:extLst xmlns:a="http://schemas.openxmlformats.org/drawingml/2006/main">
              <a:ext uri="{FF2B5EF4-FFF2-40B4-BE49-F238E27FC236}">
                <a16:creationId xmlns:a16="http://schemas.microsoft.com/office/drawing/2014/main" id="{07187227-07D6-4007-A3E9-A223C6878DD3}"/>
              </a:ext>
            </a:extLst>
          </p:cNvPr>
          <p:cNvSpPr>
            <a:spLocks xmlns:a="http://schemas.openxmlformats.org/drawingml/2006/main" noGrp="1"/>
          </p:cNvSpPr>
          <p:nvPr/>
        </p:nvSpPr>
        <p:spPr>
          <a:xfrm xmlns:a="http://schemas.openxmlformats.org/drawingml/2006/main">
            <a:off x="619125" y="39052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7" name="Text">
            <a:extLst xmlns:a="http://schemas.openxmlformats.org/drawingml/2006/main">
              <a:ext uri="{FF2B5EF4-FFF2-40B4-BE49-F238E27FC236}">
                <a16:creationId xmlns:a16="http://schemas.microsoft.com/office/drawing/2014/main" id="{BF4C001C-D2E6-4D76-A67C-104147E48F73}"/>
              </a:ext>
            </a:extLst>
          </p:cNvPr>
          <p:cNvSpPr>
            <a:spLocks xmlns:a="http://schemas.openxmlformats.org/drawingml/2006/main" noGrp="1"/>
          </p:cNvSpPr>
          <p:nvPr/>
        </p:nvSpPr>
        <p:spPr>
          <a:xfrm xmlns:a="http://schemas.openxmlformats.org/drawingml/2006/main">
            <a:off x="1238250" y="39052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Enter in K40. Copy to K44. Sum the frequencies in K45.</a:t>
            </a:r>
          </a:p>
        </p:txBody>
      </p:sp>
      <p:sp>
        <p:nvSpPr>
          <p:cNvPr id="8" name="Text">
            <a:extLst xmlns:a="http://schemas.openxmlformats.org/drawingml/2006/main">
              <a:ext uri="{FF2B5EF4-FFF2-40B4-BE49-F238E27FC236}">
                <a16:creationId xmlns:a16="http://schemas.microsoft.com/office/drawing/2014/main" id="{4F76FEB9-B4D1-4F03-BA3A-145B4F2F6B26}"/>
              </a:ext>
            </a:extLst>
          </p:cNvPr>
          <p:cNvSpPr>
            <a:spLocks xmlns:a="http://schemas.openxmlformats.org/drawingml/2006/main" noGrp="1"/>
          </p:cNvSpPr>
          <p:nvPr/>
        </p:nvSpPr>
        <p:spPr>
          <a:xfrm xmlns:a="http://schemas.openxmlformats.org/drawingml/2006/main">
            <a:off x="619125" y="48101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9" name="Text">
            <a:extLst xmlns:a="http://schemas.openxmlformats.org/drawingml/2006/main">
              <a:ext uri="{FF2B5EF4-FFF2-40B4-BE49-F238E27FC236}">
                <a16:creationId xmlns:a16="http://schemas.microsoft.com/office/drawing/2014/main" id="{E24EBA10-82A2-443A-83CE-9F54C7D7EBB1}"/>
              </a:ext>
            </a:extLst>
          </p:cNvPr>
          <p:cNvSpPr>
            <a:spLocks xmlns:a="http://schemas.openxmlformats.org/drawingml/2006/main" noGrp="1"/>
          </p:cNvSpPr>
          <p:nvPr/>
        </p:nvSpPr>
        <p:spPr>
          <a:xfrm xmlns:a="http://schemas.openxmlformats.org/drawingml/2006/main">
            <a:off x="1238250" y="48101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Use =K40/$K$45 in L40. Copy down and format as percentages.</a:t>
            </a:r>
          </a:p>
        </p:txBody>
      </p:sp>
    </p:spTree>
    <p:extLst>
      <p:ext uri="{BB962C8B-B14F-4D97-AF65-F5344CB8AC3E}">
        <p14:creationId xmlns:p14="http://schemas.microsoft.com/office/powerpoint/2010/main" val="147086079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C2E47D07-E3AF-4BE8-AF74-8E92DF93D182}"/>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Leftover frequencies: check</a:t>
            </a:r>
          </a:p>
        </p:txBody>
      </p:sp>
      <p:sp>
        <p:nvSpPr>
          <p:cNvPr id="2" name="Lead">
            <a:extLst xmlns:a="http://schemas.openxmlformats.org/drawingml/2006/main">
              <a:ext uri="{FF2B5EF4-FFF2-40B4-BE49-F238E27FC236}">
                <a16:creationId xmlns:a16="http://schemas.microsoft.com/office/drawing/2014/main" id="{96182937-E7FD-42F6-87E5-D0EBF0F5C472}"/>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five classes together contain all 300 meals.</a:t>
            </a:r>
          </a:p>
        </p:txBody>
      </p:sp>
      <p:sp>
        <p:nvSpPr>
          <p:cNvPr id="3" name="Text">
            <a:extLst xmlns:a="http://schemas.openxmlformats.org/drawingml/2006/main">
              <a:ext uri="{FF2B5EF4-FFF2-40B4-BE49-F238E27FC236}">
                <a16:creationId xmlns:a16="http://schemas.microsoft.com/office/drawing/2014/main" id="{D3DE8E94-0C26-4BDC-B186-DF41EAA0A3CC}"/>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C4</a:t>
            </a:r>
          </a:p>
        </p:txBody>
      </p:sp>
      <p:sp>
        <p:nvSpPr>
          <p:cNvPr id="4" name="Footer">
            <a:extLst xmlns:a="http://schemas.openxmlformats.org/drawingml/2006/main">
              <a:ext uri="{FF2B5EF4-FFF2-40B4-BE49-F238E27FC236}">
                <a16:creationId xmlns:a16="http://schemas.microsoft.com/office/drawing/2014/main" id="{145BC6F6-FE02-4063-B64C-1A584FD3C1D5}"/>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Displayed shares total 100.1% after rounding. The unrounded total is 100%.</a:t>
            </a:r>
          </a:p>
        </p:txBody>
      </p:sp>
      <p:graphicFrame>
        <p:nvGraphicFramePr>
          <p:cNvPr id="12" name="Table 11"/>
          <p:cNvGraphicFramePr/>
          <p:nvPr/>
        </p:nvGraphicFramePr>
        <p:xfrm>
          <a:off xmlns:a="http://schemas.openxmlformats.org/drawingml/2006/main" x="619125" y="2828925"/>
          <a:ext xmlns:a="http://schemas.openxmlformats.org/drawingml/2006/main" cx="10953750" cy="2981325"/>
        </p:xfrm>
        <a:graphic xmlns:a="http://schemas.openxmlformats.org/drawingml/2006/main">
          <a:graphicData uri="http://schemas.openxmlformats.org/drawingml/2006/table">
            <a:tbl>
              <a:tblPr/>
              <a:tblGrid>
                <a:gridCol w="5715000"/>
                <a:gridCol w="2619375"/>
                <a:gridCol w="2619375"/>
              </a:tblGrid>
              <a:tr h="451295">
                <a:tc>
                  <a:txBody>
                    <a:bodyPr/>
                    <a:lstStyle/>
                    <a:p>
                      <a:pPr algn="l">
                        <a:buNone/>
                      </a:pPr>
                      <a:r>
                        <a:rPr sz="2175" b="1">
                          <a:solidFill>
                            <a:srgbClr val="FFFFFF"/>
                          </a:solidFill>
                          <a:latin typeface="Aptos"/>
                          <a:ea typeface="Aptos"/>
                          <a:cs typeface="Aptos"/>
                        </a:rPr>
                        <a:t>Leftover food per meal</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Frequency</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Share</a:t>
                      </a:r>
                    </a:p>
                  </a:txBody>
                  <a:tcPr marL="91440" marR="91440" marT="45720" marB="45720" anchor="ctr">
                    <a:solidFill>
                      <a:srgbClr val="D6171D"/>
                    </a:solidFill>
                  </a:tcPr>
                </a:tc>
              </a:tr>
              <a:tr h="421672">
                <a:tc>
                  <a:txBody>
                    <a:bodyPr/>
                    <a:lstStyle/>
                    <a:p>
                      <a:pPr algn="l">
                        <a:buNone/>
                      </a:pPr>
                      <a:r>
                        <a:rPr sz="2175" b="0">
                          <a:solidFill>
                            <a:srgbClr val="111111"/>
                          </a:solidFill>
                          <a:latin typeface="Aptos"/>
                          <a:ea typeface="Aptos"/>
                          <a:cs typeface="Aptos"/>
                        </a:rPr>
                        <a:t>0 ≤ x &lt; 20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41</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13.7%</a:t>
                      </a:r>
                    </a:p>
                  </a:txBody>
                  <a:tcPr marL="91440" marR="91440" marT="45720" marB="45720" anchor="ctr">
                    <a:solidFill>
                      <a:srgbClr val="FFFFFF"/>
                    </a:solidFill>
                  </a:tcPr>
                </a:tc>
              </a:tr>
              <a:tr h="421672">
                <a:tc>
                  <a:txBody>
                    <a:bodyPr/>
                    <a:lstStyle/>
                    <a:p>
                      <a:pPr algn="l">
                        <a:buNone/>
                      </a:pPr>
                      <a:r>
                        <a:rPr sz="2175" b="0">
                          <a:solidFill>
                            <a:srgbClr val="111111"/>
                          </a:solidFill>
                          <a:latin typeface="Aptos"/>
                          <a:ea typeface="Aptos"/>
                          <a:cs typeface="Aptos"/>
                        </a:rPr>
                        <a:t>20 ≤ x &lt; 40</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92</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30.7%</a:t>
                      </a:r>
                    </a:p>
                  </a:txBody>
                  <a:tcPr marL="91440" marR="91440" marT="45720" marB="45720" anchor="ctr">
                    <a:solidFill>
                      <a:srgbClr val="EEF8FE"/>
                    </a:solidFill>
                  </a:tcPr>
                </a:tc>
              </a:tr>
              <a:tr h="421672">
                <a:tc>
                  <a:txBody>
                    <a:bodyPr/>
                    <a:lstStyle/>
                    <a:p>
                      <a:pPr algn="l">
                        <a:buNone/>
                      </a:pPr>
                      <a:r>
                        <a:rPr sz="2175" b="0">
                          <a:solidFill>
                            <a:srgbClr val="111111"/>
                          </a:solidFill>
                          <a:latin typeface="Aptos"/>
                          <a:ea typeface="Aptos"/>
                          <a:cs typeface="Aptos"/>
                        </a:rPr>
                        <a:t>40 ≤ x &lt; 60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99</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33.0%</a:t>
                      </a:r>
                    </a:p>
                  </a:txBody>
                  <a:tcPr marL="91440" marR="91440" marT="45720" marB="45720" anchor="ctr">
                    <a:solidFill>
                      <a:srgbClr val="FFFFFF"/>
                    </a:solidFill>
                  </a:tcPr>
                </a:tc>
              </a:tr>
              <a:tr h="421672">
                <a:tc>
                  <a:txBody>
                    <a:bodyPr/>
                    <a:lstStyle/>
                    <a:p>
                      <a:pPr algn="l">
                        <a:buNone/>
                      </a:pPr>
                      <a:r>
                        <a:rPr sz="2175" b="0">
                          <a:solidFill>
                            <a:srgbClr val="111111"/>
                          </a:solidFill>
                          <a:latin typeface="Aptos"/>
                          <a:ea typeface="Aptos"/>
                          <a:cs typeface="Aptos"/>
                        </a:rPr>
                        <a:t>60 ≤ x &lt; 80</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53</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17.7%</a:t>
                      </a:r>
                    </a:p>
                  </a:txBody>
                  <a:tcPr marL="91440" marR="91440" marT="45720" marB="45720" anchor="ctr">
                    <a:solidFill>
                      <a:srgbClr val="EEF8FE"/>
                    </a:solidFill>
                  </a:tcPr>
                </a:tc>
              </a:tr>
              <a:tr h="421672">
                <a:tc>
                  <a:txBody>
                    <a:bodyPr/>
                    <a:lstStyle/>
                    <a:p>
                      <a:pPr algn="l">
                        <a:buNone/>
                      </a:pPr>
                      <a:r>
                        <a:rPr sz="2175" b="0">
                          <a:solidFill>
                            <a:srgbClr val="111111"/>
                          </a:solidFill>
                          <a:latin typeface="Aptos"/>
                          <a:ea typeface="Aptos"/>
                          <a:cs typeface="Aptos"/>
                        </a:rPr>
                        <a:t>80 ≤ x &lt; 100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15</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5.0%</a:t>
                      </a:r>
                    </a:p>
                  </a:txBody>
                  <a:tcPr marL="91440" marR="91440" marT="45720" marB="45720" anchor="ctr">
                    <a:solidFill>
                      <a:srgbClr val="FFFFFF"/>
                    </a:solidFill>
                  </a:tcPr>
                </a:tc>
              </a:tr>
              <a:tr h="421672">
                <a:tc>
                  <a:txBody>
                    <a:bodyPr/>
                    <a:lstStyle/>
                    <a:p>
                      <a:pPr algn="l">
                        <a:buNone/>
                      </a:pPr>
                      <a:r>
                        <a:rPr sz="2175" b="0">
                          <a:solidFill>
                            <a:srgbClr val="111111"/>
                          </a:solidFill>
                          <a:latin typeface="Aptos"/>
                          <a:ea typeface="Aptos"/>
                          <a:cs typeface="Aptos"/>
                        </a:rPr>
                        <a:t>Total</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300</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100%</a:t>
                      </a:r>
                    </a:p>
                  </a:txBody>
                  <a:tcPr marL="91440" marR="91440" marT="45720" marB="45720" anchor="ctr">
                    <a:solidFill>
                      <a:srgbClr val="EEF8FE"/>
                    </a:solidFill>
                  </a:tcPr>
                </a:tc>
              </a:tr>
            </a:tbl>
          </a:graphicData>
        </a:graphic>
      </p:graphicFrame>
    </p:spTree>
    <p:extLst>
      <p:ext uri="{BB962C8B-B14F-4D97-AF65-F5344CB8AC3E}">
        <p14:creationId xmlns:p14="http://schemas.microsoft.com/office/powerpoint/2010/main" val="95172100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6771B5D9-2B1D-4EF3-93EA-851ADE234A0D}"/>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7: build the histogram</a:t>
            </a:r>
          </a:p>
        </p:txBody>
      </p:sp>
      <p:sp>
        <p:nvSpPr>
          <p:cNvPr id="2" name="Lead">
            <a:extLst xmlns:a="http://schemas.openxmlformats.org/drawingml/2006/main">
              <a:ext uri="{FF2B5EF4-FFF2-40B4-BE49-F238E27FC236}">
                <a16:creationId xmlns:a16="http://schemas.microsoft.com/office/drawing/2014/main" id="{FD731F86-741A-48E0-BCE4-D8DD448504EE}"/>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interval table on the 20-meal Demo sheet.</a:t>
            </a:r>
          </a:p>
        </p:txBody>
      </p:sp>
      <p:sp>
        <p:nvSpPr>
          <p:cNvPr id="3" name="Text">
            <a:extLst xmlns:a="http://schemas.openxmlformats.org/drawingml/2006/main">
              <a:ext uri="{FF2B5EF4-FFF2-40B4-BE49-F238E27FC236}">
                <a16:creationId xmlns:a16="http://schemas.microsoft.com/office/drawing/2014/main" id="{C59C10AC-1A2A-4AAC-B327-82071EFA0190}"/>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7</a:t>
            </a:r>
          </a:p>
        </p:txBody>
      </p:sp>
      <p:sp>
        <p:nvSpPr>
          <p:cNvPr id="4" name="Footer">
            <a:extLst xmlns:a="http://schemas.openxmlformats.org/drawingml/2006/main">
              <a:ext uri="{FF2B5EF4-FFF2-40B4-BE49-F238E27FC236}">
                <a16:creationId xmlns:a16="http://schemas.microsoft.com/office/drawing/2014/main" id="{A3197F2A-F0EF-400E-9965-7B7B9826F8A8}"/>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Demo: select J39:K44. Place the chart in the space beginning at H54.</a:t>
            </a:r>
          </a:p>
        </p:txBody>
      </p:sp>
      <p:sp>
        <p:nvSpPr>
          <p:cNvPr id="5" name="Text">
            <a:extLst xmlns:a="http://schemas.openxmlformats.org/drawingml/2006/main">
              <a:ext uri="{FF2B5EF4-FFF2-40B4-BE49-F238E27FC236}">
                <a16:creationId xmlns:a16="http://schemas.microsoft.com/office/drawing/2014/main" id="{651A259B-B518-42B8-A7D6-B3BFF8CA0ABA}"/>
              </a:ext>
            </a:extLst>
          </p:cNvPr>
          <p:cNvSpPr>
            <a:spLocks xmlns:a="http://schemas.openxmlformats.org/drawingml/2006/main" noGrp="1"/>
          </p:cNvSpPr>
          <p:nvPr/>
        </p:nvSpPr>
        <p:spPr>
          <a:xfrm xmlns:a="http://schemas.openxmlformats.org/drawingml/2006/main">
            <a:off x="619125" y="29432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98A01042-EE82-479B-8BA1-22DA65F081BA}"/>
              </a:ext>
            </a:extLst>
          </p:cNvPr>
          <p:cNvSpPr>
            <a:spLocks xmlns:a="http://schemas.openxmlformats.org/drawingml/2006/main" noGrp="1"/>
          </p:cNvSpPr>
          <p:nvPr/>
        </p:nvSpPr>
        <p:spPr>
          <a:xfrm xmlns:a="http://schemas.openxmlformats.org/drawingml/2006/main">
            <a:off x="1238250" y="29432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Select intervals and frequencies.</a:t>
            </a:r>
          </a:p>
        </p:txBody>
      </p:sp>
      <p:sp>
        <p:nvSpPr>
          <p:cNvPr id="7" name="Text">
            <a:extLst xmlns:a="http://schemas.openxmlformats.org/drawingml/2006/main">
              <a:ext uri="{FF2B5EF4-FFF2-40B4-BE49-F238E27FC236}">
                <a16:creationId xmlns:a16="http://schemas.microsoft.com/office/drawing/2014/main" id="{6F63D2BA-EF31-4266-8C1B-C8CF1F08A043}"/>
              </a:ext>
            </a:extLst>
          </p:cNvPr>
          <p:cNvSpPr>
            <a:spLocks xmlns:a="http://schemas.openxmlformats.org/drawingml/2006/main" noGrp="1"/>
          </p:cNvSpPr>
          <p:nvPr/>
        </p:nvSpPr>
        <p:spPr>
          <a:xfrm xmlns:a="http://schemas.openxmlformats.org/drawingml/2006/main">
            <a:off x="619125" y="38766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590CA2AC-39B5-4F61-8EE8-0191BDC0D1CF}"/>
              </a:ext>
            </a:extLst>
          </p:cNvPr>
          <p:cNvSpPr>
            <a:spLocks xmlns:a="http://schemas.openxmlformats.org/drawingml/2006/main" noGrp="1"/>
          </p:cNvSpPr>
          <p:nvPr/>
        </p:nvSpPr>
        <p:spPr>
          <a:xfrm xmlns:a="http://schemas.openxmlformats.org/drawingml/2006/main">
            <a:off x="1238250" y="387667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Insert a 2-D column chart.</a:t>
            </a:r>
          </a:p>
        </p:txBody>
      </p:sp>
      <p:sp>
        <p:nvSpPr>
          <p:cNvPr id="9" name="Text">
            <a:extLst xmlns:a="http://schemas.openxmlformats.org/drawingml/2006/main">
              <a:ext uri="{FF2B5EF4-FFF2-40B4-BE49-F238E27FC236}">
                <a16:creationId xmlns:a16="http://schemas.microsoft.com/office/drawing/2014/main" id="{117A9CC8-CB96-41E3-B576-917540123E78}"/>
              </a:ext>
            </a:extLst>
          </p:cNvPr>
          <p:cNvSpPr>
            <a:spLocks xmlns:a="http://schemas.openxmlformats.org/drawingml/2006/main" noGrp="1"/>
          </p:cNvSpPr>
          <p:nvPr/>
        </p:nvSpPr>
        <p:spPr>
          <a:xfrm xmlns:a="http://schemas.openxmlformats.org/drawingml/2006/main">
            <a:off x="619125" y="48101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7F2A3D41-6848-46A1-85DF-754F0757D338}"/>
              </a:ext>
            </a:extLst>
          </p:cNvPr>
          <p:cNvSpPr>
            <a:spLocks xmlns:a="http://schemas.openxmlformats.org/drawingml/2006/main" noGrp="1"/>
          </p:cNvSpPr>
          <p:nvPr/>
        </p:nvSpPr>
        <p:spPr>
          <a:xfrm xmlns:a="http://schemas.openxmlformats.org/drawingml/2006/main">
            <a:off x="1238250" y="48101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Set Gap Width to 0%. Label axes.</a:t>
            </a:r>
          </a:p>
        </p:txBody>
      </p:sp>
      <p:graphicFrame>
        <p:nvGraphicFramePr>
          <p:cNvPr id="24" name="Chart"/>
          <p:cNvGraphicFramePr/>
          <p:nvPr/>
        </p:nvGraphicFramePr>
        <p:xfrm>
          <a:off xmlns:a="http://schemas.openxmlformats.org/drawingml/2006/main" x="6381750" y="2886075"/>
          <a:ext xmlns:a="http://schemas.openxmlformats.org/drawingml/2006/main" cx="5191125" cy="2867025"/>
        </p:xfrm>
        <a:graphic xmlns:a="http://schemas.openxmlformats.org/drawingml/2006/main">
          <a:graphicData uri="http://schemas.openxmlformats.org/drawingml/2006/chart">
            <c:chart xmlns:r="http://schemas.openxmlformats.org/officeDocument/2006/relationships" xmlns:c="http://schemas.openxmlformats.org/drawingml/2006/chart" r:id="R5caa787218da4871"/>
          </a:graphicData>
        </a:graphic>
      </p:graphicFrame>
    </p:spTree>
    <p:extLst>
      <p:ext uri="{BB962C8B-B14F-4D97-AF65-F5344CB8AC3E}">
        <p14:creationId xmlns:p14="http://schemas.microsoft.com/office/powerpoint/2010/main" val="83610642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534BE0DF-2E65-4E91-A1A2-5D1EFB356DDC}"/>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the histogram</a:t>
            </a:r>
          </a:p>
        </p:txBody>
      </p:sp>
      <p:sp>
        <p:nvSpPr>
          <p:cNvPr id="2" name="Lead">
            <a:extLst xmlns:a="http://schemas.openxmlformats.org/drawingml/2006/main">
              <a:ext uri="{FF2B5EF4-FFF2-40B4-BE49-F238E27FC236}">
                <a16:creationId xmlns:a16="http://schemas.microsoft.com/office/drawing/2014/main" id="{E468828C-B38F-4EF7-B8D8-26B4F5B59C56}"/>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Complete the chart below your interval table on Data.</a:t>
            </a:r>
          </a:p>
        </p:txBody>
      </p:sp>
      <p:sp>
        <p:nvSpPr>
          <p:cNvPr id="3" name="Text">
            <a:extLst xmlns:a="http://schemas.openxmlformats.org/drawingml/2006/main">
              <a:ext uri="{FF2B5EF4-FFF2-40B4-BE49-F238E27FC236}">
                <a16:creationId xmlns:a16="http://schemas.microsoft.com/office/drawing/2014/main" id="{E72C4075-A2CD-46ED-ACFB-5F97018D9C5E}"/>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C4</a:t>
            </a:r>
          </a:p>
        </p:txBody>
      </p:sp>
      <p:sp>
        <p:nvSpPr>
          <p:cNvPr id="4" name="Footer">
            <a:extLst xmlns:a="http://schemas.openxmlformats.org/drawingml/2006/main">
              <a:ext uri="{FF2B5EF4-FFF2-40B4-BE49-F238E27FC236}">
                <a16:creationId xmlns:a16="http://schemas.microsoft.com/office/drawing/2014/main" id="{CC28154C-3E09-4721-AF2F-9FF944E4A1A6}"/>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Data: select J39:K44. Keep the total row outside the chart.</a:t>
            </a:r>
          </a:p>
        </p:txBody>
      </p:sp>
      <p:sp>
        <p:nvSpPr>
          <p:cNvPr id="5" name="Text">
            <a:extLst xmlns:a="http://schemas.openxmlformats.org/drawingml/2006/main">
              <a:ext uri="{FF2B5EF4-FFF2-40B4-BE49-F238E27FC236}">
                <a16:creationId xmlns:a16="http://schemas.microsoft.com/office/drawing/2014/main" id="{451C792B-23CA-44FA-AAB5-1A34F342C57F}"/>
              </a:ext>
            </a:extLst>
          </p:cNvPr>
          <p:cNvSpPr>
            <a:spLocks xmlns:a="http://schemas.openxmlformats.org/drawingml/2006/main" noGrp="1"/>
          </p:cNvSpPr>
          <p:nvPr/>
        </p:nvSpPr>
        <p:spPr>
          <a:xfrm xmlns:a="http://schemas.openxmlformats.org/drawingml/2006/main">
            <a:off x="619125" y="29527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4AE35AD2-A62E-4EC6-9AA2-968F655B48C8}"/>
              </a:ext>
            </a:extLst>
          </p:cNvPr>
          <p:cNvSpPr>
            <a:spLocks xmlns:a="http://schemas.openxmlformats.org/drawingml/2006/main" noGrp="1"/>
          </p:cNvSpPr>
          <p:nvPr/>
        </p:nvSpPr>
        <p:spPr>
          <a:xfrm xmlns:a="http://schemas.openxmlformats.org/drawingml/2006/main">
            <a:off x="1238250" y="29527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Select J39:K44 and insert a column chart.</a:t>
            </a:r>
          </a:p>
        </p:txBody>
      </p:sp>
      <p:sp>
        <p:nvSpPr>
          <p:cNvPr id="7" name="Text">
            <a:extLst xmlns:a="http://schemas.openxmlformats.org/drawingml/2006/main">
              <a:ext uri="{FF2B5EF4-FFF2-40B4-BE49-F238E27FC236}">
                <a16:creationId xmlns:a16="http://schemas.microsoft.com/office/drawing/2014/main" id="{A91F8F74-AC68-4A87-BCA5-61E91A2D7936}"/>
              </a:ext>
            </a:extLst>
          </p:cNvPr>
          <p:cNvSpPr>
            <a:spLocks xmlns:a="http://schemas.openxmlformats.org/drawingml/2006/main" noGrp="1"/>
          </p:cNvSpPr>
          <p:nvPr/>
        </p:nvSpPr>
        <p:spPr>
          <a:xfrm xmlns:a="http://schemas.openxmlformats.org/drawingml/2006/main">
            <a:off x="619125" y="38576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BFB68BD3-28BB-4E23-9345-90029CC18945}"/>
              </a:ext>
            </a:extLst>
          </p:cNvPr>
          <p:cNvSpPr>
            <a:spLocks xmlns:a="http://schemas.openxmlformats.org/drawingml/2006/main" noGrp="1"/>
          </p:cNvSpPr>
          <p:nvPr/>
        </p:nvSpPr>
        <p:spPr>
          <a:xfrm xmlns:a="http://schemas.openxmlformats.org/drawingml/2006/main">
            <a:off x="1238250" y="38576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Set Gap Width to 0%. Place the chart below the table.</a:t>
            </a:r>
          </a:p>
        </p:txBody>
      </p:sp>
      <p:sp>
        <p:nvSpPr>
          <p:cNvPr id="9" name="Text">
            <a:extLst xmlns:a="http://schemas.openxmlformats.org/drawingml/2006/main">
              <a:ext uri="{FF2B5EF4-FFF2-40B4-BE49-F238E27FC236}">
                <a16:creationId xmlns:a16="http://schemas.microsoft.com/office/drawing/2014/main" id="{A64F607B-2897-45AC-9AC1-44AF6B58866C}"/>
              </a:ext>
            </a:extLst>
          </p:cNvPr>
          <p:cNvSpPr>
            <a:spLocks xmlns:a="http://schemas.openxmlformats.org/drawingml/2006/main" noGrp="1"/>
          </p:cNvSpPr>
          <p:nvPr/>
        </p:nvSpPr>
        <p:spPr>
          <a:xfrm xmlns:a="http://schemas.openxmlformats.org/drawingml/2006/main">
            <a:off x="619125" y="47625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D7E0B3A6-0716-4BEF-AE1F-79CD4563AFD8}"/>
              </a:ext>
            </a:extLst>
          </p:cNvPr>
          <p:cNvSpPr>
            <a:spLocks xmlns:a="http://schemas.openxmlformats.org/drawingml/2006/main" noGrp="1"/>
          </p:cNvSpPr>
          <p:nvPr/>
        </p:nvSpPr>
        <p:spPr>
          <a:xfrm xmlns:a="http://schemas.openxmlformats.org/drawingml/2006/main">
            <a:off x="1238250" y="476250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Label X with grams per meal and Y with number of meals.</a:t>
            </a:r>
          </a:p>
        </p:txBody>
      </p:sp>
    </p:spTree>
    <p:extLst>
      <p:ext uri="{BB962C8B-B14F-4D97-AF65-F5344CB8AC3E}">
        <p14:creationId xmlns:p14="http://schemas.microsoft.com/office/powerpoint/2010/main" val="614716251"/>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F37A426C-2390-4A83-BA24-0C9F3E593734}"/>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can your histogram tell you?</a:t>
            </a:r>
          </a:p>
        </p:txBody>
      </p:sp>
      <p:sp>
        <p:nvSpPr>
          <p:cNvPr id="2" name="Lead">
            <a:extLst xmlns:a="http://schemas.openxmlformats.org/drawingml/2006/main">
              <a:ext uri="{FF2B5EF4-FFF2-40B4-BE49-F238E27FC236}">
                <a16:creationId xmlns:a16="http://schemas.microsoft.com/office/drawing/2014/main" id="{D3651999-C218-4385-8179-6AB075CE3E5B}"/>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table and graph to answer two questions.</a:t>
            </a:r>
          </a:p>
        </p:txBody>
      </p:sp>
      <p:sp>
        <p:nvSpPr>
          <p:cNvPr id="3" name="Text">
            <a:extLst xmlns:a="http://schemas.openxmlformats.org/drawingml/2006/main">
              <a:ext uri="{FF2B5EF4-FFF2-40B4-BE49-F238E27FC236}">
                <a16:creationId xmlns:a16="http://schemas.microsoft.com/office/drawing/2014/main" id="{A8C11ED5-9DF0-4E1A-A516-61B75103ED78}"/>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C4</a:t>
            </a:r>
          </a:p>
        </p:txBody>
      </p:sp>
      <p:sp>
        <p:nvSpPr>
          <p:cNvPr id="4" name="Footer">
            <a:extLst xmlns:a="http://schemas.openxmlformats.org/drawingml/2006/main">
              <a:ext uri="{FF2B5EF4-FFF2-40B4-BE49-F238E27FC236}">
                <a16:creationId xmlns:a16="http://schemas.microsoft.com/office/drawing/2014/main" id="{3BDCF949-FBB5-4105-B928-EFB9CA76A200}"/>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Use the question table in rows 48–49, columns H:J, on Data.</a:t>
            </a:r>
          </a:p>
        </p:txBody>
      </p:sp>
      <p:sp>
        <p:nvSpPr>
          <p:cNvPr id="5" name="Text">
            <a:extLst xmlns:a="http://schemas.openxmlformats.org/drawingml/2006/main">
              <a:ext uri="{FF2B5EF4-FFF2-40B4-BE49-F238E27FC236}">
                <a16:creationId xmlns:a16="http://schemas.microsoft.com/office/drawing/2014/main" id="{E8B5E86B-CAB0-426A-B8C1-08FA4F1A2E12}"/>
              </a:ext>
            </a:extLst>
          </p:cNvPr>
          <p:cNvSpPr>
            <a:spLocks xmlns:a="http://schemas.openxmlformats.org/drawingml/2006/main" noGrp="1"/>
          </p:cNvSpPr>
          <p:nvPr/>
        </p:nvSpPr>
        <p:spPr>
          <a:xfrm xmlns:a="http://schemas.openxmlformats.org/drawingml/2006/main">
            <a:off x="619125" y="31242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BC078378-D5DD-4445-9A96-3C6F2D633880}"/>
              </a:ext>
            </a:extLst>
          </p:cNvPr>
          <p:cNvSpPr>
            <a:spLocks xmlns:a="http://schemas.openxmlformats.org/drawingml/2006/main" noGrp="1"/>
          </p:cNvSpPr>
          <p:nvPr/>
        </p:nvSpPr>
        <p:spPr>
          <a:xfrm xmlns:a="http://schemas.openxmlformats.org/drawingml/2006/main">
            <a:off x="1238250" y="312420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How many meals left below 40 g? What percentage is that?</a:t>
            </a:r>
          </a:p>
        </p:txBody>
      </p:sp>
      <p:sp>
        <p:nvSpPr>
          <p:cNvPr id="7" name="Text">
            <a:extLst xmlns:a="http://schemas.openxmlformats.org/drawingml/2006/main">
              <a:ext uri="{FF2B5EF4-FFF2-40B4-BE49-F238E27FC236}">
                <a16:creationId xmlns:a16="http://schemas.microsoft.com/office/drawing/2014/main" id="{288F7928-CF45-46F9-823E-00D96CF7AFD3}"/>
              </a:ext>
            </a:extLst>
          </p:cNvPr>
          <p:cNvSpPr>
            <a:spLocks xmlns:a="http://schemas.openxmlformats.org/drawingml/2006/main" noGrp="1"/>
          </p:cNvSpPr>
          <p:nvPr/>
        </p:nvSpPr>
        <p:spPr>
          <a:xfrm xmlns:a="http://schemas.openxmlformats.org/drawingml/2006/main">
            <a:off x="619125" y="43815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6347F03A-4E1F-41AA-9EBE-79712E319227}"/>
              </a:ext>
            </a:extLst>
          </p:cNvPr>
          <p:cNvSpPr>
            <a:spLocks xmlns:a="http://schemas.openxmlformats.org/drawingml/2006/main" noGrp="1"/>
          </p:cNvSpPr>
          <p:nvPr/>
        </p:nvSpPr>
        <p:spPr>
          <a:xfrm xmlns:a="http://schemas.openxmlformats.org/drawingml/2006/main">
            <a:off x="1238250" y="438150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How many left at least 60 g? What percentage is that?</a:t>
            </a:r>
          </a:p>
        </p:txBody>
      </p:sp>
    </p:spTree>
    <p:extLst>
      <p:ext uri="{BB962C8B-B14F-4D97-AF65-F5344CB8AC3E}">
        <p14:creationId xmlns:p14="http://schemas.microsoft.com/office/powerpoint/2010/main" val="109173239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A4960226-73C7-4C5D-B247-F818DA076FBE}"/>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Histogram: read and check</a:t>
            </a:r>
          </a:p>
        </p:txBody>
      </p:sp>
      <p:sp>
        <p:nvSpPr>
          <p:cNvPr id="2" name="Lead">
            <a:extLst xmlns:a="http://schemas.openxmlformats.org/drawingml/2006/main">
              <a:ext uri="{FF2B5EF4-FFF2-40B4-BE49-F238E27FC236}">
                <a16:creationId xmlns:a16="http://schemas.microsoft.com/office/drawing/2014/main" id="{EACDBB15-9876-41D4-8479-0DF17651CFB4}"/>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Frequency counts meals. The horizontal axis measures grams per meal.</a:t>
            </a:r>
          </a:p>
        </p:txBody>
      </p:sp>
      <p:sp>
        <p:nvSpPr>
          <p:cNvPr id="3" name="Text">
            <a:extLst xmlns:a="http://schemas.openxmlformats.org/drawingml/2006/main">
              <a:ext uri="{FF2B5EF4-FFF2-40B4-BE49-F238E27FC236}">
                <a16:creationId xmlns:a16="http://schemas.microsoft.com/office/drawing/2014/main" id="{C96E5853-07BA-4A17-8CAF-139B0A1076A8}"/>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C4</a:t>
            </a:r>
          </a:p>
        </p:txBody>
      </p:sp>
      <p:sp>
        <p:nvSpPr>
          <p:cNvPr id="4" name="Footer">
            <a:extLst xmlns:a="http://schemas.openxmlformats.org/drawingml/2006/main">
              <a:ext uri="{FF2B5EF4-FFF2-40B4-BE49-F238E27FC236}">
                <a16:creationId xmlns:a16="http://schemas.microsoft.com/office/drawing/2014/main" id="{9A2A065C-6730-4716-966E-FDD8F8FFF883}"/>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table gives exact counts at class boundaries. Original weights remain in column F.</a:t>
            </a:r>
          </a:p>
        </p:txBody>
      </p:sp>
      <p:graphicFrame>
        <p:nvGraphicFramePr>
          <p:cNvPr id="14" name="Chart"/>
          <p:cNvGraphicFramePr/>
          <p:nvPr/>
        </p:nvGraphicFramePr>
        <p:xfrm>
          <a:off xmlns:a="http://schemas.openxmlformats.org/drawingml/2006/main" x="619125" y="2857500"/>
          <a:ext xmlns:a="http://schemas.openxmlformats.org/drawingml/2006/main" cx="6858000" cy="2952750"/>
        </p:xfrm>
        <a:graphic xmlns:a="http://schemas.openxmlformats.org/drawingml/2006/main">
          <a:graphicData uri="http://schemas.openxmlformats.org/drawingml/2006/chart">
            <c:chart xmlns:r="http://schemas.openxmlformats.org/officeDocument/2006/relationships" xmlns:c="http://schemas.openxmlformats.org/drawingml/2006/chart" r:id="Rca6e28601f6541ff"/>
          </a:graphicData>
        </a:graphic>
      </p:graphicFrame>
      <p:sp>
        <p:nvSpPr>
          <p:cNvPr id="6" name="Text">
            <a:extLst xmlns:a="http://schemas.openxmlformats.org/drawingml/2006/main">
              <a:ext uri="{FF2B5EF4-FFF2-40B4-BE49-F238E27FC236}">
                <a16:creationId xmlns:a16="http://schemas.microsoft.com/office/drawing/2014/main" id="{B1FF8E16-F4AC-410C-A08C-6AF5671F73B3}"/>
              </a:ext>
            </a:extLst>
          </p:cNvPr>
          <p:cNvSpPr>
            <a:spLocks xmlns:a="http://schemas.openxmlformats.org/drawingml/2006/main" noGrp="1"/>
          </p:cNvSpPr>
          <p:nvPr/>
        </p:nvSpPr>
        <p:spPr>
          <a:xfrm xmlns:a="http://schemas.openxmlformats.org/drawingml/2006/main">
            <a:off x="7858125" y="2943225"/>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Below 40 g:</a:t>
            </a:r>
          </a:p>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41 + 92 = 133 meals</a:t>
            </a:r>
          </a:p>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44.3% of meals</a:t>
            </a:r>
          </a:p>
        </p:txBody>
      </p:sp>
      <p:sp>
        <p:nvSpPr>
          <p:cNvPr id="7" name="Text">
            <a:extLst xmlns:a="http://schemas.openxmlformats.org/drawingml/2006/main">
              <a:ext uri="{FF2B5EF4-FFF2-40B4-BE49-F238E27FC236}">
                <a16:creationId xmlns:a16="http://schemas.microsoft.com/office/drawing/2014/main" id="{3F0DE889-10FE-4554-A690-FADD9D840A40}"/>
              </a:ext>
            </a:extLst>
          </p:cNvPr>
          <p:cNvSpPr>
            <a:spLocks xmlns:a="http://schemas.openxmlformats.org/drawingml/2006/main" noGrp="1"/>
          </p:cNvSpPr>
          <p:nvPr/>
        </p:nvSpPr>
        <p:spPr>
          <a:xfrm xmlns:a="http://schemas.openxmlformats.org/drawingml/2006/main">
            <a:off x="7858125" y="4505325"/>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At least 60 g:</a:t>
            </a:r>
          </a:p>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53 + 15 = 68 meals</a:t>
            </a:r>
          </a:p>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22.7% of meals</a:t>
            </a:r>
          </a:p>
        </p:txBody>
      </p:sp>
    </p:spTree>
    <p:extLst>
      <p:ext uri="{BB962C8B-B14F-4D97-AF65-F5344CB8AC3E}">
        <p14:creationId xmlns:p14="http://schemas.microsoft.com/office/powerpoint/2010/main" val="189973636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E63ECB46-71FD-43A8-937A-2342FA67FC06}"/>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4:</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Portions</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and leftovers</a:t>
            </a:r>
          </a:p>
        </p:txBody>
      </p:sp>
    </p:spTree>
    <p:extLst>
      <p:ext uri="{BB962C8B-B14F-4D97-AF65-F5344CB8AC3E}">
        <p14:creationId xmlns:p14="http://schemas.microsoft.com/office/powerpoint/2010/main" val="90770739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D06012FA-303D-4CC0-B5C3-DC7468FC8E11}"/>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column belongs on each axis?</a:t>
            </a:r>
          </a:p>
        </p:txBody>
      </p:sp>
      <p:sp>
        <p:nvSpPr>
          <p:cNvPr id="2" name="Lead">
            <a:extLst xmlns:a="http://schemas.openxmlformats.org/drawingml/2006/main">
              <a:ext uri="{FF2B5EF4-FFF2-40B4-BE49-F238E27FC236}">
                <a16:creationId xmlns:a16="http://schemas.microsoft.com/office/drawing/2014/main" id="{72597FAE-13D6-4DAF-A4D9-3DF59EC17773}"/>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We are exploring whether larger portions tend to leave more food.</a:t>
            </a:r>
          </a:p>
        </p:txBody>
      </p:sp>
      <p:sp>
        <p:nvSpPr>
          <p:cNvPr id="3" name="Footer">
            <a:extLst xmlns:a="http://schemas.openxmlformats.org/drawingml/2006/main">
              <a:ext uri="{FF2B5EF4-FFF2-40B4-BE49-F238E27FC236}">
                <a16:creationId xmlns:a16="http://schemas.microsoft.com/office/drawing/2014/main" id="{3ADF597F-2B95-4085-95A2-26A42F006F2D}"/>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Keep each row together. Both numbers must describe the same meal.</a:t>
            </a:r>
          </a:p>
        </p:txBody>
      </p:sp>
      <p:graphicFrame>
        <p:nvGraphicFramePr>
          <p:cNvPr id="11" name="Table 10"/>
          <p:cNvGraphicFramePr/>
          <p:nvPr/>
        </p:nvGraphicFramePr>
        <p:xfrm>
          <a:off xmlns:a="http://schemas.openxmlformats.org/drawingml/2006/main" x="619125" y="3028950"/>
          <a:ext xmlns:a="http://schemas.openxmlformats.org/drawingml/2006/main" cx="10953750" cy="1838325"/>
        </p:xfrm>
        <a:graphic xmlns:a="http://schemas.openxmlformats.org/drawingml/2006/main">
          <a:graphicData uri="http://schemas.openxmlformats.org/drawingml/2006/table">
            <a:tbl>
              <a:tblPr/>
              <a:tblGrid>
                <a:gridCol w="2857500"/>
                <a:gridCol w="3952875"/>
                <a:gridCol w="4143375"/>
              </a:tblGrid>
              <a:tr h="474536">
                <a:tc>
                  <a:txBody>
                    <a:bodyPr/>
                    <a:lstStyle/>
                    <a:p>
                      <a:pPr algn="l">
                        <a:buNone/>
                      </a:pPr>
                      <a:r>
                        <a:rPr sz="2325" b="1">
                          <a:solidFill>
                            <a:srgbClr val="FFFFFF"/>
                          </a:solidFill>
                          <a:latin typeface="Aptos"/>
                          <a:ea typeface="Aptos"/>
                          <a:cs typeface="Aptos"/>
                        </a:rPr>
                        <a:t>Axis</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Column on both sheets</a:t>
                      </a:r>
                    </a:p>
                  </a:txBody>
                  <a:tcPr marL="91440" marR="91440" marT="45720" marB="45720" anchor="ctr">
                    <a:solidFill>
                      <a:srgbClr val="D6171D"/>
                    </a:solidFill>
                  </a:tcPr>
                </a:tc>
                <a:tc>
                  <a:txBody>
                    <a:bodyPr/>
                    <a:lstStyle/>
                    <a:p>
                      <a:pPr algn="ctr">
                        <a:buNone/>
                      </a:pPr>
                      <a:r>
                        <a:rPr sz="2325" b="1">
                          <a:solidFill>
                            <a:srgbClr val="FFFFFF"/>
                          </a:solidFill>
                          <a:latin typeface="Aptos"/>
                          <a:ea typeface="Aptos"/>
                          <a:cs typeface="Aptos"/>
                        </a:rPr>
                        <a:t>Meaning</a:t>
                      </a:r>
                    </a:p>
                  </a:txBody>
                  <a:tcPr marL="91440" marR="91440" marT="45720" marB="45720" anchor="ctr">
                    <a:solidFill>
                      <a:srgbClr val="D6171D"/>
                    </a:solidFill>
                  </a:tcPr>
                </a:tc>
              </a:tr>
              <a:tr h="681895">
                <a:tc>
                  <a:txBody>
                    <a:bodyPr/>
                    <a:lstStyle/>
                    <a:p>
                      <a:pPr algn="l">
                        <a:buNone/>
                      </a:pPr>
                      <a:r>
                        <a:rPr sz="2325" b="0">
                          <a:solidFill>
                            <a:srgbClr val="111111"/>
                          </a:solidFill>
                          <a:latin typeface="Aptos"/>
                          <a:ea typeface="Aptos"/>
                          <a:cs typeface="Aptos"/>
                        </a:rPr>
                        <a:t>X: horizontal</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E = Portion (g)</a:t>
                      </a:r>
                    </a:p>
                  </a:txBody>
                  <a:tcPr marL="91440" marR="91440" marT="45720" marB="45720" anchor="ctr">
                    <a:solidFill>
                      <a:srgbClr val="FFFFFF"/>
                    </a:solidFill>
                  </a:tcPr>
                </a:tc>
                <a:tc>
                  <a:txBody>
                    <a:bodyPr/>
                    <a:lstStyle/>
                    <a:p>
                      <a:pPr algn="ctr">
                        <a:buNone/>
                      </a:pPr>
                      <a:r>
                        <a:rPr sz="2325" b="0">
                          <a:solidFill>
                            <a:srgbClr val="111111"/>
                          </a:solidFill>
                          <a:latin typeface="Aptos"/>
                          <a:ea typeface="Aptos"/>
                          <a:cs typeface="Aptos"/>
                        </a:rPr>
                        <a:t>Food served for one meal</a:t>
                      </a:r>
                    </a:p>
                  </a:txBody>
                  <a:tcPr marL="91440" marR="91440" marT="45720" marB="45720" anchor="ctr">
                    <a:solidFill>
                      <a:srgbClr val="FFFFFF"/>
                    </a:solidFill>
                  </a:tcPr>
                </a:tc>
              </a:tr>
              <a:tr h="681895">
                <a:tc>
                  <a:txBody>
                    <a:bodyPr/>
                    <a:lstStyle/>
                    <a:p>
                      <a:pPr algn="l">
                        <a:buNone/>
                      </a:pPr>
                      <a:r>
                        <a:rPr sz="2325" b="0">
                          <a:solidFill>
                            <a:srgbClr val="111111"/>
                          </a:solidFill>
                          <a:latin typeface="Aptos"/>
                          <a:ea typeface="Aptos"/>
                          <a:cs typeface="Aptos"/>
                        </a:rPr>
                        <a:t>Y: vertical</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F = Leftover (g)</a:t>
                      </a:r>
                    </a:p>
                  </a:txBody>
                  <a:tcPr marL="91440" marR="91440" marT="45720" marB="45720" anchor="ctr">
                    <a:solidFill>
                      <a:srgbClr val="EEF8FE"/>
                    </a:solidFill>
                  </a:tcPr>
                </a:tc>
                <a:tc>
                  <a:txBody>
                    <a:bodyPr/>
                    <a:lstStyle/>
                    <a:p>
                      <a:pPr algn="ctr">
                        <a:buNone/>
                      </a:pPr>
                      <a:r>
                        <a:rPr sz="2325" b="0">
                          <a:solidFill>
                            <a:srgbClr val="111111"/>
                          </a:solidFill>
                          <a:latin typeface="Aptos"/>
                          <a:ea typeface="Aptos"/>
                          <a:cs typeface="Aptos"/>
                        </a:rPr>
                        <a:t>Food remaining from that meal</a:t>
                      </a:r>
                    </a:p>
                  </a:txBody>
                  <a:tcPr marL="91440" marR="91440" marT="45720" marB="45720" anchor="ctr">
                    <a:solidFill>
                      <a:srgbClr val="EEF8FE"/>
                    </a:solidFill>
                  </a:tcPr>
                </a:tc>
              </a:tr>
            </a:tbl>
          </a:graphicData>
        </a:graphic>
      </p:graphicFrame>
      <p:sp>
        <p:nvSpPr>
          <p:cNvPr id="5" name="Text">
            <a:extLst xmlns:a="http://schemas.openxmlformats.org/drawingml/2006/main">
              <a:ext uri="{FF2B5EF4-FFF2-40B4-BE49-F238E27FC236}">
                <a16:creationId xmlns:a16="http://schemas.microsoft.com/office/drawing/2014/main" id="{F1E37D7F-5B13-41AB-A770-8C64F41BFD84}"/>
              </a:ext>
            </a:extLst>
          </p:cNvPr>
          <p:cNvSpPr>
            <a:spLocks xmlns:a="http://schemas.openxmlformats.org/drawingml/2006/main" noGrp="1"/>
          </p:cNvSpPr>
          <p:nvPr/>
        </p:nvSpPr>
        <p:spPr>
          <a:xfrm xmlns:a="http://schemas.openxmlformats.org/drawingml/2006/main">
            <a:off x="619125" y="52482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Example from Demo: 357 g served, 45 g left.</a:t>
            </a:r>
          </a:p>
        </p:txBody>
      </p:sp>
    </p:spTree>
    <p:extLst>
      <p:ext uri="{BB962C8B-B14F-4D97-AF65-F5344CB8AC3E}">
        <p14:creationId xmlns:p14="http://schemas.microsoft.com/office/powerpoint/2010/main" val="188286067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4C9B1E4E-F3C0-43EA-B555-A0D2350EC4F4}"/>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demo 8: plot the paired values</a:t>
            </a:r>
          </a:p>
        </p:txBody>
      </p:sp>
      <p:sp>
        <p:nvSpPr>
          <p:cNvPr id="2" name="Lead">
            <a:extLst xmlns:a="http://schemas.openxmlformats.org/drawingml/2006/main">
              <a:ext uri="{FF2B5EF4-FFF2-40B4-BE49-F238E27FC236}">
                <a16:creationId xmlns:a16="http://schemas.microsoft.com/office/drawing/2014/main" id="{7CEEE410-553E-467C-8205-62EBBE1FEFE3}"/>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Select both numerical columns and use an XY scatterplot.</a:t>
            </a:r>
          </a:p>
        </p:txBody>
      </p:sp>
      <p:sp>
        <p:nvSpPr>
          <p:cNvPr id="3" name="Text">
            <a:extLst xmlns:a="http://schemas.openxmlformats.org/drawingml/2006/main">
              <a:ext uri="{FF2B5EF4-FFF2-40B4-BE49-F238E27FC236}">
                <a16:creationId xmlns:a16="http://schemas.microsoft.com/office/drawing/2014/main" id="{80BDFCB9-74A7-4C40-B5CC-26B8583D5C17}"/>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LIVE DEMO 8</a:t>
            </a:r>
          </a:p>
        </p:txBody>
      </p:sp>
      <p:sp>
        <p:nvSpPr>
          <p:cNvPr id="4" name="Footer">
            <a:extLst xmlns:a="http://schemas.openxmlformats.org/drawingml/2006/main">
              <a:ext uri="{FF2B5EF4-FFF2-40B4-BE49-F238E27FC236}">
                <a16:creationId xmlns:a16="http://schemas.microsoft.com/office/drawing/2014/main" id="{02039887-8772-40EA-B5FD-A1E1E644E781}"/>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Demo: select E1:F21. The scatterplot space begins at H74.</a:t>
            </a:r>
          </a:p>
        </p:txBody>
      </p:sp>
      <p:sp>
        <p:nvSpPr>
          <p:cNvPr id="5" name="Text">
            <a:extLst xmlns:a="http://schemas.openxmlformats.org/drawingml/2006/main">
              <a:ext uri="{FF2B5EF4-FFF2-40B4-BE49-F238E27FC236}">
                <a16:creationId xmlns:a16="http://schemas.microsoft.com/office/drawing/2014/main" id="{F4D500A6-D915-451E-8298-F9EEDE1AA011}"/>
              </a:ext>
            </a:extLst>
          </p:cNvPr>
          <p:cNvSpPr>
            <a:spLocks xmlns:a="http://schemas.openxmlformats.org/drawingml/2006/main" noGrp="1"/>
          </p:cNvSpPr>
          <p:nvPr/>
        </p:nvSpPr>
        <p:spPr>
          <a:xfrm xmlns:a="http://schemas.openxmlformats.org/drawingml/2006/main">
            <a:off x="619125" y="30003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8FD440B7-3982-412E-93B6-C0540D8CE657}"/>
              </a:ext>
            </a:extLst>
          </p:cNvPr>
          <p:cNvSpPr>
            <a:spLocks xmlns:a="http://schemas.openxmlformats.org/drawingml/2006/main" noGrp="1"/>
          </p:cNvSpPr>
          <p:nvPr/>
        </p:nvSpPr>
        <p:spPr>
          <a:xfrm xmlns:a="http://schemas.openxmlformats.org/drawingml/2006/main">
            <a:off x="1238250" y="3000375"/>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Select E1:F21 on Demo.</a:t>
            </a:r>
          </a:p>
        </p:txBody>
      </p:sp>
      <p:sp>
        <p:nvSpPr>
          <p:cNvPr id="7" name="Text">
            <a:extLst xmlns:a="http://schemas.openxmlformats.org/drawingml/2006/main">
              <a:ext uri="{FF2B5EF4-FFF2-40B4-BE49-F238E27FC236}">
                <a16:creationId xmlns:a16="http://schemas.microsoft.com/office/drawing/2014/main" id="{9E7C6FC9-A1CC-41DF-AA0A-5BD5B40FFD78}"/>
              </a:ext>
            </a:extLst>
          </p:cNvPr>
          <p:cNvSpPr>
            <a:spLocks xmlns:a="http://schemas.openxmlformats.org/drawingml/2006/main" noGrp="1"/>
          </p:cNvSpPr>
          <p:nvPr/>
        </p:nvSpPr>
        <p:spPr>
          <a:xfrm xmlns:a="http://schemas.openxmlformats.org/drawingml/2006/main">
            <a:off x="619125" y="39052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F34BFD24-9F25-47AF-BB44-CE7A99B8A230}"/>
              </a:ext>
            </a:extLst>
          </p:cNvPr>
          <p:cNvSpPr>
            <a:spLocks xmlns:a="http://schemas.openxmlformats.org/drawingml/2006/main" noGrp="1"/>
          </p:cNvSpPr>
          <p:nvPr/>
        </p:nvSpPr>
        <p:spPr>
          <a:xfrm xmlns:a="http://schemas.openxmlformats.org/drawingml/2006/main">
            <a:off x="1238250" y="3905250"/>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Insert Scatter: markers only.</a:t>
            </a:r>
          </a:p>
        </p:txBody>
      </p:sp>
      <p:sp>
        <p:nvSpPr>
          <p:cNvPr id="9" name="Text">
            <a:extLst xmlns:a="http://schemas.openxmlformats.org/drawingml/2006/main">
              <a:ext uri="{FF2B5EF4-FFF2-40B4-BE49-F238E27FC236}">
                <a16:creationId xmlns:a16="http://schemas.microsoft.com/office/drawing/2014/main" id="{8C08C282-004B-434F-8461-63E9988C0650}"/>
              </a:ext>
            </a:extLst>
          </p:cNvPr>
          <p:cNvSpPr>
            <a:spLocks xmlns:a="http://schemas.openxmlformats.org/drawingml/2006/main" noGrp="1"/>
          </p:cNvSpPr>
          <p:nvPr/>
        </p:nvSpPr>
        <p:spPr>
          <a:xfrm xmlns:a="http://schemas.openxmlformats.org/drawingml/2006/main">
            <a:off x="619125" y="48101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7B0AE91E-8408-4506-9116-41859F74B19B}"/>
              </a:ext>
            </a:extLst>
          </p:cNvPr>
          <p:cNvSpPr>
            <a:spLocks xmlns:a="http://schemas.openxmlformats.org/drawingml/2006/main" noGrp="1"/>
          </p:cNvSpPr>
          <p:nvPr/>
        </p:nvSpPr>
        <p:spPr>
          <a:xfrm xmlns:a="http://schemas.openxmlformats.org/drawingml/2006/main">
            <a:off x="1238250" y="4810125"/>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Label X and Y with grams.</a:t>
            </a:r>
          </a:p>
        </p:txBody>
      </p:sp>
      <p:graphicFrame>
        <p:nvGraphicFramePr>
          <p:cNvPr id="24" name="Chart"/>
          <p:cNvGraphicFramePr/>
          <p:nvPr/>
        </p:nvGraphicFramePr>
        <p:xfrm>
          <a:off xmlns:a="http://schemas.openxmlformats.org/drawingml/2006/main" x="6238875" y="2857500"/>
          <a:ext xmlns:a="http://schemas.openxmlformats.org/drawingml/2006/main" cx="5334000" cy="2905125"/>
        </p:xfrm>
        <a:graphic xmlns:a="http://schemas.openxmlformats.org/drawingml/2006/main">
          <a:graphicData uri="http://schemas.openxmlformats.org/drawingml/2006/chart">
            <c:chart xmlns:r="http://schemas.openxmlformats.org/officeDocument/2006/relationships" xmlns:c="http://schemas.openxmlformats.org/drawingml/2006/chart" r:id="R02acd5d0dad741dd"/>
          </a:graphicData>
        </a:graphic>
      </p:graphicFrame>
    </p:spTree>
    <p:extLst>
      <p:ext uri="{BB962C8B-B14F-4D97-AF65-F5344CB8AC3E}">
        <p14:creationId xmlns:p14="http://schemas.microsoft.com/office/powerpoint/2010/main" val="1636138176"/>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E8C5D117-22B0-431E-B322-835BE89011A1}"/>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the 300-meal scatterplot</a:t>
            </a:r>
          </a:p>
        </p:txBody>
      </p:sp>
      <p:sp>
        <p:nvSpPr>
          <p:cNvPr id="2" name="Lead">
            <a:extLst xmlns:a="http://schemas.openxmlformats.org/drawingml/2006/main">
              <a:ext uri="{FF2B5EF4-FFF2-40B4-BE49-F238E27FC236}">
                <a16:creationId xmlns:a16="http://schemas.microsoft.com/office/drawing/2014/main" id="{DB7F4961-A925-48B8-AE5B-023954950856}"/>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paired weights on Data. Stay on that sheet.</a:t>
            </a:r>
          </a:p>
        </p:txBody>
      </p:sp>
      <p:sp>
        <p:nvSpPr>
          <p:cNvPr id="3" name="Text">
            <a:extLst xmlns:a="http://schemas.openxmlformats.org/drawingml/2006/main">
              <a:ext uri="{FF2B5EF4-FFF2-40B4-BE49-F238E27FC236}">
                <a16:creationId xmlns:a16="http://schemas.microsoft.com/office/drawing/2014/main" id="{ED9ADA47-8A0E-42B8-8334-70C228CB40A8}"/>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C5</a:t>
            </a:r>
          </a:p>
        </p:txBody>
      </p:sp>
      <p:sp>
        <p:nvSpPr>
          <p:cNvPr id="4" name="Footer">
            <a:extLst xmlns:a="http://schemas.openxmlformats.org/drawingml/2006/main">
              <a:ext uri="{FF2B5EF4-FFF2-40B4-BE49-F238E27FC236}">
                <a16:creationId xmlns:a16="http://schemas.microsoft.com/office/drawing/2014/main" id="{09D09B9E-1DD9-4E7C-AEDA-08665FCEE112}"/>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Select E1:F301. Place the chart in H74:L87.</a:t>
            </a:r>
          </a:p>
        </p:txBody>
      </p:sp>
      <p:sp>
        <p:nvSpPr>
          <p:cNvPr id="5" name="Text">
            <a:extLst xmlns:a="http://schemas.openxmlformats.org/drawingml/2006/main">
              <a:ext uri="{FF2B5EF4-FFF2-40B4-BE49-F238E27FC236}">
                <a16:creationId xmlns:a16="http://schemas.microsoft.com/office/drawing/2014/main" id="{E508ACF2-B898-412C-990F-7545F14B7669}"/>
              </a:ext>
            </a:extLst>
          </p:cNvPr>
          <p:cNvSpPr>
            <a:spLocks xmlns:a="http://schemas.openxmlformats.org/drawingml/2006/main" noGrp="1"/>
          </p:cNvSpPr>
          <p:nvPr/>
        </p:nvSpPr>
        <p:spPr>
          <a:xfrm xmlns:a="http://schemas.openxmlformats.org/drawingml/2006/main">
            <a:off x="619125" y="29337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553E7454-1CD7-4FC5-981D-F186D3B096EA}"/>
              </a:ext>
            </a:extLst>
          </p:cNvPr>
          <p:cNvSpPr>
            <a:spLocks xmlns:a="http://schemas.openxmlformats.org/drawingml/2006/main" noGrp="1"/>
          </p:cNvSpPr>
          <p:nvPr/>
        </p:nvSpPr>
        <p:spPr>
          <a:xfrm xmlns:a="http://schemas.openxmlformats.org/drawingml/2006/main">
            <a:off x="1238250" y="293370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Select E1:F301 and insert a scatterplot with markers only.</a:t>
            </a:r>
          </a:p>
        </p:txBody>
      </p:sp>
      <p:sp>
        <p:nvSpPr>
          <p:cNvPr id="7" name="Text">
            <a:extLst xmlns:a="http://schemas.openxmlformats.org/drawingml/2006/main">
              <a:ext uri="{FF2B5EF4-FFF2-40B4-BE49-F238E27FC236}">
                <a16:creationId xmlns:a16="http://schemas.microsoft.com/office/drawing/2014/main" id="{46A90EEB-62C5-420E-80EA-460D620F2175}"/>
              </a:ext>
            </a:extLst>
          </p:cNvPr>
          <p:cNvSpPr>
            <a:spLocks xmlns:a="http://schemas.openxmlformats.org/drawingml/2006/main" noGrp="1"/>
          </p:cNvSpPr>
          <p:nvPr/>
        </p:nvSpPr>
        <p:spPr>
          <a:xfrm xmlns:a="http://schemas.openxmlformats.org/drawingml/2006/main">
            <a:off x="619125" y="37814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851486D0-9927-4B01-8474-F3255DD1E03B}"/>
              </a:ext>
            </a:extLst>
          </p:cNvPr>
          <p:cNvSpPr>
            <a:spLocks xmlns:a="http://schemas.openxmlformats.org/drawingml/2006/main" noGrp="1"/>
          </p:cNvSpPr>
          <p:nvPr/>
        </p:nvSpPr>
        <p:spPr>
          <a:xfrm xmlns:a="http://schemas.openxmlformats.org/drawingml/2006/main">
            <a:off x="1238250" y="378142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Place the chart in the C5 space. Add a title and axis labels.</a:t>
            </a:r>
          </a:p>
        </p:txBody>
      </p:sp>
      <p:sp>
        <p:nvSpPr>
          <p:cNvPr id="9" name="Text">
            <a:extLst xmlns:a="http://schemas.openxmlformats.org/drawingml/2006/main">
              <a:ext uri="{FF2B5EF4-FFF2-40B4-BE49-F238E27FC236}">
                <a16:creationId xmlns:a16="http://schemas.microsoft.com/office/drawing/2014/main" id="{D148C1F2-1EC5-43B7-9827-207120AD8CCA}"/>
              </a:ext>
            </a:extLst>
          </p:cNvPr>
          <p:cNvSpPr>
            <a:spLocks xmlns:a="http://schemas.openxmlformats.org/drawingml/2006/main" noGrp="1"/>
          </p:cNvSpPr>
          <p:nvPr/>
        </p:nvSpPr>
        <p:spPr>
          <a:xfrm xmlns:a="http://schemas.openxmlformats.org/drawingml/2006/main">
            <a:off x="619125" y="4629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B3B0B4E8-7DA9-452C-B62F-B261249DCE1F}"/>
              </a:ext>
            </a:extLst>
          </p:cNvPr>
          <p:cNvSpPr>
            <a:spLocks xmlns:a="http://schemas.openxmlformats.org/drawingml/2006/main" noGrp="1"/>
          </p:cNvSpPr>
          <p:nvPr/>
        </p:nvSpPr>
        <p:spPr>
          <a:xfrm xmlns:a="http://schemas.openxmlformats.org/drawingml/2006/main">
            <a:off x="1238250" y="46291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Describe the overall pattern and one limitation.</a:t>
            </a:r>
          </a:p>
        </p:txBody>
      </p:sp>
    </p:spTree>
    <p:extLst>
      <p:ext uri="{BB962C8B-B14F-4D97-AF65-F5344CB8AC3E}">
        <p14:creationId xmlns:p14="http://schemas.microsoft.com/office/powerpoint/2010/main" val="101353506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58E56A34-42BB-4B12-9D9F-733A6A431A44}"/>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Scatterplot: pattern and limitation</a:t>
            </a:r>
          </a:p>
        </p:txBody>
      </p:sp>
      <p:sp>
        <p:nvSpPr>
          <p:cNvPr id="2" name="Lead">
            <a:extLst xmlns:a="http://schemas.openxmlformats.org/drawingml/2006/main">
              <a:ext uri="{FF2B5EF4-FFF2-40B4-BE49-F238E27FC236}">
                <a16:creationId xmlns:a16="http://schemas.microsoft.com/office/drawing/2014/main" id="{78942C71-6B1D-4EF9-98A0-C4E73769F30C}"/>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Larger portions tend to be associated with more leftover food.</a:t>
            </a:r>
          </a:p>
        </p:txBody>
      </p:sp>
      <p:sp>
        <p:nvSpPr>
          <p:cNvPr id="3" name="Text">
            <a:extLst xmlns:a="http://schemas.openxmlformats.org/drawingml/2006/main">
              <a:ext uri="{FF2B5EF4-FFF2-40B4-BE49-F238E27FC236}">
                <a16:creationId xmlns:a16="http://schemas.microsoft.com/office/drawing/2014/main" id="{3A7C4E41-1904-46C2-A095-5AC12DF59B4A}"/>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C5</a:t>
            </a:r>
          </a:p>
        </p:txBody>
      </p:sp>
      <p:sp>
        <p:nvSpPr>
          <p:cNvPr id="4" name="Footer">
            <a:extLst xmlns:a="http://schemas.openxmlformats.org/drawingml/2006/main">
              <a:ext uri="{FF2B5EF4-FFF2-40B4-BE49-F238E27FC236}">
                <a16:creationId xmlns:a16="http://schemas.microsoft.com/office/drawing/2014/main" id="{3FBEB371-7BD3-4B18-8ED8-723B50AFF654}"/>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pattern suggests a question to test with real café data.</a:t>
            </a:r>
          </a:p>
        </p:txBody>
      </p:sp>
      <p:graphicFrame>
        <p:nvGraphicFramePr>
          <p:cNvPr id="14" name="Chart"/>
          <p:cNvGraphicFramePr/>
          <p:nvPr/>
        </p:nvGraphicFramePr>
        <p:xfrm>
          <a:off xmlns:a="http://schemas.openxmlformats.org/drawingml/2006/main" x="619125" y="2857500"/>
          <a:ext xmlns:a="http://schemas.openxmlformats.org/drawingml/2006/main" cx="7143750" cy="2924175"/>
        </p:xfrm>
        <a:graphic xmlns:a="http://schemas.openxmlformats.org/drawingml/2006/main">
          <a:graphicData uri="http://schemas.openxmlformats.org/drawingml/2006/chart">
            <c:chart xmlns:r="http://schemas.openxmlformats.org/officeDocument/2006/relationships" xmlns:c="http://schemas.openxmlformats.org/drawingml/2006/chart" r:id="R372a61842f3a4c87"/>
          </a:graphicData>
        </a:graphic>
      </p:graphicFrame>
      <p:sp>
        <p:nvSpPr>
          <p:cNvPr id="6" name="Text">
            <a:extLst xmlns:a="http://schemas.openxmlformats.org/drawingml/2006/main">
              <a:ext uri="{FF2B5EF4-FFF2-40B4-BE49-F238E27FC236}">
                <a16:creationId xmlns:a16="http://schemas.microsoft.com/office/drawing/2014/main" id="{E29557AC-B181-4A61-99F2-E7DA2AF3A5A2}"/>
              </a:ext>
            </a:extLst>
          </p:cNvPr>
          <p:cNvSpPr>
            <a:spLocks xmlns:a="http://schemas.openxmlformats.org/drawingml/2006/main" noGrp="1"/>
          </p:cNvSpPr>
          <p:nvPr/>
        </p:nvSpPr>
        <p:spPr>
          <a:xfrm xmlns:a="http://schemas.openxmlformats.org/drawingml/2006/main">
            <a:off x="8239125" y="31432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Describe the direction</a:t>
            </a:r>
          </a:p>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and the scatter.</a:t>
            </a:r>
          </a:p>
        </p:txBody>
      </p:sp>
      <p:sp>
        <p:nvSpPr>
          <p:cNvPr id="7" name="Text">
            <a:extLst xmlns:a="http://schemas.openxmlformats.org/drawingml/2006/main">
              <a:ext uri="{FF2B5EF4-FFF2-40B4-BE49-F238E27FC236}">
                <a16:creationId xmlns:a16="http://schemas.microsoft.com/office/drawing/2014/main" id="{0C188219-E557-42FA-B1C5-9D6B14B9C718}"/>
              </a:ext>
            </a:extLst>
          </p:cNvPr>
          <p:cNvSpPr>
            <a:spLocks xmlns:a="http://schemas.openxmlformats.org/drawingml/2006/main" noGrp="1"/>
          </p:cNvSpPr>
          <p:nvPr/>
        </p:nvSpPr>
        <p:spPr>
          <a:xfrm xmlns:a="http://schemas.openxmlformats.org/drawingml/2006/main">
            <a:off x="8239125" y="470535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Association alone</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does not establish</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cause and effect.</a:t>
            </a:r>
          </a:p>
        </p:txBody>
      </p:sp>
    </p:spTree>
    <p:extLst>
      <p:ext uri="{BB962C8B-B14F-4D97-AF65-F5344CB8AC3E}">
        <p14:creationId xmlns:p14="http://schemas.microsoft.com/office/powerpoint/2010/main" val="44598209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F1C6DC20-6B42-410E-8FD1-8655EA88465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recommendation to the café</a:t>
            </a:r>
          </a:p>
        </p:txBody>
      </p:sp>
      <p:sp>
        <p:nvSpPr>
          <p:cNvPr id="2" name="Lead">
            <a:extLst xmlns:a="http://schemas.openxmlformats.org/drawingml/2006/main">
              <a:ext uri="{FF2B5EF4-FFF2-40B4-BE49-F238E27FC236}">
                <a16:creationId xmlns:a16="http://schemas.microsoft.com/office/drawing/2014/main" id="{0B0B9E62-E0BE-4C25-994D-901D7F78B229}"/>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two numerical findings and one suitable chart.</a:t>
            </a:r>
          </a:p>
        </p:txBody>
      </p:sp>
      <p:sp>
        <p:nvSpPr>
          <p:cNvPr id="3" name="Text">
            <a:extLst xmlns:a="http://schemas.openxmlformats.org/drawingml/2006/main">
              <a:ext uri="{FF2B5EF4-FFF2-40B4-BE49-F238E27FC236}">
                <a16:creationId xmlns:a16="http://schemas.microsoft.com/office/drawing/2014/main" id="{28C38B0C-9342-41D0-9FD4-F45ADEAB9620}"/>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C6</a:t>
            </a:r>
          </a:p>
        </p:txBody>
      </p:sp>
      <p:sp>
        <p:nvSpPr>
          <p:cNvPr id="4" name="Footer">
            <a:extLst xmlns:a="http://schemas.openxmlformats.org/drawingml/2006/main">
              <a:ext uri="{FF2B5EF4-FFF2-40B4-BE49-F238E27FC236}">
                <a16:creationId xmlns:a16="http://schemas.microsoft.com/office/drawing/2014/main" id="{8B29785F-ADD6-42AD-8485-2AE5752513A9}"/>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Write in your notebook. Prepare a short explanation for another pair.</a:t>
            </a:r>
          </a:p>
        </p:txBody>
      </p:sp>
      <p:sp>
        <p:nvSpPr>
          <p:cNvPr id="5" name="Text">
            <a:extLst xmlns:a="http://schemas.openxmlformats.org/drawingml/2006/main">
              <a:ext uri="{FF2B5EF4-FFF2-40B4-BE49-F238E27FC236}">
                <a16:creationId xmlns:a16="http://schemas.microsoft.com/office/drawing/2014/main" id="{536D91A1-4A20-4194-9C9C-BFD803E1410A}"/>
              </a:ext>
            </a:extLst>
          </p:cNvPr>
          <p:cNvSpPr>
            <a:spLocks xmlns:a="http://schemas.openxmlformats.org/drawingml/2006/main" noGrp="1"/>
          </p:cNvSpPr>
          <p:nvPr/>
        </p:nvSpPr>
        <p:spPr>
          <a:xfrm xmlns:a="http://schemas.openxmlformats.org/drawingml/2006/main">
            <a:off x="619125" y="29241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FEE290A4-F2F4-4570-98C5-4D7EFC8AB3BA}"/>
              </a:ext>
            </a:extLst>
          </p:cNvPr>
          <p:cNvSpPr>
            <a:spLocks xmlns:a="http://schemas.openxmlformats.org/drawingml/2006/main" noGrp="1"/>
          </p:cNvSpPr>
          <p:nvPr/>
        </p:nvSpPr>
        <p:spPr>
          <a:xfrm xmlns:a="http://schemas.openxmlformats.org/drawingml/2006/main">
            <a:off x="1238250" y="292417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Propose one action to test.</a:t>
            </a:r>
          </a:p>
        </p:txBody>
      </p:sp>
      <p:sp>
        <p:nvSpPr>
          <p:cNvPr id="7" name="Text">
            <a:extLst xmlns:a="http://schemas.openxmlformats.org/drawingml/2006/main">
              <a:ext uri="{FF2B5EF4-FFF2-40B4-BE49-F238E27FC236}">
                <a16:creationId xmlns:a16="http://schemas.microsoft.com/office/drawing/2014/main" id="{FDFCB79E-7B17-4711-AB50-8B27A7E05850}"/>
              </a:ext>
            </a:extLst>
          </p:cNvPr>
          <p:cNvSpPr>
            <a:spLocks xmlns:a="http://schemas.openxmlformats.org/drawingml/2006/main" noGrp="1"/>
          </p:cNvSpPr>
          <p:nvPr/>
        </p:nvSpPr>
        <p:spPr>
          <a:xfrm xmlns:a="http://schemas.openxmlformats.org/drawingml/2006/main">
            <a:off x="619125" y="38385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8E57D235-B0B0-4DC3-A8E0-D7885FDFCDBD}"/>
              </a:ext>
            </a:extLst>
          </p:cNvPr>
          <p:cNvSpPr>
            <a:spLocks xmlns:a="http://schemas.openxmlformats.org/drawingml/2006/main" noGrp="1"/>
          </p:cNvSpPr>
          <p:nvPr/>
        </p:nvSpPr>
        <p:spPr>
          <a:xfrm xmlns:a="http://schemas.openxmlformats.org/drawingml/2006/main">
            <a:off x="1238250" y="383857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Support it with two numbers and a chart.</a:t>
            </a:r>
          </a:p>
        </p:txBody>
      </p:sp>
      <p:sp>
        <p:nvSpPr>
          <p:cNvPr id="9" name="Text">
            <a:extLst xmlns:a="http://schemas.openxmlformats.org/drawingml/2006/main">
              <a:ext uri="{FF2B5EF4-FFF2-40B4-BE49-F238E27FC236}">
                <a16:creationId xmlns:a16="http://schemas.microsoft.com/office/drawing/2014/main" id="{6DB0527C-6B72-4231-ADC0-31EFFD097006}"/>
              </a:ext>
            </a:extLst>
          </p:cNvPr>
          <p:cNvSpPr>
            <a:spLocks xmlns:a="http://schemas.openxmlformats.org/drawingml/2006/main" noGrp="1"/>
          </p:cNvSpPr>
          <p:nvPr/>
        </p:nvSpPr>
        <p:spPr>
          <a:xfrm xmlns:a="http://schemas.openxmlformats.org/drawingml/2006/main">
            <a:off x="619125" y="47529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8AFDE4E8-EB0D-4E28-B219-22113A3FB1BC}"/>
              </a:ext>
            </a:extLst>
          </p:cNvPr>
          <p:cNvSpPr>
            <a:spLocks xmlns:a="http://schemas.openxmlformats.org/drawingml/2006/main" noGrp="1"/>
          </p:cNvSpPr>
          <p:nvPr/>
        </p:nvSpPr>
        <p:spPr>
          <a:xfrm xmlns:a="http://schemas.openxmlformats.org/drawingml/2006/main">
            <a:off x="1238250" y="475297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Explain one limitation of your evidence.</a:t>
            </a:r>
          </a:p>
        </p:txBody>
      </p:sp>
    </p:spTree>
    <p:extLst>
      <p:ext uri="{BB962C8B-B14F-4D97-AF65-F5344CB8AC3E}">
        <p14:creationId xmlns:p14="http://schemas.microsoft.com/office/powerpoint/2010/main" val="166610782"/>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8F155533-F00E-469F-A7BE-FD31EDA79E56}"/>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Before you leave</a:t>
            </a:r>
          </a:p>
        </p:txBody>
      </p:sp>
      <p:sp>
        <p:nvSpPr>
          <p:cNvPr id="2" name="Lead">
            <a:extLst xmlns:a="http://schemas.openxmlformats.org/drawingml/2006/main">
              <a:ext uri="{FF2B5EF4-FFF2-40B4-BE49-F238E27FC236}">
                <a16:creationId xmlns:a16="http://schemas.microsoft.com/office/drawing/2014/main" id="{79B9219A-B15D-4251-B855-9802E66BCF83}"/>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Check and save your completed Data sheet.</a:t>
            </a:r>
          </a:p>
        </p:txBody>
      </p:sp>
      <p:sp>
        <p:nvSpPr>
          <p:cNvPr id="3" name="Footer">
            <a:extLst xmlns:a="http://schemas.openxmlformats.org/drawingml/2006/main">
              <a:ext uri="{FF2B5EF4-FFF2-40B4-BE49-F238E27FC236}">
                <a16:creationId xmlns:a16="http://schemas.microsoft.com/office/drawing/2014/main" id="{D60B8249-6F01-4315-B1EA-D9480F6748C0}"/>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Save your own Student workbook with your calculations and three charts.</a:t>
            </a:r>
          </a:p>
        </p:txBody>
      </p:sp>
      <p:sp>
        <p:nvSpPr>
          <p:cNvPr id="4" name="Text">
            <a:extLst xmlns:a="http://schemas.openxmlformats.org/drawingml/2006/main">
              <a:ext uri="{FF2B5EF4-FFF2-40B4-BE49-F238E27FC236}">
                <a16:creationId xmlns:a16="http://schemas.microsoft.com/office/drawing/2014/main" id="{D8AC3E9F-980A-4AC7-971D-94248ABC2FEA}"/>
              </a:ext>
            </a:extLst>
          </p:cNvPr>
          <p:cNvSpPr>
            <a:spLocks xmlns:a="http://schemas.openxmlformats.org/drawingml/2006/main" noGrp="1"/>
          </p:cNvSpPr>
          <p:nvPr/>
        </p:nvSpPr>
        <p:spPr>
          <a:xfrm xmlns:a="http://schemas.openxmlformats.org/drawingml/2006/main">
            <a:off x="619125" y="29337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5" name="Text">
            <a:extLst xmlns:a="http://schemas.openxmlformats.org/drawingml/2006/main">
              <a:ext uri="{FF2B5EF4-FFF2-40B4-BE49-F238E27FC236}">
                <a16:creationId xmlns:a16="http://schemas.microsoft.com/office/drawing/2014/main" id="{C9F5CE88-9AC0-4A2E-AEDE-B145D1404FCA}"/>
              </a:ext>
            </a:extLst>
          </p:cNvPr>
          <p:cNvSpPr>
            <a:spLocks xmlns:a="http://schemas.openxmlformats.org/drawingml/2006/main" noGrp="1"/>
          </p:cNvSpPr>
          <p:nvPr/>
        </p:nvSpPr>
        <p:spPr>
          <a:xfrm xmlns:a="http://schemas.openxmlformats.org/drawingml/2006/main">
            <a:off x="1238250" y="293370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Do both frequency tables total 300 and both share totals show 100%?</a:t>
            </a:r>
          </a:p>
        </p:txBody>
      </p:sp>
      <p:sp>
        <p:nvSpPr>
          <p:cNvPr id="6" name="Text">
            <a:extLst xmlns:a="http://schemas.openxmlformats.org/drawingml/2006/main">
              <a:ext uri="{FF2B5EF4-FFF2-40B4-BE49-F238E27FC236}">
                <a16:creationId xmlns:a16="http://schemas.microsoft.com/office/drawing/2014/main" id="{77D30B4C-73C9-4697-92A4-F5384C45C53B}"/>
              </a:ext>
            </a:extLst>
          </p:cNvPr>
          <p:cNvSpPr>
            <a:spLocks xmlns:a="http://schemas.openxmlformats.org/drawingml/2006/main" noGrp="1"/>
          </p:cNvSpPr>
          <p:nvPr/>
        </p:nvSpPr>
        <p:spPr>
          <a:xfrm xmlns:a="http://schemas.openxmlformats.org/drawingml/2006/main">
            <a:off x="619125" y="39052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7" name="Text">
            <a:extLst xmlns:a="http://schemas.openxmlformats.org/drawingml/2006/main">
              <a:ext uri="{FF2B5EF4-FFF2-40B4-BE49-F238E27FC236}">
                <a16:creationId xmlns:a16="http://schemas.microsoft.com/office/drawing/2014/main" id="{D3708208-A7F2-4D96-8E5B-C278F5C4DFED}"/>
              </a:ext>
            </a:extLst>
          </p:cNvPr>
          <p:cNvSpPr>
            <a:spLocks xmlns:a="http://schemas.openxmlformats.org/drawingml/2006/main" noGrp="1"/>
          </p:cNvSpPr>
          <p:nvPr/>
        </p:nvSpPr>
        <p:spPr>
          <a:xfrm xmlns:a="http://schemas.openxmlformats.org/drawingml/2006/main">
            <a:off x="1238250" y="39052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Do all three charts have clear titles, axes and units?</a:t>
            </a:r>
          </a:p>
        </p:txBody>
      </p:sp>
      <p:sp>
        <p:nvSpPr>
          <p:cNvPr id="8" name="Text">
            <a:extLst xmlns:a="http://schemas.openxmlformats.org/drawingml/2006/main">
              <a:ext uri="{FF2B5EF4-FFF2-40B4-BE49-F238E27FC236}">
                <a16:creationId xmlns:a16="http://schemas.microsoft.com/office/drawing/2014/main" id="{D8897AA2-57DD-49E2-9CB9-2557369C3BAA}"/>
              </a:ext>
            </a:extLst>
          </p:cNvPr>
          <p:cNvSpPr>
            <a:spLocks xmlns:a="http://schemas.openxmlformats.org/drawingml/2006/main" noGrp="1"/>
          </p:cNvSpPr>
          <p:nvPr/>
        </p:nvSpPr>
        <p:spPr>
          <a:xfrm xmlns:a="http://schemas.openxmlformats.org/drawingml/2006/main">
            <a:off x="619125" y="48768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9" name="Text">
            <a:extLst xmlns:a="http://schemas.openxmlformats.org/drawingml/2006/main">
              <a:ext uri="{FF2B5EF4-FFF2-40B4-BE49-F238E27FC236}">
                <a16:creationId xmlns:a16="http://schemas.microsoft.com/office/drawing/2014/main" id="{524ED9B3-05BA-4DA4-91E7-AF132ADF78EC}"/>
              </a:ext>
            </a:extLst>
          </p:cNvPr>
          <p:cNvSpPr>
            <a:spLocks xmlns:a="http://schemas.openxmlformats.org/drawingml/2006/main" noGrp="1"/>
          </p:cNvSpPr>
          <p:nvPr/>
        </p:nvSpPr>
        <p:spPr>
          <a:xfrm xmlns:a="http://schemas.openxmlformats.org/drawingml/2006/main">
            <a:off x="1238250" y="487680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Can you explain one result and one limitation?</a:t>
            </a:r>
          </a:p>
        </p:txBody>
      </p:sp>
    </p:spTree>
    <p:extLst>
      <p:ext uri="{BB962C8B-B14F-4D97-AF65-F5344CB8AC3E}">
        <p14:creationId xmlns:p14="http://schemas.microsoft.com/office/powerpoint/2010/main" val="1027612251"/>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E81F1518-EEDD-4651-94B6-846F37308E9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Optional: a cumulative graph</a:t>
            </a:r>
          </a:p>
        </p:txBody>
      </p:sp>
      <p:sp>
        <p:nvSpPr>
          <p:cNvPr id="2" name="Lead">
            <a:extLst xmlns:a="http://schemas.openxmlformats.org/drawingml/2006/main">
              <a:ext uri="{FF2B5EF4-FFF2-40B4-BE49-F238E27FC236}">
                <a16:creationId xmlns:a16="http://schemas.microsoft.com/office/drawing/2014/main" id="{43DE0EC1-3751-487C-9A83-DF5A319C5E32}"/>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a Line chart here: the boundaries are equally spaced at 20 g.</a:t>
            </a:r>
          </a:p>
        </p:txBody>
      </p:sp>
      <p:sp>
        <p:nvSpPr>
          <p:cNvPr id="3" name="Text">
            <a:extLst xmlns:a="http://schemas.openxmlformats.org/drawingml/2006/main">
              <a:ext uri="{FF2B5EF4-FFF2-40B4-BE49-F238E27FC236}">
                <a16:creationId xmlns:a16="http://schemas.microsoft.com/office/drawing/2014/main" id="{72D7A8FB-B722-47BC-A724-A96F5F543628}"/>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C7</a:t>
            </a:r>
          </a:p>
        </p:txBody>
      </p:sp>
      <p:sp>
        <p:nvSpPr>
          <p:cNvPr id="4" name="Footer">
            <a:extLst xmlns:a="http://schemas.openxmlformats.org/drawingml/2006/main">
              <a:ext uri="{FF2B5EF4-FFF2-40B4-BE49-F238E27FC236}">
                <a16:creationId xmlns:a16="http://schemas.microsoft.com/office/drawing/2014/main" id="{4CF50704-AA4C-4164-9F81-4550742707AB}"/>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Data: table H92:J98. Chart space H101:L114. X = upper boundary; Y = cumulative percentage.</a:t>
            </a:r>
          </a:p>
        </p:txBody>
      </p:sp>
      <p:sp>
        <p:nvSpPr>
          <p:cNvPr id="5" name="Text">
            <a:extLst xmlns:a="http://schemas.openxmlformats.org/drawingml/2006/main">
              <a:ext uri="{FF2B5EF4-FFF2-40B4-BE49-F238E27FC236}">
                <a16:creationId xmlns:a16="http://schemas.microsoft.com/office/drawing/2014/main" id="{4B6FB886-A5E5-4287-91FA-5C1CC4C9616D}"/>
              </a:ext>
            </a:extLst>
          </p:cNvPr>
          <p:cNvSpPr>
            <a:spLocks xmlns:a="http://schemas.openxmlformats.org/drawingml/2006/main" noGrp="1"/>
          </p:cNvSpPr>
          <p:nvPr/>
        </p:nvSpPr>
        <p:spPr>
          <a:xfrm xmlns:a="http://schemas.openxmlformats.org/drawingml/2006/main">
            <a:off x="619125" y="29527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C8357882-3B0A-40E7-A18C-B2AF6E8F4501}"/>
              </a:ext>
            </a:extLst>
          </p:cNvPr>
          <p:cNvSpPr>
            <a:spLocks xmlns:a="http://schemas.openxmlformats.org/drawingml/2006/main" noGrp="1"/>
          </p:cNvSpPr>
          <p:nvPr/>
        </p:nvSpPr>
        <p:spPr>
          <a:xfrm xmlns:a="http://schemas.openxmlformats.org/drawingml/2006/main">
            <a:off x="1238250" y="29527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Build the running totals in I93:I98. Begin with zero.</a:t>
            </a:r>
          </a:p>
        </p:txBody>
      </p:sp>
      <p:sp>
        <p:nvSpPr>
          <p:cNvPr id="7" name="Text">
            <a:extLst xmlns:a="http://schemas.openxmlformats.org/drawingml/2006/main">
              <a:ext uri="{FF2B5EF4-FFF2-40B4-BE49-F238E27FC236}">
                <a16:creationId xmlns:a16="http://schemas.microsoft.com/office/drawing/2014/main" id="{C48773EC-0D7F-4C46-B3A9-6167E57D2E96}"/>
              </a:ext>
            </a:extLst>
          </p:cNvPr>
          <p:cNvSpPr>
            <a:spLocks xmlns:a="http://schemas.openxmlformats.org/drawingml/2006/main" noGrp="1"/>
          </p:cNvSpPr>
          <p:nvPr/>
        </p:nvSpPr>
        <p:spPr>
          <a:xfrm xmlns:a="http://schemas.openxmlformats.org/drawingml/2006/main">
            <a:off x="619125" y="38290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2</a:t>
            </a:r>
          </a:p>
        </p:txBody>
      </p:sp>
      <p:sp>
        <p:nvSpPr>
          <p:cNvPr id="8" name="Text">
            <a:extLst xmlns:a="http://schemas.openxmlformats.org/drawingml/2006/main">
              <a:ext uri="{FF2B5EF4-FFF2-40B4-BE49-F238E27FC236}">
                <a16:creationId xmlns:a16="http://schemas.microsoft.com/office/drawing/2014/main" id="{FE6E1860-1B85-44F7-A96B-70BC9C14D528}"/>
              </a:ext>
            </a:extLst>
          </p:cNvPr>
          <p:cNvSpPr>
            <a:spLocks xmlns:a="http://schemas.openxmlformats.org/drawingml/2006/main" noGrp="1"/>
          </p:cNvSpPr>
          <p:nvPr/>
        </p:nvSpPr>
        <p:spPr>
          <a:xfrm xmlns:a="http://schemas.openxmlformats.org/drawingml/2006/main">
            <a:off x="1238250" y="38290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Divide each running total by K45 in column J.</a:t>
            </a:r>
          </a:p>
        </p:txBody>
      </p:sp>
      <p:sp>
        <p:nvSpPr>
          <p:cNvPr id="9" name="Text">
            <a:extLst xmlns:a="http://schemas.openxmlformats.org/drawingml/2006/main">
              <a:ext uri="{FF2B5EF4-FFF2-40B4-BE49-F238E27FC236}">
                <a16:creationId xmlns:a16="http://schemas.microsoft.com/office/drawing/2014/main" id="{56AA4E4D-D3B5-46B1-A781-26409180EBD7}"/>
              </a:ext>
            </a:extLst>
          </p:cNvPr>
          <p:cNvSpPr>
            <a:spLocks xmlns:a="http://schemas.openxmlformats.org/drawingml/2006/main" noGrp="1"/>
          </p:cNvSpPr>
          <p:nvPr/>
        </p:nvSpPr>
        <p:spPr>
          <a:xfrm xmlns:a="http://schemas.openxmlformats.org/drawingml/2006/main">
            <a:off x="619125" y="4705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D6171D"/>
                </a:solidFill>
                <a:latin typeface="Aptos"/>
                <a:ea typeface="Aptos"/>
                <a:cs typeface="Aptos"/>
              </a:defRPr>
            </a:pPr>
            <a:r>
              <a:rPr sz="2550" b="1">
                <a:solidFill>
                  <a:srgbClr val="D6171D"/>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574A1D6F-543F-4D12-92EC-8029942E0566}"/>
              </a:ext>
            </a:extLst>
          </p:cNvPr>
          <p:cNvSpPr>
            <a:spLocks xmlns:a="http://schemas.openxmlformats.org/drawingml/2006/main" noGrp="1"/>
          </p:cNvSpPr>
          <p:nvPr/>
        </p:nvSpPr>
        <p:spPr>
          <a:xfrm xmlns:a="http://schemas.openxmlformats.org/drawingml/2006/main">
            <a:off x="1238250" y="4705350"/>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Insert a Line chart: H gives the labels; J gives the percentages.</a:t>
            </a:r>
          </a:p>
        </p:txBody>
      </p:sp>
    </p:spTree>
    <p:extLst>
      <p:ext uri="{BB962C8B-B14F-4D97-AF65-F5344CB8AC3E}">
        <p14:creationId xmlns:p14="http://schemas.microsoft.com/office/powerpoint/2010/main" val="1482269657"/>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7F9DCAEA-9FEC-4BE0-9593-496A0C075E15}"/>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Optional: ogive check</a:t>
            </a:r>
          </a:p>
        </p:txBody>
      </p:sp>
      <p:sp>
        <p:nvSpPr>
          <p:cNvPr id="2" name="Lead">
            <a:extLst xmlns:a="http://schemas.openxmlformats.org/drawingml/2006/main">
              <a:ext uri="{FF2B5EF4-FFF2-40B4-BE49-F238E27FC236}">
                <a16:creationId xmlns:a16="http://schemas.microsoft.com/office/drawing/2014/main" id="{844B723E-94EB-4FAF-B61F-E87804925B9D}"/>
              </a:ext>
            </a:extLst>
          </p:cNvPr>
          <p:cNvSpPr>
            <a:spLocks xmlns:a="http://schemas.openxmlformats.org/drawingml/2006/main" noGrp="1"/>
          </p:cNvSpPr>
          <p:nvPr/>
        </p:nvSpPr>
        <p:spPr>
          <a:xfrm xmlns:a="http://schemas.openxmlformats.org/drawingml/2006/main">
            <a:off x="523875" y="2000250"/>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At 40 g, the cumulative percentage is about 44.3%.</a:t>
            </a:r>
          </a:p>
        </p:txBody>
      </p:sp>
      <p:sp>
        <p:nvSpPr>
          <p:cNvPr id="3" name="Text">
            <a:extLst xmlns:a="http://schemas.openxmlformats.org/drawingml/2006/main">
              <a:ext uri="{FF2B5EF4-FFF2-40B4-BE49-F238E27FC236}">
                <a16:creationId xmlns:a16="http://schemas.microsoft.com/office/drawing/2014/main" id="{7FDD0DA1-674A-44ED-9694-4454C5354CBE}"/>
              </a:ext>
            </a:extLst>
          </p:cNvPr>
          <p:cNvSpPr>
            <a:spLocks xmlns:a="http://schemas.openxmlformats.org/drawingml/2006/main" noGrp="1"/>
          </p:cNvSpPr>
          <p:nvPr/>
        </p:nvSpPr>
        <p:spPr>
          <a:xfrm xmlns:a="http://schemas.openxmlformats.org/drawingml/2006/main">
            <a:off x="9715500" y="457200"/>
            <a:ext cx="185737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C7</a:t>
            </a:r>
          </a:p>
        </p:txBody>
      </p:sp>
      <p:sp>
        <p:nvSpPr>
          <p:cNvPr id="4" name="Footer">
            <a:extLst xmlns:a="http://schemas.openxmlformats.org/drawingml/2006/main">
              <a:ext uri="{FF2B5EF4-FFF2-40B4-BE49-F238E27FC236}">
                <a16:creationId xmlns:a16="http://schemas.microsoft.com/office/drawing/2014/main" id="{3FAF5E22-CCDA-4E4B-BF4B-BDD0F29F43FC}"/>
              </a:ext>
            </a:extLst>
          </p:cNvPr>
          <p:cNvSpPr>
            <a:spLocks xmlns:a="http://schemas.openxmlformats.org/drawingml/2006/main" noGrp="1"/>
          </p:cNvSpPr>
          <p:nvPr/>
        </p:nvSpPr>
        <p:spPr>
          <a:xfrm xmlns:a="http://schemas.openxmlformats.org/drawingml/2006/main">
            <a:off x="523875" y="59531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point at 40 g counts meals with less than 40 g left.</a:t>
            </a:r>
          </a:p>
        </p:txBody>
      </p:sp>
      <p:graphicFrame>
        <p:nvGraphicFramePr>
          <p:cNvPr id="14" name="Table 13"/>
          <p:cNvGraphicFramePr/>
          <p:nvPr/>
        </p:nvGraphicFramePr>
        <p:xfrm>
          <a:off xmlns:a="http://schemas.openxmlformats.org/drawingml/2006/main" x="619125" y="2857500"/>
          <a:ext xmlns:a="http://schemas.openxmlformats.org/drawingml/2006/main" cx="5429250" cy="2857500"/>
        </p:xfrm>
        <a:graphic xmlns:a="http://schemas.openxmlformats.org/drawingml/2006/main">
          <a:graphicData uri="http://schemas.openxmlformats.org/drawingml/2006/table">
            <a:tbl>
              <a:tblPr/>
              <a:tblGrid>
                <a:gridCol w="1809750"/>
                <a:gridCol w="1333500"/>
                <a:gridCol w="2286000"/>
              </a:tblGrid>
              <a:tr h="393192">
                <a:tc>
                  <a:txBody>
                    <a:bodyPr/>
                    <a:lstStyle/>
                    <a:p>
                      <a:pPr algn="l">
                        <a:buNone/>
                      </a:pPr>
                      <a:r>
                        <a:rPr sz="1800" b="1">
                          <a:solidFill>
                            <a:srgbClr val="FFFFFF"/>
                          </a:solidFill>
                          <a:latin typeface="Aptos"/>
                          <a:ea typeface="Aptos"/>
                          <a:cs typeface="Aptos"/>
                        </a:rPr>
                        <a:t>Upper (g) (X)</a:t>
                      </a:r>
                    </a:p>
                  </a:txBody>
                  <a:tcPr marL="91440" marR="91440" marT="45720" marB="45720" anchor="ctr">
                    <a:solidFill>
                      <a:srgbClr val="D6171D"/>
                    </a:solidFill>
                  </a:tcPr>
                </a:tc>
                <a:tc>
                  <a:txBody>
                    <a:bodyPr/>
                    <a:lstStyle/>
                    <a:p>
                      <a:pPr algn="ctr">
                        <a:buNone/>
                      </a:pPr>
                      <a:r>
                        <a:rPr sz="1800" b="1">
                          <a:solidFill>
                            <a:srgbClr val="FFFFFF"/>
                          </a:solidFill>
                          <a:latin typeface="Aptos"/>
                          <a:ea typeface="Aptos"/>
                          <a:cs typeface="Aptos"/>
                        </a:rPr>
                        <a:t>CF</a:t>
                      </a:r>
                    </a:p>
                  </a:txBody>
                  <a:tcPr marL="91440" marR="91440" marT="45720" marB="45720" anchor="ctr">
                    <a:solidFill>
                      <a:srgbClr val="D6171D"/>
                    </a:solidFill>
                  </a:tcPr>
                </a:tc>
                <a:tc>
                  <a:txBody>
                    <a:bodyPr/>
                    <a:lstStyle/>
                    <a:p>
                      <a:pPr algn="ctr">
                        <a:buNone/>
                      </a:pPr>
                      <a:r>
                        <a:rPr sz="1800" b="1">
                          <a:solidFill>
                            <a:srgbClr val="FFFFFF"/>
                          </a:solidFill>
                          <a:latin typeface="Aptos"/>
                          <a:ea typeface="Aptos"/>
                          <a:cs typeface="Aptos"/>
                        </a:rPr>
                        <a:t>Cumulative % (Y)</a:t>
                      </a:r>
                    </a:p>
                  </a:txBody>
                  <a:tcPr marL="91440" marR="91440" marT="45720" marB="45720" anchor="ctr">
                    <a:solidFill>
                      <a:srgbClr val="D6171D"/>
                    </a:solidFill>
                  </a:tcPr>
                </a:tc>
              </a:tr>
              <a:tr h="410718">
                <a:tc>
                  <a:txBody>
                    <a:bodyPr/>
                    <a:lstStyle/>
                    <a:p>
                      <a:pPr algn="l">
                        <a:buNone/>
                      </a:pPr>
                      <a:r>
                        <a:rPr sz="1800" b="0">
                          <a:solidFill>
                            <a:srgbClr val="111111"/>
                          </a:solidFill>
                          <a:latin typeface="Aptos"/>
                          <a:ea typeface="Aptos"/>
                          <a:cs typeface="Aptos"/>
                        </a:rPr>
                        <a:t>0</a:t>
                      </a:r>
                    </a:p>
                  </a:txBody>
                  <a:tcPr marL="91440" marR="91440" marT="45720" marB="45720" anchor="ctr">
                    <a:solidFill>
                      <a:srgbClr val="FFFFFF"/>
                    </a:solidFill>
                  </a:tcPr>
                </a:tc>
                <a:tc>
                  <a:txBody>
                    <a:bodyPr/>
                    <a:lstStyle/>
                    <a:p>
                      <a:pPr algn="ctr">
                        <a:buNone/>
                      </a:pPr>
                      <a:r>
                        <a:rPr sz="1800" b="0">
                          <a:solidFill>
                            <a:srgbClr val="111111"/>
                          </a:solidFill>
                          <a:latin typeface="Aptos"/>
                          <a:ea typeface="Aptos"/>
                          <a:cs typeface="Aptos"/>
                        </a:rPr>
                        <a:t>0</a:t>
                      </a:r>
                    </a:p>
                  </a:txBody>
                  <a:tcPr marL="91440" marR="91440" marT="45720" marB="45720" anchor="ctr">
                    <a:solidFill>
                      <a:srgbClr val="FFFFFF"/>
                    </a:solidFill>
                  </a:tcPr>
                </a:tc>
                <a:tc>
                  <a:txBody>
                    <a:bodyPr/>
                    <a:lstStyle/>
                    <a:p>
                      <a:pPr algn="ctr">
                        <a:buNone/>
                      </a:pPr>
                      <a:r>
                        <a:rPr sz="1800" b="0">
                          <a:solidFill>
                            <a:srgbClr val="111111"/>
                          </a:solidFill>
                          <a:latin typeface="Aptos"/>
                          <a:ea typeface="Aptos"/>
                          <a:cs typeface="Aptos"/>
                        </a:rPr>
                        <a:t>0.0%</a:t>
                      </a:r>
                    </a:p>
                  </a:txBody>
                  <a:tcPr marL="91440" marR="91440" marT="45720" marB="45720" anchor="ctr">
                    <a:solidFill>
                      <a:srgbClr val="FFFFFF"/>
                    </a:solidFill>
                  </a:tcPr>
                </a:tc>
              </a:tr>
              <a:tr h="410718">
                <a:tc>
                  <a:txBody>
                    <a:bodyPr/>
                    <a:lstStyle/>
                    <a:p>
                      <a:pPr algn="l">
                        <a:buNone/>
                      </a:pPr>
                      <a:r>
                        <a:rPr sz="1800" b="0">
                          <a:solidFill>
                            <a:srgbClr val="111111"/>
                          </a:solidFill>
                          <a:latin typeface="Aptos"/>
                          <a:ea typeface="Aptos"/>
                          <a:cs typeface="Aptos"/>
                        </a:rPr>
                        <a:t>20</a:t>
                      </a:r>
                    </a:p>
                  </a:txBody>
                  <a:tcPr marL="91440" marR="91440" marT="45720" marB="45720" anchor="ctr">
                    <a:solidFill>
                      <a:srgbClr val="EEF8FE"/>
                    </a:solidFill>
                  </a:tcPr>
                </a:tc>
                <a:tc>
                  <a:txBody>
                    <a:bodyPr/>
                    <a:lstStyle/>
                    <a:p>
                      <a:pPr algn="ctr">
                        <a:buNone/>
                      </a:pPr>
                      <a:r>
                        <a:rPr sz="1800" b="0">
                          <a:solidFill>
                            <a:srgbClr val="111111"/>
                          </a:solidFill>
                          <a:latin typeface="Aptos"/>
                          <a:ea typeface="Aptos"/>
                          <a:cs typeface="Aptos"/>
                        </a:rPr>
                        <a:t>41</a:t>
                      </a:r>
                    </a:p>
                  </a:txBody>
                  <a:tcPr marL="91440" marR="91440" marT="45720" marB="45720" anchor="ctr">
                    <a:solidFill>
                      <a:srgbClr val="EEF8FE"/>
                    </a:solidFill>
                  </a:tcPr>
                </a:tc>
                <a:tc>
                  <a:txBody>
                    <a:bodyPr/>
                    <a:lstStyle/>
                    <a:p>
                      <a:pPr algn="ctr">
                        <a:buNone/>
                      </a:pPr>
                      <a:r>
                        <a:rPr sz="1800" b="0">
                          <a:solidFill>
                            <a:srgbClr val="111111"/>
                          </a:solidFill>
                          <a:latin typeface="Aptos"/>
                          <a:ea typeface="Aptos"/>
                          <a:cs typeface="Aptos"/>
                        </a:rPr>
                        <a:t>13.7%</a:t>
                      </a:r>
                    </a:p>
                  </a:txBody>
                  <a:tcPr marL="91440" marR="91440" marT="45720" marB="45720" anchor="ctr">
                    <a:solidFill>
                      <a:srgbClr val="EEF8FE"/>
                    </a:solidFill>
                  </a:tcPr>
                </a:tc>
              </a:tr>
              <a:tr h="410718">
                <a:tc>
                  <a:txBody>
                    <a:bodyPr/>
                    <a:lstStyle/>
                    <a:p>
                      <a:pPr algn="l">
                        <a:buNone/>
                      </a:pPr>
                      <a:r>
                        <a:rPr sz="1800" b="0">
                          <a:solidFill>
                            <a:srgbClr val="111111"/>
                          </a:solidFill>
                          <a:latin typeface="Aptos"/>
                          <a:ea typeface="Aptos"/>
                          <a:cs typeface="Aptos"/>
                        </a:rPr>
                        <a:t>40</a:t>
                      </a:r>
                    </a:p>
                  </a:txBody>
                  <a:tcPr marL="91440" marR="91440" marT="45720" marB="45720" anchor="ctr">
                    <a:solidFill>
                      <a:srgbClr val="FFFFFF"/>
                    </a:solidFill>
                  </a:tcPr>
                </a:tc>
                <a:tc>
                  <a:txBody>
                    <a:bodyPr/>
                    <a:lstStyle/>
                    <a:p>
                      <a:pPr algn="ctr">
                        <a:buNone/>
                      </a:pPr>
                      <a:r>
                        <a:rPr sz="1800" b="0">
                          <a:solidFill>
                            <a:srgbClr val="111111"/>
                          </a:solidFill>
                          <a:latin typeface="Aptos"/>
                          <a:ea typeface="Aptos"/>
                          <a:cs typeface="Aptos"/>
                        </a:rPr>
                        <a:t>133</a:t>
                      </a:r>
                    </a:p>
                  </a:txBody>
                  <a:tcPr marL="91440" marR="91440" marT="45720" marB="45720" anchor="ctr">
                    <a:solidFill>
                      <a:srgbClr val="FFFFFF"/>
                    </a:solidFill>
                  </a:tcPr>
                </a:tc>
                <a:tc>
                  <a:txBody>
                    <a:bodyPr/>
                    <a:lstStyle/>
                    <a:p>
                      <a:pPr algn="ctr">
                        <a:buNone/>
                      </a:pPr>
                      <a:r>
                        <a:rPr sz="1800" b="0">
                          <a:solidFill>
                            <a:srgbClr val="111111"/>
                          </a:solidFill>
                          <a:latin typeface="Aptos"/>
                          <a:ea typeface="Aptos"/>
                          <a:cs typeface="Aptos"/>
                        </a:rPr>
                        <a:t>44.3%</a:t>
                      </a:r>
                    </a:p>
                  </a:txBody>
                  <a:tcPr marL="91440" marR="91440" marT="45720" marB="45720" anchor="ctr">
                    <a:solidFill>
                      <a:srgbClr val="FFFFFF"/>
                    </a:solidFill>
                  </a:tcPr>
                </a:tc>
              </a:tr>
              <a:tr h="410718">
                <a:tc>
                  <a:txBody>
                    <a:bodyPr/>
                    <a:lstStyle/>
                    <a:p>
                      <a:pPr algn="l">
                        <a:buNone/>
                      </a:pPr>
                      <a:r>
                        <a:rPr sz="1800" b="0">
                          <a:solidFill>
                            <a:srgbClr val="111111"/>
                          </a:solidFill>
                          <a:latin typeface="Aptos"/>
                          <a:ea typeface="Aptos"/>
                          <a:cs typeface="Aptos"/>
                        </a:rPr>
                        <a:t>60</a:t>
                      </a:r>
                    </a:p>
                  </a:txBody>
                  <a:tcPr marL="91440" marR="91440" marT="45720" marB="45720" anchor="ctr">
                    <a:solidFill>
                      <a:srgbClr val="EEF8FE"/>
                    </a:solidFill>
                  </a:tcPr>
                </a:tc>
                <a:tc>
                  <a:txBody>
                    <a:bodyPr/>
                    <a:lstStyle/>
                    <a:p>
                      <a:pPr algn="ctr">
                        <a:buNone/>
                      </a:pPr>
                      <a:r>
                        <a:rPr sz="1800" b="0">
                          <a:solidFill>
                            <a:srgbClr val="111111"/>
                          </a:solidFill>
                          <a:latin typeface="Aptos"/>
                          <a:ea typeface="Aptos"/>
                          <a:cs typeface="Aptos"/>
                        </a:rPr>
                        <a:t>232</a:t>
                      </a:r>
                    </a:p>
                  </a:txBody>
                  <a:tcPr marL="91440" marR="91440" marT="45720" marB="45720" anchor="ctr">
                    <a:solidFill>
                      <a:srgbClr val="EEF8FE"/>
                    </a:solidFill>
                  </a:tcPr>
                </a:tc>
                <a:tc>
                  <a:txBody>
                    <a:bodyPr/>
                    <a:lstStyle/>
                    <a:p>
                      <a:pPr algn="ctr">
                        <a:buNone/>
                      </a:pPr>
                      <a:r>
                        <a:rPr sz="1800" b="0">
                          <a:solidFill>
                            <a:srgbClr val="111111"/>
                          </a:solidFill>
                          <a:latin typeface="Aptos"/>
                          <a:ea typeface="Aptos"/>
                          <a:cs typeface="Aptos"/>
                        </a:rPr>
                        <a:t>77.3%</a:t>
                      </a:r>
                    </a:p>
                  </a:txBody>
                  <a:tcPr marL="91440" marR="91440" marT="45720" marB="45720" anchor="ctr">
                    <a:solidFill>
                      <a:srgbClr val="EEF8FE"/>
                    </a:solidFill>
                  </a:tcPr>
                </a:tc>
              </a:tr>
              <a:tr h="410718">
                <a:tc>
                  <a:txBody>
                    <a:bodyPr/>
                    <a:lstStyle/>
                    <a:p>
                      <a:pPr algn="l">
                        <a:buNone/>
                      </a:pPr>
                      <a:r>
                        <a:rPr sz="1800" b="0">
                          <a:solidFill>
                            <a:srgbClr val="111111"/>
                          </a:solidFill>
                          <a:latin typeface="Aptos"/>
                          <a:ea typeface="Aptos"/>
                          <a:cs typeface="Aptos"/>
                        </a:rPr>
                        <a:t>80</a:t>
                      </a:r>
                    </a:p>
                  </a:txBody>
                  <a:tcPr marL="91440" marR="91440" marT="45720" marB="45720" anchor="ctr">
                    <a:solidFill>
                      <a:srgbClr val="FFFFFF"/>
                    </a:solidFill>
                  </a:tcPr>
                </a:tc>
                <a:tc>
                  <a:txBody>
                    <a:bodyPr/>
                    <a:lstStyle/>
                    <a:p>
                      <a:pPr algn="ctr">
                        <a:buNone/>
                      </a:pPr>
                      <a:r>
                        <a:rPr sz="1800" b="0">
                          <a:solidFill>
                            <a:srgbClr val="111111"/>
                          </a:solidFill>
                          <a:latin typeface="Aptos"/>
                          <a:ea typeface="Aptos"/>
                          <a:cs typeface="Aptos"/>
                        </a:rPr>
                        <a:t>285</a:t>
                      </a:r>
                    </a:p>
                  </a:txBody>
                  <a:tcPr marL="91440" marR="91440" marT="45720" marB="45720" anchor="ctr">
                    <a:solidFill>
                      <a:srgbClr val="FFFFFF"/>
                    </a:solidFill>
                  </a:tcPr>
                </a:tc>
                <a:tc>
                  <a:txBody>
                    <a:bodyPr/>
                    <a:lstStyle/>
                    <a:p>
                      <a:pPr algn="ctr">
                        <a:buNone/>
                      </a:pPr>
                      <a:r>
                        <a:rPr sz="1800" b="0">
                          <a:solidFill>
                            <a:srgbClr val="111111"/>
                          </a:solidFill>
                          <a:latin typeface="Aptos"/>
                          <a:ea typeface="Aptos"/>
                          <a:cs typeface="Aptos"/>
                        </a:rPr>
                        <a:t>95.0%</a:t>
                      </a:r>
                    </a:p>
                  </a:txBody>
                  <a:tcPr marL="91440" marR="91440" marT="45720" marB="45720" anchor="ctr">
                    <a:solidFill>
                      <a:srgbClr val="FFFFFF"/>
                    </a:solidFill>
                  </a:tcPr>
                </a:tc>
              </a:tr>
              <a:tr h="410718">
                <a:tc>
                  <a:txBody>
                    <a:bodyPr/>
                    <a:lstStyle/>
                    <a:p>
                      <a:pPr algn="l">
                        <a:buNone/>
                      </a:pPr>
                      <a:r>
                        <a:rPr sz="1800" b="0">
                          <a:solidFill>
                            <a:srgbClr val="111111"/>
                          </a:solidFill>
                          <a:latin typeface="Aptos"/>
                          <a:ea typeface="Aptos"/>
                          <a:cs typeface="Aptos"/>
                        </a:rPr>
                        <a:t>100</a:t>
                      </a:r>
                    </a:p>
                  </a:txBody>
                  <a:tcPr marL="91440" marR="91440" marT="45720" marB="45720" anchor="ctr">
                    <a:solidFill>
                      <a:srgbClr val="EEF8FE"/>
                    </a:solidFill>
                  </a:tcPr>
                </a:tc>
                <a:tc>
                  <a:txBody>
                    <a:bodyPr/>
                    <a:lstStyle/>
                    <a:p>
                      <a:pPr algn="ctr">
                        <a:buNone/>
                      </a:pPr>
                      <a:r>
                        <a:rPr sz="1800" b="0">
                          <a:solidFill>
                            <a:srgbClr val="111111"/>
                          </a:solidFill>
                          <a:latin typeface="Aptos"/>
                          <a:ea typeface="Aptos"/>
                          <a:cs typeface="Aptos"/>
                        </a:rPr>
                        <a:t>300</a:t>
                      </a:r>
                    </a:p>
                  </a:txBody>
                  <a:tcPr marL="91440" marR="91440" marT="45720" marB="45720" anchor="ctr">
                    <a:solidFill>
                      <a:srgbClr val="EEF8FE"/>
                    </a:solidFill>
                  </a:tcPr>
                </a:tc>
                <a:tc>
                  <a:txBody>
                    <a:bodyPr/>
                    <a:lstStyle/>
                    <a:p>
                      <a:pPr algn="ctr">
                        <a:buNone/>
                      </a:pPr>
                      <a:r>
                        <a:rPr sz="1800" b="0">
                          <a:solidFill>
                            <a:srgbClr val="111111"/>
                          </a:solidFill>
                          <a:latin typeface="Aptos"/>
                          <a:ea typeface="Aptos"/>
                          <a:cs typeface="Aptos"/>
                        </a:rPr>
                        <a:t>100.0%</a:t>
                      </a:r>
                    </a:p>
                  </a:txBody>
                  <a:tcPr marL="91440" marR="91440" marT="45720" marB="45720" anchor="ctr">
                    <a:solidFill>
                      <a:srgbClr val="EEF8FE"/>
                    </a:solidFill>
                  </a:tcPr>
                </a:tc>
              </a:tr>
            </a:tbl>
          </a:graphicData>
        </a:graphic>
      </p:graphicFrame>
      <p:graphicFrame>
        <p:nvGraphicFramePr>
          <p:cNvPr id="15" name="Chart"/>
          <p:cNvGraphicFramePr/>
          <p:nvPr/>
        </p:nvGraphicFramePr>
        <p:xfrm>
          <a:off xmlns:a="http://schemas.openxmlformats.org/drawingml/2006/main" x="6477000" y="2857500"/>
          <a:ext xmlns:a="http://schemas.openxmlformats.org/drawingml/2006/main" cx="5095875" cy="2914650"/>
        </p:xfrm>
        <a:graphic xmlns:a="http://schemas.openxmlformats.org/drawingml/2006/main">
          <a:graphicData uri="http://schemas.openxmlformats.org/drawingml/2006/chart">
            <c:chart xmlns:r="http://schemas.openxmlformats.org/officeDocument/2006/relationships" xmlns:c="http://schemas.openxmlformats.org/drawingml/2006/chart" r:id="R871a6be6cd6f493a"/>
          </a:graphicData>
        </a:graphic>
      </p:graphicFrame>
    </p:spTree>
    <p:extLst>
      <p:ext uri="{BB962C8B-B14F-4D97-AF65-F5344CB8AC3E}">
        <p14:creationId xmlns:p14="http://schemas.microsoft.com/office/powerpoint/2010/main" val="1718323462"/>
      </p:ext>
    </p:extLst>
  </p:cSld>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2026-09-10T08:45:24.4390000Z</dcterms:created>
  <dcterms:modified xsi:type="dcterms:W3CDTF">2026-09-10T08:45:24.4390000Z</dcterms:modified>
</coreProperties>
</file>