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8.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notesSlides/notesSlide21.xml" ContentType="application/vnd.openxmlformats-officedocument.presentationml.notesSlide+xml"/>
  <Override PartName="/ppt/charts/chart14.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5.xml" ContentType="application/vnd.openxmlformats-officedocument.drawingml.chart+xml"/>
  <Override PartName="/ppt/notesSlides/notesSlide27.xml" ContentType="application/vnd.openxmlformats-officedocument.presentationml.notesSlide+xml"/>
  <Override PartName="/ppt/charts/chart16.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17.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rts/chart18.xml" ContentType="application/vnd.openxmlformats-officedocument.drawingml.chart+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19.xml" ContentType="application/vnd.openxmlformats-officedocument.drawingml.chart+xml"/>
  <Override PartName="/ppt/notesSlides/notesSlide46.xml" ContentType="application/vnd.openxmlformats-officedocument.presentationml.notesSlide+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charts/chart23.xml" ContentType="application/vnd.openxmlformats-officedocument.drawingml.chart+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rts/chart24.xml" ContentType="application/vnd.openxmlformats-officedocument.drawingml.chart+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317"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955"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Mlynarski" userId="5c8c5ce1edfe4dd6" providerId="LiveId" clId="{EA34CD77-B017-48F4-80DC-E98A38773462}"/>
    <pc:docChg chg="modSld">
      <pc:chgData name="Jacob Mlynarski" userId="5c8c5ce1edfe4dd6" providerId="LiveId" clId="{EA34CD77-B017-48F4-80DC-E98A38773462}" dt="2026-09-11T02:24:09.525" v="0" actId="14100"/>
      <pc:docMkLst>
        <pc:docMk/>
      </pc:docMkLst>
      <pc:sldChg chg="modSp mod">
        <pc:chgData name="Jacob Mlynarski" userId="5c8c5ce1edfe4dd6" providerId="LiveId" clId="{EA34CD77-B017-48F4-80DC-E98A38773462}" dt="2026-09-11T02:24:09.525" v="0" actId="14100"/>
        <pc:sldMkLst>
          <pc:docMk/>
          <pc:sldMk cId="1796570811" sldId="285"/>
        </pc:sldMkLst>
        <pc:spChg chg="mod">
          <ac:chgData name="Jacob Mlynarski" userId="5c8c5ce1edfe4dd6" providerId="LiveId" clId="{EA34CD77-B017-48F4-80DC-E98A38773462}" dt="2026-09-11T02:24:09.525" v="0" actId="14100"/>
          <ac:spMkLst>
            <pc:docMk/>
            <pc:sldMk cId="1796570811" sldId="285"/>
            <ac:spMk id="9" creationId="{9F95A049-765E-4DBA-BBD9-9597A1A871F2}"/>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ln>
          </c:spPr>
          <c:invertIfNegative val="1"/>
          <c:dLbls>
            <c:spPr>
              <a:noFill/>
              <a:ln>
                <a:noFill/>
              </a:ln>
              <a:effectLst/>
            </c:spPr>
            <c:txPr>
              <a:bodyPr anchorCtr="1"/>
              <a:lstStyle/>
              <a:p>
                <a:pPr>
                  <a:defRPr sz="1500"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Tea</c:v>
                </c:pt>
                <c:pt idx="1">
                  <c:v>Juice</c:v>
                </c:pt>
                <c:pt idx="2">
                  <c:v>Water</c:v>
                </c:pt>
              </c:strCache>
            </c:strRef>
          </c:cat>
          <c:val>
            <c:numRef>
              <c:f>'Chart Data'!$B$2:$B$4</c:f>
              <c:numCache>
                <c:formatCode>0</c:formatCode>
                <c:ptCount val="3"/>
                <c:pt idx="0">
                  <c:v>8</c:v>
                </c:pt>
                <c:pt idx="1">
                  <c:v>5</c:v>
                </c:pt>
                <c:pt idx="2">
                  <c:v>7</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ln>
                </c14:spPr>
              </c14:invertSolidFillFmt>
            </c:ext>
            <c:ext xmlns:c16="http://schemas.microsoft.com/office/drawing/2014/chart" uri="{C3380CC4-5D6E-409C-BE32-E72D297353CC}">
              <c16:uniqueId val="{00000000-7A02-47F0-A958-A6DD70B000F0}"/>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title>
          <c:tx>
            <c:rich>
              <a:bodyPr/>
              <a:lstStyle/>
              <a:p>
                <a:r>
                  <a:rPr sz="1425">
                    <a:solidFill>
                      <a:srgbClr val="111111"/>
                    </a:solidFill>
                    <a:latin typeface="Aptos"/>
                    <a:ea typeface="Aptos"/>
                    <a:cs typeface="Aptos"/>
                  </a:rPr>
                  <a:t>Drink</a:t>
                </a:r>
              </a:p>
            </c:rich>
          </c:tx>
          <c:overlay val="0"/>
        </c:title>
        <c:numFmt formatCode="General" sourceLinked="1"/>
        <c:majorTickMark val="none"/>
        <c:minorTickMark val="none"/>
        <c:tickLblPos val="nextTo"/>
        <c:spPr>
          <a:ln w="13335">
            <a:solidFill>
              <a:srgbClr val="111111"/>
            </a:solidFill>
          </a:ln>
        </c:spPr>
        <c:txPr>
          <a:bodyPr anchorCtr="1"/>
          <a:lstStyle/>
          <a:p>
            <a:pPr>
              <a:defRPr sz="142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0"/>
          <c:min val="0"/>
        </c:scaling>
        <c:delete val="0"/>
        <c:axPos val="l"/>
        <c:majorGridlines>
          <c:spPr>
            <a:ln w="6668">
              <a:solidFill>
                <a:srgbClr val="D0D8DD"/>
              </a:solidFill>
            </a:ln>
          </c:spPr>
        </c:majorGridlines>
        <c:title>
          <c:tx>
            <c:rich>
              <a:bodyPr/>
              <a:lstStyle/>
              <a:p>
                <a:r>
                  <a:rPr sz="1425">
                    <a:solidFill>
                      <a:srgbClr val="111111"/>
                    </a:solidFill>
                    <a:latin typeface="Aptos"/>
                    <a:ea typeface="Aptos"/>
                    <a:cs typeface="Aptos"/>
                  </a:rPr>
                  <a:t>Orders</a:t>
                </a:r>
              </a:p>
            </c:rich>
          </c:tx>
          <c:overlay val="0"/>
        </c:title>
        <c:numFmt formatCode="0" sourceLinked="1"/>
        <c:majorTickMark val="none"/>
        <c:minorTickMark val="none"/>
        <c:tickLblPos val="nextTo"/>
        <c:spPr>
          <a:ln w="13335">
            <a:solidFill>
              <a:srgbClr val="111111"/>
            </a:solidFill>
          </a:ln>
        </c:spPr>
        <c:txPr>
          <a:bodyPr anchorCtr="1"/>
          <a:lstStyle/>
          <a:p>
            <a:pPr>
              <a:defRPr sz="1425">
                <a:solidFill>
                  <a:srgbClr val="111111"/>
                </a:solidFill>
                <a:latin typeface="Aptos"/>
                <a:ea typeface="Aptos"/>
                <a:cs typeface="Aptos"/>
              </a:defRPr>
            </a:pPr>
            <a:endParaRPr lang="en-US"/>
          </a:p>
        </c:txPr>
        <c:crossAx val="48650112"/>
        <c:crosses val="autoZero"/>
        <c:crossBetween val="between"/>
        <c:majorUnit val="2"/>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ln>
          </c:spPr>
          <c:invertIfNegative val="1"/>
          <c:dLbls>
            <c:spPr>
              <a:noFill/>
              <a:ln>
                <a:noFill/>
              </a:ln>
              <a:effectLst/>
            </c:spPr>
            <c:txPr>
              <a:bodyPr anchorCtr="1"/>
              <a:lstStyle/>
              <a:p>
                <a:pPr>
                  <a:defRPr sz="1500"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10 ≤ x &lt; 20</c:v>
                </c:pt>
                <c:pt idx="1">
                  <c:v>20 ≤ x &lt; 30</c:v>
                </c:pt>
                <c:pt idx="2">
                  <c:v>30 ≤ x &lt; 40</c:v>
                </c:pt>
                <c:pt idx="3">
                  <c:v>40 ≤ x &lt; 50</c:v>
                </c:pt>
              </c:strCache>
            </c:strRef>
          </c:cat>
          <c:val>
            <c:numRef>
              <c:f>'Chart Data'!$B$2:$B$5</c:f>
              <c:numCache>
                <c:formatCode>0</c:formatCode>
                <c:ptCount val="4"/>
                <c:pt idx="0">
                  <c:v>2</c:v>
                </c:pt>
                <c:pt idx="1">
                  <c:v>7</c:v>
                </c:pt>
                <c:pt idx="2">
                  <c:v>10</c:v>
                </c:pt>
                <c:pt idx="3">
                  <c:v>6</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ln>
                </c14:spPr>
              </c14:invertSolidFillFmt>
            </c:ext>
            <c:ext xmlns:c16="http://schemas.microsoft.com/office/drawing/2014/chart" uri="{C3380CC4-5D6E-409C-BE32-E72D297353CC}">
              <c16:uniqueId val="{00000000-274B-4BBA-8376-F0E932E0A968}"/>
            </c:ext>
          </c:extLst>
        </c:ser>
        <c:dLbls>
          <c:dLblPos val="outEnd"/>
          <c:showLegendKey val="0"/>
          <c:showVal val="1"/>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sz="1425">
                    <a:solidFill>
                      <a:srgbClr val="111111"/>
                    </a:solidFill>
                    <a:latin typeface="Aptos"/>
                    <a:ea typeface="Aptos"/>
                    <a:cs typeface="Aptos"/>
                  </a:rPr>
                  <a:t>Sign-ups per session</a:t>
                </a:r>
              </a:p>
            </c:rich>
          </c:tx>
          <c:overlay val="0"/>
        </c:title>
        <c:numFmt formatCode="General" sourceLinked="1"/>
        <c:majorTickMark val="none"/>
        <c:minorTickMark val="none"/>
        <c:tickLblPos val="nextTo"/>
        <c:spPr>
          <a:ln w="13335">
            <a:solidFill>
              <a:srgbClr val="111111"/>
            </a:solidFill>
          </a:ln>
        </c:spPr>
        <c:txPr>
          <a:bodyPr anchorCtr="1"/>
          <a:lstStyle/>
          <a:p>
            <a:pPr>
              <a:defRPr sz="142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0D8DD"/>
              </a:solidFill>
            </a:ln>
          </c:spPr>
        </c:majorGridlines>
        <c:title>
          <c:tx>
            <c:rich>
              <a:bodyPr/>
              <a:lstStyle/>
              <a:p>
                <a:r>
                  <a:rPr sz="1425">
                    <a:solidFill>
                      <a:srgbClr val="111111"/>
                    </a:solidFill>
                    <a:latin typeface="Aptos"/>
                    <a:ea typeface="Aptos"/>
                    <a:cs typeface="Aptos"/>
                  </a:rPr>
                  <a:t>Number of sessions</a:t>
                </a:r>
              </a:p>
            </c:rich>
          </c:tx>
          <c:overlay val="0"/>
        </c:title>
        <c:numFmt formatCode="0" sourceLinked="1"/>
        <c:majorTickMark val="none"/>
        <c:minorTickMark val="none"/>
        <c:tickLblPos val="nextTo"/>
        <c:spPr>
          <a:ln w="13335">
            <a:solidFill>
              <a:srgbClr val="111111"/>
            </a:solidFill>
          </a:ln>
        </c:spPr>
        <c:txPr>
          <a:bodyPr anchorCtr="1"/>
          <a:lstStyle/>
          <a:p>
            <a:pPr>
              <a:defRPr sz="1425">
                <a:solidFill>
                  <a:srgbClr val="111111"/>
                </a:solidFill>
                <a:latin typeface="Aptos"/>
                <a:ea typeface="Aptos"/>
                <a:cs typeface="Aptos"/>
              </a:defRPr>
            </a:pPr>
            <a:endParaRPr lang="en-US"/>
          </a:p>
        </c:txPr>
        <c:crossAx val="48650112"/>
        <c:crosses val="autoZero"/>
        <c:crossBetween val="between"/>
        <c:majorUnit val="2"/>
      </c:valAx>
      <c:spPr>
        <a:noFill/>
        <a:ln w="0">
          <a:noFill/>
        </a:ln>
      </c:spPr>
    </c:plotArea>
    <c:plotVisOnly val="1"/>
    <c:dispBlanksAs val="zero"/>
    <c:showDLblsOverMax val="1"/>
  </c:chart>
  <c:spPr>
    <a:no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ln>
          </c:spPr>
          <c:invertIfNegative val="1"/>
          <c:dLbls>
            <c:dLbl>
              <c:idx val="1"/>
              <c:delete val="1"/>
              <c:extLst>
                <c:ext xmlns:c15="http://schemas.microsoft.com/office/drawing/2012/chart" uri="{CE6537A1-D6FC-4f65-9D91-7224C49458BB}"/>
                <c:ext xmlns:c16="http://schemas.microsoft.com/office/drawing/2014/chart" uri="{C3380CC4-5D6E-409C-BE32-E72D297353CC}">
                  <c16:uniqueId val="{00000000-AC97-462E-BD88-5DAC7AE7B7B2}"/>
                </c:ext>
              </c:extLst>
            </c:dLbl>
            <c:dLbl>
              <c:idx val="2"/>
              <c:delete val="1"/>
              <c:extLst>
                <c:ext xmlns:c15="http://schemas.microsoft.com/office/drawing/2012/chart" uri="{CE6537A1-D6FC-4f65-9D91-7224C49458BB}"/>
                <c:ext xmlns:c16="http://schemas.microsoft.com/office/drawing/2014/chart" uri="{C3380CC4-5D6E-409C-BE32-E72D297353CC}">
                  <c16:uniqueId val="{00000001-AC97-462E-BD88-5DAC7AE7B7B2}"/>
                </c:ext>
              </c:extLst>
            </c:dLbl>
            <c:dLbl>
              <c:idx val="3"/>
              <c:delete val="1"/>
              <c:extLst>
                <c:ext xmlns:c15="http://schemas.microsoft.com/office/drawing/2012/chart" uri="{CE6537A1-D6FC-4f65-9D91-7224C49458BB}"/>
                <c:ext xmlns:c16="http://schemas.microsoft.com/office/drawing/2014/chart" uri="{C3380CC4-5D6E-409C-BE32-E72D297353CC}">
                  <c16:uniqueId val="{00000002-AC97-462E-BD88-5DAC7AE7B7B2}"/>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Data'!$A$2:$A$5</c:f>
              <c:strCache>
                <c:ptCount val="4"/>
                <c:pt idx="0">
                  <c:v>10 ≤ x &lt; 20</c:v>
                </c:pt>
                <c:pt idx="1">
                  <c:v>20 ≤ x &lt; 30</c:v>
                </c:pt>
                <c:pt idx="2">
                  <c:v>30 ≤ x &lt; 40</c:v>
                </c:pt>
                <c:pt idx="3">
                  <c:v>40 ≤ x &lt; 50</c:v>
                </c:pt>
              </c:strCache>
            </c:strRef>
          </c:cat>
          <c:val>
            <c:numRef>
              <c:f>'Chart Data'!$B$2:$B$5</c:f>
              <c:numCache>
                <c:formatCode>0</c:formatCode>
                <c:ptCount val="4"/>
                <c:pt idx="0">
                  <c:v>2</c:v>
                </c:pt>
                <c:pt idx="1">
                  <c:v>0</c:v>
                </c:pt>
                <c:pt idx="2">
                  <c:v>0</c:v>
                </c:pt>
                <c:pt idx="3">
                  <c:v>0</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ln>
                </c14:spPr>
              </c14:invertSolidFillFmt>
            </c:ext>
            <c:ext xmlns:c16="http://schemas.microsoft.com/office/drawing/2014/chart" uri="{C3380CC4-5D6E-409C-BE32-E72D297353CC}">
              <c16:uniqueId val="{00000003-AC97-462E-BD88-5DAC7AE7B7B2}"/>
            </c:ext>
          </c:extLst>
        </c:ser>
        <c:dLbls>
          <c:dLblPos val="outEnd"/>
          <c:showLegendKey val="0"/>
          <c:showVal val="1"/>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sz="1650">
                    <a:solidFill>
                      <a:srgbClr val="111111"/>
                    </a:solidFill>
                    <a:latin typeface="Aptos"/>
                    <a:ea typeface="Aptos"/>
                    <a:cs typeface="Aptos"/>
                  </a:rPr>
                  <a:t>Sign-ups per session</a:t>
                </a:r>
              </a:p>
            </c:rich>
          </c:tx>
          <c:overlay val="0"/>
        </c:title>
        <c:numFmt formatCode="General" sourceLinked="1"/>
        <c:majorTickMark val="none"/>
        <c:minorTickMark val="none"/>
        <c:tickLblPos val="nextTo"/>
        <c:spPr>
          <a:ln w="13335">
            <a:solidFill>
              <a:srgbClr val="111111"/>
            </a:solidFill>
          </a:ln>
        </c:spPr>
        <c:txPr>
          <a:bodyPr anchorCtr="1"/>
          <a:lstStyle/>
          <a:p>
            <a:pPr>
              <a:defRPr sz="1650">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0D8DD"/>
              </a:solidFill>
            </a:ln>
          </c:spPr>
        </c:majorGridlines>
        <c:title>
          <c:tx>
            <c:rich>
              <a:bodyPr/>
              <a:lstStyle/>
              <a:p>
                <a:r>
                  <a:rPr sz="1650">
                    <a:solidFill>
                      <a:srgbClr val="111111"/>
                    </a:solidFill>
                    <a:latin typeface="Aptos"/>
                    <a:ea typeface="Aptos"/>
                    <a:cs typeface="Aptos"/>
                  </a:rPr>
                  <a:t>Number of sessions</a:t>
                </a:r>
              </a:p>
            </c:rich>
          </c:tx>
          <c:overlay val="0"/>
        </c:title>
        <c:numFmt formatCode="0" sourceLinked="1"/>
        <c:majorTickMark val="none"/>
        <c:minorTickMark val="none"/>
        <c:tickLblPos val="nextTo"/>
        <c:spPr>
          <a:ln w="13335">
            <a:solidFill>
              <a:srgbClr val="111111"/>
            </a:solidFill>
          </a:ln>
        </c:spPr>
        <c:txPr>
          <a:bodyPr anchorCtr="1"/>
          <a:lstStyle/>
          <a:p>
            <a:pPr>
              <a:defRPr sz="1650">
                <a:solidFill>
                  <a:srgbClr val="111111"/>
                </a:solidFill>
                <a:latin typeface="Aptos"/>
                <a:ea typeface="Aptos"/>
                <a:cs typeface="Aptos"/>
              </a:defRPr>
            </a:pPr>
            <a:endParaRPr lang="en-US"/>
          </a:p>
        </c:txPr>
        <c:crossAx val="48650112"/>
        <c:crosses val="autoZero"/>
        <c:crossBetween val="between"/>
        <c:majorUnit val="2"/>
      </c:valAx>
      <c:spPr>
        <a:noFill/>
        <a:ln w="0">
          <a:noFill/>
        </a:ln>
      </c:spPr>
    </c:plotArea>
    <c:plotVisOnly val="1"/>
    <c:dispBlanksAs val="zero"/>
    <c:showDLblsOverMax val="1"/>
  </c:chart>
  <c:spPr>
    <a:no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ln>
          </c:spPr>
          <c:invertIfNegative val="1"/>
          <c:dLbls>
            <c:spPr>
              <a:noFill/>
              <a:ln>
                <a:noFill/>
              </a:ln>
              <a:effectLst/>
            </c:spPr>
            <c:txPr>
              <a:bodyPr anchorCtr="1"/>
              <a:lstStyle/>
              <a:p>
                <a:pPr>
                  <a:defRPr sz="1725"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10 ≤ x &lt; 20</c:v>
                </c:pt>
                <c:pt idx="1">
                  <c:v>20 ≤ x &lt; 30</c:v>
                </c:pt>
                <c:pt idx="2">
                  <c:v>30 ≤ x &lt; 40</c:v>
                </c:pt>
                <c:pt idx="3">
                  <c:v>40 ≤ x &lt; 50</c:v>
                </c:pt>
              </c:strCache>
            </c:strRef>
          </c:cat>
          <c:val>
            <c:numRef>
              <c:f>'Chart Data'!$B$2:$B$5</c:f>
              <c:numCache>
                <c:formatCode>0</c:formatCode>
                <c:ptCount val="4"/>
                <c:pt idx="0">
                  <c:v>2</c:v>
                </c:pt>
                <c:pt idx="1">
                  <c:v>7</c:v>
                </c:pt>
                <c:pt idx="2">
                  <c:v>10</c:v>
                </c:pt>
                <c:pt idx="3">
                  <c:v>6</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ln>
                </c14:spPr>
              </c14:invertSolidFillFmt>
            </c:ext>
            <c:ext xmlns:c16="http://schemas.microsoft.com/office/drawing/2014/chart" uri="{C3380CC4-5D6E-409C-BE32-E72D297353CC}">
              <c16:uniqueId val="{00000000-AD52-489C-BCF5-4CD4C11728D7}"/>
            </c:ext>
          </c:extLst>
        </c:ser>
        <c:dLbls>
          <c:dLblPos val="outEnd"/>
          <c:showLegendKey val="0"/>
          <c:showVal val="1"/>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sz="1650">
                    <a:solidFill>
                      <a:srgbClr val="111111"/>
                    </a:solidFill>
                    <a:latin typeface="Aptos"/>
                    <a:ea typeface="Aptos"/>
                    <a:cs typeface="Aptos"/>
                  </a:rPr>
                  <a:t>Sign-ups per session</a:t>
                </a:r>
              </a:p>
            </c:rich>
          </c:tx>
          <c:overlay val="0"/>
        </c:title>
        <c:numFmt formatCode="General" sourceLinked="1"/>
        <c:majorTickMark val="none"/>
        <c:minorTickMark val="none"/>
        <c:tickLblPos val="nextTo"/>
        <c:spPr>
          <a:ln w="13335">
            <a:solidFill>
              <a:srgbClr val="111111"/>
            </a:solidFill>
          </a:ln>
        </c:spPr>
        <c:txPr>
          <a:bodyPr anchorCtr="1"/>
          <a:lstStyle/>
          <a:p>
            <a:pPr>
              <a:defRPr sz="1650">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0D8DD"/>
              </a:solidFill>
            </a:ln>
          </c:spPr>
        </c:majorGridlines>
        <c:title>
          <c:tx>
            <c:rich>
              <a:bodyPr/>
              <a:lstStyle/>
              <a:p>
                <a:r>
                  <a:rPr sz="1650">
                    <a:solidFill>
                      <a:srgbClr val="111111"/>
                    </a:solidFill>
                    <a:latin typeface="Aptos"/>
                    <a:ea typeface="Aptos"/>
                    <a:cs typeface="Aptos"/>
                  </a:rPr>
                  <a:t>Number of sessions</a:t>
                </a:r>
              </a:p>
            </c:rich>
          </c:tx>
          <c:overlay val="0"/>
        </c:title>
        <c:numFmt formatCode="0" sourceLinked="1"/>
        <c:majorTickMark val="none"/>
        <c:minorTickMark val="none"/>
        <c:tickLblPos val="nextTo"/>
        <c:spPr>
          <a:ln w="13335">
            <a:solidFill>
              <a:srgbClr val="111111"/>
            </a:solidFill>
          </a:ln>
        </c:spPr>
        <c:txPr>
          <a:bodyPr anchorCtr="1"/>
          <a:lstStyle/>
          <a:p>
            <a:pPr>
              <a:defRPr sz="1650">
                <a:solidFill>
                  <a:srgbClr val="111111"/>
                </a:solidFill>
                <a:latin typeface="Aptos"/>
                <a:ea typeface="Aptos"/>
                <a:cs typeface="Aptos"/>
              </a:defRPr>
            </a:pPr>
            <a:endParaRPr lang="en-US"/>
          </a:p>
        </c:txPr>
        <c:crossAx val="48650112"/>
        <c:crosses val="autoZero"/>
        <c:crossBetween val="between"/>
        <c:majorUnit val="2"/>
      </c:valAx>
      <c:spPr>
        <a:noFill/>
        <a:ln w="0">
          <a:noFill/>
        </a:ln>
      </c:spPr>
    </c:plotArea>
    <c:plotVisOnly val="1"/>
    <c:dispBlanksAs val="zero"/>
    <c:showDLblsOverMax val="1"/>
  </c:chart>
  <c:spPr>
    <a:no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ln>
          </c:spPr>
          <c:invertIfNegative val="1"/>
          <c:dLbls>
            <c:spPr>
              <a:noFill/>
              <a:ln>
                <a:noFill/>
              </a:ln>
              <a:effectLst/>
            </c:spPr>
            <c:txPr>
              <a:bodyPr anchorCtr="1"/>
              <a:lstStyle/>
              <a:p>
                <a:pPr>
                  <a:defRPr sz="1725"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10 ≤ x &lt; 20</c:v>
                </c:pt>
                <c:pt idx="1">
                  <c:v>20 ≤ x &lt; 30</c:v>
                </c:pt>
                <c:pt idx="2">
                  <c:v>30 ≤ x &lt; 40</c:v>
                </c:pt>
                <c:pt idx="3">
                  <c:v>40 ≤ x &lt; 50</c:v>
                </c:pt>
              </c:strCache>
            </c:strRef>
          </c:cat>
          <c:val>
            <c:numRef>
              <c:f>'Chart Data'!$B$2:$B$5</c:f>
              <c:numCache>
                <c:formatCode>0</c:formatCode>
                <c:ptCount val="4"/>
                <c:pt idx="0">
                  <c:v>4</c:v>
                </c:pt>
                <c:pt idx="1">
                  <c:v>8</c:v>
                </c:pt>
                <c:pt idx="2">
                  <c:v>6</c:v>
                </c:pt>
                <c:pt idx="3">
                  <c:v>2</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ln>
                </c14:spPr>
              </c14:invertSolidFillFmt>
            </c:ext>
            <c:ext xmlns:c16="http://schemas.microsoft.com/office/drawing/2014/chart" uri="{C3380CC4-5D6E-409C-BE32-E72D297353CC}">
              <c16:uniqueId val="{00000000-BF8D-4358-9F4C-CB6C0EE46C36}"/>
            </c:ext>
          </c:extLst>
        </c:ser>
        <c:dLbls>
          <c:dLblPos val="outEnd"/>
          <c:showLegendKey val="0"/>
          <c:showVal val="1"/>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sz="1650">
                    <a:solidFill>
                      <a:srgbClr val="111111"/>
                    </a:solidFill>
                    <a:latin typeface="Aptos"/>
                    <a:ea typeface="Aptos"/>
                    <a:cs typeface="Aptos"/>
                  </a:rPr>
                  <a:t>Sign-ups per session</a:t>
                </a:r>
              </a:p>
            </c:rich>
          </c:tx>
          <c:overlay val="0"/>
        </c:title>
        <c:numFmt formatCode="General" sourceLinked="1"/>
        <c:majorTickMark val="none"/>
        <c:minorTickMark val="none"/>
        <c:tickLblPos val="nextTo"/>
        <c:spPr>
          <a:ln w="13335">
            <a:solidFill>
              <a:srgbClr val="111111"/>
            </a:solidFill>
          </a:ln>
        </c:spPr>
        <c:txPr>
          <a:bodyPr anchorCtr="1"/>
          <a:lstStyle/>
          <a:p>
            <a:pPr>
              <a:defRPr sz="1650">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0"/>
          <c:min val="0"/>
        </c:scaling>
        <c:delete val="0"/>
        <c:axPos val="l"/>
        <c:majorGridlines>
          <c:spPr>
            <a:ln w="6668">
              <a:solidFill>
                <a:srgbClr val="D0D8DD"/>
              </a:solidFill>
            </a:ln>
          </c:spPr>
        </c:majorGridlines>
        <c:title>
          <c:tx>
            <c:rich>
              <a:bodyPr/>
              <a:lstStyle/>
              <a:p>
                <a:r>
                  <a:rPr sz="1650">
                    <a:solidFill>
                      <a:srgbClr val="111111"/>
                    </a:solidFill>
                    <a:latin typeface="Aptos"/>
                    <a:ea typeface="Aptos"/>
                    <a:cs typeface="Aptos"/>
                  </a:rPr>
                  <a:t>Number of sessions</a:t>
                </a:r>
              </a:p>
            </c:rich>
          </c:tx>
          <c:overlay val="0"/>
        </c:title>
        <c:numFmt formatCode="0" sourceLinked="1"/>
        <c:majorTickMark val="none"/>
        <c:minorTickMark val="none"/>
        <c:tickLblPos val="nextTo"/>
        <c:spPr>
          <a:ln w="13335">
            <a:solidFill>
              <a:srgbClr val="111111"/>
            </a:solidFill>
          </a:ln>
        </c:spPr>
        <c:txPr>
          <a:bodyPr anchorCtr="1"/>
          <a:lstStyle/>
          <a:p>
            <a:pPr>
              <a:defRPr sz="1650">
                <a:solidFill>
                  <a:srgbClr val="111111"/>
                </a:solidFill>
                <a:latin typeface="Aptos"/>
                <a:ea typeface="Aptos"/>
                <a:cs typeface="Aptos"/>
              </a:defRPr>
            </a:pPr>
            <a:endParaRPr lang="en-US"/>
          </a:p>
        </c:txPr>
        <c:crossAx val="48650112"/>
        <c:crosses val="autoZero"/>
        <c:crossBetween val="between"/>
        <c:majorUnit val="2"/>
      </c:valAx>
      <c:spPr>
        <a:noFill/>
        <a:ln w="0">
          <a:noFill/>
        </a:ln>
      </c:spPr>
    </c:plotArea>
    <c:plotVisOnly val="1"/>
    <c:dispBlanksAs val="zero"/>
    <c:showDLblsOverMax val="1"/>
  </c:chart>
  <c:spPr>
    <a:noFill/>
    <a:ln w="0">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ln>
          </c:spPr>
          <c:invertIfNegative val="1"/>
          <c:dLbls>
            <c:spPr>
              <a:noFill/>
              <a:ln>
                <a:noFill/>
              </a:ln>
              <a:effectLst/>
            </c:spPr>
            <c:txPr>
              <a:bodyPr anchorCtr="1"/>
              <a:lstStyle/>
              <a:p>
                <a:pPr>
                  <a:defRPr sz="1500"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10 ≤ x &lt; 20</c:v>
                </c:pt>
                <c:pt idx="1">
                  <c:v>20 ≤ x &lt; 30</c:v>
                </c:pt>
                <c:pt idx="2">
                  <c:v>30 ≤ x &lt; 40</c:v>
                </c:pt>
                <c:pt idx="3">
                  <c:v>40 ≤ x &lt; 50</c:v>
                </c:pt>
              </c:strCache>
            </c:strRef>
          </c:cat>
          <c:val>
            <c:numRef>
              <c:f>'Chart Data'!$B$2:$B$5</c:f>
              <c:numCache>
                <c:formatCode>0</c:formatCode>
                <c:ptCount val="4"/>
                <c:pt idx="0">
                  <c:v>2</c:v>
                </c:pt>
                <c:pt idx="1">
                  <c:v>7</c:v>
                </c:pt>
                <c:pt idx="2">
                  <c:v>10</c:v>
                </c:pt>
                <c:pt idx="3">
                  <c:v>6</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ln>
                </c14:spPr>
              </c14:invertSolidFillFmt>
            </c:ext>
            <c:ext xmlns:c16="http://schemas.microsoft.com/office/drawing/2014/chart" uri="{C3380CC4-5D6E-409C-BE32-E72D297353CC}">
              <c16:uniqueId val="{00000000-6A4C-406B-B79F-E79381E2F83F}"/>
            </c:ext>
          </c:extLst>
        </c:ser>
        <c:dLbls>
          <c:dLblPos val="outEnd"/>
          <c:showLegendKey val="0"/>
          <c:showVal val="1"/>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sz="1425">
                    <a:solidFill>
                      <a:srgbClr val="111111"/>
                    </a:solidFill>
                    <a:latin typeface="Aptos"/>
                    <a:ea typeface="Aptos"/>
                    <a:cs typeface="Aptos"/>
                  </a:rPr>
                  <a:t>Sign-ups per session</a:t>
                </a:r>
              </a:p>
            </c:rich>
          </c:tx>
          <c:overlay val="0"/>
        </c:title>
        <c:numFmt formatCode="General" sourceLinked="1"/>
        <c:majorTickMark val="none"/>
        <c:minorTickMark val="none"/>
        <c:tickLblPos val="nextTo"/>
        <c:spPr>
          <a:ln w="13335">
            <a:solidFill>
              <a:srgbClr val="111111"/>
            </a:solidFill>
          </a:ln>
        </c:spPr>
        <c:txPr>
          <a:bodyPr anchorCtr="1"/>
          <a:lstStyle/>
          <a:p>
            <a:pPr>
              <a:defRPr sz="142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0D8DD"/>
              </a:solidFill>
            </a:ln>
          </c:spPr>
        </c:majorGridlines>
        <c:title>
          <c:tx>
            <c:rich>
              <a:bodyPr/>
              <a:lstStyle/>
              <a:p>
                <a:r>
                  <a:rPr sz="1425">
                    <a:solidFill>
                      <a:srgbClr val="111111"/>
                    </a:solidFill>
                    <a:latin typeface="Aptos"/>
                    <a:ea typeface="Aptos"/>
                    <a:cs typeface="Aptos"/>
                  </a:rPr>
                  <a:t>Number of sessions</a:t>
                </a:r>
              </a:p>
            </c:rich>
          </c:tx>
          <c:overlay val="0"/>
        </c:title>
        <c:numFmt formatCode="0" sourceLinked="1"/>
        <c:majorTickMark val="none"/>
        <c:minorTickMark val="none"/>
        <c:tickLblPos val="nextTo"/>
        <c:spPr>
          <a:ln w="13335">
            <a:solidFill>
              <a:srgbClr val="111111"/>
            </a:solidFill>
          </a:ln>
        </c:spPr>
        <c:txPr>
          <a:bodyPr anchorCtr="1"/>
          <a:lstStyle/>
          <a:p>
            <a:pPr>
              <a:defRPr sz="1425">
                <a:solidFill>
                  <a:srgbClr val="111111"/>
                </a:solidFill>
                <a:latin typeface="Aptos"/>
                <a:ea typeface="Aptos"/>
                <a:cs typeface="Aptos"/>
              </a:defRPr>
            </a:pPr>
            <a:endParaRPr lang="en-US"/>
          </a:p>
        </c:txPr>
        <c:crossAx val="48650112"/>
        <c:crosses val="autoZero"/>
        <c:crossBetween val="between"/>
        <c:majorUnit val="2"/>
      </c:valAx>
      <c:spPr>
        <a:noFill/>
        <a:ln w="0">
          <a:noFill/>
        </a:ln>
      </c:spPr>
    </c:plotArea>
    <c:plotVisOnly val="1"/>
    <c:dispBlanksAs val="zero"/>
    <c:showDLblsOverMax val="1"/>
  </c:chart>
  <c:spPr>
    <a:noFill/>
    <a:ln w="0">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9525">
              <a:solidFill>
                <a:srgbClr val="111111"/>
              </a:solidFill>
            </a:ln>
          </c:spPr>
          <c:invertIfNegative val="1"/>
          <c:dLbls>
            <c:spPr>
              <a:noFill/>
              <a:ln>
                <a:noFill/>
              </a:ln>
              <a:effectLst/>
            </c:spPr>
            <c:txPr>
              <a:bodyPr anchorCtr="1"/>
              <a:lstStyle/>
              <a:p>
                <a:pPr>
                  <a:defRPr sz="1575"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10 ≤ x &lt; 30</c:v>
                </c:pt>
                <c:pt idx="1">
                  <c:v>30 ≤ x &lt; 50</c:v>
                </c:pt>
              </c:strCache>
            </c:strRef>
          </c:cat>
          <c:val>
            <c:numRef>
              <c:f>'Chart Data'!$B$2:$B$3</c:f>
              <c:numCache>
                <c:formatCode>0</c:formatCode>
                <c:ptCount val="2"/>
                <c:pt idx="0">
                  <c:v>9</c:v>
                </c:pt>
                <c:pt idx="1">
                  <c:v>16</c:v>
                </c:pt>
              </c:numCache>
            </c:numRef>
          </c:val>
          <c:extLst>
            <c:ext xmlns:c14="http://schemas.microsoft.com/office/drawing/2007/8/2/chart" uri="{6F2FDCE9-48DA-4B69-8628-5D25D57E5C99}">
              <c14:invertSolidFillFmt>
                <c14:spPr xmlns:c14="http://schemas.microsoft.com/office/drawing/2007/8/2/chart">
                  <a:solidFill>
                    <a:srgbClr val="FFFFFF"/>
                  </a:solidFill>
                  <a:ln w="9525">
                    <a:solidFill>
                      <a:srgbClr val="111111"/>
                    </a:solidFill>
                  </a:ln>
                </c14:spPr>
              </c14:invertSolidFillFmt>
            </c:ext>
            <c:ext xmlns:c16="http://schemas.microsoft.com/office/drawing/2014/chart" uri="{C3380CC4-5D6E-409C-BE32-E72D297353CC}">
              <c16:uniqueId val="{00000000-190F-46E5-BE6F-9B43420402EC}"/>
            </c:ext>
          </c:extLst>
        </c:ser>
        <c:dLbls>
          <c:dLblPos val="outEnd"/>
          <c:showLegendKey val="0"/>
          <c:showVal val="1"/>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sz="1500">
                    <a:solidFill>
                      <a:srgbClr val="111111"/>
                    </a:solidFill>
                    <a:latin typeface="Aptos"/>
                    <a:ea typeface="Aptos"/>
                    <a:cs typeface="Aptos"/>
                  </a:rPr>
                  <a:t>Sign-ups per session</a:t>
                </a:r>
              </a:p>
            </c:rich>
          </c:tx>
          <c:overlay val="0"/>
        </c:title>
        <c:numFmt formatCode="General"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20"/>
          <c:min val="0"/>
        </c:scaling>
        <c:delete val="0"/>
        <c:axPos val="l"/>
        <c:majorGridlines>
          <c:spPr>
            <a:ln w="6668">
              <a:solidFill>
                <a:srgbClr val="D0D8DD"/>
              </a:solidFill>
            </a:ln>
          </c:spPr>
        </c:majorGridlines>
        <c:title>
          <c:tx>
            <c:rich>
              <a:bodyPr/>
              <a:lstStyle/>
              <a:p>
                <a:r>
                  <a:rPr sz="1500">
                    <a:solidFill>
                      <a:srgbClr val="111111"/>
                    </a:solidFill>
                    <a:latin typeface="Aptos"/>
                    <a:ea typeface="Aptos"/>
                    <a:cs typeface="Aptos"/>
                  </a:rPr>
                  <a:t>Number of sessions</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50112"/>
        <c:crosses val="autoZero"/>
        <c:crossBetween val="between"/>
        <c:majorUnit val="5"/>
      </c:valAx>
      <c:spPr>
        <a:noFill/>
        <a:ln w="0">
          <a:noFill/>
        </a:ln>
      </c:spPr>
    </c:plotArea>
    <c:plotVisOnly val="1"/>
    <c:dispBlanksAs val="zero"/>
    <c:showDLblsOverMax val="1"/>
  </c:chart>
  <c:spPr>
    <a:noFill/>
    <a:ln w="0">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Series 1</c:v>
          </c:tx>
          <c:spPr>
            <a:ln w="28575">
              <a:solidFill>
                <a:srgbClr val="D6171D"/>
              </a:solidFill>
              <a:prstDash val="solid"/>
            </a:ln>
          </c:spPr>
          <c:marker>
            <c:symbol val="circle"/>
            <c:size val="7"/>
            <c:spPr>
              <a:solidFill>
                <a:srgbClr val="D6171D"/>
              </a:solidFill>
            </c:spPr>
          </c:marker>
          <c:xVal>
            <c:numRef>
              <c:f>'Chart Data'!$A$2:$A$7</c:f>
              <c:numCache>
                <c:formatCode>0.##</c:formatCode>
                <c:ptCount val="6"/>
                <c:pt idx="0">
                  <c:v>5</c:v>
                </c:pt>
                <c:pt idx="1">
                  <c:v>15</c:v>
                </c:pt>
                <c:pt idx="2">
                  <c:v>25</c:v>
                </c:pt>
                <c:pt idx="3">
                  <c:v>35</c:v>
                </c:pt>
                <c:pt idx="4">
                  <c:v>45</c:v>
                </c:pt>
                <c:pt idx="5">
                  <c:v>55</c:v>
                </c:pt>
              </c:numCache>
            </c:numRef>
          </c:xVal>
          <c:yVal>
            <c:numRef>
              <c:f>'Chart Data'!$B$2:$B$7</c:f>
              <c:numCache>
                <c:formatCode>0.##</c:formatCode>
                <c:ptCount val="6"/>
                <c:pt idx="0">
                  <c:v>0</c:v>
                </c:pt>
                <c:pt idx="1">
                  <c:v>2</c:v>
                </c:pt>
                <c:pt idx="2">
                  <c:v>7</c:v>
                </c:pt>
                <c:pt idx="3">
                  <c:v>10</c:v>
                </c:pt>
                <c:pt idx="4">
                  <c:v>6</c:v>
                </c:pt>
                <c:pt idx="5">
                  <c:v>0</c:v>
                </c:pt>
              </c:numCache>
            </c:numRef>
          </c:yVal>
          <c:smooth val="1"/>
          <c:extLst>
            <c:ext xmlns:c16="http://schemas.microsoft.com/office/drawing/2014/chart" uri="{C3380CC4-5D6E-409C-BE32-E72D297353CC}">
              <c16:uniqueId val="{00000000-01D6-4C74-BD6A-28B81D2E8192}"/>
            </c:ext>
          </c:extLst>
        </c:ser>
        <c:dLbls>
          <c:showLegendKey val="0"/>
          <c:showVal val="0"/>
          <c:showCatName val="0"/>
          <c:showSerName val="0"/>
          <c:showPercent val="0"/>
          <c:showBubbleSize val="0"/>
        </c:dLbls>
        <c:axId val="48650112"/>
        <c:axId val="48672768"/>
      </c:scatterChart>
      <c:valAx>
        <c:axId val="48672768"/>
        <c:scaling>
          <c:orientation val="minMax"/>
          <c:max val="12"/>
          <c:min val="0"/>
        </c:scaling>
        <c:delete val="0"/>
        <c:axPos val="l"/>
        <c:majorGridlines>
          <c:spPr>
            <a:ln w="6668">
              <a:solidFill>
                <a:srgbClr val="D0D8DD"/>
              </a:solidFill>
              <a:prstDash val="solid"/>
            </a:ln>
          </c:spPr>
        </c:majorGridlines>
        <c:title>
          <c:tx>
            <c:rich>
              <a:bodyPr/>
              <a:lstStyle/>
              <a:p>
                <a:r>
                  <a:rPr sz="1650">
                    <a:solidFill>
                      <a:srgbClr val="111111"/>
                    </a:solidFill>
                    <a:latin typeface="Aptos"/>
                    <a:ea typeface="Aptos"/>
                    <a:cs typeface="Aptos"/>
                  </a:rPr>
                  <a:t>Frequency (sessions)</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2"/>
      </c:valAx>
      <c:valAx>
        <c:axId val="48650112"/>
        <c:scaling>
          <c:orientation val="minMax"/>
          <c:max val="55"/>
          <c:min val="5"/>
        </c:scaling>
        <c:delete val="0"/>
        <c:axPos val="b"/>
        <c:title>
          <c:tx>
            <c:rich>
              <a:bodyPr/>
              <a:lstStyle/>
              <a:p>
                <a:r>
                  <a:rPr sz="1650">
                    <a:solidFill>
                      <a:srgbClr val="111111"/>
                    </a:solidFill>
                    <a:latin typeface="Aptos"/>
                    <a:ea typeface="Aptos"/>
                    <a:cs typeface="Aptos"/>
                  </a:rPr>
                  <a:t>Sign-ups (class midpoints)</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10"/>
      </c:valAx>
      <c:spPr>
        <a:noFill/>
        <a:ln w="0">
          <a:noFill/>
        </a:ln>
      </c:spPr>
    </c:plotArea>
    <c:plotVisOnly val="1"/>
    <c:dispBlanksAs val="zero"/>
    <c:showDLblsOverMax val="1"/>
  </c:chart>
  <c:spPr>
    <a:noFill/>
    <a:ln w="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D6171D"/>
            </a:solidFill>
            <a:ln w="14288">
              <a:solidFill>
                <a:srgbClr val="D6171D"/>
              </a:solidFill>
            </a:ln>
          </c:spPr>
          <c:invertIfNegative val="1"/>
          <c:cat>
            <c:numRef>
              <c:f>'Chart Data'!$A$2:$A$7</c:f>
              <c:numCache>
                <c:formatCode>General</c:formatCode>
                <c:ptCount val="6"/>
                <c:pt idx="0">
                  <c:v>5</c:v>
                </c:pt>
                <c:pt idx="1">
                  <c:v>15</c:v>
                </c:pt>
                <c:pt idx="2">
                  <c:v>25</c:v>
                </c:pt>
                <c:pt idx="3">
                  <c:v>35</c:v>
                </c:pt>
                <c:pt idx="4">
                  <c:v>45</c:v>
                </c:pt>
                <c:pt idx="5">
                  <c:v>55</c:v>
                </c:pt>
              </c:numCache>
            </c:numRef>
          </c:cat>
          <c:val>
            <c:numRef>
              <c:f>'Chart Data'!$B$2:$B$7</c:f>
              <c:numCache>
                <c:formatCode>General</c:formatCode>
                <c:ptCount val="6"/>
                <c:pt idx="0">
                  <c:v>0</c:v>
                </c:pt>
                <c:pt idx="1">
                  <c:v>2</c:v>
                </c:pt>
                <c:pt idx="2">
                  <c:v>7</c:v>
                </c:pt>
                <c:pt idx="3">
                  <c:v>10</c:v>
                </c:pt>
                <c:pt idx="4">
                  <c:v>6</c:v>
                </c:pt>
                <c:pt idx="5">
                  <c:v>0</c:v>
                </c:pt>
              </c:numCache>
            </c:numRef>
          </c:val>
          <c:extLst>
            <c:ext xmlns:c14="http://schemas.microsoft.com/office/drawing/2007/8/2/chart" uri="{6F2FDCE9-48DA-4B69-8628-5D25D57E5C99}">
              <c14:invertSolidFillFmt>
                <c14:spPr xmlns:c14="http://schemas.microsoft.com/office/drawing/2007/8/2/chart">
                  <a:solidFill>
                    <a:srgbClr val="FFFFFF"/>
                  </a:solidFill>
                  <a:ln w="14288">
                    <a:solidFill>
                      <a:srgbClr val="D6171D"/>
                    </a:solidFill>
                  </a:ln>
                </c14:spPr>
              </c14:invertSolidFillFmt>
            </c:ext>
            <c:ext xmlns:c16="http://schemas.microsoft.com/office/drawing/2014/chart" uri="{C3380CC4-5D6E-409C-BE32-E72D297353CC}">
              <c16:uniqueId val="{00000000-C3EA-4AFF-BBE4-A9F156E716B3}"/>
            </c:ext>
          </c:extLst>
        </c:ser>
        <c:dLbls>
          <c:showLegendKey val="0"/>
          <c:showVal val="0"/>
          <c:showCatName val="0"/>
          <c:showSerName val="0"/>
          <c:showPercent val="0"/>
          <c:showBubbleSize val="0"/>
        </c:dLbls>
        <c:gapWidth val="0"/>
        <c:axId val="48650112"/>
        <c:axId val="48672768"/>
      </c:barChart>
      <c:catAx>
        <c:axId val="48650112"/>
        <c:scaling>
          <c:orientation val="minMax"/>
        </c:scaling>
        <c:delete val="0"/>
        <c:axPos val="b"/>
        <c:title>
          <c:tx>
            <c:rich>
              <a:bodyPr/>
              <a:lstStyle/>
              <a:p>
                <a:r>
                  <a:rPr sz="1425">
                    <a:latin typeface="Aptos"/>
                    <a:ea typeface="Aptos"/>
                    <a:cs typeface="Aptos"/>
                  </a:rPr>
                  <a:t>Sign-ups</a:t>
                </a:r>
              </a:p>
            </c:rich>
          </c:tx>
          <c:overlay val="0"/>
        </c:title>
        <c:numFmt formatCode="General" sourceLinked="1"/>
        <c:majorTickMark val="none"/>
        <c:minorTickMark val="none"/>
        <c:tickLblPos val="nextTo"/>
        <c:spPr>
          <a:ln w="9525">
            <a:solidFill>
              <a:srgbClr val="111111"/>
            </a:solidFill>
          </a:ln>
        </c:spPr>
        <c:txPr>
          <a:bodyPr anchorCtr="1"/>
          <a:lstStyle/>
          <a:p>
            <a:pPr>
              <a:defRPr sz="142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2"/>
          <c:min val="0"/>
        </c:scaling>
        <c:delete val="0"/>
        <c:axPos val="l"/>
        <c:majorGridlines>
          <c:spPr>
            <a:ln w="5715">
              <a:solidFill>
                <a:srgbClr val="D4DDE4"/>
              </a:solidFill>
            </a:ln>
          </c:spPr>
        </c:majorGridlines>
        <c:title>
          <c:tx>
            <c:rich>
              <a:bodyPr/>
              <a:lstStyle/>
              <a:p>
                <a:r>
                  <a:rPr sz="1425">
                    <a:latin typeface="Aptos"/>
                    <a:ea typeface="Aptos"/>
                    <a:cs typeface="Aptos"/>
                  </a:rPr>
                  <a:t>Frequency</a:t>
                </a:r>
              </a:p>
            </c:rich>
          </c:tx>
          <c:overlay val="0"/>
        </c:title>
        <c:numFmt formatCode="General" sourceLinked="1"/>
        <c:majorTickMark val="none"/>
        <c:minorTickMark val="none"/>
        <c:tickLblPos val="nextTo"/>
        <c:spPr>
          <a:ln w="9525">
            <a:solidFill>
              <a:srgbClr val="111111"/>
            </a:solidFill>
          </a:ln>
        </c:spPr>
        <c:txPr>
          <a:bodyPr anchorCtr="1"/>
          <a:lstStyle/>
          <a:p>
            <a:pPr>
              <a:defRPr sz="1425">
                <a:solidFill>
                  <a:srgbClr val="111111"/>
                </a:solidFill>
                <a:latin typeface="Aptos"/>
                <a:ea typeface="Aptos"/>
                <a:cs typeface="Aptos"/>
              </a:defRPr>
            </a:pPr>
            <a:endParaRPr lang="en-US"/>
          </a:p>
        </c:txPr>
        <c:crossAx val="48650112"/>
        <c:crosses val="autoZero"/>
        <c:crossBetween val="between"/>
        <c:majorUnit val="2"/>
      </c:valAx>
      <c:spPr>
        <a:noFill/>
        <a:ln>
          <a:noFill/>
        </a:ln>
      </c:spPr>
    </c:plotArea>
    <c:plotVisOnly val="1"/>
    <c:dispBlanksAs val="zero"/>
    <c:showDLblsOverMax val="1"/>
  </c:chart>
  <c:spPr>
    <a:noFill/>
    <a:ln>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Frequency</c:v>
          </c:tx>
          <c:spPr>
            <a:solidFill>
              <a:srgbClr val="F0BBC0"/>
            </a:solidFill>
            <a:ln w="14288">
              <a:solidFill>
                <a:srgbClr val="D6171D"/>
              </a:solidFill>
            </a:ln>
          </c:spPr>
          <c:invertIfNegative val="1"/>
          <c:cat>
            <c:numRef>
              <c:f>'Chart Data'!$A$2:$A$7</c:f>
              <c:numCache>
                <c:formatCode>General</c:formatCode>
                <c:ptCount val="6"/>
                <c:pt idx="0">
                  <c:v>5</c:v>
                </c:pt>
                <c:pt idx="1">
                  <c:v>15</c:v>
                </c:pt>
                <c:pt idx="2">
                  <c:v>25</c:v>
                </c:pt>
                <c:pt idx="3">
                  <c:v>35</c:v>
                </c:pt>
                <c:pt idx="4">
                  <c:v>45</c:v>
                </c:pt>
                <c:pt idx="5">
                  <c:v>55</c:v>
                </c:pt>
              </c:numCache>
            </c:numRef>
          </c:cat>
          <c:val>
            <c:numRef>
              <c:f>'Chart Data'!$B$2:$B$7</c:f>
              <c:numCache>
                <c:formatCode>General</c:formatCode>
                <c:ptCount val="6"/>
                <c:pt idx="0">
                  <c:v>0</c:v>
                </c:pt>
                <c:pt idx="1">
                  <c:v>2</c:v>
                </c:pt>
                <c:pt idx="2">
                  <c:v>7</c:v>
                </c:pt>
                <c:pt idx="3">
                  <c:v>10</c:v>
                </c:pt>
                <c:pt idx="4">
                  <c:v>6</c:v>
                </c:pt>
                <c:pt idx="5">
                  <c:v>0</c:v>
                </c:pt>
              </c:numCache>
            </c:numRef>
          </c:val>
          <c:extLst>
            <c:ext xmlns:c14="http://schemas.microsoft.com/office/drawing/2007/8/2/chart" uri="{6F2FDCE9-48DA-4B69-8628-5D25D57E5C99}">
              <c14:invertSolidFillFmt>
                <c14:spPr xmlns:c14="http://schemas.microsoft.com/office/drawing/2007/8/2/chart">
                  <a:solidFill>
                    <a:srgbClr val="FFFFFF"/>
                  </a:solidFill>
                  <a:ln w="14288">
                    <a:solidFill>
                      <a:srgbClr val="D6171D"/>
                    </a:solidFill>
                  </a:ln>
                </c14:spPr>
              </c14:invertSolidFillFmt>
            </c:ext>
            <c:ext xmlns:c16="http://schemas.microsoft.com/office/drawing/2014/chart" uri="{C3380CC4-5D6E-409C-BE32-E72D297353CC}">
              <c16:uniqueId val="{00000000-9E04-40C9-81CA-D2C0FE005B2A}"/>
            </c:ext>
          </c:extLst>
        </c:ser>
        <c:dLbls>
          <c:showLegendKey val="0"/>
          <c:showVal val="0"/>
          <c:showCatName val="0"/>
          <c:showSerName val="0"/>
          <c:showPercent val="0"/>
          <c:showBubbleSize val="0"/>
        </c:dLbls>
        <c:gapWidth val="0"/>
        <c:axId val="48650112"/>
        <c:axId val="48672768"/>
      </c:barChart>
      <c:lineChart>
        <c:grouping val="standard"/>
        <c:varyColors val="0"/>
        <c:ser>
          <c:idx val="1"/>
          <c:order val="1"/>
          <c:tx>
            <c:v>Midpoint polygon</c:v>
          </c:tx>
          <c:spPr>
            <a:ln w="14288">
              <a:solidFill>
                <a:srgbClr val="D6171D"/>
              </a:solidFill>
            </a:ln>
          </c:spPr>
          <c:marker>
            <c:symbol val="circle"/>
            <c:size val="7"/>
            <c:spPr>
              <a:solidFill>
                <a:srgbClr val="D6171D"/>
              </a:solidFill>
            </c:spPr>
          </c:marker>
          <c:cat>
            <c:numRef>
              <c:f>'Chart Data'!$C$2:$C$7</c:f>
              <c:numCache>
                <c:formatCode>General</c:formatCode>
                <c:ptCount val="6"/>
                <c:pt idx="0">
                  <c:v>5</c:v>
                </c:pt>
                <c:pt idx="1">
                  <c:v>15</c:v>
                </c:pt>
                <c:pt idx="2">
                  <c:v>25</c:v>
                </c:pt>
                <c:pt idx="3">
                  <c:v>35</c:v>
                </c:pt>
                <c:pt idx="4">
                  <c:v>45</c:v>
                </c:pt>
                <c:pt idx="5">
                  <c:v>55</c:v>
                </c:pt>
              </c:numCache>
            </c:numRef>
          </c:cat>
          <c:val>
            <c:numRef>
              <c:f>'Chart Data'!$D$2:$D$7</c:f>
              <c:numCache>
                <c:formatCode>General</c:formatCode>
                <c:ptCount val="6"/>
                <c:pt idx="0">
                  <c:v>0</c:v>
                </c:pt>
                <c:pt idx="1">
                  <c:v>2</c:v>
                </c:pt>
                <c:pt idx="2">
                  <c:v>7</c:v>
                </c:pt>
                <c:pt idx="3">
                  <c:v>10</c:v>
                </c:pt>
                <c:pt idx="4">
                  <c:v>6</c:v>
                </c:pt>
                <c:pt idx="5">
                  <c:v>0</c:v>
                </c:pt>
              </c:numCache>
            </c:numRef>
          </c:val>
          <c:smooth val="0"/>
          <c:extLst>
            <c:ext xmlns:c16="http://schemas.microsoft.com/office/drawing/2014/chart" uri="{C3380CC4-5D6E-409C-BE32-E72D297353CC}">
              <c16:uniqueId val="{00000001-9E04-40C9-81CA-D2C0FE005B2A}"/>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sz="1425">
                    <a:latin typeface="Aptos"/>
                    <a:ea typeface="Aptos"/>
                    <a:cs typeface="Aptos"/>
                  </a:rPr>
                  <a:t>Sign-ups</a:t>
                </a:r>
              </a:p>
            </c:rich>
          </c:tx>
          <c:overlay val="0"/>
        </c:title>
        <c:numFmt formatCode="General" sourceLinked="1"/>
        <c:majorTickMark val="none"/>
        <c:minorTickMark val="none"/>
        <c:tickLblPos val="nextTo"/>
        <c:spPr>
          <a:ln w="9525">
            <a:solidFill>
              <a:srgbClr val="111111"/>
            </a:solidFill>
          </a:ln>
        </c:spPr>
        <c:txPr>
          <a:bodyPr anchorCtr="1"/>
          <a:lstStyle/>
          <a:p>
            <a:pPr>
              <a:defRPr sz="142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2"/>
          <c:min val="0"/>
        </c:scaling>
        <c:delete val="0"/>
        <c:axPos val="l"/>
        <c:majorGridlines>
          <c:spPr>
            <a:ln w="5715">
              <a:solidFill>
                <a:srgbClr val="D4DDE4"/>
              </a:solidFill>
            </a:ln>
          </c:spPr>
        </c:majorGridlines>
        <c:title>
          <c:tx>
            <c:rich>
              <a:bodyPr/>
              <a:lstStyle/>
              <a:p>
                <a:r>
                  <a:rPr sz="1425">
                    <a:latin typeface="Aptos"/>
                    <a:ea typeface="Aptos"/>
                    <a:cs typeface="Aptos"/>
                  </a:rPr>
                  <a:t>Frequency</a:t>
                </a:r>
              </a:p>
            </c:rich>
          </c:tx>
          <c:overlay val="0"/>
        </c:title>
        <c:numFmt formatCode="General" sourceLinked="1"/>
        <c:majorTickMark val="none"/>
        <c:minorTickMark val="none"/>
        <c:tickLblPos val="nextTo"/>
        <c:spPr>
          <a:ln w="9525">
            <a:solidFill>
              <a:srgbClr val="111111"/>
            </a:solidFill>
          </a:ln>
        </c:spPr>
        <c:txPr>
          <a:bodyPr anchorCtr="1"/>
          <a:lstStyle/>
          <a:p>
            <a:pPr>
              <a:defRPr sz="1425">
                <a:solidFill>
                  <a:srgbClr val="111111"/>
                </a:solidFill>
                <a:latin typeface="Aptos"/>
                <a:ea typeface="Aptos"/>
                <a:cs typeface="Aptos"/>
              </a:defRPr>
            </a:pPr>
            <a:endParaRPr lang="en-US"/>
          </a:p>
        </c:txPr>
        <c:crossAx val="48650112"/>
        <c:crosses val="autoZero"/>
        <c:crossBetween val="between"/>
        <c:majorUnit val="2"/>
      </c:valAx>
      <c:spPr>
        <a:noFill/>
        <a:ln>
          <a:noFill/>
        </a:ln>
      </c:spPr>
    </c:plotArea>
    <c:plotVisOnly val="1"/>
    <c:dispBlanksAs val="zero"/>
    <c:showDLblsOverMax val="1"/>
  </c:chart>
  <c:spPr>
    <a:noFill/>
    <a:ln>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lineChart>
        <c:grouping val="standard"/>
        <c:varyColors val="0"/>
        <c:ser>
          <c:idx val="0"/>
          <c:order val="0"/>
          <c:tx>
            <c:v>Frequency</c:v>
          </c:tx>
          <c:spPr>
            <a:ln w="14288">
              <a:solidFill>
                <a:srgbClr val="D6171D"/>
              </a:solidFill>
            </a:ln>
          </c:spPr>
          <c:marker>
            <c:symbol val="circle"/>
            <c:size val="7"/>
            <c:spPr>
              <a:solidFill>
                <a:srgbClr val="D6171D"/>
              </a:solidFill>
            </c:spPr>
          </c:marker>
          <c:cat>
            <c:numRef>
              <c:f>'Chart Data'!$A$2:$A$7</c:f>
              <c:numCache>
                <c:formatCode>General</c:formatCode>
                <c:ptCount val="6"/>
                <c:pt idx="0">
                  <c:v>5</c:v>
                </c:pt>
                <c:pt idx="1">
                  <c:v>15</c:v>
                </c:pt>
                <c:pt idx="2">
                  <c:v>25</c:v>
                </c:pt>
                <c:pt idx="3">
                  <c:v>35</c:v>
                </c:pt>
                <c:pt idx="4">
                  <c:v>45</c:v>
                </c:pt>
                <c:pt idx="5">
                  <c:v>55</c:v>
                </c:pt>
              </c:numCache>
            </c:numRef>
          </c:cat>
          <c:val>
            <c:numRef>
              <c:f>'Chart Data'!$B$2:$B$7</c:f>
              <c:numCache>
                <c:formatCode>General</c:formatCode>
                <c:ptCount val="6"/>
                <c:pt idx="0">
                  <c:v>0</c:v>
                </c:pt>
                <c:pt idx="1">
                  <c:v>2</c:v>
                </c:pt>
                <c:pt idx="2">
                  <c:v>7</c:v>
                </c:pt>
                <c:pt idx="3">
                  <c:v>10</c:v>
                </c:pt>
                <c:pt idx="4">
                  <c:v>6</c:v>
                </c:pt>
                <c:pt idx="5">
                  <c:v>0</c:v>
                </c:pt>
              </c:numCache>
            </c:numRef>
          </c:val>
          <c:smooth val="0"/>
          <c:extLst>
            <c:ext xmlns:c16="http://schemas.microsoft.com/office/drawing/2014/chart" uri="{C3380CC4-5D6E-409C-BE32-E72D297353CC}">
              <c16:uniqueId val="{00000000-B326-4E59-AC69-4FD40570E578}"/>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title>
          <c:tx>
            <c:rich>
              <a:bodyPr/>
              <a:lstStyle/>
              <a:p>
                <a:r>
                  <a:rPr sz="1425">
                    <a:latin typeface="Aptos"/>
                    <a:ea typeface="Aptos"/>
                    <a:cs typeface="Aptos"/>
                  </a:rPr>
                  <a:t>Sign-ups</a:t>
                </a:r>
              </a:p>
            </c:rich>
          </c:tx>
          <c:overlay val="0"/>
        </c:title>
        <c:numFmt formatCode="General" sourceLinked="1"/>
        <c:majorTickMark val="none"/>
        <c:minorTickMark val="none"/>
        <c:tickLblPos val="nextTo"/>
        <c:spPr>
          <a:ln w="9525">
            <a:solidFill>
              <a:srgbClr val="111111"/>
            </a:solidFill>
          </a:ln>
        </c:spPr>
        <c:txPr>
          <a:bodyPr anchorCtr="1"/>
          <a:lstStyle/>
          <a:p>
            <a:pPr>
              <a:defRPr sz="1425">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2"/>
          <c:min val="0"/>
        </c:scaling>
        <c:delete val="0"/>
        <c:axPos val="l"/>
        <c:majorGridlines>
          <c:spPr>
            <a:ln w="5715">
              <a:solidFill>
                <a:srgbClr val="D4DDE4"/>
              </a:solidFill>
            </a:ln>
          </c:spPr>
        </c:majorGridlines>
        <c:title>
          <c:tx>
            <c:rich>
              <a:bodyPr/>
              <a:lstStyle/>
              <a:p>
                <a:r>
                  <a:rPr sz="1425">
                    <a:latin typeface="Aptos"/>
                    <a:ea typeface="Aptos"/>
                    <a:cs typeface="Aptos"/>
                  </a:rPr>
                  <a:t>Frequency</a:t>
                </a:r>
              </a:p>
            </c:rich>
          </c:tx>
          <c:overlay val="0"/>
        </c:title>
        <c:numFmt formatCode="General" sourceLinked="1"/>
        <c:majorTickMark val="none"/>
        <c:minorTickMark val="none"/>
        <c:tickLblPos val="nextTo"/>
        <c:spPr>
          <a:ln w="9525">
            <a:solidFill>
              <a:srgbClr val="111111"/>
            </a:solidFill>
          </a:ln>
        </c:spPr>
        <c:txPr>
          <a:bodyPr anchorCtr="1"/>
          <a:lstStyle/>
          <a:p>
            <a:pPr>
              <a:defRPr sz="1425">
                <a:solidFill>
                  <a:srgbClr val="111111"/>
                </a:solidFill>
                <a:latin typeface="Aptos"/>
                <a:ea typeface="Aptos"/>
                <a:cs typeface="Aptos"/>
              </a:defRPr>
            </a:pPr>
            <a:endParaRPr lang="en-US"/>
          </a:p>
        </c:txPr>
        <c:crossAx val="48650112"/>
        <c:crosses val="autoZero"/>
        <c:crossBetween val="between"/>
        <c:majorUnit val="2"/>
      </c:valAx>
      <c:spPr>
        <a:noFill/>
        <a:ln>
          <a:noFill/>
        </a:ln>
      </c:spPr>
    </c:plotArea>
    <c:plotVisOnly val="1"/>
    <c:dispBlanksAs val="zero"/>
    <c:showDLblsOverMax val="1"/>
  </c:chart>
  <c:spPr>
    <a:noFill/>
    <a:ln>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Frequency</c:v>
          </c:tx>
          <c:spPr>
            <a:ln w="26670">
              <a:solidFill>
                <a:srgbClr val="D6171D"/>
              </a:solidFill>
              <a:prstDash val="solid"/>
            </a:ln>
          </c:spPr>
          <c:marker>
            <c:symbol val="circle"/>
            <c:size val="8"/>
            <c:spPr>
              <a:solidFill>
                <a:srgbClr val="D6171D"/>
              </a:solidFill>
            </c:spPr>
          </c:marker>
          <c:xVal>
            <c:numRef>
              <c:f>'Chart Data'!$A$2:$A$7</c:f>
              <c:numCache>
                <c:formatCode>0.##</c:formatCode>
                <c:ptCount val="6"/>
                <c:pt idx="0">
                  <c:v>5</c:v>
                </c:pt>
                <c:pt idx="1">
                  <c:v>15</c:v>
                </c:pt>
                <c:pt idx="2">
                  <c:v>25</c:v>
                </c:pt>
                <c:pt idx="3">
                  <c:v>35</c:v>
                </c:pt>
                <c:pt idx="4">
                  <c:v>45</c:v>
                </c:pt>
                <c:pt idx="5">
                  <c:v>55</c:v>
                </c:pt>
              </c:numCache>
            </c:numRef>
          </c:xVal>
          <c:yVal>
            <c:numRef>
              <c:f>'Chart Data'!$B$2:$B$7</c:f>
              <c:numCache>
                <c:formatCode>0.##</c:formatCode>
                <c:ptCount val="6"/>
                <c:pt idx="0">
                  <c:v>0</c:v>
                </c:pt>
                <c:pt idx="1">
                  <c:v>4</c:v>
                </c:pt>
                <c:pt idx="2">
                  <c:v>8</c:v>
                </c:pt>
                <c:pt idx="3">
                  <c:v>6</c:v>
                </c:pt>
                <c:pt idx="4">
                  <c:v>2</c:v>
                </c:pt>
                <c:pt idx="5">
                  <c:v>0</c:v>
                </c:pt>
              </c:numCache>
            </c:numRef>
          </c:yVal>
          <c:smooth val="1"/>
          <c:extLst>
            <c:ext xmlns:c16="http://schemas.microsoft.com/office/drawing/2014/chart" uri="{C3380CC4-5D6E-409C-BE32-E72D297353CC}">
              <c16:uniqueId val="{00000000-6179-461E-A29A-B2B3BC566AF3}"/>
            </c:ext>
          </c:extLst>
        </c:ser>
        <c:dLbls>
          <c:showLegendKey val="0"/>
          <c:showVal val="0"/>
          <c:showCatName val="0"/>
          <c:showSerName val="0"/>
          <c:showPercent val="0"/>
          <c:showBubbleSize val="0"/>
        </c:dLbls>
        <c:axId val="48650112"/>
        <c:axId val="48672768"/>
      </c:scatterChart>
      <c:valAx>
        <c:axId val="48672768"/>
        <c:scaling>
          <c:orientation val="minMax"/>
          <c:max val="10"/>
          <c:min val="0"/>
        </c:scaling>
        <c:delete val="0"/>
        <c:axPos val="l"/>
        <c:majorGridlines>
          <c:spPr>
            <a:ln w="6668">
              <a:solidFill>
                <a:srgbClr val="D0D8DD"/>
              </a:solidFill>
            </a:ln>
          </c:spPr>
        </c:majorGridlines>
        <c:title>
          <c:tx>
            <c:rich>
              <a:bodyPr/>
              <a:lstStyle/>
              <a:p>
                <a:r>
                  <a:rPr sz="1500">
                    <a:solidFill>
                      <a:srgbClr val="111111"/>
                    </a:solidFill>
                    <a:latin typeface="Aptos"/>
                    <a:ea typeface="Aptos"/>
                    <a:cs typeface="Aptos"/>
                  </a:rPr>
                  <a:t>Frequency</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50112"/>
        <c:crosses val="autoZero"/>
        <c:crossBetween val="midCat"/>
        <c:majorUnit val="2"/>
      </c:valAx>
      <c:valAx>
        <c:axId val="48650112"/>
        <c:scaling>
          <c:orientation val="minMax"/>
          <c:max val="55"/>
          <c:min val="5"/>
        </c:scaling>
        <c:delete val="0"/>
        <c:axPos val="b"/>
        <c:majorGridlines>
          <c:spPr>
            <a:ln w="6191">
              <a:solidFill>
                <a:srgbClr val="D0D8DD"/>
              </a:solidFill>
            </a:ln>
          </c:spPr>
        </c:majorGridlines>
        <c:title>
          <c:tx>
            <c:rich>
              <a:bodyPr/>
              <a:lstStyle/>
              <a:p>
                <a:r>
                  <a:rPr sz="1500">
                    <a:solidFill>
                      <a:srgbClr val="111111"/>
                    </a:solidFill>
                    <a:latin typeface="Aptos"/>
                    <a:ea typeface="Aptos"/>
                    <a:cs typeface="Aptos"/>
                  </a:rPr>
                  <a:t>Sign-ups (midpoints)</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72768"/>
        <c:crosses val="autoZero"/>
        <c:crossBetween val="midCat"/>
        <c:majorUnit val="10"/>
      </c:valAx>
      <c:spPr>
        <a:noFill/>
        <a:ln w="0">
          <a:noFill/>
        </a:ln>
      </c:spPr>
    </c:plotArea>
    <c:plotVisOnly val="1"/>
    <c:dispBlanksAs val="zero"/>
    <c:showDLblsOverMax val="1"/>
  </c:chart>
  <c:spPr>
    <a:noFill/>
    <a:ln w="0">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Percentage</c:v>
          </c:tx>
          <c:spPr>
            <a:ln w="26670">
              <a:solidFill>
                <a:srgbClr val="D6171D"/>
              </a:solidFill>
              <a:prstDash val="solid"/>
            </a:ln>
          </c:spPr>
          <c:marker>
            <c:symbol val="circle"/>
            <c:size val="8"/>
            <c:spPr>
              <a:solidFill>
                <a:srgbClr val="D6171D"/>
              </a:solidFill>
            </c:spPr>
          </c:marker>
          <c:xVal>
            <c:numRef>
              <c:f>'Chart Data'!$A$2:$A$7</c:f>
              <c:numCache>
                <c:formatCode>0.##</c:formatCode>
                <c:ptCount val="6"/>
                <c:pt idx="0">
                  <c:v>5</c:v>
                </c:pt>
                <c:pt idx="1">
                  <c:v>15</c:v>
                </c:pt>
                <c:pt idx="2">
                  <c:v>25</c:v>
                </c:pt>
                <c:pt idx="3">
                  <c:v>35</c:v>
                </c:pt>
                <c:pt idx="4">
                  <c:v>45</c:v>
                </c:pt>
                <c:pt idx="5">
                  <c:v>55</c:v>
                </c:pt>
              </c:numCache>
            </c:numRef>
          </c:xVal>
          <c:yVal>
            <c:numRef>
              <c:f>'Chart Data'!$B$2:$B$7</c:f>
              <c:numCache>
                <c:formatCode>0.##</c:formatCode>
                <c:ptCount val="6"/>
                <c:pt idx="0">
                  <c:v>0</c:v>
                </c:pt>
                <c:pt idx="1">
                  <c:v>20</c:v>
                </c:pt>
                <c:pt idx="2">
                  <c:v>40</c:v>
                </c:pt>
                <c:pt idx="3">
                  <c:v>30</c:v>
                </c:pt>
                <c:pt idx="4">
                  <c:v>10</c:v>
                </c:pt>
                <c:pt idx="5">
                  <c:v>0</c:v>
                </c:pt>
              </c:numCache>
            </c:numRef>
          </c:yVal>
          <c:smooth val="1"/>
          <c:extLst>
            <c:ext xmlns:c16="http://schemas.microsoft.com/office/drawing/2014/chart" uri="{C3380CC4-5D6E-409C-BE32-E72D297353CC}">
              <c16:uniqueId val="{00000000-A6B1-4621-9579-9236B1A34E5B}"/>
            </c:ext>
          </c:extLst>
        </c:ser>
        <c:dLbls>
          <c:showLegendKey val="0"/>
          <c:showVal val="0"/>
          <c:showCatName val="0"/>
          <c:showSerName val="0"/>
          <c:showPercent val="0"/>
          <c:showBubbleSize val="0"/>
        </c:dLbls>
        <c:axId val="48650112"/>
        <c:axId val="48672768"/>
      </c:scatterChart>
      <c:valAx>
        <c:axId val="48672768"/>
        <c:scaling>
          <c:orientation val="minMax"/>
          <c:max val="50"/>
          <c:min val="0"/>
        </c:scaling>
        <c:delete val="0"/>
        <c:axPos val="l"/>
        <c:majorGridlines>
          <c:spPr>
            <a:ln w="6668">
              <a:solidFill>
                <a:srgbClr val="D0D8DD"/>
              </a:solidFill>
            </a:ln>
          </c:spPr>
        </c:majorGridlines>
        <c:title>
          <c:tx>
            <c:rich>
              <a:bodyPr/>
              <a:lstStyle/>
              <a:p>
                <a:r>
                  <a:rPr sz="1500">
                    <a:solidFill>
                      <a:srgbClr val="111111"/>
                    </a:solidFill>
                    <a:latin typeface="Aptos"/>
                    <a:ea typeface="Aptos"/>
                    <a:cs typeface="Aptos"/>
                  </a:rPr>
                  <a:t>Relative frequency (%)</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50112"/>
        <c:crosses val="autoZero"/>
        <c:crossBetween val="midCat"/>
        <c:majorUnit val="10"/>
      </c:valAx>
      <c:valAx>
        <c:axId val="48650112"/>
        <c:scaling>
          <c:orientation val="minMax"/>
          <c:max val="55"/>
          <c:min val="5"/>
        </c:scaling>
        <c:delete val="0"/>
        <c:axPos val="b"/>
        <c:majorGridlines>
          <c:spPr>
            <a:ln w="6191">
              <a:solidFill>
                <a:srgbClr val="D0D8DD"/>
              </a:solidFill>
            </a:ln>
          </c:spPr>
        </c:majorGridlines>
        <c:title>
          <c:tx>
            <c:rich>
              <a:bodyPr/>
              <a:lstStyle/>
              <a:p>
                <a:r>
                  <a:rPr sz="1500">
                    <a:solidFill>
                      <a:srgbClr val="111111"/>
                    </a:solidFill>
                    <a:latin typeface="Aptos"/>
                    <a:ea typeface="Aptos"/>
                    <a:cs typeface="Aptos"/>
                  </a:rPr>
                  <a:t>Sign-ups (midpoints)</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72768"/>
        <c:crosses val="autoZero"/>
        <c:crossBetween val="midCat"/>
        <c:majorUnit val="10"/>
      </c:valAx>
      <c:spPr>
        <a:noFill/>
        <a:ln w="0">
          <a:noFill/>
        </a:ln>
      </c:spPr>
    </c:plotArea>
    <c:plotVisOnly val="1"/>
    <c:dispBlanksAs val="zero"/>
    <c:showDLblsOverMax val="1"/>
  </c:chart>
  <c:spPr>
    <a:noFill/>
    <a:ln w="0">
      <a:noFill/>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Food Club</c:v>
          </c:tx>
          <c:spPr>
            <a:ln w="28575">
              <a:solidFill>
                <a:srgbClr val="D6171D"/>
              </a:solidFill>
              <a:prstDash val="solid"/>
            </a:ln>
          </c:spPr>
          <c:marker>
            <c:symbol val="circle"/>
            <c:size val="7"/>
            <c:spPr>
              <a:solidFill>
                <a:srgbClr val="D6171D"/>
              </a:solidFill>
            </c:spPr>
          </c:marker>
          <c:xVal>
            <c:numRef>
              <c:f>'Chart Data'!$A$2:$A$7</c:f>
              <c:numCache>
                <c:formatCode>0.##</c:formatCode>
                <c:ptCount val="6"/>
                <c:pt idx="0">
                  <c:v>5</c:v>
                </c:pt>
                <c:pt idx="1">
                  <c:v>15</c:v>
                </c:pt>
                <c:pt idx="2">
                  <c:v>25</c:v>
                </c:pt>
                <c:pt idx="3">
                  <c:v>35</c:v>
                </c:pt>
                <c:pt idx="4">
                  <c:v>45</c:v>
                </c:pt>
                <c:pt idx="5">
                  <c:v>55</c:v>
                </c:pt>
              </c:numCache>
            </c:numRef>
          </c:xVal>
          <c:yVal>
            <c:numRef>
              <c:f>'Chart Data'!$B$2:$B$7</c:f>
              <c:numCache>
                <c:formatCode>0.##</c:formatCode>
                <c:ptCount val="6"/>
                <c:pt idx="0">
                  <c:v>0</c:v>
                </c:pt>
                <c:pt idx="1">
                  <c:v>8</c:v>
                </c:pt>
                <c:pt idx="2">
                  <c:v>28</c:v>
                </c:pt>
                <c:pt idx="3">
                  <c:v>40</c:v>
                </c:pt>
                <c:pt idx="4">
                  <c:v>24</c:v>
                </c:pt>
                <c:pt idx="5">
                  <c:v>0</c:v>
                </c:pt>
              </c:numCache>
            </c:numRef>
          </c:yVal>
          <c:smooth val="1"/>
          <c:extLst>
            <c:ext xmlns:c16="http://schemas.microsoft.com/office/drawing/2014/chart" uri="{C3380CC4-5D6E-409C-BE32-E72D297353CC}">
              <c16:uniqueId val="{00000000-FCFC-4C6E-A96F-04148497E094}"/>
            </c:ext>
          </c:extLst>
        </c:ser>
        <c:ser>
          <c:idx val="1"/>
          <c:order val="1"/>
          <c:tx>
            <c:v>Smoothie Club</c:v>
          </c:tx>
          <c:spPr>
            <a:ln w="28575">
              <a:solidFill>
                <a:srgbClr val="2378A1"/>
              </a:solidFill>
              <a:prstDash val="solid"/>
            </a:ln>
          </c:spPr>
          <c:marker>
            <c:symbol val="circle"/>
            <c:size val="7"/>
            <c:spPr>
              <a:solidFill>
                <a:srgbClr val="2378A1"/>
              </a:solidFill>
            </c:spPr>
          </c:marker>
          <c:xVal>
            <c:numRef>
              <c:f>'Chart Data'!$C$2:$C$7</c:f>
              <c:numCache>
                <c:formatCode>0.##</c:formatCode>
                <c:ptCount val="6"/>
                <c:pt idx="0">
                  <c:v>5</c:v>
                </c:pt>
                <c:pt idx="1">
                  <c:v>15</c:v>
                </c:pt>
                <c:pt idx="2">
                  <c:v>25</c:v>
                </c:pt>
                <c:pt idx="3">
                  <c:v>35</c:v>
                </c:pt>
                <c:pt idx="4">
                  <c:v>45</c:v>
                </c:pt>
                <c:pt idx="5">
                  <c:v>55</c:v>
                </c:pt>
              </c:numCache>
            </c:numRef>
          </c:xVal>
          <c:yVal>
            <c:numRef>
              <c:f>'Chart Data'!$D$2:$D$7</c:f>
              <c:numCache>
                <c:formatCode>0.##</c:formatCode>
                <c:ptCount val="6"/>
                <c:pt idx="0">
                  <c:v>0</c:v>
                </c:pt>
                <c:pt idx="1">
                  <c:v>20</c:v>
                </c:pt>
                <c:pt idx="2">
                  <c:v>40</c:v>
                </c:pt>
                <c:pt idx="3">
                  <c:v>30</c:v>
                </c:pt>
                <c:pt idx="4">
                  <c:v>10</c:v>
                </c:pt>
                <c:pt idx="5">
                  <c:v>0</c:v>
                </c:pt>
              </c:numCache>
            </c:numRef>
          </c:yVal>
          <c:smooth val="1"/>
          <c:extLst>
            <c:ext xmlns:c16="http://schemas.microsoft.com/office/drawing/2014/chart" uri="{C3380CC4-5D6E-409C-BE32-E72D297353CC}">
              <c16:uniqueId val="{00000001-FCFC-4C6E-A96F-04148497E094}"/>
            </c:ext>
          </c:extLst>
        </c:ser>
        <c:dLbls>
          <c:showLegendKey val="0"/>
          <c:showVal val="0"/>
          <c:showCatName val="0"/>
          <c:showSerName val="0"/>
          <c:showPercent val="0"/>
          <c:showBubbleSize val="0"/>
        </c:dLbls>
        <c:axId val="48650112"/>
        <c:axId val="48672768"/>
      </c:scatterChart>
      <c:valAx>
        <c:axId val="48672768"/>
        <c:scaling>
          <c:orientation val="minMax"/>
          <c:max val="50"/>
          <c:min val="0"/>
        </c:scaling>
        <c:delete val="0"/>
        <c:axPos val="l"/>
        <c:majorGridlines>
          <c:spPr>
            <a:ln w="6668">
              <a:solidFill>
                <a:srgbClr val="D0D8DD"/>
              </a:solidFill>
              <a:prstDash val="solid"/>
            </a:ln>
          </c:spPr>
        </c:majorGridlines>
        <c:title>
          <c:tx>
            <c:rich>
              <a:bodyPr/>
              <a:lstStyle/>
              <a:p>
                <a:r>
                  <a:rPr sz="1650">
                    <a:solidFill>
                      <a:srgbClr val="111111"/>
                    </a:solidFill>
                    <a:latin typeface="Aptos"/>
                    <a:ea typeface="Aptos"/>
                    <a:cs typeface="Aptos"/>
                  </a:rPr>
                  <a:t>Relative frequency (%)</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10"/>
      </c:valAx>
      <c:valAx>
        <c:axId val="48650112"/>
        <c:scaling>
          <c:orientation val="minMax"/>
          <c:max val="55"/>
          <c:min val="5"/>
        </c:scaling>
        <c:delete val="0"/>
        <c:axPos val="b"/>
        <c:title>
          <c:tx>
            <c:rich>
              <a:bodyPr/>
              <a:lstStyle/>
              <a:p>
                <a:r>
                  <a:rPr sz="1650">
                    <a:solidFill>
                      <a:srgbClr val="111111"/>
                    </a:solidFill>
                    <a:latin typeface="Aptos"/>
                    <a:ea typeface="Aptos"/>
                    <a:cs typeface="Aptos"/>
                  </a:rPr>
                  <a:t>Sign-ups (class midpoints)</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10"/>
      </c:valAx>
      <c:spPr>
        <a:noFill/>
        <a:ln w="0">
          <a:noFill/>
        </a:ln>
      </c:spPr>
    </c:plotArea>
    <c:plotVisOnly val="1"/>
    <c:dispBlanksAs val="zero"/>
    <c:showDLblsOverMax val="1"/>
  </c:chart>
  <c:spPr>
    <a:noFill/>
    <a:ln w="0">
      <a:noFill/>
    </a:ln>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Ogive segment 1</c:v>
          </c:tx>
          <c:spPr>
            <a:ln w="28575">
              <a:solidFill>
                <a:srgbClr val="D6171D"/>
              </a:solidFill>
              <a:prstDash val="solid"/>
            </a:ln>
          </c:spPr>
          <c:marker>
            <c:symbol val="none"/>
          </c:marker>
          <c:xVal>
            <c:numRef>
              <c:f>'Chart Data'!$A$2:$A$3</c:f>
              <c:numCache>
                <c:formatCode>0.##</c:formatCode>
                <c:ptCount val="2"/>
                <c:pt idx="0">
                  <c:v>10</c:v>
                </c:pt>
                <c:pt idx="1">
                  <c:v>20</c:v>
                </c:pt>
              </c:numCache>
            </c:numRef>
          </c:xVal>
          <c:yVal>
            <c:numRef>
              <c:f>'Chart Data'!$B$2:$B$3</c:f>
              <c:numCache>
                <c:formatCode>0.##</c:formatCode>
                <c:ptCount val="2"/>
                <c:pt idx="0">
                  <c:v>0</c:v>
                </c:pt>
                <c:pt idx="1">
                  <c:v>2</c:v>
                </c:pt>
              </c:numCache>
            </c:numRef>
          </c:yVal>
          <c:smooth val="1"/>
          <c:extLst>
            <c:ext xmlns:c16="http://schemas.microsoft.com/office/drawing/2014/chart" uri="{C3380CC4-5D6E-409C-BE32-E72D297353CC}">
              <c16:uniqueId val="{00000000-0A7C-4AE4-82FA-93AEDC3FCFEF}"/>
            </c:ext>
          </c:extLst>
        </c:ser>
        <c:ser>
          <c:idx val="1"/>
          <c:order val="1"/>
          <c:tx>
            <c:v>Ogive segment 2</c:v>
          </c:tx>
          <c:spPr>
            <a:ln w="28575">
              <a:solidFill>
                <a:srgbClr val="D6171D"/>
              </a:solidFill>
              <a:prstDash val="solid"/>
            </a:ln>
          </c:spPr>
          <c:marker>
            <c:symbol val="none"/>
          </c:marker>
          <c:xVal>
            <c:numRef>
              <c:f>'Chart Data'!$C$2:$C$3</c:f>
              <c:numCache>
                <c:formatCode>0.##</c:formatCode>
                <c:ptCount val="2"/>
                <c:pt idx="0">
                  <c:v>20</c:v>
                </c:pt>
                <c:pt idx="1">
                  <c:v>30</c:v>
                </c:pt>
              </c:numCache>
            </c:numRef>
          </c:xVal>
          <c:yVal>
            <c:numRef>
              <c:f>'Chart Data'!$D$2:$D$3</c:f>
              <c:numCache>
                <c:formatCode>0.##</c:formatCode>
                <c:ptCount val="2"/>
                <c:pt idx="0">
                  <c:v>2</c:v>
                </c:pt>
                <c:pt idx="1">
                  <c:v>9</c:v>
                </c:pt>
              </c:numCache>
            </c:numRef>
          </c:yVal>
          <c:smooth val="1"/>
          <c:extLst>
            <c:ext xmlns:c16="http://schemas.microsoft.com/office/drawing/2014/chart" uri="{C3380CC4-5D6E-409C-BE32-E72D297353CC}">
              <c16:uniqueId val="{00000001-0A7C-4AE4-82FA-93AEDC3FCFEF}"/>
            </c:ext>
          </c:extLst>
        </c:ser>
        <c:ser>
          <c:idx val="2"/>
          <c:order val="2"/>
          <c:tx>
            <c:v>Ogive segment 3</c:v>
          </c:tx>
          <c:spPr>
            <a:ln w="28575">
              <a:solidFill>
                <a:srgbClr val="D6171D"/>
              </a:solidFill>
              <a:prstDash val="solid"/>
            </a:ln>
          </c:spPr>
          <c:marker>
            <c:symbol val="none"/>
          </c:marker>
          <c:xVal>
            <c:numRef>
              <c:f>'Chart Data'!$E$2:$E$3</c:f>
              <c:numCache>
                <c:formatCode>0.##</c:formatCode>
                <c:ptCount val="2"/>
                <c:pt idx="0">
                  <c:v>30</c:v>
                </c:pt>
                <c:pt idx="1">
                  <c:v>40</c:v>
                </c:pt>
              </c:numCache>
            </c:numRef>
          </c:xVal>
          <c:yVal>
            <c:numRef>
              <c:f>'Chart Data'!$F$2:$F$3</c:f>
              <c:numCache>
                <c:formatCode>0.##</c:formatCode>
                <c:ptCount val="2"/>
                <c:pt idx="0">
                  <c:v>9</c:v>
                </c:pt>
                <c:pt idx="1">
                  <c:v>19</c:v>
                </c:pt>
              </c:numCache>
            </c:numRef>
          </c:yVal>
          <c:smooth val="1"/>
          <c:extLst>
            <c:ext xmlns:c16="http://schemas.microsoft.com/office/drawing/2014/chart" uri="{C3380CC4-5D6E-409C-BE32-E72D297353CC}">
              <c16:uniqueId val="{00000002-0A7C-4AE4-82FA-93AEDC3FCFEF}"/>
            </c:ext>
          </c:extLst>
        </c:ser>
        <c:ser>
          <c:idx val="3"/>
          <c:order val="3"/>
          <c:tx>
            <c:v>Ogive segment 4</c:v>
          </c:tx>
          <c:spPr>
            <a:ln w="28575">
              <a:solidFill>
                <a:srgbClr val="D6171D"/>
              </a:solidFill>
              <a:prstDash val="solid"/>
            </a:ln>
          </c:spPr>
          <c:marker>
            <c:symbol val="none"/>
          </c:marker>
          <c:xVal>
            <c:numRef>
              <c:f>'Chart Data'!$G$2:$G$3</c:f>
              <c:numCache>
                <c:formatCode>0.##</c:formatCode>
                <c:ptCount val="2"/>
                <c:pt idx="0">
                  <c:v>40</c:v>
                </c:pt>
                <c:pt idx="1">
                  <c:v>50</c:v>
                </c:pt>
              </c:numCache>
            </c:numRef>
          </c:xVal>
          <c:yVal>
            <c:numRef>
              <c:f>'Chart Data'!$H$2:$H$3</c:f>
              <c:numCache>
                <c:formatCode>0.##</c:formatCode>
                <c:ptCount val="2"/>
                <c:pt idx="0">
                  <c:v>19</c:v>
                </c:pt>
                <c:pt idx="1">
                  <c:v>25</c:v>
                </c:pt>
              </c:numCache>
            </c:numRef>
          </c:yVal>
          <c:smooth val="1"/>
          <c:extLst>
            <c:ext xmlns:c16="http://schemas.microsoft.com/office/drawing/2014/chart" uri="{C3380CC4-5D6E-409C-BE32-E72D297353CC}">
              <c16:uniqueId val="{00000003-0A7C-4AE4-82FA-93AEDC3FCFEF}"/>
            </c:ext>
          </c:extLst>
        </c:ser>
        <c:ser>
          <c:idx val="4"/>
          <c:order val="4"/>
          <c:tx>
            <c:v>Ogive boundary points</c:v>
          </c:tx>
          <c:spPr>
            <a:ln w="0">
              <a:noFill/>
            </a:ln>
          </c:spPr>
          <c:marker>
            <c:symbol val="circle"/>
            <c:size val="7"/>
            <c:spPr>
              <a:noFill/>
            </c:spPr>
          </c:marker>
          <c:xVal>
            <c:numRef>
              <c:f>'Chart Data'!$I$2:$I$6</c:f>
              <c:numCache>
                <c:formatCode>0.##</c:formatCode>
                <c:ptCount val="5"/>
                <c:pt idx="0">
                  <c:v>10</c:v>
                </c:pt>
                <c:pt idx="1">
                  <c:v>20</c:v>
                </c:pt>
                <c:pt idx="2">
                  <c:v>30</c:v>
                </c:pt>
                <c:pt idx="3">
                  <c:v>40</c:v>
                </c:pt>
                <c:pt idx="4">
                  <c:v>50</c:v>
                </c:pt>
              </c:numCache>
            </c:numRef>
          </c:xVal>
          <c:yVal>
            <c:numRef>
              <c:f>'Chart Data'!$J$2:$J$6</c:f>
              <c:numCache>
                <c:formatCode>0.##</c:formatCode>
                <c:ptCount val="5"/>
                <c:pt idx="0">
                  <c:v>0</c:v>
                </c:pt>
                <c:pt idx="1">
                  <c:v>2</c:v>
                </c:pt>
                <c:pt idx="2">
                  <c:v>9</c:v>
                </c:pt>
                <c:pt idx="3">
                  <c:v>19</c:v>
                </c:pt>
                <c:pt idx="4">
                  <c:v>25</c:v>
                </c:pt>
              </c:numCache>
            </c:numRef>
          </c:yVal>
          <c:smooth val="1"/>
          <c:extLst>
            <c:ext xmlns:c16="http://schemas.microsoft.com/office/drawing/2014/chart" uri="{C3380CC4-5D6E-409C-BE32-E72D297353CC}">
              <c16:uniqueId val="{00000004-0A7C-4AE4-82FA-93AEDC3FCFEF}"/>
            </c:ext>
          </c:extLst>
        </c:ser>
        <c:dLbls>
          <c:showLegendKey val="0"/>
          <c:showVal val="0"/>
          <c:showCatName val="0"/>
          <c:showSerName val="0"/>
          <c:showPercent val="0"/>
          <c:showBubbleSize val="0"/>
        </c:dLbls>
        <c:axId val="48650112"/>
        <c:axId val="48672768"/>
      </c:scatterChart>
      <c:valAx>
        <c:axId val="48672768"/>
        <c:scaling>
          <c:orientation val="minMax"/>
          <c:max val="25"/>
          <c:min val="0"/>
        </c:scaling>
        <c:delete val="0"/>
        <c:axPos val="l"/>
        <c:majorGridlines>
          <c:spPr>
            <a:ln w="6668">
              <a:solidFill>
                <a:srgbClr val="D0D8DD"/>
              </a:solidFill>
              <a:prstDash val="solid"/>
            </a:ln>
          </c:spPr>
        </c:majorGridlines>
        <c:title>
          <c:tx>
            <c:rich>
              <a:bodyPr/>
              <a:lstStyle/>
              <a:p>
                <a:r>
                  <a:rPr sz="1650">
                    <a:solidFill>
                      <a:srgbClr val="111111"/>
                    </a:solidFill>
                    <a:latin typeface="Aptos"/>
                    <a:ea typeface="Aptos"/>
                    <a:cs typeface="Aptos"/>
                  </a:rPr>
                  <a:t>Cumulative sessions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5"/>
      </c:valAx>
      <c:valAx>
        <c:axId val="48650112"/>
        <c:scaling>
          <c:orientation val="minMax"/>
          <c:max val="50"/>
          <c:min val="10"/>
        </c:scaling>
        <c:delete val="0"/>
        <c:axPos val="b"/>
        <c:title>
          <c:tx>
            <c:rich>
              <a:bodyPr/>
              <a:lstStyle/>
              <a:p>
                <a:r>
                  <a:rPr sz="1650">
                    <a:solidFill>
                      <a:srgbClr val="111111"/>
                    </a:solidFill>
                    <a:latin typeface="Aptos"/>
                    <a:ea typeface="Aptos"/>
                    <a:cs typeface="Aptos"/>
                  </a:rPr>
                  <a:t>Sign-ups per session (X)</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10"/>
      </c:valAx>
      <c:spPr>
        <a:noFill/>
        <a:ln w="0">
          <a:noFill/>
        </a:ln>
      </c:spPr>
    </c:plotArea>
    <c:plotVisOnly val="1"/>
    <c:dispBlanksAs val="zero"/>
    <c:showDLblsOverMax val="1"/>
  </c:chart>
  <c:spPr>
    <a:noFill/>
    <a:ln w="0">
      <a:noFill/>
    </a:ln>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Ogive segment 1</c:v>
          </c:tx>
          <c:spPr>
            <a:ln w="28575">
              <a:solidFill>
                <a:srgbClr val="D6171D"/>
              </a:solidFill>
              <a:prstDash val="solid"/>
            </a:ln>
          </c:spPr>
          <c:marker>
            <c:symbol val="none"/>
          </c:marker>
          <c:xVal>
            <c:numRef>
              <c:f>'Chart Data'!$A$2:$A$3</c:f>
              <c:numCache>
                <c:formatCode>0.##</c:formatCode>
                <c:ptCount val="2"/>
                <c:pt idx="0">
                  <c:v>10</c:v>
                </c:pt>
                <c:pt idx="1">
                  <c:v>20</c:v>
                </c:pt>
              </c:numCache>
            </c:numRef>
          </c:xVal>
          <c:yVal>
            <c:numRef>
              <c:f>'Chart Data'!$B$2:$B$3</c:f>
              <c:numCache>
                <c:formatCode>0.##</c:formatCode>
                <c:ptCount val="2"/>
                <c:pt idx="0">
                  <c:v>0</c:v>
                </c:pt>
                <c:pt idx="1">
                  <c:v>2</c:v>
                </c:pt>
              </c:numCache>
            </c:numRef>
          </c:yVal>
          <c:smooth val="1"/>
          <c:extLst>
            <c:ext xmlns:c16="http://schemas.microsoft.com/office/drawing/2014/chart" uri="{C3380CC4-5D6E-409C-BE32-E72D297353CC}">
              <c16:uniqueId val="{00000000-5ED3-4F4E-BECF-65A56687C330}"/>
            </c:ext>
          </c:extLst>
        </c:ser>
        <c:ser>
          <c:idx val="1"/>
          <c:order val="1"/>
          <c:tx>
            <c:v>Ogive segment 2</c:v>
          </c:tx>
          <c:spPr>
            <a:ln w="28575">
              <a:solidFill>
                <a:srgbClr val="D6171D"/>
              </a:solidFill>
              <a:prstDash val="solid"/>
            </a:ln>
          </c:spPr>
          <c:marker>
            <c:symbol val="none"/>
          </c:marker>
          <c:xVal>
            <c:numRef>
              <c:f>'Chart Data'!$C$2:$C$3</c:f>
              <c:numCache>
                <c:formatCode>0.##</c:formatCode>
                <c:ptCount val="2"/>
                <c:pt idx="0">
                  <c:v>20</c:v>
                </c:pt>
                <c:pt idx="1">
                  <c:v>30</c:v>
                </c:pt>
              </c:numCache>
            </c:numRef>
          </c:xVal>
          <c:yVal>
            <c:numRef>
              <c:f>'Chart Data'!$D$2:$D$3</c:f>
              <c:numCache>
                <c:formatCode>0.##</c:formatCode>
                <c:ptCount val="2"/>
                <c:pt idx="0">
                  <c:v>2</c:v>
                </c:pt>
                <c:pt idx="1">
                  <c:v>9</c:v>
                </c:pt>
              </c:numCache>
            </c:numRef>
          </c:yVal>
          <c:smooth val="1"/>
          <c:extLst>
            <c:ext xmlns:c16="http://schemas.microsoft.com/office/drawing/2014/chart" uri="{C3380CC4-5D6E-409C-BE32-E72D297353CC}">
              <c16:uniqueId val="{00000001-5ED3-4F4E-BECF-65A56687C330}"/>
            </c:ext>
          </c:extLst>
        </c:ser>
        <c:ser>
          <c:idx val="2"/>
          <c:order val="2"/>
          <c:tx>
            <c:v>Ogive segment 3</c:v>
          </c:tx>
          <c:spPr>
            <a:ln w="28575">
              <a:solidFill>
                <a:srgbClr val="D6171D"/>
              </a:solidFill>
              <a:prstDash val="solid"/>
            </a:ln>
          </c:spPr>
          <c:marker>
            <c:symbol val="none"/>
          </c:marker>
          <c:xVal>
            <c:numRef>
              <c:f>'Chart Data'!$E$2:$E$3</c:f>
              <c:numCache>
                <c:formatCode>0.##</c:formatCode>
                <c:ptCount val="2"/>
                <c:pt idx="0">
                  <c:v>30</c:v>
                </c:pt>
                <c:pt idx="1">
                  <c:v>40</c:v>
                </c:pt>
              </c:numCache>
            </c:numRef>
          </c:xVal>
          <c:yVal>
            <c:numRef>
              <c:f>'Chart Data'!$F$2:$F$3</c:f>
              <c:numCache>
                <c:formatCode>0.##</c:formatCode>
                <c:ptCount val="2"/>
                <c:pt idx="0">
                  <c:v>9</c:v>
                </c:pt>
                <c:pt idx="1">
                  <c:v>19</c:v>
                </c:pt>
              </c:numCache>
            </c:numRef>
          </c:yVal>
          <c:smooth val="1"/>
          <c:extLst>
            <c:ext xmlns:c16="http://schemas.microsoft.com/office/drawing/2014/chart" uri="{C3380CC4-5D6E-409C-BE32-E72D297353CC}">
              <c16:uniqueId val="{00000002-5ED3-4F4E-BECF-65A56687C330}"/>
            </c:ext>
          </c:extLst>
        </c:ser>
        <c:ser>
          <c:idx val="3"/>
          <c:order val="3"/>
          <c:tx>
            <c:v>Ogive segment 4</c:v>
          </c:tx>
          <c:spPr>
            <a:ln w="28575">
              <a:solidFill>
                <a:srgbClr val="D6171D"/>
              </a:solidFill>
              <a:prstDash val="solid"/>
            </a:ln>
          </c:spPr>
          <c:marker>
            <c:symbol val="none"/>
          </c:marker>
          <c:xVal>
            <c:numRef>
              <c:f>'Chart Data'!$G$2:$G$3</c:f>
              <c:numCache>
                <c:formatCode>0.##</c:formatCode>
                <c:ptCount val="2"/>
                <c:pt idx="0">
                  <c:v>40</c:v>
                </c:pt>
                <c:pt idx="1">
                  <c:v>50</c:v>
                </c:pt>
              </c:numCache>
            </c:numRef>
          </c:xVal>
          <c:yVal>
            <c:numRef>
              <c:f>'Chart Data'!$H$2:$H$3</c:f>
              <c:numCache>
                <c:formatCode>0.##</c:formatCode>
                <c:ptCount val="2"/>
                <c:pt idx="0">
                  <c:v>19</c:v>
                </c:pt>
                <c:pt idx="1">
                  <c:v>25</c:v>
                </c:pt>
              </c:numCache>
            </c:numRef>
          </c:yVal>
          <c:smooth val="1"/>
          <c:extLst>
            <c:ext xmlns:c16="http://schemas.microsoft.com/office/drawing/2014/chart" uri="{C3380CC4-5D6E-409C-BE32-E72D297353CC}">
              <c16:uniqueId val="{00000003-5ED3-4F4E-BECF-65A56687C330}"/>
            </c:ext>
          </c:extLst>
        </c:ser>
        <c:ser>
          <c:idx val="4"/>
          <c:order val="4"/>
          <c:tx>
            <c:v>Ogive boundary points</c:v>
          </c:tx>
          <c:spPr>
            <a:ln w="0">
              <a:noFill/>
            </a:ln>
          </c:spPr>
          <c:marker>
            <c:symbol val="circle"/>
            <c:size val="7"/>
            <c:spPr>
              <a:noFill/>
            </c:spPr>
          </c:marker>
          <c:xVal>
            <c:numRef>
              <c:f>'Chart Data'!$I$2:$I$6</c:f>
              <c:numCache>
                <c:formatCode>0.##</c:formatCode>
                <c:ptCount val="5"/>
                <c:pt idx="0">
                  <c:v>10</c:v>
                </c:pt>
                <c:pt idx="1">
                  <c:v>20</c:v>
                </c:pt>
                <c:pt idx="2">
                  <c:v>30</c:v>
                </c:pt>
                <c:pt idx="3">
                  <c:v>40</c:v>
                </c:pt>
                <c:pt idx="4">
                  <c:v>50</c:v>
                </c:pt>
              </c:numCache>
            </c:numRef>
          </c:xVal>
          <c:yVal>
            <c:numRef>
              <c:f>'Chart Data'!$J$2:$J$6</c:f>
              <c:numCache>
                <c:formatCode>0.##</c:formatCode>
                <c:ptCount val="5"/>
                <c:pt idx="0">
                  <c:v>0</c:v>
                </c:pt>
                <c:pt idx="1">
                  <c:v>2</c:v>
                </c:pt>
                <c:pt idx="2">
                  <c:v>9</c:v>
                </c:pt>
                <c:pt idx="3">
                  <c:v>19</c:v>
                </c:pt>
                <c:pt idx="4">
                  <c:v>25</c:v>
                </c:pt>
              </c:numCache>
            </c:numRef>
          </c:yVal>
          <c:smooth val="1"/>
          <c:extLst>
            <c:ext xmlns:c16="http://schemas.microsoft.com/office/drawing/2014/chart" uri="{C3380CC4-5D6E-409C-BE32-E72D297353CC}">
              <c16:uniqueId val="{00000004-5ED3-4F4E-BECF-65A56687C330}"/>
            </c:ext>
          </c:extLst>
        </c:ser>
        <c:ser>
          <c:idx val="5"/>
          <c:order val="5"/>
          <c:tx>
            <c:v>Read below 30 vertical guide 1</c:v>
          </c:tx>
          <c:spPr>
            <a:ln w="22860">
              <a:solidFill>
                <a:srgbClr val="2378A1"/>
              </a:solidFill>
              <a:prstDash val="solid"/>
            </a:ln>
          </c:spPr>
          <c:marker>
            <c:symbol val="none"/>
          </c:marker>
          <c:xVal>
            <c:numRef>
              <c:f>'Chart Data'!$K$2:$K$3</c:f>
              <c:numCache>
                <c:formatCode>0.##</c:formatCode>
                <c:ptCount val="2"/>
                <c:pt idx="0">
                  <c:v>30</c:v>
                </c:pt>
                <c:pt idx="1">
                  <c:v>30</c:v>
                </c:pt>
              </c:numCache>
            </c:numRef>
          </c:xVal>
          <c:yVal>
            <c:numRef>
              <c:f>'Chart Data'!$L$2:$L$3</c:f>
              <c:numCache>
                <c:formatCode>0.##</c:formatCode>
                <c:ptCount val="2"/>
                <c:pt idx="0">
                  <c:v>9</c:v>
                </c:pt>
                <c:pt idx="1">
                  <c:v>8.1150439999999993</c:v>
                </c:pt>
              </c:numCache>
            </c:numRef>
          </c:yVal>
          <c:smooth val="1"/>
          <c:extLst>
            <c:ext xmlns:c16="http://schemas.microsoft.com/office/drawing/2014/chart" uri="{C3380CC4-5D6E-409C-BE32-E72D297353CC}">
              <c16:uniqueId val="{00000005-5ED3-4F4E-BECF-65A56687C330}"/>
            </c:ext>
          </c:extLst>
        </c:ser>
        <c:ser>
          <c:idx val="6"/>
          <c:order val="6"/>
          <c:tx>
            <c:v>Read below 30 vertical guide 2</c:v>
          </c:tx>
          <c:spPr>
            <a:ln w="22860">
              <a:solidFill>
                <a:srgbClr val="2378A1"/>
              </a:solidFill>
              <a:prstDash val="solid"/>
            </a:ln>
          </c:spPr>
          <c:marker>
            <c:symbol val="none"/>
          </c:marker>
          <c:xVal>
            <c:numRef>
              <c:f>'Chart Data'!$M$2:$M$3</c:f>
              <c:numCache>
                <c:formatCode>0.##</c:formatCode>
                <c:ptCount val="2"/>
                <c:pt idx="0">
                  <c:v>30</c:v>
                </c:pt>
                <c:pt idx="1">
                  <c:v>30</c:v>
                </c:pt>
              </c:numCache>
            </c:numRef>
          </c:xVal>
          <c:yVal>
            <c:numRef>
              <c:f>'Chart Data'!$N$2:$N$3</c:f>
              <c:numCache>
                <c:formatCode>0.##</c:formatCode>
                <c:ptCount val="2"/>
                <c:pt idx="0">
                  <c:v>7.451327</c:v>
                </c:pt>
                <c:pt idx="1">
                  <c:v>6.5663720000000003</c:v>
                </c:pt>
              </c:numCache>
            </c:numRef>
          </c:yVal>
          <c:smooth val="1"/>
          <c:extLst>
            <c:ext xmlns:c16="http://schemas.microsoft.com/office/drawing/2014/chart" uri="{C3380CC4-5D6E-409C-BE32-E72D297353CC}">
              <c16:uniqueId val="{00000006-5ED3-4F4E-BECF-65A56687C330}"/>
            </c:ext>
          </c:extLst>
        </c:ser>
        <c:ser>
          <c:idx val="7"/>
          <c:order val="7"/>
          <c:tx>
            <c:v>Read below 30 vertical guide 3</c:v>
          </c:tx>
          <c:spPr>
            <a:ln w="22860">
              <a:solidFill>
                <a:srgbClr val="2378A1"/>
              </a:solidFill>
              <a:prstDash val="solid"/>
            </a:ln>
          </c:spPr>
          <c:marker>
            <c:symbol val="none"/>
          </c:marker>
          <c:xVal>
            <c:numRef>
              <c:f>'Chart Data'!$O$2:$O$3</c:f>
              <c:numCache>
                <c:formatCode>0.##</c:formatCode>
                <c:ptCount val="2"/>
                <c:pt idx="0">
                  <c:v>30</c:v>
                </c:pt>
                <c:pt idx="1">
                  <c:v>30</c:v>
                </c:pt>
              </c:numCache>
            </c:numRef>
          </c:xVal>
          <c:yVal>
            <c:numRef>
              <c:f>'Chart Data'!$P$2:$P$3</c:f>
              <c:numCache>
                <c:formatCode>0.##</c:formatCode>
                <c:ptCount val="2"/>
                <c:pt idx="0">
                  <c:v>5.9026550000000002</c:v>
                </c:pt>
                <c:pt idx="1">
                  <c:v>5.0176990000000004</c:v>
                </c:pt>
              </c:numCache>
            </c:numRef>
          </c:yVal>
          <c:smooth val="1"/>
          <c:extLst>
            <c:ext xmlns:c16="http://schemas.microsoft.com/office/drawing/2014/chart" uri="{C3380CC4-5D6E-409C-BE32-E72D297353CC}">
              <c16:uniqueId val="{00000007-5ED3-4F4E-BECF-65A56687C330}"/>
            </c:ext>
          </c:extLst>
        </c:ser>
        <c:ser>
          <c:idx val="8"/>
          <c:order val="8"/>
          <c:tx>
            <c:v>Read below 30 vertical guide 4</c:v>
          </c:tx>
          <c:spPr>
            <a:ln w="22860">
              <a:solidFill>
                <a:srgbClr val="2378A1"/>
              </a:solidFill>
              <a:prstDash val="solid"/>
            </a:ln>
          </c:spPr>
          <c:marker>
            <c:symbol val="none"/>
          </c:marker>
          <c:xVal>
            <c:numRef>
              <c:f>'Chart Data'!$Q$2:$Q$3</c:f>
              <c:numCache>
                <c:formatCode>0.##</c:formatCode>
                <c:ptCount val="2"/>
                <c:pt idx="0">
                  <c:v>30</c:v>
                </c:pt>
                <c:pt idx="1">
                  <c:v>30</c:v>
                </c:pt>
              </c:numCache>
            </c:numRef>
          </c:xVal>
          <c:yVal>
            <c:numRef>
              <c:f>'Chart Data'!$R$2:$R$3</c:f>
              <c:numCache>
                <c:formatCode>0.##</c:formatCode>
                <c:ptCount val="2"/>
                <c:pt idx="0">
                  <c:v>4.3539820000000002</c:v>
                </c:pt>
                <c:pt idx="1">
                  <c:v>3.4690270000000001</c:v>
                </c:pt>
              </c:numCache>
            </c:numRef>
          </c:yVal>
          <c:smooth val="1"/>
          <c:extLst>
            <c:ext xmlns:c16="http://schemas.microsoft.com/office/drawing/2014/chart" uri="{C3380CC4-5D6E-409C-BE32-E72D297353CC}">
              <c16:uniqueId val="{00000008-5ED3-4F4E-BECF-65A56687C330}"/>
            </c:ext>
          </c:extLst>
        </c:ser>
        <c:ser>
          <c:idx val="9"/>
          <c:order val="9"/>
          <c:tx>
            <c:v>Read below 30 vertical guide 5</c:v>
          </c:tx>
          <c:spPr>
            <a:ln w="22860">
              <a:solidFill>
                <a:srgbClr val="2378A1"/>
              </a:solidFill>
              <a:prstDash val="solid"/>
            </a:ln>
          </c:spPr>
          <c:marker>
            <c:symbol val="none"/>
          </c:marker>
          <c:xVal>
            <c:numRef>
              <c:f>'Chart Data'!$S$2:$S$3</c:f>
              <c:numCache>
                <c:formatCode>0.##</c:formatCode>
                <c:ptCount val="2"/>
                <c:pt idx="0">
                  <c:v>30</c:v>
                </c:pt>
                <c:pt idx="1">
                  <c:v>30</c:v>
                </c:pt>
              </c:numCache>
            </c:numRef>
          </c:xVal>
          <c:yVal>
            <c:numRef>
              <c:f>'Chart Data'!$T$2:$T$3</c:f>
              <c:numCache>
                <c:formatCode>0.##</c:formatCode>
                <c:ptCount val="2"/>
                <c:pt idx="0">
                  <c:v>2.80531</c:v>
                </c:pt>
                <c:pt idx="1">
                  <c:v>1.9203539999999999</c:v>
                </c:pt>
              </c:numCache>
            </c:numRef>
          </c:yVal>
          <c:smooth val="1"/>
          <c:extLst>
            <c:ext xmlns:c16="http://schemas.microsoft.com/office/drawing/2014/chart" uri="{C3380CC4-5D6E-409C-BE32-E72D297353CC}">
              <c16:uniqueId val="{00000009-5ED3-4F4E-BECF-65A56687C330}"/>
            </c:ext>
          </c:extLst>
        </c:ser>
        <c:ser>
          <c:idx val="10"/>
          <c:order val="10"/>
          <c:tx>
            <c:v>Read below 30 vertical guide 6</c:v>
          </c:tx>
          <c:spPr>
            <a:ln w="22860">
              <a:solidFill>
                <a:srgbClr val="2378A1"/>
              </a:solidFill>
              <a:prstDash val="solid"/>
            </a:ln>
          </c:spPr>
          <c:marker>
            <c:symbol val="none"/>
          </c:marker>
          <c:xVal>
            <c:numRef>
              <c:f>'Chart Data'!$U$2:$U$3</c:f>
              <c:numCache>
                <c:formatCode>0.##</c:formatCode>
                <c:ptCount val="2"/>
                <c:pt idx="0">
                  <c:v>30</c:v>
                </c:pt>
                <c:pt idx="1">
                  <c:v>30</c:v>
                </c:pt>
              </c:numCache>
            </c:numRef>
          </c:xVal>
          <c:yVal>
            <c:numRef>
              <c:f>'Chart Data'!$V$2:$V$3</c:f>
              <c:numCache>
                <c:formatCode>0.##</c:formatCode>
                <c:ptCount val="2"/>
                <c:pt idx="0">
                  <c:v>1.256637</c:v>
                </c:pt>
                <c:pt idx="1">
                  <c:v>0.37168099999999998</c:v>
                </c:pt>
              </c:numCache>
            </c:numRef>
          </c:yVal>
          <c:smooth val="1"/>
          <c:extLst>
            <c:ext xmlns:c16="http://schemas.microsoft.com/office/drawing/2014/chart" uri="{C3380CC4-5D6E-409C-BE32-E72D297353CC}">
              <c16:uniqueId val="{0000000A-5ED3-4F4E-BECF-65A56687C330}"/>
            </c:ext>
          </c:extLst>
        </c:ser>
        <c:ser>
          <c:idx val="11"/>
          <c:order val="11"/>
          <c:tx>
            <c:v>Read below 30 horizontal guide 1</c:v>
          </c:tx>
          <c:spPr>
            <a:ln w="22860">
              <a:solidFill>
                <a:srgbClr val="2378A1"/>
              </a:solidFill>
              <a:prstDash val="solid"/>
            </a:ln>
          </c:spPr>
          <c:marker>
            <c:symbol val="none"/>
          </c:marker>
          <c:xVal>
            <c:numRef>
              <c:f>'Chart Data'!$W$2:$W$3</c:f>
              <c:numCache>
                <c:formatCode>0.##</c:formatCode>
                <c:ptCount val="2"/>
                <c:pt idx="0">
                  <c:v>30</c:v>
                </c:pt>
                <c:pt idx="1">
                  <c:v>29.493670999999999</c:v>
                </c:pt>
              </c:numCache>
            </c:numRef>
          </c:xVal>
          <c:yVal>
            <c:numRef>
              <c:f>'Chart Data'!$X$2:$X$3</c:f>
              <c:numCache>
                <c:formatCode>0.##</c:formatCode>
                <c:ptCount val="2"/>
                <c:pt idx="0">
                  <c:v>9</c:v>
                </c:pt>
                <c:pt idx="1">
                  <c:v>9</c:v>
                </c:pt>
              </c:numCache>
            </c:numRef>
          </c:yVal>
          <c:smooth val="1"/>
          <c:extLst>
            <c:ext xmlns:c16="http://schemas.microsoft.com/office/drawing/2014/chart" uri="{C3380CC4-5D6E-409C-BE32-E72D297353CC}">
              <c16:uniqueId val="{0000000B-5ED3-4F4E-BECF-65A56687C330}"/>
            </c:ext>
          </c:extLst>
        </c:ser>
        <c:ser>
          <c:idx val="12"/>
          <c:order val="12"/>
          <c:tx>
            <c:v>Read below 30 horizontal guide 2</c:v>
          </c:tx>
          <c:spPr>
            <a:ln w="22860">
              <a:solidFill>
                <a:srgbClr val="2378A1"/>
              </a:solidFill>
              <a:prstDash val="solid"/>
            </a:ln>
          </c:spPr>
          <c:marker>
            <c:symbol val="none"/>
          </c:marker>
          <c:xVal>
            <c:numRef>
              <c:f>'Chart Data'!$Y$2:$Y$3</c:f>
              <c:numCache>
                <c:formatCode>0.##</c:formatCode>
                <c:ptCount val="2"/>
                <c:pt idx="0">
                  <c:v>29.113924000000001</c:v>
                </c:pt>
                <c:pt idx="1">
                  <c:v>28.607595</c:v>
                </c:pt>
              </c:numCache>
            </c:numRef>
          </c:xVal>
          <c:yVal>
            <c:numRef>
              <c:f>'Chart Data'!$Z$2:$Z$3</c:f>
              <c:numCache>
                <c:formatCode>0.##</c:formatCode>
                <c:ptCount val="2"/>
                <c:pt idx="0">
                  <c:v>9</c:v>
                </c:pt>
                <c:pt idx="1">
                  <c:v>9</c:v>
                </c:pt>
              </c:numCache>
            </c:numRef>
          </c:yVal>
          <c:smooth val="1"/>
          <c:extLst>
            <c:ext xmlns:c16="http://schemas.microsoft.com/office/drawing/2014/chart" uri="{C3380CC4-5D6E-409C-BE32-E72D297353CC}">
              <c16:uniqueId val="{0000000C-5ED3-4F4E-BECF-65A56687C330}"/>
            </c:ext>
          </c:extLst>
        </c:ser>
        <c:ser>
          <c:idx val="13"/>
          <c:order val="13"/>
          <c:tx>
            <c:v>Read below 30 horizontal guide 3</c:v>
          </c:tx>
          <c:spPr>
            <a:ln w="22860">
              <a:solidFill>
                <a:srgbClr val="2378A1"/>
              </a:solidFill>
              <a:prstDash val="solid"/>
            </a:ln>
          </c:spPr>
          <c:marker>
            <c:symbol val="none"/>
          </c:marker>
          <c:xVal>
            <c:numRef>
              <c:f>'Chart Data'!$AA$2:$AA$3</c:f>
              <c:numCache>
                <c:formatCode>0.##</c:formatCode>
                <c:ptCount val="2"/>
                <c:pt idx="0">
                  <c:v>28.227848000000002</c:v>
                </c:pt>
                <c:pt idx="1">
                  <c:v>27.721519000000001</c:v>
                </c:pt>
              </c:numCache>
            </c:numRef>
          </c:xVal>
          <c:yVal>
            <c:numRef>
              <c:f>'Chart Data'!$AB$2:$AB$3</c:f>
              <c:numCache>
                <c:formatCode>0.##</c:formatCode>
                <c:ptCount val="2"/>
                <c:pt idx="0">
                  <c:v>9</c:v>
                </c:pt>
                <c:pt idx="1">
                  <c:v>9</c:v>
                </c:pt>
              </c:numCache>
            </c:numRef>
          </c:yVal>
          <c:smooth val="1"/>
          <c:extLst>
            <c:ext xmlns:c16="http://schemas.microsoft.com/office/drawing/2014/chart" uri="{C3380CC4-5D6E-409C-BE32-E72D297353CC}">
              <c16:uniqueId val="{0000000D-5ED3-4F4E-BECF-65A56687C330}"/>
            </c:ext>
          </c:extLst>
        </c:ser>
        <c:ser>
          <c:idx val="14"/>
          <c:order val="14"/>
          <c:tx>
            <c:v>Read below 30 horizontal guide 4</c:v>
          </c:tx>
          <c:spPr>
            <a:ln w="22860">
              <a:solidFill>
                <a:srgbClr val="2378A1"/>
              </a:solidFill>
              <a:prstDash val="solid"/>
            </a:ln>
          </c:spPr>
          <c:marker>
            <c:symbol val="none"/>
          </c:marker>
          <c:xVal>
            <c:numRef>
              <c:f>'Chart Data'!$AC$2:$AC$3</c:f>
              <c:numCache>
                <c:formatCode>0.##</c:formatCode>
                <c:ptCount val="2"/>
                <c:pt idx="0">
                  <c:v>27.341771999999999</c:v>
                </c:pt>
                <c:pt idx="1">
                  <c:v>26.835443000000001</c:v>
                </c:pt>
              </c:numCache>
            </c:numRef>
          </c:xVal>
          <c:yVal>
            <c:numRef>
              <c:f>'Chart Data'!$AD$2:$AD$3</c:f>
              <c:numCache>
                <c:formatCode>0.##</c:formatCode>
                <c:ptCount val="2"/>
                <c:pt idx="0">
                  <c:v>9</c:v>
                </c:pt>
                <c:pt idx="1">
                  <c:v>9</c:v>
                </c:pt>
              </c:numCache>
            </c:numRef>
          </c:yVal>
          <c:smooth val="1"/>
          <c:extLst>
            <c:ext xmlns:c16="http://schemas.microsoft.com/office/drawing/2014/chart" uri="{C3380CC4-5D6E-409C-BE32-E72D297353CC}">
              <c16:uniqueId val="{0000000E-5ED3-4F4E-BECF-65A56687C330}"/>
            </c:ext>
          </c:extLst>
        </c:ser>
        <c:ser>
          <c:idx val="15"/>
          <c:order val="15"/>
          <c:tx>
            <c:v>Read below 30 horizontal guide 5</c:v>
          </c:tx>
          <c:spPr>
            <a:ln w="22860">
              <a:solidFill>
                <a:srgbClr val="2378A1"/>
              </a:solidFill>
              <a:prstDash val="solid"/>
            </a:ln>
          </c:spPr>
          <c:marker>
            <c:symbol val="none"/>
          </c:marker>
          <c:xVal>
            <c:numRef>
              <c:f>'Chart Data'!$AE$2:$AE$3</c:f>
              <c:numCache>
                <c:formatCode>0.##</c:formatCode>
                <c:ptCount val="2"/>
                <c:pt idx="0">
                  <c:v>26.455696</c:v>
                </c:pt>
                <c:pt idx="1">
                  <c:v>25.949366999999999</c:v>
                </c:pt>
              </c:numCache>
            </c:numRef>
          </c:xVal>
          <c:yVal>
            <c:numRef>
              <c:f>'Chart Data'!$AF$2:$AF$3</c:f>
              <c:numCache>
                <c:formatCode>0.##</c:formatCode>
                <c:ptCount val="2"/>
                <c:pt idx="0">
                  <c:v>9</c:v>
                </c:pt>
                <c:pt idx="1">
                  <c:v>9</c:v>
                </c:pt>
              </c:numCache>
            </c:numRef>
          </c:yVal>
          <c:smooth val="1"/>
          <c:extLst>
            <c:ext xmlns:c16="http://schemas.microsoft.com/office/drawing/2014/chart" uri="{C3380CC4-5D6E-409C-BE32-E72D297353CC}">
              <c16:uniqueId val="{0000000F-5ED3-4F4E-BECF-65A56687C330}"/>
            </c:ext>
          </c:extLst>
        </c:ser>
        <c:ser>
          <c:idx val="16"/>
          <c:order val="16"/>
          <c:tx>
            <c:v>Read below 30 horizontal guide 6</c:v>
          </c:tx>
          <c:spPr>
            <a:ln w="22860">
              <a:solidFill>
                <a:srgbClr val="2378A1"/>
              </a:solidFill>
              <a:prstDash val="solid"/>
            </a:ln>
          </c:spPr>
          <c:marker>
            <c:symbol val="none"/>
          </c:marker>
          <c:xVal>
            <c:numRef>
              <c:f>'Chart Data'!$AG$2:$AG$3</c:f>
              <c:numCache>
                <c:formatCode>0.##</c:formatCode>
                <c:ptCount val="2"/>
                <c:pt idx="0">
                  <c:v>25.56962</c:v>
                </c:pt>
                <c:pt idx="1">
                  <c:v>25.063291</c:v>
                </c:pt>
              </c:numCache>
            </c:numRef>
          </c:xVal>
          <c:yVal>
            <c:numRef>
              <c:f>'Chart Data'!$AH$2:$AH$3</c:f>
              <c:numCache>
                <c:formatCode>0.##</c:formatCode>
                <c:ptCount val="2"/>
                <c:pt idx="0">
                  <c:v>9</c:v>
                </c:pt>
                <c:pt idx="1">
                  <c:v>9</c:v>
                </c:pt>
              </c:numCache>
            </c:numRef>
          </c:yVal>
          <c:smooth val="1"/>
          <c:extLst>
            <c:ext xmlns:c16="http://schemas.microsoft.com/office/drawing/2014/chart" uri="{C3380CC4-5D6E-409C-BE32-E72D297353CC}">
              <c16:uniqueId val="{00000010-5ED3-4F4E-BECF-65A56687C330}"/>
            </c:ext>
          </c:extLst>
        </c:ser>
        <c:ser>
          <c:idx val="17"/>
          <c:order val="17"/>
          <c:tx>
            <c:v>Read below 30 horizontal guide 7</c:v>
          </c:tx>
          <c:spPr>
            <a:ln w="22860">
              <a:solidFill>
                <a:srgbClr val="2378A1"/>
              </a:solidFill>
              <a:prstDash val="solid"/>
            </a:ln>
          </c:spPr>
          <c:marker>
            <c:symbol val="none"/>
          </c:marker>
          <c:xVal>
            <c:numRef>
              <c:f>'Chart Data'!$AI$2:$AI$3</c:f>
              <c:numCache>
                <c:formatCode>0.##</c:formatCode>
                <c:ptCount val="2"/>
                <c:pt idx="0">
                  <c:v>24.683544000000001</c:v>
                </c:pt>
                <c:pt idx="1">
                  <c:v>24.177215</c:v>
                </c:pt>
              </c:numCache>
            </c:numRef>
          </c:xVal>
          <c:yVal>
            <c:numRef>
              <c:f>'Chart Data'!$AJ$2:$AJ$3</c:f>
              <c:numCache>
                <c:formatCode>0.##</c:formatCode>
                <c:ptCount val="2"/>
                <c:pt idx="0">
                  <c:v>9</c:v>
                </c:pt>
                <c:pt idx="1">
                  <c:v>9</c:v>
                </c:pt>
              </c:numCache>
            </c:numRef>
          </c:yVal>
          <c:smooth val="1"/>
          <c:extLst>
            <c:ext xmlns:c16="http://schemas.microsoft.com/office/drawing/2014/chart" uri="{C3380CC4-5D6E-409C-BE32-E72D297353CC}">
              <c16:uniqueId val="{00000011-5ED3-4F4E-BECF-65A56687C330}"/>
            </c:ext>
          </c:extLst>
        </c:ser>
        <c:ser>
          <c:idx val="18"/>
          <c:order val="18"/>
          <c:tx>
            <c:v>Read below 30 horizontal guide 8</c:v>
          </c:tx>
          <c:spPr>
            <a:ln w="22860">
              <a:solidFill>
                <a:srgbClr val="2378A1"/>
              </a:solidFill>
              <a:prstDash val="solid"/>
            </a:ln>
          </c:spPr>
          <c:marker>
            <c:symbol val="none"/>
          </c:marker>
          <c:xVal>
            <c:numRef>
              <c:f>'Chart Data'!$AK$2:$AK$3</c:f>
              <c:numCache>
                <c:formatCode>0.##</c:formatCode>
                <c:ptCount val="2"/>
                <c:pt idx="0">
                  <c:v>23.797467999999999</c:v>
                </c:pt>
                <c:pt idx="1">
                  <c:v>23.291139000000001</c:v>
                </c:pt>
              </c:numCache>
            </c:numRef>
          </c:xVal>
          <c:yVal>
            <c:numRef>
              <c:f>'Chart Data'!$AL$2:$AL$3</c:f>
              <c:numCache>
                <c:formatCode>0.##</c:formatCode>
                <c:ptCount val="2"/>
                <c:pt idx="0">
                  <c:v>9</c:v>
                </c:pt>
                <c:pt idx="1">
                  <c:v>9</c:v>
                </c:pt>
              </c:numCache>
            </c:numRef>
          </c:yVal>
          <c:smooth val="1"/>
          <c:extLst>
            <c:ext xmlns:c16="http://schemas.microsoft.com/office/drawing/2014/chart" uri="{C3380CC4-5D6E-409C-BE32-E72D297353CC}">
              <c16:uniqueId val="{00000012-5ED3-4F4E-BECF-65A56687C330}"/>
            </c:ext>
          </c:extLst>
        </c:ser>
        <c:ser>
          <c:idx val="19"/>
          <c:order val="19"/>
          <c:tx>
            <c:v>Read below 30 horizontal guide 9</c:v>
          </c:tx>
          <c:spPr>
            <a:ln w="22860">
              <a:solidFill>
                <a:srgbClr val="2378A1"/>
              </a:solidFill>
              <a:prstDash val="solid"/>
            </a:ln>
          </c:spPr>
          <c:marker>
            <c:symbol val="none"/>
          </c:marker>
          <c:xVal>
            <c:numRef>
              <c:f>'Chart Data'!$AM$2:$AM$3</c:f>
              <c:numCache>
                <c:formatCode>0.##</c:formatCode>
                <c:ptCount val="2"/>
                <c:pt idx="0">
                  <c:v>22.911391999999999</c:v>
                </c:pt>
                <c:pt idx="1">
                  <c:v>22.405062999999998</c:v>
                </c:pt>
              </c:numCache>
            </c:numRef>
          </c:xVal>
          <c:yVal>
            <c:numRef>
              <c:f>'Chart Data'!$AN$2:$AN$3</c:f>
              <c:numCache>
                <c:formatCode>0.##</c:formatCode>
                <c:ptCount val="2"/>
                <c:pt idx="0">
                  <c:v>9</c:v>
                </c:pt>
                <c:pt idx="1">
                  <c:v>9</c:v>
                </c:pt>
              </c:numCache>
            </c:numRef>
          </c:yVal>
          <c:smooth val="1"/>
          <c:extLst>
            <c:ext xmlns:c16="http://schemas.microsoft.com/office/drawing/2014/chart" uri="{C3380CC4-5D6E-409C-BE32-E72D297353CC}">
              <c16:uniqueId val="{00000013-5ED3-4F4E-BECF-65A56687C330}"/>
            </c:ext>
          </c:extLst>
        </c:ser>
        <c:ser>
          <c:idx val="20"/>
          <c:order val="20"/>
          <c:tx>
            <c:v>Read below 30 horizontal guide 10</c:v>
          </c:tx>
          <c:spPr>
            <a:ln w="22860">
              <a:solidFill>
                <a:srgbClr val="2378A1"/>
              </a:solidFill>
              <a:prstDash val="solid"/>
            </a:ln>
          </c:spPr>
          <c:marker>
            <c:symbol val="none"/>
          </c:marker>
          <c:xVal>
            <c:numRef>
              <c:f>'Chart Data'!$AO$2:$AO$3</c:f>
              <c:numCache>
                <c:formatCode>0.##</c:formatCode>
                <c:ptCount val="2"/>
                <c:pt idx="0">
                  <c:v>22.025316</c:v>
                </c:pt>
                <c:pt idx="1">
                  <c:v>21.518986999999999</c:v>
                </c:pt>
              </c:numCache>
            </c:numRef>
          </c:xVal>
          <c:yVal>
            <c:numRef>
              <c:f>'Chart Data'!$AP$2:$AP$3</c:f>
              <c:numCache>
                <c:formatCode>0.##</c:formatCode>
                <c:ptCount val="2"/>
                <c:pt idx="0">
                  <c:v>9</c:v>
                </c:pt>
                <c:pt idx="1">
                  <c:v>9</c:v>
                </c:pt>
              </c:numCache>
            </c:numRef>
          </c:yVal>
          <c:smooth val="1"/>
          <c:extLst>
            <c:ext xmlns:c16="http://schemas.microsoft.com/office/drawing/2014/chart" uri="{C3380CC4-5D6E-409C-BE32-E72D297353CC}">
              <c16:uniqueId val="{00000014-5ED3-4F4E-BECF-65A56687C330}"/>
            </c:ext>
          </c:extLst>
        </c:ser>
        <c:ser>
          <c:idx val="21"/>
          <c:order val="21"/>
          <c:tx>
            <c:v>Read below 30 horizontal guide 11</c:v>
          </c:tx>
          <c:spPr>
            <a:ln w="22860">
              <a:solidFill>
                <a:srgbClr val="2378A1"/>
              </a:solidFill>
              <a:prstDash val="solid"/>
            </a:ln>
          </c:spPr>
          <c:marker>
            <c:symbol val="none"/>
          </c:marker>
          <c:xVal>
            <c:numRef>
              <c:f>'Chart Data'!$AQ$2:$AQ$3</c:f>
              <c:numCache>
                <c:formatCode>0.##</c:formatCode>
                <c:ptCount val="2"/>
                <c:pt idx="0">
                  <c:v>21.139240999999998</c:v>
                </c:pt>
                <c:pt idx="1">
                  <c:v>20.632911</c:v>
                </c:pt>
              </c:numCache>
            </c:numRef>
          </c:xVal>
          <c:yVal>
            <c:numRef>
              <c:f>'Chart Data'!$AR$2:$AR$3</c:f>
              <c:numCache>
                <c:formatCode>0.##</c:formatCode>
                <c:ptCount val="2"/>
                <c:pt idx="0">
                  <c:v>9</c:v>
                </c:pt>
                <c:pt idx="1">
                  <c:v>9</c:v>
                </c:pt>
              </c:numCache>
            </c:numRef>
          </c:yVal>
          <c:smooth val="1"/>
          <c:extLst>
            <c:ext xmlns:c16="http://schemas.microsoft.com/office/drawing/2014/chart" uri="{C3380CC4-5D6E-409C-BE32-E72D297353CC}">
              <c16:uniqueId val="{00000015-5ED3-4F4E-BECF-65A56687C330}"/>
            </c:ext>
          </c:extLst>
        </c:ser>
        <c:ser>
          <c:idx val="22"/>
          <c:order val="22"/>
          <c:tx>
            <c:v>Read below 30 horizontal guide 12</c:v>
          </c:tx>
          <c:spPr>
            <a:ln w="22860">
              <a:solidFill>
                <a:srgbClr val="2378A1"/>
              </a:solidFill>
              <a:prstDash val="solid"/>
            </a:ln>
          </c:spPr>
          <c:marker>
            <c:symbol val="none"/>
          </c:marker>
          <c:xVal>
            <c:numRef>
              <c:f>'Chart Data'!$AS$2:$AS$3</c:f>
              <c:numCache>
                <c:formatCode>0.##</c:formatCode>
                <c:ptCount val="2"/>
                <c:pt idx="0">
                  <c:v>20.253164999999999</c:v>
                </c:pt>
                <c:pt idx="1">
                  <c:v>19.746835000000001</c:v>
                </c:pt>
              </c:numCache>
            </c:numRef>
          </c:xVal>
          <c:yVal>
            <c:numRef>
              <c:f>'Chart Data'!$AT$2:$AT$3</c:f>
              <c:numCache>
                <c:formatCode>0.##</c:formatCode>
                <c:ptCount val="2"/>
                <c:pt idx="0">
                  <c:v>9</c:v>
                </c:pt>
                <c:pt idx="1">
                  <c:v>9</c:v>
                </c:pt>
              </c:numCache>
            </c:numRef>
          </c:yVal>
          <c:smooth val="1"/>
          <c:extLst>
            <c:ext xmlns:c16="http://schemas.microsoft.com/office/drawing/2014/chart" uri="{C3380CC4-5D6E-409C-BE32-E72D297353CC}">
              <c16:uniqueId val="{00000016-5ED3-4F4E-BECF-65A56687C330}"/>
            </c:ext>
          </c:extLst>
        </c:ser>
        <c:ser>
          <c:idx val="23"/>
          <c:order val="23"/>
          <c:tx>
            <c:v>Read below 30 horizontal guide 13</c:v>
          </c:tx>
          <c:spPr>
            <a:ln w="22860">
              <a:solidFill>
                <a:srgbClr val="2378A1"/>
              </a:solidFill>
              <a:prstDash val="solid"/>
            </a:ln>
          </c:spPr>
          <c:marker>
            <c:symbol val="none"/>
          </c:marker>
          <c:xVal>
            <c:numRef>
              <c:f>'Chart Data'!$AU$2:$AU$3</c:f>
              <c:numCache>
                <c:formatCode>0.##</c:formatCode>
                <c:ptCount val="2"/>
                <c:pt idx="0">
                  <c:v>19.367089</c:v>
                </c:pt>
                <c:pt idx="1">
                  <c:v>18.860759000000002</c:v>
                </c:pt>
              </c:numCache>
            </c:numRef>
          </c:xVal>
          <c:yVal>
            <c:numRef>
              <c:f>'Chart Data'!$AV$2:$AV$3</c:f>
              <c:numCache>
                <c:formatCode>0.##</c:formatCode>
                <c:ptCount val="2"/>
                <c:pt idx="0">
                  <c:v>9</c:v>
                </c:pt>
                <c:pt idx="1">
                  <c:v>9</c:v>
                </c:pt>
              </c:numCache>
            </c:numRef>
          </c:yVal>
          <c:smooth val="1"/>
          <c:extLst>
            <c:ext xmlns:c16="http://schemas.microsoft.com/office/drawing/2014/chart" uri="{C3380CC4-5D6E-409C-BE32-E72D297353CC}">
              <c16:uniqueId val="{00000017-5ED3-4F4E-BECF-65A56687C330}"/>
            </c:ext>
          </c:extLst>
        </c:ser>
        <c:ser>
          <c:idx val="24"/>
          <c:order val="24"/>
          <c:tx>
            <c:v>Read below 30 horizontal guide 14</c:v>
          </c:tx>
          <c:spPr>
            <a:ln w="22860">
              <a:solidFill>
                <a:srgbClr val="2378A1"/>
              </a:solidFill>
              <a:prstDash val="solid"/>
            </a:ln>
          </c:spPr>
          <c:marker>
            <c:symbol val="none"/>
          </c:marker>
          <c:xVal>
            <c:numRef>
              <c:f>'Chart Data'!$AW$2:$AW$3</c:f>
              <c:numCache>
                <c:formatCode>0.##</c:formatCode>
                <c:ptCount val="2"/>
                <c:pt idx="0">
                  <c:v>18.481013000000001</c:v>
                </c:pt>
                <c:pt idx="1">
                  <c:v>17.974684</c:v>
                </c:pt>
              </c:numCache>
            </c:numRef>
          </c:xVal>
          <c:yVal>
            <c:numRef>
              <c:f>'Chart Data'!$AX$2:$AX$3</c:f>
              <c:numCache>
                <c:formatCode>0.##</c:formatCode>
                <c:ptCount val="2"/>
                <c:pt idx="0">
                  <c:v>9</c:v>
                </c:pt>
                <c:pt idx="1">
                  <c:v>9</c:v>
                </c:pt>
              </c:numCache>
            </c:numRef>
          </c:yVal>
          <c:smooth val="1"/>
          <c:extLst>
            <c:ext xmlns:c16="http://schemas.microsoft.com/office/drawing/2014/chart" uri="{C3380CC4-5D6E-409C-BE32-E72D297353CC}">
              <c16:uniqueId val="{00000018-5ED3-4F4E-BECF-65A56687C330}"/>
            </c:ext>
          </c:extLst>
        </c:ser>
        <c:ser>
          <c:idx val="25"/>
          <c:order val="25"/>
          <c:tx>
            <c:v>Read below 30 horizontal guide 15</c:v>
          </c:tx>
          <c:spPr>
            <a:ln w="22860">
              <a:solidFill>
                <a:srgbClr val="2378A1"/>
              </a:solidFill>
              <a:prstDash val="solid"/>
            </a:ln>
          </c:spPr>
          <c:marker>
            <c:symbol val="none"/>
          </c:marker>
          <c:xVal>
            <c:numRef>
              <c:f>'Chart Data'!$AY$2:$AY$3</c:f>
              <c:numCache>
                <c:formatCode>0.##</c:formatCode>
                <c:ptCount val="2"/>
                <c:pt idx="0">
                  <c:v>17.594937000000002</c:v>
                </c:pt>
                <c:pt idx="1">
                  <c:v>17.088608000000001</c:v>
                </c:pt>
              </c:numCache>
            </c:numRef>
          </c:xVal>
          <c:yVal>
            <c:numRef>
              <c:f>'Chart Data'!$AZ$2:$AZ$3</c:f>
              <c:numCache>
                <c:formatCode>0.##</c:formatCode>
                <c:ptCount val="2"/>
                <c:pt idx="0">
                  <c:v>9</c:v>
                </c:pt>
                <c:pt idx="1">
                  <c:v>9</c:v>
                </c:pt>
              </c:numCache>
            </c:numRef>
          </c:yVal>
          <c:smooth val="1"/>
          <c:extLst>
            <c:ext xmlns:c16="http://schemas.microsoft.com/office/drawing/2014/chart" uri="{C3380CC4-5D6E-409C-BE32-E72D297353CC}">
              <c16:uniqueId val="{00000019-5ED3-4F4E-BECF-65A56687C330}"/>
            </c:ext>
          </c:extLst>
        </c:ser>
        <c:ser>
          <c:idx val="26"/>
          <c:order val="26"/>
          <c:tx>
            <c:v>Read below 30 horizontal guide 16</c:v>
          </c:tx>
          <c:spPr>
            <a:ln w="22860">
              <a:solidFill>
                <a:srgbClr val="2378A1"/>
              </a:solidFill>
              <a:prstDash val="solid"/>
            </a:ln>
          </c:spPr>
          <c:marker>
            <c:symbol val="none"/>
          </c:marker>
          <c:xVal>
            <c:numRef>
              <c:f>'Chart Data'!$BA$2:$BA$3</c:f>
              <c:numCache>
                <c:formatCode>0.##</c:formatCode>
                <c:ptCount val="2"/>
                <c:pt idx="0">
                  <c:v>16.708860999999999</c:v>
                </c:pt>
                <c:pt idx="1">
                  <c:v>16.202532000000001</c:v>
                </c:pt>
              </c:numCache>
            </c:numRef>
          </c:xVal>
          <c:yVal>
            <c:numRef>
              <c:f>'Chart Data'!$BB$2:$BB$3</c:f>
              <c:numCache>
                <c:formatCode>0.##</c:formatCode>
                <c:ptCount val="2"/>
                <c:pt idx="0">
                  <c:v>9</c:v>
                </c:pt>
                <c:pt idx="1">
                  <c:v>9</c:v>
                </c:pt>
              </c:numCache>
            </c:numRef>
          </c:yVal>
          <c:smooth val="1"/>
          <c:extLst>
            <c:ext xmlns:c16="http://schemas.microsoft.com/office/drawing/2014/chart" uri="{C3380CC4-5D6E-409C-BE32-E72D297353CC}">
              <c16:uniqueId val="{0000001A-5ED3-4F4E-BECF-65A56687C330}"/>
            </c:ext>
          </c:extLst>
        </c:ser>
        <c:ser>
          <c:idx val="27"/>
          <c:order val="27"/>
          <c:tx>
            <c:v>Read below 30 horizontal guide 17</c:v>
          </c:tx>
          <c:spPr>
            <a:ln w="22860">
              <a:solidFill>
                <a:srgbClr val="2378A1"/>
              </a:solidFill>
              <a:prstDash val="solid"/>
            </a:ln>
          </c:spPr>
          <c:marker>
            <c:symbol val="none"/>
          </c:marker>
          <c:xVal>
            <c:numRef>
              <c:f>'Chart Data'!$BC$2:$BC$3</c:f>
              <c:numCache>
                <c:formatCode>0.##</c:formatCode>
                <c:ptCount val="2"/>
                <c:pt idx="0">
                  <c:v>15.822785</c:v>
                </c:pt>
                <c:pt idx="1">
                  <c:v>15.316456000000001</c:v>
                </c:pt>
              </c:numCache>
            </c:numRef>
          </c:xVal>
          <c:yVal>
            <c:numRef>
              <c:f>'Chart Data'!$BD$2:$BD$3</c:f>
              <c:numCache>
                <c:formatCode>0.##</c:formatCode>
                <c:ptCount val="2"/>
                <c:pt idx="0">
                  <c:v>9</c:v>
                </c:pt>
                <c:pt idx="1">
                  <c:v>9</c:v>
                </c:pt>
              </c:numCache>
            </c:numRef>
          </c:yVal>
          <c:smooth val="1"/>
          <c:extLst>
            <c:ext xmlns:c16="http://schemas.microsoft.com/office/drawing/2014/chart" uri="{C3380CC4-5D6E-409C-BE32-E72D297353CC}">
              <c16:uniqueId val="{0000001B-5ED3-4F4E-BECF-65A56687C330}"/>
            </c:ext>
          </c:extLst>
        </c:ser>
        <c:ser>
          <c:idx val="28"/>
          <c:order val="28"/>
          <c:tx>
            <c:v>Read below 30 horizontal guide 18</c:v>
          </c:tx>
          <c:spPr>
            <a:ln w="22860">
              <a:solidFill>
                <a:srgbClr val="2378A1"/>
              </a:solidFill>
              <a:prstDash val="solid"/>
            </a:ln>
          </c:spPr>
          <c:marker>
            <c:symbol val="none"/>
          </c:marker>
          <c:xVal>
            <c:numRef>
              <c:f>'Chart Data'!$BE$2:$BE$3</c:f>
              <c:numCache>
                <c:formatCode>0.##</c:formatCode>
                <c:ptCount val="2"/>
                <c:pt idx="0">
                  <c:v>14.936709</c:v>
                </c:pt>
                <c:pt idx="1">
                  <c:v>14.43038</c:v>
                </c:pt>
              </c:numCache>
            </c:numRef>
          </c:xVal>
          <c:yVal>
            <c:numRef>
              <c:f>'Chart Data'!$BF$2:$BF$3</c:f>
              <c:numCache>
                <c:formatCode>0.##</c:formatCode>
                <c:ptCount val="2"/>
                <c:pt idx="0">
                  <c:v>9</c:v>
                </c:pt>
                <c:pt idx="1">
                  <c:v>9</c:v>
                </c:pt>
              </c:numCache>
            </c:numRef>
          </c:yVal>
          <c:smooth val="1"/>
          <c:extLst>
            <c:ext xmlns:c16="http://schemas.microsoft.com/office/drawing/2014/chart" uri="{C3380CC4-5D6E-409C-BE32-E72D297353CC}">
              <c16:uniqueId val="{0000001C-5ED3-4F4E-BECF-65A56687C330}"/>
            </c:ext>
          </c:extLst>
        </c:ser>
        <c:ser>
          <c:idx val="29"/>
          <c:order val="29"/>
          <c:tx>
            <c:v>Read below 30 horizontal guide 19</c:v>
          </c:tx>
          <c:spPr>
            <a:ln w="22860">
              <a:solidFill>
                <a:srgbClr val="2378A1"/>
              </a:solidFill>
              <a:prstDash val="solid"/>
            </a:ln>
          </c:spPr>
          <c:marker>
            <c:symbol val="none"/>
          </c:marker>
          <c:xVal>
            <c:numRef>
              <c:f>'Chart Data'!$BG$2:$BG$3</c:f>
              <c:numCache>
                <c:formatCode>0.##</c:formatCode>
                <c:ptCount val="2"/>
                <c:pt idx="0">
                  <c:v>14.050632999999999</c:v>
                </c:pt>
                <c:pt idx="1">
                  <c:v>13.544304</c:v>
                </c:pt>
              </c:numCache>
            </c:numRef>
          </c:xVal>
          <c:yVal>
            <c:numRef>
              <c:f>'Chart Data'!$BH$2:$BH$3</c:f>
              <c:numCache>
                <c:formatCode>0.##</c:formatCode>
                <c:ptCount val="2"/>
                <c:pt idx="0">
                  <c:v>9</c:v>
                </c:pt>
                <c:pt idx="1">
                  <c:v>9</c:v>
                </c:pt>
              </c:numCache>
            </c:numRef>
          </c:yVal>
          <c:smooth val="1"/>
          <c:extLst>
            <c:ext xmlns:c16="http://schemas.microsoft.com/office/drawing/2014/chart" uri="{C3380CC4-5D6E-409C-BE32-E72D297353CC}">
              <c16:uniqueId val="{0000001D-5ED3-4F4E-BECF-65A56687C330}"/>
            </c:ext>
          </c:extLst>
        </c:ser>
        <c:ser>
          <c:idx val="30"/>
          <c:order val="30"/>
          <c:tx>
            <c:v>Read below 30 horizontal guide 20</c:v>
          </c:tx>
          <c:spPr>
            <a:ln w="22860">
              <a:solidFill>
                <a:srgbClr val="2378A1"/>
              </a:solidFill>
              <a:prstDash val="solid"/>
            </a:ln>
          </c:spPr>
          <c:marker>
            <c:symbol val="none"/>
          </c:marker>
          <c:xVal>
            <c:numRef>
              <c:f>'Chart Data'!$BI$2:$BI$3</c:f>
              <c:numCache>
                <c:formatCode>0.##</c:formatCode>
                <c:ptCount val="2"/>
                <c:pt idx="0">
                  <c:v>13.164557</c:v>
                </c:pt>
                <c:pt idx="1">
                  <c:v>12.658227999999999</c:v>
                </c:pt>
              </c:numCache>
            </c:numRef>
          </c:xVal>
          <c:yVal>
            <c:numRef>
              <c:f>'Chart Data'!$BJ$2:$BJ$3</c:f>
              <c:numCache>
                <c:formatCode>0.##</c:formatCode>
                <c:ptCount val="2"/>
                <c:pt idx="0">
                  <c:v>9</c:v>
                </c:pt>
                <c:pt idx="1">
                  <c:v>9</c:v>
                </c:pt>
              </c:numCache>
            </c:numRef>
          </c:yVal>
          <c:smooth val="1"/>
          <c:extLst>
            <c:ext xmlns:c16="http://schemas.microsoft.com/office/drawing/2014/chart" uri="{C3380CC4-5D6E-409C-BE32-E72D297353CC}">
              <c16:uniqueId val="{0000001E-5ED3-4F4E-BECF-65A56687C330}"/>
            </c:ext>
          </c:extLst>
        </c:ser>
        <c:ser>
          <c:idx val="31"/>
          <c:order val="31"/>
          <c:tx>
            <c:v>Read below 30 horizontal guide 21</c:v>
          </c:tx>
          <c:spPr>
            <a:ln w="22860">
              <a:solidFill>
                <a:srgbClr val="2378A1"/>
              </a:solidFill>
              <a:prstDash val="solid"/>
            </a:ln>
          </c:spPr>
          <c:marker>
            <c:symbol val="none"/>
          </c:marker>
          <c:xVal>
            <c:numRef>
              <c:f>'Chart Data'!$BK$2:$BK$3</c:f>
              <c:numCache>
                <c:formatCode>0.##</c:formatCode>
                <c:ptCount val="2"/>
                <c:pt idx="0">
                  <c:v>12.278480999999999</c:v>
                </c:pt>
                <c:pt idx="1">
                  <c:v>11.772152</c:v>
                </c:pt>
              </c:numCache>
            </c:numRef>
          </c:xVal>
          <c:yVal>
            <c:numRef>
              <c:f>'Chart Data'!$BL$2:$BL$3</c:f>
              <c:numCache>
                <c:formatCode>0.##</c:formatCode>
                <c:ptCount val="2"/>
                <c:pt idx="0">
                  <c:v>9</c:v>
                </c:pt>
                <c:pt idx="1">
                  <c:v>9</c:v>
                </c:pt>
              </c:numCache>
            </c:numRef>
          </c:yVal>
          <c:smooth val="1"/>
          <c:extLst>
            <c:ext xmlns:c16="http://schemas.microsoft.com/office/drawing/2014/chart" uri="{C3380CC4-5D6E-409C-BE32-E72D297353CC}">
              <c16:uniqueId val="{0000001F-5ED3-4F4E-BECF-65A56687C330}"/>
            </c:ext>
          </c:extLst>
        </c:ser>
        <c:ser>
          <c:idx val="32"/>
          <c:order val="32"/>
          <c:tx>
            <c:v>Read below 30 horizontal guide 22</c:v>
          </c:tx>
          <c:spPr>
            <a:ln w="22860">
              <a:solidFill>
                <a:srgbClr val="2378A1"/>
              </a:solidFill>
              <a:prstDash val="solid"/>
            </a:ln>
          </c:spPr>
          <c:marker>
            <c:symbol val="none"/>
          </c:marker>
          <c:xVal>
            <c:numRef>
              <c:f>'Chart Data'!$BM$2:$BM$3</c:f>
              <c:numCache>
                <c:formatCode>0.##</c:formatCode>
                <c:ptCount val="2"/>
                <c:pt idx="0">
                  <c:v>11.392405</c:v>
                </c:pt>
                <c:pt idx="1">
                  <c:v>10.886075999999999</c:v>
                </c:pt>
              </c:numCache>
            </c:numRef>
          </c:xVal>
          <c:yVal>
            <c:numRef>
              <c:f>'Chart Data'!$BN$2:$BN$3</c:f>
              <c:numCache>
                <c:formatCode>0.##</c:formatCode>
                <c:ptCount val="2"/>
                <c:pt idx="0">
                  <c:v>9</c:v>
                </c:pt>
                <c:pt idx="1">
                  <c:v>9</c:v>
                </c:pt>
              </c:numCache>
            </c:numRef>
          </c:yVal>
          <c:smooth val="1"/>
          <c:extLst>
            <c:ext xmlns:c16="http://schemas.microsoft.com/office/drawing/2014/chart" uri="{C3380CC4-5D6E-409C-BE32-E72D297353CC}">
              <c16:uniqueId val="{00000020-5ED3-4F4E-BECF-65A56687C330}"/>
            </c:ext>
          </c:extLst>
        </c:ser>
        <c:ser>
          <c:idx val="33"/>
          <c:order val="33"/>
          <c:tx>
            <c:v>Read below 30 horizontal guide 23</c:v>
          </c:tx>
          <c:spPr>
            <a:ln w="22860">
              <a:solidFill>
                <a:srgbClr val="2378A1"/>
              </a:solidFill>
              <a:prstDash val="solid"/>
            </a:ln>
          </c:spPr>
          <c:marker>
            <c:symbol val="none"/>
          </c:marker>
          <c:xVal>
            <c:numRef>
              <c:f>'Chart Data'!$BO$2:$BO$3</c:f>
              <c:numCache>
                <c:formatCode>0.##</c:formatCode>
                <c:ptCount val="2"/>
                <c:pt idx="0">
                  <c:v>10.506328999999999</c:v>
                </c:pt>
                <c:pt idx="1">
                  <c:v>10</c:v>
                </c:pt>
              </c:numCache>
            </c:numRef>
          </c:xVal>
          <c:yVal>
            <c:numRef>
              <c:f>'Chart Data'!$BP$2:$BP$3</c:f>
              <c:numCache>
                <c:formatCode>0.##</c:formatCode>
                <c:ptCount val="2"/>
                <c:pt idx="0">
                  <c:v>9</c:v>
                </c:pt>
                <c:pt idx="1">
                  <c:v>9</c:v>
                </c:pt>
              </c:numCache>
            </c:numRef>
          </c:yVal>
          <c:smooth val="1"/>
          <c:extLst>
            <c:ext xmlns:c16="http://schemas.microsoft.com/office/drawing/2014/chart" uri="{C3380CC4-5D6E-409C-BE32-E72D297353CC}">
              <c16:uniqueId val="{00000021-5ED3-4F4E-BECF-65A56687C330}"/>
            </c:ext>
          </c:extLst>
        </c:ser>
        <c:ser>
          <c:idx val="34"/>
          <c:order val="34"/>
          <c:tx>
            <c:v>Read below 40 vertical guide 1</c:v>
          </c:tx>
          <c:spPr>
            <a:ln w="22860">
              <a:solidFill>
                <a:srgbClr val="777777"/>
              </a:solidFill>
              <a:prstDash val="solid"/>
            </a:ln>
          </c:spPr>
          <c:marker>
            <c:symbol val="none"/>
          </c:marker>
          <c:xVal>
            <c:numRef>
              <c:f>'Chart Data'!$BQ$2:$BQ$3</c:f>
              <c:numCache>
                <c:formatCode>0.##</c:formatCode>
                <c:ptCount val="2"/>
                <c:pt idx="0">
                  <c:v>40</c:v>
                </c:pt>
                <c:pt idx="1">
                  <c:v>40</c:v>
                </c:pt>
              </c:numCache>
            </c:numRef>
          </c:xVal>
          <c:yVal>
            <c:numRef>
              <c:f>'Chart Data'!$BR$2:$BR$3</c:f>
              <c:numCache>
                <c:formatCode>0.##</c:formatCode>
                <c:ptCount val="2"/>
                <c:pt idx="0">
                  <c:v>19</c:v>
                </c:pt>
                <c:pt idx="1">
                  <c:v>18.115044000000001</c:v>
                </c:pt>
              </c:numCache>
            </c:numRef>
          </c:yVal>
          <c:smooth val="1"/>
          <c:extLst>
            <c:ext xmlns:c16="http://schemas.microsoft.com/office/drawing/2014/chart" uri="{C3380CC4-5D6E-409C-BE32-E72D297353CC}">
              <c16:uniqueId val="{00000022-5ED3-4F4E-BECF-65A56687C330}"/>
            </c:ext>
          </c:extLst>
        </c:ser>
        <c:ser>
          <c:idx val="35"/>
          <c:order val="35"/>
          <c:tx>
            <c:v>Read below 40 vertical guide 2</c:v>
          </c:tx>
          <c:spPr>
            <a:ln w="22860">
              <a:solidFill>
                <a:srgbClr val="777777"/>
              </a:solidFill>
              <a:prstDash val="solid"/>
            </a:ln>
          </c:spPr>
          <c:marker>
            <c:symbol val="none"/>
          </c:marker>
          <c:xVal>
            <c:numRef>
              <c:f>'Chart Data'!$BS$2:$BS$3</c:f>
              <c:numCache>
                <c:formatCode>0.##</c:formatCode>
                <c:ptCount val="2"/>
                <c:pt idx="0">
                  <c:v>40</c:v>
                </c:pt>
                <c:pt idx="1">
                  <c:v>40</c:v>
                </c:pt>
              </c:numCache>
            </c:numRef>
          </c:xVal>
          <c:yVal>
            <c:numRef>
              <c:f>'Chart Data'!$BT$2:$BT$3</c:f>
              <c:numCache>
                <c:formatCode>0.##</c:formatCode>
                <c:ptCount val="2"/>
                <c:pt idx="0">
                  <c:v>17.451326999999999</c:v>
                </c:pt>
                <c:pt idx="1">
                  <c:v>16.566372000000001</c:v>
                </c:pt>
              </c:numCache>
            </c:numRef>
          </c:yVal>
          <c:smooth val="1"/>
          <c:extLst>
            <c:ext xmlns:c16="http://schemas.microsoft.com/office/drawing/2014/chart" uri="{C3380CC4-5D6E-409C-BE32-E72D297353CC}">
              <c16:uniqueId val="{00000023-5ED3-4F4E-BECF-65A56687C330}"/>
            </c:ext>
          </c:extLst>
        </c:ser>
        <c:ser>
          <c:idx val="36"/>
          <c:order val="36"/>
          <c:tx>
            <c:v>Read below 40 vertical guide 3</c:v>
          </c:tx>
          <c:spPr>
            <a:ln w="22860">
              <a:solidFill>
                <a:srgbClr val="777777"/>
              </a:solidFill>
              <a:prstDash val="solid"/>
            </a:ln>
          </c:spPr>
          <c:marker>
            <c:symbol val="none"/>
          </c:marker>
          <c:xVal>
            <c:numRef>
              <c:f>'Chart Data'!$BU$2:$BU$3</c:f>
              <c:numCache>
                <c:formatCode>0.##</c:formatCode>
                <c:ptCount val="2"/>
                <c:pt idx="0">
                  <c:v>40</c:v>
                </c:pt>
                <c:pt idx="1">
                  <c:v>40</c:v>
                </c:pt>
              </c:numCache>
            </c:numRef>
          </c:xVal>
          <c:yVal>
            <c:numRef>
              <c:f>'Chart Data'!$BV$2:$BV$3</c:f>
              <c:numCache>
                <c:formatCode>0.##</c:formatCode>
                <c:ptCount val="2"/>
                <c:pt idx="0">
                  <c:v>15.902654999999999</c:v>
                </c:pt>
                <c:pt idx="1">
                  <c:v>15.017699</c:v>
                </c:pt>
              </c:numCache>
            </c:numRef>
          </c:yVal>
          <c:smooth val="1"/>
          <c:extLst>
            <c:ext xmlns:c16="http://schemas.microsoft.com/office/drawing/2014/chart" uri="{C3380CC4-5D6E-409C-BE32-E72D297353CC}">
              <c16:uniqueId val="{00000024-5ED3-4F4E-BECF-65A56687C330}"/>
            </c:ext>
          </c:extLst>
        </c:ser>
        <c:ser>
          <c:idx val="37"/>
          <c:order val="37"/>
          <c:tx>
            <c:v>Read below 40 vertical guide 4</c:v>
          </c:tx>
          <c:spPr>
            <a:ln w="22860">
              <a:solidFill>
                <a:srgbClr val="777777"/>
              </a:solidFill>
              <a:prstDash val="solid"/>
            </a:ln>
          </c:spPr>
          <c:marker>
            <c:symbol val="none"/>
          </c:marker>
          <c:xVal>
            <c:numRef>
              <c:f>'Chart Data'!$BW$2:$BW$3</c:f>
              <c:numCache>
                <c:formatCode>0.##</c:formatCode>
                <c:ptCount val="2"/>
                <c:pt idx="0">
                  <c:v>40</c:v>
                </c:pt>
                <c:pt idx="1">
                  <c:v>40</c:v>
                </c:pt>
              </c:numCache>
            </c:numRef>
          </c:xVal>
          <c:yVal>
            <c:numRef>
              <c:f>'Chart Data'!$BX$2:$BX$3</c:f>
              <c:numCache>
                <c:formatCode>0.##</c:formatCode>
                <c:ptCount val="2"/>
                <c:pt idx="0">
                  <c:v>14.353982</c:v>
                </c:pt>
                <c:pt idx="1">
                  <c:v>13.469027000000001</c:v>
                </c:pt>
              </c:numCache>
            </c:numRef>
          </c:yVal>
          <c:smooth val="1"/>
          <c:extLst>
            <c:ext xmlns:c16="http://schemas.microsoft.com/office/drawing/2014/chart" uri="{C3380CC4-5D6E-409C-BE32-E72D297353CC}">
              <c16:uniqueId val="{00000025-5ED3-4F4E-BECF-65A56687C330}"/>
            </c:ext>
          </c:extLst>
        </c:ser>
        <c:ser>
          <c:idx val="38"/>
          <c:order val="38"/>
          <c:tx>
            <c:v>Read below 40 vertical guide 5</c:v>
          </c:tx>
          <c:spPr>
            <a:ln w="22860">
              <a:solidFill>
                <a:srgbClr val="777777"/>
              </a:solidFill>
              <a:prstDash val="solid"/>
            </a:ln>
          </c:spPr>
          <c:marker>
            <c:symbol val="none"/>
          </c:marker>
          <c:xVal>
            <c:numRef>
              <c:f>'Chart Data'!$BY$2:$BY$3</c:f>
              <c:numCache>
                <c:formatCode>0.##</c:formatCode>
                <c:ptCount val="2"/>
                <c:pt idx="0">
                  <c:v>40</c:v>
                </c:pt>
                <c:pt idx="1">
                  <c:v>40</c:v>
                </c:pt>
              </c:numCache>
            </c:numRef>
          </c:xVal>
          <c:yVal>
            <c:numRef>
              <c:f>'Chart Data'!$BZ$2:$BZ$3</c:f>
              <c:numCache>
                <c:formatCode>0.##</c:formatCode>
                <c:ptCount val="2"/>
                <c:pt idx="0">
                  <c:v>12.80531</c:v>
                </c:pt>
                <c:pt idx="1">
                  <c:v>11.920354</c:v>
                </c:pt>
              </c:numCache>
            </c:numRef>
          </c:yVal>
          <c:smooth val="1"/>
          <c:extLst>
            <c:ext xmlns:c16="http://schemas.microsoft.com/office/drawing/2014/chart" uri="{C3380CC4-5D6E-409C-BE32-E72D297353CC}">
              <c16:uniqueId val="{00000026-5ED3-4F4E-BECF-65A56687C330}"/>
            </c:ext>
          </c:extLst>
        </c:ser>
        <c:ser>
          <c:idx val="39"/>
          <c:order val="39"/>
          <c:tx>
            <c:v>Read below 40 vertical guide 6</c:v>
          </c:tx>
          <c:spPr>
            <a:ln w="22860">
              <a:solidFill>
                <a:srgbClr val="777777"/>
              </a:solidFill>
              <a:prstDash val="solid"/>
            </a:ln>
          </c:spPr>
          <c:marker>
            <c:symbol val="none"/>
          </c:marker>
          <c:xVal>
            <c:numRef>
              <c:f>'Chart Data'!$CA$2:$CA$3</c:f>
              <c:numCache>
                <c:formatCode>0.##</c:formatCode>
                <c:ptCount val="2"/>
                <c:pt idx="0">
                  <c:v>40</c:v>
                </c:pt>
                <c:pt idx="1">
                  <c:v>40</c:v>
                </c:pt>
              </c:numCache>
            </c:numRef>
          </c:xVal>
          <c:yVal>
            <c:numRef>
              <c:f>'Chart Data'!$CB$2:$CB$3</c:f>
              <c:numCache>
                <c:formatCode>0.##</c:formatCode>
                <c:ptCount val="2"/>
                <c:pt idx="0">
                  <c:v>11.256637</c:v>
                </c:pt>
                <c:pt idx="1">
                  <c:v>10.371681000000001</c:v>
                </c:pt>
              </c:numCache>
            </c:numRef>
          </c:yVal>
          <c:smooth val="1"/>
          <c:extLst>
            <c:ext xmlns:c16="http://schemas.microsoft.com/office/drawing/2014/chart" uri="{C3380CC4-5D6E-409C-BE32-E72D297353CC}">
              <c16:uniqueId val="{00000027-5ED3-4F4E-BECF-65A56687C330}"/>
            </c:ext>
          </c:extLst>
        </c:ser>
        <c:ser>
          <c:idx val="40"/>
          <c:order val="40"/>
          <c:tx>
            <c:v>Read below 40 vertical guide 7</c:v>
          </c:tx>
          <c:spPr>
            <a:ln w="22860">
              <a:solidFill>
                <a:srgbClr val="777777"/>
              </a:solidFill>
              <a:prstDash val="solid"/>
            </a:ln>
          </c:spPr>
          <c:marker>
            <c:symbol val="none"/>
          </c:marker>
          <c:xVal>
            <c:numRef>
              <c:f>'Chart Data'!$CC$2:$CC$3</c:f>
              <c:numCache>
                <c:formatCode>0.##</c:formatCode>
                <c:ptCount val="2"/>
                <c:pt idx="0">
                  <c:v>40</c:v>
                </c:pt>
                <c:pt idx="1">
                  <c:v>40</c:v>
                </c:pt>
              </c:numCache>
            </c:numRef>
          </c:xVal>
          <c:yVal>
            <c:numRef>
              <c:f>'Chart Data'!$CD$2:$CD$3</c:f>
              <c:numCache>
                <c:formatCode>0.##</c:formatCode>
                <c:ptCount val="2"/>
                <c:pt idx="0">
                  <c:v>9.7079649999999997</c:v>
                </c:pt>
                <c:pt idx="1">
                  <c:v>8.8230090000000008</c:v>
                </c:pt>
              </c:numCache>
            </c:numRef>
          </c:yVal>
          <c:smooth val="1"/>
          <c:extLst>
            <c:ext xmlns:c16="http://schemas.microsoft.com/office/drawing/2014/chart" uri="{C3380CC4-5D6E-409C-BE32-E72D297353CC}">
              <c16:uniqueId val="{00000028-5ED3-4F4E-BECF-65A56687C330}"/>
            </c:ext>
          </c:extLst>
        </c:ser>
        <c:ser>
          <c:idx val="41"/>
          <c:order val="41"/>
          <c:tx>
            <c:v>Read below 40 vertical guide 8</c:v>
          </c:tx>
          <c:spPr>
            <a:ln w="22860">
              <a:solidFill>
                <a:srgbClr val="777777"/>
              </a:solidFill>
              <a:prstDash val="solid"/>
            </a:ln>
          </c:spPr>
          <c:marker>
            <c:symbol val="none"/>
          </c:marker>
          <c:xVal>
            <c:numRef>
              <c:f>'Chart Data'!$CE$2:$CE$3</c:f>
              <c:numCache>
                <c:formatCode>0.##</c:formatCode>
                <c:ptCount val="2"/>
                <c:pt idx="0">
                  <c:v>40</c:v>
                </c:pt>
                <c:pt idx="1">
                  <c:v>40</c:v>
                </c:pt>
              </c:numCache>
            </c:numRef>
          </c:xVal>
          <c:yVal>
            <c:numRef>
              <c:f>'Chart Data'!$CF$2:$CF$3</c:f>
              <c:numCache>
                <c:formatCode>0.##</c:formatCode>
                <c:ptCount val="2"/>
                <c:pt idx="0">
                  <c:v>8.1592920000000007</c:v>
                </c:pt>
                <c:pt idx="1">
                  <c:v>7.2743359999999999</c:v>
                </c:pt>
              </c:numCache>
            </c:numRef>
          </c:yVal>
          <c:smooth val="1"/>
          <c:extLst>
            <c:ext xmlns:c16="http://schemas.microsoft.com/office/drawing/2014/chart" uri="{C3380CC4-5D6E-409C-BE32-E72D297353CC}">
              <c16:uniqueId val="{00000029-5ED3-4F4E-BECF-65A56687C330}"/>
            </c:ext>
          </c:extLst>
        </c:ser>
        <c:ser>
          <c:idx val="42"/>
          <c:order val="42"/>
          <c:tx>
            <c:v>Read below 40 vertical guide 9</c:v>
          </c:tx>
          <c:spPr>
            <a:ln w="22860">
              <a:solidFill>
                <a:srgbClr val="777777"/>
              </a:solidFill>
              <a:prstDash val="solid"/>
            </a:ln>
          </c:spPr>
          <c:marker>
            <c:symbol val="none"/>
          </c:marker>
          <c:xVal>
            <c:numRef>
              <c:f>'Chart Data'!$CG$2:$CG$3</c:f>
              <c:numCache>
                <c:formatCode>0.##</c:formatCode>
                <c:ptCount val="2"/>
                <c:pt idx="0">
                  <c:v>40</c:v>
                </c:pt>
                <c:pt idx="1">
                  <c:v>40</c:v>
                </c:pt>
              </c:numCache>
            </c:numRef>
          </c:xVal>
          <c:yVal>
            <c:numRef>
              <c:f>'Chart Data'!$CH$2:$CH$3</c:f>
              <c:numCache>
                <c:formatCode>0.##</c:formatCode>
                <c:ptCount val="2"/>
                <c:pt idx="0">
                  <c:v>6.6106189999999998</c:v>
                </c:pt>
                <c:pt idx="1">
                  <c:v>5.7256640000000001</c:v>
                </c:pt>
              </c:numCache>
            </c:numRef>
          </c:yVal>
          <c:smooth val="1"/>
          <c:extLst>
            <c:ext xmlns:c16="http://schemas.microsoft.com/office/drawing/2014/chart" uri="{C3380CC4-5D6E-409C-BE32-E72D297353CC}">
              <c16:uniqueId val="{0000002A-5ED3-4F4E-BECF-65A56687C330}"/>
            </c:ext>
          </c:extLst>
        </c:ser>
        <c:ser>
          <c:idx val="43"/>
          <c:order val="43"/>
          <c:tx>
            <c:v>Read below 40 vertical guide 10</c:v>
          </c:tx>
          <c:spPr>
            <a:ln w="22860">
              <a:solidFill>
                <a:srgbClr val="777777"/>
              </a:solidFill>
              <a:prstDash val="solid"/>
            </a:ln>
          </c:spPr>
          <c:marker>
            <c:symbol val="none"/>
          </c:marker>
          <c:xVal>
            <c:numRef>
              <c:f>'Chart Data'!$CI$2:$CI$3</c:f>
              <c:numCache>
                <c:formatCode>0.##</c:formatCode>
                <c:ptCount val="2"/>
                <c:pt idx="0">
                  <c:v>40</c:v>
                </c:pt>
                <c:pt idx="1">
                  <c:v>40</c:v>
                </c:pt>
              </c:numCache>
            </c:numRef>
          </c:xVal>
          <c:yVal>
            <c:numRef>
              <c:f>'Chart Data'!$CJ$2:$CJ$3</c:f>
              <c:numCache>
                <c:formatCode>0.##</c:formatCode>
                <c:ptCount val="2"/>
                <c:pt idx="0">
                  <c:v>5.061947</c:v>
                </c:pt>
                <c:pt idx="1">
                  <c:v>4.1769910000000001</c:v>
                </c:pt>
              </c:numCache>
            </c:numRef>
          </c:yVal>
          <c:smooth val="1"/>
          <c:extLst>
            <c:ext xmlns:c16="http://schemas.microsoft.com/office/drawing/2014/chart" uri="{C3380CC4-5D6E-409C-BE32-E72D297353CC}">
              <c16:uniqueId val="{0000002B-5ED3-4F4E-BECF-65A56687C330}"/>
            </c:ext>
          </c:extLst>
        </c:ser>
        <c:ser>
          <c:idx val="44"/>
          <c:order val="44"/>
          <c:tx>
            <c:v>Read below 40 vertical guide 11</c:v>
          </c:tx>
          <c:spPr>
            <a:ln w="22860">
              <a:solidFill>
                <a:srgbClr val="777777"/>
              </a:solidFill>
              <a:prstDash val="solid"/>
            </a:ln>
          </c:spPr>
          <c:marker>
            <c:symbol val="none"/>
          </c:marker>
          <c:xVal>
            <c:numRef>
              <c:f>'Chart Data'!$CK$2:$CK$3</c:f>
              <c:numCache>
                <c:formatCode>0.##</c:formatCode>
                <c:ptCount val="2"/>
                <c:pt idx="0">
                  <c:v>40</c:v>
                </c:pt>
                <c:pt idx="1">
                  <c:v>40</c:v>
                </c:pt>
              </c:numCache>
            </c:numRef>
          </c:xVal>
          <c:yVal>
            <c:numRef>
              <c:f>'Chart Data'!$CL$2:$CL$3</c:f>
              <c:numCache>
                <c:formatCode>0.##</c:formatCode>
                <c:ptCount val="2"/>
                <c:pt idx="0">
                  <c:v>3.513274</c:v>
                </c:pt>
                <c:pt idx="1">
                  <c:v>2.6283189999999998</c:v>
                </c:pt>
              </c:numCache>
            </c:numRef>
          </c:yVal>
          <c:smooth val="1"/>
          <c:extLst>
            <c:ext xmlns:c16="http://schemas.microsoft.com/office/drawing/2014/chart" uri="{C3380CC4-5D6E-409C-BE32-E72D297353CC}">
              <c16:uniqueId val="{0000002C-5ED3-4F4E-BECF-65A56687C330}"/>
            </c:ext>
          </c:extLst>
        </c:ser>
        <c:ser>
          <c:idx val="45"/>
          <c:order val="45"/>
          <c:tx>
            <c:v>Read below 40 vertical guide 12</c:v>
          </c:tx>
          <c:spPr>
            <a:ln w="22860">
              <a:solidFill>
                <a:srgbClr val="777777"/>
              </a:solidFill>
              <a:prstDash val="solid"/>
            </a:ln>
          </c:spPr>
          <c:marker>
            <c:symbol val="none"/>
          </c:marker>
          <c:xVal>
            <c:numRef>
              <c:f>'Chart Data'!$CM$2:$CM$3</c:f>
              <c:numCache>
                <c:formatCode>0.##</c:formatCode>
                <c:ptCount val="2"/>
                <c:pt idx="0">
                  <c:v>40</c:v>
                </c:pt>
                <c:pt idx="1">
                  <c:v>40</c:v>
                </c:pt>
              </c:numCache>
            </c:numRef>
          </c:xVal>
          <c:yVal>
            <c:numRef>
              <c:f>'Chart Data'!$CN$2:$CN$3</c:f>
              <c:numCache>
                <c:formatCode>0.##</c:formatCode>
                <c:ptCount val="2"/>
                <c:pt idx="0">
                  <c:v>1.964602</c:v>
                </c:pt>
                <c:pt idx="1">
                  <c:v>1.0796460000000001</c:v>
                </c:pt>
              </c:numCache>
            </c:numRef>
          </c:yVal>
          <c:smooth val="1"/>
          <c:extLst>
            <c:ext xmlns:c16="http://schemas.microsoft.com/office/drawing/2014/chart" uri="{C3380CC4-5D6E-409C-BE32-E72D297353CC}">
              <c16:uniqueId val="{0000002D-5ED3-4F4E-BECF-65A56687C330}"/>
            </c:ext>
          </c:extLst>
        </c:ser>
        <c:ser>
          <c:idx val="46"/>
          <c:order val="46"/>
          <c:tx>
            <c:v>Read below 40 vertical guide 13</c:v>
          </c:tx>
          <c:spPr>
            <a:ln w="22860">
              <a:solidFill>
                <a:srgbClr val="777777"/>
              </a:solidFill>
              <a:prstDash val="solid"/>
            </a:ln>
          </c:spPr>
          <c:marker>
            <c:symbol val="none"/>
          </c:marker>
          <c:xVal>
            <c:numRef>
              <c:f>'Chart Data'!$CO$2:$CO$3</c:f>
              <c:numCache>
                <c:formatCode>0.##</c:formatCode>
                <c:ptCount val="2"/>
                <c:pt idx="0">
                  <c:v>40</c:v>
                </c:pt>
                <c:pt idx="1">
                  <c:v>40</c:v>
                </c:pt>
              </c:numCache>
            </c:numRef>
          </c:xVal>
          <c:yVal>
            <c:numRef>
              <c:f>'Chart Data'!$CP$2:$CP$3</c:f>
              <c:numCache>
                <c:formatCode>0.##</c:formatCode>
                <c:ptCount val="2"/>
                <c:pt idx="0">
                  <c:v>0.41592899999999999</c:v>
                </c:pt>
                <c:pt idx="1">
                  <c:v>0</c:v>
                </c:pt>
              </c:numCache>
            </c:numRef>
          </c:yVal>
          <c:smooth val="1"/>
          <c:extLst>
            <c:ext xmlns:c16="http://schemas.microsoft.com/office/drawing/2014/chart" uri="{C3380CC4-5D6E-409C-BE32-E72D297353CC}">
              <c16:uniqueId val="{0000002E-5ED3-4F4E-BECF-65A56687C330}"/>
            </c:ext>
          </c:extLst>
        </c:ser>
        <c:ser>
          <c:idx val="47"/>
          <c:order val="47"/>
          <c:tx>
            <c:v>Read below 40 horizontal guide 1</c:v>
          </c:tx>
          <c:spPr>
            <a:ln w="22860">
              <a:solidFill>
                <a:srgbClr val="777777"/>
              </a:solidFill>
              <a:prstDash val="solid"/>
            </a:ln>
          </c:spPr>
          <c:marker>
            <c:symbol val="none"/>
          </c:marker>
          <c:xVal>
            <c:numRef>
              <c:f>'Chart Data'!$CQ$2:$CQ$3</c:f>
              <c:numCache>
                <c:formatCode>0.##</c:formatCode>
                <c:ptCount val="2"/>
                <c:pt idx="0">
                  <c:v>40</c:v>
                </c:pt>
                <c:pt idx="1">
                  <c:v>39.493670999999999</c:v>
                </c:pt>
              </c:numCache>
            </c:numRef>
          </c:xVal>
          <c:yVal>
            <c:numRef>
              <c:f>'Chart Data'!$CR$2:$CR$3</c:f>
              <c:numCache>
                <c:formatCode>0.##</c:formatCode>
                <c:ptCount val="2"/>
                <c:pt idx="0">
                  <c:v>19</c:v>
                </c:pt>
                <c:pt idx="1">
                  <c:v>19</c:v>
                </c:pt>
              </c:numCache>
            </c:numRef>
          </c:yVal>
          <c:smooth val="1"/>
          <c:extLst>
            <c:ext xmlns:c16="http://schemas.microsoft.com/office/drawing/2014/chart" uri="{C3380CC4-5D6E-409C-BE32-E72D297353CC}">
              <c16:uniqueId val="{0000002F-5ED3-4F4E-BECF-65A56687C330}"/>
            </c:ext>
          </c:extLst>
        </c:ser>
        <c:ser>
          <c:idx val="48"/>
          <c:order val="48"/>
          <c:tx>
            <c:v>Read below 40 horizontal guide 2</c:v>
          </c:tx>
          <c:spPr>
            <a:ln w="22860">
              <a:solidFill>
                <a:srgbClr val="777777"/>
              </a:solidFill>
              <a:prstDash val="solid"/>
            </a:ln>
          </c:spPr>
          <c:marker>
            <c:symbol val="none"/>
          </c:marker>
          <c:xVal>
            <c:numRef>
              <c:f>'Chart Data'!$CS$2:$CS$3</c:f>
              <c:numCache>
                <c:formatCode>0.##</c:formatCode>
                <c:ptCount val="2"/>
                <c:pt idx="0">
                  <c:v>39.113923999999997</c:v>
                </c:pt>
                <c:pt idx="1">
                  <c:v>38.607595000000003</c:v>
                </c:pt>
              </c:numCache>
            </c:numRef>
          </c:xVal>
          <c:yVal>
            <c:numRef>
              <c:f>'Chart Data'!$CT$2:$CT$3</c:f>
              <c:numCache>
                <c:formatCode>0.##</c:formatCode>
                <c:ptCount val="2"/>
                <c:pt idx="0">
                  <c:v>19</c:v>
                </c:pt>
                <c:pt idx="1">
                  <c:v>19</c:v>
                </c:pt>
              </c:numCache>
            </c:numRef>
          </c:yVal>
          <c:smooth val="1"/>
          <c:extLst>
            <c:ext xmlns:c16="http://schemas.microsoft.com/office/drawing/2014/chart" uri="{C3380CC4-5D6E-409C-BE32-E72D297353CC}">
              <c16:uniqueId val="{00000030-5ED3-4F4E-BECF-65A56687C330}"/>
            </c:ext>
          </c:extLst>
        </c:ser>
        <c:ser>
          <c:idx val="49"/>
          <c:order val="49"/>
          <c:tx>
            <c:v>Read below 40 horizontal guide 3</c:v>
          </c:tx>
          <c:spPr>
            <a:ln w="22860">
              <a:solidFill>
                <a:srgbClr val="777777"/>
              </a:solidFill>
              <a:prstDash val="solid"/>
            </a:ln>
          </c:spPr>
          <c:marker>
            <c:symbol val="none"/>
          </c:marker>
          <c:xVal>
            <c:numRef>
              <c:f>'Chart Data'!$CU$2:$CU$3</c:f>
              <c:numCache>
                <c:formatCode>0.##</c:formatCode>
                <c:ptCount val="2"/>
                <c:pt idx="0">
                  <c:v>38.227848000000002</c:v>
                </c:pt>
                <c:pt idx="1">
                  <c:v>37.721519000000001</c:v>
                </c:pt>
              </c:numCache>
            </c:numRef>
          </c:xVal>
          <c:yVal>
            <c:numRef>
              <c:f>'Chart Data'!$CV$2:$CV$3</c:f>
              <c:numCache>
                <c:formatCode>0.##</c:formatCode>
                <c:ptCount val="2"/>
                <c:pt idx="0">
                  <c:v>19</c:v>
                </c:pt>
                <c:pt idx="1">
                  <c:v>19</c:v>
                </c:pt>
              </c:numCache>
            </c:numRef>
          </c:yVal>
          <c:smooth val="1"/>
          <c:extLst>
            <c:ext xmlns:c16="http://schemas.microsoft.com/office/drawing/2014/chart" uri="{C3380CC4-5D6E-409C-BE32-E72D297353CC}">
              <c16:uniqueId val="{00000031-5ED3-4F4E-BECF-65A56687C330}"/>
            </c:ext>
          </c:extLst>
        </c:ser>
        <c:ser>
          <c:idx val="50"/>
          <c:order val="50"/>
          <c:tx>
            <c:v>Read below 40 horizontal guide 4</c:v>
          </c:tx>
          <c:spPr>
            <a:ln w="22860">
              <a:solidFill>
                <a:srgbClr val="777777"/>
              </a:solidFill>
              <a:prstDash val="solid"/>
            </a:ln>
          </c:spPr>
          <c:marker>
            <c:symbol val="none"/>
          </c:marker>
          <c:xVal>
            <c:numRef>
              <c:f>'Chart Data'!$CW$2:$CW$3</c:f>
              <c:numCache>
                <c:formatCode>0.##</c:formatCode>
                <c:ptCount val="2"/>
                <c:pt idx="0">
                  <c:v>37.341771999999999</c:v>
                </c:pt>
                <c:pt idx="1">
                  <c:v>36.835442999999998</c:v>
                </c:pt>
              </c:numCache>
            </c:numRef>
          </c:xVal>
          <c:yVal>
            <c:numRef>
              <c:f>'Chart Data'!$CX$2:$CX$3</c:f>
              <c:numCache>
                <c:formatCode>0.##</c:formatCode>
                <c:ptCount val="2"/>
                <c:pt idx="0">
                  <c:v>19</c:v>
                </c:pt>
                <c:pt idx="1">
                  <c:v>19</c:v>
                </c:pt>
              </c:numCache>
            </c:numRef>
          </c:yVal>
          <c:smooth val="1"/>
          <c:extLst>
            <c:ext xmlns:c16="http://schemas.microsoft.com/office/drawing/2014/chart" uri="{C3380CC4-5D6E-409C-BE32-E72D297353CC}">
              <c16:uniqueId val="{00000032-5ED3-4F4E-BECF-65A56687C330}"/>
            </c:ext>
          </c:extLst>
        </c:ser>
        <c:ser>
          <c:idx val="51"/>
          <c:order val="51"/>
          <c:tx>
            <c:v>Read below 40 horizontal guide 5</c:v>
          </c:tx>
          <c:spPr>
            <a:ln w="22860">
              <a:solidFill>
                <a:srgbClr val="777777"/>
              </a:solidFill>
              <a:prstDash val="solid"/>
            </a:ln>
          </c:spPr>
          <c:marker>
            <c:symbol val="none"/>
          </c:marker>
          <c:xVal>
            <c:numRef>
              <c:f>'Chart Data'!$CY$2:$CY$3</c:f>
              <c:numCache>
                <c:formatCode>0.##</c:formatCode>
                <c:ptCount val="2"/>
                <c:pt idx="0">
                  <c:v>36.455696000000003</c:v>
                </c:pt>
                <c:pt idx="1">
                  <c:v>35.949367000000002</c:v>
                </c:pt>
              </c:numCache>
            </c:numRef>
          </c:xVal>
          <c:yVal>
            <c:numRef>
              <c:f>'Chart Data'!$CZ$2:$CZ$3</c:f>
              <c:numCache>
                <c:formatCode>0.##</c:formatCode>
                <c:ptCount val="2"/>
                <c:pt idx="0">
                  <c:v>19</c:v>
                </c:pt>
                <c:pt idx="1">
                  <c:v>19</c:v>
                </c:pt>
              </c:numCache>
            </c:numRef>
          </c:yVal>
          <c:smooth val="1"/>
          <c:extLst>
            <c:ext xmlns:c16="http://schemas.microsoft.com/office/drawing/2014/chart" uri="{C3380CC4-5D6E-409C-BE32-E72D297353CC}">
              <c16:uniqueId val="{00000033-5ED3-4F4E-BECF-65A56687C330}"/>
            </c:ext>
          </c:extLst>
        </c:ser>
        <c:ser>
          <c:idx val="52"/>
          <c:order val="52"/>
          <c:tx>
            <c:v>Read below 40 horizontal guide 6</c:v>
          </c:tx>
          <c:spPr>
            <a:ln w="22860">
              <a:solidFill>
                <a:srgbClr val="777777"/>
              </a:solidFill>
              <a:prstDash val="solid"/>
            </a:ln>
          </c:spPr>
          <c:marker>
            <c:symbol val="none"/>
          </c:marker>
          <c:xVal>
            <c:numRef>
              <c:f>'Chart Data'!$DA$2:$DA$3</c:f>
              <c:numCache>
                <c:formatCode>0.##</c:formatCode>
                <c:ptCount val="2"/>
                <c:pt idx="0">
                  <c:v>35.56962</c:v>
                </c:pt>
                <c:pt idx="1">
                  <c:v>35.063291</c:v>
                </c:pt>
              </c:numCache>
            </c:numRef>
          </c:xVal>
          <c:yVal>
            <c:numRef>
              <c:f>'Chart Data'!$DB$2:$DB$3</c:f>
              <c:numCache>
                <c:formatCode>0.##</c:formatCode>
                <c:ptCount val="2"/>
                <c:pt idx="0">
                  <c:v>19</c:v>
                </c:pt>
                <c:pt idx="1">
                  <c:v>19</c:v>
                </c:pt>
              </c:numCache>
            </c:numRef>
          </c:yVal>
          <c:smooth val="1"/>
          <c:extLst>
            <c:ext xmlns:c16="http://schemas.microsoft.com/office/drawing/2014/chart" uri="{C3380CC4-5D6E-409C-BE32-E72D297353CC}">
              <c16:uniqueId val="{00000034-5ED3-4F4E-BECF-65A56687C330}"/>
            </c:ext>
          </c:extLst>
        </c:ser>
        <c:ser>
          <c:idx val="53"/>
          <c:order val="53"/>
          <c:tx>
            <c:v>Read below 40 horizontal guide 7</c:v>
          </c:tx>
          <c:spPr>
            <a:ln w="22860">
              <a:solidFill>
                <a:srgbClr val="777777"/>
              </a:solidFill>
              <a:prstDash val="solid"/>
            </a:ln>
          </c:spPr>
          <c:marker>
            <c:symbol val="none"/>
          </c:marker>
          <c:xVal>
            <c:numRef>
              <c:f>'Chart Data'!$DC$2:$DC$3</c:f>
              <c:numCache>
                <c:formatCode>0.##</c:formatCode>
                <c:ptCount val="2"/>
                <c:pt idx="0">
                  <c:v>34.683543999999998</c:v>
                </c:pt>
                <c:pt idx="1">
                  <c:v>34.177214999999997</c:v>
                </c:pt>
              </c:numCache>
            </c:numRef>
          </c:xVal>
          <c:yVal>
            <c:numRef>
              <c:f>'Chart Data'!$DD$2:$DD$3</c:f>
              <c:numCache>
                <c:formatCode>0.##</c:formatCode>
                <c:ptCount val="2"/>
                <c:pt idx="0">
                  <c:v>19</c:v>
                </c:pt>
                <c:pt idx="1">
                  <c:v>19</c:v>
                </c:pt>
              </c:numCache>
            </c:numRef>
          </c:yVal>
          <c:smooth val="1"/>
          <c:extLst>
            <c:ext xmlns:c16="http://schemas.microsoft.com/office/drawing/2014/chart" uri="{C3380CC4-5D6E-409C-BE32-E72D297353CC}">
              <c16:uniqueId val="{00000035-5ED3-4F4E-BECF-65A56687C330}"/>
            </c:ext>
          </c:extLst>
        </c:ser>
        <c:ser>
          <c:idx val="54"/>
          <c:order val="54"/>
          <c:tx>
            <c:v>Read below 40 horizontal guide 8</c:v>
          </c:tx>
          <c:spPr>
            <a:ln w="22860">
              <a:solidFill>
                <a:srgbClr val="777777"/>
              </a:solidFill>
              <a:prstDash val="solid"/>
            </a:ln>
          </c:spPr>
          <c:marker>
            <c:symbol val="none"/>
          </c:marker>
          <c:xVal>
            <c:numRef>
              <c:f>'Chart Data'!$DE$2:$DE$3</c:f>
              <c:numCache>
                <c:formatCode>0.##</c:formatCode>
                <c:ptCount val="2"/>
                <c:pt idx="0">
                  <c:v>33.797468000000002</c:v>
                </c:pt>
                <c:pt idx="1">
                  <c:v>33.291139000000001</c:v>
                </c:pt>
              </c:numCache>
            </c:numRef>
          </c:xVal>
          <c:yVal>
            <c:numRef>
              <c:f>'Chart Data'!$DF$2:$DF$3</c:f>
              <c:numCache>
                <c:formatCode>0.##</c:formatCode>
                <c:ptCount val="2"/>
                <c:pt idx="0">
                  <c:v>19</c:v>
                </c:pt>
                <c:pt idx="1">
                  <c:v>19</c:v>
                </c:pt>
              </c:numCache>
            </c:numRef>
          </c:yVal>
          <c:smooth val="1"/>
          <c:extLst>
            <c:ext xmlns:c16="http://schemas.microsoft.com/office/drawing/2014/chart" uri="{C3380CC4-5D6E-409C-BE32-E72D297353CC}">
              <c16:uniqueId val="{00000036-5ED3-4F4E-BECF-65A56687C330}"/>
            </c:ext>
          </c:extLst>
        </c:ser>
        <c:ser>
          <c:idx val="55"/>
          <c:order val="55"/>
          <c:tx>
            <c:v>Read below 40 horizontal guide 9</c:v>
          </c:tx>
          <c:spPr>
            <a:ln w="22860">
              <a:solidFill>
                <a:srgbClr val="777777"/>
              </a:solidFill>
              <a:prstDash val="solid"/>
            </a:ln>
          </c:spPr>
          <c:marker>
            <c:symbol val="none"/>
          </c:marker>
          <c:xVal>
            <c:numRef>
              <c:f>'Chart Data'!$DG$2:$DG$3</c:f>
              <c:numCache>
                <c:formatCode>0.##</c:formatCode>
                <c:ptCount val="2"/>
                <c:pt idx="0">
                  <c:v>32.911391999999999</c:v>
                </c:pt>
                <c:pt idx="1">
                  <c:v>32.405062999999998</c:v>
                </c:pt>
              </c:numCache>
            </c:numRef>
          </c:xVal>
          <c:yVal>
            <c:numRef>
              <c:f>'Chart Data'!$DH$2:$DH$3</c:f>
              <c:numCache>
                <c:formatCode>0.##</c:formatCode>
                <c:ptCount val="2"/>
                <c:pt idx="0">
                  <c:v>19</c:v>
                </c:pt>
                <c:pt idx="1">
                  <c:v>19</c:v>
                </c:pt>
              </c:numCache>
            </c:numRef>
          </c:yVal>
          <c:smooth val="1"/>
          <c:extLst>
            <c:ext xmlns:c16="http://schemas.microsoft.com/office/drawing/2014/chart" uri="{C3380CC4-5D6E-409C-BE32-E72D297353CC}">
              <c16:uniqueId val="{00000037-5ED3-4F4E-BECF-65A56687C330}"/>
            </c:ext>
          </c:extLst>
        </c:ser>
        <c:ser>
          <c:idx val="56"/>
          <c:order val="56"/>
          <c:tx>
            <c:v>Read below 40 horizontal guide 10</c:v>
          </c:tx>
          <c:spPr>
            <a:ln w="22860">
              <a:solidFill>
                <a:srgbClr val="777777"/>
              </a:solidFill>
              <a:prstDash val="solid"/>
            </a:ln>
          </c:spPr>
          <c:marker>
            <c:symbol val="none"/>
          </c:marker>
          <c:xVal>
            <c:numRef>
              <c:f>'Chart Data'!$DI$2:$DI$3</c:f>
              <c:numCache>
                <c:formatCode>0.##</c:formatCode>
                <c:ptCount val="2"/>
                <c:pt idx="0">
                  <c:v>32.025315999999997</c:v>
                </c:pt>
                <c:pt idx="1">
                  <c:v>31.518986999999999</c:v>
                </c:pt>
              </c:numCache>
            </c:numRef>
          </c:xVal>
          <c:yVal>
            <c:numRef>
              <c:f>'Chart Data'!$DJ$2:$DJ$3</c:f>
              <c:numCache>
                <c:formatCode>0.##</c:formatCode>
                <c:ptCount val="2"/>
                <c:pt idx="0">
                  <c:v>19</c:v>
                </c:pt>
                <c:pt idx="1">
                  <c:v>19</c:v>
                </c:pt>
              </c:numCache>
            </c:numRef>
          </c:yVal>
          <c:smooth val="1"/>
          <c:extLst>
            <c:ext xmlns:c16="http://schemas.microsoft.com/office/drawing/2014/chart" uri="{C3380CC4-5D6E-409C-BE32-E72D297353CC}">
              <c16:uniqueId val="{00000038-5ED3-4F4E-BECF-65A56687C330}"/>
            </c:ext>
          </c:extLst>
        </c:ser>
        <c:ser>
          <c:idx val="57"/>
          <c:order val="57"/>
          <c:tx>
            <c:v>Read below 40 horizontal guide 11</c:v>
          </c:tx>
          <c:spPr>
            <a:ln w="22860">
              <a:solidFill>
                <a:srgbClr val="777777"/>
              </a:solidFill>
              <a:prstDash val="solid"/>
            </a:ln>
          </c:spPr>
          <c:marker>
            <c:symbol val="none"/>
          </c:marker>
          <c:xVal>
            <c:numRef>
              <c:f>'Chart Data'!$DK$2:$DK$3</c:f>
              <c:numCache>
                <c:formatCode>0.##</c:formatCode>
                <c:ptCount val="2"/>
                <c:pt idx="0">
                  <c:v>31.139240999999998</c:v>
                </c:pt>
                <c:pt idx="1">
                  <c:v>30.632911</c:v>
                </c:pt>
              </c:numCache>
            </c:numRef>
          </c:xVal>
          <c:yVal>
            <c:numRef>
              <c:f>'Chart Data'!$DL$2:$DL$3</c:f>
              <c:numCache>
                <c:formatCode>0.##</c:formatCode>
                <c:ptCount val="2"/>
                <c:pt idx="0">
                  <c:v>19</c:v>
                </c:pt>
                <c:pt idx="1">
                  <c:v>19</c:v>
                </c:pt>
              </c:numCache>
            </c:numRef>
          </c:yVal>
          <c:smooth val="1"/>
          <c:extLst>
            <c:ext xmlns:c16="http://schemas.microsoft.com/office/drawing/2014/chart" uri="{C3380CC4-5D6E-409C-BE32-E72D297353CC}">
              <c16:uniqueId val="{00000039-5ED3-4F4E-BECF-65A56687C330}"/>
            </c:ext>
          </c:extLst>
        </c:ser>
        <c:ser>
          <c:idx val="58"/>
          <c:order val="58"/>
          <c:tx>
            <c:v>Read below 40 horizontal guide 12</c:v>
          </c:tx>
          <c:spPr>
            <a:ln w="22860">
              <a:solidFill>
                <a:srgbClr val="777777"/>
              </a:solidFill>
              <a:prstDash val="solid"/>
            </a:ln>
          </c:spPr>
          <c:marker>
            <c:symbol val="none"/>
          </c:marker>
          <c:xVal>
            <c:numRef>
              <c:f>'Chart Data'!$DM$2:$DM$3</c:f>
              <c:numCache>
                <c:formatCode>0.##</c:formatCode>
                <c:ptCount val="2"/>
                <c:pt idx="0">
                  <c:v>30.253164999999999</c:v>
                </c:pt>
                <c:pt idx="1">
                  <c:v>29.746835000000001</c:v>
                </c:pt>
              </c:numCache>
            </c:numRef>
          </c:xVal>
          <c:yVal>
            <c:numRef>
              <c:f>'Chart Data'!$DN$2:$DN$3</c:f>
              <c:numCache>
                <c:formatCode>0.##</c:formatCode>
                <c:ptCount val="2"/>
                <c:pt idx="0">
                  <c:v>19</c:v>
                </c:pt>
                <c:pt idx="1">
                  <c:v>19</c:v>
                </c:pt>
              </c:numCache>
            </c:numRef>
          </c:yVal>
          <c:smooth val="1"/>
          <c:extLst>
            <c:ext xmlns:c16="http://schemas.microsoft.com/office/drawing/2014/chart" uri="{C3380CC4-5D6E-409C-BE32-E72D297353CC}">
              <c16:uniqueId val="{0000003A-5ED3-4F4E-BECF-65A56687C330}"/>
            </c:ext>
          </c:extLst>
        </c:ser>
        <c:ser>
          <c:idx val="59"/>
          <c:order val="59"/>
          <c:tx>
            <c:v>Read below 40 horizontal guide 13</c:v>
          </c:tx>
          <c:spPr>
            <a:ln w="22860">
              <a:solidFill>
                <a:srgbClr val="777777"/>
              </a:solidFill>
              <a:prstDash val="solid"/>
            </a:ln>
          </c:spPr>
          <c:marker>
            <c:symbol val="none"/>
          </c:marker>
          <c:xVal>
            <c:numRef>
              <c:f>'Chart Data'!$DO$2:$DO$3</c:f>
              <c:numCache>
                <c:formatCode>0.##</c:formatCode>
                <c:ptCount val="2"/>
                <c:pt idx="0">
                  <c:v>29.367089</c:v>
                </c:pt>
                <c:pt idx="1">
                  <c:v>28.860759000000002</c:v>
                </c:pt>
              </c:numCache>
            </c:numRef>
          </c:xVal>
          <c:yVal>
            <c:numRef>
              <c:f>'Chart Data'!$DP$2:$DP$3</c:f>
              <c:numCache>
                <c:formatCode>0.##</c:formatCode>
                <c:ptCount val="2"/>
                <c:pt idx="0">
                  <c:v>19</c:v>
                </c:pt>
                <c:pt idx="1">
                  <c:v>19</c:v>
                </c:pt>
              </c:numCache>
            </c:numRef>
          </c:yVal>
          <c:smooth val="1"/>
          <c:extLst>
            <c:ext xmlns:c16="http://schemas.microsoft.com/office/drawing/2014/chart" uri="{C3380CC4-5D6E-409C-BE32-E72D297353CC}">
              <c16:uniqueId val="{0000003B-5ED3-4F4E-BECF-65A56687C330}"/>
            </c:ext>
          </c:extLst>
        </c:ser>
        <c:ser>
          <c:idx val="60"/>
          <c:order val="60"/>
          <c:tx>
            <c:v>Read below 40 horizontal guide 14</c:v>
          </c:tx>
          <c:spPr>
            <a:ln w="22860">
              <a:solidFill>
                <a:srgbClr val="777777"/>
              </a:solidFill>
              <a:prstDash val="solid"/>
            </a:ln>
          </c:spPr>
          <c:marker>
            <c:symbol val="none"/>
          </c:marker>
          <c:xVal>
            <c:numRef>
              <c:f>'Chart Data'!$DQ$2:$DQ$3</c:f>
              <c:numCache>
                <c:formatCode>0.##</c:formatCode>
                <c:ptCount val="2"/>
                <c:pt idx="0">
                  <c:v>28.481013000000001</c:v>
                </c:pt>
                <c:pt idx="1">
                  <c:v>27.974684</c:v>
                </c:pt>
              </c:numCache>
            </c:numRef>
          </c:xVal>
          <c:yVal>
            <c:numRef>
              <c:f>'Chart Data'!$DR$2:$DR$3</c:f>
              <c:numCache>
                <c:formatCode>0.##</c:formatCode>
                <c:ptCount val="2"/>
                <c:pt idx="0">
                  <c:v>19</c:v>
                </c:pt>
                <c:pt idx="1">
                  <c:v>19</c:v>
                </c:pt>
              </c:numCache>
            </c:numRef>
          </c:yVal>
          <c:smooth val="1"/>
          <c:extLst>
            <c:ext xmlns:c16="http://schemas.microsoft.com/office/drawing/2014/chart" uri="{C3380CC4-5D6E-409C-BE32-E72D297353CC}">
              <c16:uniqueId val="{0000003C-5ED3-4F4E-BECF-65A56687C330}"/>
            </c:ext>
          </c:extLst>
        </c:ser>
        <c:ser>
          <c:idx val="61"/>
          <c:order val="61"/>
          <c:tx>
            <c:v>Read below 40 horizontal guide 15</c:v>
          </c:tx>
          <c:spPr>
            <a:ln w="22860">
              <a:solidFill>
                <a:srgbClr val="777777"/>
              </a:solidFill>
              <a:prstDash val="solid"/>
            </a:ln>
          </c:spPr>
          <c:marker>
            <c:symbol val="none"/>
          </c:marker>
          <c:xVal>
            <c:numRef>
              <c:f>'Chart Data'!$DS$2:$DS$3</c:f>
              <c:numCache>
                <c:formatCode>0.##</c:formatCode>
                <c:ptCount val="2"/>
                <c:pt idx="0">
                  <c:v>27.594937000000002</c:v>
                </c:pt>
                <c:pt idx="1">
                  <c:v>27.088608000000001</c:v>
                </c:pt>
              </c:numCache>
            </c:numRef>
          </c:xVal>
          <c:yVal>
            <c:numRef>
              <c:f>'Chart Data'!$DT$2:$DT$3</c:f>
              <c:numCache>
                <c:formatCode>0.##</c:formatCode>
                <c:ptCount val="2"/>
                <c:pt idx="0">
                  <c:v>19</c:v>
                </c:pt>
                <c:pt idx="1">
                  <c:v>19</c:v>
                </c:pt>
              </c:numCache>
            </c:numRef>
          </c:yVal>
          <c:smooth val="1"/>
          <c:extLst>
            <c:ext xmlns:c16="http://schemas.microsoft.com/office/drawing/2014/chart" uri="{C3380CC4-5D6E-409C-BE32-E72D297353CC}">
              <c16:uniqueId val="{0000003D-5ED3-4F4E-BECF-65A56687C330}"/>
            </c:ext>
          </c:extLst>
        </c:ser>
        <c:ser>
          <c:idx val="62"/>
          <c:order val="62"/>
          <c:tx>
            <c:v>Read below 40 horizontal guide 16</c:v>
          </c:tx>
          <c:spPr>
            <a:ln w="22860">
              <a:solidFill>
                <a:srgbClr val="777777"/>
              </a:solidFill>
              <a:prstDash val="solid"/>
            </a:ln>
          </c:spPr>
          <c:marker>
            <c:symbol val="none"/>
          </c:marker>
          <c:xVal>
            <c:numRef>
              <c:f>'Chart Data'!$DU$2:$DU$3</c:f>
              <c:numCache>
                <c:formatCode>0.##</c:formatCode>
                <c:ptCount val="2"/>
                <c:pt idx="0">
                  <c:v>26.708860999999999</c:v>
                </c:pt>
                <c:pt idx="1">
                  <c:v>26.202532000000001</c:v>
                </c:pt>
              </c:numCache>
            </c:numRef>
          </c:xVal>
          <c:yVal>
            <c:numRef>
              <c:f>'Chart Data'!$DV$2:$DV$3</c:f>
              <c:numCache>
                <c:formatCode>0.##</c:formatCode>
                <c:ptCount val="2"/>
                <c:pt idx="0">
                  <c:v>19</c:v>
                </c:pt>
                <c:pt idx="1">
                  <c:v>19</c:v>
                </c:pt>
              </c:numCache>
            </c:numRef>
          </c:yVal>
          <c:smooth val="1"/>
          <c:extLst>
            <c:ext xmlns:c16="http://schemas.microsoft.com/office/drawing/2014/chart" uri="{C3380CC4-5D6E-409C-BE32-E72D297353CC}">
              <c16:uniqueId val="{0000003E-5ED3-4F4E-BECF-65A56687C330}"/>
            </c:ext>
          </c:extLst>
        </c:ser>
        <c:ser>
          <c:idx val="63"/>
          <c:order val="63"/>
          <c:tx>
            <c:v>Read below 40 horizontal guide 17</c:v>
          </c:tx>
          <c:spPr>
            <a:ln w="22860">
              <a:solidFill>
                <a:srgbClr val="777777"/>
              </a:solidFill>
              <a:prstDash val="solid"/>
            </a:ln>
          </c:spPr>
          <c:marker>
            <c:symbol val="none"/>
          </c:marker>
          <c:xVal>
            <c:numRef>
              <c:f>'Chart Data'!$DW$2:$DW$3</c:f>
              <c:numCache>
                <c:formatCode>0.##</c:formatCode>
                <c:ptCount val="2"/>
                <c:pt idx="0">
                  <c:v>25.822785</c:v>
                </c:pt>
                <c:pt idx="1">
                  <c:v>25.316455999999999</c:v>
                </c:pt>
              </c:numCache>
            </c:numRef>
          </c:xVal>
          <c:yVal>
            <c:numRef>
              <c:f>'Chart Data'!$DX$2:$DX$3</c:f>
              <c:numCache>
                <c:formatCode>0.##</c:formatCode>
                <c:ptCount val="2"/>
                <c:pt idx="0">
                  <c:v>19</c:v>
                </c:pt>
                <c:pt idx="1">
                  <c:v>19</c:v>
                </c:pt>
              </c:numCache>
            </c:numRef>
          </c:yVal>
          <c:smooth val="1"/>
          <c:extLst>
            <c:ext xmlns:c16="http://schemas.microsoft.com/office/drawing/2014/chart" uri="{C3380CC4-5D6E-409C-BE32-E72D297353CC}">
              <c16:uniqueId val="{0000003F-5ED3-4F4E-BECF-65A56687C330}"/>
            </c:ext>
          </c:extLst>
        </c:ser>
        <c:ser>
          <c:idx val="64"/>
          <c:order val="64"/>
          <c:tx>
            <c:v>Read below 40 horizontal guide 18</c:v>
          </c:tx>
          <c:spPr>
            <a:ln w="22860">
              <a:solidFill>
                <a:srgbClr val="777777"/>
              </a:solidFill>
              <a:prstDash val="solid"/>
            </a:ln>
          </c:spPr>
          <c:marker>
            <c:symbol val="none"/>
          </c:marker>
          <c:xVal>
            <c:numRef>
              <c:f>'Chart Data'!$DY$2:$DY$3</c:f>
              <c:numCache>
                <c:formatCode>0.##</c:formatCode>
                <c:ptCount val="2"/>
                <c:pt idx="0">
                  <c:v>24.936709</c:v>
                </c:pt>
                <c:pt idx="1">
                  <c:v>24.43038</c:v>
                </c:pt>
              </c:numCache>
            </c:numRef>
          </c:xVal>
          <c:yVal>
            <c:numRef>
              <c:f>'Chart Data'!$DZ$2:$DZ$3</c:f>
              <c:numCache>
                <c:formatCode>0.##</c:formatCode>
                <c:ptCount val="2"/>
                <c:pt idx="0">
                  <c:v>19</c:v>
                </c:pt>
                <c:pt idx="1">
                  <c:v>19</c:v>
                </c:pt>
              </c:numCache>
            </c:numRef>
          </c:yVal>
          <c:smooth val="1"/>
          <c:extLst>
            <c:ext xmlns:c16="http://schemas.microsoft.com/office/drawing/2014/chart" uri="{C3380CC4-5D6E-409C-BE32-E72D297353CC}">
              <c16:uniqueId val="{00000040-5ED3-4F4E-BECF-65A56687C330}"/>
            </c:ext>
          </c:extLst>
        </c:ser>
        <c:ser>
          <c:idx val="65"/>
          <c:order val="65"/>
          <c:tx>
            <c:v>Read below 40 horizontal guide 19</c:v>
          </c:tx>
          <c:spPr>
            <a:ln w="22860">
              <a:solidFill>
                <a:srgbClr val="777777"/>
              </a:solidFill>
              <a:prstDash val="solid"/>
            </a:ln>
          </c:spPr>
          <c:marker>
            <c:symbol val="none"/>
          </c:marker>
          <c:xVal>
            <c:numRef>
              <c:f>'Chart Data'!$EA$2:$EA$3</c:f>
              <c:numCache>
                <c:formatCode>0.##</c:formatCode>
                <c:ptCount val="2"/>
                <c:pt idx="0">
                  <c:v>24.050633000000001</c:v>
                </c:pt>
                <c:pt idx="1">
                  <c:v>23.544304</c:v>
                </c:pt>
              </c:numCache>
            </c:numRef>
          </c:xVal>
          <c:yVal>
            <c:numRef>
              <c:f>'Chart Data'!$EB$2:$EB$3</c:f>
              <c:numCache>
                <c:formatCode>0.##</c:formatCode>
                <c:ptCount val="2"/>
                <c:pt idx="0">
                  <c:v>19</c:v>
                </c:pt>
                <c:pt idx="1">
                  <c:v>19</c:v>
                </c:pt>
              </c:numCache>
            </c:numRef>
          </c:yVal>
          <c:smooth val="1"/>
          <c:extLst>
            <c:ext xmlns:c16="http://schemas.microsoft.com/office/drawing/2014/chart" uri="{C3380CC4-5D6E-409C-BE32-E72D297353CC}">
              <c16:uniqueId val="{00000041-5ED3-4F4E-BECF-65A56687C330}"/>
            </c:ext>
          </c:extLst>
        </c:ser>
        <c:ser>
          <c:idx val="66"/>
          <c:order val="66"/>
          <c:tx>
            <c:v>Read below 40 horizontal guide 20</c:v>
          </c:tx>
          <c:spPr>
            <a:ln w="22860">
              <a:solidFill>
                <a:srgbClr val="777777"/>
              </a:solidFill>
              <a:prstDash val="solid"/>
            </a:ln>
          </c:spPr>
          <c:marker>
            <c:symbol val="none"/>
          </c:marker>
          <c:xVal>
            <c:numRef>
              <c:f>'Chart Data'!$EC$2:$EC$3</c:f>
              <c:numCache>
                <c:formatCode>0.##</c:formatCode>
                <c:ptCount val="2"/>
                <c:pt idx="0">
                  <c:v>23.164556999999999</c:v>
                </c:pt>
                <c:pt idx="1">
                  <c:v>22.658228000000001</c:v>
                </c:pt>
              </c:numCache>
            </c:numRef>
          </c:xVal>
          <c:yVal>
            <c:numRef>
              <c:f>'Chart Data'!$ED$2:$ED$3</c:f>
              <c:numCache>
                <c:formatCode>0.##</c:formatCode>
                <c:ptCount val="2"/>
                <c:pt idx="0">
                  <c:v>19</c:v>
                </c:pt>
                <c:pt idx="1">
                  <c:v>19</c:v>
                </c:pt>
              </c:numCache>
            </c:numRef>
          </c:yVal>
          <c:smooth val="1"/>
          <c:extLst>
            <c:ext xmlns:c16="http://schemas.microsoft.com/office/drawing/2014/chart" uri="{C3380CC4-5D6E-409C-BE32-E72D297353CC}">
              <c16:uniqueId val="{00000042-5ED3-4F4E-BECF-65A56687C330}"/>
            </c:ext>
          </c:extLst>
        </c:ser>
        <c:ser>
          <c:idx val="67"/>
          <c:order val="67"/>
          <c:tx>
            <c:v>Read below 40 horizontal guide 21</c:v>
          </c:tx>
          <c:spPr>
            <a:ln w="22860">
              <a:solidFill>
                <a:srgbClr val="777777"/>
              </a:solidFill>
              <a:prstDash val="solid"/>
            </a:ln>
          </c:spPr>
          <c:marker>
            <c:symbol val="none"/>
          </c:marker>
          <c:xVal>
            <c:numRef>
              <c:f>'Chart Data'!$EE$2:$EE$3</c:f>
              <c:numCache>
                <c:formatCode>0.##</c:formatCode>
                <c:ptCount val="2"/>
                <c:pt idx="0">
                  <c:v>22.278480999999999</c:v>
                </c:pt>
                <c:pt idx="1">
                  <c:v>21.772151999999998</c:v>
                </c:pt>
              </c:numCache>
            </c:numRef>
          </c:xVal>
          <c:yVal>
            <c:numRef>
              <c:f>'Chart Data'!$EF$2:$EF$3</c:f>
              <c:numCache>
                <c:formatCode>0.##</c:formatCode>
                <c:ptCount val="2"/>
                <c:pt idx="0">
                  <c:v>19</c:v>
                </c:pt>
                <c:pt idx="1">
                  <c:v>19</c:v>
                </c:pt>
              </c:numCache>
            </c:numRef>
          </c:yVal>
          <c:smooth val="1"/>
          <c:extLst>
            <c:ext xmlns:c16="http://schemas.microsoft.com/office/drawing/2014/chart" uri="{C3380CC4-5D6E-409C-BE32-E72D297353CC}">
              <c16:uniqueId val="{00000043-5ED3-4F4E-BECF-65A56687C330}"/>
            </c:ext>
          </c:extLst>
        </c:ser>
        <c:ser>
          <c:idx val="68"/>
          <c:order val="68"/>
          <c:tx>
            <c:v>Read below 40 horizontal guide 22</c:v>
          </c:tx>
          <c:spPr>
            <a:ln w="22860">
              <a:solidFill>
                <a:srgbClr val="777777"/>
              </a:solidFill>
              <a:prstDash val="solid"/>
            </a:ln>
          </c:spPr>
          <c:marker>
            <c:symbol val="none"/>
          </c:marker>
          <c:xVal>
            <c:numRef>
              <c:f>'Chart Data'!$EG$2:$EG$3</c:f>
              <c:numCache>
                <c:formatCode>0.##</c:formatCode>
                <c:ptCount val="2"/>
                <c:pt idx="0">
                  <c:v>21.392405</c:v>
                </c:pt>
                <c:pt idx="1">
                  <c:v>20.886075999999999</c:v>
                </c:pt>
              </c:numCache>
            </c:numRef>
          </c:xVal>
          <c:yVal>
            <c:numRef>
              <c:f>'Chart Data'!$EH$2:$EH$3</c:f>
              <c:numCache>
                <c:formatCode>0.##</c:formatCode>
                <c:ptCount val="2"/>
                <c:pt idx="0">
                  <c:v>19</c:v>
                </c:pt>
                <c:pt idx="1">
                  <c:v>19</c:v>
                </c:pt>
              </c:numCache>
            </c:numRef>
          </c:yVal>
          <c:smooth val="1"/>
          <c:extLst>
            <c:ext xmlns:c16="http://schemas.microsoft.com/office/drawing/2014/chart" uri="{C3380CC4-5D6E-409C-BE32-E72D297353CC}">
              <c16:uniqueId val="{00000044-5ED3-4F4E-BECF-65A56687C330}"/>
            </c:ext>
          </c:extLst>
        </c:ser>
        <c:ser>
          <c:idx val="69"/>
          <c:order val="69"/>
          <c:tx>
            <c:v>Read below 40 horizontal guide 23</c:v>
          </c:tx>
          <c:spPr>
            <a:ln w="22860">
              <a:solidFill>
                <a:srgbClr val="777777"/>
              </a:solidFill>
              <a:prstDash val="solid"/>
            </a:ln>
          </c:spPr>
          <c:marker>
            <c:symbol val="none"/>
          </c:marker>
          <c:xVal>
            <c:numRef>
              <c:f>'Chart Data'!$EI$2:$EI$3</c:f>
              <c:numCache>
                <c:formatCode>0.##</c:formatCode>
                <c:ptCount val="2"/>
                <c:pt idx="0">
                  <c:v>20.506329000000001</c:v>
                </c:pt>
                <c:pt idx="1">
                  <c:v>20</c:v>
                </c:pt>
              </c:numCache>
            </c:numRef>
          </c:xVal>
          <c:yVal>
            <c:numRef>
              <c:f>'Chart Data'!$EJ$2:$EJ$3</c:f>
              <c:numCache>
                <c:formatCode>0.##</c:formatCode>
                <c:ptCount val="2"/>
                <c:pt idx="0">
                  <c:v>19</c:v>
                </c:pt>
                <c:pt idx="1">
                  <c:v>19</c:v>
                </c:pt>
              </c:numCache>
            </c:numRef>
          </c:yVal>
          <c:smooth val="1"/>
          <c:extLst>
            <c:ext xmlns:c16="http://schemas.microsoft.com/office/drawing/2014/chart" uri="{C3380CC4-5D6E-409C-BE32-E72D297353CC}">
              <c16:uniqueId val="{00000045-5ED3-4F4E-BECF-65A56687C330}"/>
            </c:ext>
          </c:extLst>
        </c:ser>
        <c:ser>
          <c:idx val="70"/>
          <c:order val="70"/>
          <c:tx>
            <c:v>Read below 40 horizontal guide 24</c:v>
          </c:tx>
          <c:spPr>
            <a:ln w="22860">
              <a:solidFill>
                <a:srgbClr val="777777"/>
              </a:solidFill>
              <a:prstDash val="solid"/>
            </a:ln>
          </c:spPr>
          <c:marker>
            <c:symbol val="none"/>
          </c:marker>
          <c:xVal>
            <c:numRef>
              <c:f>'Chart Data'!$EK$2:$EK$3</c:f>
              <c:numCache>
                <c:formatCode>0.##</c:formatCode>
                <c:ptCount val="2"/>
                <c:pt idx="0">
                  <c:v>19.620253000000002</c:v>
                </c:pt>
                <c:pt idx="1">
                  <c:v>19.113924000000001</c:v>
                </c:pt>
              </c:numCache>
            </c:numRef>
          </c:xVal>
          <c:yVal>
            <c:numRef>
              <c:f>'Chart Data'!$EL$2:$EL$3</c:f>
              <c:numCache>
                <c:formatCode>0.##</c:formatCode>
                <c:ptCount val="2"/>
                <c:pt idx="0">
                  <c:v>19</c:v>
                </c:pt>
                <c:pt idx="1">
                  <c:v>19</c:v>
                </c:pt>
              </c:numCache>
            </c:numRef>
          </c:yVal>
          <c:smooth val="1"/>
          <c:extLst>
            <c:ext xmlns:c16="http://schemas.microsoft.com/office/drawing/2014/chart" uri="{C3380CC4-5D6E-409C-BE32-E72D297353CC}">
              <c16:uniqueId val="{00000046-5ED3-4F4E-BECF-65A56687C330}"/>
            </c:ext>
          </c:extLst>
        </c:ser>
        <c:ser>
          <c:idx val="71"/>
          <c:order val="71"/>
          <c:tx>
            <c:v>Read below 40 horizontal guide 25</c:v>
          </c:tx>
          <c:spPr>
            <a:ln w="22860">
              <a:solidFill>
                <a:srgbClr val="777777"/>
              </a:solidFill>
              <a:prstDash val="solid"/>
            </a:ln>
          </c:spPr>
          <c:marker>
            <c:symbol val="none"/>
          </c:marker>
          <c:xVal>
            <c:numRef>
              <c:f>'Chart Data'!$EM$2:$EM$3</c:f>
              <c:numCache>
                <c:formatCode>0.##</c:formatCode>
                <c:ptCount val="2"/>
                <c:pt idx="0">
                  <c:v>18.734176999999999</c:v>
                </c:pt>
                <c:pt idx="1">
                  <c:v>18.227848000000002</c:v>
                </c:pt>
              </c:numCache>
            </c:numRef>
          </c:xVal>
          <c:yVal>
            <c:numRef>
              <c:f>'Chart Data'!$EN$2:$EN$3</c:f>
              <c:numCache>
                <c:formatCode>0.##</c:formatCode>
                <c:ptCount val="2"/>
                <c:pt idx="0">
                  <c:v>19</c:v>
                </c:pt>
                <c:pt idx="1">
                  <c:v>19</c:v>
                </c:pt>
              </c:numCache>
            </c:numRef>
          </c:yVal>
          <c:smooth val="1"/>
          <c:extLst>
            <c:ext xmlns:c16="http://schemas.microsoft.com/office/drawing/2014/chart" uri="{C3380CC4-5D6E-409C-BE32-E72D297353CC}">
              <c16:uniqueId val="{00000047-5ED3-4F4E-BECF-65A56687C330}"/>
            </c:ext>
          </c:extLst>
        </c:ser>
        <c:ser>
          <c:idx val="72"/>
          <c:order val="72"/>
          <c:tx>
            <c:v>Read below 40 horizontal guide 26</c:v>
          </c:tx>
          <c:spPr>
            <a:ln w="22860">
              <a:solidFill>
                <a:srgbClr val="777777"/>
              </a:solidFill>
              <a:prstDash val="solid"/>
            </a:ln>
          </c:spPr>
          <c:marker>
            <c:symbol val="none"/>
          </c:marker>
          <c:xVal>
            <c:numRef>
              <c:f>'Chart Data'!$EO$2:$EO$3</c:f>
              <c:numCache>
                <c:formatCode>0.##</c:formatCode>
                <c:ptCount val="2"/>
                <c:pt idx="0">
                  <c:v>17.848101</c:v>
                </c:pt>
                <c:pt idx="1">
                  <c:v>17.341771999999999</c:v>
                </c:pt>
              </c:numCache>
            </c:numRef>
          </c:xVal>
          <c:yVal>
            <c:numRef>
              <c:f>'Chart Data'!$EP$2:$EP$3</c:f>
              <c:numCache>
                <c:formatCode>0.##</c:formatCode>
                <c:ptCount val="2"/>
                <c:pt idx="0">
                  <c:v>19</c:v>
                </c:pt>
                <c:pt idx="1">
                  <c:v>19</c:v>
                </c:pt>
              </c:numCache>
            </c:numRef>
          </c:yVal>
          <c:smooth val="1"/>
          <c:extLst>
            <c:ext xmlns:c16="http://schemas.microsoft.com/office/drawing/2014/chart" uri="{C3380CC4-5D6E-409C-BE32-E72D297353CC}">
              <c16:uniqueId val="{00000048-5ED3-4F4E-BECF-65A56687C330}"/>
            </c:ext>
          </c:extLst>
        </c:ser>
        <c:ser>
          <c:idx val="73"/>
          <c:order val="73"/>
          <c:tx>
            <c:v>Read below 40 horizontal guide 27</c:v>
          </c:tx>
          <c:spPr>
            <a:ln w="22860">
              <a:solidFill>
                <a:srgbClr val="777777"/>
              </a:solidFill>
              <a:prstDash val="solid"/>
            </a:ln>
          </c:spPr>
          <c:marker>
            <c:symbol val="none"/>
          </c:marker>
          <c:xVal>
            <c:numRef>
              <c:f>'Chart Data'!$EQ$2:$EQ$3</c:f>
              <c:numCache>
                <c:formatCode>0.##</c:formatCode>
                <c:ptCount val="2"/>
                <c:pt idx="0">
                  <c:v>16.962025000000001</c:v>
                </c:pt>
                <c:pt idx="1">
                  <c:v>16.455696</c:v>
                </c:pt>
              </c:numCache>
            </c:numRef>
          </c:xVal>
          <c:yVal>
            <c:numRef>
              <c:f>'Chart Data'!$ER$2:$ER$3</c:f>
              <c:numCache>
                <c:formatCode>0.##</c:formatCode>
                <c:ptCount val="2"/>
                <c:pt idx="0">
                  <c:v>19</c:v>
                </c:pt>
                <c:pt idx="1">
                  <c:v>19</c:v>
                </c:pt>
              </c:numCache>
            </c:numRef>
          </c:yVal>
          <c:smooth val="1"/>
          <c:extLst>
            <c:ext xmlns:c16="http://schemas.microsoft.com/office/drawing/2014/chart" uri="{C3380CC4-5D6E-409C-BE32-E72D297353CC}">
              <c16:uniqueId val="{00000049-5ED3-4F4E-BECF-65A56687C330}"/>
            </c:ext>
          </c:extLst>
        </c:ser>
        <c:ser>
          <c:idx val="74"/>
          <c:order val="74"/>
          <c:tx>
            <c:v>Read below 40 horizontal guide 28</c:v>
          </c:tx>
          <c:spPr>
            <a:ln w="22860">
              <a:solidFill>
                <a:srgbClr val="777777"/>
              </a:solidFill>
              <a:prstDash val="solid"/>
            </a:ln>
          </c:spPr>
          <c:marker>
            <c:symbol val="none"/>
          </c:marker>
          <c:xVal>
            <c:numRef>
              <c:f>'Chart Data'!$ES$2:$ES$3</c:f>
              <c:numCache>
                <c:formatCode>0.##</c:formatCode>
                <c:ptCount val="2"/>
                <c:pt idx="0">
                  <c:v>16.075949000000001</c:v>
                </c:pt>
                <c:pt idx="1">
                  <c:v>15.56962</c:v>
                </c:pt>
              </c:numCache>
            </c:numRef>
          </c:xVal>
          <c:yVal>
            <c:numRef>
              <c:f>'Chart Data'!$ET$2:$ET$3</c:f>
              <c:numCache>
                <c:formatCode>0.##</c:formatCode>
                <c:ptCount val="2"/>
                <c:pt idx="0">
                  <c:v>19</c:v>
                </c:pt>
                <c:pt idx="1">
                  <c:v>19</c:v>
                </c:pt>
              </c:numCache>
            </c:numRef>
          </c:yVal>
          <c:smooth val="1"/>
          <c:extLst>
            <c:ext xmlns:c16="http://schemas.microsoft.com/office/drawing/2014/chart" uri="{C3380CC4-5D6E-409C-BE32-E72D297353CC}">
              <c16:uniqueId val="{0000004A-5ED3-4F4E-BECF-65A56687C330}"/>
            </c:ext>
          </c:extLst>
        </c:ser>
        <c:ser>
          <c:idx val="75"/>
          <c:order val="75"/>
          <c:tx>
            <c:v>Read below 40 horizontal guide 29</c:v>
          </c:tx>
          <c:spPr>
            <a:ln w="22860">
              <a:solidFill>
                <a:srgbClr val="777777"/>
              </a:solidFill>
              <a:prstDash val="solid"/>
            </a:ln>
          </c:spPr>
          <c:marker>
            <c:symbol val="none"/>
          </c:marker>
          <c:xVal>
            <c:numRef>
              <c:f>'Chart Data'!$EU$2:$EU$3</c:f>
              <c:numCache>
                <c:formatCode>0.##</c:formatCode>
                <c:ptCount val="2"/>
                <c:pt idx="0">
                  <c:v>15.189873</c:v>
                </c:pt>
                <c:pt idx="1">
                  <c:v>14.683543999999999</c:v>
                </c:pt>
              </c:numCache>
            </c:numRef>
          </c:xVal>
          <c:yVal>
            <c:numRef>
              <c:f>'Chart Data'!$EV$2:$EV$3</c:f>
              <c:numCache>
                <c:formatCode>0.##</c:formatCode>
                <c:ptCount val="2"/>
                <c:pt idx="0">
                  <c:v>19</c:v>
                </c:pt>
                <c:pt idx="1">
                  <c:v>19</c:v>
                </c:pt>
              </c:numCache>
            </c:numRef>
          </c:yVal>
          <c:smooth val="1"/>
          <c:extLst>
            <c:ext xmlns:c16="http://schemas.microsoft.com/office/drawing/2014/chart" uri="{C3380CC4-5D6E-409C-BE32-E72D297353CC}">
              <c16:uniqueId val="{0000004B-5ED3-4F4E-BECF-65A56687C330}"/>
            </c:ext>
          </c:extLst>
        </c:ser>
        <c:ser>
          <c:idx val="76"/>
          <c:order val="76"/>
          <c:tx>
            <c:v>Read below 40 horizontal guide 30</c:v>
          </c:tx>
          <c:spPr>
            <a:ln w="22860">
              <a:solidFill>
                <a:srgbClr val="777777"/>
              </a:solidFill>
              <a:prstDash val="solid"/>
            </a:ln>
          </c:spPr>
          <c:marker>
            <c:symbol val="none"/>
          </c:marker>
          <c:xVal>
            <c:numRef>
              <c:f>'Chart Data'!$EW$2:$EW$3</c:f>
              <c:numCache>
                <c:formatCode>0.##</c:formatCode>
                <c:ptCount val="2"/>
                <c:pt idx="0">
                  <c:v>14.303796999999999</c:v>
                </c:pt>
                <c:pt idx="1">
                  <c:v>13.797468</c:v>
                </c:pt>
              </c:numCache>
            </c:numRef>
          </c:xVal>
          <c:yVal>
            <c:numRef>
              <c:f>'Chart Data'!$EX$2:$EX$3</c:f>
              <c:numCache>
                <c:formatCode>0.##</c:formatCode>
                <c:ptCount val="2"/>
                <c:pt idx="0">
                  <c:v>19</c:v>
                </c:pt>
                <c:pt idx="1">
                  <c:v>19</c:v>
                </c:pt>
              </c:numCache>
            </c:numRef>
          </c:yVal>
          <c:smooth val="1"/>
          <c:extLst>
            <c:ext xmlns:c16="http://schemas.microsoft.com/office/drawing/2014/chart" uri="{C3380CC4-5D6E-409C-BE32-E72D297353CC}">
              <c16:uniqueId val="{0000004C-5ED3-4F4E-BECF-65A56687C330}"/>
            </c:ext>
          </c:extLst>
        </c:ser>
        <c:ser>
          <c:idx val="77"/>
          <c:order val="77"/>
          <c:tx>
            <c:v>Read below 40 horizontal guide 31</c:v>
          </c:tx>
          <c:spPr>
            <a:ln w="22860">
              <a:solidFill>
                <a:srgbClr val="777777"/>
              </a:solidFill>
              <a:prstDash val="solid"/>
            </a:ln>
          </c:spPr>
          <c:marker>
            <c:symbol val="none"/>
          </c:marker>
          <c:xVal>
            <c:numRef>
              <c:f>'Chart Data'!$EY$2:$EY$3</c:f>
              <c:numCache>
                <c:formatCode>0.##</c:formatCode>
                <c:ptCount val="2"/>
                <c:pt idx="0">
                  <c:v>13.417721999999999</c:v>
                </c:pt>
                <c:pt idx="1">
                  <c:v>12.911391999999999</c:v>
                </c:pt>
              </c:numCache>
            </c:numRef>
          </c:xVal>
          <c:yVal>
            <c:numRef>
              <c:f>'Chart Data'!$EZ$2:$EZ$3</c:f>
              <c:numCache>
                <c:formatCode>0.##</c:formatCode>
                <c:ptCount val="2"/>
                <c:pt idx="0">
                  <c:v>19</c:v>
                </c:pt>
                <c:pt idx="1">
                  <c:v>19</c:v>
                </c:pt>
              </c:numCache>
            </c:numRef>
          </c:yVal>
          <c:smooth val="1"/>
          <c:extLst>
            <c:ext xmlns:c16="http://schemas.microsoft.com/office/drawing/2014/chart" uri="{C3380CC4-5D6E-409C-BE32-E72D297353CC}">
              <c16:uniqueId val="{0000004D-5ED3-4F4E-BECF-65A56687C330}"/>
            </c:ext>
          </c:extLst>
        </c:ser>
        <c:ser>
          <c:idx val="78"/>
          <c:order val="78"/>
          <c:tx>
            <c:v>Read below 40 horizontal guide 32</c:v>
          </c:tx>
          <c:spPr>
            <a:ln w="22860">
              <a:solidFill>
                <a:srgbClr val="777777"/>
              </a:solidFill>
              <a:prstDash val="solid"/>
            </a:ln>
          </c:spPr>
          <c:marker>
            <c:symbol val="none"/>
          </c:marker>
          <c:xVal>
            <c:numRef>
              <c:f>'Chart Data'!$FA$2:$FA$3</c:f>
              <c:numCache>
                <c:formatCode>0.##</c:formatCode>
                <c:ptCount val="2"/>
                <c:pt idx="0">
                  <c:v>12.531646</c:v>
                </c:pt>
                <c:pt idx="1">
                  <c:v>12.025316</c:v>
                </c:pt>
              </c:numCache>
            </c:numRef>
          </c:xVal>
          <c:yVal>
            <c:numRef>
              <c:f>'Chart Data'!$FB$2:$FB$3</c:f>
              <c:numCache>
                <c:formatCode>0.##</c:formatCode>
                <c:ptCount val="2"/>
                <c:pt idx="0">
                  <c:v>19</c:v>
                </c:pt>
                <c:pt idx="1">
                  <c:v>19</c:v>
                </c:pt>
              </c:numCache>
            </c:numRef>
          </c:yVal>
          <c:smooth val="1"/>
          <c:extLst>
            <c:ext xmlns:c16="http://schemas.microsoft.com/office/drawing/2014/chart" uri="{C3380CC4-5D6E-409C-BE32-E72D297353CC}">
              <c16:uniqueId val="{0000004E-5ED3-4F4E-BECF-65A56687C330}"/>
            </c:ext>
          </c:extLst>
        </c:ser>
        <c:ser>
          <c:idx val="79"/>
          <c:order val="79"/>
          <c:tx>
            <c:v>Read below 40 horizontal guide 33</c:v>
          </c:tx>
          <c:spPr>
            <a:ln w="22860">
              <a:solidFill>
                <a:srgbClr val="777777"/>
              </a:solidFill>
              <a:prstDash val="solid"/>
            </a:ln>
          </c:spPr>
          <c:marker>
            <c:symbol val="none"/>
          </c:marker>
          <c:xVal>
            <c:numRef>
              <c:f>'Chart Data'!$FC$2:$FC$3</c:f>
              <c:numCache>
                <c:formatCode>0.##</c:formatCode>
                <c:ptCount val="2"/>
                <c:pt idx="0">
                  <c:v>11.645569999999999</c:v>
                </c:pt>
                <c:pt idx="1">
                  <c:v>11.139241</c:v>
                </c:pt>
              </c:numCache>
            </c:numRef>
          </c:xVal>
          <c:yVal>
            <c:numRef>
              <c:f>'Chart Data'!$FD$2:$FD$3</c:f>
              <c:numCache>
                <c:formatCode>0.##</c:formatCode>
                <c:ptCount val="2"/>
                <c:pt idx="0">
                  <c:v>19</c:v>
                </c:pt>
                <c:pt idx="1">
                  <c:v>19</c:v>
                </c:pt>
              </c:numCache>
            </c:numRef>
          </c:yVal>
          <c:smooth val="1"/>
          <c:extLst>
            <c:ext xmlns:c16="http://schemas.microsoft.com/office/drawing/2014/chart" uri="{C3380CC4-5D6E-409C-BE32-E72D297353CC}">
              <c16:uniqueId val="{0000004F-5ED3-4F4E-BECF-65A56687C330}"/>
            </c:ext>
          </c:extLst>
        </c:ser>
        <c:ser>
          <c:idx val="80"/>
          <c:order val="80"/>
          <c:tx>
            <c:v>Read below 40 horizontal guide 34</c:v>
          </c:tx>
          <c:spPr>
            <a:ln w="22860">
              <a:solidFill>
                <a:srgbClr val="777777"/>
              </a:solidFill>
              <a:prstDash val="solid"/>
            </a:ln>
          </c:spPr>
          <c:marker>
            <c:symbol val="none"/>
          </c:marker>
          <c:xVal>
            <c:numRef>
              <c:f>'Chart Data'!$FE$2:$FE$3</c:f>
              <c:numCache>
                <c:formatCode>0.##</c:formatCode>
                <c:ptCount val="2"/>
                <c:pt idx="0">
                  <c:v>10.759494</c:v>
                </c:pt>
                <c:pt idx="1">
                  <c:v>10.253164999999999</c:v>
                </c:pt>
              </c:numCache>
            </c:numRef>
          </c:xVal>
          <c:yVal>
            <c:numRef>
              <c:f>'Chart Data'!$FF$2:$FF$3</c:f>
              <c:numCache>
                <c:formatCode>0.##</c:formatCode>
                <c:ptCount val="2"/>
                <c:pt idx="0">
                  <c:v>19</c:v>
                </c:pt>
                <c:pt idx="1">
                  <c:v>19</c:v>
                </c:pt>
              </c:numCache>
            </c:numRef>
          </c:yVal>
          <c:smooth val="1"/>
          <c:extLst>
            <c:ext xmlns:c16="http://schemas.microsoft.com/office/drawing/2014/chart" uri="{C3380CC4-5D6E-409C-BE32-E72D297353CC}">
              <c16:uniqueId val="{00000050-5ED3-4F4E-BECF-65A56687C330}"/>
            </c:ext>
          </c:extLst>
        </c:ser>
        <c:dLbls>
          <c:showLegendKey val="0"/>
          <c:showVal val="0"/>
          <c:showCatName val="0"/>
          <c:showSerName val="0"/>
          <c:showPercent val="0"/>
          <c:showBubbleSize val="0"/>
        </c:dLbls>
        <c:axId val="48650112"/>
        <c:axId val="48672768"/>
      </c:scatterChart>
      <c:valAx>
        <c:axId val="48672768"/>
        <c:scaling>
          <c:orientation val="minMax"/>
          <c:max val="25"/>
          <c:min val="0"/>
        </c:scaling>
        <c:delete val="0"/>
        <c:axPos val="l"/>
        <c:majorGridlines>
          <c:spPr>
            <a:ln w="6668">
              <a:solidFill>
                <a:srgbClr val="D0D8DD"/>
              </a:solidFill>
              <a:prstDash val="solid"/>
            </a:ln>
          </c:spPr>
        </c:majorGridlines>
        <c:title>
          <c:tx>
            <c:rich>
              <a:bodyPr/>
              <a:lstStyle/>
              <a:p>
                <a:r>
                  <a:rPr sz="1650">
                    <a:solidFill>
                      <a:srgbClr val="111111"/>
                    </a:solidFill>
                    <a:latin typeface="Aptos"/>
                    <a:ea typeface="Aptos"/>
                    <a:cs typeface="Aptos"/>
                  </a:rPr>
                  <a:t>Cumulative sessions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5"/>
      </c:valAx>
      <c:valAx>
        <c:axId val="48650112"/>
        <c:scaling>
          <c:orientation val="minMax"/>
          <c:max val="50"/>
          <c:min val="10"/>
        </c:scaling>
        <c:delete val="0"/>
        <c:axPos val="b"/>
        <c:title>
          <c:tx>
            <c:rich>
              <a:bodyPr/>
              <a:lstStyle/>
              <a:p>
                <a:r>
                  <a:rPr sz="1650">
                    <a:solidFill>
                      <a:srgbClr val="111111"/>
                    </a:solidFill>
                    <a:latin typeface="Aptos"/>
                    <a:ea typeface="Aptos"/>
                    <a:cs typeface="Aptos"/>
                  </a:rPr>
                  <a:t>Sign-ups per session (X)</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10"/>
      </c:valAx>
      <c:spPr>
        <a:noFill/>
        <a:ln w="0">
          <a:noFill/>
        </a:ln>
      </c:spPr>
    </c:plotArea>
    <c:plotVisOnly val="1"/>
    <c:dispBlanksAs val="zero"/>
    <c:showDLblsOverMax val="1"/>
  </c:chart>
  <c:spPr>
    <a:noFill/>
    <a:ln w="0">
      <a:noFill/>
    </a:ln>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Ogive segment 1</c:v>
          </c:tx>
          <c:spPr>
            <a:ln w="28575">
              <a:solidFill>
                <a:srgbClr val="D6171D"/>
              </a:solidFill>
              <a:prstDash val="solid"/>
            </a:ln>
          </c:spPr>
          <c:marker>
            <c:symbol val="none"/>
          </c:marker>
          <c:xVal>
            <c:numRef>
              <c:f>'Chart Data'!$A$2:$A$3</c:f>
              <c:numCache>
                <c:formatCode>0.##</c:formatCode>
                <c:ptCount val="2"/>
                <c:pt idx="0">
                  <c:v>10</c:v>
                </c:pt>
                <c:pt idx="1">
                  <c:v>20</c:v>
                </c:pt>
              </c:numCache>
            </c:numRef>
          </c:xVal>
          <c:yVal>
            <c:numRef>
              <c:f>'Chart Data'!$B$2:$B$3</c:f>
              <c:numCache>
                <c:formatCode>0.##</c:formatCode>
                <c:ptCount val="2"/>
                <c:pt idx="0">
                  <c:v>0</c:v>
                </c:pt>
                <c:pt idx="1">
                  <c:v>8</c:v>
                </c:pt>
              </c:numCache>
            </c:numRef>
          </c:yVal>
          <c:smooth val="1"/>
          <c:extLst>
            <c:ext xmlns:c16="http://schemas.microsoft.com/office/drawing/2014/chart" uri="{C3380CC4-5D6E-409C-BE32-E72D297353CC}">
              <c16:uniqueId val="{00000000-6823-4FAB-9D8D-CE3A6E467B89}"/>
            </c:ext>
          </c:extLst>
        </c:ser>
        <c:ser>
          <c:idx val="1"/>
          <c:order val="1"/>
          <c:tx>
            <c:v>Ogive segment 2</c:v>
          </c:tx>
          <c:spPr>
            <a:ln w="28575">
              <a:solidFill>
                <a:srgbClr val="D6171D"/>
              </a:solidFill>
              <a:prstDash val="solid"/>
            </a:ln>
          </c:spPr>
          <c:marker>
            <c:symbol val="none"/>
          </c:marker>
          <c:xVal>
            <c:numRef>
              <c:f>'Chart Data'!$C$2:$C$3</c:f>
              <c:numCache>
                <c:formatCode>0.##</c:formatCode>
                <c:ptCount val="2"/>
                <c:pt idx="0">
                  <c:v>20</c:v>
                </c:pt>
                <c:pt idx="1">
                  <c:v>30</c:v>
                </c:pt>
              </c:numCache>
            </c:numRef>
          </c:xVal>
          <c:yVal>
            <c:numRef>
              <c:f>'Chart Data'!$D$2:$D$3</c:f>
              <c:numCache>
                <c:formatCode>0.##</c:formatCode>
                <c:ptCount val="2"/>
                <c:pt idx="0">
                  <c:v>8</c:v>
                </c:pt>
                <c:pt idx="1">
                  <c:v>36</c:v>
                </c:pt>
              </c:numCache>
            </c:numRef>
          </c:yVal>
          <c:smooth val="1"/>
          <c:extLst>
            <c:ext xmlns:c16="http://schemas.microsoft.com/office/drawing/2014/chart" uri="{C3380CC4-5D6E-409C-BE32-E72D297353CC}">
              <c16:uniqueId val="{00000001-6823-4FAB-9D8D-CE3A6E467B89}"/>
            </c:ext>
          </c:extLst>
        </c:ser>
        <c:ser>
          <c:idx val="2"/>
          <c:order val="2"/>
          <c:tx>
            <c:v>Ogive segment 3</c:v>
          </c:tx>
          <c:spPr>
            <a:ln w="28575">
              <a:solidFill>
                <a:srgbClr val="D6171D"/>
              </a:solidFill>
              <a:prstDash val="solid"/>
            </a:ln>
          </c:spPr>
          <c:marker>
            <c:symbol val="none"/>
          </c:marker>
          <c:xVal>
            <c:numRef>
              <c:f>'Chart Data'!$E$2:$E$3</c:f>
              <c:numCache>
                <c:formatCode>0.##</c:formatCode>
                <c:ptCount val="2"/>
                <c:pt idx="0">
                  <c:v>30</c:v>
                </c:pt>
                <c:pt idx="1">
                  <c:v>40</c:v>
                </c:pt>
              </c:numCache>
            </c:numRef>
          </c:xVal>
          <c:yVal>
            <c:numRef>
              <c:f>'Chart Data'!$F$2:$F$3</c:f>
              <c:numCache>
                <c:formatCode>0.##</c:formatCode>
                <c:ptCount val="2"/>
                <c:pt idx="0">
                  <c:v>36</c:v>
                </c:pt>
                <c:pt idx="1">
                  <c:v>76</c:v>
                </c:pt>
              </c:numCache>
            </c:numRef>
          </c:yVal>
          <c:smooth val="1"/>
          <c:extLst>
            <c:ext xmlns:c16="http://schemas.microsoft.com/office/drawing/2014/chart" uri="{C3380CC4-5D6E-409C-BE32-E72D297353CC}">
              <c16:uniqueId val="{00000002-6823-4FAB-9D8D-CE3A6E467B89}"/>
            </c:ext>
          </c:extLst>
        </c:ser>
        <c:ser>
          <c:idx val="3"/>
          <c:order val="3"/>
          <c:tx>
            <c:v>Ogive segment 4</c:v>
          </c:tx>
          <c:spPr>
            <a:ln w="28575">
              <a:solidFill>
                <a:srgbClr val="D6171D"/>
              </a:solidFill>
              <a:prstDash val="solid"/>
            </a:ln>
          </c:spPr>
          <c:marker>
            <c:symbol val="none"/>
          </c:marker>
          <c:xVal>
            <c:numRef>
              <c:f>'Chart Data'!$G$2:$G$3</c:f>
              <c:numCache>
                <c:formatCode>0.##</c:formatCode>
                <c:ptCount val="2"/>
                <c:pt idx="0">
                  <c:v>40</c:v>
                </c:pt>
                <c:pt idx="1">
                  <c:v>50</c:v>
                </c:pt>
              </c:numCache>
            </c:numRef>
          </c:xVal>
          <c:yVal>
            <c:numRef>
              <c:f>'Chart Data'!$H$2:$H$3</c:f>
              <c:numCache>
                <c:formatCode>0.##</c:formatCode>
                <c:ptCount val="2"/>
                <c:pt idx="0">
                  <c:v>76</c:v>
                </c:pt>
                <c:pt idx="1">
                  <c:v>100</c:v>
                </c:pt>
              </c:numCache>
            </c:numRef>
          </c:yVal>
          <c:smooth val="1"/>
          <c:extLst>
            <c:ext xmlns:c16="http://schemas.microsoft.com/office/drawing/2014/chart" uri="{C3380CC4-5D6E-409C-BE32-E72D297353CC}">
              <c16:uniqueId val="{00000003-6823-4FAB-9D8D-CE3A6E467B89}"/>
            </c:ext>
          </c:extLst>
        </c:ser>
        <c:ser>
          <c:idx val="4"/>
          <c:order val="4"/>
          <c:tx>
            <c:v>Ogive boundary points</c:v>
          </c:tx>
          <c:spPr>
            <a:ln w="0">
              <a:noFill/>
            </a:ln>
          </c:spPr>
          <c:marker>
            <c:symbol val="circle"/>
            <c:size val="7"/>
            <c:spPr>
              <a:noFill/>
            </c:spPr>
          </c:marker>
          <c:xVal>
            <c:numRef>
              <c:f>'Chart Data'!$I$2:$I$6</c:f>
              <c:numCache>
                <c:formatCode>0.##</c:formatCode>
                <c:ptCount val="5"/>
                <c:pt idx="0">
                  <c:v>10</c:v>
                </c:pt>
                <c:pt idx="1">
                  <c:v>20</c:v>
                </c:pt>
                <c:pt idx="2">
                  <c:v>30</c:v>
                </c:pt>
                <c:pt idx="3">
                  <c:v>40</c:v>
                </c:pt>
                <c:pt idx="4">
                  <c:v>50</c:v>
                </c:pt>
              </c:numCache>
            </c:numRef>
          </c:xVal>
          <c:yVal>
            <c:numRef>
              <c:f>'Chart Data'!$J$2:$J$6</c:f>
              <c:numCache>
                <c:formatCode>0.##</c:formatCode>
                <c:ptCount val="5"/>
                <c:pt idx="0">
                  <c:v>0</c:v>
                </c:pt>
                <c:pt idx="1">
                  <c:v>8</c:v>
                </c:pt>
                <c:pt idx="2">
                  <c:v>36</c:v>
                </c:pt>
                <c:pt idx="3">
                  <c:v>76</c:v>
                </c:pt>
                <c:pt idx="4">
                  <c:v>100</c:v>
                </c:pt>
              </c:numCache>
            </c:numRef>
          </c:yVal>
          <c:smooth val="1"/>
          <c:extLst>
            <c:ext xmlns:c16="http://schemas.microsoft.com/office/drawing/2014/chart" uri="{C3380CC4-5D6E-409C-BE32-E72D297353CC}">
              <c16:uniqueId val="{00000004-6823-4FAB-9D8D-CE3A6E467B89}"/>
            </c:ext>
          </c:extLst>
        </c:ser>
        <c:ser>
          <c:idx val="5"/>
          <c:order val="5"/>
          <c:tx>
            <c:v>Median reading vertical guide 1</c:v>
          </c:tx>
          <c:spPr>
            <a:ln w="22860">
              <a:solidFill>
                <a:srgbClr val="111111"/>
              </a:solidFill>
              <a:prstDash val="solid"/>
            </a:ln>
          </c:spPr>
          <c:marker>
            <c:symbol val="none"/>
          </c:marker>
          <c:xVal>
            <c:numRef>
              <c:f>'Chart Data'!$K$2:$K$3</c:f>
              <c:numCache>
                <c:formatCode>0.##</c:formatCode>
                <c:ptCount val="2"/>
                <c:pt idx="0">
                  <c:v>33.5</c:v>
                </c:pt>
                <c:pt idx="1">
                  <c:v>33.5</c:v>
                </c:pt>
              </c:numCache>
            </c:numRef>
          </c:xVal>
          <c:yVal>
            <c:numRef>
              <c:f>'Chart Data'!$L$2:$L$3</c:f>
              <c:numCache>
                <c:formatCode>0.##</c:formatCode>
                <c:ptCount val="2"/>
                <c:pt idx="0">
                  <c:v>50</c:v>
                </c:pt>
                <c:pt idx="1">
                  <c:v>46.521738999999997</c:v>
                </c:pt>
              </c:numCache>
            </c:numRef>
          </c:yVal>
          <c:smooth val="1"/>
          <c:extLst>
            <c:ext xmlns:c16="http://schemas.microsoft.com/office/drawing/2014/chart" uri="{C3380CC4-5D6E-409C-BE32-E72D297353CC}">
              <c16:uniqueId val="{00000005-6823-4FAB-9D8D-CE3A6E467B89}"/>
            </c:ext>
          </c:extLst>
        </c:ser>
        <c:ser>
          <c:idx val="6"/>
          <c:order val="6"/>
          <c:tx>
            <c:v>Median reading vertical guide 2</c:v>
          </c:tx>
          <c:spPr>
            <a:ln w="22860">
              <a:solidFill>
                <a:srgbClr val="111111"/>
              </a:solidFill>
              <a:prstDash val="solid"/>
            </a:ln>
          </c:spPr>
          <c:marker>
            <c:symbol val="none"/>
          </c:marker>
          <c:xVal>
            <c:numRef>
              <c:f>'Chart Data'!$M$2:$M$3</c:f>
              <c:numCache>
                <c:formatCode>0.##</c:formatCode>
                <c:ptCount val="2"/>
                <c:pt idx="0">
                  <c:v>33.5</c:v>
                </c:pt>
                <c:pt idx="1">
                  <c:v>33.5</c:v>
                </c:pt>
              </c:numCache>
            </c:numRef>
          </c:xVal>
          <c:yVal>
            <c:numRef>
              <c:f>'Chart Data'!$N$2:$N$3</c:f>
              <c:numCache>
                <c:formatCode>0.##</c:formatCode>
                <c:ptCount val="2"/>
                <c:pt idx="0">
                  <c:v>43.913043000000002</c:v>
                </c:pt>
                <c:pt idx="1">
                  <c:v>40.434783000000003</c:v>
                </c:pt>
              </c:numCache>
            </c:numRef>
          </c:yVal>
          <c:smooth val="1"/>
          <c:extLst>
            <c:ext xmlns:c16="http://schemas.microsoft.com/office/drawing/2014/chart" uri="{C3380CC4-5D6E-409C-BE32-E72D297353CC}">
              <c16:uniqueId val="{00000006-6823-4FAB-9D8D-CE3A6E467B89}"/>
            </c:ext>
          </c:extLst>
        </c:ser>
        <c:ser>
          <c:idx val="7"/>
          <c:order val="7"/>
          <c:tx>
            <c:v>Median reading vertical guide 3</c:v>
          </c:tx>
          <c:spPr>
            <a:ln w="22860">
              <a:solidFill>
                <a:srgbClr val="111111"/>
              </a:solidFill>
              <a:prstDash val="solid"/>
            </a:ln>
          </c:spPr>
          <c:marker>
            <c:symbol val="none"/>
          </c:marker>
          <c:xVal>
            <c:numRef>
              <c:f>'Chart Data'!$O$2:$O$3</c:f>
              <c:numCache>
                <c:formatCode>0.##</c:formatCode>
                <c:ptCount val="2"/>
                <c:pt idx="0">
                  <c:v>33.5</c:v>
                </c:pt>
                <c:pt idx="1">
                  <c:v>33.5</c:v>
                </c:pt>
              </c:numCache>
            </c:numRef>
          </c:xVal>
          <c:yVal>
            <c:numRef>
              <c:f>'Chart Data'!$P$2:$P$3</c:f>
              <c:numCache>
                <c:formatCode>0.##</c:formatCode>
                <c:ptCount val="2"/>
                <c:pt idx="0">
                  <c:v>37.826087000000001</c:v>
                </c:pt>
                <c:pt idx="1">
                  <c:v>34.347825999999998</c:v>
                </c:pt>
              </c:numCache>
            </c:numRef>
          </c:yVal>
          <c:smooth val="1"/>
          <c:extLst>
            <c:ext xmlns:c16="http://schemas.microsoft.com/office/drawing/2014/chart" uri="{C3380CC4-5D6E-409C-BE32-E72D297353CC}">
              <c16:uniqueId val="{00000007-6823-4FAB-9D8D-CE3A6E467B89}"/>
            </c:ext>
          </c:extLst>
        </c:ser>
        <c:ser>
          <c:idx val="8"/>
          <c:order val="8"/>
          <c:tx>
            <c:v>Median reading vertical guide 4</c:v>
          </c:tx>
          <c:spPr>
            <a:ln w="22860">
              <a:solidFill>
                <a:srgbClr val="111111"/>
              </a:solidFill>
              <a:prstDash val="solid"/>
            </a:ln>
          </c:spPr>
          <c:marker>
            <c:symbol val="none"/>
          </c:marker>
          <c:xVal>
            <c:numRef>
              <c:f>'Chart Data'!$Q$2:$Q$3</c:f>
              <c:numCache>
                <c:formatCode>0.##</c:formatCode>
                <c:ptCount val="2"/>
                <c:pt idx="0">
                  <c:v>33.5</c:v>
                </c:pt>
                <c:pt idx="1">
                  <c:v>33.5</c:v>
                </c:pt>
              </c:numCache>
            </c:numRef>
          </c:xVal>
          <c:yVal>
            <c:numRef>
              <c:f>'Chart Data'!$R$2:$R$3</c:f>
              <c:numCache>
                <c:formatCode>0.##</c:formatCode>
                <c:ptCount val="2"/>
                <c:pt idx="0">
                  <c:v>31.739129999999999</c:v>
                </c:pt>
                <c:pt idx="1">
                  <c:v>28.260870000000001</c:v>
                </c:pt>
              </c:numCache>
            </c:numRef>
          </c:yVal>
          <c:smooth val="1"/>
          <c:extLst>
            <c:ext xmlns:c16="http://schemas.microsoft.com/office/drawing/2014/chart" uri="{C3380CC4-5D6E-409C-BE32-E72D297353CC}">
              <c16:uniqueId val="{00000008-6823-4FAB-9D8D-CE3A6E467B89}"/>
            </c:ext>
          </c:extLst>
        </c:ser>
        <c:ser>
          <c:idx val="9"/>
          <c:order val="9"/>
          <c:tx>
            <c:v>Median reading vertical guide 5</c:v>
          </c:tx>
          <c:spPr>
            <a:ln w="22860">
              <a:solidFill>
                <a:srgbClr val="111111"/>
              </a:solidFill>
              <a:prstDash val="solid"/>
            </a:ln>
          </c:spPr>
          <c:marker>
            <c:symbol val="none"/>
          </c:marker>
          <c:xVal>
            <c:numRef>
              <c:f>'Chart Data'!$S$2:$S$3</c:f>
              <c:numCache>
                <c:formatCode>0.##</c:formatCode>
                <c:ptCount val="2"/>
                <c:pt idx="0">
                  <c:v>33.5</c:v>
                </c:pt>
                <c:pt idx="1">
                  <c:v>33.5</c:v>
                </c:pt>
              </c:numCache>
            </c:numRef>
          </c:xVal>
          <c:yVal>
            <c:numRef>
              <c:f>'Chart Data'!$T$2:$T$3</c:f>
              <c:numCache>
                <c:formatCode>0.##</c:formatCode>
                <c:ptCount val="2"/>
                <c:pt idx="0">
                  <c:v>25.652173999999999</c:v>
                </c:pt>
                <c:pt idx="1">
                  <c:v>22.173912999999999</c:v>
                </c:pt>
              </c:numCache>
            </c:numRef>
          </c:yVal>
          <c:smooth val="1"/>
          <c:extLst>
            <c:ext xmlns:c16="http://schemas.microsoft.com/office/drawing/2014/chart" uri="{C3380CC4-5D6E-409C-BE32-E72D297353CC}">
              <c16:uniqueId val="{00000009-6823-4FAB-9D8D-CE3A6E467B89}"/>
            </c:ext>
          </c:extLst>
        </c:ser>
        <c:ser>
          <c:idx val="10"/>
          <c:order val="10"/>
          <c:tx>
            <c:v>Median reading vertical guide 6</c:v>
          </c:tx>
          <c:spPr>
            <a:ln w="22860">
              <a:solidFill>
                <a:srgbClr val="111111"/>
              </a:solidFill>
              <a:prstDash val="solid"/>
            </a:ln>
          </c:spPr>
          <c:marker>
            <c:symbol val="none"/>
          </c:marker>
          <c:xVal>
            <c:numRef>
              <c:f>'Chart Data'!$U$2:$U$3</c:f>
              <c:numCache>
                <c:formatCode>0.##</c:formatCode>
                <c:ptCount val="2"/>
                <c:pt idx="0">
                  <c:v>33.5</c:v>
                </c:pt>
                <c:pt idx="1">
                  <c:v>33.5</c:v>
                </c:pt>
              </c:numCache>
            </c:numRef>
          </c:xVal>
          <c:yVal>
            <c:numRef>
              <c:f>'Chart Data'!$V$2:$V$3</c:f>
              <c:numCache>
                <c:formatCode>0.##</c:formatCode>
                <c:ptCount val="2"/>
                <c:pt idx="0">
                  <c:v>19.565217000000001</c:v>
                </c:pt>
                <c:pt idx="1">
                  <c:v>16.086957000000002</c:v>
                </c:pt>
              </c:numCache>
            </c:numRef>
          </c:yVal>
          <c:smooth val="1"/>
          <c:extLst>
            <c:ext xmlns:c16="http://schemas.microsoft.com/office/drawing/2014/chart" uri="{C3380CC4-5D6E-409C-BE32-E72D297353CC}">
              <c16:uniqueId val="{0000000A-6823-4FAB-9D8D-CE3A6E467B89}"/>
            </c:ext>
          </c:extLst>
        </c:ser>
        <c:ser>
          <c:idx val="11"/>
          <c:order val="11"/>
          <c:tx>
            <c:v>Median reading vertical guide 7</c:v>
          </c:tx>
          <c:spPr>
            <a:ln w="22860">
              <a:solidFill>
                <a:srgbClr val="111111"/>
              </a:solidFill>
              <a:prstDash val="solid"/>
            </a:ln>
          </c:spPr>
          <c:marker>
            <c:symbol val="none"/>
          </c:marker>
          <c:xVal>
            <c:numRef>
              <c:f>'Chart Data'!$W$2:$W$3</c:f>
              <c:numCache>
                <c:formatCode>0.##</c:formatCode>
                <c:ptCount val="2"/>
                <c:pt idx="0">
                  <c:v>33.5</c:v>
                </c:pt>
                <c:pt idx="1">
                  <c:v>33.5</c:v>
                </c:pt>
              </c:numCache>
            </c:numRef>
          </c:xVal>
          <c:yVal>
            <c:numRef>
              <c:f>'Chart Data'!$X$2:$X$3</c:f>
              <c:numCache>
                <c:formatCode>0.##</c:formatCode>
                <c:ptCount val="2"/>
                <c:pt idx="0">
                  <c:v>13.478261</c:v>
                </c:pt>
                <c:pt idx="1">
                  <c:v>10</c:v>
                </c:pt>
              </c:numCache>
            </c:numRef>
          </c:yVal>
          <c:smooth val="1"/>
          <c:extLst>
            <c:ext xmlns:c16="http://schemas.microsoft.com/office/drawing/2014/chart" uri="{C3380CC4-5D6E-409C-BE32-E72D297353CC}">
              <c16:uniqueId val="{0000000B-6823-4FAB-9D8D-CE3A6E467B89}"/>
            </c:ext>
          </c:extLst>
        </c:ser>
        <c:ser>
          <c:idx val="12"/>
          <c:order val="12"/>
          <c:tx>
            <c:v>Median reading vertical guide 8</c:v>
          </c:tx>
          <c:spPr>
            <a:ln w="22860">
              <a:solidFill>
                <a:srgbClr val="111111"/>
              </a:solidFill>
              <a:prstDash val="solid"/>
            </a:ln>
          </c:spPr>
          <c:marker>
            <c:symbol val="none"/>
          </c:marker>
          <c:xVal>
            <c:numRef>
              <c:f>'Chart Data'!$Y$2:$Y$3</c:f>
              <c:numCache>
                <c:formatCode>0.##</c:formatCode>
                <c:ptCount val="2"/>
                <c:pt idx="0">
                  <c:v>33.5</c:v>
                </c:pt>
                <c:pt idx="1">
                  <c:v>33.5</c:v>
                </c:pt>
              </c:numCache>
            </c:numRef>
          </c:xVal>
          <c:yVal>
            <c:numRef>
              <c:f>'Chart Data'!$Z$2:$Z$3</c:f>
              <c:numCache>
                <c:formatCode>0.##</c:formatCode>
                <c:ptCount val="2"/>
                <c:pt idx="0">
                  <c:v>7.3913039999999999</c:v>
                </c:pt>
                <c:pt idx="1">
                  <c:v>3.913043</c:v>
                </c:pt>
              </c:numCache>
            </c:numRef>
          </c:yVal>
          <c:smooth val="1"/>
          <c:extLst>
            <c:ext xmlns:c16="http://schemas.microsoft.com/office/drawing/2014/chart" uri="{C3380CC4-5D6E-409C-BE32-E72D297353CC}">
              <c16:uniqueId val="{0000000C-6823-4FAB-9D8D-CE3A6E467B89}"/>
            </c:ext>
          </c:extLst>
        </c:ser>
        <c:ser>
          <c:idx val="13"/>
          <c:order val="13"/>
          <c:tx>
            <c:v>Median reading vertical guide 9</c:v>
          </c:tx>
          <c:spPr>
            <a:ln w="22860">
              <a:solidFill>
                <a:srgbClr val="111111"/>
              </a:solidFill>
              <a:prstDash val="solid"/>
            </a:ln>
          </c:spPr>
          <c:marker>
            <c:symbol val="none"/>
          </c:marker>
          <c:xVal>
            <c:numRef>
              <c:f>'Chart Data'!$AA$2:$AA$3</c:f>
              <c:numCache>
                <c:formatCode>0.##</c:formatCode>
                <c:ptCount val="2"/>
                <c:pt idx="0">
                  <c:v>33.5</c:v>
                </c:pt>
                <c:pt idx="1">
                  <c:v>33.5</c:v>
                </c:pt>
              </c:numCache>
            </c:numRef>
          </c:xVal>
          <c:yVal>
            <c:numRef>
              <c:f>'Chart Data'!$AB$2:$AB$3</c:f>
              <c:numCache>
                <c:formatCode>0.##</c:formatCode>
                <c:ptCount val="2"/>
                <c:pt idx="0">
                  <c:v>1.3043480000000001</c:v>
                </c:pt>
                <c:pt idx="1">
                  <c:v>0</c:v>
                </c:pt>
              </c:numCache>
            </c:numRef>
          </c:yVal>
          <c:smooth val="1"/>
          <c:extLst>
            <c:ext xmlns:c16="http://schemas.microsoft.com/office/drawing/2014/chart" uri="{C3380CC4-5D6E-409C-BE32-E72D297353CC}">
              <c16:uniqueId val="{0000000D-6823-4FAB-9D8D-CE3A6E467B89}"/>
            </c:ext>
          </c:extLst>
        </c:ser>
        <c:ser>
          <c:idx val="14"/>
          <c:order val="14"/>
          <c:tx>
            <c:v>Median reading horizontal guide 1</c:v>
          </c:tx>
          <c:spPr>
            <a:ln w="22860">
              <a:solidFill>
                <a:srgbClr val="111111"/>
              </a:solidFill>
              <a:prstDash val="solid"/>
            </a:ln>
          </c:spPr>
          <c:marker>
            <c:symbol val="none"/>
          </c:marker>
          <c:xVal>
            <c:numRef>
              <c:f>'Chart Data'!$AC$2:$AC$3</c:f>
              <c:numCache>
                <c:formatCode>0.##</c:formatCode>
                <c:ptCount val="2"/>
                <c:pt idx="0">
                  <c:v>33.5</c:v>
                </c:pt>
                <c:pt idx="1">
                  <c:v>32.948276</c:v>
                </c:pt>
              </c:numCache>
            </c:numRef>
          </c:xVal>
          <c:yVal>
            <c:numRef>
              <c:f>'Chart Data'!$AD$2:$AD$3</c:f>
              <c:numCache>
                <c:formatCode>0.##</c:formatCode>
                <c:ptCount val="2"/>
                <c:pt idx="0">
                  <c:v>50</c:v>
                </c:pt>
                <c:pt idx="1">
                  <c:v>50</c:v>
                </c:pt>
              </c:numCache>
            </c:numRef>
          </c:yVal>
          <c:smooth val="1"/>
          <c:extLst>
            <c:ext xmlns:c16="http://schemas.microsoft.com/office/drawing/2014/chart" uri="{C3380CC4-5D6E-409C-BE32-E72D297353CC}">
              <c16:uniqueId val="{0000000E-6823-4FAB-9D8D-CE3A6E467B89}"/>
            </c:ext>
          </c:extLst>
        </c:ser>
        <c:ser>
          <c:idx val="15"/>
          <c:order val="15"/>
          <c:tx>
            <c:v>Median reading horizontal guide 2</c:v>
          </c:tx>
          <c:spPr>
            <a:ln w="22860">
              <a:solidFill>
                <a:srgbClr val="111111"/>
              </a:solidFill>
              <a:prstDash val="solid"/>
            </a:ln>
          </c:spPr>
          <c:marker>
            <c:symbol val="none"/>
          </c:marker>
          <c:xVal>
            <c:numRef>
              <c:f>'Chart Data'!$AE$2:$AE$3</c:f>
              <c:numCache>
                <c:formatCode>0.##</c:formatCode>
                <c:ptCount val="2"/>
                <c:pt idx="0">
                  <c:v>32.534483000000002</c:v>
                </c:pt>
                <c:pt idx="1">
                  <c:v>31.982759000000001</c:v>
                </c:pt>
              </c:numCache>
            </c:numRef>
          </c:xVal>
          <c:yVal>
            <c:numRef>
              <c:f>'Chart Data'!$AF$2:$AF$3</c:f>
              <c:numCache>
                <c:formatCode>0.##</c:formatCode>
                <c:ptCount val="2"/>
                <c:pt idx="0">
                  <c:v>50</c:v>
                </c:pt>
                <c:pt idx="1">
                  <c:v>50</c:v>
                </c:pt>
              </c:numCache>
            </c:numRef>
          </c:yVal>
          <c:smooth val="1"/>
          <c:extLst>
            <c:ext xmlns:c16="http://schemas.microsoft.com/office/drawing/2014/chart" uri="{C3380CC4-5D6E-409C-BE32-E72D297353CC}">
              <c16:uniqueId val="{0000000F-6823-4FAB-9D8D-CE3A6E467B89}"/>
            </c:ext>
          </c:extLst>
        </c:ser>
        <c:ser>
          <c:idx val="16"/>
          <c:order val="16"/>
          <c:tx>
            <c:v>Median reading horizontal guide 3</c:v>
          </c:tx>
          <c:spPr>
            <a:ln w="22860">
              <a:solidFill>
                <a:srgbClr val="111111"/>
              </a:solidFill>
              <a:prstDash val="solid"/>
            </a:ln>
          </c:spPr>
          <c:marker>
            <c:symbol val="none"/>
          </c:marker>
          <c:xVal>
            <c:numRef>
              <c:f>'Chart Data'!$AG$2:$AG$3</c:f>
              <c:numCache>
                <c:formatCode>0.##</c:formatCode>
                <c:ptCount val="2"/>
                <c:pt idx="0">
                  <c:v>31.568966</c:v>
                </c:pt>
                <c:pt idx="1">
                  <c:v>31.017240999999999</c:v>
                </c:pt>
              </c:numCache>
            </c:numRef>
          </c:xVal>
          <c:yVal>
            <c:numRef>
              <c:f>'Chart Data'!$AH$2:$AH$3</c:f>
              <c:numCache>
                <c:formatCode>0.##</c:formatCode>
                <c:ptCount val="2"/>
                <c:pt idx="0">
                  <c:v>50</c:v>
                </c:pt>
                <c:pt idx="1">
                  <c:v>50</c:v>
                </c:pt>
              </c:numCache>
            </c:numRef>
          </c:yVal>
          <c:smooth val="1"/>
          <c:extLst>
            <c:ext xmlns:c16="http://schemas.microsoft.com/office/drawing/2014/chart" uri="{C3380CC4-5D6E-409C-BE32-E72D297353CC}">
              <c16:uniqueId val="{00000010-6823-4FAB-9D8D-CE3A6E467B89}"/>
            </c:ext>
          </c:extLst>
        </c:ser>
        <c:ser>
          <c:idx val="17"/>
          <c:order val="17"/>
          <c:tx>
            <c:v>Median reading horizontal guide 4</c:v>
          </c:tx>
          <c:spPr>
            <a:ln w="22860">
              <a:solidFill>
                <a:srgbClr val="111111"/>
              </a:solidFill>
              <a:prstDash val="solid"/>
            </a:ln>
          </c:spPr>
          <c:marker>
            <c:symbol val="none"/>
          </c:marker>
          <c:xVal>
            <c:numRef>
              <c:f>'Chart Data'!$AI$2:$AI$3</c:f>
              <c:numCache>
                <c:formatCode>0.##</c:formatCode>
                <c:ptCount val="2"/>
                <c:pt idx="0">
                  <c:v>30.603448</c:v>
                </c:pt>
                <c:pt idx="1">
                  <c:v>30.051724</c:v>
                </c:pt>
              </c:numCache>
            </c:numRef>
          </c:xVal>
          <c:yVal>
            <c:numRef>
              <c:f>'Chart Data'!$AJ$2:$AJ$3</c:f>
              <c:numCache>
                <c:formatCode>0.##</c:formatCode>
                <c:ptCount val="2"/>
                <c:pt idx="0">
                  <c:v>50</c:v>
                </c:pt>
                <c:pt idx="1">
                  <c:v>50</c:v>
                </c:pt>
              </c:numCache>
            </c:numRef>
          </c:yVal>
          <c:smooth val="1"/>
          <c:extLst>
            <c:ext xmlns:c16="http://schemas.microsoft.com/office/drawing/2014/chart" uri="{C3380CC4-5D6E-409C-BE32-E72D297353CC}">
              <c16:uniqueId val="{00000011-6823-4FAB-9D8D-CE3A6E467B89}"/>
            </c:ext>
          </c:extLst>
        </c:ser>
        <c:ser>
          <c:idx val="18"/>
          <c:order val="18"/>
          <c:tx>
            <c:v>Median reading horizontal guide 5</c:v>
          </c:tx>
          <c:spPr>
            <a:ln w="22860">
              <a:solidFill>
                <a:srgbClr val="111111"/>
              </a:solidFill>
              <a:prstDash val="solid"/>
            </a:ln>
          </c:spPr>
          <c:marker>
            <c:symbol val="none"/>
          </c:marker>
          <c:xVal>
            <c:numRef>
              <c:f>'Chart Data'!$AK$2:$AK$3</c:f>
              <c:numCache>
                <c:formatCode>0.##</c:formatCode>
                <c:ptCount val="2"/>
                <c:pt idx="0">
                  <c:v>29.637930999999998</c:v>
                </c:pt>
                <c:pt idx="1">
                  <c:v>29.086207000000002</c:v>
                </c:pt>
              </c:numCache>
            </c:numRef>
          </c:xVal>
          <c:yVal>
            <c:numRef>
              <c:f>'Chart Data'!$AL$2:$AL$3</c:f>
              <c:numCache>
                <c:formatCode>0.##</c:formatCode>
                <c:ptCount val="2"/>
                <c:pt idx="0">
                  <c:v>50</c:v>
                </c:pt>
                <c:pt idx="1">
                  <c:v>50</c:v>
                </c:pt>
              </c:numCache>
            </c:numRef>
          </c:yVal>
          <c:smooth val="1"/>
          <c:extLst>
            <c:ext xmlns:c16="http://schemas.microsoft.com/office/drawing/2014/chart" uri="{C3380CC4-5D6E-409C-BE32-E72D297353CC}">
              <c16:uniqueId val="{00000012-6823-4FAB-9D8D-CE3A6E467B89}"/>
            </c:ext>
          </c:extLst>
        </c:ser>
        <c:ser>
          <c:idx val="19"/>
          <c:order val="19"/>
          <c:tx>
            <c:v>Median reading horizontal guide 6</c:v>
          </c:tx>
          <c:spPr>
            <a:ln w="22860">
              <a:solidFill>
                <a:srgbClr val="111111"/>
              </a:solidFill>
              <a:prstDash val="solid"/>
            </a:ln>
          </c:spPr>
          <c:marker>
            <c:symbol val="none"/>
          </c:marker>
          <c:xVal>
            <c:numRef>
              <c:f>'Chart Data'!$AM$2:$AM$3</c:f>
              <c:numCache>
                <c:formatCode>0.##</c:formatCode>
                <c:ptCount val="2"/>
                <c:pt idx="0">
                  <c:v>28.672414</c:v>
                </c:pt>
                <c:pt idx="1">
                  <c:v>28.12069</c:v>
                </c:pt>
              </c:numCache>
            </c:numRef>
          </c:xVal>
          <c:yVal>
            <c:numRef>
              <c:f>'Chart Data'!$AN$2:$AN$3</c:f>
              <c:numCache>
                <c:formatCode>0.##</c:formatCode>
                <c:ptCount val="2"/>
                <c:pt idx="0">
                  <c:v>50</c:v>
                </c:pt>
                <c:pt idx="1">
                  <c:v>50</c:v>
                </c:pt>
              </c:numCache>
            </c:numRef>
          </c:yVal>
          <c:smooth val="1"/>
          <c:extLst>
            <c:ext xmlns:c16="http://schemas.microsoft.com/office/drawing/2014/chart" uri="{C3380CC4-5D6E-409C-BE32-E72D297353CC}">
              <c16:uniqueId val="{00000013-6823-4FAB-9D8D-CE3A6E467B89}"/>
            </c:ext>
          </c:extLst>
        </c:ser>
        <c:ser>
          <c:idx val="20"/>
          <c:order val="20"/>
          <c:tx>
            <c:v>Median reading horizontal guide 7</c:v>
          </c:tx>
          <c:spPr>
            <a:ln w="22860">
              <a:solidFill>
                <a:srgbClr val="111111"/>
              </a:solidFill>
              <a:prstDash val="solid"/>
            </a:ln>
          </c:spPr>
          <c:marker>
            <c:symbol val="none"/>
          </c:marker>
          <c:xVal>
            <c:numRef>
              <c:f>'Chart Data'!$AO$2:$AO$3</c:f>
              <c:numCache>
                <c:formatCode>0.##</c:formatCode>
                <c:ptCount val="2"/>
                <c:pt idx="0">
                  <c:v>27.706897000000001</c:v>
                </c:pt>
                <c:pt idx="1">
                  <c:v>27.155172</c:v>
                </c:pt>
              </c:numCache>
            </c:numRef>
          </c:xVal>
          <c:yVal>
            <c:numRef>
              <c:f>'Chart Data'!$AP$2:$AP$3</c:f>
              <c:numCache>
                <c:formatCode>0.##</c:formatCode>
                <c:ptCount val="2"/>
                <c:pt idx="0">
                  <c:v>50</c:v>
                </c:pt>
                <c:pt idx="1">
                  <c:v>50</c:v>
                </c:pt>
              </c:numCache>
            </c:numRef>
          </c:yVal>
          <c:smooth val="1"/>
          <c:extLst>
            <c:ext xmlns:c16="http://schemas.microsoft.com/office/drawing/2014/chart" uri="{C3380CC4-5D6E-409C-BE32-E72D297353CC}">
              <c16:uniqueId val="{00000014-6823-4FAB-9D8D-CE3A6E467B89}"/>
            </c:ext>
          </c:extLst>
        </c:ser>
        <c:ser>
          <c:idx val="21"/>
          <c:order val="21"/>
          <c:tx>
            <c:v>Median reading horizontal guide 8</c:v>
          </c:tx>
          <c:spPr>
            <a:ln w="22860">
              <a:solidFill>
                <a:srgbClr val="111111"/>
              </a:solidFill>
              <a:prstDash val="solid"/>
            </a:ln>
          </c:spPr>
          <c:marker>
            <c:symbol val="none"/>
          </c:marker>
          <c:xVal>
            <c:numRef>
              <c:f>'Chart Data'!$AQ$2:$AQ$3</c:f>
              <c:numCache>
                <c:formatCode>0.##</c:formatCode>
                <c:ptCount val="2"/>
                <c:pt idx="0">
                  <c:v>26.741378999999998</c:v>
                </c:pt>
                <c:pt idx="1">
                  <c:v>26.189654999999998</c:v>
                </c:pt>
              </c:numCache>
            </c:numRef>
          </c:xVal>
          <c:yVal>
            <c:numRef>
              <c:f>'Chart Data'!$AR$2:$AR$3</c:f>
              <c:numCache>
                <c:formatCode>0.##</c:formatCode>
                <c:ptCount val="2"/>
                <c:pt idx="0">
                  <c:v>50</c:v>
                </c:pt>
                <c:pt idx="1">
                  <c:v>50</c:v>
                </c:pt>
              </c:numCache>
            </c:numRef>
          </c:yVal>
          <c:smooth val="1"/>
          <c:extLst>
            <c:ext xmlns:c16="http://schemas.microsoft.com/office/drawing/2014/chart" uri="{C3380CC4-5D6E-409C-BE32-E72D297353CC}">
              <c16:uniqueId val="{00000015-6823-4FAB-9D8D-CE3A6E467B89}"/>
            </c:ext>
          </c:extLst>
        </c:ser>
        <c:ser>
          <c:idx val="22"/>
          <c:order val="22"/>
          <c:tx>
            <c:v>Median reading horizontal guide 9</c:v>
          </c:tx>
          <c:spPr>
            <a:ln w="22860">
              <a:solidFill>
                <a:srgbClr val="111111"/>
              </a:solidFill>
              <a:prstDash val="solid"/>
            </a:ln>
          </c:spPr>
          <c:marker>
            <c:symbol val="none"/>
          </c:marker>
          <c:xVal>
            <c:numRef>
              <c:f>'Chart Data'!$AS$2:$AS$3</c:f>
              <c:numCache>
                <c:formatCode>0.##</c:formatCode>
                <c:ptCount val="2"/>
                <c:pt idx="0">
                  <c:v>25.775862</c:v>
                </c:pt>
                <c:pt idx="1">
                  <c:v>25.224138</c:v>
                </c:pt>
              </c:numCache>
            </c:numRef>
          </c:xVal>
          <c:yVal>
            <c:numRef>
              <c:f>'Chart Data'!$AT$2:$AT$3</c:f>
              <c:numCache>
                <c:formatCode>0.##</c:formatCode>
                <c:ptCount val="2"/>
                <c:pt idx="0">
                  <c:v>50</c:v>
                </c:pt>
                <c:pt idx="1">
                  <c:v>50</c:v>
                </c:pt>
              </c:numCache>
            </c:numRef>
          </c:yVal>
          <c:smooth val="1"/>
          <c:extLst>
            <c:ext xmlns:c16="http://schemas.microsoft.com/office/drawing/2014/chart" uri="{C3380CC4-5D6E-409C-BE32-E72D297353CC}">
              <c16:uniqueId val="{00000016-6823-4FAB-9D8D-CE3A6E467B89}"/>
            </c:ext>
          </c:extLst>
        </c:ser>
        <c:ser>
          <c:idx val="23"/>
          <c:order val="23"/>
          <c:tx>
            <c:v>Median reading horizontal guide 10</c:v>
          </c:tx>
          <c:spPr>
            <a:ln w="22860">
              <a:solidFill>
                <a:srgbClr val="111111"/>
              </a:solidFill>
              <a:prstDash val="solid"/>
            </a:ln>
          </c:spPr>
          <c:marker>
            <c:symbol val="none"/>
          </c:marker>
          <c:xVal>
            <c:numRef>
              <c:f>'Chart Data'!$AU$2:$AU$3</c:f>
              <c:numCache>
                <c:formatCode>0.##</c:formatCode>
                <c:ptCount val="2"/>
                <c:pt idx="0">
                  <c:v>24.810345000000002</c:v>
                </c:pt>
                <c:pt idx="1">
                  <c:v>24.258621000000002</c:v>
                </c:pt>
              </c:numCache>
            </c:numRef>
          </c:xVal>
          <c:yVal>
            <c:numRef>
              <c:f>'Chart Data'!$AV$2:$AV$3</c:f>
              <c:numCache>
                <c:formatCode>0.##</c:formatCode>
                <c:ptCount val="2"/>
                <c:pt idx="0">
                  <c:v>50</c:v>
                </c:pt>
                <c:pt idx="1">
                  <c:v>50</c:v>
                </c:pt>
              </c:numCache>
            </c:numRef>
          </c:yVal>
          <c:smooth val="1"/>
          <c:extLst>
            <c:ext xmlns:c16="http://schemas.microsoft.com/office/drawing/2014/chart" uri="{C3380CC4-5D6E-409C-BE32-E72D297353CC}">
              <c16:uniqueId val="{00000017-6823-4FAB-9D8D-CE3A6E467B89}"/>
            </c:ext>
          </c:extLst>
        </c:ser>
        <c:ser>
          <c:idx val="24"/>
          <c:order val="24"/>
          <c:tx>
            <c:v>Median reading horizontal guide 11</c:v>
          </c:tx>
          <c:spPr>
            <a:ln w="22860">
              <a:solidFill>
                <a:srgbClr val="111111"/>
              </a:solidFill>
              <a:prstDash val="solid"/>
            </a:ln>
          </c:spPr>
          <c:marker>
            <c:symbol val="none"/>
          </c:marker>
          <c:xVal>
            <c:numRef>
              <c:f>'Chart Data'!$AW$2:$AW$3</c:f>
              <c:numCache>
                <c:formatCode>0.##</c:formatCode>
                <c:ptCount val="2"/>
                <c:pt idx="0">
                  <c:v>23.844828</c:v>
                </c:pt>
                <c:pt idx="1">
                  <c:v>23.293102999999999</c:v>
                </c:pt>
              </c:numCache>
            </c:numRef>
          </c:xVal>
          <c:yVal>
            <c:numRef>
              <c:f>'Chart Data'!$AX$2:$AX$3</c:f>
              <c:numCache>
                <c:formatCode>0.##</c:formatCode>
                <c:ptCount val="2"/>
                <c:pt idx="0">
                  <c:v>50</c:v>
                </c:pt>
                <c:pt idx="1">
                  <c:v>50</c:v>
                </c:pt>
              </c:numCache>
            </c:numRef>
          </c:yVal>
          <c:smooth val="1"/>
          <c:extLst>
            <c:ext xmlns:c16="http://schemas.microsoft.com/office/drawing/2014/chart" uri="{C3380CC4-5D6E-409C-BE32-E72D297353CC}">
              <c16:uniqueId val="{00000018-6823-4FAB-9D8D-CE3A6E467B89}"/>
            </c:ext>
          </c:extLst>
        </c:ser>
        <c:ser>
          <c:idx val="25"/>
          <c:order val="25"/>
          <c:tx>
            <c:v>Median reading horizontal guide 12</c:v>
          </c:tx>
          <c:spPr>
            <a:ln w="22860">
              <a:solidFill>
                <a:srgbClr val="111111"/>
              </a:solidFill>
              <a:prstDash val="solid"/>
            </a:ln>
          </c:spPr>
          <c:marker>
            <c:symbol val="none"/>
          </c:marker>
          <c:xVal>
            <c:numRef>
              <c:f>'Chart Data'!$AY$2:$AY$3</c:f>
              <c:numCache>
                <c:formatCode>0.##</c:formatCode>
                <c:ptCount val="2"/>
                <c:pt idx="0">
                  <c:v>22.87931</c:v>
                </c:pt>
                <c:pt idx="1">
                  <c:v>22.327586</c:v>
                </c:pt>
              </c:numCache>
            </c:numRef>
          </c:xVal>
          <c:yVal>
            <c:numRef>
              <c:f>'Chart Data'!$AZ$2:$AZ$3</c:f>
              <c:numCache>
                <c:formatCode>0.##</c:formatCode>
                <c:ptCount val="2"/>
                <c:pt idx="0">
                  <c:v>50</c:v>
                </c:pt>
                <c:pt idx="1">
                  <c:v>50</c:v>
                </c:pt>
              </c:numCache>
            </c:numRef>
          </c:yVal>
          <c:smooth val="1"/>
          <c:extLst>
            <c:ext xmlns:c16="http://schemas.microsoft.com/office/drawing/2014/chart" uri="{C3380CC4-5D6E-409C-BE32-E72D297353CC}">
              <c16:uniqueId val="{00000019-6823-4FAB-9D8D-CE3A6E467B89}"/>
            </c:ext>
          </c:extLst>
        </c:ser>
        <c:ser>
          <c:idx val="26"/>
          <c:order val="26"/>
          <c:tx>
            <c:v>Median reading horizontal guide 13</c:v>
          </c:tx>
          <c:spPr>
            <a:ln w="22860">
              <a:solidFill>
                <a:srgbClr val="111111"/>
              </a:solidFill>
              <a:prstDash val="solid"/>
            </a:ln>
          </c:spPr>
          <c:marker>
            <c:symbol val="none"/>
          </c:marker>
          <c:xVal>
            <c:numRef>
              <c:f>'Chart Data'!$BA$2:$BA$3</c:f>
              <c:numCache>
                <c:formatCode>0.##</c:formatCode>
                <c:ptCount val="2"/>
                <c:pt idx="0">
                  <c:v>21.913792999999998</c:v>
                </c:pt>
                <c:pt idx="1">
                  <c:v>21.362069000000002</c:v>
                </c:pt>
              </c:numCache>
            </c:numRef>
          </c:xVal>
          <c:yVal>
            <c:numRef>
              <c:f>'Chart Data'!$BB$2:$BB$3</c:f>
              <c:numCache>
                <c:formatCode>0.##</c:formatCode>
                <c:ptCount val="2"/>
                <c:pt idx="0">
                  <c:v>50</c:v>
                </c:pt>
                <c:pt idx="1">
                  <c:v>50</c:v>
                </c:pt>
              </c:numCache>
            </c:numRef>
          </c:yVal>
          <c:smooth val="1"/>
          <c:extLst>
            <c:ext xmlns:c16="http://schemas.microsoft.com/office/drawing/2014/chart" uri="{C3380CC4-5D6E-409C-BE32-E72D297353CC}">
              <c16:uniqueId val="{0000001A-6823-4FAB-9D8D-CE3A6E467B89}"/>
            </c:ext>
          </c:extLst>
        </c:ser>
        <c:ser>
          <c:idx val="27"/>
          <c:order val="27"/>
          <c:tx>
            <c:v>Median reading horizontal guide 14</c:v>
          </c:tx>
          <c:spPr>
            <a:ln w="22860">
              <a:solidFill>
                <a:srgbClr val="111111"/>
              </a:solidFill>
              <a:prstDash val="solid"/>
            </a:ln>
          </c:spPr>
          <c:marker>
            <c:symbol val="none"/>
          </c:marker>
          <c:xVal>
            <c:numRef>
              <c:f>'Chart Data'!$BC$2:$BC$3</c:f>
              <c:numCache>
                <c:formatCode>0.##</c:formatCode>
                <c:ptCount val="2"/>
                <c:pt idx="0">
                  <c:v>20.948276</c:v>
                </c:pt>
                <c:pt idx="1">
                  <c:v>20.396552</c:v>
                </c:pt>
              </c:numCache>
            </c:numRef>
          </c:xVal>
          <c:yVal>
            <c:numRef>
              <c:f>'Chart Data'!$BD$2:$BD$3</c:f>
              <c:numCache>
                <c:formatCode>0.##</c:formatCode>
                <c:ptCount val="2"/>
                <c:pt idx="0">
                  <c:v>50</c:v>
                </c:pt>
                <c:pt idx="1">
                  <c:v>50</c:v>
                </c:pt>
              </c:numCache>
            </c:numRef>
          </c:yVal>
          <c:smooth val="1"/>
          <c:extLst>
            <c:ext xmlns:c16="http://schemas.microsoft.com/office/drawing/2014/chart" uri="{C3380CC4-5D6E-409C-BE32-E72D297353CC}">
              <c16:uniqueId val="{0000001B-6823-4FAB-9D8D-CE3A6E467B89}"/>
            </c:ext>
          </c:extLst>
        </c:ser>
        <c:ser>
          <c:idx val="28"/>
          <c:order val="28"/>
          <c:tx>
            <c:v>Median reading horizontal guide 15</c:v>
          </c:tx>
          <c:spPr>
            <a:ln w="22860">
              <a:solidFill>
                <a:srgbClr val="111111"/>
              </a:solidFill>
              <a:prstDash val="solid"/>
            </a:ln>
          </c:spPr>
          <c:marker>
            <c:symbol val="none"/>
          </c:marker>
          <c:xVal>
            <c:numRef>
              <c:f>'Chart Data'!$BE$2:$BE$3</c:f>
              <c:numCache>
                <c:formatCode>0.##</c:formatCode>
                <c:ptCount val="2"/>
                <c:pt idx="0">
                  <c:v>19.982759000000001</c:v>
                </c:pt>
                <c:pt idx="1">
                  <c:v>19.431034</c:v>
                </c:pt>
              </c:numCache>
            </c:numRef>
          </c:xVal>
          <c:yVal>
            <c:numRef>
              <c:f>'Chart Data'!$BF$2:$BF$3</c:f>
              <c:numCache>
                <c:formatCode>0.##</c:formatCode>
                <c:ptCount val="2"/>
                <c:pt idx="0">
                  <c:v>50</c:v>
                </c:pt>
                <c:pt idx="1">
                  <c:v>50</c:v>
                </c:pt>
              </c:numCache>
            </c:numRef>
          </c:yVal>
          <c:smooth val="1"/>
          <c:extLst>
            <c:ext xmlns:c16="http://schemas.microsoft.com/office/drawing/2014/chart" uri="{C3380CC4-5D6E-409C-BE32-E72D297353CC}">
              <c16:uniqueId val="{0000001C-6823-4FAB-9D8D-CE3A6E467B89}"/>
            </c:ext>
          </c:extLst>
        </c:ser>
        <c:ser>
          <c:idx val="29"/>
          <c:order val="29"/>
          <c:tx>
            <c:v>Median reading horizontal guide 16</c:v>
          </c:tx>
          <c:spPr>
            <a:ln w="22860">
              <a:solidFill>
                <a:srgbClr val="111111"/>
              </a:solidFill>
              <a:prstDash val="solid"/>
            </a:ln>
          </c:spPr>
          <c:marker>
            <c:symbol val="none"/>
          </c:marker>
          <c:xVal>
            <c:numRef>
              <c:f>'Chart Data'!$BG$2:$BG$3</c:f>
              <c:numCache>
                <c:formatCode>0.##</c:formatCode>
                <c:ptCount val="2"/>
                <c:pt idx="0">
                  <c:v>19.017240999999999</c:v>
                </c:pt>
                <c:pt idx="1">
                  <c:v>18.465516999999998</c:v>
                </c:pt>
              </c:numCache>
            </c:numRef>
          </c:xVal>
          <c:yVal>
            <c:numRef>
              <c:f>'Chart Data'!$BH$2:$BH$3</c:f>
              <c:numCache>
                <c:formatCode>0.##</c:formatCode>
                <c:ptCount val="2"/>
                <c:pt idx="0">
                  <c:v>50</c:v>
                </c:pt>
                <c:pt idx="1">
                  <c:v>50</c:v>
                </c:pt>
              </c:numCache>
            </c:numRef>
          </c:yVal>
          <c:smooth val="1"/>
          <c:extLst>
            <c:ext xmlns:c16="http://schemas.microsoft.com/office/drawing/2014/chart" uri="{C3380CC4-5D6E-409C-BE32-E72D297353CC}">
              <c16:uniqueId val="{0000001D-6823-4FAB-9D8D-CE3A6E467B89}"/>
            </c:ext>
          </c:extLst>
        </c:ser>
        <c:ser>
          <c:idx val="30"/>
          <c:order val="30"/>
          <c:tx>
            <c:v>Median reading horizontal guide 17</c:v>
          </c:tx>
          <c:spPr>
            <a:ln w="22860">
              <a:solidFill>
                <a:srgbClr val="111111"/>
              </a:solidFill>
              <a:prstDash val="solid"/>
            </a:ln>
          </c:spPr>
          <c:marker>
            <c:symbol val="none"/>
          </c:marker>
          <c:xVal>
            <c:numRef>
              <c:f>'Chart Data'!$BI$2:$BI$3</c:f>
              <c:numCache>
                <c:formatCode>0.##</c:formatCode>
                <c:ptCount val="2"/>
                <c:pt idx="0">
                  <c:v>18.051724</c:v>
                </c:pt>
                <c:pt idx="1">
                  <c:v>17.5</c:v>
                </c:pt>
              </c:numCache>
            </c:numRef>
          </c:xVal>
          <c:yVal>
            <c:numRef>
              <c:f>'Chart Data'!$BJ$2:$BJ$3</c:f>
              <c:numCache>
                <c:formatCode>0.##</c:formatCode>
                <c:ptCount val="2"/>
                <c:pt idx="0">
                  <c:v>50</c:v>
                </c:pt>
                <c:pt idx="1">
                  <c:v>50</c:v>
                </c:pt>
              </c:numCache>
            </c:numRef>
          </c:yVal>
          <c:smooth val="1"/>
          <c:extLst>
            <c:ext xmlns:c16="http://schemas.microsoft.com/office/drawing/2014/chart" uri="{C3380CC4-5D6E-409C-BE32-E72D297353CC}">
              <c16:uniqueId val="{0000001E-6823-4FAB-9D8D-CE3A6E467B89}"/>
            </c:ext>
          </c:extLst>
        </c:ser>
        <c:ser>
          <c:idx val="31"/>
          <c:order val="31"/>
          <c:tx>
            <c:v>Median reading horizontal guide 18</c:v>
          </c:tx>
          <c:spPr>
            <a:ln w="22860">
              <a:solidFill>
                <a:srgbClr val="111111"/>
              </a:solidFill>
              <a:prstDash val="solid"/>
            </a:ln>
          </c:spPr>
          <c:marker>
            <c:symbol val="none"/>
          </c:marker>
          <c:xVal>
            <c:numRef>
              <c:f>'Chart Data'!$BK$2:$BK$3</c:f>
              <c:numCache>
                <c:formatCode>0.##</c:formatCode>
                <c:ptCount val="2"/>
                <c:pt idx="0">
                  <c:v>17.086207000000002</c:v>
                </c:pt>
                <c:pt idx="1">
                  <c:v>16.534483000000002</c:v>
                </c:pt>
              </c:numCache>
            </c:numRef>
          </c:xVal>
          <c:yVal>
            <c:numRef>
              <c:f>'Chart Data'!$BL$2:$BL$3</c:f>
              <c:numCache>
                <c:formatCode>0.##</c:formatCode>
                <c:ptCount val="2"/>
                <c:pt idx="0">
                  <c:v>50</c:v>
                </c:pt>
                <c:pt idx="1">
                  <c:v>50</c:v>
                </c:pt>
              </c:numCache>
            </c:numRef>
          </c:yVal>
          <c:smooth val="1"/>
          <c:extLst>
            <c:ext xmlns:c16="http://schemas.microsoft.com/office/drawing/2014/chart" uri="{C3380CC4-5D6E-409C-BE32-E72D297353CC}">
              <c16:uniqueId val="{0000001F-6823-4FAB-9D8D-CE3A6E467B89}"/>
            </c:ext>
          </c:extLst>
        </c:ser>
        <c:ser>
          <c:idx val="32"/>
          <c:order val="32"/>
          <c:tx>
            <c:v>Median reading horizontal guide 19</c:v>
          </c:tx>
          <c:spPr>
            <a:ln w="22860">
              <a:solidFill>
                <a:srgbClr val="111111"/>
              </a:solidFill>
              <a:prstDash val="solid"/>
            </a:ln>
          </c:spPr>
          <c:marker>
            <c:symbol val="none"/>
          </c:marker>
          <c:xVal>
            <c:numRef>
              <c:f>'Chart Data'!$BM$2:$BM$3</c:f>
              <c:numCache>
                <c:formatCode>0.##</c:formatCode>
                <c:ptCount val="2"/>
                <c:pt idx="0">
                  <c:v>16.12069</c:v>
                </c:pt>
                <c:pt idx="1">
                  <c:v>15.568966</c:v>
                </c:pt>
              </c:numCache>
            </c:numRef>
          </c:xVal>
          <c:yVal>
            <c:numRef>
              <c:f>'Chart Data'!$BN$2:$BN$3</c:f>
              <c:numCache>
                <c:formatCode>0.##</c:formatCode>
                <c:ptCount val="2"/>
                <c:pt idx="0">
                  <c:v>50</c:v>
                </c:pt>
                <c:pt idx="1">
                  <c:v>50</c:v>
                </c:pt>
              </c:numCache>
            </c:numRef>
          </c:yVal>
          <c:smooth val="1"/>
          <c:extLst>
            <c:ext xmlns:c16="http://schemas.microsoft.com/office/drawing/2014/chart" uri="{C3380CC4-5D6E-409C-BE32-E72D297353CC}">
              <c16:uniqueId val="{00000020-6823-4FAB-9D8D-CE3A6E467B89}"/>
            </c:ext>
          </c:extLst>
        </c:ser>
        <c:ser>
          <c:idx val="33"/>
          <c:order val="33"/>
          <c:tx>
            <c:v>Median reading horizontal guide 20</c:v>
          </c:tx>
          <c:spPr>
            <a:ln w="22860">
              <a:solidFill>
                <a:srgbClr val="111111"/>
              </a:solidFill>
              <a:prstDash val="solid"/>
            </a:ln>
          </c:spPr>
          <c:marker>
            <c:symbol val="none"/>
          </c:marker>
          <c:xVal>
            <c:numRef>
              <c:f>'Chart Data'!$BO$2:$BO$3</c:f>
              <c:numCache>
                <c:formatCode>0.##</c:formatCode>
                <c:ptCount val="2"/>
                <c:pt idx="0">
                  <c:v>15.155172</c:v>
                </c:pt>
                <c:pt idx="1">
                  <c:v>14.603448</c:v>
                </c:pt>
              </c:numCache>
            </c:numRef>
          </c:xVal>
          <c:yVal>
            <c:numRef>
              <c:f>'Chart Data'!$BP$2:$BP$3</c:f>
              <c:numCache>
                <c:formatCode>0.##</c:formatCode>
                <c:ptCount val="2"/>
                <c:pt idx="0">
                  <c:v>50</c:v>
                </c:pt>
                <c:pt idx="1">
                  <c:v>50</c:v>
                </c:pt>
              </c:numCache>
            </c:numRef>
          </c:yVal>
          <c:smooth val="1"/>
          <c:extLst>
            <c:ext xmlns:c16="http://schemas.microsoft.com/office/drawing/2014/chart" uri="{C3380CC4-5D6E-409C-BE32-E72D297353CC}">
              <c16:uniqueId val="{00000021-6823-4FAB-9D8D-CE3A6E467B89}"/>
            </c:ext>
          </c:extLst>
        </c:ser>
        <c:ser>
          <c:idx val="34"/>
          <c:order val="34"/>
          <c:tx>
            <c:v>Median reading horizontal guide 21</c:v>
          </c:tx>
          <c:spPr>
            <a:ln w="22860">
              <a:solidFill>
                <a:srgbClr val="111111"/>
              </a:solidFill>
              <a:prstDash val="solid"/>
            </a:ln>
          </c:spPr>
          <c:marker>
            <c:symbol val="none"/>
          </c:marker>
          <c:xVal>
            <c:numRef>
              <c:f>'Chart Data'!$BQ$2:$BQ$3</c:f>
              <c:numCache>
                <c:formatCode>0.##</c:formatCode>
                <c:ptCount val="2"/>
                <c:pt idx="0">
                  <c:v>14.189655</c:v>
                </c:pt>
                <c:pt idx="1">
                  <c:v>13.637931</c:v>
                </c:pt>
              </c:numCache>
            </c:numRef>
          </c:xVal>
          <c:yVal>
            <c:numRef>
              <c:f>'Chart Data'!$BR$2:$BR$3</c:f>
              <c:numCache>
                <c:formatCode>0.##</c:formatCode>
                <c:ptCount val="2"/>
                <c:pt idx="0">
                  <c:v>50</c:v>
                </c:pt>
                <c:pt idx="1">
                  <c:v>50</c:v>
                </c:pt>
              </c:numCache>
            </c:numRef>
          </c:yVal>
          <c:smooth val="1"/>
          <c:extLst>
            <c:ext xmlns:c16="http://schemas.microsoft.com/office/drawing/2014/chart" uri="{C3380CC4-5D6E-409C-BE32-E72D297353CC}">
              <c16:uniqueId val="{00000022-6823-4FAB-9D8D-CE3A6E467B89}"/>
            </c:ext>
          </c:extLst>
        </c:ser>
        <c:ser>
          <c:idx val="35"/>
          <c:order val="35"/>
          <c:tx>
            <c:v>Median reading horizontal guide 22</c:v>
          </c:tx>
          <c:spPr>
            <a:ln w="22860">
              <a:solidFill>
                <a:srgbClr val="111111"/>
              </a:solidFill>
              <a:prstDash val="solid"/>
            </a:ln>
          </c:spPr>
          <c:marker>
            <c:symbol val="none"/>
          </c:marker>
          <c:xVal>
            <c:numRef>
              <c:f>'Chart Data'!$BS$2:$BS$3</c:f>
              <c:numCache>
                <c:formatCode>0.##</c:formatCode>
                <c:ptCount val="2"/>
                <c:pt idx="0">
                  <c:v>13.224138</c:v>
                </c:pt>
                <c:pt idx="1">
                  <c:v>12.672414</c:v>
                </c:pt>
              </c:numCache>
            </c:numRef>
          </c:xVal>
          <c:yVal>
            <c:numRef>
              <c:f>'Chart Data'!$BT$2:$BT$3</c:f>
              <c:numCache>
                <c:formatCode>0.##</c:formatCode>
                <c:ptCount val="2"/>
                <c:pt idx="0">
                  <c:v>50</c:v>
                </c:pt>
                <c:pt idx="1">
                  <c:v>50</c:v>
                </c:pt>
              </c:numCache>
            </c:numRef>
          </c:yVal>
          <c:smooth val="1"/>
          <c:extLst>
            <c:ext xmlns:c16="http://schemas.microsoft.com/office/drawing/2014/chart" uri="{C3380CC4-5D6E-409C-BE32-E72D297353CC}">
              <c16:uniqueId val="{00000023-6823-4FAB-9D8D-CE3A6E467B89}"/>
            </c:ext>
          </c:extLst>
        </c:ser>
        <c:ser>
          <c:idx val="36"/>
          <c:order val="36"/>
          <c:tx>
            <c:v>Median reading horizontal guide 23</c:v>
          </c:tx>
          <c:spPr>
            <a:ln w="22860">
              <a:solidFill>
                <a:srgbClr val="111111"/>
              </a:solidFill>
              <a:prstDash val="solid"/>
            </a:ln>
          </c:spPr>
          <c:marker>
            <c:symbol val="none"/>
          </c:marker>
          <c:xVal>
            <c:numRef>
              <c:f>'Chart Data'!$BU$2:$BU$3</c:f>
              <c:numCache>
                <c:formatCode>0.##</c:formatCode>
                <c:ptCount val="2"/>
                <c:pt idx="0">
                  <c:v>12.258621</c:v>
                </c:pt>
                <c:pt idx="1">
                  <c:v>11.706897</c:v>
                </c:pt>
              </c:numCache>
            </c:numRef>
          </c:xVal>
          <c:yVal>
            <c:numRef>
              <c:f>'Chart Data'!$BV$2:$BV$3</c:f>
              <c:numCache>
                <c:formatCode>0.##</c:formatCode>
                <c:ptCount val="2"/>
                <c:pt idx="0">
                  <c:v>50</c:v>
                </c:pt>
                <c:pt idx="1">
                  <c:v>50</c:v>
                </c:pt>
              </c:numCache>
            </c:numRef>
          </c:yVal>
          <c:smooth val="1"/>
          <c:extLst>
            <c:ext xmlns:c16="http://schemas.microsoft.com/office/drawing/2014/chart" uri="{C3380CC4-5D6E-409C-BE32-E72D297353CC}">
              <c16:uniqueId val="{00000024-6823-4FAB-9D8D-CE3A6E467B89}"/>
            </c:ext>
          </c:extLst>
        </c:ser>
        <c:ser>
          <c:idx val="37"/>
          <c:order val="37"/>
          <c:tx>
            <c:v>Median reading horizontal guide 24</c:v>
          </c:tx>
          <c:spPr>
            <a:ln w="22860">
              <a:solidFill>
                <a:srgbClr val="111111"/>
              </a:solidFill>
              <a:prstDash val="solid"/>
            </a:ln>
          </c:spPr>
          <c:marker>
            <c:symbol val="none"/>
          </c:marker>
          <c:xVal>
            <c:numRef>
              <c:f>'Chart Data'!$BW$2:$BW$3</c:f>
              <c:numCache>
                <c:formatCode>0.##</c:formatCode>
                <c:ptCount val="2"/>
                <c:pt idx="0">
                  <c:v>11.293103</c:v>
                </c:pt>
                <c:pt idx="1">
                  <c:v>10.741379</c:v>
                </c:pt>
              </c:numCache>
            </c:numRef>
          </c:xVal>
          <c:yVal>
            <c:numRef>
              <c:f>'Chart Data'!$BX$2:$BX$3</c:f>
              <c:numCache>
                <c:formatCode>0.##</c:formatCode>
                <c:ptCount val="2"/>
                <c:pt idx="0">
                  <c:v>50</c:v>
                </c:pt>
                <c:pt idx="1">
                  <c:v>50</c:v>
                </c:pt>
              </c:numCache>
            </c:numRef>
          </c:yVal>
          <c:smooth val="1"/>
          <c:extLst>
            <c:ext xmlns:c16="http://schemas.microsoft.com/office/drawing/2014/chart" uri="{C3380CC4-5D6E-409C-BE32-E72D297353CC}">
              <c16:uniqueId val="{00000025-6823-4FAB-9D8D-CE3A6E467B89}"/>
            </c:ext>
          </c:extLst>
        </c:ser>
        <c:ser>
          <c:idx val="38"/>
          <c:order val="38"/>
          <c:tx>
            <c:v>Median reading horizontal guide 25</c:v>
          </c:tx>
          <c:spPr>
            <a:ln w="22860">
              <a:solidFill>
                <a:srgbClr val="111111"/>
              </a:solidFill>
              <a:prstDash val="solid"/>
            </a:ln>
          </c:spPr>
          <c:marker>
            <c:symbol val="none"/>
          </c:marker>
          <c:xVal>
            <c:numRef>
              <c:f>'Chart Data'!$BY$2:$BY$3</c:f>
              <c:numCache>
                <c:formatCode>0.##</c:formatCode>
                <c:ptCount val="2"/>
                <c:pt idx="0">
                  <c:v>10.327586</c:v>
                </c:pt>
                <c:pt idx="1">
                  <c:v>10</c:v>
                </c:pt>
              </c:numCache>
            </c:numRef>
          </c:xVal>
          <c:yVal>
            <c:numRef>
              <c:f>'Chart Data'!$BZ$2:$BZ$3</c:f>
              <c:numCache>
                <c:formatCode>0.##</c:formatCode>
                <c:ptCount val="2"/>
                <c:pt idx="0">
                  <c:v>50</c:v>
                </c:pt>
                <c:pt idx="1">
                  <c:v>50</c:v>
                </c:pt>
              </c:numCache>
            </c:numRef>
          </c:yVal>
          <c:smooth val="1"/>
          <c:extLst>
            <c:ext xmlns:c16="http://schemas.microsoft.com/office/drawing/2014/chart" uri="{C3380CC4-5D6E-409C-BE32-E72D297353CC}">
              <c16:uniqueId val="{00000026-6823-4FAB-9D8D-CE3A6E467B89}"/>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6668">
              <a:solidFill>
                <a:srgbClr val="D0D8DD"/>
              </a:solidFill>
              <a:prstDash val="solid"/>
            </a:ln>
          </c:spPr>
        </c:majorGridlines>
        <c:title>
          <c:tx>
            <c:rich>
              <a:bodyPr/>
              <a:lstStyle/>
              <a:p>
                <a:r>
                  <a:rPr lang="en-US" sz="1650">
                    <a:solidFill>
                      <a:srgbClr val="111111"/>
                    </a:solidFill>
                    <a:latin typeface="Aptos"/>
                    <a:ea typeface="Aptos"/>
                    <a:cs typeface="Aptos"/>
                  </a:rPr>
                  <a:t>Cumulative %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25"/>
      </c:valAx>
      <c:valAx>
        <c:axId val="48650112"/>
        <c:scaling>
          <c:orientation val="minMax"/>
          <c:max val="50"/>
          <c:min val="10"/>
        </c:scaling>
        <c:delete val="0"/>
        <c:axPos val="b"/>
        <c:title>
          <c:tx>
            <c:rich>
              <a:bodyPr/>
              <a:lstStyle/>
              <a:p>
                <a:r>
                  <a:rPr lang="en-US" sz="1650">
                    <a:solidFill>
                      <a:srgbClr val="111111"/>
                    </a:solidFill>
                    <a:latin typeface="Aptos"/>
                    <a:ea typeface="Aptos"/>
                    <a:cs typeface="Aptos"/>
                  </a:rPr>
                  <a:t>Sign-ups per session (X)</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10"/>
      </c:valAx>
      <c:spPr>
        <a:noFill/>
        <a:ln w="0">
          <a:noFill/>
        </a:ln>
      </c:spPr>
    </c:plotArea>
    <c:plotVisOnly val="1"/>
    <c:dispBlanksAs val="zero"/>
    <c:showDLblsOverMax val="1"/>
  </c:chart>
  <c:spPr>
    <a:noFill/>
    <a:ln w="0">
      <a:noFill/>
    </a:ln>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Ogive segment 1</c:v>
          </c:tx>
          <c:spPr>
            <a:ln w="28575">
              <a:solidFill>
                <a:srgbClr val="D6171D"/>
              </a:solidFill>
              <a:prstDash val="solid"/>
            </a:ln>
          </c:spPr>
          <c:marker>
            <c:symbol val="none"/>
          </c:marker>
          <c:xVal>
            <c:numRef>
              <c:f>'Chart Data'!$A$2:$A$3</c:f>
              <c:numCache>
                <c:formatCode>0.##</c:formatCode>
                <c:ptCount val="2"/>
                <c:pt idx="0">
                  <c:v>10</c:v>
                </c:pt>
                <c:pt idx="1">
                  <c:v>20</c:v>
                </c:pt>
              </c:numCache>
            </c:numRef>
          </c:xVal>
          <c:yVal>
            <c:numRef>
              <c:f>'Chart Data'!$B$2:$B$3</c:f>
              <c:numCache>
                <c:formatCode>0.##</c:formatCode>
                <c:ptCount val="2"/>
                <c:pt idx="0">
                  <c:v>0</c:v>
                </c:pt>
                <c:pt idx="1">
                  <c:v>20</c:v>
                </c:pt>
              </c:numCache>
            </c:numRef>
          </c:yVal>
          <c:smooth val="1"/>
          <c:extLst>
            <c:ext xmlns:c16="http://schemas.microsoft.com/office/drawing/2014/chart" uri="{C3380CC4-5D6E-409C-BE32-E72D297353CC}">
              <c16:uniqueId val="{00000000-2445-465E-ADD4-D7BA0F1D34B8}"/>
            </c:ext>
          </c:extLst>
        </c:ser>
        <c:ser>
          <c:idx val="1"/>
          <c:order val="1"/>
          <c:tx>
            <c:v>Ogive segment 2</c:v>
          </c:tx>
          <c:spPr>
            <a:ln w="28575">
              <a:solidFill>
                <a:srgbClr val="D6171D"/>
              </a:solidFill>
              <a:prstDash val="solid"/>
            </a:ln>
          </c:spPr>
          <c:marker>
            <c:symbol val="none"/>
          </c:marker>
          <c:xVal>
            <c:numRef>
              <c:f>'Chart Data'!$C$2:$C$3</c:f>
              <c:numCache>
                <c:formatCode>0.##</c:formatCode>
                <c:ptCount val="2"/>
                <c:pt idx="0">
                  <c:v>20</c:v>
                </c:pt>
                <c:pt idx="1">
                  <c:v>30</c:v>
                </c:pt>
              </c:numCache>
            </c:numRef>
          </c:xVal>
          <c:yVal>
            <c:numRef>
              <c:f>'Chart Data'!$D$2:$D$3</c:f>
              <c:numCache>
                <c:formatCode>0.##</c:formatCode>
                <c:ptCount val="2"/>
                <c:pt idx="0">
                  <c:v>20</c:v>
                </c:pt>
                <c:pt idx="1">
                  <c:v>60</c:v>
                </c:pt>
              </c:numCache>
            </c:numRef>
          </c:yVal>
          <c:smooth val="1"/>
          <c:extLst>
            <c:ext xmlns:c16="http://schemas.microsoft.com/office/drawing/2014/chart" uri="{C3380CC4-5D6E-409C-BE32-E72D297353CC}">
              <c16:uniqueId val="{00000001-2445-465E-ADD4-D7BA0F1D34B8}"/>
            </c:ext>
          </c:extLst>
        </c:ser>
        <c:ser>
          <c:idx val="2"/>
          <c:order val="2"/>
          <c:tx>
            <c:v>Ogive segment 3</c:v>
          </c:tx>
          <c:spPr>
            <a:ln w="28575">
              <a:solidFill>
                <a:srgbClr val="D6171D"/>
              </a:solidFill>
              <a:prstDash val="solid"/>
            </a:ln>
          </c:spPr>
          <c:marker>
            <c:symbol val="none"/>
          </c:marker>
          <c:xVal>
            <c:numRef>
              <c:f>'Chart Data'!$E$2:$E$3</c:f>
              <c:numCache>
                <c:formatCode>0.##</c:formatCode>
                <c:ptCount val="2"/>
                <c:pt idx="0">
                  <c:v>30</c:v>
                </c:pt>
                <c:pt idx="1">
                  <c:v>40</c:v>
                </c:pt>
              </c:numCache>
            </c:numRef>
          </c:xVal>
          <c:yVal>
            <c:numRef>
              <c:f>'Chart Data'!$F$2:$F$3</c:f>
              <c:numCache>
                <c:formatCode>0.##</c:formatCode>
                <c:ptCount val="2"/>
                <c:pt idx="0">
                  <c:v>60</c:v>
                </c:pt>
                <c:pt idx="1">
                  <c:v>90</c:v>
                </c:pt>
              </c:numCache>
            </c:numRef>
          </c:yVal>
          <c:smooth val="1"/>
          <c:extLst>
            <c:ext xmlns:c16="http://schemas.microsoft.com/office/drawing/2014/chart" uri="{C3380CC4-5D6E-409C-BE32-E72D297353CC}">
              <c16:uniqueId val="{00000002-2445-465E-ADD4-D7BA0F1D34B8}"/>
            </c:ext>
          </c:extLst>
        </c:ser>
        <c:ser>
          <c:idx val="3"/>
          <c:order val="3"/>
          <c:tx>
            <c:v>Ogive segment 4</c:v>
          </c:tx>
          <c:spPr>
            <a:ln w="28575">
              <a:solidFill>
                <a:srgbClr val="D6171D"/>
              </a:solidFill>
              <a:prstDash val="solid"/>
            </a:ln>
          </c:spPr>
          <c:marker>
            <c:symbol val="none"/>
          </c:marker>
          <c:xVal>
            <c:numRef>
              <c:f>'Chart Data'!$G$2:$G$3</c:f>
              <c:numCache>
                <c:formatCode>0.##</c:formatCode>
                <c:ptCount val="2"/>
                <c:pt idx="0">
                  <c:v>40</c:v>
                </c:pt>
                <c:pt idx="1">
                  <c:v>50</c:v>
                </c:pt>
              </c:numCache>
            </c:numRef>
          </c:xVal>
          <c:yVal>
            <c:numRef>
              <c:f>'Chart Data'!$H$2:$H$3</c:f>
              <c:numCache>
                <c:formatCode>0.##</c:formatCode>
                <c:ptCount val="2"/>
                <c:pt idx="0">
                  <c:v>90</c:v>
                </c:pt>
                <c:pt idx="1">
                  <c:v>100</c:v>
                </c:pt>
              </c:numCache>
            </c:numRef>
          </c:yVal>
          <c:smooth val="1"/>
          <c:extLst>
            <c:ext xmlns:c16="http://schemas.microsoft.com/office/drawing/2014/chart" uri="{C3380CC4-5D6E-409C-BE32-E72D297353CC}">
              <c16:uniqueId val="{00000003-2445-465E-ADD4-D7BA0F1D34B8}"/>
            </c:ext>
          </c:extLst>
        </c:ser>
        <c:ser>
          <c:idx val="4"/>
          <c:order val="4"/>
          <c:tx>
            <c:v>Ogive boundary points</c:v>
          </c:tx>
          <c:spPr>
            <a:ln w="0">
              <a:noFill/>
            </a:ln>
          </c:spPr>
          <c:marker>
            <c:symbol val="circle"/>
            <c:size val="7"/>
            <c:spPr>
              <a:noFill/>
            </c:spPr>
          </c:marker>
          <c:xVal>
            <c:numRef>
              <c:f>'Chart Data'!$I$2:$I$6</c:f>
              <c:numCache>
                <c:formatCode>0.##</c:formatCode>
                <c:ptCount val="5"/>
                <c:pt idx="0">
                  <c:v>10</c:v>
                </c:pt>
                <c:pt idx="1">
                  <c:v>20</c:v>
                </c:pt>
                <c:pt idx="2">
                  <c:v>30</c:v>
                </c:pt>
                <c:pt idx="3">
                  <c:v>40</c:v>
                </c:pt>
                <c:pt idx="4">
                  <c:v>50</c:v>
                </c:pt>
              </c:numCache>
            </c:numRef>
          </c:xVal>
          <c:yVal>
            <c:numRef>
              <c:f>'Chart Data'!$J$2:$J$6</c:f>
              <c:numCache>
                <c:formatCode>0.##</c:formatCode>
                <c:ptCount val="5"/>
                <c:pt idx="0">
                  <c:v>0</c:v>
                </c:pt>
                <c:pt idx="1">
                  <c:v>20</c:v>
                </c:pt>
                <c:pt idx="2">
                  <c:v>60</c:v>
                </c:pt>
                <c:pt idx="3">
                  <c:v>90</c:v>
                </c:pt>
                <c:pt idx="4">
                  <c:v>100</c:v>
                </c:pt>
              </c:numCache>
            </c:numRef>
          </c:yVal>
          <c:smooth val="1"/>
          <c:extLst>
            <c:ext xmlns:c16="http://schemas.microsoft.com/office/drawing/2014/chart" uri="{C3380CC4-5D6E-409C-BE32-E72D297353CC}">
              <c16:uniqueId val="{00000004-2445-465E-ADD4-D7BA0F1D34B8}"/>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6668">
              <a:solidFill>
                <a:srgbClr val="D0D8DD"/>
              </a:solidFill>
              <a:prstDash val="solid"/>
            </a:ln>
          </c:spPr>
        </c:majorGridlines>
        <c:title>
          <c:tx>
            <c:rich>
              <a:bodyPr/>
              <a:lstStyle/>
              <a:p>
                <a:r>
                  <a:rPr sz="1650">
                    <a:solidFill>
                      <a:srgbClr val="111111"/>
                    </a:solidFill>
                    <a:latin typeface="Aptos"/>
                    <a:ea typeface="Aptos"/>
                    <a:cs typeface="Aptos"/>
                  </a:rPr>
                  <a:t>Cumulative %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25"/>
      </c:valAx>
      <c:valAx>
        <c:axId val="48650112"/>
        <c:scaling>
          <c:orientation val="minMax"/>
          <c:max val="50"/>
          <c:min val="10"/>
        </c:scaling>
        <c:delete val="0"/>
        <c:axPos val="b"/>
        <c:title>
          <c:tx>
            <c:rich>
              <a:bodyPr/>
              <a:lstStyle/>
              <a:p>
                <a:r>
                  <a:rPr sz="1650">
                    <a:solidFill>
                      <a:srgbClr val="111111"/>
                    </a:solidFill>
                    <a:latin typeface="Aptos"/>
                    <a:ea typeface="Aptos"/>
                    <a:cs typeface="Aptos"/>
                  </a:rPr>
                  <a:t>Sign-ups per session (X)</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10"/>
      </c:valAx>
      <c:spPr>
        <a:noFill/>
        <a:ln w="0">
          <a:noFill/>
        </a:ln>
      </c:spPr>
    </c:plotArea>
    <c:plotVisOnly val="1"/>
    <c:dispBlanksAs val="zero"/>
    <c:showDLblsOverMax val="1"/>
  </c:chart>
  <c:spPr>
    <a:noFill/>
    <a:ln w="0">
      <a:noFill/>
    </a:ln>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Café days</c:v>
          </c:tx>
          <c:spPr>
            <a:ln w="0">
              <a:noFill/>
            </a:ln>
          </c:spPr>
          <c:marker>
            <c:symbol val="circle"/>
            <c:size val="8"/>
            <c:spPr>
              <a:noFill/>
            </c:spPr>
          </c:marker>
          <c:xVal>
            <c:numRef>
              <c:f>'Chart Data'!$A$2:$A$6</c:f>
              <c:numCache>
                <c:formatCode>0.##</c:formatCode>
                <c:ptCount val="5"/>
                <c:pt idx="0">
                  <c:v>40</c:v>
                </c:pt>
                <c:pt idx="1">
                  <c:v>60</c:v>
                </c:pt>
                <c:pt idx="2">
                  <c:v>80</c:v>
                </c:pt>
                <c:pt idx="3">
                  <c:v>100</c:v>
                </c:pt>
                <c:pt idx="4">
                  <c:v>120</c:v>
                </c:pt>
              </c:numCache>
            </c:numRef>
          </c:xVal>
          <c:yVal>
            <c:numRef>
              <c:f>'Chart Data'!$B$2:$B$6</c:f>
              <c:numCache>
                <c:formatCode>0.##</c:formatCode>
                <c:ptCount val="5"/>
                <c:pt idx="0">
                  <c:v>25</c:v>
                </c:pt>
                <c:pt idx="1">
                  <c:v>40</c:v>
                </c:pt>
                <c:pt idx="2">
                  <c:v>45</c:v>
                </c:pt>
                <c:pt idx="3">
                  <c:v>65</c:v>
                </c:pt>
                <c:pt idx="4">
                  <c:v>70</c:v>
                </c:pt>
              </c:numCache>
            </c:numRef>
          </c:yVal>
          <c:smooth val="1"/>
          <c:extLst>
            <c:ext xmlns:c16="http://schemas.microsoft.com/office/drawing/2014/chart" uri="{C3380CC4-5D6E-409C-BE32-E72D297353CC}">
              <c16:uniqueId val="{00000000-71A4-418E-B1B8-C7BD537C5C07}"/>
            </c:ext>
          </c:extLst>
        </c:ser>
        <c:dLbls>
          <c:showLegendKey val="0"/>
          <c:showVal val="0"/>
          <c:showCatName val="0"/>
          <c:showSerName val="0"/>
          <c:showPercent val="0"/>
          <c:showBubbleSize val="0"/>
        </c:dLbls>
        <c:axId val="48650112"/>
        <c:axId val="48672768"/>
      </c:scatterChart>
      <c:valAx>
        <c:axId val="48672768"/>
        <c:scaling>
          <c:orientation val="minMax"/>
          <c:max val="80"/>
          <c:min val="0"/>
        </c:scaling>
        <c:delete val="0"/>
        <c:axPos val="l"/>
        <c:majorGridlines>
          <c:spPr>
            <a:ln w="6668">
              <a:solidFill>
                <a:srgbClr val="D0D8DD"/>
              </a:solidFill>
            </a:ln>
          </c:spPr>
        </c:majorGridlines>
        <c:title>
          <c:tx>
            <c:rich>
              <a:bodyPr/>
              <a:lstStyle/>
              <a:p>
                <a:r>
                  <a:rPr sz="1650">
                    <a:solidFill>
                      <a:srgbClr val="111111"/>
                    </a:solidFill>
                    <a:latin typeface="Aptos"/>
                    <a:ea typeface="Aptos"/>
                    <a:cs typeface="Aptos"/>
                  </a:rPr>
                  <a:t>Cups sold per day</a:t>
                </a:r>
              </a:p>
            </c:rich>
          </c:tx>
          <c:overlay val="0"/>
        </c:title>
        <c:numFmt formatCode="0.##" sourceLinked="1"/>
        <c:majorTickMark val="none"/>
        <c:minorTickMark val="none"/>
        <c:tickLblPos val="nextTo"/>
        <c:spPr>
          <a:ln w="13335">
            <a:solidFill>
              <a:srgbClr val="111111"/>
            </a:solidFill>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20"/>
      </c:valAx>
      <c:valAx>
        <c:axId val="48650112"/>
        <c:scaling>
          <c:orientation val="minMax"/>
          <c:max val="140"/>
          <c:min val="0"/>
        </c:scaling>
        <c:delete val="0"/>
        <c:axPos val="b"/>
        <c:majorGridlines>
          <c:spPr>
            <a:ln w="6191">
              <a:solidFill>
                <a:srgbClr val="D0D8DD"/>
              </a:solidFill>
            </a:ln>
          </c:spPr>
        </c:majorGridlines>
        <c:title>
          <c:tx>
            <c:rich>
              <a:bodyPr/>
              <a:lstStyle/>
              <a:p>
                <a:r>
                  <a:rPr sz="1650">
                    <a:solidFill>
                      <a:srgbClr val="111111"/>
                    </a:solidFill>
                    <a:latin typeface="Aptos"/>
                    <a:ea typeface="Aptos"/>
                    <a:cs typeface="Aptos"/>
                  </a:rPr>
                  <a:t>Visitors per day</a:t>
                </a:r>
              </a:p>
            </c:rich>
          </c:tx>
          <c:overlay val="0"/>
        </c:title>
        <c:numFmt formatCode="0.##" sourceLinked="1"/>
        <c:majorTickMark val="none"/>
        <c:minorTickMark val="none"/>
        <c:tickLblPos val="nextTo"/>
        <c:spPr>
          <a:ln w="13335">
            <a:solidFill>
              <a:srgbClr val="111111"/>
            </a:solidFill>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20"/>
      </c:valAx>
      <c:spPr>
        <a:noFill/>
        <a:ln w="0">
          <a:noFill/>
        </a:ln>
      </c:spPr>
    </c:plotArea>
    <c:plotVisOnly val="1"/>
    <c:dispBlanksAs val="zero"/>
    <c:showDLblsOverMax val="1"/>
  </c:chart>
  <c:spPr>
    <a:noFill/>
    <a:ln w="0">
      <a:noFill/>
    </a:ln>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Positive</c:v>
          </c:tx>
          <c:spPr>
            <a:ln w="0">
              <a:noFill/>
            </a:ln>
          </c:spPr>
          <c:marker>
            <c:symbol val="circle"/>
            <c:size val="8"/>
            <c:spPr>
              <a:noFill/>
            </c:spPr>
          </c:marker>
          <c:xVal>
            <c:numRef>
              <c:f>'Chart Data'!$A$2:$A$6</c:f>
              <c:numCache>
                <c:formatCode>0.##</c:formatCode>
                <c:ptCount val="5"/>
                <c:pt idx="0">
                  <c:v>1</c:v>
                </c:pt>
                <c:pt idx="1">
                  <c:v>2</c:v>
                </c:pt>
                <c:pt idx="2">
                  <c:v>3</c:v>
                </c:pt>
                <c:pt idx="3">
                  <c:v>4</c:v>
                </c:pt>
                <c:pt idx="4">
                  <c:v>5</c:v>
                </c:pt>
              </c:numCache>
            </c:numRef>
          </c:xVal>
          <c:yVal>
            <c:numRef>
              <c:f>'Chart Data'!$B$2:$B$6</c:f>
              <c:numCache>
                <c:formatCode>0.##</c:formatCode>
                <c:ptCount val="5"/>
                <c:pt idx="0">
                  <c:v>1</c:v>
                </c:pt>
                <c:pt idx="1">
                  <c:v>3</c:v>
                </c:pt>
                <c:pt idx="2">
                  <c:v>2</c:v>
                </c:pt>
                <c:pt idx="3">
                  <c:v>4</c:v>
                </c:pt>
                <c:pt idx="4">
                  <c:v>5</c:v>
                </c:pt>
              </c:numCache>
            </c:numRef>
          </c:yVal>
          <c:smooth val="1"/>
          <c:extLst>
            <c:ext xmlns:c16="http://schemas.microsoft.com/office/drawing/2014/chart" uri="{C3380CC4-5D6E-409C-BE32-E72D297353CC}">
              <c16:uniqueId val="{00000000-FFC9-4E5C-A46D-C4D944B954DE}"/>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6668">
              <a:solidFill>
                <a:srgbClr val="D0D8DD"/>
              </a:solidFill>
            </a:ln>
          </c:spPr>
        </c:majorGridlines>
        <c:title>
          <c:tx>
            <c:rich>
              <a:bodyPr/>
              <a:lstStyle/>
              <a:p>
                <a:r>
                  <a:rPr sz="1500">
                    <a:solidFill>
                      <a:srgbClr val="111111"/>
                    </a:solidFill>
                    <a:latin typeface="Aptos"/>
                    <a:ea typeface="Aptos"/>
                    <a:cs typeface="Aptos"/>
                  </a:rPr>
                  <a:t>y</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50112"/>
        <c:crosses val="autoZero"/>
        <c:crossBetween val="midCat"/>
        <c:majorUnit val="2"/>
      </c:valAx>
      <c:valAx>
        <c:axId val="48650112"/>
        <c:scaling>
          <c:orientation val="minMax"/>
          <c:max val="6"/>
          <c:min val="0"/>
        </c:scaling>
        <c:delete val="0"/>
        <c:axPos val="b"/>
        <c:majorGridlines>
          <c:spPr>
            <a:ln w="6191">
              <a:solidFill>
                <a:srgbClr val="D0D8DD"/>
              </a:solidFill>
            </a:ln>
          </c:spPr>
        </c:majorGridlines>
        <c:title>
          <c:tx>
            <c:rich>
              <a:bodyPr/>
              <a:lstStyle/>
              <a:p>
                <a:r>
                  <a:rPr sz="1500">
                    <a:solidFill>
                      <a:srgbClr val="111111"/>
                    </a:solidFill>
                    <a:latin typeface="Aptos"/>
                    <a:ea typeface="Aptos"/>
                    <a:cs typeface="Aptos"/>
                  </a:rPr>
                  <a:t>x</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72768"/>
        <c:crosses val="autoZero"/>
        <c:crossBetween val="midCat"/>
        <c:majorUnit val="2"/>
      </c:valAx>
      <c:spPr>
        <a:noFill/>
        <a:ln w="0">
          <a:noFill/>
        </a:ln>
      </c:spPr>
    </c:plotArea>
    <c:plotVisOnly val="1"/>
    <c:dispBlanksAs val="zero"/>
    <c:showDLblsOverMax val="1"/>
  </c:chart>
  <c:spPr>
    <a:noFill/>
    <a:ln w="0">
      <a:noFill/>
    </a:ln>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Negative</c:v>
          </c:tx>
          <c:spPr>
            <a:ln w="0">
              <a:noFill/>
            </a:ln>
          </c:spPr>
          <c:marker>
            <c:symbol val="circle"/>
            <c:size val="8"/>
            <c:spPr>
              <a:noFill/>
            </c:spPr>
          </c:marker>
          <c:xVal>
            <c:numRef>
              <c:f>'Chart Data'!$A$2:$A$6</c:f>
              <c:numCache>
                <c:formatCode>0.##</c:formatCode>
                <c:ptCount val="5"/>
                <c:pt idx="0">
                  <c:v>1</c:v>
                </c:pt>
                <c:pt idx="1">
                  <c:v>2</c:v>
                </c:pt>
                <c:pt idx="2">
                  <c:v>3</c:v>
                </c:pt>
                <c:pt idx="3">
                  <c:v>4</c:v>
                </c:pt>
                <c:pt idx="4">
                  <c:v>5</c:v>
                </c:pt>
              </c:numCache>
            </c:numRef>
          </c:xVal>
          <c:yVal>
            <c:numRef>
              <c:f>'Chart Data'!$B$2:$B$6</c:f>
              <c:numCache>
                <c:formatCode>0.##</c:formatCode>
                <c:ptCount val="5"/>
                <c:pt idx="0">
                  <c:v>5</c:v>
                </c:pt>
                <c:pt idx="1">
                  <c:v>3</c:v>
                </c:pt>
                <c:pt idx="2">
                  <c:v>4</c:v>
                </c:pt>
                <c:pt idx="3">
                  <c:v>2</c:v>
                </c:pt>
                <c:pt idx="4">
                  <c:v>1</c:v>
                </c:pt>
              </c:numCache>
            </c:numRef>
          </c:yVal>
          <c:smooth val="1"/>
          <c:extLst>
            <c:ext xmlns:c16="http://schemas.microsoft.com/office/drawing/2014/chart" uri="{C3380CC4-5D6E-409C-BE32-E72D297353CC}">
              <c16:uniqueId val="{00000000-301C-43E4-A5B6-48B1237D2A93}"/>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6668">
              <a:solidFill>
                <a:srgbClr val="D0D8DD"/>
              </a:solidFill>
            </a:ln>
          </c:spPr>
        </c:majorGridlines>
        <c:title>
          <c:tx>
            <c:rich>
              <a:bodyPr/>
              <a:lstStyle/>
              <a:p>
                <a:r>
                  <a:rPr sz="1500">
                    <a:solidFill>
                      <a:srgbClr val="111111"/>
                    </a:solidFill>
                    <a:latin typeface="Aptos"/>
                    <a:ea typeface="Aptos"/>
                    <a:cs typeface="Aptos"/>
                  </a:rPr>
                  <a:t>y</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50112"/>
        <c:crosses val="autoZero"/>
        <c:crossBetween val="midCat"/>
        <c:majorUnit val="2"/>
      </c:valAx>
      <c:valAx>
        <c:axId val="48650112"/>
        <c:scaling>
          <c:orientation val="minMax"/>
          <c:max val="6"/>
          <c:min val="0"/>
        </c:scaling>
        <c:delete val="0"/>
        <c:axPos val="b"/>
        <c:majorGridlines>
          <c:spPr>
            <a:ln w="6191">
              <a:solidFill>
                <a:srgbClr val="D0D8DD"/>
              </a:solidFill>
            </a:ln>
          </c:spPr>
        </c:majorGridlines>
        <c:title>
          <c:tx>
            <c:rich>
              <a:bodyPr/>
              <a:lstStyle/>
              <a:p>
                <a:r>
                  <a:rPr sz="1500">
                    <a:solidFill>
                      <a:srgbClr val="111111"/>
                    </a:solidFill>
                    <a:latin typeface="Aptos"/>
                    <a:ea typeface="Aptos"/>
                    <a:cs typeface="Aptos"/>
                  </a:rPr>
                  <a:t>x</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72768"/>
        <c:crosses val="autoZero"/>
        <c:crossBetween val="midCat"/>
        <c:majorUnit val="2"/>
      </c:valAx>
      <c:spPr>
        <a:noFill/>
        <a:ln w="0">
          <a:noFill/>
        </a:ln>
      </c:spPr>
    </c:plotArea>
    <c:plotVisOnly val="1"/>
    <c:dispBlanksAs val="zero"/>
    <c:showDLblsOverMax val="1"/>
  </c:chart>
  <c:spPr>
    <a:noFill/>
    <a:ln w="0">
      <a:noFill/>
    </a:ln>
  </c:sp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No clear pattern</c:v>
          </c:tx>
          <c:spPr>
            <a:ln w="0">
              <a:noFill/>
            </a:ln>
          </c:spPr>
          <c:marker>
            <c:symbol val="circle"/>
            <c:size val="8"/>
            <c:spPr>
              <a:noFill/>
            </c:spPr>
          </c:marker>
          <c:xVal>
            <c:numRef>
              <c:f>'Chart Data'!$A$2:$A$6</c:f>
              <c:numCache>
                <c:formatCode>0.##</c:formatCode>
                <c:ptCount val="5"/>
                <c:pt idx="0">
                  <c:v>1</c:v>
                </c:pt>
                <c:pt idx="1">
                  <c:v>2</c:v>
                </c:pt>
                <c:pt idx="2">
                  <c:v>3</c:v>
                </c:pt>
                <c:pt idx="3">
                  <c:v>4</c:v>
                </c:pt>
                <c:pt idx="4">
                  <c:v>5</c:v>
                </c:pt>
              </c:numCache>
            </c:numRef>
          </c:xVal>
          <c:yVal>
            <c:numRef>
              <c:f>'Chart Data'!$B$2:$B$6</c:f>
              <c:numCache>
                <c:formatCode>0.##</c:formatCode>
                <c:ptCount val="5"/>
                <c:pt idx="0">
                  <c:v>3</c:v>
                </c:pt>
                <c:pt idx="1">
                  <c:v>1</c:v>
                </c:pt>
                <c:pt idx="2">
                  <c:v>5</c:v>
                </c:pt>
                <c:pt idx="3">
                  <c:v>1</c:v>
                </c:pt>
                <c:pt idx="4">
                  <c:v>3</c:v>
                </c:pt>
              </c:numCache>
            </c:numRef>
          </c:yVal>
          <c:smooth val="1"/>
          <c:extLst>
            <c:ext xmlns:c16="http://schemas.microsoft.com/office/drawing/2014/chart" uri="{C3380CC4-5D6E-409C-BE32-E72D297353CC}">
              <c16:uniqueId val="{00000000-25F1-4FFC-AFD9-862C4A5DA9DD}"/>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6668">
              <a:solidFill>
                <a:srgbClr val="D0D8DD"/>
              </a:solidFill>
            </a:ln>
          </c:spPr>
        </c:majorGridlines>
        <c:title>
          <c:tx>
            <c:rich>
              <a:bodyPr/>
              <a:lstStyle/>
              <a:p>
                <a:r>
                  <a:rPr sz="1500">
                    <a:solidFill>
                      <a:srgbClr val="111111"/>
                    </a:solidFill>
                    <a:latin typeface="Aptos"/>
                    <a:ea typeface="Aptos"/>
                    <a:cs typeface="Aptos"/>
                  </a:rPr>
                  <a:t>y</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50112"/>
        <c:crosses val="autoZero"/>
        <c:crossBetween val="midCat"/>
        <c:majorUnit val="2"/>
      </c:valAx>
      <c:valAx>
        <c:axId val="48650112"/>
        <c:scaling>
          <c:orientation val="minMax"/>
          <c:max val="6"/>
          <c:min val="0"/>
        </c:scaling>
        <c:delete val="0"/>
        <c:axPos val="b"/>
        <c:majorGridlines>
          <c:spPr>
            <a:ln w="6191">
              <a:solidFill>
                <a:srgbClr val="D0D8DD"/>
              </a:solidFill>
            </a:ln>
          </c:spPr>
        </c:majorGridlines>
        <c:title>
          <c:tx>
            <c:rich>
              <a:bodyPr/>
              <a:lstStyle/>
              <a:p>
                <a:r>
                  <a:rPr sz="1500">
                    <a:solidFill>
                      <a:srgbClr val="111111"/>
                    </a:solidFill>
                    <a:latin typeface="Aptos"/>
                    <a:ea typeface="Aptos"/>
                    <a:cs typeface="Aptos"/>
                  </a:rPr>
                  <a:t>x</a:t>
                </a:r>
              </a:p>
            </c:rich>
          </c:tx>
          <c:overlay val="0"/>
        </c:title>
        <c:numFmt formatCode="0.##" sourceLinked="1"/>
        <c:majorTickMark val="none"/>
        <c:minorTickMark val="none"/>
        <c:tickLblPos val="nextTo"/>
        <c:spPr>
          <a:ln w="13335">
            <a:solidFill>
              <a:srgbClr val="111111"/>
            </a:solidFill>
          </a:ln>
        </c:spPr>
        <c:txPr>
          <a:bodyPr anchorCtr="1"/>
          <a:lstStyle/>
          <a:p>
            <a:pPr>
              <a:defRPr sz="1500">
                <a:solidFill>
                  <a:srgbClr val="111111"/>
                </a:solidFill>
                <a:latin typeface="Aptos"/>
                <a:ea typeface="Aptos"/>
                <a:cs typeface="Aptos"/>
              </a:defRPr>
            </a:pPr>
            <a:endParaRPr lang="en-US"/>
          </a:p>
        </c:txPr>
        <c:crossAx val="48672768"/>
        <c:crosses val="autoZero"/>
        <c:crossBetween val="midCat"/>
        <c:majorUnit val="2"/>
      </c:valAx>
      <c:spPr>
        <a:noFill/>
        <a:ln w="0">
          <a:noFill/>
        </a:ln>
      </c:spPr>
    </c:plotArea>
    <c:plotVisOnly val="1"/>
    <c:dispBlanksAs val="zero"/>
    <c:showDLblsOverMax val="1"/>
  </c:chart>
  <c:spPr>
    <a:noFill/>
    <a:ln w="0">
      <a:noFill/>
    </a:ln>
  </c:sp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Monthly observations</c:v>
          </c:tx>
          <c:spPr>
            <a:ln w="0">
              <a:noFill/>
            </a:ln>
          </c:spPr>
          <c:marker>
            <c:symbol val="circle"/>
            <c:size val="8"/>
            <c:spPr>
              <a:noFill/>
            </c:spPr>
          </c:marker>
          <c:xVal>
            <c:numRef>
              <c:f>'Chart Data'!$A$2:$A$6</c:f>
              <c:numCache>
                <c:formatCode>0.##</c:formatCode>
                <c:ptCount val="5"/>
                <c:pt idx="0">
                  <c:v>15</c:v>
                </c:pt>
                <c:pt idx="1">
                  <c:v>22.5</c:v>
                </c:pt>
                <c:pt idx="2">
                  <c:v>10.5</c:v>
                </c:pt>
                <c:pt idx="3">
                  <c:v>18</c:v>
                </c:pt>
                <c:pt idx="4">
                  <c:v>21</c:v>
                </c:pt>
              </c:numCache>
            </c:numRef>
          </c:xVal>
          <c:yVal>
            <c:numRef>
              <c:f>'Chart Data'!$B$2:$B$6</c:f>
              <c:numCache>
                <c:formatCode>0.##</c:formatCode>
                <c:ptCount val="5"/>
                <c:pt idx="0">
                  <c:v>150</c:v>
                </c:pt>
                <c:pt idx="1">
                  <c:v>300</c:v>
                </c:pt>
                <c:pt idx="2">
                  <c:v>120</c:v>
                </c:pt>
                <c:pt idx="3">
                  <c:v>180</c:v>
                </c:pt>
                <c:pt idx="4">
                  <c:v>225</c:v>
                </c:pt>
              </c:numCache>
            </c:numRef>
          </c:yVal>
          <c:smooth val="1"/>
          <c:extLst>
            <c:ext xmlns:c16="http://schemas.microsoft.com/office/drawing/2014/chart" uri="{C3380CC4-5D6E-409C-BE32-E72D297353CC}">
              <c16:uniqueId val="{00000000-D108-4883-838B-8ADF25612426}"/>
            </c:ext>
          </c:extLst>
        </c:ser>
        <c:dLbls>
          <c:showLegendKey val="0"/>
          <c:showVal val="0"/>
          <c:showCatName val="0"/>
          <c:showSerName val="0"/>
          <c:showPercent val="0"/>
          <c:showBubbleSize val="0"/>
        </c:dLbls>
        <c:axId val="48650112"/>
        <c:axId val="48672768"/>
      </c:scatterChart>
      <c:valAx>
        <c:axId val="48672768"/>
        <c:scaling>
          <c:orientation val="minMax"/>
          <c:max val="350"/>
          <c:min val="0"/>
        </c:scaling>
        <c:delete val="0"/>
        <c:axPos val="l"/>
        <c:majorGridlines>
          <c:spPr>
            <a:ln w="6668">
              <a:solidFill>
                <a:srgbClr val="D0D8DD"/>
              </a:solidFill>
            </a:ln>
          </c:spPr>
        </c:majorGridlines>
        <c:title>
          <c:tx>
            <c:rich>
              <a:bodyPr/>
              <a:lstStyle/>
              <a:p>
                <a:r>
                  <a:rPr sz="1650">
                    <a:solidFill>
                      <a:srgbClr val="111111"/>
                    </a:solidFill>
                    <a:latin typeface="Aptos"/>
                    <a:ea typeface="Aptos"/>
                    <a:cs typeface="Aptos"/>
                  </a:rPr>
                  <a:t>Sales (£ thousands)</a:t>
                </a:r>
              </a:p>
            </c:rich>
          </c:tx>
          <c:overlay val="0"/>
        </c:title>
        <c:numFmt formatCode="0.##" sourceLinked="1"/>
        <c:majorTickMark val="none"/>
        <c:minorTickMark val="none"/>
        <c:tickLblPos val="nextTo"/>
        <c:spPr>
          <a:ln w="13335">
            <a:solidFill>
              <a:srgbClr val="111111"/>
            </a:solidFill>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50"/>
      </c:valAx>
      <c:valAx>
        <c:axId val="48650112"/>
        <c:scaling>
          <c:orientation val="minMax"/>
          <c:max val="25"/>
          <c:min val="0"/>
        </c:scaling>
        <c:delete val="0"/>
        <c:axPos val="b"/>
        <c:majorGridlines>
          <c:spPr>
            <a:ln w="6191">
              <a:solidFill>
                <a:srgbClr val="D0D8DD"/>
              </a:solidFill>
            </a:ln>
          </c:spPr>
        </c:majorGridlines>
        <c:title>
          <c:tx>
            <c:rich>
              <a:bodyPr/>
              <a:lstStyle/>
              <a:p>
                <a:r>
                  <a:rPr sz="1650">
                    <a:solidFill>
                      <a:srgbClr val="111111"/>
                    </a:solidFill>
                    <a:latin typeface="Aptos"/>
                    <a:ea typeface="Aptos"/>
                    <a:cs typeface="Aptos"/>
                  </a:rPr>
                  <a:t>Advertising (£ thousands)</a:t>
                </a:r>
              </a:p>
            </c:rich>
          </c:tx>
          <c:overlay val="0"/>
        </c:title>
        <c:numFmt formatCode="0.##" sourceLinked="1"/>
        <c:majorTickMark val="none"/>
        <c:minorTickMark val="none"/>
        <c:tickLblPos val="nextTo"/>
        <c:spPr>
          <a:ln w="13335">
            <a:solidFill>
              <a:srgbClr val="111111"/>
            </a:solidFill>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5"/>
      </c:valAx>
      <c:spPr>
        <a:noFill/>
        <a:ln w="0">
          <a:noFill/>
        </a:ln>
      </c:spPr>
    </c:plotArea>
    <c:plotVisOnly val="1"/>
    <c:dispBlanksAs val="zero"/>
    <c:showDLblsOverMax val="1"/>
  </c:chart>
  <c:spPr>
    <a:noFill/>
    <a:ln w="0">
      <a:noFill/>
    </a:ln>
  </c:sp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Recorded months</c:v>
          </c:tx>
          <c:spPr>
            <a:ln w="0">
              <a:noFill/>
            </a:ln>
          </c:spPr>
          <c:marker>
            <c:symbol val="circle"/>
            <c:size val="7"/>
            <c:spPr>
              <a:noFill/>
            </c:spPr>
          </c:marker>
          <c:xVal>
            <c:numRef>
              <c:f>'Chart Data'!$A$2:$A$6</c:f>
              <c:numCache>
                <c:formatCode>0.##</c:formatCode>
                <c:ptCount val="5"/>
                <c:pt idx="0">
                  <c:v>15</c:v>
                </c:pt>
                <c:pt idx="1">
                  <c:v>22.5</c:v>
                </c:pt>
                <c:pt idx="2">
                  <c:v>10.5</c:v>
                </c:pt>
                <c:pt idx="3">
                  <c:v>18</c:v>
                </c:pt>
                <c:pt idx="4">
                  <c:v>21</c:v>
                </c:pt>
              </c:numCache>
            </c:numRef>
          </c:xVal>
          <c:yVal>
            <c:numRef>
              <c:f>'Chart Data'!$B$2:$B$6</c:f>
              <c:numCache>
                <c:formatCode>0.##</c:formatCode>
                <c:ptCount val="5"/>
                <c:pt idx="0">
                  <c:v>150</c:v>
                </c:pt>
                <c:pt idx="1">
                  <c:v>300</c:v>
                </c:pt>
                <c:pt idx="2">
                  <c:v>120</c:v>
                </c:pt>
                <c:pt idx="3">
                  <c:v>180</c:v>
                </c:pt>
                <c:pt idx="4">
                  <c:v>225</c:v>
                </c:pt>
              </c:numCache>
            </c:numRef>
          </c:yVal>
          <c:smooth val="1"/>
          <c:extLst>
            <c:ext xmlns:c16="http://schemas.microsoft.com/office/drawing/2014/chart" uri="{C3380CC4-5D6E-409C-BE32-E72D297353CC}">
              <c16:uniqueId val="{00000000-B637-4062-8A9E-08A86DD12A27}"/>
            </c:ext>
          </c:extLst>
        </c:ser>
        <c:ser>
          <c:idx val="1"/>
          <c:order val="1"/>
          <c:tx>
            <c:v>Trend line</c:v>
          </c:tx>
          <c:spPr>
            <a:ln w="28575">
              <a:solidFill>
                <a:srgbClr val="111111"/>
              </a:solidFill>
              <a:prstDash val="solid"/>
            </a:ln>
          </c:spPr>
          <c:marker>
            <c:symbol val="none"/>
          </c:marker>
          <c:xVal>
            <c:numRef>
              <c:f>'Chart Data'!$C$2:$C$3</c:f>
              <c:numCache>
                <c:formatCode>0.##</c:formatCode>
                <c:ptCount val="2"/>
                <c:pt idx="0">
                  <c:v>10</c:v>
                </c:pt>
                <c:pt idx="1">
                  <c:v>23</c:v>
                </c:pt>
              </c:numCache>
            </c:numRef>
          </c:xVal>
          <c:yVal>
            <c:numRef>
              <c:f>'Chart Data'!$D$2:$D$3</c:f>
              <c:numCache>
                <c:formatCode>0.##</c:formatCode>
                <c:ptCount val="2"/>
                <c:pt idx="0">
                  <c:v>94.417475999999994</c:v>
                </c:pt>
                <c:pt idx="1">
                  <c:v>271.11650500000002</c:v>
                </c:pt>
              </c:numCache>
            </c:numRef>
          </c:yVal>
          <c:smooth val="1"/>
          <c:extLst>
            <c:ext xmlns:c16="http://schemas.microsoft.com/office/drawing/2014/chart" uri="{C3380CC4-5D6E-409C-BE32-E72D297353CC}">
              <c16:uniqueId val="{00000001-B637-4062-8A9E-08A86DD12A27}"/>
            </c:ext>
          </c:extLst>
        </c:ser>
        <c:ser>
          <c:idx val="2"/>
          <c:order val="2"/>
          <c:tx>
            <c:v>Read at 20 vertical guide 1</c:v>
          </c:tx>
          <c:spPr>
            <a:ln w="22860">
              <a:solidFill>
                <a:srgbClr val="2378A1"/>
              </a:solidFill>
              <a:prstDash val="solid"/>
            </a:ln>
          </c:spPr>
          <c:marker>
            <c:symbol val="none"/>
          </c:marker>
          <c:xVal>
            <c:numRef>
              <c:f>'Chart Data'!$E$2:$E$3</c:f>
              <c:numCache>
                <c:formatCode>0.##</c:formatCode>
                <c:ptCount val="2"/>
                <c:pt idx="0">
                  <c:v>20</c:v>
                </c:pt>
                <c:pt idx="1">
                  <c:v>20</c:v>
                </c:pt>
              </c:numCache>
            </c:numRef>
          </c:xVal>
          <c:yVal>
            <c:numRef>
              <c:f>'Chart Data'!$F$2:$F$3</c:f>
              <c:numCache>
                <c:formatCode>0.##</c:formatCode>
                <c:ptCount val="2"/>
                <c:pt idx="0">
                  <c:v>230.33980600000001</c:v>
                </c:pt>
                <c:pt idx="1">
                  <c:v>218.42491200000001</c:v>
                </c:pt>
              </c:numCache>
            </c:numRef>
          </c:yVal>
          <c:smooth val="1"/>
          <c:extLst>
            <c:ext xmlns:c16="http://schemas.microsoft.com/office/drawing/2014/chart" uri="{C3380CC4-5D6E-409C-BE32-E72D297353CC}">
              <c16:uniqueId val="{00000002-B637-4062-8A9E-08A86DD12A27}"/>
            </c:ext>
          </c:extLst>
        </c:ser>
        <c:ser>
          <c:idx val="3"/>
          <c:order val="3"/>
          <c:tx>
            <c:v>Read at 20 vertical guide 2</c:v>
          </c:tx>
          <c:spPr>
            <a:ln w="22860">
              <a:solidFill>
                <a:srgbClr val="2378A1"/>
              </a:solidFill>
              <a:prstDash val="solid"/>
            </a:ln>
          </c:spPr>
          <c:marker>
            <c:symbol val="none"/>
          </c:marker>
          <c:xVal>
            <c:numRef>
              <c:f>'Chart Data'!$G$2:$G$3</c:f>
              <c:numCache>
                <c:formatCode>0.##</c:formatCode>
                <c:ptCount val="2"/>
                <c:pt idx="0">
                  <c:v>20</c:v>
                </c:pt>
                <c:pt idx="1">
                  <c:v>20</c:v>
                </c:pt>
              </c:numCache>
            </c:numRef>
          </c:xVal>
          <c:yVal>
            <c:numRef>
              <c:f>'Chart Data'!$H$2:$H$3</c:f>
              <c:numCache>
                <c:formatCode>0.##</c:formatCode>
                <c:ptCount val="2"/>
                <c:pt idx="0">
                  <c:v>209.488742</c:v>
                </c:pt>
                <c:pt idx="1">
                  <c:v>197.573849</c:v>
                </c:pt>
              </c:numCache>
            </c:numRef>
          </c:yVal>
          <c:smooth val="1"/>
          <c:extLst>
            <c:ext xmlns:c16="http://schemas.microsoft.com/office/drawing/2014/chart" uri="{C3380CC4-5D6E-409C-BE32-E72D297353CC}">
              <c16:uniqueId val="{00000003-B637-4062-8A9E-08A86DD12A27}"/>
            </c:ext>
          </c:extLst>
        </c:ser>
        <c:ser>
          <c:idx val="4"/>
          <c:order val="4"/>
          <c:tx>
            <c:v>Read at 20 vertical guide 3</c:v>
          </c:tx>
          <c:spPr>
            <a:ln w="22860">
              <a:solidFill>
                <a:srgbClr val="2378A1"/>
              </a:solidFill>
              <a:prstDash val="solid"/>
            </a:ln>
          </c:spPr>
          <c:marker>
            <c:symbol val="none"/>
          </c:marker>
          <c:xVal>
            <c:numRef>
              <c:f>'Chart Data'!$I$2:$I$3</c:f>
              <c:numCache>
                <c:formatCode>0.##</c:formatCode>
                <c:ptCount val="2"/>
                <c:pt idx="0">
                  <c:v>20</c:v>
                </c:pt>
                <c:pt idx="1">
                  <c:v>20</c:v>
                </c:pt>
              </c:numCache>
            </c:numRef>
          </c:xVal>
          <c:yVal>
            <c:numRef>
              <c:f>'Chart Data'!$J$2:$J$3</c:f>
              <c:numCache>
                <c:formatCode>0.##</c:formatCode>
                <c:ptCount val="2"/>
                <c:pt idx="0">
                  <c:v>188.63767799999999</c:v>
                </c:pt>
                <c:pt idx="1">
                  <c:v>176.72278499999999</c:v>
                </c:pt>
              </c:numCache>
            </c:numRef>
          </c:yVal>
          <c:smooth val="1"/>
          <c:extLst>
            <c:ext xmlns:c16="http://schemas.microsoft.com/office/drawing/2014/chart" uri="{C3380CC4-5D6E-409C-BE32-E72D297353CC}">
              <c16:uniqueId val="{00000004-B637-4062-8A9E-08A86DD12A27}"/>
            </c:ext>
          </c:extLst>
        </c:ser>
        <c:ser>
          <c:idx val="5"/>
          <c:order val="5"/>
          <c:tx>
            <c:v>Read at 20 vertical guide 4</c:v>
          </c:tx>
          <c:spPr>
            <a:ln w="22860">
              <a:solidFill>
                <a:srgbClr val="2378A1"/>
              </a:solidFill>
              <a:prstDash val="solid"/>
            </a:ln>
          </c:spPr>
          <c:marker>
            <c:symbol val="none"/>
          </c:marker>
          <c:xVal>
            <c:numRef>
              <c:f>'Chart Data'!$K$2:$K$3</c:f>
              <c:numCache>
                <c:formatCode>0.##</c:formatCode>
                <c:ptCount val="2"/>
                <c:pt idx="0">
                  <c:v>20</c:v>
                </c:pt>
                <c:pt idx="1">
                  <c:v>20</c:v>
                </c:pt>
              </c:numCache>
            </c:numRef>
          </c:xVal>
          <c:yVal>
            <c:numRef>
              <c:f>'Chart Data'!$L$2:$L$3</c:f>
              <c:numCache>
                <c:formatCode>0.##</c:formatCode>
                <c:ptCount val="2"/>
                <c:pt idx="0">
                  <c:v>167.78661500000001</c:v>
                </c:pt>
                <c:pt idx="1">
                  <c:v>155.87172100000001</c:v>
                </c:pt>
              </c:numCache>
            </c:numRef>
          </c:yVal>
          <c:smooth val="1"/>
          <c:extLst>
            <c:ext xmlns:c16="http://schemas.microsoft.com/office/drawing/2014/chart" uri="{C3380CC4-5D6E-409C-BE32-E72D297353CC}">
              <c16:uniqueId val="{00000005-B637-4062-8A9E-08A86DD12A27}"/>
            </c:ext>
          </c:extLst>
        </c:ser>
        <c:ser>
          <c:idx val="6"/>
          <c:order val="6"/>
          <c:tx>
            <c:v>Read at 20 vertical guide 5</c:v>
          </c:tx>
          <c:spPr>
            <a:ln w="22860">
              <a:solidFill>
                <a:srgbClr val="2378A1"/>
              </a:solidFill>
              <a:prstDash val="solid"/>
            </a:ln>
          </c:spPr>
          <c:marker>
            <c:symbol val="none"/>
          </c:marker>
          <c:xVal>
            <c:numRef>
              <c:f>'Chart Data'!$M$2:$M$3</c:f>
              <c:numCache>
                <c:formatCode>0.##</c:formatCode>
                <c:ptCount val="2"/>
                <c:pt idx="0">
                  <c:v>20</c:v>
                </c:pt>
                <c:pt idx="1">
                  <c:v>20</c:v>
                </c:pt>
              </c:numCache>
            </c:numRef>
          </c:xVal>
          <c:yVal>
            <c:numRef>
              <c:f>'Chart Data'!$N$2:$N$3</c:f>
              <c:numCache>
                <c:formatCode>0.##</c:formatCode>
                <c:ptCount val="2"/>
                <c:pt idx="0">
                  <c:v>146.935551</c:v>
                </c:pt>
                <c:pt idx="1">
                  <c:v>135.020657</c:v>
                </c:pt>
              </c:numCache>
            </c:numRef>
          </c:yVal>
          <c:smooth val="1"/>
          <c:extLst>
            <c:ext xmlns:c16="http://schemas.microsoft.com/office/drawing/2014/chart" uri="{C3380CC4-5D6E-409C-BE32-E72D297353CC}">
              <c16:uniqueId val="{00000006-B637-4062-8A9E-08A86DD12A27}"/>
            </c:ext>
          </c:extLst>
        </c:ser>
        <c:ser>
          <c:idx val="7"/>
          <c:order val="7"/>
          <c:tx>
            <c:v>Read at 20 vertical guide 6</c:v>
          </c:tx>
          <c:spPr>
            <a:ln w="22860">
              <a:solidFill>
                <a:srgbClr val="2378A1"/>
              </a:solidFill>
              <a:prstDash val="solid"/>
            </a:ln>
          </c:spPr>
          <c:marker>
            <c:symbol val="none"/>
          </c:marker>
          <c:xVal>
            <c:numRef>
              <c:f>'Chart Data'!$O$2:$O$3</c:f>
              <c:numCache>
                <c:formatCode>0.##</c:formatCode>
                <c:ptCount val="2"/>
                <c:pt idx="0">
                  <c:v>20</c:v>
                </c:pt>
                <c:pt idx="1">
                  <c:v>20</c:v>
                </c:pt>
              </c:numCache>
            </c:numRef>
          </c:xVal>
          <c:yVal>
            <c:numRef>
              <c:f>'Chart Data'!$P$2:$P$3</c:f>
              <c:numCache>
                <c:formatCode>0.##</c:formatCode>
                <c:ptCount val="2"/>
                <c:pt idx="0">
                  <c:v>126.084487</c:v>
                </c:pt>
                <c:pt idx="1">
                  <c:v>114.16959300000001</c:v>
                </c:pt>
              </c:numCache>
            </c:numRef>
          </c:yVal>
          <c:smooth val="1"/>
          <c:extLst>
            <c:ext xmlns:c16="http://schemas.microsoft.com/office/drawing/2014/chart" uri="{C3380CC4-5D6E-409C-BE32-E72D297353CC}">
              <c16:uniqueId val="{00000007-B637-4062-8A9E-08A86DD12A27}"/>
            </c:ext>
          </c:extLst>
        </c:ser>
        <c:ser>
          <c:idx val="8"/>
          <c:order val="8"/>
          <c:tx>
            <c:v>Read at 20 vertical guide 7</c:v>
          </c:tx>
          <c:spPr>
            <a:ln w="22860">
              <a:solidFill>
                <a:srgbClr val="2378A1"/>
              </a:solidFill>
              <a:prstDash val="solid"/>
            </a:ln>
          </c:spPr>
          <c:marker>
            <c:symbol val="none"/>
          </c:marker>
          <c:xVal>
            <c:numRef>
              <c:f>'Chart Data'!$Q$2:$Q$3</c:f>
              <c:numCache>
                <c:formatCode>0.##</c:formatCode>
                <c:ptCount val="2"/>
                <c:pt idx="0">
                  <c:v>20</c:v>
                </c:pt>
                <c:pt idx="1">
                  <c:v>20</c:v>
                </c:pt>
              </c:numCache>
            </c:numRef>
          </c:xVal>
          <c:yVal>
            <c:numRef>
              <c:f>'Chart Data'!$R$2:$R$3</c:f>
              <c:numCache>
                <c:formatCode>0.##</c:formatCode>
                <c:ptCount val="2"/>
                <c:pt idx="0">
                  <c:v>105.233423</c:v>
                </c:pt>
                <c:pt idx="1">
                  <c:v>93.318528999999998</c:v>
                </c:pt>
              </c:numCache>
            </c:numRef>
          </c:yVal>
          <c:smooth val="1"/>
          <c:extLst>
            <c:ext xmlns:c16="http://schemas.microsoft.com/office/drawing/2014/chart" uri="{C3380CC4-5D6E-409C-BE32-E72D297353CC}">
              <c16:uniqueId val="{00000008-B637-4062-8A9E-08A86DD12A27}"/>
            </c:ext>
          </c:extLst>
        </c:ser>
        <c:ser>
          <c:idx val="9"/>
          <c:order val="9"/>
          <c:tx>
            <c:v>Read at 20 vertical guide 8</c:v>
          </c:tx>
          <c:spPr>
            <a:ln w="22860">
              <a:solidFill>
                <a:srgbClr val="2378A1"/>
              </a:solidFill>
              <a:prstDash val="solid"/>
            </a:ln>
          </c:spPr>
          <c:marker>
            <c:symbol val="none"/>
          </c:marker>
          <c:xVal>
            <c:numRef>
              <c:f>'Chart Data'!$S$2:$S$3</c:f>
              <c:numCache>
                <c:formatCode>0.##</c:formatCode>
                <c:ptCount val="2"/>
                <c:pt idx="0">
                  <c:v>20</c:v>
                </c:pt>
                <c:pt idx="1">
                  <c:v>20</c:v>
                </c:pt>
              </c:numCache>
            </c:numRef>
          </c:xVal>
          <c:yVal>
            <c:numRef>
              <c:f>'Chart Data'!$T$2:$T$3</c:f>
              <c:numCache>
                <c:formatCode>0.##</c:formatCode>
                <c:ptCount val="2"/>
                <c:pt idx="0">
                  <c:v>84.382358999999994</c:v>
                </c:pt>
                <c:pt idx="1">
                  <c:v>72.467466000000002</c:v>
                </c:pt>
              </c:numCache>
            </c:numRef>
          </c:yVal>
          <c:smooth val="1"/>
          <c:extLst>
            <c:ext xmlns:c16="http://schemas.microsoft.com/office/drawing/2014/chart" uri="{C3380CC4-5D6E-409C-BE32-E72D297353CC}">
              <c16:uniqueId val="{00000009-B637-4062-8A9E-08A86DD12A27}"/>
            </c:ext>
          </c:extLst>
        </c:ser>
        <c:ser>
          <c:idx val="10"/>
          <c:order val="10"/>
          <c:tx>
            <c:v>Read at 20 vertical guide 9</c:v>
          </c:tx>
          <c:spPr>
            <a:ln w="22860">
              <a:solidFill>
                <a:srgbClr val="2378A1"/>
              </a:solidFill>
              <a:prstDash val="solid"/>
            </a:ln>
          </c:spPr>
          <c:marker>
            <c:symbol val="none"/>
          </c:marker>
          <c:xVal>
            <c:numRef>
              <c:f>'Chart Data'!$U$2:$U$3</c:f>
              <c:numCache>
                <c:formatCode>0.##</c:formatCode>
                <c:ptCount val="2"/>
                <c:pt idx="0">
                  <c:v>20</c:v>
                </c:pt>
                <c:pt idx="1">
                  <c:v>20</c:v>
                </c:pt>
              </c:numCache>
            </c:numRef>
          </c:xVal>
          <c:yVal>
            <c:numRef>
              <c:f>'Chart Data'!$V$2:$V$3</c:f>
              <c:numCache>
                <c:formatCode>0.##</c:formatCode>
                <c:ptCount val="2"/>
                <c:pt idx="0">
                  <c:v>63.531295</c:v>
                </c:pt>
                <c:pt idx="1">
                  <c:v>51.616402000000001</c:v>
                </c:pt>
              </c:numCache>
            </c:numRef>
          </c:yVal>
          <c:smooth val="1"/>
          <c:extLst>
            <c:ext xmlns:c16="http://schemas.microsoft.com/office/drawing/2014/chart" uri="{C3380CC4-5D6E-409C-BE32-E72D297353CC}">
              <c16:uniqueId val="{0000000A-B637-4062-8A9E-08A86DD12A27}"/>
            </c:ext>
          </c:extLst>
        </c:ser>
        <c:ser>
          <c:idx val="11"/>
          <c:order val="11"/>
          <c:tx>
            <c:v>Read at 20 vertical guide 10</c:v>
          </c:tx>
          <c:spPr>
            <a:ln w="22860">
              <a:solidFill>
                <a:srgbClr val="2378A1"/>
              </a:solidFill>
              <a:prstDash val="solid"/>
            </a:ln>
          </c:spPr>
          <c:marker>
            <c:symbol val="none"/>
          </c:marker>
          <c:xVal>
            <c:numRef>
              <c:f>'Chart Data'!$W$2:$W$3</c:f>
              <c:numCache>
                <c:formatCode>0.##</c:formatCode>
                <c:ptCount val="2"/>
                <c:pt idx="0">
                  <c:v>20</c:v>
                </c:pt>
                <c:pt idx="1">
                  <c:v>20</c:v>
                </c:pt>
              </c:numCache>
            </c:numRef>
          </c:xVal>
          <c:yVal>
            <c:numRef>
              <c:f>'Chart Data'!$X$2:$X$3</c:f>
              <c:numCache>
                <c:formatCode>0.##</c:formatCode>
                <c:ptCount val="2"/>
                <c:pt idx="0">
                  <c:v>42.680231999999997</c:v>
                </c:pt>
                <c:pt idx="1">
                  <c:v>30.765338</c:v>
                </c:pt>
              </c:numCache>
            </c:numRef>
          </c:yVal>
          <c:smooth val="1"/>
          <c:extLst>
            <c:ext xmlns:c16="http://schemas.microsoft.com/office/drawing/2014/chart" uri="{C3380CC4-5D6E-409C-BE32-E72D297353CC}">
              <c16:uniqueId val="{0000000B-B637-4062-8A9E-08A86DD12A27}"/>
            </c:ext>
          </c:extLst>
        </c:ser>
        <c:ser>
          <c:idx val="12"/>
          <c:order val="12"/>
          <c:tx>
            <c:v>Read at 20 vertical guide 11</c:v>
          </c:tx>
          <c:spPr>
            <a:ln w="22860">
              <a:solidFill>
                <a:srgbClr val="2378A1"/>
              </a:solidFill>
              <a:prstDash val="solid"/>
            </a:ln>
          </c:spPr>
          <c:marker>
            <c:symbol val="none"/>
          </c:marker>
          <c:xVal>
            <c:numRef>
              <c:f>'Chart Data'!$Y$2:$Y$3</c:f>
              <c:numCache>
                <c:formatCode>0.##</c:formatCode>
                <c:ptCount val="2"/>
                <c:pt idx="0">
                  <c:v>20</c:v>
                </c:pt>
                <c:pt idx="1">
                  <c:v>20</c:v>
                </c:pt>
              </c:numCache>
            </c:numRef>
          </c:xVal>
          <c:yVal>
            <c:numRef>
              <c:f>'Chart Data'!$Z$2:$Z$3</c:f>
              <c:numCache>
                <c:formatCode>0.##</c:formatCode>
                <c:ptCount val="2"/>
                <c:pt idx="0">
                  <c:v>21.829167999999999</c:v>
                </c:pt>
                <c:pt idx="1">
                  <c:v>9.9142740000000007</c:v>
                </c:pt>
              </c:numCache>
            </c:numRef>
          </c:yVal>
          <c:smooth val="1"/>
          <c:extLst>
            <c:ext xmlns:c16="http://schemas.microsoft.com/office/drawing/2014/chart" uri="{C3380CC4-5D6E-409C-BE32-E72D297353CC}">
              <c16:uniqueId val="{0000000C-B637-4062-8A9E-08A86DD12A27}"/>
            </c:ext>
          </c:extLst>
        </c:ser>
        <c:ser>
          <c:idx val="13"/>
          <c:order val="13"/>
          <c:tx>
            <c:v>Read at 20 vertical guide 12</c:v>
          </c:tx>
          <c:spPr>
            <a:ln w="22860">
              <a:solidFill>
                <a:srgbClr val="2378A1"/>
              </a:solidFill>
              <a:prstDash val="solid"/>
            </a:ln>
          </c:spPr>
          <c:marker>
            <c:symbol val="none"/>
          </c:marker>
          <c:xVal>
            <c:numRef>
              <c:f>'Chart Data'!$AA$2:$AA$3</c:f>
              <c:numCache>
                <c:formatCode>0.##</c:formatCode>
                <c:ptCount val="2"/>
                <c:pt idx="0">
                  <c:v>20</c:v>
                </c:pt>
                <c:pt idx="1">
                  <c:v>20</c:v>
                </c:pt>
              </c:numCache>
            </c:numRef>
          </c:xVal>
          <c:yVal>
            <c:numRef>
              <c:f>'Chart Data'!$AB$2:$AB$3</c:f>
              <c:numCache>
                <c:formatCode>0.##</c:formatCode>
                <c:ptCount val="2"/>
                <c:pt idx="0">
                  <c:v>0.97810399999999997</c:v>
                </c:pt>
                <c:pt idx="1">
                  <c:v>0</c:v>
                </c:pt>
              </c:numCache>
            </c:numRef>
          </c:yVal>
          <c:smooth val="1"/>
          <c:extLst>
            <c:ext xmlns:c16="http://schemas.microsoft.com/office/drawing/2014/chart" uri="{C3380CC4-5D6E-409C-BE32-E72D297353CC}">
              <c16:uniqueId val="{0000000D-B637-4062-8A9E-08A86DD12A27}"/>
            </c:ext>
          </c:extLst>
        </c:ser>
        <c:ser>
          <c:idx val="14"/>
          <c:order val="14"/>
          <c:tx>
            <c:v>Read at 20 horizontal guide 1</c:v>
          </c:tx>
          <c:spPr>
            <a:ln w="22860">
              <a:solidFill>
                <a:srgbClr val="2378A1"/>
              </a:solidFill>
              <a:prstDash val="solid"/>
            </a:ln>
          </c:spPr>
          <c:marker>
            <c:symbol val="none"/>
          </c:marker>
          <c:xVal>
            <c:numRef>
              <c:f>'Chart Data'!$AC$2:$AC$3</c:f>
              <c:numCache>
                <c:formatCode>0.##</c:formatCode>
                <c:ptCount val="2"/>
                <c:pt idx="0">
                  <c:v>20</c:v>
                </c:pt>
                <c:pt idx="1">
                  <c:v>19.688958</c:v>
                </c:pt>
              </c:numCache>
            </c:numRef>
          </c:xVal>
          <c:yVal>
            <c:numRef>
              <c:f>'Chart Data'!$AD$2:$AD$3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0E-B637-4062-8A9E-08A86DD12A27}"/>
            </c:ext>
          </c:extLst>
        </c:ser>
        <c:ser>
          <c:idx val="15"/>
          <c:order val="15"/>
          <c:tx>
            <c:v>Read at 20 horizontal guide 2</c:v>
          </c:tx>
          <c:spPr>
            <a:ln w="22860">
              <a:solidFill>
                <a:srgbClr val="2378A1"/>
              </a:solidFill>
              <a:prstDash val="solid"/>
            </a:ln>
          </c:spPr>
          <c:marker>
            <c:symbol val="none"/>
          </c:marker>
          <c:xVal>
            <c:numRef>
              <c:f>'Chart Data'!$AE$2:$AE$3</c:f>
              <c:numCache>
                <c:formatCode>0.##</c:formatCode>
                <c:ptCount val="2"/>
                <c:pt idx="0">
                  <c:v>19.455677000000001</c:v>
                </c:pt>
                <c:pt idx="1">
                  <c:v>19.144635000000001</c:v>
                </c:pt>
              </c:numCache>
            </c:numRef>
          </c:xVal>
          <c:yVal>
            <c:numRef>
              <c:f>'Chart Data'!$AF$2:$AF$3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0F-B637-4062-8A9E-08A86DD12A27}"/>
            </c:ext>
          </c:extLst>
        </c:ser>
        <c:ser>
          <c:idx val="16"/>
          <c:order val="16"/>
          <c:tx>
            <c:v>Read at 20 horizontal guide 3</c:v>
          </c:tx>
          <c:spPr>
            <a:ln w="22860">
              <a:solidFill>
                <a:srgbClr val="2378A1"/>
              </a:solidFill>
              <a:prstDash val="solid"/>
            </a:ln>
          </c:spPr>
          <c:marker>
            <c:symbol val="none"/>
          </c:marker>
          <c:xVal>
            <c:numRef>
              <c:f>'Chart Data'!$AG$2:$AG$3</c:f>
              <c:numCache>
                <c:formatCode>0.##</c:formatCode>
                <c:ptCount val="2"/>
                <c:pt idx="0">
                  <c:v>18.911352999999998</c:v>
                </c:pt>
                <c:pt idx="1">
                  <c:v>18.600311000000001</c:v>
                </c:pt>
              </c:numCache>
            </c:numRef>
          </c:xVal>
          <c:yVal>
            <c:numRef>
              <c:f>'Chart Data'!$AH$2:$AH$3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0-B637-4062-8A9E-08A86DD12A27}"/>
            </c:ext>
          </c:extLst>
        </c:ser>
        <c:ser>
          <c:idx val="17"/>
          <c:order val="17"/>
          <c:tx>
            <c:v>Read at 20 horizontal guide 4</c:v>
          </c:tx>
          <c:spPr>
            <a:ln w="22860">
              <a:solidFill>
                <a:srgbClr val="2378A1"/>
              </a:solidFill>
              <a:prstDash val="solid"/>
            </a:ln>
          </c:spPr>
          <c:marker>
            <c:symbol val="none"/>
          </c:marker>
          <c:xVal>
            <c:numRef>
              <c:f>'Chart Data'!$AI$2:$AI$3</c:f>
              <c:numCache>
                <c:formatCode>0.##</c:formatCode>
                <c:ptCount val="2"/>
                <c:pt idx="0">
                  <c:v>18.36703</c:v>
                </c:pt>
                <c:pt idx="1">
                  <c:v>18.055987999999999</c:v>
                </c:pt>
              </c:numCache>
            </c:numRef>
          </c:xVal>
          <c:yVal>
            <c:numRef>
              <c:f>'Chart Data'!$AJ$2:$AJ$3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1-B637-4062-8A9E-08A86DD12A27}"/>
            </c:ext>
          </c:extLst>
        </c:ser>
        <c:ser>
          <c:idx val="18"/>
          <c:order val="18"/>
          <c:tx>
            <c:v>Read at 20 horizontal guide 5</c:v>
          </c:tx>
          <c:spPr>
            <a:ln w="22860">
              <a:solidFill>
                <a:srgbClr val="2378A1"/>
              </a:solidFill>
              <a:prstDash val="solid"/>
            </a:ln>
          </c:spPr>
          <c:marker>
            <c:symbol val="none"/>
          </c:marker>
          <c:xVal>
            <c:numRef>
              <c:f>'Chart Data'!$AK$2:$AK$3</c:f>
              <c:numCache>
                <c:formatCode>0.##</c:formatCode>
                <c:ptCount val="2"/>
                <c:pt idx="0">
                  <c:v>17.822706</c:v>
                </c:pt>
                <c:pt idx="1">
                  <c:v>17.511664</c:v>
                </c:pt>
              </c:numCache>
            </c:numRef>
          </c:xVal>
          <c:yVal>
            <c:numRef>
              <c:f>'Chart Data'!$AL$2:$AL$3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2-B637-4062-8A9E-08A86DD12A27}"/>
            </c:ext>
          </c:extLst>
        </c:ser>
        <c:ser>
          <c:idx val="19"/>
          <c:order val="19"/>
          <c:tx>
            <c:v>Read at 20 horizontal guide 6</c:v>
          </c:tx>
          <c:spPr>
            <a:ln w="22860">
              <a:solidFill>
                <a:srgbClr val="2378A1"/>
              </a:solidFill>
              <a:prstDash val="solid"/>
            </a:ln>
          </c:spPr>
          <c:marker>
            <c:symbol val="none"/>
          </c:marker>
          <c:xVal>
            <c:numRef>
              <c:f>'Chart Data'!$AM$2:$AM$3</c:f>
              <c:numCache>
                <c:formatCode>0.##</c:formatCode>
                <c:ptCount val="2"/>
                <c:pt idx="0">
                  <c:v>17.278383000000002</c:v>
                </c:pt>
                <c:pt idx="1">
                  <c:v>16.967341000000001</c:v>
                </c:pt>
              </c:numCache>
            </c:numRef>
          </c:xVal>
          <c:yVal>
            <c:numRef>
              <c:f>'Chart Data'!$AN$2:$AN$3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3-B637-4062-8A9E-08A86DD12A27}"/>
            </c:ext>
          </c:extLst>
        </c:ser>
        <c:ser>
          <c:idx val="20"/>
          <c:order val="20"/>
          <c:tx>
            <c:v>Read at 20 horizontal guide 7</c:v>
          </c:tx>
          <c:spPr>
            <a:ln w="22860">
              <a:solidFill>
                <a:srgbClr val="2378A1"/>
              </a:solidFill>
              <a:prstDash val="solid"/>
            </a:ln>
          </c:spPr>
          <c:marker>
            <c:symbol val="none"/>
          </c:marker>
          <c:xVal>
            <c:numRef>
              <c:f>'Chart Data'!$AO$2:$AO$3</c:f>
              <c:numCache>
                <c:formatCode>0.##</c:formatCode>
                <c:ptCount val="2"/>
                <c:pt idx="0">
                  <c:v>16.734058999999998</c:v>
                </c:pt>
                <c:pt idx="1">
                  <c:v>16.423017000000002</c:v>
                </c:pt>
              </c:numCache>
            </c:numRef>
          </c:xVal>
          <c:yVal>
            <c:numRef>
              <c:f>'Chart Data'!$AP$2:$AP$3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4-B637-4062-8A9E-08A86DD12A27}"/>
            </c:ext>
          </c:extLst>
        </c:ser>
        <c:ser>
          <c:idx val="21"/>
          <c:order val="21"/>
          <c:tx>
            <c:v>Read at 20 horizontal guide 8</c:v>
          </c:tx>
          <c:spPr>
            <a:ln w="22860">
              <a:solidFill>
                <a:srgbClr val="2378A1"/>
              </a:solidFill>
              <a:prstDash val="solid"/>
            </a:ln>
          </c:spPr>
          <c:marker>
            <c:symbol val="none"/>
          </c:marker>
          <c:xVal>
            <c:numRef>
              <c:f>'Chart Data'!$AQ$2:$AQ$3</c:f>
              <c:numCache>
                <c:formatCode>0.##</c:formatCode>
                <c:ptCount val="2"/>
                <c:pt idx="0">
                  <c:v>16.189736</c:v>
                </c:pt>
                <c:pt idx="1">
                  <c:v>15.878693999999999</c:v>
                </c:pt>
              </c:numCache>
            </c:numRef>
          </c:xVal>
          <c:yVal>
            <c:numRef>
              <c:f>'Chart Data'!$AR$2:$AR$3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5-B637-4062-8A9E-08A86DD12A27}"/>
            </c:ext>
          </c:extLst>
        </c:ser>
        <c:ser>
          <c:idx val="22"/>
          <c:order val="22"/>
          <c:tx>
            <c:v>Read at 20 horizontal guide 9</c:v>
          </c:tx>
          <c:spPr>
            <a:ln w="22860">
              <a:solidFill>
                <a:srgbClr val="2378A1"/>
              </a:solidFill>
              <a:prstDash val="solid"/>
            </a:ln>
          </c:spPr>
          <c:marker>
            <c:symbol val="none"/>
          </c:marker>
          <c:xVal>
            <c:numRef>
              <c:f>'Chart Data'!$AS$2:$AS$3</c:f>
              <c:numCache>
                <c:formatCode>0.##</c:formatCode>
                <c:ptCount val="2"/>
                <c:pt idx="0">
                  <c:v>15.645412</c:v>
                </c:pt>
                <c:pt idx="1">
                  <c:v>15.33437</c:v>
                </c:pt>
              </c:numCache>
            </c:numRef>
          </c:xVal>
          <c:yVal>
            <c:numRef>
              <c:f>'Chart Data'!$AT$2:$AT$3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6-B637-4062-8A9E-08A86DD12A27}"/>
            </c:ext>
          </c:extLst>
        </c:ser>
        <c:ser>
          <c:idx val="23"/>
          <c:order val="23"/>
          <c:tx>
            <c:v>Read at 20 horizontal guide 10</c:v>
          </c:tx>
          <c:spPr>
            <a:ln w="22860">
              <a:solidFill>
                <a:srgbClr val="2378A1"/>
              </a:solidFill>
              <a:prstDash val="solid"/>
            </a:ln>
          </c:spPr>
          <c:marker>
            <c:symbol val="none"/>
          </c:marker>
          <c:xVal>
            <c:numRef>
              <c:f>'Chart Data'!$AU$2:$AU$3</c:f>
              <c:numCache>
                <c:formatCode>0.##</c:formatCode>
                <c:ptCount val="2"/>
                <c:pt idx="0">
                  <c:v>15.101089</c:v>
                </c:pt>
                <c:pt idx="1">
                  <c:v>14.790046999999999</c:v>
                </c:pt>
              </c:numCache>
            </c:numRef>
          </c:xVal>
          <c:yVal>
            <c:numRef>
              <c:f>'Chart Data'!$AV$2:$AV$3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7-B637-4062-8A9E-08A86DD12A27}"/>
            </c:ext>
          </c:extLst>
        </c:ser>
        <c:ser>
          <c:idx val="24"/>
          <c:order val="24"/>
          <c:tx>
            <c:v>Read at 20 horizontal guide 11</c:v>
          </c:tx>
          <c:spPr>
            <a:ln w="22860">
              <a:solidFill>
                <a:srgbClr val="2378A1"/>
              </a:solidFill>
              <a:prstDash val="solid"/>
            </a:ln>
          </c:spPr>
          <c:marker>
            <c:symbol val="none"/>
          </c:marker>
          <c:xVal>
            <c:numRef>
              <c:f>'Chart Data'!$AW$2:$AW$3</c:f>
              <c:numCache>
                <c:formatCode>0.##</c:formatCode>
                <c:ptCount val="2"/>
                <c:pt idx="0">
                  <c:v>14.556765</c:v>
                </c:pt>
                <c:pt idx="1">
                  <c:v>14.245723</c:v>
                </c:pt>
              </c:numCache>
            </c:numRef>
          </c:xVal>
          <c:yVal>
            <c:numRef>
              <c:f>'Chart Data'!$AX$2:$AX$3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8-B637-4062-8A9E-08A86DD12A27}"/>
            </c:ext>
          </c:extLst>
        </c:ser>
        <c:ser>
          <c:idx val="25"/>
          <c:order val="25"/>
          <c:tx>
            <c:v>Read at 20 horizontal guide 12</c:v>
          </c:tx>
          <c:spPr>
            <a:ln w="22860">
              <a:solidFill>
                <a:srgbClr val="2378A1"/>
              </a:solidFill>
              <a:prstDash val="solid"/>
            </a:ln>
          </c:spPr>
          <c:marker>
            <c:symbol val="none"/>
          </c:marker>
          <c:xVal>
            <c:numRef>
              <c:f>'Chart Data'!$AY$2:$AY$3</c:f>
              <c:numCache>
                <c:formatCode>0.##</c:formatCode>
                <c:ptCount val="2"/>
                <c:pt idx="0">
                  <c:v>14.012442</c:v>
                </c:pt>
                <c:pt idx="1">
                  <c:v>13.7014</c:v>
                </c:pt>
              </c:numCache>
            </c:numRef>
          </c:xVal>
          <c:yVal>
            <c:numRef>
              <c:f>'Chart Data'!$AZ$2:$AZ$3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9-B637-4062-8A9E-08A86DD12A27}"/>
            </c:ext>
          </c:extLst>
        </c:ser>
        <c:ser>
          <c:idx val="26"/>
          <c:order val="26"/>
          <c:tx>
            <c:v>Read at 20 horizontal guide 13</c:v>
          </c:tx>
          <c:spPr>
            <a:ln w="22860">
              <a:solidFill>
                <a:srgbClr val="2378A1"/>
              </a:solidFill>
              <a:prstDash val="solid"/>
            </a:ln>
          </c:spPr>
          <c:marker>
            <c:symbol val="none"/>
          </c:marker>
          <c:xVal>
            <c:numRef>
              <c:f>'Chart Data'!$BA$2:$BA$3</c:f>
              <c:numCache>
                <c:formatCode>0.##</c:formatCode>
                <c:ptCount val="2"/>
                <c:pt idx="0">
                  <c:v>13.468118</c:v>
                </c:pt>
                <c:pt idx="1">
                  <c:v>13.157076</c:v>
                </c:pt>
              </c:numCache>
            </c:numRef>
          </c:xVal>
          <c:yVal>
            <c:numRef>
              <c:f>'Chart Data'!$BB$2:$BB$3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A-B637-4062-8A9E-08A86DD12A27}"/>
            </c:ext>
          </c:extLst>
        </c:ser>
        <c:ser>
          <c:idx val="27"/>
          <c:order val="27"/>
          <c:tx>
            <c:v>Read at 20 horizontal guide 14</c:v>
          </c:tx>
          <c:spPr>
            <a:ln w="22860">
              <a:solidFill>
                <a:srgbClr val="2378A1"/>
              </a:solidFill>
              <a:prstDash val="solid"/>
            </a:ln>
          </c:spPr>
          <c:marker>
            <c:symbol val="none"/>
          </c:marker>
          <c:xVal>
            <c:numRef>
              <c:f>'Chart Data'!$BC$2:$BC$3</c:f>
              <c:numCache>
                <c:formatCode>0.##</c:formatCode>
                <c:ptCount val="2"/>
                <c:pt idx="0">
                  <c:v>12.923795</c:v>
                </c:pt>
                <c:pt idx="1">
                  <c:v>12.612753</c:v>
                </c:pt>
              </c:numCache>
            </c:numRef>
          </c:xVal>
          <c:yVal>
            <c:numRef>
              <c:f>'Chart Data'!$BD$2:$BD$3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B-B637-4062-8A9E-08A86DD12A27}"/>
            </c:ext>
          </c:extLst>
        </c:ser>
        <c:ser>
          <c:idx val="28"/>
          <c:order val="28"/>
          <c:tx>
            <c:v>Read at 20 horizontal guide 15</c:v>
          </c:tx>
          <c:spPr>
            <a:ln w="22860">
              <a:solidFill>
                <a:srgbClr val="2378A1"/>
              </a:solidFill>
              <a:prstDash val="solid"/>
            </a:ln>
          </c:spPr>
          <c:marker>
            <c:symbol val="none"/>
          </c:marker>
          <c:xVal>
            <c:numRef>
              <c:f>'Chart Data'!$BE$2:$BE$3</c:f>
              <c:numCache>
                <c:formatCode>0.##</c:formatCode>
                <c:ptCount val="2"/>
                <c:pt idx="0">
                  <c:v>12.379471000000001</c:v>
                </c:pt>
                <c:pt idx="1">
                  <c:v>12.068429</c:v>
                </c:pt>
              </c:numCache>
            </c:numRef>
          </c:xVal>
          <c:yVal>
            <c:numRef>
              <c:f>'Chart Data'!$BF$2:$BF$3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C-B637-4062-8A9E-08A86DD12A27}"/>
            </c:ext>
          </c:extLst>
        </c:ser>
        <c:ser>
          <c:idx val="29"/>
          <c:order val="29"/>
          <c:tx>
            <c:v>Read at 20 horizontal guide 16</c:v>
          </c:tx>
          <c:spPr>
            <a:ln w="22860">
              <a:solidFill>
                <a:srgbClr val="2378A1"/>
              </a:solidFill>
              <a:prstDash val="solid"/>
            </a:ln>
          </c:spPr>
          <c:marker>
            <c:symbol val="none"/>
          </c:marker>
          <c:xVal>
            <c:numRef>
              <c:f>'Chart Data'!$BG$2:$BG$3</c:f>
              <c:numCache>
                <c:formatCode>0.##</c:formatCode>
                <c:ptCount val="2"/>
                <c:pt idx="0">
                  <c:v>11.835148</c:v>
                </c:pt>
                <c:pt idx="1">
                  <c:v>11.524106</c:v>
                </c:pt>
              </c:numCache>
            </c:numRef>
          </c:xVal>
          <c:yVal>
            <c:numRef>
              <c:f>'Chart Data'!$BH$2:$BH$3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D-B637-4062-8A9E-08A86DD12A27}"/>
            </c:ext>
          </c:extLst>
        </c:ser>
        <c:ser>
          <c:idx val="30"/>
          <c:order val="30"/>
          <c:tx>
            <c:v>Read at 20 horizontal guide 17</c:v>
          </c:tx>
          <c:spPr>
            <a:ln w="22860">
              <a:solidFill>
                <a:srgbClr val="2378A1"/>
              </a:solidFill>
              <a:prstDash val="solid"/>
            </a:ln>
          </c:spPr>
          <c:marker>
            <c:symbol val="none"/>
          </c:marker>
          <c:xVal>
            <c:numRef>
              <c:f>'Chart Data'!$BI$2:$BI$3</c:f>
              <c:numCache>
                <c:formatCode>0.##</c:formatCode>
                <c:ptCount val="2"/>
                <c:pt idx="0">
                  <c:v>11.290824000000001</c:v>
                </c:pt>
                <c:pt idx="1">
                  <c:v>10.979782</c:v>
                </c:pt>
              </c:numCache>
            </c:numRef>
          </c:xVal>
          <c:yVal>
            <c:numRef>
              <c:f>'Chart Data'!$BJ$2:$BJ$3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E-B637-4062-8A9E-08A86DD12A27}"/>
            </c:ext>
          </c:extLst>
        </c:ser>
        <c:ser>
          <c:idx val="31"/>
          <c:order val="31"/>
          <c:tx>
            <c:v>Read at 20 horizontal guide 18</c:v>
          </c:tx>
          <c:spPr>
            <a:ln w="22860">
              <a:solidFill>
                <a:srgbClr val="2378A1"/>
              </a:solidFill>
              <a:prstDash val="solid"/>
            </a:ln>
          </c:spPr>
          <c:marker>
            <c:symbol val="none"/>
          </c:marker>
          <c:xVal>
            <c:numRef>
              <c:f>'Chart Data'!$BK$2:$BK$3</c:f>
              <c:numCache>
                <c:formatCode>0.##</c:formatCode>
                <c:ptCount val="2"/>
                <c:pt idx="0">
                  <c:v>10.746501</c:v>
                </c:pt>
                <c:pt idx="1">
                  <c:v>10.435459</c:v>
                </c:pt>
              </c:numCache>
            </c:numRef>
          </c:xVal>
          <c:yVal>
            <c:numRef>
              <c:f>'Chart Data'!$BL$2:$BL$3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1F-B637-4062-8A9E-08A86DD12A27}"/>
            </c:ext>
          </c:extLst>
        </c:ser>
        <c:ser>
          <c:idx val="32"/>
          <c:order val="32"/>
          <c:tx>
            <c:v>Read at 20 horizontal guide 19</c:v>
          </c:tx>
          <c:spPr>
            <a:ln w="22860">
              <a:solidFill>
                <a:srgbClr val="2378A1"/>
              </a:solidFill>
              <a:prstDash val="solid"/>
            </a:ln>
          </c:spPr>
          <c:marker>
            <c:symbol val="none"/>
          </c:marker>
          <c:xVal>
            <c:numRef>
              <c:f>'Chart Data'!$BM$2:$BM$3</c:f>
              <c:numCache>
                <c:formatCode>0.##</c:formatCode>
                <c:ptCount val="2"/>
                <c:pt idx="0">
                  <c:v>10.202177000000001</c:v>
                </c:pt>
                <c:pt idx="1">
                  <c:v>9.8911350000000002</c:v>
                </c:pt>
              </c:numCache>
            </c:numRef>
          </c:xVal>
          <c:yVal>
            <c:numRef>
              <c:f>'Chart Data'!$BN$2:$BN$3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0-B637-4062-8A9E-08A86DD12A27}"/>
            </c:ext>
          </c:extLst>
        </c:ser>
        <c:ser>
          <c:idx val="33"/>
          <c:order val="33"/>
          <c:tx>
            <c:v>Read at 20 horizontal guide 20</c:v>
          </c:tx>
          <c:spPr>
            <a:ln w="22860">
              <a:solidFill>
                <a:srgbClr val="2378A1"/>
              </a:solidFill>
              <a:prstDash val="solid"/>
            </a:ln>
          </c:spPr>
          <c:marker>
            <c:symbol val="none"/>
          </c:marker>
          <c:xVal>
            <c:numRef>
              <c:f>'Chart Data'!$BO$2:$BO$3</c:f>
              <c:numCache>
                <c:formatCode>0.##</c:formatCode>
                <c:ptCount val="2"/>
                <c:pt idx="0">
                  <c:v>9.6578540000000004</c:v>
                </c:pt>
                <c:pt idx="1">
                  <c:v>9.3468119999999999</c:v>
                </c:pt>
              </c:numCache>
            </c:numRef>
          </c:xVal>
          <c:yVal>
            <c:numRef>
              <c:f>'Chart Data'!$BP$2:$BP$3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1-B637-4062-8A9E-08A86DD12A27}"/>
            </c:ext>
          </c:extLst>
        </c:ser>
        <c:ser>
          <c:idx val="34"/>
          <c:order val="34"/>
          <c:tx>
            <c:v>Read at 20 horizontal guide 21</c:v>
          </c:tx>
          <c:spPr>
            <a:ln w="22860">
              <a:solidFill>
                <a:srgbClr val="2378A1"/>
              </a:solidFill>
              <a:prstDash val="solid"/>
            </a:ln>
          </c:spPr>
          <c:marker>
            <c:symbol val="none"/>
          </c:marker>
          <c:xVal>
            <c:numRef>
              <c:f>'Chart Data'!$BQ$2:$BQ$3</c:f>
              <c:numCache>
                <c:formatCode>0.##</c:formatCode>
                <c:ptCount val="2"/>
                <c:pt idx="0">
                  <c:v>9.1135300000000008</c:v>
                </c:pt>
                <c:pt idx="1">
                  <c:v>8.8024880000000003</c:v>
                </c:pt>
              </c:numCache>
            </c:numRef>
          </c:xVal>
          <c:yVal>
            <c:numRef>
              <c:f>'Chart Data'!$BR$2:$BR$3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2-B637-4062-8A9E-08A86DD12A27}"/>
            </c:ext>
          </c:extLst>
        </c:ser>
        <c:ser>
          <c:idx val="35"/>
          <c:order val="35"/>
          <c:tx>
            <c:v>Read at 20 horizontal guide 22</c:v>
          </c:tx>
          <c:spPr>
            <a:ln w="22860">
              <a:solidFill>
                <a:srgbClr val="2378A1"/>
              </a:solidFill>
              <a:prstDash val="solid"/>
            </a:ln>
          </c:spPr>
          <c:marker>
            <c:symbol val="none"/>
          </c:marker>
          <c:xVal>
            <c:numRef>
              <c:f>'Chart Data'!$BS$2:$BS$3</c:f>
              <c:numCache>
                <c:formatCode>0.##</c:formatCode>
                <c:ptCount val="2"/>
                <c:pt idx="0">
                  <c:v>8.5692070000000005</c:v>
                </c:pt>
                <c:pt idx="1">
                  <c:v>8.258165</c:v>
                </c:pt>
              </c:numCache>
            </c:numRef>
          </c:xVal>
          <c:yVal>
            <c:numRef>
              <c:f>'Chart Data'!$BT$2:$BT$3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3-B637-4062-8A9E-08A86DD12A27}"/>
            </c:ext>
          </c:extLst>
        </c:ser>
        <c:ser>
          <c:idx val="36"/>
          <c:order val="36"/>
          <c:tx>
            <c:v>Read at 20 horizontal guide 23</c:v>
          </c:tx>
          <c:spPr>
            <a:ln w="22860">
              <a:solidFill>
                <a:srgbClr val="2378A1"/>
              </a:solidFill>
              <a:prstDash val="solid"/>
            </a:ln>
          </c:spPr>
          <c:marker>
            <c:symbol val="none"/>
          </c:marker>
          <c:xVal>
            <c:numRef>
              <c:f>'Chart Data'!$BU$2:$BU$3</c:f>
              <c:numCache>
                <c:formatCode>0.##</c:formatCode>
                <c:ptCount val="2"/>
                <c:pt idx="0">
                  <c:v>8.0248830000000009</c:v>
                </c:pt>
                <c:pt idx="1">
                  <c:v>7.7138410000000004</c:v>
                </c:pt>
              </c:numCache>
            </c:numRef>
          </c:xVal>
          <c:yVal>
            <c:numRef>
              <c:f>'Chart Data'!$BV$2:$BV$3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4-B637-4062-8A9E-08A86DD12A27}"/>
            </c:ext>
          </c:extLst>
        </c:ser>
        <c:ser>
          <c:idx val="37"/>
          <c:order val="37"/>
          <c:tx>
            <c:v>Read at 20 horizontal guide 24</c:v>
          </c:tx>
          <c:spPr>
            <a:ln w="22860">
              <a:solidFill>
                <a:srgbClr val="2378A1"/>
              </a:solidFill>
              <a:prstDash val="solid"/>
            </a:ln>
          </c:spPr>
          <c:marker>
            <c:symbol val="none"/>
          </c:marker>
          <c:xVal>
            <c:numRef>
              <c:f>'Chart Data'!$BW$2:$BW$3</c:f>
              <c:numCache>
                <c:formatCode>0.##</c:formatCode>
                <c:ptCount val="2"/>
                <c:pt idx="0">
                  <c:v>7.4805599999999997</c:v>
                </c:pt>
                <c:pt idx="1">
                  <c:v>7.1695180000000001</c:v>
                </c:pt>
              </c:numCache>
            </c:numRef>
          </c:xVal>
          <c:yVal>
            <c:numRef>
              <c:f>'Chart Data'!$BX$2:$BX$3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5-B637-4062-8A9E-08A86DD12A27}"/>
            </c:ext>
          </c:extLst>
        </c:ser>
        <c:ser>
          <c:idx val="38"/>
          <c:order val="38"/>
          <c:tx>
            <c:v>Read at 20 horizontal guide 25</c:v>
          </c:tx>
          <c:spPr>
            <a:ln w="22860">
              <a:solidFill>
                <a:srgbClr val="2378A1"/>
              </a:solidFill>
              <a:prstDash val="solid"/>
            </a:ln>
          </c:spPr>
          <c:marker>
            <c:symbol val="none"/>
          </c:marker>
          <c:xVal>
            <c:numRef>
              <c:f>'Chart Data'!$BY$2:$BY$3</c:f>
              <c:numCache>
                <c:formatCode>0.##</c:formatCode>
                <c:ptCount val="2"/>
                <c:pt idx="0">
                  <c:v>6.9362360000000001</c:v>
                </c:pt>
                <c:pt idx="1">
                  <c:v>6.6251939999999996</c:v>
                </c:pt>
              </c:numCache>
            </c:numRef>
          </c:xVal>
          <c:yVal>
            <c:numRef>
              <c:f>'Chart Data'!$BZ$2:$BZ$3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6-B637-4062-8A9E-08A86DD12A27}"/>
            </c:ext>
          </c:extLst>
        </c:ser>
        <c:ser>
          <c:idx val="39"/>
          <c:order val="39"/>
          <c:tx>
            <c:v>Read at 20 horizontal guide 26</c:v>
          </c:tx>
          <c:spPr>
            <a:ln w="22860">
              <a:solidFill>
                <a:srgbClr val="2378A1"/>
              </a:solidFill>
              <a:prstDash val="solid"/>
            </a:ln>
          </c:spPr>
          <c:marker>
            <c:symbol val="none"/>
          </c:marker>
          <c:xVal>
            <c:numRef>
              <c:f>'Chart Data'!$CA$2:$CA$3</c:f>
              <c:numCache>
                <c:formatCode>0.##</c:formatCode>
                <c:ptCount val="2"/>
                <c:pt idx="0">
                  <c:v>6.3919129999999997</c:v>
                </c:pt>
                <c:pt idx="1">
                  <c:v>6.0808710000000001</c:v>
                </c:pt>
              </c:numCache>
            </c:numRef>
          </c:xVal>
          <c:yVal>
            <c:numRef>
              <c:f>'Chart Data'!$CB$2:$CB$3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7-B637-4062-8A9E-08A86DD12A27}"/>
            </c:ext>
          </c:extLst>
        </c:ser>
        <c:ser>
          <c:idx val="40"/>
          <c:order val="40"/>
          <c:tx>
            <c:v>Read at 20 horizontal guide 27</c:v>
          </c:tx>
          <c:spPr>
            <a:ln w="22860">
              <a:solidFill>
                <a:srgbClr val="2378A1"/>
              </a:solidFill>
              <a:prstDash val="solid"/>
            </a:ln>
          </c:spPr>
          <c:marker>
            <c:symbol val="none"/>
          </c:marker>
          <c:xVal>
            <c:numRef>
              <c:f>'Chart Data'!$CC$2:$CC$3</c:f>
              <c:numCache>
                <c:formatCode>0.##</c:formatCode>
                <c:ptCount val="2"/>
                <c:pt idx="0">
                  <c:v>5.8475890000000001</c:v>
                </c:pt>
                <c:pt idx="1">
                  <c:v>5.5365469999999997</c:v>
                </c:pt>
              </c:numCache>
            </c:numRef>
          </c:xVal>
          <c:yVal>
            <c:numRef>
              <c:f>'Chart Data'!$CD$2:$CD$3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8-B637-4062-8A9E-08A86DD12A27}"/>
            </c:ext>
          </c:extLst>
        </c:ser>
        <c:ser>
          <c:idx val="41"/>
          <c:order val="41"/>
          <c:tx>
            <c:v>Read at 20 horizontal guide 28</c:v>
          </c:tx>
          <c:spPr>
            <a:ln w="22860">
              <a:solidFill>
                <a:srgbClr val="2378A1"/>
              </a:solidFill>
              <a:prstDash val="solid"/>
            </a:ln>
          </c:spPr>
          <c:marker>
            <c:symbol val="none"/>
          </c:marker>
          <c:xVal>
            <c:numRef>
              <c:f>'Chart Data'!$CE$2:$CE$3</c:f>
              <c:numCache>
                <c:formatCode>0.##</c:formatCode>
                <c:ptCount val="2"/>
                <c:pt idx="0">
                  <c:v>5.3032659999999998</c:v>
                </c:pt>
                <c:pt idx="1">
                  <c:v>4.9922240000000002</c:v>
                </c:pt>
              </c:numCache>
            </c:numRef>
          </c:xVal>
          <c:yVal>
            <c:numRef>
              <c:f>'Chart Data'!$CF$2:$CF$3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9-B637-4062-8A9E-08A86DD12A27}"/>
            </c:ext>
          </c:extLst>
        </c:ser>
        <c:ser>
          <c:idx val="42"/>
          <c:order val="42"/>
          <c:tx>
            <c:v>Read at 20 horizontal guide 29</c:v>
          </c:tx>
          <c:spPr>
            <a:ln w="22860">
              <a:solidFill>
                <a:srgbClr val="2378A1"/>
              </a:solidFill>
              <a:prstDash val="solid"/>
            </a:ln>
          </c:spPr>
          <c:marker>
            <c:symbol val="none"/>
          </c:marker>
          <c:xVal>
            <c:numRef>
              <c:f>'Chart Data'!$CG$2:$CG$3</c:f>
              <c:numCache>
                <c:formatCode>0.##</c:formatCode>
                <c:ptCount val="2"/>
                <c:pt idx="0">
                  <c:v>4.7589420000000002</c:v>
                </c:pt>
                <c:pt idx="1">
                  <c:v>4.4478999999999997</c:v>
                </c:pt>
              </c:numCache>
            </c:numRef>
          </c:xVal>
          <c:yVal>
            <c:numRef>
              <c:f>'Chart Data'!$CH$2:$CH$3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A-B637-4062-8A9E-08A86DD12A27}"/>
            </c:ext>
          </c:extLst>
        </c:ser>
        <c:ser>
          <c:idx val="43"/>
          <c:order val="43"/>
          <c:tx>
            <c:v>Read at 20 horizontal guide 30</c:v>
          </c:tx>
          <c:spPr>
            <a:ln w="22860">
              <a:solidFill>
                <a:srgbClr val="2378A1"/>
              </a:solidFill>
              <a:prstDash val="solid"/>
            </a:ln>
          </c:spPr>
          <c:marker>
            <c:symbol val="none"/>
          </c:marker>
          <c:xVal>
            <c:numRef>
              <c:f>'Chart Data'!$CI$2:$CI$3</c:f>
              <c:numCache>
                <c:formatCode>0.##</c:formatCode>
                <c:ptCount val="2"/>
                <c:pt idx="0">
                  <c:v>4.2146189999999999</c:v>
                </c:pt>
                <c:pt idx="1">
                  <c:v>3.9035769999999999</c:v>
                </c:pt>
              </c:numCache>
            </c:numRef>
          </c:xVal>
          <c:yVal>
            <c:numRef>
              <c:f>'Chart Data'!$CJ$2:$CJ$3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B-B637-4062-8A9E-08A86DD12A27}"/>
            </c:ext>
          </c:extLst>
        </c:ser>
        <c:ser>
          <c:idx val="44"/>
          <c:order val="44"/>
          <c:tx>
            <c:v>Read at 20 horizontal guide 31</c:v>
          </c:tx>
          <c:spPr>
            <a:ln w="22860">
              <a:solidFill>
                <a:srgbClr val="2378A1"/>
              </a:solidFill>
              <a:prstDash val="solid"/>
            </a:ln>
          </c:spPr>
          <c:marker>
            <c:symbol val="none"/>
          </c:marker>
          <c:xVal>
            <c:numRef>
              <c:f>'Chart Data'!$CK$2:$CK$3</c:f>
              <c:numCache>
                <c:formatCode>0.##</c:formatCode>
                <c:ptCount val="2"/>
                <c:pt idx="0">
                  <c:v>3.6702949999999999</c:v>
                </c:pt>
                <c:pt idx="1">
                  <c:v>3.3592529999999998</c:v>
                </c:pt>
              </c:numCache>
            </c:numRef>
          </c:xVal>
          <c:yVal>
            <c:numRef>
              <c:f>'Chart Data'!$CL$2:$CL$3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C-B637-4062-8A9E-08A86DD12A27}"/>
            </c:ext>
          </c:extLst>
        </c:ser>
        <c:ser>
          <c:idx val="45"/>
          <c:order val="45"/>
          <c:tx>
            <c:v>Read at 20 horizontal guide 32</c:v>
          </c:tx>
          <c:spPr>
            <a:ln w="22860">
              <a:solidFill>
                <a:srgbClr val="2378A1"/>
              </a:solidFill>
              <a:prstDash val="solid"/>
            </a:ln>
          </c:spPr>
          <c:marker>
            <c:symbol val="none"/>
          </c:marker>
          <c:xVal>
            <c:numRef>
              <c:f>'Chart Data'!$CM$2:$CM$3</c:f>
              <c:numCache>
                <c:formatCode>0.##</c:formatCode>
                <c:ptCount val="2"/>
                <c:pt idx="0">
                  <c:v>3.125972</c:v>
                </c:pt>
                <c:pt idx="1">
                  <c:v>2.8149299999999999</c:v>
                </c:pt>
              </c:numCache>
            </c:numRef>
          </c:xVal>
          <c:yVal>
            <c:numRef>
              <c:f>'Chart Data'!$CN$2:$CN$3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D-B637-4062-8A9E-08A86DD12A27}"/>
            </c:ext>
          </c:extLst>
        </c:ser>
        <c:ser>
          <c:idx val="46"/>
          <c:order val="46"/>
          <c:tx>
            <c:v>Read at 20 horizontal guide 33</c:v>
          </c:tx>
          <c:spPr>
            <a:ln w="22860">
              <a:solidFill>
                <a:srgbClr val="2378A1"/>
              </a:solidFill>
              <a:prstDash val="solid"/>
            </a:ln>
          </c:spPr>
          <c:marker>
            <c:symbol val="none"/>
          </c:marker>
          <c:xVal>
            <c:numRef>
              <c:f>'Chart Data'!$CO$2:$CO$3</c:f>
              <c:numCache>
                <c:formatCode>0.##</c:formatCode>
                <c:ptCount val="2"/>
                <c:pt idx="0">
                  <c:v>2.5816490000000001</c:v>
                </c:pt>
                <c:pt idx="1">
                  <c:v>2.270607</c:v>
                </c:pt>
              </c:numCache>
            </c:numRef>
          </c:xVal>
          <c:yVal>
            <c:numRef>
              <c:f>'Chart Data'!$CP$2:$CP$3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E-B637-4062-8A9E-08A86DD12A27}"/>
            </c:ext>
          </c:extLst>
        </c:ser>
        <c:ser>
          <c:idx val="47"/>
          <c:order val="47"/>
          <c:tx>
            <c:v>Read at 20 horizontal guide 34</c:v>
          </c:tx>
          <c:spPr>
            <a:ln w="22860">
              <a:solidFill>
                <a:srgbClr val="2378A1"/>
              </a:solidFill>
              <a:prstDash val="solid"/>
            </a:ln>
          </c:spPr>
          <c:marker>
            <c:symbol val="none"/>
          </c:marker>
          <c:xVal>
            <c:numRef>
              <c:f>'Chart Data'!$CQ$2:$CQ$3</c:f>
              <c:numCache>
                <c:formatCode>0.##</c:formatCode>
                <c:ptCount val="2"/>
                <c:pt idx="0">
                  <c:v>2.0373250000000001</c:v>
                </c:pt>
                <c:pt idx="1">
                  <c:v>1.726283</c:v>
                </c:pt>
              </c:numCache>
            </c:numRef>
          </c:xVal>
          <c:yVal>
            <c:numRef>
              <c:f>'Chart Data'!$CR$2:$CR$3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2F-B637-4062-8A9E-08A86DD12A27}"/>
            </c:ext>
          </c:extLst>
        </c:ser>
        <c:ser>
          <c:idx val="48"/>
          <c:order val="48"/>
          <c:tx>
            <c:v>Read at 20 horizontal guide 35</c:v>
          </c:tx>
          <c:spPr>
            <a:ln w="22860">
              <a:solidFill>
                <a:srgbClr val="2378A1"/>
              </a:solidFill>
              <a:prstDash val="solid"/>
            </a:ln>
          </c:spPr>
          <c:marker>
            <c:symbol val="none"/>
          </c:marker>
          <c:xVal>
            <c:numRef>
              <c:f>'Chart Data'!$CS$2:$CS$3</c:f>
              <c:numCache>
                <c:formatCode>0.##</c:formatCode>
                <c:ptCount val="2"/>
                <c:pt idx="0">
                  <c:v>1.4930019999999999</c:v>
                </c:pt>
                <c:pt idx="1">
                  <c:v>1.1819599999999999</c:v>
                </c:pt>
              </c:numCache>
            </c:numRef>
          </c:xVal>
          <c:yVal>
            <c:numRef>
              <c:f>'Chart Data'!$CT$2:$CT$3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30-B637-4062-8A9E-08A86DD12A27}"/>
            </c:ext>
          </c:extLst>
        </c:ser>
        <c:ser>
          <c:idx val="49"/>
          <c:order val="49"/>
          <c:tx>
            <c:v>Read at 20 horizontal guide 36</c:v>
          </c:tx>
          <c:spPr>
            <a:ln w="22860">
              <a:solidFill>
                <a:srgbClr val="2378A1"/>
              </a:solidFill>
              <a:prstDash val="solid"/>
            </a:ln>
          </c:spPr>
          <c:marker>
            <c:symbol val="none"/>
          </c:marker>
          <c:xVal>
            <c:numRef>
              <c:f>'Chart Data'!$CU$2:$CU$3</c:f>
              <c:numCache>
                <c:formatCode>0.##</c:formatCode>
                <c:ptCount val="2"/>
                <c:pt idx="0">
                  <c:v>0.94867800000000002</c:v>
                </c:pt>
                <c:pt idx="1">
                  <c:v>0.63763599999999998</c:v>
                </c:pt>
              </c:numCache>
            </c:numRef>
          </c:xVal>
          <c:yVal>
            <c:numRef>
              <c:f>'Chart Data'!$CV$2:$CV$3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31-B637-4062-8A9E-08A86DD12A27}"/>
            </c:ext>
          </c:extLst>
        </c:ser>
        <c:ser>
          <c:idx val="50"/>
          <c:order val="50"/>
          <c:tx>
            <c:v>Read at 20 horizontal guide 37</c:v>
          </c:tx>
          <c:spPr>
            <a:ln w="22860">
              <a:solidFill>
                <a:srgbClr val="2378A1"/>
              </a:solidFill>
              <a:prstDash val="solid"/>
            </a:ln>
          </c:spPr>
          <c:marker>
            <c:symbol val="none"/>
          </c:marker>
          <c:xVal>
            <c:numRef>
              <c:f>'Chart Data'!$CW$2:$CW$3</c:f>
              <c:numCache>
                <c:formatCode>0.##</c:formatCode>
                <c:ptCount val="2"/>
                <c:pt idx="0">
                  <c:v>0.40435500000000002</c:v>
                </c:pt>
                <c:pt idx="1">
                  <c:v>9.3312999999999993E-2</c:v>
                </c:pt>
              </c:numCache>
            </c:numRef>
          </c:xVal>
          <c:yVal>
            <c:numRef>
              <c:f>'Chart Data'!$CX$2:$CX$3</c:f>
              <c:numCache>
                <c:formatCode>0.##</c:formatCode>
                <c:ptCount val="2"/>
                <c:pt idx="0">
                  <c:v>230.33980600000001</c:v>
                </c:pt>
                <c:pt idx="1">
                  <c:v>230.33980600000001</c:v>
                </c:pt>
              </c:numCache>
            </c:numRef>
          </c:yVal>
          <c:smooth val="1"/>
          <c:extLst>
            <c:ext xmlns:c16="http://schemas.microsoft.com/office/drawing/2014/chart" uri="{C3380CC4-5D6E-409C-BE32-E72D297353CC}">
              <c16:uniqueId val="{00000032-B637-4062-8A9E-08A86DD12A27}"/>
            </c:ext>
          </c:extLst>
        </c:ser>
        <c:dLbls>
          <c:showLegendKey val="0"/>
          <c:showVal val="0"/>
          <c:showCatName val="0"/>
          <c:showSerName val="0"/>
          <c:showPercent val="0"/>
          <c:showBubbleSize val="0"/>
        </c:dLbls>
        <c:axId val="48650112"/>
        <c:axId val="48672768"/>
      </c:scatterChart>
      <c:valAx>
        <c:axId val="48672768"/>
        <c:scaling>
          <c:orientation val="minMax"/>
          <c:max val="350"/>
          <c:min val="0"/>
        </c:scaling>
        <c:delete val="0"/>
        <c:axPos val="l"/>
        <c:majorGridlines>
          <c:spPr>
            <a:ln w="6668">
              <a:solidFill>
                <a:srgbClr val="D0D8DD"/>
              </a:solidFill>
              <a:prstDash val="solid"/>
            </a:ln>
          </c:spPr>
        </c:majorGridlines>
        <c:title>
          <c:tx>
            <c:rich>
              <a:bodyPr/>
              <a:lstStyle/>
              <a:p>
                <a:r>
                  <a:rPr sz="1650">
                    <a:solidFill>
                      <a:srgbClr val="111111"/>
                    </a:solidFill>
                    <a:latin typeface="Aptos"/>
                    <a:ea typeface="Aptos"/>
                    <a:cs typeface="Aptos"/>
                  </a:rPr>
                  <a:t>Sales (£ thousands) (Y)</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50112"/>
        <c:crosses val="autoZero"/>
        <c:crossBetween val="midCat"/>
        <c:majorUnit val="50"/>
      </c:valAx>
      <c:valAx>
        <c:axId val="48650112"/>
        <c:scaling>
          <c:orientation val="minMax"/>
          <c:max val="25"/>
          <c:min val="0"/>
        </c:scaling>
        <c:delete val="0"/>
        <c:axPos val="b"/>
        <c:title>
          <c:tx>
            <c:rich>
              <a:bodyPr/>
              <a:lstStyle/>
              <a:p>
                <a:r>
                  <a:rPr sz="1650">
                    <a:solidFill>
                      <a:srgbClr val="111111"/>
                    </a:solidFill>
                    <a:latin typeface="Aptos"/>
                    <a:ea typeface="Aptos"/>
                    <a:cs typeface="Aptos"/>
                  </a:rPr>
                  <a:t>Advertising (£ thousands) (X)</a:t>
                </a:r>
              </a:p>
            </c:rich>
          </c:tx>
          <c:overlay val="0"/>
        </c:title>
        <c:numFmt formatCode="0.##" sourceLinked="1"/>
        <c:majorTickMark val="none"/>
        <c:minorTickMark val="none"/>
        <c:tickLblPos val="nextTo"/>
        <c:spPr>
          <a:ln w="13335">
            <a:solidFill>
              <a:srgbClr val="111111"/>
            </a:solidFill>
            <a:prstDash val="solid"/>
          </a:ln>
        </c:spPr>
        <c:txPr>
          <a:bodyPr anchorCtr="1"/>
          <a:lstStyle/>
          <a:p>
            <a:pPr>
              <a:defRPr sz="1650">
                <a:solidFill>
                  <a:srgbClr val="111111"/>
                </a:solidFill>
                <a:latin typeface="Aptos"/>
                <a:ea typeface="Aptos"/>
                <a:cs typeface="Aptos"/>
              </a:defRPr>
            </a:pPr>
            <a:endParaRPr lang="en-US"/>
          </a:p>
        </c:txPr>
        <c:crossAx val="48672768"/>
        <c:crosses val="autoZero"/>
        <c:crossBetween val="midCat"/>
        <c:majorUnit val="5"/>
      </c:valAx>
      <c:spPr>
        <a:noFill/>
        <a:ln w="0">
          <a:noFill/>
        </a:ln>
      </c:spPr>
    </c:plotArea>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In class in both routes.</a:t>
            </a:r>
          </a:p>
          <a:p>
            <a:endParaRPr/>
          </a:p>
          <a:p>
            <a:r>
              <a:t>Full practical route: approximately 110 minutes (109.75 minutes in the timing plan). For approximately 90 minutes, assign slides 38–40 after class (median practice, 6 minutes), slide 50 (prediction comparison, 2 minutes), slides 56–57 (independent boxplot practice, 7.5 minutes), and slides 58–59 (graph choices, 4 minutes). This leaves 90.25 minutes. Keep the complete Food Club median explanation and guided boxplot construction in class. Class A remains the foundation; Class C will apply these ideas in Excel.</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0.75 minutes. In class in both routes.</a:t>
            </a:r>
          </a:p>
          <a:p>
            <a:endParaRPr/>
          </a:p>
          <a:p>
            <a:r>
              <a:t>Preview all five graph types and the practical sequence: calculate, construct, then interpret. The full route takes approximately 110 minutes. The approximately 90-minute route moves slides 38–40, 50, 56–57 and 58–59 to after-class practice, saving 19.5 minutes. Keep the Food Club median model and the guided boxplot drawing in class. Students need graph paper, a ruler, a calculator and their Class A table. Explain that quartiles are familiar, but boxplots are being introduced as a new graph.</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In class in both routes.</a:t>
            </a:r>
          </a:p>
          <a:p>
            <a:endParaRPr/>
          </a:p>
          <a:p>
            <a:r>
              <a:t>Allow three minutes for independent recall, with a quick pair check if time permits. Ask students to justify which interval includes 40 before calculating anything else. They should find the midpoint of 30 ≤ x &lt; 40 and express seven of 25 sessions as both a proportion and a percentage. Keep the answer slide hidden until students have attempted all three questions.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In class in both routes.</a:t>
            </a:r>
          </a:p>
          <a:p>
            <a:endParaRPr/>
          </a:p>
          <a:p>
            <a:r>
              <a:t>Check that 40 belongs to 40 ≤ x &lt; 50 because the lower endpoint is included; 30 ≤ x &lt; 40 excludes it. The midpoint is (30 + 40) ÷ 2 = 35. Seven out of 25 gives 7 ÷ 25 = 0.28 = 28%. The decimal proportion and percentage express the same share; the percentage uses an out-of-100 scale.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In class in both routes.</a:t>
            </a:r>
          </a:p>
          <a:p>
            <a:endParaRPr/>
          </a:p>
          <a:p>
            <a:r>
              <a:t>Introduce histograms as a way to see where numerical results are concentrated. Connect this section to the frequency table constructed in Class A. Explain that students will first watch one worked construction, then count a different set of raw records and build their own histogram. Move promptly to the Food Club table.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Recall the Food Club story: the club promoted a cooking workshop in 25 sessions, each lasting 30 minutes. Each observation records the sign-ups during one session. Here x means sign-ups per session, while frequency counts sessions in an interval. Ask which interval was most common: 30 ≤ x &lt; 40, containing ten sessions. The frequencies total 25; they are not the total number of sign-ups.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Compare the horizontal axes first. The bar chart separates drink categories, whereas the histogram groups a numerical variable into adjacent intervals. The numerical intervals must stay in order, and adjacent histogram bars touch. Histograms can group discrete counts such as sign-ups as well as measurements. All intervals here have equal width, so frequency can be shown as bar height.</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Model the first rectangle slowly. Its horizontal interval runs from 10 to 20, so its width is 20 − 10 = 10 sign-ups. Its frequency is two sessions, so its height is two. Use an evenly spaced scale. Only the first rectangle is displayed; the next slide completes the other heights of seven, ten and six. Keep the units of width and height distinct.</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In class in both routes.</a:t>
            </a:r>
          </a:p>
          <a:p>
            <a:endParaRPr/>
          </a:p>
          <a:p>
            <a:r>
              <a:t>Check the completed heights: 2, 7, 10 and 6. The tallest bar identifies the modal class, 30 ≤ x &lt; 40. It contains 10 of 25 sessions, giving 10 ÷ 25 = 40%. Do not call the midpoint 35 the exact mode. Frequency heights are suitable here because every interval has the same width; unequal-width histograms require a different vertical scale.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 minutes. In class in both routes. Give students time to tally the shuffled Smoothie Club records independently before revealing the frequency table. Each number is the sign-ups from one 30-minute promotion session. Every record must be counted once. Check the boundary value 30: it belongs to 30 ≤ x &lt; 40. The resulting frequencies are 4, 8, 6 and 2, which total 20 sessions. Final exercise revision: all table body cells are empty. Students construct four intervals of width 10 and choose a starting boundary that is a multiple of 10 (here, 10), then tally and calculate the frequencies. Keep the shuffled data visible. Expected intervals: 10 ≤ x &lt; 20, 20 ≤ x &lt; 30, 30 ≤ x &lt; 40, 40 ≤ x &lt; 50. Expected frequencies: 4, 8, 6, 2. 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 minutes. In class in both routes.</a:t>
            </a:r>
          </a:p>
          <a:p>
            <a:endParaRPr/>
          </a:p>
          <a:p>
            <a:r>
              <a:t>First ask pairs to compare their tallies with the grouped records shown. The first interval contains 12, 15, 18 and 19; the remaining frequencies are eight, six and two. Students now draw their own histogram using those calculated frequencies. All widths are ten. Ask how many sessions had at least 30 sign-ups: 6 + 2 = 8 sessions, equivalent to 40%.</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In class in both routes.</a:t>
            </a:r>
          </a:p>
          <a:p>
            <a:endParaRPr/>
          </a:p>
          <a:p>
            <a:r>
              <a:t>Reveal the Smoothie Club histogram only after students have drawn it. Check bar heights 4, 8, 6 and 2, touching bars, axis labels and an even scale. The modal class is 20 ≤ x &lt; 30. At least 30 sign-ups includes both final intervals, giving 6 + 2 = 8 sessions, or 8 ÷ 20 = 40%.</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Both graphs describe the same 25 Food Club sessions. Combining the first two intervals gives 2 + 7 = 9 sessions; combining the final two gives 10 + 6 = 16. Ask what detail is lost in the wider grouping. It hides the difference between the 30–40 and 40–50 classes. Each individual graph still uses equal-width intervals throughout.</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In class in both routes.</a:t>
            </a:r>
          </a:p>
          <a:p>
            <a:endParaRPr/>
          </a:p>
          <a:p>
            <a:r>
              <a:t>Introduce the next representation of a grouped distribution. A frequency polygon retains the class frequencies but displays them as points joined by straight segments. Its purpose is to make distribution shape and comparisons easier to see. Students will reuse their Smoothie Club frequencies after the Food Club demonstration, linking different graphs to the same underlying records.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Define the frequency polygon before discussing its table. Each point represents one interval, placed horizontally at its midpoint and vertically at its frequency. Straight lines connect the points in numerical order. The shape helps reveal where observations cluster, and several polygons can share the same axes for comparison. This is a distribution graph; the line does not show change over time.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A polygon needs one horizontal location for each interval, so use the midpoint to represent its centre. For 20 ≤ x &lt; 30, the midpoint is 25 and the frequency is seven, giving the point (25, 7). Trace the X and Y headings into the coordinate pair. Here the midpoint locates a graph point; it does not claim that all seven original records equal 25.</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Intervals follow 10 ≤ x &lt; 20, 20 ≤ x &lt; 30, 30 ≤ x &lt; 40 and 40 ≤ x &lt; 50. Midpoint–frequency pairs are (15,2), (25,7), (35,10), (45,6). All three charts use identical axes and data. In the middle chart, the dots sit at the centre of each bar's top edge. Closing points (5,0) and (55,0) are one class width beyond the first/last midpoints and add no observations. Ask: why does the dot above 20 ≤ x &lt; 30 go at 25? Answer: 25 is the midpoint.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50-session column is an imagined comparison with twice the frequency in every interval. Each proportion stays the same. In a relative-frequency polygon, keep the same midpoint on X and replace each count on Y with frequency divided by the total. Relative frequency may be shown as a decimal or percentage. For the first interval, (15,2) on the Food Club frequency polygon becomes (15,0.08), or (15,8) when the Y axis is labelled percent.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5.5 minutes. In class in both routes.</a:t>
            </a:r>
          </a:p>
          <a:p>
            <a:endParaRPr/>
          </a:p>
          <a:p>
            <a:r>
              <a:t>Students use their own Smoothie Club frequencies, 4, 8, 6 and 2. They draw the frequency polygon, calculate percentages of 20%, 40%, 30% and 10%, then draw its percentage version. Both plots use midpoints 15, 25, 35 and 45, closing at (5, 0) and (55, 0). Allow 5.5 minutes in either route. Ask what changes and what stays the same before showing the answer.</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1.25 minutes. In class in both routes.</a:t>
            </a:r>
          </a:p>
          <a:p>
            <a:endParaRPr/>
          </a:p>
          <a:p>
            <a:r>
              <a:t>Compare the two Smoothie Club plots. Frequency answers how many sessions lie in each class; percentage frequency answers what share of the 20 sessions lies there. The equivalent proportions are 0.20, 0.40, 0.30 and 0.10. The X-values and overall shape stay the same because every frequency is divided by the same total. The next slide uses this percentage scale to compare two clubs.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Use the red Food Club polygon and blue Smoothie Club polygon to compare proportions fairly: Food Club has 25 sessions, Smoothie Club has 20. In 20 ≤ x &lt; 30, the shares are 28% and 40%, respectively. Both graphs use the same intervals and axes. Explain that raw counts alone can reflect group size; percentage polygons help compare the distributions of results.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In class in both routes.</a:t>
            </a:r>
          </a:p>
          <a:p>
            <a:endParaRPr/>
          </a:p>
          <a:p>
            <a:r>
              <a:t>Introduce a new question: how many observations are below a chosen boundary? Explain that answering this requires adding frequencies from earlier intervals, rather than reading one class alone. The following model returns explicitly to the Food Club and keeps its table, ogive and median explanation together before moving to independent Smoothie Club practice.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Reset the context clearly: this is the Food Club's 25 promotion sessions, not the Smoothie Club's 20. Ask how many sessions attracted fewer than 30 sign-ups. Include both first intervals: 2 + 7 = 9 sessions. Each observation remains one promotion session. We are adding counts of sessions; we are not adding the individual numbers of people who signed up.</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In class in both routes.</a:t>
            </a:r>
          </a:p>
          <a:p>
            <a:endParaRPr/>
          </a:p>
          <a:p>
            <a:r>
              <a:t>Define cumulative frequency as a running total. Read the second row slowly: seven sessions are in 20 ≤ x &lt; 30, and two occurred in the earlier class, so nine are below 30. The X-value is the upper boundary; the Y-value is the cumulative session count below it. Running totals are 2, 9, 19 and 25. The last total must equal 25; do not sum the CF column.</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Define an ogive as a graph of cumulative frequency against upper class boundaries. Explain its purpose: reading how many observations fall below a threshold and estimating percentage cut-offs such as the median. Trace the Food Club row with upper boundary 30 and cumulative frequency nine. The point (30, 9) means nine sessions had fewer than 30 sign-ups, not exactly 30 sign-ups.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In class in both routes.</a:t>
            </a:r>
          </a:p>
          <a:p>
            <a:endParaRPr/>
          </a:p>
          <a:p>
            <a:r>
              <a:t>Trace each Food Club table row to its plotted point: (20, 2), (30, 9), (40, 19) and (50, 25). Add (10, 0), since no sessions are below the first boundary, then join consecutive points. X measures sign-ups per session; Y counts accumulated sessions. An ogive can rise or stay level, but its running count cannot decrease.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In class in both routes.</a:t>
            </a:r>
          </a:p>
          <a:p>
            <a:endParaRPr/>
          </a:p>
          <a:p>
            <a:r>
              <a:t>Use a ruler or pointer to trace from X to the graph and across to Y. Below 30 sign-ups gives nine sessions; below 40 gives 19. To find the number in 30 ≤ x &lt; 40, subtract the earlier cumulative count: 19 − 9 = 10. The grey and blue guides are reading aids, not additional observations. Keep naming the Food Club dataset.</a:t>
            </a:r>
          </a:p>
          <a:p>
            <a:r>
              <a:t>Reading guides are dashed, straight horizontal and vertical segments meeting at exactly 90 degrees. They share the same reading point on the data line and connect it to the appropriate axis values. They are reading aids, not additional observations.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Introduce the goal before the calculation. We want the sign-up level that separates the Food Club results into a lower half and an upper half. Half of a distribution is 50%, so we will locate 50% on Y and read the corresponding sign-up value on X. This is not a target of 50 sign-ups. Because the data are grouped, the ogive supplies an estimate.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In class in both routes.</a:t>
            </a:r>
          </a:p>
          <a:p>
            <a:endParaRPr/>
          </a:p>
          <a:p>
            <a:r>
              <a:t>Convert the Food Club running totals into proportions and percentages without changing the boundaries. For the second row, 9 ÷ 25 = 0.36 = 36%. The cumulative proportions are 0.08, 0.36, 0.76 and 1; percentages are 8%, 36%, 76% and 100%. Each calculation uses the running total rather than one class frequency. The final value must represent all observations: 100%.</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Suggested time: 2 minutes. In class in both routes.</a:t>
            </a:r>
          </a:p>
          <a:p>
            <a:endParaRPr dirty="0"/>
          </a:p>
          <a:p>
            <a:r>
              <a:rPr dirty="0"/>
              <a:t>Keep the Food Club table visible beside its percentage ogive. Start at 50% on Y, move across to the line, then down to X. Since 36% is below 50% and 76% is above it, the median lies in 30 ≤ x &lt; 40. Ask for a rough reading of 33–34 sign-ups first. The next two slides explain how to calculate that location more precisely.</a:t>
            </a:r>
          </a:p>
          <a:p>
            <a:r>
              <a:rPr dirty="0"/>
              <a:t>Reading guides are dashed, straight horizontal and vertical segments meeting at exactly 90 degrees. They share the same reading point on the data line and connect it to the appropriate axis values. They are reading aids, not additional observations.</a:t>
            </a:r>
          </a:p>
          <a:p>
            <a:endParaRPr dirty="0"/>
          </a:p>
          <a:p>
            <a:r>
              <a:rPr dirty="0"/>
              <a:t>Sources: </a:t>
            </a:r>
            <a:r>
              <a:rPr dirty="0" err="1"/>
              <a:t>Bellerbys</a:t>
            </a:r>
            <a:r>
              <a:rPr dirty="0"/>
              <a:t>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a:t>
            </a:r>
            <a:r>
              <a:rPr dirty="0" err="1"/>
              <a:t>Bellerbys</a:t>
            </a:r>
            <a:r>
              <a:rPr dirty="0"/>
              <a:t> convention lower ≤ x &lt; upper. Visual design retains the existing </a:t>
            </a:r>
            <a:r>
              <a:rPr dirty="0" err="1"/>
              <a:t>Bellerbys</a:t>
            </a:r>
            <a:r>
              <a:rPr dirty="0"/>
              <a:t>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In class in both routes.</a:t>
            </a:r>
          </a:p>
          <a:p>
            <a:endParaRPr/>
          </a:p>
          <a:p>
            <a:r>
              <a:t>Focus on the vertical percentage scale only. At 30 sign-ups the cumulative percentage is 36%; at 40 it is 76%. To reach the median target of 50%, we need a rise of 50 − 36 = 14 percentage points. The full rise is 76 − 36 = 40 percentage points. Therefore we need 14 ÷ 40 = 0.35 of this segment's rise.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In class in both routes.</a:t>
            </a:r>
          </a:p>
          <a:p>
            <a:endParaRPr/>
          </a:p>
          <a:p>
            <a:r>
              <a:t>Now change attention to the horizontal sign-up scale. On a straight segment, 0.35 of its rise corresponds to 0.35 of its width. The interval width is 40 − 30 = 10 sign-ups. Move 0.35 × 10 = 3.5 sign-ups from the starting value 30, giving an estimated median of 33.5. Explain that a grouped estimate may be a decimal even when the original records are counts.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In class in both routes.</a:t>
            </a:r>
          </a:p>
          <a:p>
            <a:endParaRPr/>
          </a:p>
          <a:p>
            <a:r>
              <a:t>These are the Food Club's original 25 sign-up records, now arranged in ascending order. The 13th value is 33, with 12 observations on each side, so the exact raw-data median is 33. The ogive estimate is 33.5 because its straight segments assume an even spread within each interval. Grouping loses those exact positions. Use original records for an exact median when they are available.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Food Club frequencies are 2,7,10,6 with midpoints 15,25,35,45. Estimated mean = (2×15 + 7×25 + 10×35 + 6×45) / 25 = 825/25 = 33. Median: cumulative percentages 8,36,76,100; 50% falls 14/40 of the way from 30 to 40, giving 33.5. Modal class 30 ≤ x &lt; 40 has the largest frequency, 10. The 25 original values sum to 812 (mean 32.48), their 13th value is 33, and no raw value repeats. These summaries answer different questions.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In class in both routes.</a:t>
            </a:r>
          </a:p>
          <a:p>
            <a:endParaRPr/>
          </a:p>
          <a:p>
            <a:r>
              <a:t>Only now switch to independent Smoothie Club practice, using the same 20 records students tallied for their histogram. Students calculate cumulative frequencies 4, 12, 18 and 20; cumulative proportions 0.20, 0.60, 0.90 and 1; and percentages 20%, 60%, 90% and 100%. Every row requires a calculation. Remind students that the denominator is 20 because this dataset contains 20 sessions.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In class in both routes.</a:t>
            </a:r>
          </a:p>
          <a:p>
            <a:endParaRPr/>
          </a:p>
          <a:p>
            <a:r>
              <a:t>Reveal the Smoothie Club table and read down the frequencies: four; four plus eight makes 12; add six to reach 18; add two to reach 20. At X = 30, 12 sessions are below 30 sign-ups, giving 12 ÷ 20 = 0.60 = 60%. Keep the club name explicit so students do not bring the Food Club's value of nine into this table.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In class in both routes.</a:t>
            </a:r>
          </a:p>
          <a:p>
            <a:endParaRPr/>
          </a:p>
          <a:p>
            <a:r>
              <a:t>Students construct the Smoothie Club percentage ogive from their completed table. Begin at (10, 0%), then plot (20, 20%), (30, 60%), (40, 90%) and (50, 100%). Use evenly spaced axes and join points in increasing boundary order. Ask what percentage of sessions had fewer than 40 sign-ups. The answer is 90%; if they convert to a count, 0.90 × 20 gives 18 sessions.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In class in both routes.</a:t>
            </a:r>
          </a:p>
          <a:p>
            <a:endParaRPr/>
          </a:p>
          <a:p>
            <a:r>
              <a:t>Match every red point to the adjacent Smoothie Club table. In particular, (40, 90%) means 90% of the sessions had fewer than 40 sign-ups, equivalent to 18 of 20 sessions. The starting point is (10, 0%) and the final point is (50, 100%). Students should correct labels or scales before keeping this graph for the next median task.</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Full route; after class in the 90-minute route.</a:t>
            </a:r>
          </a:p>
          <a:p>
            <a:endParaRPr/>
          </a:p>
          <a:p>
            <a:r>
              <a:t>Students independently estimate the Smoothie Club median using the same percentage method as the Food Club model. The 50% target lies between 20% at X = 20 and 60% at X = 30, so the median class is 20 ≤ x &lt; 30. Ask them to calculate the needed rise, divide by the full rise, then move that fraction across the interval. In the 90-minute route, assign slides 38–40 after class.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Full route; after class in the 90-minute route.</a:t>
            </a:r>
          </a:p>
          <a:p>
            <a:endParaRPr/>
          </a:p>
          <a:p>
            <a:r>
              <a:t>Reveal the vertical calculation first. The starting cumulative percentage is 20%, the median target is 50%, and the ending percentage is 60%. Needed rise: 50 − 20 = 30 percentage points. Full rise: 60 − 20 = 40 percentage points. The required fraction is 30 ÷ 40 = 0.75, or three quarters. These percentages refer to the Smoothie Club table throughout.</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Full route; after class in the 90-minute route.</a:t>
            </a:r>
          </a:p>
          <a:p>
            <a:endParaRPr/>
          </a:p>
          <a:p>
            <a:r>
              <a:t>Complete the horizontal calculation separately. The interval begins at 20 sign-ups and ends at 30, so its width is ten. Three quarters of this width is 0.75 × 10 = 7.5 sign-ups. Add that distance to the start: 20 + 7.5 = 27.5. State the estimated median with units. The straight-line method assumes an even spread of records within the interval.</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In class in both routes.</a:t>
            </a:r>
          </a:p>
          <a:p>
            <a:endParaRPr/>
          </a:p>
          <a:p>
            <a:r>
              <a:t>Introduce the move from one numerical variable to two numerical variables measured together. A scatterplot keeps each pair from the same observation. Explain that the next examples concern a café's daily visitors and cups sold, followed by a company's monthly advertising and sales. Students will plot paired records and use the overall pattern for a simple prediction.</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The café table is a fictional example. Each row records the number of visitors and cups sold on the same day. Tuesday supplies the point (60, 40), meaning 60 visitors and 40 cups sold together. Do not separate or reorder values independently. Establish X as the horizontal coordinate and Y as the vertical coordinate; the next slide explains how the question guides the variable choice.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For prediction, place the predictor or explanatory variable on X and the response you want to estimate on Y. Predict cups sold from visitors, or sales from advertising. Choosing X does not establish that it causes Y. If neither variable has a predictor role and the aim is only to explore association, either orientation can work with clear labels. Swapping axes changes the prediction question.</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In class in both routes.</a:t>
            </a:r>
          </a:p>
          <a:p>
            <a:endParaRPr/>
          </a:p>
          <a:p>
            <a:r>
              <a:t>Model the point (60, 40): move along X to 60 visitors, then up to 40 cups sold. Check the other four pairs against the table. More visitors tend to occur with more cups sold in this example, suggesting positive association. Do not join the dots in day order; the axes show visitors and cups, rather than a time sequence.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In class in both routes.</a:t>
            </a:r>
          </a:p>
          <a:p>
            <a:endParaRPr/>
          </a:p>
          <a:p>
            <a:r>
              <a:t>Describe the three patterns in ordinary language before using the statistical terms. Positive association: larger X tends to occur with larger Y. Negative association: larger X tends to occur with smaller Y. In the third example, there is no clear overall pattern. No correlation coefficient is required. A visible association alone does not prove cause and effect.</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 minutes. In class in both routes.</a:t>
            </a:r>
          </a:p>
          <a:p>
            <a:endParaRPr/>
          </a:p>
          <a:p>
            <a:r>
              <a:t>Allow four minutes to plot all five monthly pairs: (15, 150), (22.5, 300), (10.5, 120), (18, 180) and (21, 225). X is advertising and Y is sales, both measured in thousands of pounds. For example, X = 22.5 means £22,500. Students label both axes and describe the pattern. Keep each month's values paired, particularly the two decimal advertising amounts.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In class in both routes.</a:t>
            </a:r>
          </a:p>
          <a:p>
            <a:endParaRPr/>
          </a:p>
          <a:p>
            <a:r>
              <a:t>Check all five plotted pairs, especially (10.5, 120) and (22.5, 300). Higher advertising accompanies higher sales overall in these five months, suggesting positive association. This small observational dataset does not prove that advertising caused the sales differences. Other influences may include demand or pricing. Do not connect the dots in month order; the following task adds one line to summarise the overall pattern.</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2.5 minutes. In class in both routes.</a:t>
            </a:r>
          </a:p>
          <a:p>
            <a:endParaRPr/>
          </a:p>
          <a:p>
            <a:r>
              <a:t>Students sketch one straight trend line through the centre of the overall pattern. It should not connect successive dots or be forced through every point. Ask them to estimate sales at £20,000 advertising, an input inside the observed range but absent from the table. Then discuss £50,000, which is well outside the observed range of £10,500–£22,500. Formal regression coefficient calculations are reserved for later study.</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In class in both routes.</a:t>
            </a:r>
          </a:p>
          <a:p>
            <a:endParaRPr/>
          </a:p>
          <a:p>
            <a:r>
              <a:t>Read the reference line at X = 20: move up to the line, then across to Y, giving approximately 230 thousand pounds, or £230,000 in predicted sales. A hand-drawn line may give a somewhat different reasonable estimate. The displayed reference line predicts 230.339806 in thousands. Explain that the guide lines indicate how to read a prediction; they do not add an observed month to the data.</a:t>
            </a:r>
          </a:p>
          <a:p>
            <a:r>
              <a:t>Reading guides are dashed, straight horizontal and vertical segments meeting at exactly 90 degrees. They share the same reading point on the data line and connect it to the appropriate axis values. They are reading aids, not additional observations.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Full route; after class in the 90-minute route.</a:t>
            </a:r>
          </a:p>
          <a:p>
            <a:endParaRPr/>
          </a:p>
          <a:p>
            <a:r>
              <a:t>Contrast three cases. At £18,000 advertising, recorded sales were £180,000, while the line predicts about £203,000 because it summarises the overall pattern. At £20,000, there is no recorded month, but the within-range estimate is about £230,000. At £50,000, the input is far outside the observed budgets, so prediction is much less reliable. In the 90-minute route, assign this comparison as after-class reading.</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0.25 minutes. In class in both routes.</a:t>
            </a:r>
          </a:p>
          <a:p>
            <a:endParaRPr/>
          </a:p>
          <a:p>
            <a:r>
              <a:t>Introduce boxplots as a new graph. Students previously learned quartiles and the five-number summary, but the designed Week 3 decks did not teach boxplot construction. Explain that this section turns those five numbers into a compact picture of centre and spread. Students will follow a worked delivery-time construction before independent practice in the full route.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Define a boxplot as a graph using the minimum, lower quartile, median, upper quartile and maximum to summarise a numerical distribution. Its purpose is to compare typical values and variation. Point out the box, median line and whiskers on the example. The box spans the middle half approximately. Today's simple boxplot uses whiskers reaching the minimum and maximum; its vertical height is not a measured variable.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In class in both routes.</a:t>
            </a:r>
          </a:p>
          <a:p>
            <a:endParaRPr/>
          </a:p>
          <a:p>
            <a:r>
              <a:t>Use the 11 ordered delivery times: 12, 15, 18, 20, 22, 25, 28, 30, 32, 38 and 44 minutes. With n = 11, the Bellerbys quartile positions are ¼(11 + 1) = 3rd, ½(11 + 1) = 6th and ¾(11 + 1) = 9th. Read those values: Q1 = 18, median = 25 and Q3 = 32. Add minimum 12 and maximum 44.</a:t>
            </a:r>
          </a:p>
          <a:p>
            <a:r>
              <a:t>Use stacked fractions: Q1 position = (n + 1)/4; median position = (n + 1)/2; Q3 position = 3(n + 1)/4. With n = 11 the positions are 3, 6 and 9. Read those positions in the ordered list to obtain 18, 25 and 32 minutes. The values under the table are delivery times, not positions.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2.5 minutes. In class in both routes.</a:t>
            </a:r>
          </a:p>
          <a:p>
            <a:endParaRPr/>
          </a:p>
          <a:p>
            <a:r>
              <a:t>Construct the graph live while students draw along. Start with an evenly spaced 0–50 minute number line. Draw the box from Q1 = 18 to Q3 = 32, then a median line at 25. Extend whiskers from the box to 12 and 44. Each horizontal position represents a time. The height of the box is simply a drawing choice and carries no numerical information.</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In class in both routes.</a:t>
            </a:r>
          </a:p>
          <a:p>
            <a:endParaRPr/>
          </a:p>
          <a:p>
            <a:r>
              <a:t>Ask students which feature describes the middle value and which describes central spread. The median line gives 25 minutes. The box spans approximately the middle half, from 18 to 32 minutes, so IQR = 32 − 18 = 14 minutes. The overall range is 44 − 12 = 32 minutes. A boxplot summarises the distribution and does not display every individual delivery time.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 minutes. Full route; after class in the 90-minute route.</a:t>
            </a:r>
          </a:p>
          <a:p>
            <a:endParaRPr/>
          </a:p>
          <a:p>
            <a:r>
              <a:t>Allow six minutes for independent work. The second service's sorted times are 10, 14, 16, 18, 20, 22, 24, 26, 28, 30 and 34 minutes. Quartile positions are again 3rd, 6th and 9th. The five numbers are 10, 16, 22, 28 and 34; IQR is 12 minutes. Students use the same 0–50 scale and compare the median and IQR. In the 90-minute route, assign slides 56–57 after class.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minutes. Full route; after class in the 90-minute route.</a:t>
            </a:r>
          </a:p>
          <a:p>
            <a:endParaRPr/>
          </a:p>
          <a:p>
            <a:r>
              <a:t>Reveal the second service's five-number summary: minimum 10, Q1 16, median 22, Q3 28 and maximum 34 minutes. The IQR is 28 − 16 = 12 minutes. Compared with the first service's median of 25 and IQR of 14, this service has a lower median delivery time and slightly smaller central spread. This comparison does not mean every delivery by the second service is faster.</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minutes. Full route; after class in the 90-minute route.</a:t>
            </a:r>
          </a:p>
          <a:p>
            <a:endParaRPr/>
          </a:p>
          <a:p>
            <a:r>
              <a:t>Allow three minutes for graph matching and a reason for one choice. Expected options are pie or percentage bar chart, histogram, relative-frequency polygon, ogive, scatterplot and boxplot. Accept alternatives when students explain how they answer the question. The delivery-service comparison concerns delivery-time medians and IQRs. In the 90-minute route, assign this task and its answer slide after class rather than rushing the core constructions.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minutes. Full route; after class in the 90-minute route.</a:t>
            </a:r>
          </a:p>
          <a:p>
            <a:endParaRPr/>
          </a:p>
          <a:p>
            <a:r>
              <a:t>Connect each choice to its purpose. Category shares: pie or percentage bar chart. Counts in numerical intervals: histogram. Interval shares across different group sizes: relative-frequency polygon. Percentage below a boundary: ogive. Relationship between two numerical variables: scatterplot. Median and central spread: boxplot. Recall the additional use of a stem-and-leaf plot from Class A: it preserves the original individual values.</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2 minutes. In class in both routes.</a:t>
            </a:r>
          </a:p>
          <a:p>
            <a:endParaRPr/>
          </a:p>
          <a:p>
            <a:r>
              <a:t>Allow two minutes for independent exit responses. Require a reason as well as a number. For 20 ≤ x &lt; 30, a polygon uses the midpoint 25, whereas an ogive uses the upper boundary 30. Subtracting cumulative counts gives 18 − 12 = 6 sessions in 30 ≤ x &lt; 40. Finally, a positive association does not by itself establish that X causes Y.</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1.25 minutes. In class in both routes.</a:t>
            </a:r>
          </a:p>
          <a:p>
            <a:endParaRPr/>
          </a:p>
          <a:p>
            <a:r>
              <a:t>Reveal the three exit answers: midpoint 25, upper boundary 30; six sessions; association alone does not prove causation. Assign Seminar 1 campaign parts (c)–(f), using the Class A table, plus Seminar 2 boxplot work and the ogive versus relative-frequency polygon discussion. The raw-data boxplot answer is 18, 52, 68, 87, 100 under the Bellerbys convention. The advertising–sales scatter task was completed in B6/B7. Include the specified extension slides if following the 90-minute route.</a:t>
            </a:r>
          </a:p>
          <a:p>
            <a:endParaRPr/>
          </a:p>
          <a:p>
            <a:r>
              <a:t>Sources: Bellerbys Statistics Week 4 Lecture and Semester 1 Week 4 Seminar 1/2 Questions and Answers (user-provided Semester 1 ZIP). Food Club numerical records and advertising/sales pairs come from these materials; club context is a teaching adaptation. Smoothie Club and delivery-time examples are fictional teaching datasets. Intervals use the Bellerbys convention lower ≤ x &lt; upper. Visual design retains the existing Bellerbys Class B layouts, theme, fonts and imagery.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der 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4">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5">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1384914"/>
            <a:ext cx="5012602"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and image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ext and imag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ext and logo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112934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11293444" cy="4330731"/>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27F821-23A1-E30C-4CF7-BCB0A54C884C}"/>
              </a:ext>
            </a:extLst>
          </p:cNvPr>
          <p:cNvSpPr>
            <a:spLocks noGrp="1"/>
          </p:cNvSpPr>
          <p:nvPr>
            <p:ph idx="2"/>
          </p:nvPr>
        </p:nvSpPr>
        <p:spPr>
          <a:xfrm>
            <a:off x="6172200" y="1979534"/>
            <a:ext cx="555203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3" y="1979534"/>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Content Placeholder 2">
            <a:extLst>
              <a:ext uri="{FF2B5EF4-FFF2-40B4-BE49-F238E27FC236}">
                <a16:creationId xmlns:a16="http://schemas.microsoft.com/office/drawing/2014/main" id="{39B8B3E1-3E22-853B-33F7-08DB9B6F05C9}"/>
              </a:ext>
            </a:extLst>
          </p:cNvPr>
          <p:cNvSpPr>
            <a:spLocks noGrp="1"/>
          </p:cNvSpPr>
          <p:nvPr>
            <p:ph idx="10"/>
          </p:nvPr>
        </p:nvSpPr>
        <p:spPr>
          <a:xfrm>
            <a:off x="4293873" y="1989591"/>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Content Placeholder 2">
            <a:extLst>
              <a:ext uri="{FF2B5EF4-FFF2-40B4-BE49-F238E27FC236}">
                <a16:creationId xmlns:a16="http://schemas.microsoft.com/office/drawing/2014/main" id="{03F7CAF5-096C-F6FE-105D-033F35B064E8}"/>
              </a:ext>
            </a:extLst>
          </p:cNvPr>
          <p:cNvSpPr>
            <a:spLocks noGrp="1"/>
          </p:cNvSpPr>
          <p:nvPr>
            <p:ph idx="11"/>
          </p:nvPr>
        </p:nvSpPr>
        <p:spPr>
          <a:xfrm>
            <a:off x="8119985" y="1979534"/>
            <a:ext cx="3604253"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ext and stat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8150498"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815049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ext and testimonia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4119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41194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with 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Picture Placeholder 4">
            <a:extLst>
              <a:ext uri="{FF2B5EF4-FFF2-40B4-BE49-F238E27FC236}">
                <a16:creationId xmlns:a16="http://schemas.microsoft.com/office/drawing/2014/main" id="{1D4466F3-6EF4-7C6C-700F-D82BD03B0915}"/>
              </a:ext>
            </a:extLst>
          </p:cNvPr>
          <p:cNvSpPr>
            <a:spLocks noGrp="1"/>
          </p:cNvSpPr>
          <p:nvPr>
            <p:ph type="pic" idx="10"/>
          </p:nvPr>
        </p:nvSpPr>
        <p:spPr>
          <a:xfrm>
            <a:off x="6096000" y="1979613"/>
            <a:ext cx="5627688" cy="4351337"/>
          </a:xfrm>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4" name="Chart Placeholder 3">
            <a:extLst>
              <a:ext uri="{FF2B5EF4-FFF2-40B4-BE49-F238E27FC236}">
                <a16:creationId xmlns:a16="http://schemas.microsoft.com/office/drawing/2014/main" id="{06F8C7EE-44FF-25E2-FD85-4A9A4E59F43C}"/>
              </a:ext>
            </a:extLst>
          </p:cNvPr>
          <p:cNvSpPr>
            <a:spLocks noGrp="1"/>
          </p:cNvSpPr>
          <p:nvPr>
            <p:ph type="chart" idx="10"/>
          </p:nvPr>
        </p:nvSpPr>
        <p:spPr>
          <a:xfrm>
            <a:off x="430213" y="1928813"/>
            <a:ext cx="11293475" cy="4354512"/>
          </a:xfrm>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3" name="Table Placeholder 2">
            <a:extLst>
              <a:ext uri="{FF2B5EF4-FFF2-40B4-BE49-F238E27FC236}">
                <a16:creationId xmlns:a16="http://schemas.microsoft.com/office/drawing/2014/main" id="{9F2E8F34-9DD5-6734-21E2-9B7CCAD9F297}"/>
              </a:ext>
            </a:extLst>
          </p:cNvPr>
          <p:cNvSpPr>
            <a:spLocks noGrp="1"/>
          </p:cNvSpPr>
          <p:nvPr>
            <p:ph type="tbl" idx="10"/>
          </p:nvPr>
        </p:nvSpPr>
        <p:spPr>
          <a:xfrm>
            <a:off x="430213" y="1919288"/>
            <a:ext cx="11293475" cy="4391025"/>
          </a:xfrm>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8C7BB9-ED14-2EE7-B747-6D3AC509C6F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C5B5F42-1935-63EA-A56F-BCFFCC5F384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4A4FD98-5FB3-0F33-190B-F09E379EA8D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577B4DDA-DC7A-BA44-95F8-6F5B47B98114}" type="datetimeFigureOut">
              <a:t>9/11/2026</a:t>
            </a:fld>
            <a:endParaRPr/>
          </a:p>
        </p:txBody>
      </p:sp>
      <p:sp>
        <p:nvSpPr>
          <p:cNvPr id="5" name="Footer Placeholder 4">
            <a:extLst>
              <a:ext uri="{FF2B5EF4-FFF2-40B4-BE49-F238E27FC236}">
                <a16:creationId xmlns:a16="http://schemas.microsoft.com/office/drawing/2014/main" id="{34199F5F-1ACA-4A1A-5173-27733EE4567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FB4C4A5E-3279-A2E1-BFFA-8259ABF8BC49}"/>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chart" Target="../charts/char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7.xml"/><Relationship Id="rId1" Type="http://schemas.openxmlformats.org/officeDocument/2006/relationships/slideLayout" Target="../slideLayouts/slideLayout15.xml"/><Relationship Id="rId5" Type="http://schemas.openxmlformats.org/officeDocument/2006/relationships/chart" Target="../charts/chart11.xml"/><Relationship Id="rId4" Type="http://schemas.openxmlformats.org/officeDocument/2006/relationships/chart" Target="../charts/char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chart" Target="../charts/chart13.xml"/></Relationships>
</file>

<file path=ppt/slides/_rels/slide21.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46.xml"/><Relationship Id="rId1" Type="http://schemas.openxmlformats.org/officeDocument/2006/relationships/slideLayout" Target="../slideLayouts/slideLayout15.xml"/><Relationship Id="rId5" Type="http://schemas.openxmlformats.org/officeDocument/2006/relationships/chart" Target="../charts/chart22.xml"/><Relationship Id="rId4" Type="http://schemas.openxmlformats.org/officeDocument/2006/relationships/chart" Target="../charts/chart2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1049D5AE-637D-4DB3-A494-2488C7EB8C69}"/>
              </a:ext>
            </a:extLst>
          </p:cNvPr>
          <p:cNvSpPr>
            <a:spLocks noGrp="1"/>
          </p:cNvSpPr>
          <p:nvPr/>
        </p:nvSpPr>
        <p:spPr>
          <a:xfrm>
            <a:off x="447675" y="2314575"/>
            <a:ext cx="5810250" cy="1581150"/>
          </a:xfrm>
          <a:prstGeom prst="rect">
            <a:avLst/>
          </a:prstGeom>
          <a:noFill/>
          <a:ln w="0">
            <a:noFill/>
          </a:ln>
        </p:spPr>
        <p:txBody>
          <a:bodyPr wrap="square" lIns="0" tIns="0" rIns="0" bIns="0" anchor="t">
            <a:noAutofit/>
          </a:bodyPr>
          <a:lstStyle/>
          <a:p>
            <a:pPr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IFY Statistics</a:t>
            </a:r>
          </a:p>
          <a:p>
            <a:pPr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Week 4 • Class B</a:t>
            </a:r>
          </a:p>
        </p:txBody>
      </p:sp>
      <p:sp>
        <p:nvSpPr>
          <p:cNvPr id="2" name="Text">
            <a:extLst>
              <a:ext uri="{FF2B5EF4-FFF2-40B4-BE49-F238E27FC236}">
                <a16:creationId xmlns:a16="http://schemas.microsoft.com/office/drawing/2014/main" id="{4F776EF4-2EBF-4D73-BEBB-0938A68B2C13}"/>
              </a:ext>
            </a:extLst>
          </p:cNvPr>
          <p:cNvSpPr>
            <a:spLocks noGrp="1"/>
          </p:cNvSpPr>
          <p:nvPr/>
        </p:nvSpPr>
        <p:spPr>
          <a:xfrm>
            <a:off x="447675" y="4391025"/>
            <a:ext cx="5619750" cy="2076450"/>
          </a:xfrm>
          <a:prstGeom prst="rect">
            <a:avLst/>
          </a:prstGeom>
          <a:noFill/>
          <a:ln w="0">
            <a:noFill/>
          </a:ln>
        </p:spPr>
        <p:txBody>
          <a:bodyPr wrap="square" lIns="0" tIns="0" rIns="0" bIns="0" anchor="t">
            <a:noAutofit/>
          </a:bodyPr>
          <a:lstStyle/>
          <a:p>
            <a:pPr algn="l">
              <a:buNone/>
              <a:defRPr sz="4313" b="0">
                <a:solidFill>
                  <a:srgbClr val="FFFFFF"/>
                </a:solidFill>
                <a:latin typeface="Aptos Display"/>
                <a:ea typeface="Aptos Display"/>
                <a:cs typeface="Aptos Display"/>
              </a:defRPr>
            </a:pPr>
            <a:r>
              <a:rPr sz="4313" b="0">
                <a:solidFill>
                  <a:srgbClr val="FFFFFF"/>
                </a:solidFill>
                <a:latin typeface="Aptos Display"/>
                <a:ea typeface="Aptos Display"/>
                <a:cs typeface="Aptos Display"/>
              </a:rPr>
              <a:t>Distributions</a:t>
            </a:r>
          </a:p>
          <a:p>
            <a:pPr algn="l">
              <a:buNone/>
              <a:defRPr sz="4313" b="0">
                <a:solidFill>
                  <a:srgbClr val="FFFFFF"/>
                </a:solidFill>
                <a:latin typeface="Aptos Display"/>
                <a:ea typeface="Aptos Display"/>
                <a:cs typeface="Aptos Display"/>
              </a:defRPr>
            </a:pPr>
            <a:r>
              <a:rPr sz="4313" b="0">
                <a:solidFill>
                  <a:srgbClr val="FFFFFF"/>
                </a:solidFill>
                <a:latin typeface="Aptos Display"/>
                <a:ea typeface="Aptos Display"/>
                <a:cs typeface="Aptos Display"/>
              </a:rPr>
              <a:t>and</a:t>
            </a:r>
          </a:p>
          <a:p>
            <a:pPr algn="l">
              <a:buNone/>
              <a:defRPr sz="4313" b="0">
                <a:solidFill>
                  <a:srgbClr val="FFFFFF"/>
                </a:solidFill>
                <a:latin typeface="Aptos Display"/>
                <a:ea typeface="Aptos Display"/>
                <a:cs typeface="Aptos Display"/>
              </a:defRPr>
            </a:pPr>
            <a:r>
              <a:rPr sz="4313" b="0">
                <a:solidFill>
                  <a:srgbClr val="FFFFFF"/>
                </a:solidFill>
                <a:latin typeface="Aptos Display"/>
                <a:ea typeface="Aptos Display"/>
                <a:cs typeface="Aptos Display"/>
              </a:rPr>
              <a:t>relationships</a:t>
            </a:r>
          </a:p>
        </p:txBody>
      </p:sp>
    </p:spTree>
    <p:extLst>
      <p:ext uri="{BB962C8B-B14F-4D97-AF65-F5344CB8AC3E}">
        <p14:creationId xmlns:p14="http://schemas.microsoft.com/office/powerpoint/2010/main" val="1501770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0D90C825-7FF7-4C86-86D4-6CEEDA1AA62B}"/>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Today: five ways to show data</a:t>
            </a:r>
          </a:p>
        </p:txBody>
      </p:sp>
      <p:sp>
        <p:nvSpPr>
          <p:cNvPr id="2" name="Lead">
            <a:extLst>
              <a:ext uri="{FF2B5EF4-FFF2-40B4-BE49-F238E27FC236}">
                <a16:creationId xmlns:a16="http://schemas.microsoft.com/office/drawing/2014/main" id="{3B0FCD6B-49D0-49E6-BBDB-91047AAAFD49}"/>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Calculate the values, build each graph, then explain what it shows.</a:t>
            </a:r>
          </a:p>
        </p:txBody>
      </p:sp>
      <p:sp>
        <p:nvSpPr>
          <p:cNvPr id="3" name="Footer">
            <a:extLst>
              <a:ext uri="{FF2B5EF4-FFF2-40B4-BE49-F238E27FC236}">
                <a16:creationId xmlns:a16="http://schemas.microsoft.com/office/drawing/2014/main" id="{413A5E78-524B-48F0-BE8C-59D242C35805}"/>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Bring graph paper, a ruler and a calculator. Keep your Class A frequency table.</a:t>
            </a:r>
          </a:p>
        </p:txBody>
      </p:sp>
      <p:sp>
        <p:nvSpPr>
          <p:cNvPr id="4" name="Text">
            <a:extLst>
              <a:ext uri="{FF2B5EF4-FFF2-40B4-BE49-F238E27FC236}">
                <a16:creationId xmlns:a16="http://schemas.microsoft.com/office/drawing/2014/main" id="{611292A8-A25B-4E34-92FE-0A15192E1421}"/>
              </a:ext>
            </a:extLst>
          </p:cNvPr>
          <p:cNvSpPr>
            <a:spLocks noGrp="1"/>
          </p:cNvSpPr>
          <p:nvPr/>
        </p:nvSpPr>
        <p:spPr>
          <a:xfrm>
            <a:off x="619125" y="3000375"/>
            <a:ext cx="10477500" cy="495300"/>
          </a:xfrm>
          <a:prstGeom prst="rect">
            <a:avLst/>
          </a:prstGeom>
          <a:noFill/>
          <a:ln w="0">
            <a:noFill/>
          </a:ln>
        </p:spPr>
        <p:txBody>
          <a:bodyPr wrap="square" lIns="0" tIns="0" rIns="0" bIns="0" anchor="t">
            <a:noAutofit/>
          </a:bodyPr>
          <a:lstStyle/>
          <a:p>
            <a:pPr algn="l">
              <a:buNone/>
              <a:defRPr sz="2625" b="0">
                <a:solidFill>
                  <a:srgbClr val="111111"/>
                </a:solidFill>
                <a:latin typeface="Aptos"/>
                <a:ea typeface="Aptos"/>
                <a:cs typeface="Aptos"/>
              </a:defRPr>
            </a:pPr>
            <a:r>
              <a:rPr sz="2625" b="0">
                <a:solidFill>
                  <a:srgbClr val="111111"/>
                </a:solidFill>
                <a:latin typeface="Aptos"/>
                <a:ea typeface="Aptos"/>
                <a:cs typeface="Aptos"/>
              </a:rPr>
              <a:t>Histograms and frequency polygons</a:t>
            </a:r>
          </a:p>
        </p:txBody>
      </p:sp>
      <p:sp>
        <p:nvSpPr>
          <p:cNvPr id="5" name="Text">
            <a:extLst>
              <a:ext uri="{FF2B5EF4-FFF2-40B4-BE49-F238E27FC236}">
                <a16:creationId xmlns:a16="http://schemas.microsoft.com/office/drawing/2014/main" id="{D80D6485-6533-46C6-BFD6-682045FA86D8}"/>
              </a:ext>
            </a:extLst>
          </p:cNvPr>
          <p:cNvSpPr>
            <a:spLocks noGrp="1"/>
          </p:cNvSpPr>
          <p:nvPr/>
        </p:nvSpPr>
        <p:spPr>
          <a:xfrm>
            <a:off x="619125" y="3762375"/>
            <a:ext cx="10477500" cy="495300"/>
          </a:xfrm>
          <a:prstGeom prst="rect">
            <a:avLst/>
          </a:prstGeom>
          <a:noFill/>
          <a:ln w="0">
            <a:noFill/>
          </a:ln>
        </p:spPr>
        <p:txBody>
          <a:bodyPr wrap="square" lIns="0" tIns="0" rIns="0" bIns="0" anchor="t">
            <a:noAutofit/>
          </a:bodyPr>
          <a:lstStyle/>
          <a:p>
            <a:pPr algn="l">
              <a:buNone/>
              <a:defRPr sz="2625" b="0">
                <a:solidFill>
                  <a:srgbClr val="111111"/>
                </a:solidFill>
                <a:latin typeface="Aptos"/>
                <a:ea typeface="Aptos"/>
                <a:cs typeface="Aptos"/>
              </a:defRPr>
            </a:pPr>
            <a:r>
              <a:rPr sz="2625" b="0">
                <a:solidFill>
                  <a:srgbClr val="111111"/>
                </a:solidFill>
                <a:latin typeface="Aptos"/>
                <a:ea typeface="Aptos"/>
                <a:cs typeface="Aptos"/>
              </a:rPr>
              <a:t>Cumulative graphs (ogives) and median estimates</a:t>
            </a:r>
          </a:p>
        </p:txBody>
      </p:sp>
      <p:sp>
        <p:nvSpPr>
          <p:cNvPr id="6" name="Text">
            <a:extLst>
              <a:ext uri="{FF2B5EF4-FFF2-40B4-BE49-F238E27FC236}">
                <a16:creationId xmlns:a16="http://schemas.microsoft.com/office/drawing/2014/main" id="{615BFB0E-5259-421F-93A0-E714ED49CEF1}"/>
              </a:ext>
            </a:extLst>
          </p:cNvPr>
          <p:cNvSpPr>
            <a:spLocks noGrp="1"/>
          </p:cNvSpPr>
          <p:nvPr/>
        </p:nvSpPr>
        <p:spPr>
          <a:xfrm>
            <a:off x="619125" y="4524375"/>
            <a:ext cx="10477500" cy="495300"/>
          </a:xfrm>
          <a:prstGeom prst="rect">
            <a:avLst/>
          </a:prstGeom>
          <a:noFill/>
          <a:ln w="0">
            <a:noFill/>
          </a:ln>
        </p:spPr>
        <p:txBody>
          <a:bodyPr wrap="square" lIns="0" tIns="0" rIns="0" bIns="0" anchor="t">
            <a:noAutofit/>
          </a:bodyPr>
          <a:lstStyle/>
          <a:p>
            <a:pPr algn="l">
              <a:buNone/>
              <a:defRPr sz="2625" b="0">
                <a:solidFill>
                  <a:srgbClr val="111111"/>
                </a:solidFill>
                <a:latin typeface="Aptos"/>
                <a:ea typeface="Aptos"/>
                <a:cs typeface="Aptos"/>
              </a:defRPr>
            </a:pPr>
            <a:r>
              <a:rPr sz="2625" b="0">
                <a:solidFill>
                  <a:srgbClr val="111111"/>
                </a:solidFill>
                <a:latin typeface="Aptos"/>
                <a:ea typeface="Aptos"/>
                <a:cs typeface="Aptos"/>
              </a:rPr>
              <a:t>Scatterplots, predictions and boxplots</a:t>
            </a:r>
          </a:p>
        </p:txBody>
      </p:sp>
    </p:spTree>
    <p:extLst>
      <p:ext uri="{BB962C8B-B14F-4D97-AF65-F5344CB8AC3E}">
        <p14:creationId xmlns:p14="http://schemas.microsoft.com/office/powerpoint/2010/main" val="1636152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title">
            <a:extLst>
              <a:ext uri="{FF2B5EF4-FFF2-40B4-BE49-F238E27FC236}">
                <a16:creationId xmlns:a16="http://schemas.microsoft.com/office/drawing/2014/main" id="{AC98D3E3-C166-4F4B-B1A3-94A4E31ACF01}"/>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Class A revision</a:t>
            </a:r>
          </a:p>
        </p:txBody>
      </p:sp>
      <p:sp>
        <p:nvSpPr>
          <p:cNvPr id="2" name="Text">
            <a:extLst>
              <a:ext uri="{FF2B5EF4-FFF2-40B4-BE49-F238E27FC236}">
                <a16:creationId xmlns:a16="http://schemas.microsoft.com/office/drawing/2014/main" id="{78C86D18-6C86-4066-94CB-1A1FF07921AA}"/>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Use the interval convention from our last class.</a:t>
            </a:r>
          </a:p>
        </p:txBody>
      </p:sp>
      <p:sp>
        <p:nvSpPr>
          <p:cNvPr id="3" name="Rectangle 2">
            <a:extLst>
              <a:ext uri="{FF2B5EF4-FFF2-40B4-BE49-F238E27FC236}">
                <a16:creationId xmlns:a16="http://schemas.microsoft.com/office/drawing/2014/main" id="{C2643F93-0423-4BAA-9925-FD21BA8937F3}"/>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4A5D204A-0D95-43EF-9F40-3B04AA560129}"/>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B0</a:t>
            </a:r>
          </a:p>
        </p:txBody>
      </p:sp>
      <p:sp>
        <p:nvSpPr>
          <p:cNvPr id="5" name="Text">
            <a:extLst>
              <a:ext uri="{FF2B5EF4-FFF2-40B4-BE49-F238E27FC236}">
                <a16:creationId xmlns:a16="http://schemas.microsoft.com/office/drawing/2014/main" id="{BCAB2796-2D81-4BFE-9CC3-7A6A83751057}"/>
              </a:ext>
            </a:extLst>
          </p:cNvPr>
          <p:cNvSpPr>
            <a:spLocks noGrp="1"/>
          </p:cNvSpPr>
          <p:nvPr/>
        </p:nvSpPr>
        <p:spPr>
          <a:xfrm>
            <a:off x="619125" y="2952750"/>
            <a:ext cx="10810875" cy="857250"/>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1. Does 40 belong to 30 ≤ x &lt; 40 or 40 ≤ x &lt; 50?</a:t>
            </a:r>
          </a:p>
        </p:txBody>
      </p:sp>
      <p:sp>
        <p:nvSpPr>
          <p:cNvPr id="6" name="Text">
            <a:extLst>
              <a:ext uri="{FF2B5EF4-FFF2-40B4-BE49-F238E27FC236}">
                <a16:creationId xmlns:a16="http://schemas.microsoft.com/office/drawing/2014/main" id="{56F53DFF-C13B-445A-8324-0E90B016A500}"/>
              </a:ext>
            </a:extLst>
          </p:cNvPr>
          <p:cNvSpPr>
            <a:spLocks noGrp="1"/>
          </p:cNvSpPr>
          <p:nvPr/>
        </p:nvSpPr>
        <p:spPr>
          <a:xfrm>
            <a:off x="619125" y="3886200"/>
            <a:ext cx="10810875" cy="857250"/>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2. Find the midpoint of 30 ≤ x &lt; 40.</a:t>
            </a:r>
          </a:p>
        </p:txBody>
      </p:sp>
      <p:sp>
        <p:nvSpPr>
          <p:cNvPr id="7" name="Text">
            <a:extLst>
              <a:ext uri="{FF2B5EF4-FFF2-40B4-BE49-F238E27FC236}">
                <a16:creationId xmlns:a16="http://schemas.microsoft.com/office/drawing/2014/main" id="{D2C7EEA3-1DCC-4D4A-B5A4-FCC560CA060A}"/>
              </a:ext>
            </a:extLst>
          </p:cNvPr>
          <p:cNvSpPr>
            <a:spLocks noGrp="1"/>
          </p:cNvSpPr>
          <p:nvPr/>
        </p:nvSpPr>
        <p:spPr>
          <a:xfrm>
            <a:off x="619125" y="4819650"/>
            <a:ext cx="10810875" cy="857250"/>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3. Seven of 25 sessions are in one class.</a:t>
            </a:r>
          </a:p>
          <a:p>
            <a:pPr algn="l">
              <a:buNone/>
              <a:defRPr sz="2550" b="0">
                <a:solidFill>
                  <a:srgbClr val="111111"/>
                </a:solidFill>
                <a:latin typeface="Aptos"/>
                <a:ea typeface="Aptos"/>
                <a:cs typeface="Aptos"/>
              </a:defRPr>
            </a:pPr>
            <a:r>
              <a:rPr sz="2550" b="0">
                <a:solidFill>
                  <a:srgbClr val="111111"/>
                </a:solidFill>
                <a:latin typeface="Aptos"/>
                <a:ea typeface="Aptos"/>
                <a:cs typeface="Aptos"/>
              </a:rPr>
              <a:t>    Find the relative frequency and percentage.</a:t>
            </a:r>
          </a:p>
        </p:txBody>
      </p:sp>
      <p:sp>
        <p:nvSpPr>
          <p:cNvPr id="8" name="Text">
            <a:extLst>
              <a:ext uri="{FF2B5EF4-FFF2-40B4-BE49-F238E27FC236}">
                <a16:creationId xmlns:a16="http://schemas.microsoft.com/office/drawing/2014/main" id="{7EE512FA-601F-4F64-AB97-9227192F2D07}"/>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3 minutes. Explain your choice in question 1.</a:t>
            </a:r>
          </a:p>
        </p:txBody>
      </p:sp>
    </p:spTree>
    <p:extLst>
      <p:ext uri="{BB962C8B-B14F-4D97-AF65-F5344CB8AC3E}">
        <p14:creationId xmlns:p14="http://schemas.microsoft.com/office/powerpoint/2010/main" val="1541832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title">
            <a:extLst>
              <a:ext uri="{FF2B5EF4-FFF2-40B4-BE49-F238E27FC236}">
                <a16:creationId xmlns:a16="http://schemas.microsoft.com/office/drawing/2014/main" id="{1D258648-89F1-4D81-8C00-CB0102E3D72B}"/>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Revision: answers</a:t>
            </a:r>
          </a:p>
        </p:txBody>
      </p:sp>
      <p:sp>
        <p:nvSpPr>
          <p:cNvPr id="2" name="Text">
            <a:extLst>
              <a:ext uri="{FF2B5EF4-FFF2-40B4-BE49-F238E27FC236}">
                <a16:creationId xmlns:a16="http://schemas.microsoft.com/office/drawing/2014/main" id="{5939D55C-42BA-4331-8952-15808C6A3561}"/>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A boundary decides where a value belongs.</a:t>
            </a:r>
          </a:p>
        </p:txBody>
      </p:sp>
      <p:sp>
        <p:nvSpPr>
          <p:cNvPr id="3" name="Rectangle 2">
            <a:extLst>
              <a:ext uri="{FF2B5EF4-FFF2-40B4-BE49-F238E27FC236}">
                <a16:creationId xmlns:a16="http://schemas.microsoft.com/office/drawing/2014/main" id="{8A40621A-7767-40D0-9E7F-7FF0617C09EB}"/>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DFF2A121-AF05-44A4-A09E-26E5153F21E5}"/>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B0</a:t>
            </a:r>
          </a:p>
        </p:txBody>
      </p:sp>
      <p:sp>
        <p:nvSpPr>
          <p:cNvPr id="5" name="Text">
            <a:extLst>
              <a:ext uri="{FF2B5EF4-FFF2-40B4-BE49-F238E27FC236}">
                <a16:creationId xmlns:a16="http://schemas.microsoft.com/office/drawing/2014/main" id="{4A83092C-573B-4543-A624-5BA8634E75DA}"/>
              </a:ext>
            </a:extLst>
          </p:cNvPr>
          <p:cNvSpPr>
            <a:spLocks noGrp="1"/>
          </p:cNvSpPr>
          <p:nvPr/>
        </p:nvSpPr>
        <p:spPr>
          <a:xfrm>
            <a:off x="619125" y="2886075"/>
            <a:ext cx="10810875" cy="600075"/>
          </a:xfrm>
          <a:prstGeom prst="rect">
            <a:avLst/>
          </a:prstGeom>
          <a:noFill/>
          <a:ln w="0">
            <a:noFill/>
          </a:ln>
        </p:spPr>
        <p:txBody>
          <a:bodyPr wrap="square" lIns="0" tIns="0" rIns="0" bIns="0" anchor="t">
            <a:noAutofit/>
          </a:bodyPr>
          <a:lstStyle/>
          <a:p>
            <a:pPr algn="l">
              <a:buNone/>
              <a:defRPr sz="2850" b="1">
                <a:solidFill>
                  <a:srgbClr val="111111"/>
                </a:solidFill>
                <a:latin typeface="Aptos"/>
                <a:ea typeface="Aptos"/>
                <a:cs typeface="Aptos"/>
              </a:defRPr>
            </a:pPr>
            <a:r>
              <a:rPr sz="2850" b="1">
                <a:solidFill>
                  <a:srgbClr val="111111"/>
                </a:solidFill>
                <a:latin typeface="Aptos"/>
                <a:ea typeface="Aptos"/>
                <a:cs typeface="Aptos"/>
              </a:rPr>
              <a:t>1. 40 ≤ x &lt; 50 includes 40.</a:t>
            </a:r>
          </a:p>
        </p:txBody>
      </p:sp>
      <p:sp>
        <p:nvSpPr>
          <p:cNvPr id="6" name="Text">
            <a:extLst>
              <a:ext uri="{FF2B5EF4-FFF2-40B4-BE49-F238E27FC236}">
                <a16:creationId xmlns:a16="http://schemas.microsoft.com/office/drawing/2014/main" id="{0546E510-A61F-4BB0-9E98-7D61184A6C39}"/>
              </a:ext>
            </a:extLst>
          </p:cNvPr>
          <p:cNvSpPr>
            <a:spLocks noGrp="1"/>
          </p:cNvSpPr>
          <p:nvPr/>
        </p:nvSpPr>
        <p:spPr>
          <a:xfrm>
            <a:off x="619125" y="3762375"/>
            <a:ext cx="3143250" cy="857250"/>
          </a:xfrm>
          <a:prstGeom prst="rect">
            <a:avLst/>
          </a:prstGeom>
          <a:noFill/>
          <a:ln w="0">
            <a:noFill/>
          </a:ln>
        </p:spPr>
        <p:txBody>
          <a:bodyPr wrap="square" lIns="0" tIns="0" rIns="0" bIns="0" anchor="ctr">
            <a:noAutofit/>
          </a:bodyPr>
          <a:lstStyle/>
          <a:p>
            <a:pPr algn="l">
              <a:buNone/>
              <a:defRPr sz="2625" b="0">
                <a:solidFill>
                  <a:srgbClr val="111111"/>
                </a:solidFill>
                <a:latin typeface="Aptos"/>
                <a:ea typeface="Aptos"/>
                <a:cs typeface="Aptos"/>
              </a:defRPr>
            </a:pPr>
            <a:r>
              <a:rPr sz="2625" b="0">
                <a:solidFill>
                  <a:srgbClr val="111111"/>
                </a:solidFill>
                <a:latin typeface="Aptos"/>
                <a:ea typeface="Aptos"/>
                <a:cs typeface="Aptos"/>
              </a:rPr>
              <a:t>2. Midpoint =</a:t>
            </a:r>
          </a:p>
        </p:txBody>
      </p:sp>
      <p:sp>
        <p:nvSpPr>
          <p:cNvPr id="7" name="Text">
            <a:extLst>
              <a:ext uri="{FF2B5EF4-FFF2-40B4-BE49-F238E27FC236}">
                <a16:creationId xmlns:a16="http://schemas.microsoft.com/office/drawing/2014/main" id="{54CA6BB8-7F4B-4EC0-8425-BAFDD6A406AD}"/>
              </a:ext>
            </a:extLst>
          </p:cNvPr>
          <p:cNvSpPr>
            <a:spLocks noGrp="1"/>
          </p:cNvSpPr>
          <p:nvPr/>
        </p:nvSpPr>
        <p:spPr>
          <a:xfrm>
            <a:off x="4019550" y="3743325"/>
            <a:ext cx="2143125" cy="447675"/>
          </a:xfrm>
          <a:prstGeom prst="rect">
            <a:avLst/>
          </a:prstGeom>
          <a:noFill/>
          <a:ln w="0">
            <a:noFill/>
          </a:ln>
        </p:spPr>
        <p:txBody>
          <a:bodyPr wrap="square" lIns="0" tIns="0" rIns="0" bIns="0" anchor="t">
            <a:noAutofit/>
          </a:bodyPr>
          <a:lstStyle/>
          <a:p>
            <a:pPr algn="ctr">
              <a:buNone/>
              <a:defRPr sz="2925" b="0">
                <a:solidFill>
                  <a:srgbClr val="111111"/>
                </a:solidFill>
                <a:latin typeface="Aptos"/>
                <a:ea typeface="Aptos"/>
                <a:cs typeface="Aptos"/>
              </a:defRPr>
            </a:pPr>
            <a:r>
              <a:rPr sz="2925" b="0">
                <a:solidFill>
                  <a:srgbClr val="111111"/>
                </a:solidFill>
                <a:latin typeface="Aptos"/>
                <a:ea typeface="Aptos"/>
                <a:cs typeface="Aptos"/>
              </a:rPr>
              <a:t>30 + 40</a:t>
            </a:r>
          </a:p>
        </p:txBody>
      </p:sp>
      <p:sp>
        <p:nvSpPr>
          <p:cNvPr id="8" name="Freeform: Shape 7">
            <a:extLst>
              <a:ext uri="{FF2B5EF4-FFF2-40B4-BE49-F238E27FC236}">
                <a16:creationId xmlns:a16="http://schemas.microsoft.com/office/drawing/2014/main" id="{8C26275F-5DD3-402C-A364-DED23FD735E7}"/>
              </a:ext>
            </a:extLst>
          </p:cNvPr>
          <p:cNvSpPr>
            <a:spLocks noGrp="1"/>
          </p:cNvSpPr>
          <p:nvPr/>
        </p:nvSpPr>
        <p:spPr>
          <a:xfrm>
            <a:off x="4019550" y="4191000"/>
            <a:ext cx="2143125" cy="953"/>
          </a:xfrm>
          <a:custGeom>
            <a:avLst/>
            <a:gdLst/>
            <a:ahLst/>
            <a:cxnLst/>
            <a:rect l="0" t="0" r="0" b="0"/>
            <a:pathLst>
              <a:path w="2143125" h="953">
                <a:moveTo>
                  <a:pt x="0" y="0"/>
                </a:moveTo>
                <a:lnTo>
                  <a:pt x="2143125" y="0"/>
                </a:lnTo>
              </a:path>
            </a:pathLst>
          </a:custGeom>
          <a:noFill/>
          <a:ln w="20955">
            <a:solidFill>
              <a:srgbClr val="111111"/>
            </a:solidFill>
          </a:ln>
        </p:spPr>
        <p:txBody>
          <a:bodyPr/>
          <a:lstStyle/>
          <a:p>
            <a:endParaRPr lang="en-US"/>
          </a:p>
        </p:txBody>
      </p:sp>
      <p:sp>
        <p:nvSpPr>
          <p:cNvPr id="9" name="Text">
            <a:extLst>
              <a:ext uri="{FF2B5EF4-FFF2-40B4-BE49-F238E27FC236}">
                <a16:creationId xmlns:a16="http://schemas.microsoft.com/office/drawing/2014/main" id="{BF671CD0-CD93-4BB3-8221-08C4006F7258}"/>
              </a:ext>
            </a:extLst>
          </p:cNvPr>
          <p:cNvSpPr>
            <a:spLocks noGrp="1"/>
          </p:cNvSpPr>
          <p:nvPr/>
        </p:nvSpPr>
        <p:spPr>
          <a:xfrm>
            <a:off x="4019550" y="4257675"/>
            <a:ext cx="2143125" cy="447675"/>
          </a:xfrm>
          <a:prstGeom prst="rect">
            <a:avLst/>
          </a:prstGeom>
          <a:noFill/>
          <a:ln w="0">
            <a:noFill/>
          </a:ln>
        </p:spPr>
        <p:txBody>
          <a:bodyPr wrap="square" lIns="0" tIns="0" rIns="0" bIns="0" anchor="t">
            <a:noAutofit/>
          </a:bodyPr>
          <a:lstStyle/>
          <a:p>
            <a:pPr algn="ctr">
              <a:buNone/>
              <a:defRPr sz="2925" b="0">
                <a:solidFill>
                  <a:srgbClr val="111111"/>
                </a:solidFill>
                <a:latin typeface="Aptos"/>
                <a:ea typeface="Aptos"/>
                <a:cs typeface="Aptos"/>
              </a:defRPr>
            </a:pPr>
            <a:r>
              <a:rPr sz="2925" b="0">
                <a:solidFill>
                  <a:srgbClr val="111111"/>
                </a:solidFill>
                <a:latin typeface="Aptos"/>
                <a:ea typeface="Aptos"/>
                <a:cs typeface="Aptos"/>
              </a:rPr>
              <a:t>2</a:t>
            </a:r>
          </a:p>
        </p:txBody>
      </p:sp>
      <p:sp>
        <p:nvSpPr>
          <p:cNvPr id="10" name="Text">
            <a:extLst>
              <a:ext uri="{FF2B5EF4-FFF2-40B4-BE49-F238E27FC236}">
                <a16:creationId xmlns:a16="http://schemas.microsoft.com/office/drawing/2014/main" id="{DD737A1A-A90C-4AD9-897E-BF23B1777A7F}"/>
              </a:ext>
            </a:extLst>
          </p:cNvPr>
          <p:cNvSpPr>
            <a:spLocks noGrp="1"/>
          </p:cNvSpPr>
          <p:nvPr/>
        </p:nvSpPr>
        <p:spPr>
          <a:xfrm>
            <a:off x="6534150" y="3762375"/>
            <a:ext cx="3143250" cy="857250"/>
          </a:xfrm>
          <a:prstGeom prst="rect">
            <a:avLst/>
          </a:prstGeom>
          <a:noFill/>
          <a:ln w="0">
            <a:noFill/>
          </a:ln>
        </p:spPr>
        <p:txBody>
          <a:bodyPr wrap="square" lIns="0" tIns="0" rIns="0" bIns="0" anchor="ctr">
            <a:noAutofit/>
          </a:bodyPr>
          <a:lstStyle/>
          <a:p>
            <a:pPr algn="l">
              <a:buNone/>
              <a:defRPr sz="3225" b="1">
                <a:solidFill>
                  <a:srgbClr val="111111"/>
                </a:solidFill>
                <a:latin typeface="Aptos"/>
                <a:ea typeface="Aptos"/>
                <a:cs typeface="Aptos"/>
              </a:defRPr>
            </a:pPr>
            <a:r>
              <a:rPr sz="3225" b="1">
                <a:solidFill>
                  <a:srgbClr val="111111"/>
                </a:solidFill>
                <a:latin typeface="Aptos"/>
                <a:ea typeface="Aptos"/>
                <a:cs typeface="Aptos"/>
              </a:rPr>
              <a:t>= 35</a:t>
            </a:r>
          </a:p>
        </p:txBody>
      </p:sp>
      <p:sp>
        <p:nvSpPr>
          <p:cNvPr id="11" name="Text">
            <a:extLst>
              <a:ext uri="{FF2B5EF4-FFF2-40B4-BE49-F238E27FC236}">
                <a16:creationId xmlns:a16="http://schemas.microsoft.com/office/drawing/2014/main" id="{EF334358-4B27-4420-A077-E4AB5AECFA39}"/>
              </a:ext>
            </a:extLst>
          </p:cNvPr>
          <p:cNvSpPr>
            <a:spLocks noGrp="1"/>
          </p:cNvSpPr>
          <p:nvPr/>
        </p:nvSpPr>
        <p:spPr>
          <a:xfrm>
            <a:off x="619125" y="5248275"/>
            <a:ext cx="10810875" cy="619125"/>
          </a:xfrm>
          <a:prstGeom prst="rect">
            <a:avLst/>
          </a:prstGeom>
          <a:noFill/>
          <a:ln w="0">
            <a:noFill/>
          </a:ln>
        </p:spPr>
        <p:txBody>
          <a:bodyPr wrap="square" lIns="0" tIns="0" rIns="0" bIns="0" anchor="t">
            <a:noAutofit/>
          </a:bodyPr>
          <a:lstStyle/>
          <a:p>
            <a:pPr algn="l">
              <a:buNone/>
              <a:defRPr sz="3000" b="1">
                <a:solidFill>
                  <a:srgbClr val="111111"/>
                </a:solidFill>
                <a:latin typeface="Aptos"/>
                <a:ea typeface="Aptos"/>
                <a:cs typeface="Aptos"/>
              </a:defRPr>
            </a:pPr>
            <a:r>
              <a:rPr sz="3000" b="1">
                <a:solidFill>
                  <a:srgbClr val="111111"/>
                </a:solidFill>
                <a:latin typeface="Aptos"/>
                <a:ea typeface="Aptos"/>
                <a:cs typeface="Aptos"/>
              </a:rPr>
              <a:t>3. 7 ÷ 25 = 0.28 = 28%</a:t>
            </a:r>
          </a:p>
        </p:txBody>
      </p:sp>
      <p:sp>
        <p:nvSpPr>
          <p:cNvPr id="12" name="Text">
            <a:extLst>
              <a:ext uri="{FF2B5EF4-FFF2-40B4-BE49-F238E27FC236}">
                <a16:creationId xmlns:a16="http://schemas.microsoft.com/office/drawing/2014/main" id="{E8400874-9545-4F48-829A-A605A3420479}"/>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Relative frequency expresses a share. Percentage expresses the same share out of 100.</a:t>
            </a:r>
          </a:p>
        </p:txBody>
      </p:sp>
    </p:spTree>
    <p:extLst>
      <p:ext uri="{BB962C8B-B14F-4D97-AF65-F5344CB8AC3E}">
        <p14:creationId xmlns:p14="http://schemas.microsoft.com/office/powerpoint/2010/main" val="1622750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a:extLst>
              <a:ext uri="{FF2B5EF4-FFF2-40B4-BE49-F238E27FC236}">
                <a16:creationId xmlns:a16="http://schemas.microsoft.com/office/drawing/2014/main" id="{F8BB7560-C52E-4BFC-950D-81807BB23DA3}"/>
              </a:ext>
            </a:extLst>
          </p:cNvPr>
          <p:cNvSpPr>
            <a:spLocks noGrp="1"/>
          </p:cNvSpPr>
          <p:nvPr/>
        </p:nvSpPr>
        <p:spPr>
          <a:xfrm>
            <a:off x="447675" y="2505075"/>
            <a:ext cx="6048375" cy="3143250"/>
          </a:xfrm>
          <a:prstGeom prst="rect">
            <a:avLst/>
          </a:prstGeom>
          <a:noFill/>
          <a:ln w="0">
            <a:noFill/>
          </a:ln>
        </p:spPr>
        <p:txBody>
          <a:bodyPr wrap="square" lIns="0" tIns="0" rIns="0" bIns="0" anchor="t">
            <a:noAutofit/>
          </a:bodyPr>
          <a:lstStyle/>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1:</a:t>
            </a:r>
          </a:p>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Histograms</a:t>
            </a:r>
          </a:p>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and intervals</a:t>
            </a:r>
          </a:p>
        </p:txBody>
      </p:sp>
    </p:spTree>
    <p:extLst>
      <p:ext uri="{BB962C8B-B14F-4D97-AF65-F5344CB8AC3E}">
        <p14:creationId xmlns:p14="http://schemas.microsoft.com/office/powerpoint/2010/main" val="1467648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7ABFDFEA-B409-4BC3-83BA-163DF87C1538}"/>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Where do most results fall?</a:t>
            </a:r>
          </a:p>
        </p:txBody>
      </p:sp>
      <p:sp>
        <p:nvSpPr>
          <p:cNvPr id="2" name="Text">
            <a:extLst>
              <a:ext uri="{FF2B5EF4-FFF2-40B4-BE49-F238E27FC236}">
                <a16:creationId xmlns:a16="http://schemas.microsoft.com/office/drawing/2014/main" id="{7D02AB6A-1427-4030-B8AB-6AAED6175547}"/>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The food club recorded sign-ups during 25 promotion sessions.</a:t>
            </a:r>
          </a:p>
        </p:txBody>
      </p:sp>
      <p:graphicFrame>
        <p:nvGraphicFramePr>
          <p:cNvPr id="11" name="Table 10"/>
          <p:cNvGraphicFramePr/>
          <p:nvPr/>
        </p:nvGraphicFramePr>
        <p:xfrm>
          <a:off x="619125" y="2933700"/>
          <a:ext cx="6524625" cy="2762250"/>
        </p:xfrm>
        <a:graphic>
          <a:graphicData uri="http://schemas.openxmlformats.org/drawingml/2006/table">
            <a:tbl>
              <a:tblPr firstRow="1"/>
              <a:tblGrid>
                <a:gridCol w="4238625">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460375">
                <a:tc>
                  <a:txBody>
                    <a:bodyPr/>
                    <a:lstStyle/>
                    <a:p>
                      <a:pPr algn="l">
                        <a:buNone/>
                      </a:pPr>
                      <a:r>
                        <a:rPr sz="2250" b="1">
                          <a:solidFill>
                            <a:srgbClr val="FFFFFF"/>
                          </a:solidFill>
                          <a:latin typeface="Aptos"/>
                          <a:ea typeface="Aptos"/>
                          <a:cs typeface="Aptos"/>
                        </a:rPr>
                        <a:t>Sign-ups per session</a:t>
                      </a:r>
                    </a:p>
                  </a:txBody>
                  <a:tcPr anchor="ctr">
                    <a:solidFill>
                      <a:srgbClr val="D6171D"/>
                    </a:solidFill>
                  </a:tcPr>
                </a:tc>
                <a:tc>
                  <a:txBody>
                    <a:bodyPr/>
                    <a:lstStyle/>
                    <a:p>
                      <a:pPr algn="ctr">
                        <a:buNone/>
                      </a:pPr>
                      <a:r>
                        <a:rPr sz="2250" b="1">
                          <a:solidFill>
                            <a:srgbClr val="FFFFFF"/>
                          </a:solidFill>
                          <a:latin typeface="Aptos"/>
                          <a:ea typeface="Aptos"/>
                          <a:cs typeface="Aptos"/>
                        </a:rPr>
                        <a:t>Frequency, f</a:t>
                      </a:r>
                    </a:p>
                  </a:txBody>
                  <a:tcPr anchor="ctr">
                    <a:solidFill>
                      <a:srgbClr val="D6171D"/>
                    </a:solidFill>
                  </a:tcPr>
                </a:tc>
                <a:extLst>
                  <a:ext uri="{0D108BD9-81ED-4DB2-BD59-A6C34878D82A}">
                    <a16:rowId xmlns:a16="http://schemas.microsoft.com/office/drawing/2014/main" val="10000"/>
                  </a:ext>
                </a:extLst>
              </a:tr>
              <a:tr h="460375">
                <a:tc>
                  <a:txBody>
                    <a:bodyPr/>
                    <a:lstStyle/>
                    <a:p>
                      <a:pPr algn="l">
                        <a:buNone/>
                      </a:pPr>
                      <a:r>
                        <a:rPr sz="2250" b="0">
                          <a:solidFill>
                            <a:srgbClr val="111111"/>
                          </a:solidFill>
                          <a:latin typeface="Aptos"/>
                          <a:ea typeface="Aptos"/>
                          <a:cs typeface="Aptos"/>
                        </a:rPr>
                        <a:t>10 ≤ x &lt; 20</a:t>
                      </a:r>
                    </a:p>
                  </a:txBody>
                  <a:tcPr anchor="ctr">
                    <a:solidFill>
                      <a:srgbClr val="FFFFFF"/>
                    </a:solidFill>
                  </a:tcPr>
                </a:tc>
                <a:tc>
                  <a:txBody>
                    <a:bodyPr/>
                    <a:lstStyle/>
                    <a:p>
                      <a:pPr algn="ctr">
                        <a:buNone/>
                      </a:pPr>
                      <a:r>
                        <a:rPr sz="2250" b="0">
                          <a:solidFill>
                            <a:srgbClr val="111111"/>
                          </a:solidFill>
                          <a:latin typeface="Aptos"/>
                          <a:ea typeface="Aptos"/>
                          <a:cs typeface="Aptos"/>
                        </a:rPr>
                        <a:t>2</a:t>
                      </a:r>
                    </a:p>
                  </a:txBody>
                  <a:tcPr anchor="ctr">
                    <a:solidFill>
                      <a:srgbClr val="FFFFFF"/>
                    </a:solidFill>
                  </a:tcPr>
                </a:tc>
                <a:extLst>
                  <a:ext uri="{0D108BD9-81ED-4DB2-BD59-A6C34878D82A}">
                    <a16:rowId xmlns:a16="http://schemas.microsoft.com/office/drawing/2014/main" val="10001"/>
                  </a:ext>
                </a:extLst>
              </a:tr>
              <a:tr h="460375">
                <a:tc>
                  <a:txBody>
                    <a:bodyPr/>
                    <a:lstStyle/>
                    <a:p>
                      <a:pPr algn="l">
                        <a:buNone/>
                      </a:pPr>
                      <a:r>
                        <a:rPr sz="2250" b="0">
                          <a:solidFill>
                            <a:srgbClr val="111111"/>
                          </a:solidFill>
                          <a:latin typeface="Aptos"/>
                          <a:ea typeface="Aptos"/>
                          <a:cs typeface="Aptos"/>
                        </a:rPr>
                        <a:t>20 ≤ x &lt; 30</a:t>
                      </a:r>
                    </a:p>
                  </a:txBody>
                  <a:tcPr anchor="ctr">
                    <a:solidFill>
                      <a:srgbClr val="EEF8FE"/>
                    </a:solidFill>
                  </a:tcPr>
                </a:tc>
                <a:tc>
                  <a:txBody>
                    <a:bodyPr/>
                    <a:lstStyle/>
                    <a:p>
                      <a:pPr algn="ctr">
                        <a:buNone/>
                      </a:pPr>
                      <a:r>
                        <a:rPr sz="2250" b="0">
                          <a:solidFill>
                            <a:srgbClr val="111111"/>
                          </a:solidFill>
                          <a:latin typeface="Aptos"/>
                          <a:ea typeface="Aptos"/>
                          <a:cs typeface="Aptos"/>
                        </a:rPr>
                        <a:t>7</a:t>
                      </a:r>
                    </a:p>
                  </a:txBody>
                  <a:tcPr anchor="ctr">
                    <a:solidFill>
                      <a:srgbClr val="EEF8FE"/>
                    </a:solidFill>
                  </a:tcPr>
                </a:tc>
                <a:extLst>
                  <a:ext uri="{0D108BD9-81ED-4DB2-BD59-A6C34878D82A}">
                    <a16:rowId xmlns:a16="http://schemas.microsoft.com/office/drawing/2014/main" val="10002"/>
                  </a:ext>
                </a:extLst>
              </a:tr>
              <a:tr h="460375">
                <a:tc>
                  <a:txBody>
                    <a:bodyPr/>
                    <a:lstStyle/>
                    <a:p>
                      <a:pPr algn="l">
                        <a:buNone/>
                      </a:pPr>
                      <a:r>
                        <a:rPr sz="2250" b="0">
                          <a:solidFill>
                            <a:srgbClr val="111111"/>
                          </a:solidFill>
                          <a:latin typeface="Aptos"/>
                          <a:ea typeface="Aptos"/>
                          <a:cs typeface="Aptos"/>
                        </a:rPr>
                        <a:t>30 ≤ x &lt; 40</a:t>
                      </a:r>
                    </a:p>
                  </a:txBody>
                  <a:tcPr anchor="ctr">
                    <a:solidFill>
                      <a:srgbClr val="FFFFFF"/>
                    </a:solidFill>
                  </a:tcPr>
                </a:tc>
                <a:tc>
                  <a:txBody>
                    <a:bodyPr/>
                    <a:lstStyle/>
                    <a:p>
                      <a:pPr algn="ctr">
                        <a:buNone/>
                      </a:pPr>
                      <a:r>
                        <a:rPr sz="2250" b="0">
                          <a:solidFill>
                            <a:srgbClr val="111111"/>
                          </a:solidFill>
                          <a:latin typeface="Aptos"/>
                          <a:ea typeface="Aptos"/>
                          <a:cs typeface="Aptos"/>
                        </a:rPr>
                        <a:t>10</a:t>
                      </a:r>
                    </a:p>
                  </a:txBody>
                  <a:tcPr anchor="ctr">
                    <a:solidFill>
                      <a:srgbClr val="FFFFFF"/>
                    </a:solidFill>
                  </a:tcPr>
                </a:tc>
                <a:extLst>
                  <a:ext uri="{0D108BD9-81ED-4DB2-BD59-A6C34878D82A}">
                    <a16:rowId xmlns:a16="http://schemas.microsoft.com/office/drawing/2014/main" val="10003"/>
                  </a:ext>
                </a:extLst>
              </a:tr>
              <a:tr h="460375">
                <a:tc>
                  <a:txBody>
                    <a:bodyPr/>
                    <a:lstStyle/>
                    <a:p>
                      <a:pPr algn="l">
                        <a:buNone/>
                      </a:pPr>
                      <a:r>
                        <a:rPr sz="2250" b="0">
                          <a:solidFill>
                            <a:srgbClr val="111111"/>
                          </a:solidFill>
                          <a:latin typeface="Aptos"/>
                          <a:ea typeface="Aptos"/>
                          <a:cs typeface="Aptos"/>
                        </a:rPr>
                        <a:t>40 ≤ x &lt; 50</a:t>
                      </a:r>
                    </a:p>
                  </a:txBody>
                  <a:tcPr anchor="ctr">
                    <a:solidFill>
                      <a:srgbClr val="EEF8FE"/>
                    </a:solidFill>
                  </a:tcPr>
                </a:tc>
                <a:tc>
                  <a:txBody>
                    <a:bodyPr/>
                    <a:lstStyle/>
                    <a:p>
                      <a:pPr algn="ctr">
                        <a:buNone/>
                      </a:pPr>
                      <a:r>
                        <a:rPr sz="2250" b="0">
                          <a:solidFill>
                            <a:srgbClr val="111111"/>
                          </a:solidFill>
                          <a:latin typeface="Aptos"/>
                          <a:ea typeface="Aptos"/>
                          <a:cs typeface="Aptos"/>
                        </a:rPr>
                        <a:t>6</a:t>
                      </a:r>
                    </a:p>
                  </a:txBody>
                  <a:tcPr anchor="ctr">
                    <a:solidFill>
                      <a:srgbClr val="EEF8FE"/>
                    </a:solidFill>
                  </a:tcPr>
                </a:tc>
                <a:extLst>
                  <a:ext uri="{0D108BD9-81ED-4DB2-BD59-A6C34878D82A}">
                    <a16:rowId xmlns:a16="http://schemas.microsoft.com/office/drawing/2014/main" val="10004"/>
                  </a:ext>
                </a:extLst>
              </a:tr>
              <a:tr h="460375">
                <a:tc>
                  <a:txBody>
                    <a:bodyPr/>
                    <a:lstStyle/>
                    <a:p>
                      <a:pPr algn="l">
                        <a:buNone/>
                      </a:pPr>
                      <a:r>
                        <a:rPr sz="2250" b="0">
                          <a:solidFill>
                            <a:srgbClr val="111111"/>
                          </a:solidFill>
                          <a:latin typeface="Aptos"/>
                          <a:ea typeface="Aptos"/>
                          <a:cs typeface="Aptos"/>
                        </a:rPr>
                        <a:t>Total</a:t>
                      </a:r>
                    </a:p>
                  </a:txBody>
                  <a:tcPr anchor="ctr">
                    <a:solidFill>
                      <a:srgbClr val="FFFFFF"/>
                    </a:solidFill>
                  </a:tcPr>
                </a:tc>
                <a:tc>
                  <a:txBody>
                    <a:bodyPr/>
                    <a:lstStyle/>
                    <a:p>
                      <a:pPr algn="ctr">
                        <a:buNone/>
                      </a:pPr>
                      <a:r>
                        <a:rPr sz="2250" b="0">
                          <a:solidFill>
                            <a:srgbClr val="111111"/>
                          </a:solidFill>
                          <a:latin typeface="Aptos"/>
                          <a:ea typeface="Aptos"/>
                          <a:cs typeface="Aptos"/>
                        </a:rPr>
                        <a:t>25</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4" name="Text">
            <a:extLst>
              <a:ext uri="{FF2B5EF4-FFF2-40B4-BE49-F238E27FC236}">
                <a16:creationId xmlns:a16="http://schemas.microsoft.com/office/drawing/2014/main" id="{CA8B8010-B480-4DBF-A3D7-B89192AE0B46}"/>
              </a:ext>
            </a:extLst>
          </p:cNvPr>
          <p:cNvSpPr>
            <a:spLocks noGrp="1"/>
          </p:cNvSpPr>
          <p:nvPr/>
        </p:nvSpPr>
        <p:spPr>
          <a:xfrm>
            <a:off x="7743825" y="3028950"/>
            <a:ext cx="3810000" cy="762000"/>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Each session lasted</a:t>
            </a:r>
          </a:p>
          <a:p>
            <a:pPr algn="l">
              <a:buNone/>
              <a:defRPr sz="2400" b="1">
                <a:solidFill>
                  <a:srgbClr val="111111"/>
                </a:solidFill>
                <a:latin typeface="Aptos"/>
                <a:ea typeface="Aptos"/>
                <a:cs typeface="Aptos"/>
              </a:defRPr>
            </a:pPr>
            <a:r>
              <a:rPr sz="2400" b="1">
                <a:solidFill>
                  <a:srgbClr val="111111"/>
                </a:solidFill>
                <a:latin typeface="Aptos"/>
                <a:ea typeface="Aptos"/>
                <a:cs typeface="Aptos"/>
              </a:rPr>
              <a:t>30 minutes.</a:t>
            </a:r>
          </a:p>
        </p:txBody>
      </p:sp>
      <p:sp>
        <p:nvSpPr>
          <p:cNvPr id="5" name="Text">
            <a:extLst>
              <a:ext uri="{FF2B5EF4-FFF2-40B4-BE49-F238E27FC236}">
                <a16:creationId xmlns:a16="http://schemas.microsoft.com/office/drawing/2014/main" id="{62A25168-E57B-43B3-BA59-EFFECDC2FEC7}"/>
              </a:ext>
            </a:extLst>
          </p:cNvPr>
          <p:cNvSpPr>
            <a:spLocks noGrp="1"/>
          </p:cNvSpPr>
          <p:nvPr/>
        </p:nvSpPr>
        <p:spPr>
          <a:xfrm>
            <a:off x="7743825" y="4210050"/>
            <a:ext cx="3810000" cy="971550"/>
          </a:xfrm>
          <a:prstGeom prst="rect">
            <a:avLst/>
          </a:prstGeom>
          <a:noFill/>
          <a:ln w="0">
            <a:noFill/>
          </a:ln>
        </p:spPr>
        <p:txBody>
          <a:bodyPr wrap="square" lIns="0" tIns="0" rIns="0" bIns="0" anchor="t">
            <a:noAutofit/>
          </a:bodyPr>
          <a:lstStyle/>
          <a:p>
            <a:pPr algn="l">
              <a:buNone/>
              <a:defRPr sz="2625" b="0">
                <a:solidFill>
                  <a:srgbClr val="111111"/>
                </a:solidFill>
                <a:latin typeface="Aptos"/>
                <a:ea typeface="Aptos"/>
                <a:cs typeface="Aptos"/>
              </a:defRPr>
            </a:pPr>
            <a:r>
              <a:rPr sz="2625" b="0">
                <a:solidFill>
                  <a:srgbClr val="111111"/>
                </a:solidFill>
                <a:latin typeface="Aptos"/>
                <a:ea typeface="Aptos"/>
                <a:cs typeface="Aptos"/>
              </a:rPr>
              <a:t>Which sign-up interval</a:t>
            </a:r>
          </a:p>
          <a:p>
            <a:pPr algn="l">
              <a:buNone/>
              <a:defRPr sz="2625" b="0">
                <a:solidFill>
                  <a:srgbClr val="111111"/>
                </a:solidFill>
                <a:latin typeface="Aptos"/>
                <a:ea typeface="Aptos"/>
                <a:cs typeface="Aptos"/>
              </a:defRPr>
            </a:pPr>
            <a:r>
              <a:rPr sz="2625" b="0">
                <a:solidFill>
                  <a:srgbClr val="111111"/>
                </a:solidFill>
                <a:latin typeface="Aptos"/>
                <a:ea typeface="Aptos"/>
                <a:cs typeface="Aptos"/>
              </a:rPr>
              <a:t>was most common?</a:t>
            </a:r>
          </a:p>
        </p:txBody>
      </p:sp>
      <p:sp>
        <p:nvSpPr>
          <p:cNvPr id="6" name="Text">
            <a:extLst>
              <a:ext uri="{FF2B5EF4-FFF2-40B4-BE49-F238E27FC236}">
                <a16:creationId xmlns:a16="http://schemas.microsoft.com/office/drawing/2014/main" id="{264A5550-A3D5-4642-B303-D3D30735A301}"/>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x = sign-ups in one session. f = number of sessions in an interval.</a:t>
            </a:r>
          </a:p>
        </p:txBody>
      </p:sp>
    </p:spTree>
    <p:extLst>
      <p:ext uri="{BB962C8B-B14F-4D97-AF65-F5344CB8AC3E}">
        <p14:creationId xmlns:p14="http://schemas.microsoft.com/office/powerpoint/2010/main" val="1542982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B654C208-9B02-4F9E-99B4-AA8465753B30}"/>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Bar chart or histogram?</a:t>
            </a:r>
          </a:p>
        </p:txBody>
      </p:sp>
      <p:sp>
        <p:nvSpPr>
          <p:cNvPr id="2" name="Text">
            <a:extLst>
              <a:ext uri="{FF2B5EF4-FFF2-40B4-BE49-F238E27FC236}">
                <a16:creationId xmlns:a16="http://schemas.microsoft.com/office/drawing/2014/main" id="{07C383CA-6563-4664-86CE-BBF93F050C3F}"/>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Choose the display according to what the horizontal axis represents.</a:t>
            </a:r>
          </a:p>
        </p:txBody>
      </p:sp>
      <p:sp>
        <p:nvSpPr>
          <p:cNvPr id="3" name="Text">
            <a:extLst>
              <a:ext uri="{FF2B5EF4-FFF2-40B4-BE49-F238E27FC236}">
                <a16:creationId xmlns:a16="http://schemas.microsoft.com/office/drawing/2014/main" id="{75983A2D-644D-4ABE-BD20-8255CBA3EC36}"/>
              </a:ext>
            </a:extLst>
          </p:cNvPr>
          <p:cNvSpPr>
            <a:spLocks noGrp="1"/>
          </p:cNvSpPr>
          <p:nvPr/>
        </p:nvSpPr>
        <p:spPr>
          <a:xfrm>
            <a:off x="619125" y="2790825"/>
            <a:ext cx="5314950" cy="419100"/>
          </a:xfrm>
          <a:prstGeom prst="rect">
            <a:avLst/>
          </a:prstGeom>
          <a:noFill/>
          <a:ln w="0">
            <a:noFill/>
          </a:ln>
        </p:spPr>
        <p:txBody>
          <a:bodyPr wrap="square" lIns="0" tIns="0" rIns="0" bIns="0" anchor="t">
            <a:noAutofit/>
          </a:bodyPr>
          <a:lstStyle/>
          <a:p>
            <a:pPr algn="l">
              <a:buNone/>
              <a:defRPr sz="2175" b="1">
                <a:solidFill>
                  <a:srgbClr val="111111"/>
                </a:solidFill>
                <a:latin typeface="Aptos"/>
                <a:ea typeface="Aptos"/>
                <a:cs typeface="Aptos"/>
              </a:defRPr>
            </a:pPr>
            <a:r>
              <a:rPr sz="2175" b="1">
                <a:solidFill>
                  <a:srgbClr val="111111"/>
                </a:solidFill>
                <a:latin typeface="Aptos"/>
                <a:ea typeface="Aptos"/>
                <a:cs typeface="Aptos"/>
              </a:rPr>
              <a:t>Bar chart: separate categories</a:t>
            </a:r>
          </a:p>
        </p:txBody>
      </p:sp>
      <p:graphicFrame>
        <p:nvGraphicFramePr>
          <p:cNvPr id="14" name="Chart"/>
          <p:cNvGraphicFramePr/>
          <p:nvPr/>
        </p:nvGraphicFramePr>
        <p:xfrm>
          <a:off x="523875" y="3209925"/>
          <a:ext cx="5391150" cy="23241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a:extLst>
              <a:ext uri="{FF2B5EF4-FFF2-40B4-BE49-F238E27FC236}">
                <a16:creationId xmlns:a16="http://schemas.microsoft.com/office/drawing/2014/main" id="{C88E3A99-1B7A-4E29-93C1-C83E03762FFC}"/>
              </a:ext>
            </a:extLst>
          </p:cNvPr>
          <p:cNvSpPr>
            <a:spLocks noGrp="1"/>
          </p:cNvSpPr>
          <p:nvPr/>
        </p:nvSpPr>
        <p:spPr>
          <a:xfrm>
            <a:off x="6448425" y="2790825"/>
            <a:ext cx="5124450" cy="419100"/>
          </a:xfrm>
          <a:prstGeom prst="rect">
            <a:avLst/>
          </a:prstGeom>
          <a:noFill/>
          <a:ln w="0">
            <a:noFill/>
          </a:ln>
        </p:spPr>
        <p:txBody>
          <a:bodyPr wrap="square" lIns="0" tIns="0" rIns="0" bIns="0" anchor="t">
            <a:noAutofit/>
          </a:bodyPr>
          <a:lstStyle/>
          <a:p>
            <a:pPr algn="l">
              <a:buNone/>
              <a:defRPr sz="2175" b="1">
                <a:solidFill>
                  <a:srgbClr val="111111"/>
                </a:solidFill>
                <a:latin typeface="Aptos"/>
                <a:ea typeface="Aptos"/>
                <a:cs typeface="Aptos"/>
              </a:defRPr>
            </a:pPr>
            <a:r>
              <a:rPr sz="2175" b="1">
                <a:solidFill>
                  <a:srgbClr val="111111"/>
                </a:solidFill>
                <a:latin typeface="Aptos"/>
                <a:ea typeface="Aptos"/>
                <a:cs typeface="Aptos"/>
              </a:rPr>
              <a:t>Histogram: numerical intervals</a:t>
            </a:r>
          </a:p>
        </p:txBody>
      </p:sp>
      <p:graphicFrame>
        <p:nvGraphicFramePr>
          <p:cNvPr id="16" name="Chart"/>
          <p:cNvGraphicFramePr/>
          <p:nvPr/>
        </p:nvGraphicFramePr>
        <p:xfrm>
          <a:off x="6343650" y="3209925"/>
          <a:ext cx="5238750" cy="23241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a:extLst>
              <a:ext uri="{FF2B5EF4-FFF2-40B4-BE49-F238E27FC236}">
                <a16:creationId xmlns:a16="http://schemas.microsoft.com/office/drawing/2014/main" id="{4EDC12F9-9EA9-4DB6-BA52-16CA43215DA9}"/>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Numerical intervals stay in number order. All histogram intervals here have equal width.</a:t>
            </a:r>
          </a:p>
        </p:txBody>
      </p:sp>
    </p:spTree>
    <p:extLst>
      <p:ext uri="{BB962C8B-B14F-4D97-AF65-F5344CB8AC3E}">
        <p14:creationId xmlns:p14="http://schemas.microsoft.com/office/powerpoint/2010/main" val="1836488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93164894-6E70-4FD6-AECE-738FA86A53D3}"/>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Building the first histogram bar</a:t>
            </a:r>
          </a:p>
        </p:txBody>
      </p:sp>
      <p:sp>
        <p:nvSpPr>
          <p:cNvPr id="2" name="Text">
            <a:extLst>
              <a:ext uri="{FF2B5EF4-FFF2-40B4-BE49-F238E27FC236}">
                <a16:creationId xmlns:a16="http://schemas.microsoft.com/office/drawing/2014/main" id="{E796CAA2-4ECD-4976-A3D7-61B1308BD001}"/>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With equal-width intervals, the frequency gives each bar’s height.</a:t>
            </a:r>
          </a:p>
        </p:txBody>
      </p:sp>
      <p:graphicFrame>
        <p:nvGraphicFramePr>
          <p:cNvPr id="12" name="Chart"/>
          <p:cNvGraphicFramePr/>
          <p:nvPr/>
        </p:nvGraphicFramePr>
        <p:xfrm>
          <a:off x="523875" y="2781300"/>
          <a:ext cx="8048625" cy="3048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a:extLst>
              <a:ext uri="{FF2B5EF4-FFF2-40B4-BE49-F238E27FC236}">
                <a16:creationId xmlns:a16="http://schemas.microsoft.com/office/drawing/2014/main" id="{E267CBB4-8A9A-42F3-AACF-D687667466CC}"/>
              </a:ext>
            </a:extLst>
          </p:cNvPr>
          <p:cNvSpPr>
            <a:spLocks noGrp="1"/>
          </p:cNvSpPr>
          <p:nvPr/>
        </p:nvSpPr>
        <p:spPr>
          <a:xfrm>
            <a:off x="8877300" y="2981325"/>
            <a:ext cx="2695575" cy="790575"/>
          </a:xfrm>
          <a:prstGeom prst="rect">
            <a:avLst/>
          </a:prstGeom>
          <a:noFill/>
          <a:ln w="0">
            <a:noFill/>
          </a:ln>
        </p:spPr>
        <p:txBody>
          <a:bodyPr wrap="square" lIns="0" tIns="0" rIns="0" bIns="0" anchor="t">
            <a:noAutofit/>
          </a:bodyPr>
          <a:lstStyle/>
          <a:p>
            <a:pPr algn="l">
              <a:buNone/>
              <a:defRPr sz="2175" b="0">
                <a:solidFill>
                  <a:srgbClr val="111111"/>
                </a:solidFill>
                <a:latin typeface="Aptos"/>
                <a:ea typeface="Aptos"/>
                <a:cs typeface="Aptos"/>
              </a:defRPr>
            </a:pPr>
            <a:r>
              <a:rPr sz="2175" b="0">
                <a:solidFill>
                  <a:srgbClr val="111111"/>
                </a:solidFill>
                <a:latin typeface="Aptos"/>
                <a:ea typeface="Aptos"/>
                <a:cs typeface="Aptos"/>
              </a:rPr>
              <a:t>Horizontal span:</a:t>
            </a:r>
          </a:p>
          <a:p>
            <a:pPr algn="l">
              <a:buNone/>
              <a:defRPr sz="2175" b="0">
                <a:solidFill>
                  <a:srgbClr val="111111"/>
                </a:solidFill>
                <a:latin typeface="Aptos"/>
                <a:ea typeface="Aptos"/>
                <a:cs typeface="Aptos"/>
              </a:defRPr>
            </a:pPr>
            <a:r>
              <a:rPr sz="2175" b="0">
                <a:solidFill>
                  <a:srgbClr val="111111"/>
                </a:solidFill>
                <a:latin typeface="Aptos"/>
                <a:ea typeface="Aptos"/>
                <a:cs typeface="Aptos"/>
              </a:rPr>
              <a:t>10 ≤ x &lt; 20</a:t>
            </a:r>
          </a:p>
        </p:txBody>
      </p:sp>
      <p:sp>
        <p:nvSpPr>
          <p:cNvPr id="5" name="Text">
            <a:extLst>
              <a:ext uri="{FF2B5EF4-FFF2-40B4-BE49-F238E27FC236}">
                <a16:creationId xmlns:a16="http://schemas.microsoft.com/office/drawing/2014/main" id="{F388720F-6DB6-43DD-A2A3-1DA2F7881DED}"/>
              </a:ext>
            </a:extLst>
          </p:cNvPr>
          <p:cNvSpPr>
            <a:spLocks noGrp="1"/>
          </p:cNvSpPr>
          <p:nvPr/>
        </p:nvSpPr>
        <p:spPr>
          <a:xfrm>
            <a:off x="8877300" y="3848100"/>
            <a:ext cx="2695575" cy="790575"/>
          </a:xfrm>
          <a:prstGeom prst="rect">
            <a:avLst/>
          </a:prstGeom>
          <a:noFill/>
          <a:ln w="0">
            <a:noFill/>
          </a:ln>
        </p:spPr>
        <p:txBody>
          <a:bodyPr wrap="square" lIns="0" tIns="0" rIns="0" bIns="0" anchor="t">
            <a:noAutofit/>
          </a:bodyPr>
          <a:lstStyle/>
          <a:p>
            <a:pPr algn="l">
              <a:buNone/>
              <a:defRPr sz="2175" b="0">
                <a:solidFill>
                  <a:srgbClr val="111111"/>
                </a:solidFill>
                <a:latin typeface="Aptos"/>
                <a:ea typeface="Aptos"/>
                <a:cs typeface="Aptos"/>
              </a:defRPr>
            </a:pPr>
            <a:r>
              <a:rPr sz="2175" b="0">
                <a:solidFill>
                  <a:srgbClr val="111111"/>
                </a:solidFill>
                <a:latin typeface="Aptos"/>
                <a:ea typeface="Aptos"/>
                <a:cs typeface="Aptos"/>
              </a:rPr>
              <a:t>Height: 2 sessions</a:t>
            </a:r>
          </a:p>
        </p:txBody>
      </p:sp>
      <p:sp>
        <p:nvSpPr>
          <p:cNvPr id="6" name="Text">
            <a:extLst>
              <a:ext uri="{FF2B5EF4-FFF2-40B4-BE49-F238E27FC236}">
                <a16:creationId xmlns:a16="http://schemas.microsoft.com/office/drawing/2014/main" id="{699C78FA-7C32-4A81-823B-6997ACC5E4E1}"/>
              </a:ext>
            </a:extLst>
          </p:cNvPr>
          <p:cNvSpPr>
            <a:spLocks noGrp="1"/>
          </p:cNvSpPr>
          <p:nvPr/>
        </p:nvSpPr>
        <p:spPr>
          <a:xfrm>
            <a:off x="8877300" y="4714875"/>
            <a:ext cx="2695575" cy="790575"/>
          </a:xfrm>
          <a:prstGeom prst="rect">
            <a:avLst/>
          </a:prstGeom>
          <a:noFill/>
          <a:ln w="0">
            <a:noFill/>
          </a:ln>
        </p:spPr>
        <p:txBody>
          <a:bodyPr wrap="square" lIns="0" tIns="0" rIns="0" bIns="0" anchor="t">
            <a:noAutofit/>
          </a:bodyPr>
          <a:lstStyle/>
          <a:p>
            <a:pPr algn="l">
              <a:buNone/>
              <a:defRPr sz="2175" b="0">
                <a:solidFill>
                  <a:srgbClr val="111111"/>
                </a:solidFill>
                <a:latin typeface="Aptos"/>
                <a:ea typeface="Aptos"/>
                <a:cs typeface="Aptos"/>
              </a:defRPr>
            </a:pPr>
            <a:r>
              <a:rPr sz="2175" b="0">
                <a:solidFill>
                  <a:srgbClr val="111111"/>
                </a:solidFill>
                <a:latin typeface="Aptos"/>
                <a:ea typeface="Aptos"/>
                <a:cs typeface="Aptos"/>
              </a:rPr>
              <a:t>Width: 20 − 10 = 10</a:t>
            </a:r>
          </a:p>
        </p:txBody>
      </p:sp>
      <p:sp>
        <p:nvSpPr>
          <p:cNvPr id="7" name="Text">
            <a:extLst>
              <a:ext uri="{FF2B5EF4-FFF2-40B4-BE49-F238E27FC236}">
                <a16:creationId xmlns:a16="http://schemas.microsoft.com/office/drawing/2014/main" id="{7FB11CD1-7CB8-4CF8-B290-5A0600A2168A}"/>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Only the first bar is shown. The other three frequencies are 7, 10 and 6.</a:t>
            </a:r>
          </a:p>
        </p:txBody>
      </p:sp>
    </p:spTree>
    <p:extLst>
      <p:ext uri="{BB962C8B-B14F-4D97-AF65-F5344CB8AC3E}">
        <p14:creationId xmlns:p14="http://schemas.microsoft.com/office/powerpoint/2010/main" val="915764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EF5CC73D-4CB5-4508-AA34-67D4C965BE8B}"/>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completed histogram</a:t>
            </a:r>
          </a:p>
        </p:txBody>
      </p:sp>
      <p:sp>
        <p:nvSpPr>
          <p:cNvPr id="2" name="Text">
            <a:extLst>
              <a:ext uri="{FF2B5EF4-FFF2-40B4-BE49-F238E27FC236}">
                <a16:creationId xmlns:a16="http://schemas.microsoft.com/office/drawing/2014/main" id="{EBC7996C-0AE4-457F-A591-F3D606897454}"/>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The tallest bar identifies the modal class.</a:t>
            </a:r>
          </a:p>
        </p:txBody>
      </p:sp>
      <p:graphicFrame>
        <p:nvGraphicFramePr>
          <p:cNvPr id="12" name="Chart"/>
          <p:cNvGraphicFramePr/>
          <p:nvPr/>
        </p:nvGraphicFramePr>
        <p:xfrm>
          <a:off x="523875" y="2781300"/>
          <a:ext cx="8048625" cy="3048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a:extLst>
              <a:ext uri="{FF2B5EF4-FFF2-40B4-BE49-F238E27FC236}">
                <a16:creationId xmlns:a16="http://schemas.microsoft.com/office/drawing/2014/main" id="{CF7736DF-EE41-4F1A-AD17-20D228270481}"/>
              </a:ext>
            </a:extLst>
          </p:cNvPr>
          <p:cNvSpPr>
            <a:spLocks noGrp="1"/>
          </p:cNvSpPr>
          <p:nvPr/>
        </p:nvSpPr>
        <p:spPr>
          <a:xfrm>
            <a:off x="8896350" y="3076575"/>
            <a:ext cx="2686050" cy="561975"/>
          </a:xfrm>
          <a:prstGeom prst="rect">
            <a:avLst/>
          </a:prstGeom>
          <a:noFill/>
          <a:ln w="0">
            <a:noFill/>
          </a:ln>
        </p:spPr>
        <p:txBody>
          <a:bodyPr wrap="square" lIns="0" tIns="0" rIns="0" bIns="0" anchor="t">
            <a:noAutofit/>
          </a:bodyPr>
          <a:lstStyle/>
          <a:p>
            <a:pPr algn="l">
              <a:buNone/>
              <a:defRPr sz="2550" b="1">
                <a:solidFill>
                  <a:srgbClr val="D6171D"/>
                </a:solidFill>
                <a:latin typeface="Aptos"/>
                <a:ea typeface="Aptos"/>
                <a:cs typeface="Aptos"/>
              </a:defRPr>
            </a:pPr>
            <a:r>
              <a:rPr sz="2550" b="1">
                <a:solidFill>
                  <a:srgbClr val="D6171D"/>
                </a:solidFill>
                <a:latin typeface="Aptos"/>
                <a:ea typeface="Aptos"/>
                <a:cs typeface="Aptos"/>
              </a:rPr>
              <a:t>30 ≤ x &lt; 40</a:t>
            </a:r>
          </a:p>
        </p:txBody>
      </p:sp>
      <p:sp>
        <p:nvSpPr>
          <p:cNvPr id="5" name="Text">
            <a:extLst>
              <a:ext uri="{FF2B5EF4-FFF2-40B4-BE49-F238E27FC236}">
                <a16:creationId xmlns:a16="http://schemas.microsoft.com/office/drawing/2014/main" id="{4BC35865-1E9B-430E-9351-8B53336D1904}"/>
              </a:ext>
            </a:extLst>
          </p:cNvPr>
          <p:cNvSpPr>
            <a:spLocks noGrp="1"/>
          </p:cNvSpPr>
          <p:nvPr/>
        </p:nvSpPr>
        <p:spPr>
          <a:xfrm>
            <a:off x="8896350" y="3943350"/>
            <a:ext cx="2686050" cy="885825"/>
          </a:xfrm>
          <a:prstGeom prst="rect">
            <a:avLst/>
          </a:prstGeom>
          <a:noFill/>
          <a:ln w="0">
            <a:noFill/>
          </a:ln>
        </p:spPr>
        <p:txBody>
          <a:bodyPr wrap="square"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10 sessions</a:t>
            </a:r>
          </a:p>
          <a:p>
            <a:pPr algn="l">
              <a:buNone/>
              <a:defRPr sz="2250" b="1">
                <a:solidFill>
                  <a:srgbClr val="111111"/>
                </a:solidFill>
                <a:latin typeface="Aptos"/>
                <a:ea typeface="Aptos"/>
                <a:cs typeface="Aptos"/>
              </a:defRPr>
            </a:pPr>
            <a:r>
              <a:rPr sz="2250" b="1">
                <a:solidFill>
                  <a:srgbClr val="111111"/>
                </a:solidFill>
                <a:latin typeface="Aptos"/>
                <a:ea typeface="Aptos"/>
                <a:cs typeface="Aptos"/>
              </a:rPr>
              <a:t>40% of the sample</a:t>
            </a:r>
          </a:p>
        </p:txBody>
      </p:sp>
      <p:sp>
        <p:nvSpPr>
          <p:cNvPr id="6" name="Text">
            <a:extLst>
              <a:ext uri="{FF2B5EF4-FFF2-40B4-BE49-F238E27FC236}">
                <a16:creationId xmlns:a16="http://schemas.microsoft.com/office/drawing/2014/main" id="{BD4A1A46-5C2D-4AF4-A284-136247708EF4}"/>
              </a:ext>
            </a:extLst>
          </p:cNvPr>
          <p:cNvSpPr>
            <a:spLocks noGrp="1"/>
          </p:cNvSpPr>
          <p:nvPr/>
        </p:nvSpPr>
        <p:spPr>
          <a:xfrm>
            <a:off x="8896350" y="5076825"/>
            <a:ext cx="2686050" cy="752475"/>
          </a:xfrm>
          <a:prstGeom prst="rect">
            <a:avLst/>
          </a:prstGeom>
          <a:noFill/>
          <a:ln w="0">
            <a:noFill/>
          </a:ln>
        </p:spPr>
        <p:txBody>
          <a:bodyPr wrap="square" lIns="0" tIns="0" rIns="0" bIns="0" anchor="t">
            <a:noAutofit/>
          </a:bodyPr>
          <a:lstStyle/>
          <a:p>
            <a:pPr algn="l">
              <a:buNone/>
              <a:defRPr sz="2100" b="0">
                <a:solidFill>
                  <a:srgbClr val="111111"/>
                </a:solidFill>
                <a:latin typeface="Aptos"/>
                <a:ea typeface="Aptos"/>
                <a:cs typeface="Aptos"/>
              </a:defRPr>
            </a:pPr>
            <a:r>
              <a:rPr sz="2100" b="0">
                <a:solidFill>
                  <a:srgbClr val="111111"/>
                </a:solidFill>
                <a:latin typeface="Aptos"/>
                <a:ea typeface="Aptos"/>
                <a:cs typeface="Aptos"/>
              </a:rPr>
              <a:t>Bars touch.</a:t>
            </a:r>
          </a:p>
          <a:p>
            <a:pPr algn="l">
              <a:buNone/>
              <a:defRPr sz="2100" b="0">
                <a:solidFill>
                  <a:srgbClr val="111111"/>
                </a:solidFill>
                <a:latin typeface="Aptos"/>
                <a:ea typeface="Aptos"/>
                <a:cs typeface="Aptos"/>
              </a:defRPr>
            </a:pPr>
            <a:r>
              <a:rPr sz="2100" b="0">
                <a:solidFill>
                  <a:srgbClr val="111111"/>
                </a:solidFill>
                <a:latin typeface="Aptos"/>
                <a:ea typeface="Aptos"/>
                <a:cs typeface="Aptos"/>
              </a:rPr>
              <a:t>The intervals are adjacent.</a:t>
            </a:r>
          </a:p>
        </p:txBody>
      </p:sp>
      <p:sp>
        <p:nvSpPr>
          <p:cNvPr id="7" name="Text">
            <a:extLst>
              <a:ext uri="{FF2B5EF4-FFF2-40B4-BE49-F238E27FC236}">
                <a16:creationId xmlns:a16="http://schemas.microsoft.com/office/drawing/2014/main" id="{EFDB1DE6-BD1E-40BE-80D9-781FA520D730}"/>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Count heights are appropriate here because every interval has the same width.</a:t>
            </a:r>
          </a:p>
        </p:txBody>
      </p:sp>
    </p:spTree>
    <p:extLst>
      <p:ext uri="{BB962C8B-B14F-4D97-AF65-F5344CB8AC3E}">
        <p14:creationId xmlns:p14="http://schemas.microsoft.com/office/powerpoint/2010/main" val="1679765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title">
            <a:extLst>
              <a:ext uri="{FF2B5EF4-FFF2-40B4-BE49-F238E27FC236}">
                <a16:creationId xmlns:a16="http://schemas.microsoft.com/office/drawing/2014/main" id="{B08D3B87-2C25-4A85-90F7-58FD86B00A06}"/>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count the Smoothie results</a:t>
            </a:r>
          </a:p>
        </p:txBody>
      </p:sp>
      <p:sp>
        <p:nvSpPr>
          <p:cNvPr id="2" name="Lead">
            <a:extLst>
              <a:ext uri="{FF2B5EF4-FFF2-40B4-BE49-F238E27FC236}">
                <a16:creationId xmlns:a16="http://schemas.microsoft.com/office/drawing/2014/main" id="{E5DC403B-66A9-4186-B2EF-3F0BD77E4BC7}"/>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Each number is the sign-ups recorded in one 30-minute promotion session.</a:t>
            </a:r>
          </a:p>
        </p:txBody>
      </p:sp>
      <p:sp>
        <p:nvSpPr>
          <p:cNvPr id="3" name="Text">
            <a:extLst>
              <a:ext uri="{FF2B5EF4-FFF2-40B4-BE49-F238E27FC236}">
                <a16:creationId xmlns:a16="http://schemas.microsoft.com/office/drawing/2014/main" id="{6A1275BD-7FC4-43BE-B0FB-846A375999F8}"/>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B1</a:t>
            </a:r>
          </a:p>
        </p:txBody>
      </p:sp>
      <p:sp>
        <p:nvSpPr>
          <p:cNvPr id="4" name="Footer">
            <a:extLst>
              <a:ext uri="{FF2B5EF4-FFF2-40B4-BE49-F238E27FC236}">
                <a16:creationId xmlns:a16="http://schemas.microsoft.com/office/drawing/2014/main" id="{8B92690A-34FA-4D96-8821-08249D81FA51}"/>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Use four intervals of width 10. Start at a multiple of 10 that covers all the results.</a:t>
            </a:r>
          </a:p>
        </p:txBody>
      </p:sp>
      <p:sp>
        <p:nvSpPr>
          <p:cNvPr id="5" name="Text">
            <a:extLst>
              <a:ext uri="{FF2B5EF4-FFF2-40B4-BE49-F238E27FC236}">
                <a16:creationId xmlns:a16="http://schemas.microsoft.com/office/drawing/2014/main" id="{1727B737-4557-4D7C-B4E1-569139566BF4}"/>
              </a:ext>
            </a:extLst>
          </p:cNvPr>
          <p:cNvSpPr>
            <a:spLocks noGrp="1"/>
          </p:cNvSpPr>
          <p:nvPr/>
        </p:nvSpPr>
        <p:spPr>
          <a:xfrm>
            <a:off x="619125" y="2762250"/>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32</a:t>
            </a:r>
          </a:p>
        </p:txBody>
      </p:sp>
      <p:sp>
        <p:nvSpPr>
          <p:cNvPr id="6" name="Text">
            <a:extLst>
              <a:ext uri="{FF2B5EF4-FFF2-40B4-BE49-F238E27FC236}">
                <a16:creationId xmlns:a16="http://schemas.microsoft.com/office/drawing/2014/main" id="{D8310937-82B7-4882-9981-91E436AFA274}"/>
              </a:ext>
            </a:extLst>
          </p:cNvPr>
          <p:cNvSpPr>
            <a:spLocks noGrp="1"/>
          </p:cNvSpPr>
          <p:nvPr/>
        </p:nvSpPr>
        <p:spPr>
          <a:xfrm>
            <a:off x="1714500" y="2762250"/>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18</a:t>
            </a:r>
          </a:p>
        </p:txBody>
      </p:sp>
      <p:sp>
        <p:nvSpPr>
          <p:cNvPr id="7" name="Text">
            <a:extLst>
              <a:ext uri="{FF2B5EF4-FFF2-40B4-BE49-F238E27FC236}">
                <a16:creationId xmlns:a16="http://schemas.microsoft.com/office/drawing/2014/main" id="{6D740E22-176D-4D0C-B0EB-671CD50A497C}"/>
              </a:ext>
            </a:extLst>
          </p:cNvPr>
          <p:cNvSpPr>
            <a:spLocks noGrp="1"/>
          </p:cNvSpPr>
          <p:nvPr/>
        </p:nvSpPr>
        <p:spPr>
          <a:xfrm>
            <a:off x="2809875" y="2762250"/>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25</a:t>
            </a:r>
          </a:p>
        </p:txBody>
      </p:sp>
      <p:sp>
        <p:nvSpPr>
          <p:cNvPr id="8" name="Text">
            <a:extLst>
              <a:ext uri="{FF2B5EF4-FFF2-40B4-BE49-F238E27FC236}">
                <a16:creationId xmlns:a16="http://schemas.microsoft.com/office/drawing/2014/main" id="{B5C93862-646D-44FD-B1C3-8D3EAEA972C9}"/>
              </a:ext>
            </a:extLst>
          </p:cNvPr>
          <p:cNvSpPr>
            <a:spLocks noGrp="1"/>
          </p:cNvSpPr>
          <p:nvPr/>
        </p:nvSpPr>
        <p:spPr>
          <a:xfrm>
            <a:off x="3905250" y="2762250"/>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41</a:t>
            </a:r>
          </a:p>
        </p:txBody>
      </p:sp>
      <p:sp>
        <p:nvSpPr>
          <p:cNvPr id="9" name="Text">
            <a:extLst>
              <a:ext uri="{FF2B5EF4-FFF2-40B4-BE49-F238E27FC236}">
                <a16:creationId xmlns:a16="http://schemas.microsoft.com/office/drawing/2014/main" id="{D9C3FED0-634D-4DC0-A17C-602A6BD3AF50}"/>
              </a:ext>
            </a:extLst>
          </p:cNvPr>
          <p:cNvSpPr>
            <a:spLocks noGrp="1"/>
          </p:cNvSpPr>
          <p:nvPr/>
        </p:nvSpPr>
        <p:spPr>
          <a:xfrm>
            <a:off x="5000625" y="2762250"/>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29</a:t>
            </a:r>
          </a:p>
        </p:txBody>
      </p:sp>
      <p:sp>
        <p:nvSpPr>
          <p:cNvPr id="10" name="Text">
            <a:extLst>
              <a:ext uri="{FF2B5EF4-FFF2-40B4-BE49-F238E27FC236}">
                <a16:creationId xmlns:a16="http://schemas.microsoft.com/office/drawing/2014/main" id="{BFCA09AE-9EFA-45D2-AAEC-7E488DD5F2EA}"/>
              </a:ext>
            </a:extLst>
          </p:cNvPr>
          <p:cNvSpPr>
            <a:spLocks noGrp="1"/>
          </p:cNvSpPr>
          <p:nvPr/>
        </p:nvSpPr>
        <p:spPr>
          <a:xfrm>
            <a:off x="6096000" y="2762250"/>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12</a:t>
            </a:r>
          </a:p>
        </p:txBody>
      </p:sp>
      <p:sp>
        <p:nvSpPr>
          <p:cNvPr id="11" name="Text">
            <a:extLst>
              <a:ext uri="{FF2B5EF4-FFF2-40B4-BE49-F238E27FC236}">
                <a16:creationId xmlns:a16="http://schemas.microsoft.com/office/drawing/2014/main" id="{6DA3D322-B18E-4D37-9521-0E938D86F03A}"/>
              </a:ext>
            </a:extLst>
          </p:cNvPr>
          <p:cNvSpPr>
            <a:spLocks noGrp="1"/>
          </p:cNvSpPr>
          <p:nvPr/>
        </p:nvSpPr>
        <p:spPr>
          <a:xfrm>
            <a:off x="7191375" y="2762250"/>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36</a:t>
            </a:r>
          </a:p>
        </p:txBody>
      </p:sp>
      <p:sp>
        <p:nvSpPr>
          <p:cNvPr id="12" name="Text">
            <a:extLst>
              <a:ext uri="{FF2B5EF4-FFF2-40B4-BE49-F238E27FC236}">
                <a16:creationId xmlns:a16="http://schemas.microsoft.com/office/drawing/2014/main" id="{F3F2E5F3-5F64-4076-9A01-12A1DA5E6EE6}"/>
              </a:ext>
            </a:extLst>
          </p:cNvPr>
          <p:cNvSpPr>
            <a:spLocks noGrp="1"/>
          </p:cNvSpPr>
          <p:nvPr/>
        </p:nvSpPr>
        <p:spPr>
          <a:xfrm>
            <a:off x="8286750" y="2762250"/>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22</a:t>
            </a:r>
          </a:p>
        </p:txBody>
      </p:sp>
      <p:sp>
        <p:nvSpPr>
          <p:cNvPr id="13" name="Text">
            <a:extLst>
              <a:ext uri="{FF2B5EF4-FFF2-40B4-BE49-F238E27FC236}">
                <a16:creationId xmlns:a16="http://schemas.microsoft.com/office/drawing/2014/main" id="{EF57DC68-4D0F-4C4F-9C5A-388EAA530952}"/>
              </a:ext>
            </a:extLst>
          </p:cNvPr>
          <p:cNvSpPr>
            <a:spLocks noGrp="1"/>
          </p:cNvSpPr>
          <p:nvPr/>
        </p:nvSpPr>
        <p:spPr>
          <a:xfrm>
            <a:off x="9382125" y="2762250"/>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30</a:t>
            </a:r>
          </a:p>
        </p:txBody>
      </p:sp>
      <p:sp>
        <p:nvSpPr>
          <p:cNvPr id="14" name="Text">
            <a:extLst>
              <a:ext uri="{FF2B5EF4-FFF2-40B4-BE49-F238E27FC236}">
                <a16:creationId xmlns:a16="http://schemas.microsoft.com/office/drawing/2014/main" id="{3F5305B7-CDDF-4260-86EE-104F919B31A2}"/>
              </a:ext>
            </a:extLst>
          </p:cNvPr>
          <p:cNvSpPr>
            <a:spLocks noGrp="1"/>
          </p:cNvSpPr>
          <p:nvPr/>
        </p:nvSpPr>
        <p:spPr>
          <a:xfrm>
            <a:off x="10477500" y="2762250"/>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27</a:t>
            </a:r>
          </a:p>
        </p:txBody>
      </p:sp>
      <p:sp>
        <p:nvSpPr>
          <p:cNvPr id="15" name="Text">
            <a:extLst>
              <a:ext uri="{FF2B5EF4-FFF2-40B4-BE49-F238E27FC236}">
                <a16:creationId xmlns:a16="http://schemas.microsoft.com/office/drawing/2014/main" id="{115F355B-7C87-487B-93DF-840C366D5A55}"/>
              </a:ext>
            </a:extLst>
          </p:cNvPr>
          <p:cNvSpPr>
            <a:spLocks noGrp="1"/>
          </p:cNvSpPr>
          <p:nvPr/>
        </p:nvSpPr>
        <p:spPr>
          <a:xfrm>
            <a:off x="619125" y="3190875"/>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15</a:t>
            </a:r>
          </a:p>
        </p:txBody>
      </p:sp>
      <p:sp>
        <p:nvSpPr>
          <p:cNvPr id="16" name="Text">
            <a:extLst>
              <a:ext uri="{FF2B5EF4-FFF2-40B4-BE49-F238E27FC236}">
                <a16:creationId xmlns:a16="http://schemas.microsoft.com/office/drawing/2014/main" id="{D2690BCD-F484-457F-8354-77C032D8D361}"/>
              </a:ext>
            </a:extLst>
          </p:cNvPr>
          <p:cNvSpPr>
            <a:spLocks noGrp="1"/>
          </p:cNvSpPr>
          <p:nvPr/>
        </p:nvSpPr>
        <p:spPr>
          <a:xfrm>
            <a:off x="1714500" y="3190875"/>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39</a:t>
            </a:r>
          </a:p>
        </p:txBody>
      </p:sp>
      <p:sp>
        <p:nvSpPr>
          <p:cNvPr id="17" name="Text">
            <a:extLst>
              <a:ext uri="{FF2B5EF4-FFF2-40B4-BE49-F238E27FC236}">
                <a16:creationId xmlns:a16="http://schemas.microsoft.com/office/drawing/2014/main" id="{B4C72E43-BDB1-494E-AE1C-C7744F881A9D}"/>
              </a:ext>
            </a:extLst>
          </p:cNvPr>
          <p:cNvSpPr>
            <a:spLocks noGrp="1"/>
          </p:cNvSpPr>
          <p:nvPr/>
        </p:nvSpPr>
        <p:spPr>
          <a:xfrm>
            <a:off x="2809875" y="3190875"/>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24</a:t>
            </a:r>
          </a:p>
        </p:txBody>
      </p:sp>
      <p:sp>
        <p:nvSpPr>
          <p:cNvPr id="18" name="Text">
            <a:extLst>
              <a:ext uri="{FF2B5EF4-FFF2-40B4-BE49-F238E27FC236}">
                <a16:creationId xmlns:a16="http://schemas.microsoft.com/office/drawing/2014/main" id="{34CA30CF-44FD-4E5F-BCEC-8E382B2E268A}"/>
              </a:ext>
            </a:extLst>
          </p:cNvPr>
          <p:cNvSpPr>
            <a:spLocks noGrp="1"/>
          </p:cNvSpPr>
          <p:nvPr/>
        </p:nvSpPr>
        <p:spPr>
          <a:xfrm>
            <a:off x="3905250" y="3190875"/>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44</a:t>
            </a:r>
          </a:p>
        </p:txBody>
      </p:sp>
      <p:sp>
        <p:nvSpPr>
          <p:cNvPr id="19" name="Text">
            <a:extLst>
              <a:ext uri="{FF2B5EF4-FFF2-40B4-BE49-F238E27FC236}">
                <a16:creationId xmlns:a16="http://schemas.microsoft.com/office/drawing/2014/main" id="{C39F4535-20CE-49CE-AC3D-68716B29FF93}"/>
              </a:ext>
            </a:extLst>
          </p:cNvPr>
          <p:cNvSpPr>
            <a:spLocks noGrp="1"/>
          </p:cNvSpPr>
          <p:nvPr/>
        </p:nvSpPr>
        <p:spPr>
          <a:xfrm>
            <a:off x="5000625" y="3190875"/>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21</a:t>
            </a:r>
          </a:p>
        </p:txBody>
      </p:sp>
      <p:sp>
        <p:nvSpPr>
          <p:cNvPr id="20" name="Text">
            <a:extLst>
              <a:ext uri="{FF2B5EF4-FFF2-40B4-BE49-F238E27FC236}">
                <a16:creationId xmlns:a16="http://schemas.microsoft.com/office/drawing/2014/main" id="{E58D9706-D694-401D-9C5D-E906C75F6F22}"/>
              </a:ext>
            </a:extLst>
          </p:cNvPr>
          <p:cNvSpPr>
            <a:spLocks noGrp="1"/>
          </p:cNvSpPr>
          <p:nvPr/>
        </p:nvSpPr>
        <p:spPr>
          <a:xfrm>
            <a:off x="6096000" y="3190875"/>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35</a:t>
            </a:r>
          </a:p>
        </p:txBody>
      </p:sp>
      <p:sp>
        <p:nvSpPr>
          <p:cNvPr id="21" name="Text">
            <a:extLst>
              <a:ext uri="{FF2B5EF4-FFF2-40B4-BE49-F238E27FC236}">
                <a16:creationId xmlns:a16="http://schemas.microsoft.com/office/drawing/2014/main" id="{7D5F80BF-AD8B-4973-845A-6835E49ADF66}"/>
              </a:ext>
            </a:extLst>
          </p:cNvPr>
          <p:cNvSpPr>
            <a:spLocks noGrp="1"/>
          </p:cNvSpPr>
          <p:nvPr/>
        </p:nvSpPr>
        <p:spPr>
          <a:xfrm>
            <a:off x="7191375" y="3190875"/>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19</a:t>
            </a:r>
          </a:p>
        </p:txBody>
      </p:sp>
      <p:sp>
        <p:nvSpPr>
          <p:cNvPr id="22" name="Text">
            <a:extLst>
              <a:ext uri="{FF2B5EF4-FFF2-40B4-BE49-F238E27FC236}">
                <a16:creationId xmlns:a16="http://schemas.microsoft.com/office/drawing/2014/main" id="{66DD3D19-887A-4227-AC49-7F893CF12F5E}"/>
              </a:ext>
            </a:extLst>
          </p:cNvPr>
          <p:cNvSpPr>
            <a:spLocks noGrp="1"/>
          </p:cNvSpPr>
          <p:nvPr/>
        </p:nvSpPr>
        <p:spPr>
          <a:xfrm>
            <a:off x="8286750" y="3190875"/>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28</a:t>
            </a:r>
          </a:p>
        </p:txBody>
      </p:sp>
      <p:sp>
        <p:nvSpPr>
          <p:cNvPr id="23" name="Text">
            <a:extLst>
              <a:ext uri="{FF2B5EF4-FFF2-40B4-BE49-F238E27FC236}">
                <a16:creationId xmlns:a16="http://schemas.microsoft.com/office/drawing/2014/main" id="{8BA95F07-D2FE-44AE-8933-43D2D10DC312}"/>
              </a:ext>
            </a:extLst>
          </p:cNvPr>
          <p:cNvSpPr>
            <a:spLocks noGrp="1"/>
          </p:cNvSpPr>
          <p:nvPr/>
        </p:nvSpPr>
        <p:spPr>
          <a:xfrm>
            <a:off x="9382125" y="3190875"/>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31</a:t>
            </a:r>
          </a:p>
        </p:txBody>
      </p:sp>
      <p:sp>
        <p:nvSpPr>
          <p:cNvPr id="24" name="Text">
            <a:extLst>
              <a:ext uri="{FF2B5EF4-FFF2-40B4-BE49-F238E27FC236}">
                <a16:creationId xmlns:a16="http://schemas.microsoft.com/office/drawing/2014/main" id="{03CF5A7F-38AE-4093-89CC-42181F26392D}"/>
              </a:ext>
            </a:extLst>
          </p:cNvPr>
          <p:cNvSpPr>
            <a:spLocks noGrp="1"/>
          </p:cNvSpPr>
          <p:nvPr/>
        </p:nvSpPr>
        <p:spPr>
          <a:xfrm>
            <a:off x="10477500" y="3190875"/>
            <a:ext cx="1028700" cy="38100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26</a:t>
            </a:r>
          </a:p>
        </p:txBody>
      </p:sp>
      <p:graphicFrame>
        <p:nvGraphicFramePr>
          <p:cNvPr id="53" name="Table 52"/>
          <p:cNvGraphicFramePr/>
          <p:nvPr/>
        </p:nvGraphicFramePr>
        <p:xfrm>
          <a:off x="619125" y="3724275"/>
          <a:ext cx="6334125" cy="1838325"/>
        </p:xfrm>
        <a:graphic>
          <a:graphicData uri="http://schemas.openxmlformats.org/drawingml/2006/table">
            <a:tbl>
              <a:tblPr/>
              <a:tblGrid>
                <a:gridCol w="3095625">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1619250">
                  <a:extLst>
                    <a:ext uri="{9D8B030D-6E8A-4147-A177-3AD203B41FA5}">
                      <a16:colId xmlns:a16="http://schemas.microsoft.com/office/drawing/2014/main" val="20002"/>
                    </a:ext>
                  </a:extLst>
                </a:gridCol>
              </a:tblGrid>
              <a:tr h="393192">
                <a:tc>
                  <a:txBody>
                    <a:bodyPr/>
                    <a:lstStyle/>
                    <a:p>
                      <a:pPr algn="l">
                        <a:buNone/>
                      </a:pPr>
                      <a:r>
                        <a:rPr sz="1800" b="1">
                          <a:solidFill>
                            <a:srgbClr val="FFFFFF"/>
                          </a:solidFill>
                          <a:latin typeface="Aptos"/>
                          <a:ea typeface="Aptos"/>
                          <a:cs typeface="Aptos"/>
                        </a:rPr>
                        <a:t>Sign-ups per session</a:t>
                      </a:r>
                    </a:p>
                  </a:txBody>
                  <a:tcPr anchor="ctr">
                    <a:solidFill>
                      <a:srgbClr val="D6171D"/>
                    </a:solidFill>
                  </a:tcPr>
                </a:tc>
                <a:tc>
                  <a:txBody>
                    <a:bodyPr/>
                    <a:lstStyle/>
                    <a:p>
                      <a:pPr algn="ctr">
                        <a:buNone/>
                      </a:pPr>
                      <a:r>
                        <a:rPr sz="1800" b="1">
                          <a:solidFill>
                            <a:srgbClr val="FFFFFF"/>
                          </a:solidFill>
                          <a:latin typeface="Aptos"/>
                          <a:ea typeface="Aptos"/>
                          <a:cs typeface="Aptos"/>
                        </a:rPr>
                        <a:t>Tally</a:t>
                      </a:r>
                    </a:p>
                  </a:txBody>
                  <a:tcPr anchor="ctr">
                    <a:solidFill>
                      <a:srgbClr val="D6171D"/>
                    </a:solidFill>
                  </a:tcPr>
                </a:tc>
                <a:tc>
                  <a:txBody>
                    <a:bodyPr/>
                    <a:lstStyle/>
                    <a:p>
                      <a:pPr algn="ctr">
                        <a:buNone/>
                      </a:pPr>
                      <a:r>
                        <a:rPr sz="1800" b="1">
                          <a:solidFill>
                            <a:srgbClr val="FFFFFF"/>
                          </a:solidFill>
                          <a:latin typeface="Aptos"/>
                          <a:ea typeface="Aptos"/>
                          <a:cs typeface="Aptos"/>
                        </a:rPr>
                        <a:t>Frequency</a:t>
                      </a:r>
                    </a:p>
                  </a:txBody>
                  <a:tcPr anchor="ctr">
                    <a:solidFill>
                      <a:srgbClr val="D6171D"/>
                    </a:solidFill>
                  </a:tcPr>
                </a:tc>
                <a:extLst>
                  <a:ext uri="{0D108BD9-81ED-4DB2-BD59-A6C34878D82A}">
                    <a16:rowId xmlns:a16="http://schemas.microsoft.com/office/drawing/2014/main" val="10000"/>
                  </a:ext>
                </a:extLst>
              </a:tr>
              <a:tr h="361283">
                <a:tc>
                  <a:txBody>
                    <a:bodyPr/>
                    <a:lstStyle/>
                    <a:p>
                      <a:endParaRP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1"/>
                  </a:ext>
                </a:extLst>
              </a:tr>
              <a:tr h="361283">
                <a:tc>
                  <a:txBody>
                    <a:bodyPr/>
                    <a:lstStyle/>
                    <a:p>
                      <a:endParaRPr/>
                    </a:p>
                  </a:txBody>
                  <a:tcPr anchor="ctr">
                    <a:solidFill>
                      <a:srgbClr val="EEF8FE"/>
                    </a:solidFill>
                  </a:tcPr>
                </a:tc>
                <a:tc>
                  <a:txBody>
                    <a:bodyPr/>
                    <a:lstStyle/>
                    <a:p>
                      <a:endParaRPr/>
                    </a:p>
                  </a:txBody>
                  <a:tcPr anchor="ctr">
                    <a:solidFill>
                      <a:srgbClr val="EEF8FE"/>
                    </a:solidFill>
                  </a:tcPr>
                </a:tc>
                <a:tc>
                  <a:txBody>
                    <a:bodyPr/>
                    <a:lstStyle/>
                    <a:p>
                      <a:endParaRPr/>
                    </a:p>
                  </a:txBody>
                  <a:tcPr anchor="ctr">
                    <a:solidFill>
                      <a:srgbClr val="EEF8FE"/>
                    </a:solidFill>
                  </a:tcPr>
                </a:tc>
                <a:extLst>
                  <a:ext uri="{0D108BD9-81ED-4DB2-BD59-A6C34878D82A}">
                    <a16:rowId xmlns:a16="http://schemas.microsoft.com/office/drawing/2014/main" val="10002"/>
                  </a:ext>
                </a:extLst>
              </a:tr>
              <a:tr h="361283">
                <a:tc>
                  <a:txBody>
                    <a:bodyPr/>
                    <a:lstStyle/>
                    <a:p>
                      <a:endParaRP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3"/>
                  </a:ext>
                </a:extLst>
              </a:tr>
              <a:tr h="361283">
                <a:tc>
                  <a:txBody>
                    <a:bodyPr/>
                    <a:lstStyle/>
                    <a:p>
                      <a:endParaRPr/>
                    </a:p>
                  </a:txBody>
                  <a:tcPr anchor="ctr">
                    <a:solidFill>
                      <a:srgbClr val="EEF8FE"/>
                    </a:solidFill>
                  </a:tcPr>
                </a:tc>
                <a:tc>
                  <a:txBody>
                    <a:bodyPr/>
                    <a:lstStyle/>
                    <a:p>
                      <a:endParaRPr/>
                    </a:p>
                  </a:txBody>
                  <a:tcPr anchor="ctr">
                    <a:solidFill>
                      <a:srgbClr val="EEF8FE"/>
                    </a:solidFill>
                  </a:tcPr>
                </a:tc>
                <a:tc>
                  <a:txBody>
                    <a:bodyPr/>
                    <a:lstStyle/>
                    <a:p>
                      <a:endParaRPr/>
                    </a:p>
                  </a:txBody>
                  <a:tcPr anchor="ctr">
                    <a:solidFill>
                      <a:srgbClr val="EEF8FE"/>
                    </a:solidFill>
                  </a:tcPr>
                </a:tc>
                <a:extLst>
                  <a:ext uri="{0D108BD9-81ED-4DB2-BD59-A6C34878D82A}">
                    <a16:rowId xmlns:a16="http://schemas.microsoft.com/office/drawing/2014/main" val="10004"/>
                  </a:ext>
                </a:extLst>
              </a:tr>
            </a:tbl>
          </a:graphicData>
        </a:graphic>
      </p:graphicFrame>
      <p:sp>
        <p:nvSpPr>
          <p:cNvPr id="26" name="Text">
            <a:extLst>
              <a:ext uri="{FF2B5EF4-FFF2-40B4-BE49-F238E27FC236}">
                <a16:creationId xmlns:a16="http://schemas.microsoft.com/office/drawing/2014/main" id="{46BD5F7B-08A7-4E7A-A665-98913CF732C0}"/>
              </a:ext>
            </a:extLst>
          </p:cNvPr>
          <p:cNvSpPr>
            <a:spLocks noGrp="1"/>
          </p:cNvSpPr>
          <p:nvPr/>
        </p:nvSpPr>
        <p:spPr>
          <a:xfrm>
            <a:off x="7524750" y="3962400"/>
            <a:ext cx="4000500" cy="1762125"/>
          </a:xfrm>
          <a:prstGeom prst="rect">
            <a:avLst/>
          </a:prstGeom>
          <a:noFill/>
          <a:ln w="0">
            <a:noFill/>
          </a:ln>
        </p:spPr>
        <p:txBody>
          <a:bodyPr wrap="square" lIns="0" tIns="0" rIns="0" bIns="0" anchor="t">
            <a:noAutofit/>
          </a:bodyPr>
          <a:lstStyle/>
          <a:p>
            <a:pPr algn="l">
              <a:buNone/>
              <a:defRPr sz="2175" b="0">
                <a:solidFill>
                  <a:srgbClr val="111111"/>
                </a:solidFill>
                <a:latin typeface="Aptos"/>
                <a:ea typeface="Aptos"/>
                <a:cs typeface="Aptos"/>
              </a:defRPr>
            </a:pPr>
            <a:r>
              <a:rPr sz="2175" b="0">
                <a:solidFill>
                  <a:srgbClr val="111111"/>
                </a:solidFill>
                <a:latin typeface="Aptos"/>
                <a:ea typeface="Aptos"/>
                <a:cs typeface="Aptos"/>
              </a:rPr>
              <a:t>1. Work out the intervals.</a:t>
            </a:r>
          </a:p>
          <a:p>
            <a:pPr algn="l">
              <a:buNone/>
              <a:defRPr sz="2175" b="0">
                <a:solidFill>
                  <a:srgbClr val="111111"/>
                </a:solidFill>
                <a:latin typeface="Aptos"/>
                <a:ea typeface="Aptos"/>
                <a:cs typeface="Aptos"/>
              </a:defRPr>
            </a:pPr>
            <a:r>
              <a:rPr sz="2175" b="0">
                <a:solidFill>
                  <a:srgbClr val="111111"/>
                </a:solidFill>
                <a:latin typeface="Aptos"/>
                <a:ea typeface="Aptos"/>
                <a:cs typeface="Aptos"/>
              </a:rPr>
              <a:t>2. Tally every result.</a:t>
            </a:r>
          </a:p>
          <a:p>
            <a:pPr algn="l">
              <a:buNone/>
              <a:defRPr sz="2175" b="0">
                <a:solidFill>
                  <a:srgbClr val="111111"/>
                </a:solidFill>
                <a:latin typeface="Aptos"/>
                <a:ea typeface="Aptos"/>
                <a:cs typeface="Aptos"/>
              </a:defRPr>
            </a:pPr>
            <a:r>
              <a:rPr sz="2175" b="0">
                <a:solidFill>
                  <a:srgbClr val="111111"/>
                </a:solidFill>
                <a:latin typeface="Aptos"/>
                <a:ea typeface="Aptos"/>
                <a:cs typeface="Aptos"/>
              </a:rPr>
              <a:t>3. Count each tally.</a:t>
            </a:r>
          </a:p>
          <a:p>
            <a:pPr algn="l">
              <a:buNone/>
              <a:defRPr sz="2175" b="0">
                <a:solidFill>
                  <a:srgbClr val="111111"/>
                </a:solidFill>
                <a:latin typeface="Aptos"/>
                <a:ea typeface="Aptos"/>
                <a:cs typeface="Aptos"/>
              </a:defRPr>
            </a:pPr>
            <a:r>
              <a:rPr sz="2175" b="0">
                <a:solidFill>
                  <a:srgbClr val="111111"/>
                </a:solidFill>
                <a:latin typeface="Aptos"/>
                <a:ea typeface="Aptos"/>
                <a:cs typeface="Aptos"/>
              </a:rPr>
              <a:t>4. Check the total is 20.</a:t>
            </a:r>
          </a:p>
        </p:txBody>
      </p:sp>
    </p:spTree>
    <p:extLst>
      <p:ext uri="{BB962C8B-B14F-4D97-AF65-F5344CB8AC3E}">
        <p14:creationId xmlns:p14="http://schemas.microsoft.com/office/powerpoint/2010/main" val="491217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8BEFF359-DEA6-43B8-8001-755604D55243}"/>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Check your frequencies, then draw</a:t>
            </a:r>
          </a:p>
        </p:txBody>
      </p:sp>
      <p:sp>
        <p:nvSpPr>
          <p:cNvPr id="2" name="Lead">
            <a:extLst>
              <a:ext uri="{FF2B5EF4-FFF2-40B4-BE49-F238E27FC236}">
                <a16:creationId xmlns:a16="http://schemas.microsoft.com/office/drawing/2014/main" id="{29CBD64C-14F2-4648-866D-9078BC0D4719}"/>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Use your frequency table to build a histogram from scratch.</a:t>
            </a:r>
          </a:p>
        </p:txBody>
      </p:sp>
      <p:sp>
        <p:nvSpPr>
          <p:cNvPr id="3" name="Text">
            <a:extLst>
              <a:ext uri="{FF2B5EF4-FFF2-40B4-BE49-F238E27FC236}">
                <a16:creationId xmlns:a16="http://schemas.microsoft.com/office/drawing/2014/main" id="{50F633D5-7354-4EF1-B59B-E85118DE557D}"/>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B1</a:t>
            </a:r>
          </a:p>
        </p:txBody>
      </p:sp>
      <p:sp>
        <p:nvSpPr>
          <p:cNvPr id="4" name="Footer">
            <a:extLst>
              <a:ext uri="{FF2B5EF4-FFF2-40B4-BE49-F238E27FC236}">
                <a16:creationId xmlns:a16="http://schemas.microsoft.com/office/drawing/2014/main" id="{E0B17846-5210-49A8-9592-7BFF1C1503D6}"/>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X: sign-ups per session. Y: number of sessions in each interval.</a:t>
            </a:r>
          </a:p>
        </p:txBody>
      </p:sp>
      <p:graphicFrame>
        <p:nvGraphicFramePr>
          <p:cNvPr id="13" name="Table 12"/>
          <p:cNvGraphicFramePr/>
          <p:nvPr/>
        </p:nvGraphicFramePr>
        <p:xfrm>
          <a:off x="619125" y="2895600"/>
          <a:ext cx="10953750" cy="2352675"/>
        </p:xfrm>
        <a:graphic>
          <a:graphicData uri="http://schemas.openxmlformats.org/drawingml/2006/table">
            <a:tbl>
              <a:tblPr/>
              <a:tblGrid>
                <a:gridCol w="2524125">
                  <a:extLst>
                    <a:ext uri="{9D8B030D-6E8A-4147-A177-3AD203B41FA5}">
                      <a16:colId xmlns:a16="http://schemas.microsoft.com/office/drawing/2014/main" val="20000"/>
                    </a:ext>
                  </a:extLst>
                </a:gridCol>
                <a:gridCol w="5667375">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428054">
                <a:tc>
                  <a:txBody>
                    <a:bodyPr/>
                    <a:lstStyle/>
                    <a:p>
                      <a:pPr algn="l">
                        <a:buNone/>
                      </a:pPr>
                      <a:r>
                        <a:rPr sz="2025" b="1">
                          <a:solidFill>
                            <a:srgbClr val="FFFFFF"/>
                          </a:solidFill>
                          <a:latin typeface="Aptos"/>
                          <a:ea typeface="Aptos"/>
                          <a:cs typeface="Aptos"/>
                        </a:rPr>
                        <a:t>Interval (X)</a:t>
                      </a:r>
                    </a:p>
                  </a:txBody>
                  <a:tcPr anchor="ctr">
                    <a:solidFill>
                      <a:srgbClr val="D6171D"/>
                    </a:solidFill>
                  </a:tcPr>
                </a:tc>
                <a:tc>
                  <a:txBody>
                    <a:bodyPr/>
                    <a:lstStyle/>
                    <a:p>
                      <a:pPr algn="ctr">
                        <a:buNone/>
                      </a:pPr>
                      <a:r>
                        <a:rPr sz="2025" b="1">
                          <a:solidFill>
                            <a:srgbClr val="FFFFFF"/>
                          </a:solidFill>
                          <a:latin typeface="Aptos"/>
                          <a:ea typeface="Aptos"/>
                          <a:cs typeface="Aptos"/>
                        </a:rPr>
                        <a:t>Records in this interval</a:t>
                      </a:r>
                    </a:p>
                  </a:txBody>
                  <a:tcPr anchor="ctr">
                    <a:solidFill>
                      <a:srgbClr val="D6171D"/>
                    </a:solidFill>
                  </a:tcPr>
                </a:tc>
                <a:tc>
                  <a:txBody>
                    <a:bodyPr/>
                    <a:lstStyle/>
                    <a:p>
                      <a:pPr algn="ctr">
                        <a:buNone/>
                      </a:pPr>
                      <a:r>
                        <a:rPr sz="2025" b="1">
                          <a:solidFill>
                            <a:srgbClr val="FFFFFF"/>
                          </a:solidFill>
                          <a:latin typeface="Aptos"/>
                          <a:ea typeface="Aptos"/>
                          <a:cs typeface="Aptos"/>
                        </a:rPr>
                        <a:t>Frequency (Y)</a:t>
                      </a:r>
                    </a:p>
                  </a:txBody>
                  <a:tcPr anchor="ctr">
                    <a:solidFill>
                      <a:srgbClr val="D6171D"/>
                    </a:solidFill>
                  </a:tcPr>
                </a:tc>
                <a:extLst>
                  <a:ext uri="{0D108BD9-81ED-4DB2-BD59-A6C34878D82A}">
                    <a16:rowId xmlns:a16="http://schemas.microsoft.com/office/drawing/2014/main" val="10000"/>
                  </a:ext>
                </a:extLst>
              </a:tr>
              <a:tr h="481155">
                <a:tc>
                  <a:txBody>
                    <a:bodyPr/>
                    <a:lstStyle/>
                    <a:p>
                      <a:pPr algn="l">
                        <a:buNone/>
                      </a:pPr>
                      <a:r>
                        <a:rPr sz="2025" b="0">
                          <a:solidFill>
                            <a:srgbClr val="111111"/>
                          </a:solidFill>
                          <a:latin typeface="Aptos"/>
                          <a:ea typeface="Aptos"/>
                          <a:cs typeface="Aptos"/>
                        </a:rPr>
                        <a:t>10 ≤ x &lt; 20</a:t>
                      </a:r>
                    </a:p>
                  </a:txBody>
                  <a:tcPr anchor="ctr">
                    <a:solidFill>
                      <a:srgbClr val="FFFFFF"/>
                    </a:solidFill>
                  </a:tcPr>
                </a:tc>
                <a:tc>
                  <a:txBody>
                    <a:bodyPr/>
                    <a:lstStyle/>
                    <a:p>
                      <a:pPr algn="ctr">
                        <a:buNone/>
                      </a:pPr>
                      <a:r>
                        <a:rPr sz="2025" b="0">
                          <a:solidFill>
                            <a:srgbClr val="111111"/>
                          </a:solidFill>
                          <a:latin typeface="Aptos"/>
                          <a:ea typeface="Aptos"/>
                          <a:cs typeface="Aptos"/>
                        </a:rPr>
                        <a:t>12, 15, 18, 19</a:t>
                      </a:r>
                    </a:p>
                  </a:txBody>
                  <a:tcPr anchor="ctr">
                    <a:solidFill>
                      <a:srgbClr val="FFFFFF"/>
                    </a:solidFill>
                  </a:tcPr>
                </a:tc>
                <a:tc>
                  <a:txBody>
                    <a:bodyPr/>
                    <a:lstStyle/>
                    <a:p>
                      <a:pPr algn="ctr">
                        <a:buNone/>
                      </a:pPr>
                      <a:r>
                        <a:rPr sz="2025" b="0">
                          <a:solidFill>
                            <a:srgbClr val="111111"/>
                          </a:solidFill>
                          <a:latin typeface="Aptos"/>
                          <a:ea typeface="Aptos"/>
                          <a:cs typeface="Aptos"/>
                        </a:rPr>
                        <a:t>4</a:t>
                      </a:r>
                    </a:p>
                  </a:txBody>
                  <a:tcPr anchor="ctr">
                    <a:solidFill>
                      <a:srgbClr val="FFFFFF"/>
                    </a:solidFill>
                  </a:tcPr>
                </a:tc>
                <a:extLst>
                  <a:ext uri="{0D108BD9-81ED-4DB2-BD59-A6C34878D82A}">
                    <a16:rowId xmlns:a16="http://schemas.microsoft.com/office/drawing/2014/main" val="10001"/>
                  </a:ext>
                </a:extLst>
              </a:tr>
              <a:tr h="481155">
                <a:tc>
                  <a:txBody>
                    <a:bodyPr/>
                    <a:lstStyle/>
                    <a:p>
                      <a:pPr algn="l">
                        <a:buNone/>
                      </a:pPr>
                      <a:r>
                        <a:rPr sz="2025" b="0">
                          <a:solidFill>
                            <a:srgbClr val="111111"/>
                          </a:solidFill>
                          <a:latin typeface="Aptos"/>
                          <a:ea typeface="Aptos"/>
                          <a:cs typeface="Aptos"/>
                        </a:rPr>
                        <a:t>20 ≤ x &lt; 30</a:t>
                      </a:r>
                    </a:p>
                  </a:txBody>
                  <a:tcPr anchor="ctr">
                    <a:solidFill>
                      <a:srgbClr val="EEF8FE"/>
                    </a:solidFill>
                  </a:tcPr>
                </a:tc>
                <a:tc>
                  <a:txBody>
                    <a:bodyPr/>
                    <a:lstStyle/>
                    <a:p>
                      <a:pPr algn="ctr">
                        <a:buNone/>
                      </a:pPr>
                      <a:r>
                        <a:rPr sz="2025" b="0">
                          <a:solidFill>
                            <a:srgbClr val="111111"/>
                          </a:solidFill>
                          <a:latin typeface="Aptos"/>
                          <a:ea typeface="Aptos"/>
                          <a:cs typeface="Aptos"/>
                        </a:rPr>
                        <a:t>21, 22, 24, 25, 26, 27, 28, 29</a:t>
                      </a:r>
                    </a:p>
                  </a:txBody>
                  <a:tcPr anchor="ctr">
                    <a:solidFill>
                      <a:srgbClr val="EEF8FE"/>
                    </a:solidFill>
                  </a:tcPr>
                </a:tc>
                <a:tc>
                  <a:txBody>
                    <a:bodyPr/>
                    <a:lstStyle/>
                    <a:p>
                      <a:pPr algn="ctr">
                        <a:buNone/>
                      </a:pPr>
                      <a:r>
                        <a:rPr sz="2025" b="0">
                          <a:solidFill>
                            <a:srgbClr val="111111"/>
                          </a:solidFill>
                          <a:latin typeface="Aptos"/>
                          <a:ea typeface="Aptos"/>
                          <a:cs typeface="Aptos"/>
                        </a:rPr>
                        <a:t>8</a:t>
                      </a:r>
                    </a:p>
                  </a:txBody>
                  <a:tcPr anchor="ctr">
                    <a:solidFill>
                      <a:srgbClr val="EEF8FE"/>
                    </a:solidFill>
                  </a:tcPr>
                </a:tc>
                <a:extLst>
                  <a:ext uri="{0D108BD9-81ED-4DB2-BD59-A6C34878D82A}">
                    <a16:rowId xmlns:a16="http://schemas.microsoft.com/office/drawing/2014/main" val="10002"/>
                  </a:ext>
                </a:extLst>
              </a:tr>
              <a:tr h="481155">
                <a:tc>
                  <a:txBody>
                    <a:bodyPr/>
                    <a:lstStyle/>
                    <a:p>
                      <a:pPr algn="l">
                        <a:buNone/>
                      </a:pPr>
                      <a:r>
                        <a:rPr sz="2025" b="0">
                          <a:solidFill>
                            <a:srgbClr val="111111"/>
                          </a:solidFill>
                          <a:latin typeface="Aptos"/>
                          <a:ea typeface="Aptos"/>
                          <a:cs typeface="Aptos"/>
                        </a:rPr>
                        <a:t>30 ≤ x &lt; 40</a:t>
                      </a:r>
                    </a:p>
                  </a:txBody>
                  <a:tcPr anchor="ctr">
                    <a:solidFill>
                      <a:srgbClr val="FFFFFF"/>
                    </a:solidFill>
                  </a:tcPr>
                </a:tc>
                <a:tc>
                  <a:txBody>
                    <a:bodyPr/>
                    <a:lstStyle/>
                    <a:p>
                      <a:pPr algn="ctr">
                        <a:buNone/>
                      </a:pPr>
                      <a:r>
                        <a:rPr sz="2025" b="0">
                          <a:solidFill>
                            <a:srgbClr val="111111"/>
                          </a:solidFill>
                          <a:latin typeface="Aptos"/>
                          <a:ea typeface="Aptos"/>
                          <a:cs typeface="Aptos"/>
                        </a:rPr>
                        <a:t>30, 31, 32, 35, 36, 39</a:t>
                      </a:r>
                    </a:p>
                  </a:txBody>
                  <a:tcPr anchor="ctr">
                    <a:solidFill>
                      <a:srgbClr val="FFFFFF"/>
                    </a:solidFill>
                  </a:tcPr>
                </a:tc>
                <a:tc>
                  <a:txBody>
                    <a:bodyPr/>
                    <a:lstStyle/>
                    <a:p>
                      <a:pPr algn="ctr">
                        <a:buNone/>
                      </a:pPr>
                      <a:r>
                        <a:rPr sz="2025" b="0">
                          <a:solidFill>
                            <a:srgbClr val="111111"/>
                          </a:solidFill>
                          <a:latin typeface="Aptos"/>
                          <a:ea typeface="Aptos"/>
                          <a:cs typeface="Aptos"/>
                        </a:rPr>
                        <a:t>6</a:t>
                      </a:r>
                    </a:p>
                  </a:txBody>
                  <a:tcPr anchor="ctr">
                    <a:solidFill>
                      <a:srgbClr val="FFFFFF"/>
                    </a:solidFill>
                  </a:tcPr>
                </a:tc>
                <a:extLst>
                  <a:ext uri="{0D108BD9-81ED-4DB2-BD59-A6C34878D82A}">
                    <a16:rowId xmlns:a16="http://schemas.microsoft.com/office/drawing/2014/main" val="10003"/>
                  </a:ext>
                </a:extLst>
              </a:tr>
              <a:tr h="481155">
                <a:tc>
                  <a:txBody>
                    <a:bodyPr/>
                    <a:lstStyle/>
                    <a:p>
                      <a:pPr algn="l">
                        <a:buNone/>
                      </a:pPr>
                      <a:r>
                        <a:rPr sz="2025" b="0">
                          <a:solidFill>
                            <a:srgbClr val="111111"/>
                          </a:solidFill>
                          <a:latin typeface="Aptos"/>
                          <a:ea typeface="Aptos"/>
                          <a:cs typeface="Aptos"/>
                        </a:rPr>
                        <a:t>40 ≤ x &lt; 50</a:t>
                      </a:r>
                    </a:p>
                  </a:txBody>
                  <a:tcPr anchor="ctr">
                    <a:solidFill>
                      <a:srgbClr val="EEF8FE"/>
                    </a:solidFill>
                  </a:tcPr>
                </a:tc>
                <a:tc>
                  <a:txBody>
                    <a:bodyPr/>
                    <a:lstStyle/>
                    <a:p>
                      <a:pPr algn="ctr">
                        <a:buNone/>
                      </a:pPr>
                      <a:r>
                        <a:rPr sz="2025" b="0">
                          <a:solidFill>
                            <a:srgbClr val="111111"/>
                          </a:solidFill>
                          <a:latin typeface="Aptos"/>
                          <a:ea typeface="Aptos"/>
                          <a:cs typeface="Aptos"/>
                        </a:rPr>
                        <a:t>41, 44</a:t>
                      </a:r>
                    </a:p>
                  </a:txBody>
                  <a:tcPr anchor="ctr">
                    <a:solidFill>
                      <a:srgbClr val="EEF8FE"/>
                    </a:solidFill>
                  </a:tcPr>
                </a:tc>
                <a:tc>
                  <a:txBody>
                    <a:bodyPr/>
                    <a:lstStyle/>
                    <a:p>
                      <a:pPr algn="ctr">
                        <a:buNone/>
                      </a:pPr>
                      <a:r>
                        <a:rPr sz="2025" b="0">
                          <a:solidFill>
                            <a:srgbClr val="111111"/>
                          </a:solidFill>
                          <a:latin typeface="Aptos"/>
                          <a:ea typeface="Aptos"/>
                          <a:cs typeface="Aptos"/>
                        </a:rPr>
                        <a:t>2</a:t>
                      </a:r>
                    </a:p>
                  </a:txBody>
                  <a:tcPr anchor="ctr">
                    <a:solidFill>
                      <a:srgbClr val="EEF8FE"/>
                    </a:solidFill>
                  </a:tcPr>
                </a:tc>
                <a:extLst>
                  <a:ext uri="{0D108BD9-81ED-4DB2-BD59-A6C34878D82A}">
                    <a16:rowId xmlns:a16="http://schemas.microsoft.com/office/drawing/2014/main" val="10004"/>
                  </a:ext>
                </a:extLst>
              </a:tr>
            </a:tbl>
          </a:graphicData>
        </a:graphic>
      </p:graphicFrame>
      <p:sp>
        <p:nvSpPr>
          <p:cNvPr id="6" name="Text">
            <a:extLst>
              <a:ext uri="{FF2B5EF4-FFF2-40B4-BE49-F238E27FC236}">
                <a16:creationId xmlns:a16="http://schemas.microsoft.com/office/drawing/2014/main" id="{A1C83699-A86D-477D-815E-1A5C22FDFF1A}"/>
              </a:ext>
            </a:extLst>
          </p:cNvPr>
          <p:cNvSpPr>
            <a:spLocks noGrp="1"/>
          </p:cNvSpPr>
          <p:nvPr/>
        </p:nvSpPr>
        <p:spPr>
          <a:xfrm>
            <a:off x="619125" y="5381625"/>
            <a:ext cx="10953750" cy="514350"/>
          </a:xfrm>
          <a:prstGeom prst="rect">
            <a:avLst/>
          </a:prstGeom>
          <a:noFill/>
          <a:ln w="0">
            <a:noFill/>
          </a:ln>
        </p:spPr>
        <p:txBody>
          <a:bodyPr wrap="square" lIns="0" tIns="0" rIns="0" bIns="0" anchor="t">
            <a:noAutofit/>
          </a:bodyPr>
          <a:lstStyle/>
          <a:p>
            <a:pPr algn="l">
              <a:buNone/>
              <a:defRPr sz="2175" b="1">
                <a:solidFill>
                  <a:srgbClr val="111111"/>
                </a:solidFill>
                <a:latin typeface="Aptos"/>
                <a:ea typeface="Aptos"/>
                <a:cs typeface="Aptos"/>
              </a:defRPr>
            </a:pPr>
            <a:r>
              <a:rPr sz="2175" b="1">
                <a:solidFill>
                  <a:srgbClr val="111111"/>
                </a:solidFill>
                <a:latin typeface="Aptos"/>
                <a:ea typeface="Aptos"/>
                <a:cs typeface="Aptos"/>
              </a:rPr>
              <a:t>Draw touching bars. How many sessions had at least 30 sign-ups?</a:t>
            </a:r>
          </a:p>
        </p:txBody>
      </p:sp>
    </p:spTree>
    <p:extLst>
      <p:ext uri="{BB962C8B-B14F-4D97-AF65-F5344CB8AC3E}">
        <p14:creationId xmlns:p14="http://schemas.microsoft.com/office/powerpoint/2010/main" val="932900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title">
            <a:extLst>
              <a:ext uri="{FF2B5EF4-FFF2-40B4-BE49-F238E27FC236}">
                <a16:creationId xmlns:a16="http://schemas.microsoft.com/office/drawing/2014/main" id="{61FD13E8-1581-432B-9D73-47C705A4921D}"/>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Smoothie Club: histogram check</a:t>
            </a:r>
          </a:p>
        </p:txBody>
      </p:sp>
      <p:sp>
        <p:nvSpPr>
          <p:cNvPr id="2" name="Text">
            <a:extLst>
              <a:ext uri="{FF2B5EF4-FFF2-40B4-BE49-F238E27FC236}">
                <a16:creationId xmlns:a16="http://schemas.microsoft.com/office/drawing/2014/main" id="{A386C9F0-902A-4F32-A593-111F93BB8FC5}"/>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Check the scale, intervals and bar heights.</a:t>
            </a:r>
          </a:p>
        </p:txBody>
      </p:sp>
      <p:sp>
        <p:nvSpPr>
          <p:cNvPr id="3" name="Rectangle 2">
            <a:extLst>
              <a:ext uri="{FF2B5EF4-FFF2-40B4-BE49-F238E27FC236}">
                <a16:creationId xmlns:a16="http://schemas.microsoft.com/office/drawing/2014/main" id="{5331B9E8-A4D2-4723-94A5-5250E218CF55}"/>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09611C20-74C8-47B6-A2D5-31F5BD4632DB}"/>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B1</a:t>
            </a:r>
          </a:p>
        </p:txBody>
      </p:sp>
      <p:graphicFrame>
        <p:nvGraphicFramePr>
          <p:cNvPr id="16" name="Chart"/>
          <p:cNvGraphicFramePr/>
          <p:nvPr/>
        </p:nvGraphicFramePr>
        <p:xfrm>
          <a:off x="523875" y="2781300"/>
          <a:ext cx="8048625" cy="3048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a:extLst>
              <a:ext uri="{FF2B5EF4-FFF2-40B4-BE49-F238E27FC236}">
                <a16:creationId xmlns:a16="http://schemas.microsoft.com/office/drawing/2014/main" id="{026E9576-CEC7-4B80-B7E0-C176787DF3BA}"/>
              </a:ext>
            </a:extLst>
          </p:cNvPr>
          <p:cNvSpPr>
            <a:spLocks noGrp="1"/>
          </p:cNvSpPr>
          <p:nvPr/>
        </p:nvSpPr>
        <p:spPr>
          <a:xfrm>
            <a:off x="8886825" y="2952750"/>
            <a:ext cx="2686050" cy="80010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At least 30 sign-ups:</a:t>
            </a:r>
          </a:p>
        </p:txBody>
      </p:sp>
      <p:sp>
        <p:nvSpPr>
          <p:cNvPr id="7" name="Text">
            <a:extLst>
              <a:ext uri="{FF2B5EF4-FFF2-40B4-BE49-F238E27FC236}">
                <a16:creationId xmlns:a16="http://schemas.microsoft.com/office/drawing/2014/main" id="{DBC29193-9DF8-4D11-AA97-778FCC1A6C93}"/>
              </a:ext>
            </a:extLst>
          </p:cNvPr>
          <p:cNvSpPr>
            <a:spLocks noGrp="1"/>
          </p:cNvSpPr>
          <p:nvPr/>
        </p:nvSpPr>
        <p:spPr>
          <a:xfrm>
            <a:off x="8886825" y="3943350"/>
            <a:ext cx="2686050" cy="857250"/>
          </a:xfrm>
          <a:prstGeom prst="rect">
            <a:avLst/>
          </a:prstGeom>
          <a:noFill/>
          <a:ln w="0">
            <a:noFill/>
          </a:ln>
        </p:spPr>
        <p:txBody>
          <a:bodyPr wrap="square" lIns="0" tIns="0" rIns="0" bIns="0" anchor="t">
            <a:noAutofit/>
          </a:bodyPr>
          <a:lstStyle/>
          <a:p>
            <a:pPr algn="l">
              <a:buNone/>
              <a:defRPr sz="2400" b="1">
                <a:solidFill>
                  <a:srgbClr val="D6171D"/>
                </a:solidFill>
                <a:latin typeface="Aptos"/>
                <a:ea typeface="Aptos"/>
                <a:cs typeface="Aptos"/>
              </a:defRPr>
            </a:pPr>
            <a:r>
              <a:rPr sz="2400" b="1">
                <a:solidFill>
                  <a:srgbClr val="D6171D"/>
                </a:solidFill>
                <a:latin typeface="Aptos"/>
                <a:ea typeface="Aptos"/>
                <a:cs typeface="Aptos"/>
              </a:rPr>
              <a:t>6 + 2 = 8 sessions</a:t>
            </a:r>
          </a:p>
        </p:txBody>
      </p:sp>
      <p:sp>
        <p:nvSpPr>
          <p:cNvPr id="8" name="Text">
            <a:extLst>
              <a:ext uri="{FF2B5EF4-FFF2-40B4-BE49-F238E27FC236}">
                <a16:creationId xmlns:a16="http://schemas.microsoft.com/office/drawing/2014/main" id="{D91055AB-820F-40DB-8AC3-29F07FB857AD}"/>
              </a:ext>
            </a:extLst>
          </p:cNvPr>
          <p:cNvSpPr>
            <a:spLocks noGrp="1"/>
          </p:cNvSpPr>
          <p:nvPr/>
        </p:nvSpPr>
        <p:spPr>
          <a:xfrm>
            <a:off x="8886825" y="5095875"/>
            <a:ext cx="2686050" cy="57150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8 ÷ 20 = 40%</a:t>
            </a:r>
          </a:p>
        </p:txBody>
      </p:sp>
      <p:sp>
        <p:nvSpPr>
          <p:cNvPr id="9" name="Text">
            <a:extLst>
              <a:ext uri="{FF2B5EF4-FFF2-40B4-BE49-F238E27FC236}">
                <a16:creationId xmlns:a16="http://schemas.microsoft.com/office/drawing/2014/main" id="{67F1DBFF-32D2-476F-96A8-3BE5DDB36450}"/>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The horizontal axis measures sign-ups. The vertical axis counts sessions.</a:t>
            </a:r>
          </a:p>
        </p:txBody>
      </p:sp>
    </p:spTree>
    <p:extLst>
      <p:ext uri="{BB962C8B-B14F-4D97-AF65-F5344CB8AC3E}">
        <p14:creationId xmlns:p14="http://schemas.microsoft.com/office/powerpoint/2010/main" val="728401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8FB987BE-2A65-4B23-AF97-F6283772657F}"/>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effect of wider intervals</a:t>
            </a:r>
          </a:p>
        </p:txBody>
      </p:sp>
      <p:sp>
        <p:nvSpPr>
          <p:cNvPr id="2" name="Text">
            <a:extLst>
              <a:ext uri="{FF2B5EF4-FFF2-40B4-BE49-F238E27FC236}">
                <a16:creationId xmlns:a16="http://schemas.microsoft.com/office/drawing/2014/main" id="{E72AD636-B8BA-45DF-97EB-DDBDCEC2C9E7}"/>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The same 25 Food Club sessions can produce a less detailed picture.</a:t>
            </a:r>
          </a:p>
        </p:txBody>
      </p:sp>
      <p:sp>
        <p:nvSpPr>
          <p:cNvPr id="3" name="Text">
            <a:extLst>
              <a:ext uri="{FF2B5EF4-FFF2-40B4-BE49-F238E27FC236}">
                <a16:creationId xmlns:a16="http://schemas.microsoft.com/office/drawing/2014/main" id="{2B283E6E-63AD-4D52-B0AC-FAC5D2B2E124}"/>
              </a:ext>
            </a:extLst>
          </p:cNvPr>
          <p:cNvSpPr>
            <a:spLocks noGrp="1"/>
          </p:cNvSpPr>
          <p:nvPr/>
        </p:nvSpPr>
        <p:spPr>
          <a:xfrm>
            <a:off x="619125" y="2790825"/>
            <a:ext cx="5276850" cy="419100"/>
          </a:xfrm>
          <a:prstGeom prst="rect">
            <a:avLst/>
          </a:prstGeom>
          <a:noFill/>
          <a:ln w="0">
            <a:noFill/>
          </a:ln>
        </p:spPr>
        <p:txBody>
          <a:bodyPr wrap="square"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Four intervals of width 10</a:t>
            </a:r>
          </a:p>
        </p:txBody>
      </p:sp>
      <p:graphicFrame>
        <p:nvGraphicFramePr>
          <p:cNvPr id="14" name="Chart"/>
          <p:cNvGraphicFramePr/>
          <p:nvPr/>
        </p:nvGraphicFramePr>
        <p:xfrm>
          <a:off x="523875" y="3276600"/>
          <a:ext cx="5305425" cy="2352675"/>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a:extLst>
              <a:ext uri="{FF2B5EF4-FFF2-40B4-BE49-F238E27FC236}">
                <a16:creationId xmlns:a16="http://schemas.microsoft.com/office/drawing/2014/main" id="{CBA9E5E9-F987-402A-AB08-24885EBD0230}"/>
              </a:ext>
            </a:extLst>
          </p:cNvPr>
          <p:cNvSpPr>
            <a:spLocks noGrp="1"/>
          </p:cNvSpPr>
          <p:nvPr/>
        </p:nvSpPr>
        <p:spPr>
          <a:xfrm>
            <a:off x="6477000" y="2790825"/>
            <a:ext cx="5095875" cy="419100"/>
          </a:xfrm>
          <a:prstGeom prst="rect">
            <a:avLst/>
          </a:prstGeom>
          <a:noFill/>
          <a:ln w="0">
            <a:noFill/>
          </a:ln>
        </p:spPr>
        <p:txBody>
          <a:bodyPr wrap="square"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Two intervals of width 20</a:t>
            </a:r>
          </a:p>
        </p:txBody>
      </p:sp>
      <p:graphicFrame>
        <p:nvGraphicFramePr>
          <p:cNvPr id="16" name="Chart"/>
          <p:cNvGraphicFramePr/>
          <p:nvPr/>
        </p:nvGraphicFramePr>
        <p:xfrm>
          <a:off x="6362700" y="3276600"/>
          <a:ext cx="5219700" cy="2352675"/>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a:extLst>
              <a:ext uri="{FF2B5EF4-FFF2-40B4-BE49-F238E27FC236}">
                <a16:creationId xmlns:a16="http://schemas.microsoft.com/office/drawing/2014/main" id="{2EFD008C-F9A8-434D-B9E2-DA0192FC7065}"/>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Wider intervals combine counts. They also hide differences within those intervals.</a:t>
            </a:r>
          </a:p>
        </p:txBody>
      </p:sp>
    </p:spTree>
    <p:extLst>
      <p:ext uri="{BB962C8B-B14F-4D97-AF65-F5344CB8AC3E}">
        <p14:creationId xmlns:p14="http://schemas.microsoft.com/office/powerpoint/2010/main" val="950346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a:extLst>
              <a:ext uri="{FF2B5EF4-FFF2-40B4-BE49-F238E27FC236}">
                <a16:creationId xmlns:a16="http://schemas.microsoft.com/office/drawing/2014/main" id="{66E6E208-B13A-46D3-8AC5-0F3FD28AA280}"/>
              </a:ext>
            </a:extLst>
          </p:cNvPr>
          <p:cNvSpPr>
            <a:spLocks noGrp="1"/>
          </p:cNvSpPr>
          <p:nvPr/>
        </p:nvSpPr>
        <p:spPr>
          <a:xfrm>
            <a:off x="447675" y="2505075"/>
            <a:ext cx="6048375" cy="3143250"/>
          </a:xfrm>
          <a:prstGeom prst="rect">
            <a:avLst/>
          </a:prstGeom>
          <a:noFill/>
          <a:ln w="0">
            <a:noFill/>
          </a:ln>
        </p:spPr>
        <p:txBody>
          <a:bodyPr wrap="square" lIns="0" tIns="0" rIns="0" bIns="0" anchor="t">
            <a:noAutofit/>
          </a:bodyPr>
          <a:lstStyle/>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2:</a:t>
            </a:r>
          </a:p>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Frequency</a:t>
            </a:r>
          </a:p>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polygons</a:t>
            </a:r>
          </a:p>
        </p:txBody>
      </p:sp>
    </p:spTree>
    <p:extLst>
      <p:ext uri="{BB962C8B-B14F-4D97-AF65-F5344CB8AC3E}">
        <p14:creationId xmlns:p14="http://schemas.microsoft.com/office/powerpoint/2010/main" val="139860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1AD4334C-B84F-408B-AB50-6B982C73482F}"/>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is a frequency polygon?</a:t>
            </a:r>
          </a:p>
        </p:txBody>
      </p:sp>
      <p:sp>
        <p:nvSpPr>
          <p:cNvPr id="2" name="Lead">
            <a:extLst>
              <a:ext uri="{FF2B5EF4-FFF2-40B4-BE49-F238E27FC236}">
                <a16:creationId xmlns:a16="http://schemas.microsoft.com/office/drawing/2014/main" id="{3830BE80-BC37-4394-A27C-EEF9B14BDB6C}"/>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A frequency polygon joins the frequencies at class midpoints with straight lines.</a:t>
            </a:r>
          </a:p>
        </p:txBody>
      </p:sp>
      <p:sp>
        <p:nvSpPr>
          <p:cNvPr id="3" name="Footer">
            <a:extLst>
              <a:ext uri="{FF2B5EF4-FFF2-40B4-BE49-F238E27FC236}">
                <a16:creationId xmlns:a16="http://schemas.microsoft.com/office/drawing/2014/main" id="{7EB68318-97B1-47AA-89A9-F31325489372}"/>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“Polygon” is the graph’s name. Each plotted point represents a whole interval.</a:t>
            </a:r>
          </a:p>
        </p:txBody>
      </p:sp>
      <p:graphicFrame>
        <p:nvGraphicFramePr>
          <p:cNvPr id="12" name="Chart"/>
          <p:cNvGraphicFramePr/>
          <p:nvPr/>
        </p:nvGraphicFramePr>
        <p:xfrm>
          <a:off x="619125" y="2857500"/>
          <a:ext cx="6334125"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a:extLst>
              <a:ext uri="{FF2B5EF4-FFF2-40B4-BE49-F238E27FC236}">
                <a16:creationId xmlns:a16="http://schemas.microsoft.com/office/drawing/2014/main" id="{1A136E11-A6B0-4063-B503-D1062E22AA5B}"/>
              </a:ext>
            </a:extLst>
          </p:cNvPr>
          <p:cNvSpPr>
            <a:spLocks noGrp="1"/>
          </p:cNvSpPr>
          <p:nvPr/>
        </p:nvSpPr>
        <p:spPr>
          <a:xfrm>
            <a:off x="7524750" y="3143250"/>
            <a:ext cx="4000500" cy="952500"/>
          </a:xfrm>
          <a:prstGeom prst="rect">
            <a:avLst/>
          </a:prstGeom>
          <a:noFill/>
          <a:ln w="0">
            <a:noFill/>
          </a:ln>
        </p:spPr>
        <p:txBody>
          <a:bodyPr wrap="square" lIns="0" tIns="0" rIns="0" bIns="0" anchor="t">
            <a:noAutofit/>
          </a:bodyPr>
          <a:lstStyle/>
          <a:p>
            <a:pPr algn="l">
              <a:buNone/>
              <a:defRPr sz="2475" b="1">
                <a:solidFill>
                  <a:srgbClr val="111111"/>
                </a:solidFill>
                <a:latin typeface="Aptos"/>
                <a:ea typeface="Aptos"/>
                <a:cs typeface="Aptos"/>
              </a:defRPr>
            </a:pPr>
            <a:r>
              <a:rPr sz="2475" b="1">
                <a:solidFill>
                  <a:srgbClr val="111111"/>
                </a:solidFill>
                <a:latin typeface="Aptos"/>
                <a:ea typeface="Aptos"/>
                <a:cs typeface="Aptos"/>
              </a:rPr>
              <a:t>Use it to see the shape</a:t>
            </a:r>
          </a:p>
          <a:p>
            <a:pPr algn="l">
              <a:buNone/>
              <a:defRPr sz="2475" b="1">
                <a:solidFill>
                  <a:srgbClr val="111111"/>
                </a:solidFill>
                <a:latin typeface="Aptos"/>
                <a:ea typeface="Aptos"/>
                <a:cs typeface="Aptos"/>
              </a:defRPr>
            </a:pPr>
            <a:r>
              <a:rPr sz="2475" b="1">
                <a:solidFill>
                  <a:srgbClr val="111111"/>
                </a:solidFill>
                <a:latin typeface="Aptos"/>
                <a:ea typeface="Aptos"/>
                <a:cs typeface="Aptos"/>
              </a:rPr>
              <a:t>of a distribution.</a:t>
            </a:r>
          </a:p>
        </p:txBody>
      </p:sp>
      <p:sp>
        <p:nvSpPr>
          <p:cNvPr id="6" name="Text">
            <a:extLst>
              <a:ext uri="{FF2B5EF4-FFF2-40B4-BE49-F238E27FC236}">
                <a16:creationId xmlns:a16="http://schemas.microsoft.com/office/drawing/2014/main" id="{A49CA3E5-838B-4ADE-9C13-F6D407B7612E}"/>
              </a:ext>
            </a:extLst>
          </p:cNvPr>
          <p:cNvSpPr>
            <a:spLocks noGrp="1"/>
          </p:cNvSpPr>
          <p:nvPr/>
        </p:nvSpPr>
        <p:spPr>
          <a:xfrm>
            <a:off x="7524750" y="4238625"/>
            <a:ext cx="4000500" cy="12858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Several polygons can share</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one set of axes, making</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groups easier to compare.</a:t>
            </a:r>
          </a:p>
        </p:txBody>
      </p:sp>
    </p:spTree>
    <p:extLst>
      <p:ext uri="{BB962C8B-B14F-4D97-AF65-F5344CB8AC3E}">
        <p14:creationId xmlns:p14="http://schemas.microsoft.com/office/powerpoint/2010/main" val="9312282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9702B0E6-C80E-4EE6-B89C-B26D702C83E0}"/>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use the midpoint?</a:t>
            </a:r>
          </a:p>
        </p:txBody>
      </p:sp>
      <p:sp>
        <p:nvSpPr>
          <p:cNvPr id="2" name="Text">
            <a:extLst>
              <a:ext uri="{FF2B5EF4-FFF2-40B4-BE49-F238E27FC236}">
                <a16:creationId xmlns:a16="http://schemas.microsoft.com/office/drawing/2014/main" id="{0B772970-7BB6-480B-916E-510237DC47E8}"/>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Food Club: each midpoint locates the centre of its interval.</a:t>
            </a:r>
          </a:p>
        </p:txBody>
      </p:sp>
      <p:graphicFrame>
        <p:nvGraphicFramePr>
          <p:cNvPr id="12" name="Table 11"/>
          <p:cNvGraphicFramePr/>
          <p:nvPr/>
        </p:nvGraphicFramePr>
        <p:xfrm>
          <a:off x="619125" y="2914650"/>
          <a:ext cx="7000875" cy="2657475"/>
        </p:xfrm>
        <a:graphic>
          <a:graphicData uri="http://schemas.openxmlformats.org/drawingml/2006/table">
            <a:tbl>
              <a:tblPr firstRow="1"/>
              <a:tblGrid>
                <a:gridCol w="3286125">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tblGrid>
              <a:tr h="531495">
                <a:tc>
                  <a:txBody>
                    <a:bodyPr/>
                    <a:lstStyle/>
                    <a:p>
                      <a:pPr algn="l">
                        <a:buNone/>
                      </a:pPr>
                      <a:r>
                        <a:rPr sz="2100" b="1">
                          <a:solidFill>
                            <a:srgbClr val="FFFFFF"/>
                          </a:solidFill>
                          <a:latin typeface="Aptos"/>
                          <a:ea typeface="Aptos"/>
                          <a:cs typeface="Aptos"/>
                        </a:rPr>
                        <a:t>Class</a:t>
                      </a:r>
                    </a:p>
                  </a:txBody>
                  <a:tcPr anchor="ctr">
                    <a:solidFill>
                      <a:srgbClr val="D6171D"/>
                    </a:solidFill>
                  </a:tcPr>
                </a:tc>
                <a:tc>
                  <a:txBody>
                    <a:bodyPr/>
                    <a:lstStyle/>
                    <a:p>
                      <a:pPr algn="ctr">
                        <a:buNone/>
                      </a:pPr>
                      <a:r>
                        <a:rPr sz="2100" b="1">
                          <a:solidFill>
                            <a:srgbClr val="FFFFFF"/>
                          </a:solidFill>
                          <a:latin typeface="Aptos"/>
                          <a:ea typeface="Aptos"/>
                          <a:cs typeface="Aptos"/>
                        </a:rPr>
                        <a:t>Midpoint m (X)</a:t>
                      </a:r>
                    </a:p>
                  </a:txBody>
                  <a:tcPr anchor="ctr">
                    <a:solidFill>
                      <a:srgbClr val="D6171D"/>
                    </a:solidFill>
                  </a:tcPr>
                </a:tc>
                <a:tc>
                  <a:txBody>
                    <a:bodyPr/>
                    <a:lstStyle/>
                    <a:p>
                      <a:pPr algn="ctr">
                        <a:buNone/>
                      </a:pPr>
                      <a:r>
                        <a:rPr sz="2100" b="1">
                          <a:solidFill>
                            <a:srgbClr val="FFFFFF"/>
                          </a:solidFill>
                          <a:latin typeface="Aptos"/>
                          <a:ea typeface="Aptos"/>
                          <a:cs typeface="Aptos"/>
                        </a:rPr>
                        <a:t>Frequency f (Y)</a:t>
                      </a:r>
                    </a:p>
                  </a:txBody>
                  <a:tcPr anchor="ctr">
                    <a:solidFill>
                      <a:srgbClr val="D6171D"/>
                    </a:solidFill>
                  </a:tcPr>
                </a:tc>
                <a:extLst>
                  <a:ext uri="{0D108BD9-81ED-4DB2-BD59-A6C34878D82A}">
                    <a16:rowId xmlns:a16="http://schemas.microsoft.com/office/drawing/2014/main" val="10000"/>
                  </a:ext>
                </a:extLst>
              </a:tr>
              <a:tr h="531495">
                <a:tc>
                  <a:txBody>
                    <a:bodyPr/>
                    <a:lstStyle/>
                    <a:p>
                      <a:pPr algn="l">
                        <a:buNone/>
                      </a:pPr>
                      <a:r>
                        <a:rPr sz="2100" b="0">
                          <a:solidFill>
                            <a:srgbClr val="111111"/>
                          </a:solidFill>
                          <a:latin typeface="Aptos"/>
                          <a:ea typeface="Aptos"/>
                          <a:cs typeface="Aptos"/>
                        </a:rPr>
                        <a:t>10 ≤ x &lt; 20</a:t>
                      </a:r>
                    </a:p>
                  </a:txBody>
                  <a:tcPr anchor="ctr">
                    <a:solidFill>
                      <a:srgbClr val="FFFFFF"/>
                    </a:solidFill>
                  </a:tcPr>
                </a:tc>
                <a:tc>
                  <a:txBody>
                    <a:bodyPr/>
                    <a:lstStyle/>
                    <a:p>
                      <a:pPr algn="ctr">
                        <a:buNone/>
                      </a:pPr>
                      <a:r>
                        <a:rPr sz="2100" b="0">
                          <a:solidFill>
                            <a:srgbClr val="111111"/>
                          </a:solidFill>
                          <a:latin typeface="Aptos"/>
                          <a:ea typeface="Aptos"/>
                          <a:cs typeface="Aptos"/>
                        </a:rPr>
                        <a:t>15</a:t>
                      </a:r>
                    </a:p>
                  </a:txBody>
                  <a:tcPr anchor="ctr">
                    <a:solidFill>
                      <a:srgbClr val="FFFFFF"/>
                    </a:solidFill>
                  </a:tcPr>
                </a:tc>
                <a:tc>
                  <a:txBody>
                    <a:bodyPr/>
                    <a:lstStyle/>
                    <a:p>
                      <a:pPr algn="ctr">
                        <a:buNone/>
                      </a:pPr>
                      <a:r>
                        <a:rPr sz="2100" b="0">
                          <a:solidFill>
                            <a:srgbClr val="111111"/>
                          </a:solidFill>
                          <a:latin typeface="Aptos"/>
                          <a:ea typeface="Aptos"/>
                          <a:cs typeface="Aptos"/>
                        </a:rPr>
                        <a:t>2</a:t>
                      </a:r>
                    </a:p>
                  </a:txBody>
                  <a:tcPr anchor="ctr">
                    <a:solidFill>
                      <a:srgbClr val="FFFFFF"/>
                    </a:solidFill>
                  </a:tcPr>
                </a:tc>
                <a:extLst>
                  <a:ext uri="{0D108BD9-81ED-4DB2-BD59-A6C34878D82A}">
                    <a16:rowId xmlns:a16="http://schemas.microsoft.com/office/drawing/2014/main" val="10001"/>
                  </a:ext>
                </a:extLst>
              </a:tr>
              <a:tr h="531495">
                <a:tc>
                  <a:txBody>
                    <a:bodyPr/>
                    <a:lstStyle/>
                    <a:p>
                      <a:pPr algn="l">
                        <a:buNone/>
                      </a:pPr>
                      <a:r>
                        <a:rPr sz="2100" b="0">
                          <a:solidFill>
                            <a:srgbClr val="111111"/>
                          </a:solidFill>
                          <a:latin typeface="Aptos"/>
                          <a:ea typeface="Aptos"/>
                          <a:cs typeface="Aptos"/>
                        </a:rPr>
                        <a:t>20 ≤ x &lt; 30</a:t>
                      </a:r>
                    </a:p>
                  </a:txBody>
                  <a:tcPr anchor="ctr">
                    <a:solidFill>
                      <a:srgbClr val="EEF8FE"/>
                    </a:solidFill>
                  </a:tcPr>
                </a:tc>
                <a:tc>
                  <a:txBody>
                    <a:bodyPr/>
                    <a:lstStyle/>
                    <a:p>
                      <a:pPr algn="ctr">
                        <a:buNone/>
                      </a:pPr>
                      <a:r>
                        <a:rPr sz="2100" b="0">
                          <a:solidFill>
                            <a:srgbClr val="111111"/>
                          </a:solidFill>
                          <a:latin typeface="Aptos"/>
                          <a:ea typeface="Aptos"/>
                          <a:cs typeface="Aptos"/>
                        </a:rPr>
                        <a:t>25</a:t>
                      </a:r>
                    </a:p>
                  </a:txBody>
                  <a:tcPr anchor="ctr">
                    <a:solidFill>
                      <a:srgbClr val="EEF8FE"/>
                    </a:solidFill>
                  </a:tcPr>
                </a:tc>
                <a:tc>
                  <a:txBody>
                    <a:bodyPr/>
                    <a:lstStyle/>
                    <a:p>
                      <a:pPr algn="ctr">
                        <a:buNone/>
                      </a:pPr>
                      <a:r>
                        <a:rPr sz="2100" b="0">
                          <a:solidFill>
                            <a:srgbClr val="111111"/>
                          </a:solidFill>
                          <a:latin typeface="Aptos"/>
                          <a:ea typeface="Aptos"/>
                          <a:cs typeface="Aptos"/>
                        </a:rPr>
                        <a:t>7</a:t>
                      </a:r>
                    </a:p>
                  </a:txBody>
                  <a:tcPr anchor="ctr">
                    <a:solidFill>
                      <a:srgbClr val="EEF8FE"/>
                    </a:solidFill>
                  </a:tcPr>
                </a:tc>
                <a:extLst>
                  <a:ext uri="{0D108BD9-81ED-4DB2-BD59-A6C34878D82A}">
                    <a16:rowId xmlns:a16="http://schemas.microsoft.com/office/drawing/2014/main" val="10002"/>
                  </a:ext>
                </a:extLst>
              </a:tr>
              <a:tr h="531495">
                <a:tc>
                  <a:txBody>
                    <a:bodyPr/>
                    <a:lstStyle/>
                    <a:p>
                      <a:pPr algn="l">
                        <a:buNone/>
                      </a:pPr>
                      <a:r>
                        <a:rPr sz="2100" b="0">
                          <a:solidFill>
                            <a:srgbClr val="111111"/>
                          </a:solidFill>
                          <a:latin typeface="Aptos"/>
                          <a:ea typeface="Aptos"/>
                          <a:cs typeface="Aptos"/>
                        </a:rPr>
                        <a:t>30 ≤ x &lt; 40</a:t>
                      </a:r>
                    </a:p>
                  </a:txBody>
                  <a:tcPr anchor="ctr">
                    <a:solidFill>
                      <a:srgbClr val="FFFFFF"/>
                    </a:solidFill>
                  </a:tcPr>
                </a:tc>
                <a:tc>
                  <a:txBody>
                    <a:bodyPr/>
                    <a:lstStyle/>
                    <a:p>
                      <a:pPr algn="ctr">
                        <a:buNone/>
                      </a:pPr>
                      <a:r>
                        <a:rPr sz="2100" b="0">
                          <a:solidFill>
                            <a:srgbClr val="111111"/>
                          </a:solidFill>
                          <a:latin typeface="Aptos"/>
                          <a:ea typeface="Aptos"/>
                          <a:cs typeface="Aptos"/>
                        </a:rPr>
                        <a:t>35</a:t>
                      </a:r>
                    </a:p>
                  </a:txBody>
                  <a:tcPr anchor="ctr">
                    <a:solidFill>
                      <a:srgbClr val="FFFFFF"/>
                    </a:solidFill>
                  </a:tcPr>
                </a:tc>
                <a:tc>
                  <a:txBody>
                    <a:bodyPr/>
                    <a:lstStyle/>
                    <a:p>
                      <a:pPr algn="ctr">
                        <a:buNone/>
                      </a:pPr>
                      <a:r>
                        <a:rPr sz="2100" b="0">
                          <a:solidFill>
                            <a:srgbClr val="111111"/>
                          </a:solidFill>
                          <a:latin typeface="Aptos"/>
                          <a:ea typeface="Aptos"/>
                          <a:cs typeface="Aptos"/>
                        </a:rPr>
                        <a:t>10</a:t>
                      </a:r>
                    </a:p>
                  </a:txBody>
                  <a:tcPr anchor="ctr">
                    <a:solidFill>
                      <a:srgbClr val="FFFFFF"/>
                    </a:solidFill>
                  </a:tcPr>
                </a:tc>
                <a:extLst>
                  <a:ext uri="{0D108BD9-81ED-4DB2-BD59-A6C34878D82A}">
                    <a16:rowId xmlns:a16="http://schemas.microsoft.com/office/drawing/2014/main" val="10003"/>
                  </a:ext>
                </a:extLst>
              </a:tr>
              <a:tr h="531495">
                <a:tc>
                  <a:txBody>
                    <a:bodyPr/>
                    <a:lstStyle/>
                    <a:p>
                      <a:pPr algn="l">
                        <a:buNone/>
                      </a:pPr>
                      <a:r>
                        <a:rPr sz="2100" b="0">
                          <a:solidFill>
                            <a:srgbClr val="111111"/>
                          </a:solidFill>
                          <a:latin typeface="Aptos"/>
                          <a:ea typeface="Aptos"/>
                          <a:cs typeface="Aptos"/>
                        </a:rPr>
                        <a:t>40 ≤ x &lt; 50</a:t>
                      </a:r>
                    </a:p>
                  </a:txBody>
                  <a:tcPr anchor="ctr">
                    <a:solidFill>
                      <a:srgbClr val="EEF8FE"/>
                    </a:solidFill>
                  </a:tcPr>
                </a:tc>
                <a:tc>
                  <a:txBody>
                    <a:bodyPr/>
                    <a:lstStyle/>
                    <a:p>
                      <a:pPr algn="ctr">
                        <a:buNone/>
                      </a:pPr>
                      <a:r>
                        <a:rPr sz="2100" b="0">
                          <a:solidFill>
                            <a:srgbClr val="111111"/>
                          </a:solidFill>
                          <a:latin typeface="Aptos"/>
                          <a:ea typeface="Aptos"/>
                          <a:cs typeface="Aptos"/>
                        </a:rPr>
                        <a:t>45</a:t>
                      </a:r>
                    </a:p>
                  </a:txBody>
                  <a:tcPr anchor="ctr">
                    <a:solidFill>
                      <a:srgbClr val="EEF8FE"/>
                    </a:solidFill>
                  </a:tcPr>
                </a:tc>
                <a:tc>
                  <a:txBody>
                    <a:bodyPr/>
                    <a:lstStyle/>
                    <a:p>
                      <a:pPr algn="ctr">
                        <a:buNone/>
                      </a:pPr>
                      <a:r>
                        <a:rPr sz="2100" b="0">
                          <a:solidFill>
                            <a:srgbClr val="111111"/>
                          </a:solidFill>
                          <a:latin typeface="Aptos"/>
                          <a:ea typeface="Aptos"/>
                          <a:cs typeface="Aptos"/>
                        </a:rPr>
                        <a:t>6</a:t>
                      </a:r>
                    </a:p>
                  </a:txBody>
                  <a:tcPr anchor="ctr">
                    <a:solidFill>
                      <a:srgbClr val="EEF8FE"/>
                    </a:solidFill>
                  </a:tcPr>
                </a:tc>
                <a:extLst>
                  <a:ext uri="{0D108BD9-81ED-4DB2-BD59-A6C34878D82A}">
                    <a16:rowId xmlns:a16="http://schemas.microsoft.com/office/drawing/2014/main" val="10004"/>
                  </a:ext>
                </a:extLst>
              </a:tr>
            </a:tbl>
          </a:graphicData>
        </a:graphic>
      </p:graphicFrame>
      <p:sp>
        <p:nvSpPr>
          <p:cNvPr id="4" name="Text">
            <a:extLst>
              <a:ext uri="{FF2B5EF4-FFF2-40B4-BE49-F238E27FC236}">
                <a16:creationId xmlns:a16="http://schemas.microsoft.com/office/drawing/2014/main" id="{F463B80C-55F7-4E4C-AA0B-F77D859035AA}"/>
              </a:ext>
            </a:extLst>
          </p:cNvPr>
          <p:cNvSpPr>
            <a:spLocks noGrp="1"/>
          </p:cNvSpPr>
          <p:nvPr/>
        </p:nvSpPr>
        <p:spPr>
          <a:xfrm>
            <a:off x="8115300" y="2981325"/>
            <a:ext cx="3467100" cy="628650"/>
          </a:xfrm>
          <a:prstGeom prst="rect">
            <a:avLst/>
          </a:prstGeom>
          <a:noFill/>
          <a:ln w="0">
            <a:noFill/>
          </a:ln>
        </p:spPr>
        <p:txBody>
          <a:bodyPr wrap="square"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Class 20 ≤ x &lt; 30</a:t>
            </a:r>
          </a:p>
        </p:txBody>
      </p:sp>
      <p:sp>
        <p:nvSpPr>
          <p:cNvPr id="5" name="Text">
            <a:extLst>
              <a:ext uri="{FF2B5EF4-FFF2-40B4-BE49-F238E27FC236}">
                <a16:creationId xmlns:a16="http://schemas.microsoft.com/office/drawing/2014/main" id="{6300912D-8315-4BA1-8145-E55F0F7895BA}"/>
              </a:ext>
            </a:extLst>
          </p:cNvPr>
          <p:cNvSpPr>
            <a:spLocks noGrp="1"/>
          </p:cNvSpPr>
          <p:nvPr/>
        </p:nvSpPr>
        <p:spPr>
          <a:xfrm>
            <a:off x="8115300" y="3857625"/>
            <a:ext cx="3467100" cy="857250"/>
          </a:xfrm>
          <a:prstGeom prst="rect">
            <a:avLst/>
          </a:prstGeom>
          <a:noFill/>
          <a:ln w="0">
            <a:noFill/>
          </a:ln>
        </p:spPr>
        <p:txBody>
          <a:bodyPr wrap="square" lIns="0" tIns="0" rIns="0" bIns="0" anchor="t">
            <a:noAutofit/>
          </a:bodyPr>
          <a:lstStyle/>
          <a:p>
            <a:pPr algn="l">
              <a:buNone/>
              <a:defRPr sz="2850" b="0">
                <a:solidFill>
                  <a:srgbClr val="111111"/>
                </a:solidFill>
                <a:latin typeface="Aptos"/>
                <a:ea typeface="Aptos"/>
                <a:cs typeface="Aptos"/>
              </a:defRPr>
            </a:pPr>
            <a:r>
              <a:rPr sz="2850" b="0">
                <a:solidFill>
                  <a:srgbClr val="111111"/>
                </a:solidFill>
                <a:latin typeface="Aptos"/>
                <a:ea typeface="Aptos"/>
                <a:cs typeface="Aptos"/>
              </a:rPr>
              <a:t>m = 25</a:t>
            </a:r>
          </a:p>
          <a:p>
            <a:pPr algn="l">
              <a:buNone/>
              <a:defRPr sz="2850" b="0">
                <a:solidFill>
                  <a:srgbClr val="111111"/>
                </a:solidFill>
                <a:latin typeface="Aptos"/>
                <a:ea typeface="Aptos"/>
                <a:cs typeface="Aptos"/>
              </a:defRPr>
            </a:pPr>
            <a:r>
              <a:rPr sz="2850" b="0">
                <a:solidFill>
                  <a:srgbClr val="111111"/>
                </a:solidFill>
                <a:latin typeface="Aptos"/>
                <a:ea typeface="Aptos"/>
                <a:cs typeface="Aptos"/>
              </a:rPr>
              <a:t>f = 7</a:t>
            </a:r>
          </a:p>
        </p:txBody>
      </p:sp>
      <p:sp>
        <p:nvSpPr>
          <p:cNvPr id="6" name="Text">
            <a:extLst>
              <a:ext uri="{FF2B5EF4-FFF2-40B4-BE49-F238E27FC236}">
                <a16:creationId xmlns:a16="http://schemas.microsoft.com/office/drawing/2014/main" id="{D09CBA21-B743-4255-ABCF-41A061D0860B}"/>
              </a:ext>
            </a:extLst>
          </p:cNvPr>
          <p:cNvSpPr>
            <a:spLocks noGrp="1"/>
          </p:cNvSpPr>
          <p:nvPr/>
        </p:nvSpPr>
        <p:spPr>
          <a:xfrm>
            <a:off x="8115300" y="5029200"/>
            <a:ext cx="3467100" cy="581025"/>
          </a:xfrm>
          <a:prstGeom prst="rect">
            <a:avLst/>
          </a:prstGeom>
          <a:noFill/>
          <a:ln w="0">
            <a:noFill/>
          </a:ln>
        </p:spPr>
        <p:txBody>
          <a:bodyPr wrap="square" lIns="0" tIns="0" rIns="0" bIns="0" anchor="t">
            <a:noAutofit/>
          </a:bodyPr>
          <a:lstStyle/>
          <a:p>
            <a:pPr algn="l">
              <a:buNone/>
              <a:defRPr sz="3000" b="1">
                <a:solidFill>
                  <a:srgbClr val="D6171D"/>
                </a:solidFill>
                <a:latin typeface="Aptos"/>
                <a:ea typeface="Aptos"/>
                <a:cs typeface="Aptos"/>
              </a:defRPr>
            </a:pPr>
            <a:r>
              <a:rPr sz="3000" b="1">
                <a:solidFill>
                  <a:srgbClr val="D6171D"/>
                </a:solidFill>
                <a:latin typeface="Aptos"/>
                <a:ea typeface="Aptos"/>
                <a:cs typeface="Aptos"/>
              </a:rPr>
              <a:t>Plot (25, 7).</a:t>
            </a:r>
          </a:p>
        </p:txBody>
      </p:sp>
      <p:sp>
        <p:nvSpPr>
          <p:cNvPr id="7" name="Text">
            <a:extLst>
              <a:ext uri="{FF2B5EF4-FFF2-40B4-BE49-F238E27FC236}">
                <a16:creationId xmlns:a16="http://schemas.microsoft.com/office/drawing/2014/main" id="{FADCB330-1C11-4456-A0E2-D5BEFEA135ED}"/>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Coordinates are (horizontal value, vertical value). A polygon uses class midpoints.</a:t>
            </a:r>
          </a:p>
        </p:txBody>
      </p:sp>
    </p:spTree>
    <p:extLst>
      <p:ext uri="{BB962C8B-B14F-4D97-AF65-F5344CB8AC3E}">
        <p14:creationId xmlns:p14="http://schemas.microsoft.com/office/powerpoint/2010/main" val="6846982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5001D950-F22E-43A8-848C-1898FA29D3B1}"/>
              </a:ext>
            </a:extLst>
          </p:cNvPr>
          <p:cNvSpPr>
            <a:spLocks noGrp="1"/>
          </p:cNvSpPr>
          <p:nvPr/>
        </p:nvSpPr>
        <p:spPr>
          <a:xfrm>
            <a:off x="430816" y="1023080"/>
            <a:ext cx="11049000" cy="781050"/>
          </a:xfrm>
          <a:prstGeom prst="rect">
            <a:avLst/>
          </a:prstGeom>
          <a:noFill/>
          <a:ln w="0">
            <a:noFill/>
          </a:ln>
        </p:spPr>
        <p:txBody>
          <a:bodyPr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Histogram and frequency polygon</a:t>
            </a:r>
          </a:p>
        </p:txBody>
      </p:sp>
      <p:sp>
        <p:nvSpPr>
          <p:cNvPr id="3" name="Lead">
            <a:extLst>
              <a:ext uri="{FF2B5EF4-FFF2-40B4-BE49-F238E27FC236}">
                <a16:creationId xmlns:a16="http://schemas.microsoft.com/office/drawing/2014/main" id="{009728C7-283A-4FC3-A44E-BDF30540BEB9}"/>
              </a:ext>
            </a:extLst>
          </p:cNvPr>
          <p:cNvSpPr>
            <a:spLocks noGrp="1"/>
          </p:cNvSpPr>
          <p:nvPr/>
        </p:nvSpPr>
        <p:spPr>
          <a:xfrm>
            <a:off x="523875" y="2000250"/>
            <a:ext cx="11049000" cy="666750"/>
          </a:xfrm>
          <a:prstGeom prst="rect">
            <a:avLst/>
          </a:prstGeom>
          <a:noFill/>
          <a:ln w="0">
            <a:noFill/>
          </a:ln>
        </p:spPr>
        <p:txBody>
          <a:bodyPr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Food Club: the same frequencies, shown in three steps.</a:t>
            </a:r>
          </a:p>
        </p:txBody>
      </p:sp>
      <p:sp>
        <p:nvSpPr>
          <p:cNvPr id="4" name="Footer">
            <a:extLst>
              <a:ext uri="{FF2B5EF4-FFF2-40B4-BE49-F238E27FC236}">
                <a16:creationId xmlns:a16="http://schemas.microsoft.com/office/drawing/2014/main" id="{B36BD619-4B2C-40CC-9817-FBF140C97FA1}"/>
              </a:ext>
            </a:extLst>
          </p:cNvPr>
          <p:cNvSpPr>
            <a:spLocks noGrp="1"/>
          </p:cNvSpPr>
          <p:nvPr/>
        </p:nvSpPr>
        <p:spPr>
          <a:xfrm>
            <a:off x="523875" y="5953125"/>
            <a:ext cx="11049000" cy="409575"/>
          </a:xfrm>
          <a:prstGeom prst="rect">
            <a:avLst/>
          </a:prstGeom>
          <a:noFill/>
          <a:ln w="0">
            <a:noFill/>
          </a:ln>
        </p:spPr>
        <p:txBody>
          <a:bodyPr anchor="t">
            <a:noAutofit/>
          </a:bodyPr>
          <a:lstStyle/>
          <a:p>
            <a:pPr algn="l">
              <a:defRPr sz="1600" b="0">
                <a:solidFill>
                  <a:srgbClr val="111111"/>
                </a:solidFill>
                <a:latin typeface="Aptos"/>
                <a:ea typeface="Aptos"/>
                <a:cs typeface="Aptos"/>
              </a:defRPr>
            </a:pPr>
            <a:r>
              <a:rPr sz="1600" b="0">
                <a:solidFill>
                  <a:srgbClr val="111111"/>
                </a:solidFill>
                <a:latin typeface="Aptos"/>
                <a:ea typeface="Aptos"/>
                <a:cs typeface="Aptos"/>
              </a:rPr>
              <a:t>Join with straight lines. Close one class width beyond at (5, 0) and (55, 0), adding no sessions.</a:t>
            </a:r>
          </a:p>
        </p:txBody>
      </p:sp>
      <p:sp>
        <p:nvSpPr>
          <p:cNvPr id="5" name="1. Histogram">
            <a:extLst>
              <a:ext uri="{FF2B5EF4-FFF2-40B4-BE49-F238E27FC236}">
                <a16:creationId xmlns:a16="http://schemas.microsoft.com/office/drawing/2014/main" id="{6496AB37-AA42-4350-9B38-7693D5AE1B85}"/>
              </a:ext>
            </a:extLst>
          </p:cNvPr>
          <p:cNvSpPr>
            <a:spLocks noGrp="1"/>
          </p:cNvSpPr>
          <p:nvPr/>
        </p:nvSpPr>
        <p:spPr>
          <a:xfrm>
            <a:off x="495300" y="2705100"/>
            <a:ext cx="3714750" cy="333375"/>
          </a:xfrm>
          <a:prstGeom prst="rect">
            <a:avLst/>
          </a:prstGeom>
          <a:noFill/>
          <a:ln w="0">
            <a:noFill/>
          </a:ln>
        </p:spPr>
        <p:txBody>
          <a:bodyPr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1. Histogram</a:t>
            </a:r>
          </a:p>
        </p:txBody>
      </p:sp>
      <p:graphicFrame>
        <p:nvGraphicFramePr>
          <p:cNvPr id="6" name="Chart"/>
          <p:cNvGraphicFramePr/>
          <p:nvPr/>
        </p:nvGraphicFramePr>
        <p:xfrm>
          <a:off x="419100" y="3190875"/>
          <a:ext cx="3657600" cy="2381250"/>
        </p:xfrm>
        <a:graphic>
          <a:graphicData uri="http://schemas.openxmlformats.org/drawingml/2006/chart">
            <c:chart xmlns:c="http://schemas.openxmlformats.org/drawingml/2006/chart" xmlns:r="http://schemas.openxmlformats.org/officeDocument/2006/relationships" r:id="rId3"/>
          </a:graphicData>
        </a:graphic>
      </p:graphicFrame>
      <p:sp>
        <p:nvSpPr>
          <p:cNvPr id="7" name="2. Midpoints joined">
            <a:extLst>
              <a:ext uri="{FF2B5EF4-FFF2-40B4-BE49-F238E27FC236}">
                <a16:creationId xmlns:a16="http://schemas.microsoft.com/office/drawing/2014/main" id="{AE2FBEAF-0E65-4778-A287-E50976F980F3}"/>
              </a:ext>
            </a:extLst>
          </p:cNvPr>
          <p:cNvSpPr>
            <a:spLocks noGrp="1"/>
          </p:cNvSpPr>
          <p:nvPr/>
        </p:nvSpPr>
        <p:spPr>
          <a:xfrm>
            <a:off x="4371975" y="2705100"/>
            <a:ext cx="3714750" cy="333375"/>
          </a:xfrm>
          <a:prstGeom prst="rect">
            <a:avLst/>
          </a:prstGeom>
          <a:noFill/>
          <a:ln w="0">
            <a:noFill/>
          </a:ln>
        </p:spPr>
        <p:txBody>
          <a:bodyPr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2. Midpoints joined</a:t>
            </a:r>
          </a:p>
        </p:txBody>
      </p:sp>
      <p:graphicFrame>
        <p:nvGraphicFramePr>
          <p:cNvPr id="8" name="Chart"/>
          <p:cNvGraphicFramePr/>
          <p:nvPr/>
        </p:nvGraphicFramePr>
        <p:xfrm>
          <a:off x="4295775" y="3190875"/>
          <a:ext cx="3657600" cy="2381250"/>
        </p:xfrm>
        <a:graphic>
          <a:graphicData uri="http://schemas.openxmlformats.org/drawingml/2006/chart">
            <c:chart xmlns:c="http://schemas.openxmlformats.org/drawingml/2006/chart" xmlns:r="http://schemas.openxmlformats.org/officeDocument/2006/relationships" r:id="rId4"/>
          </a:graphicData>
        </a:graphic>
      </p:graphicFrame>
      <p:sp>
        <p:nvSpPr>
          <p:cNvPr id="9" name="3. Polygon alone">
            <a:extLst>
              <a:ext uri="{FF2B5EF4-FFF2-40B4-BE49-F238E27FC236}">
                <a16:creationId xmlns:a16="http://schemas.microsoft.com/office/drawing/2014/main" id="{3E4A5A81-2E8D-4332-BA33-9223A0663D5B}"/>
              </a:ext>
            </a:extLst>
          </p:cNvPr>
          <p:cNvSpPr>
            <a:spLocks noGrp="1"/>
          </p:cNvSpPr>
          <p:nvPr/>
        </p:nvSpPr>
        <p:spPr>
          <a:xfrm>
            <a:off x="8248650" y="2705100"/>
            <a:ext cx="3714750" cy="333375"/>
          </a:xfrm>
          <a:prstGeom prst="rect">
            <a:avLst/>
          </a:prstGeom>
          <a:noFill/>
          <a:ln w="0">
            <a:noFill/>
          </a:ln>
        </p:spPr>
        <p:txBody>
          <a:bodyPr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3. Polygon alone</a:t>
            </a:r>
          </a:p>
        </p:txBody>
      </p:sp>
      <p:graphicFrame>
        <p:nvGraphicFramePr>
          <p:cNvPr id="10" name="Chart"/>
          <p:cNvGraphicFramePr/>
          <p:nvPr/>
        </p:nvGraphicFramePr>
        <p:xfrm>
          <a:off x="8172450" y="3190875"/>
          <a:ext cx="3657600" cy="2381250"/>
        </p:xfrm>
        <a:graphic>
          <a:graphicData uri="http://schemas.openxmlformats.org/drawingml/2006/chart">
            <c:chart xmlns:c="http://schemas.openxmlformats.org/drawingml/2006/chart" xmlns:r="http://schemas.openxmlformats.org/officeDocument/2006/relationships" r:id="rId5"/>
          </a:graphicData>
        </a:graphic>
      </p:graphicFrame>
      <p:sp>
        <p:nvSpPr>
          <p:cNvPr id="11" name="Interval explanation">
            <a:extLst>
              <a:ext uri="{FF2B5EF4-FFF2-40B4-BE49-F238E27FC236}">
                <a16:creationId xmlns:a16="http://schemas.microsoft.com/office/drawing/2014/main" id="{D215472B-4A42-4232-930E-CA01E187A456}"/>
              </a:ext>
            </a:extLst>
          </p:cNvPr>
          <p:cNvSpPr>
            <a:spLocks noGrp="1"/>
          </p:cNvSpPr>
          <p:nvPr/>
        </p:nvSpPr>
        <p:spPr>
          <a:xfrm>
            <a:off x="523875" y="5600700"/>
            <a:ext cx="11049000" cy="266700"/>
          </a:xfrm>
          <a:prstGeom prst="rect">
            <a:avLst/>
          </a:prstGeom>
          <a:noFill/>
          <a:ln w="0">
            <a:noFill/>
          </a:ln>
        </p:spPr>
        <p:txBody>
          <a:bodyPr anchor="t">
            <a:noAutofit/>
          </a:bodyPr>
          <a:lstStyle/>
          <a:p>
            <a:pPr algn="l">
              <a:defRPr sz="1600" b="0">
                <a:solidFill>
                  <a:srgbClr val="111111"/>
                </a:solidFill>
                <a:latin typeface="Aptos"/>
                <a:ea typeface="Aptos"/>
                <a:cs typeface="Aptos"/>
              </a:defRPr>
            </a:pPr>
            <a:r>
              <a:rPr sz="1600" b="0">
                <a:solidFill>
                  <a:srgbClr val="111111"/>
                </a:solidFill>
                <a:latin typeface="Aptos"/>
                <a:ea typeface="Aptos"/>
                <a:cs typeface="Aptos"/>
              </a:rPr>
              <a:t>Bars cover 10–20, 20–30, 30–40 and 40–50. Dots use midpoints 15, 25, 35 and 45.</a:t>
            </a:r>
          </a:p>
        </p:txBody>
      </p:sp>
    </p:spTree>
    <p:extLst>
      <p:ext uri="{BB962C8B-B14F-4D97-AF65-F5344CB8AC3E}">
        <p14:creationId xmlns:p14="http://schemas.microsoft.com/office/powerpoint/2010/main" val="523269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091B07FA-CC31-41C4-9679-D45C777376A1}"/>
              </a:ext>
            </a:extLst>
          </p:cNvPr>
          <p:cNvSpPr>
            <a:spLocks noGrp="1"/>
          </p:cNvSpPr>
          <p:nvPr/>
        </p:nvSpPr>
        <p:spPr>
          <a:xfrm>
            <a:off x="430816" y="1023080"/>
            <a:ext cx="11049000" cy="781050"/>
          </a:xfrm>
          <a:prstGeom prst="rect">
            <a:avLst/>
          </a:prstGeom>
          <a:noFill/>
          <a:ln w="0">
            <a:noFill/>
          </a:ln>
        </p:spPr>
        <p:txBody>
          <a:bodyPr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Relative frequency and percentages</a:t>
            </a:r>
          </a:p>
        </p:txBody>
      </p:sp>
      <p:sp>
        <p:nvSpPr>
          <p:cNvPr id="3" name="Lead">
            <a:extLst>
              <a:ext uri="{FF2B5EF4-FFF2-40B4-BE49-F238E27FC236}">
                <a16:creationId xmlns:a16="http://schemas.microsoft.com/office/drawing/2014/main" id="{E265C913-0511-4BB1-8B44-57AFA0D9FA01}"/>
              </a:ext>
            </a:extLst>
          </p:cNvPr>
          <p:cNvSpPr>
            <a:spLocks noGrp="1"/>
          </p:cNvSpPr>
          <p:nvPr/>
        </p:nvSpPr>
        <p:spPr>
          <a:xfrm>
            <a:off x="523875" y="2000250"/>
            <a:ext cx="11049000" cy="666750"/>
          </a:xfrm>
          <a:prstGeom prst="rect">
            <a:avLst/>
          </a:prstGeom>
          <a:noFill/>
          <a:ln w="0">
            <a:noFill/>
          </a:ln>
        </p:spPr>
        <p:txBody>
          <a:bodyPr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Imagine 50 sessions with twice the counts. The proportions stay the same.</a:t>
            </a:r>
          </a:p>
        </p:txBody>
      </p:sp>
      <p:sp>
        <p:nvSpPr>
          <p:cNvPr id="4" name="Footer">
            <a:extLst>
              <a:ext uri="{FF2B5EF4-FFF2-40B4-BE49-F238E27FC236}">
                <a16:creationId xmlns:a16="http://schemas.microsoft.com/office/drawing/2014/main" id="{189D4F42-E690-4A7E-9A7E-32206AFA3814}"/>
              </a:ext>
            </a:extLst>
          </p:cNvPr>
          <p:cNvSpPr>
            <a:spLocks noGrp="1"/>
          </p:cNvSpPr>
          <p:nvPr/>
        </p:nvSpPr>
        <p:spPr>
          <a:xfrm>
            <a:off x="523875" y="5953125"/>
            <a:ext cx="11049000" cy="409575"/>
          </a:xfrm>
          <a:prstGeom prst="rect">
            <a:avLst/>
          </a:prstGeom>
          <a:noFill/>
          <a:ln w="0">
            <a:noFill/>
          </a:ln>
        </p:spPr>
        <p:txBody>
          <a:bodyPr anchor="t">
            <a:noAutofit/>
          </a:bodyPr>
          <a:lstStyle/>
          <a:p>
            <a:pPr algn="l">
              <a:defRPr sz="1600" b="0">
                <a:solidFill>
                  <a:srgbClr val="111111"/>
                </a:solidFill>
                <a:latin typeface="Aptos"/>
                <a:ea typeface="Aptos"/>
                <a:cs typeface="Aptos"/>
              </a:defRPr>
            </a:pPr>
            <a:r>
              <a:rPr sz="1600" b="0">
                <a:solidFill>
                  <a:srgbClr val="111111"/>
                </a:solidFill>
                <a:latin typeface="Aptos"/>
                <a:ea typeface="Aptos"/>
                <a:cs typeface="Aptos"/>
              </a:rPr>
              <a:t>Relative frequency = frequency ÷ total. A percentage expresses that same share out of 100.</a:t>
            </a:r>
          </a:p>
        </p:txBody>
      </p:sp>
      <p:graphicFrame>
        <p:nvGraphicFramePr>
          <p:cNvPr id="5" name="Table 4"/>
          <p:cNvGraphicFramePr/>
          <p:nvPr/>
        </p:nvGraphicFramePr>
        <p:xfrm>
          <a:off x="619125" y="2781300"/>
          <a:ext cx="10858500" cy="2143125"/>
        </p:xfrm>
        <a:graphic>
          <a:graphicData uri="http://schemas.openxmlformats.org/drawingml/2006/table">
            <a:tbl>
              <a:tblPr/>
              <a:tblGrid>
                <a:gridCol w="3476625">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428625">
                <a:tc>
                  <a:txBody>
                    <a:bodyPr/>
                    <a:lstStyle/>
                    <a:p>
                      <a:pPr algn="l"/>
                      <a:r>
                        <a:rPr sz="1875" b="1">
                          <a:solidFill>
                            <a:srgbClr val="FFFFFF"/>
                          </a:solidFill>
                          <a:latin typeface="Aptos"/>
                          <a:ea typeface="Aptos"/>
                          <a:cs typeface="Aptos"/>
                        </a:rPr>
                        <a:t>Sign-up interval</a:t>
                      </a:r>
                    </a:p>
                  </a:txBody>
                  <a:tcPr anchor="ctr">
                    <a:solidFill>
                      <a:srgbClr val="D6171D"/>
                    </a:solidFill>
                  </a:tcPr>
                </a:tc>
                <a:tc>
                  <a:txBody>
                    <a:bodyPr/>
                    <a:lstStyle/>
                    <a:p>
                      <a:pPr algn="ctr"/>
                      <a:r>
                        <a:rPr sz="1875" b="1">
                          <a:solidFill>
                            <a:srgbClr val="FFFFFF"/>
                          </a:solidFill>
                          <a:latin typeface="Aptos"/>
                          <a:ea typeface="Aptos"/>
                          <a:cs typeface="Aptos"/>
                        </a:rPr>
                        <a:t>25 sessions</a:t>
                      </a:r>
                    </a:p>
                  </a:txBody>
                  <a:tcPr anchor="ctr">
                    <a:solidFill>
                      <a:srgbClr val="D6171D"/>
                    </a:solidFill>
                  </a:tcPr>
                </a:tc>
                <a:tc>
                  <a:txBody>
                    <a:bodyPr/>
                    <a:lstStyle/>
                    <a:p>
                      <a:pPr algn="ctr"/>
                      <a:r>
                        <a:rPr sz="1875" b="1">
                          <a:solidFill>
                            <a:srgbClr val="FFFFFF"/>
                          </a:solidFill>
                          <a:latin typeface="Aptos"/>
                          <a:ea typeface="Aptos"/>
                          <a:cs typeface="Aptos"/>
                        </a:rPr>
                        <a:t>50 sessions</a:t>
                      </a:r>
                    </a:p>
                  </a:txBody>
                  <a:tcPr anchor="ctr">
                    <a:solidFill>
                      <a:srgbClr val="D6171D"/>
                    </a:solidFill>
                  </a:tcPr>
                </a:tc>
                <a:tc>
                  <a:txBody>
                    <a:bodyPr/>
                    <a:lstStyle/>
                    <a:p>
                      <a:pPr algn="ctr"/>
                      <a:r>
                        <a:rPr sz="1875" b="1">
                          <a:solidFill>
                            <a:srgbClr val="FFFFFF"/>
                          </a:solidFill>
                          <a:latin typeface="Aptos"/>
                          <a:ea typeface="Aptos"/>
                          <a:cs typeface="Aptos"/>
                        </a:rPr>
                        <a:t>Share in either</a:t>
                      </a:r>
                    </a:p>
                  </a:txBody>
                  <a:tcPr anchor="ctr">
                    <a:solidFill>
                      <a:srgbClr val="D6171D"/>
                    </a:solidFill>
                  </a:tcPr>
                </a:tc>
                <a:extLst>
                  <a:ext uri="{0D108BD9-81ED-4DB2-BD59-A6C34878D82A}">
                    <a16:rowId xmlns:a16="http://schemas.microsoft.com/office/drawing/2014/main" val="10000"/>
                  </a:ext>
                </a:extLst>
              </a:tr>
              <a:tr h="428625">
                <a:tc>
                  <a:txBody>
                    <a:bodyPr/>
                    <a:lstStyle/>
                    <a:p>
                      <a:pPr algn="l"/>
                      <a:r>
                        <a:rPr sz="1875" b="0">
                          <a:solidFill>
                            <a:srgbClr val="111111"/>
                          </a:solidFill>
                          <a:latin typeface="Aptos"/>
                          <a:ea typeface="Aptos"/>
                          <a:cs typeface="Aptos"/>
                        </a:rPr>
                        <a:t>10 ≤ x &lt; 20</a:t>
                      </a:r>
                    </a:p>
                  </a:txBody>
                  <a:tcPr anchor="ctr">
                    <a:solidFill>
                      <a:srgbClr val="FFFFFF"/>
                    </a:solidFill>
                  </a:tcPr>
                </a:tc>
                <a:tc>
                  <a:txBody>
                    <a:bodyPr/>
                    <a:lstStyle/>
                    <a:p>
                      <a:pPr algn="ctr"/>
                      <a:r>
                        <a:rPr sz="1875" b="0">
                          <a:solidFill>
                            <a:srgbClr val="111111"/>
                          </a:solidFill>
                          <a:latin typeface="Aptos"/>
                          <a:ea typeface="Aptos"/>
                          <a:cs typeface="Aptos"/>
                        </a:rPr>
                        <a:t>2</a:t>
                      </a:r>
                    </a:p>
                  </a:txBody>
                  <a:tcPr anchor="ctr">
                    <a:solidFill>
                      <a:srgbClr val="FFFFFF"/>
                    </a:solidFill>
                  </a:tcPr>
                </a:tc>
                <a:tc>
                  <a:txBody>
                    <a:bodyPr/>
                    <a:lstStyle/>
                    <a:p>
                      <a:pPr algn="ctr"/>
                      <a:r>
                        <a:rPr sz="1875" b="0">
                          <a:solidFill>
                            <a:srgbClr val="111111"/>
                          </a:solidFill>
                          <a:latin typeface="Aptos"/>
                          <a:ea typeface="Aptos"/>
                          <a:cs typeface="Aptos"/>
                        </a:rPr>
                        <a:t>4</a:t>
                      </a:r>
                    </a:p>
                  </a:txBody>
                  <a:tcPr anchor="ctr">
                    <a:solidFill>
                      <a:srgbClr val="FFFFFF"/>
                    </a:solidFill>
                  </a:tcPr>
                </a:tc>
                <a:tc>
                  <a:txBody>
                    <a:bodyPr/>
                    <a:lstStyle/>
                    <a:p>
                      <a:pPr algn="ctr"/>
                      <a:r>
                        <a:rPr sz="1875" b="0">
                          <a:solidFill>
                            <a:srgbClr val="111111"/>
                          </a:solidFill>
                          <a:latin typeface="Aptos"/>
                          <a:ea typeface="Aptos"/>
                          <a:cs typeface="Aptos"/>
                        </a:rPr>
                        <a:t>8%</a:t>
                      </a:r>
                    </a:p>
                  </a:txBody>
                  <a:tcPr anchor="ctr">
                    <a:solidFill>
                      <a:srgbClr val="FFFFFF"/>
                    </a:solidFill>
                  </a:tcPr>
                </a:tc>
                <a:extLst>
                  <a:ext uri="{0D108BD9-81ED-4DB2-BD59-A6C34878D82A}">
                    <a16:rowId xmlns:a16="http://schemas.microsoft.com/office/drawing/2014/main" val="10001"/>
                  </a:ext>
                </a:extLst>
              </a:tr>
              <a:tr h="428625">
                <a:tc>
                  <a:txBody>
                    <a:bodyPr/>
                    <a:lstStyle/>
                    <a:p>
                      <a:pPr algn="l"/>
                      <a:r>
                        <a:rPr sz="1875" b="0">
                          <a:solidFill>
                            <a:srgbClr val="111111"/>
                          </a:solidFill>
                          <a:latin typeface="Aptos"/>
                          <a:ea typeface="Aptos"/>
                          <a:cs typeface="Aptos"/>
                        </a:rPr>
                        <a:t>20 ≤ x &lt; 30</a:t>
                      </a:r>
                    </a:p>
                  </a:txBody>
                  <a:tcPr anchor="ctr">
                    <a:solidFill>
                      <a:srgbClr val="EDF7FD"/>
                    </a:solidFill>
                  </a:tcPr>
                </a:tc>
                <a:tc>
                  <a:txBody>
                    <a:bodyPr/>
                    <a:lstStyle/>
                    <a:p>
                      <a:pPr algn="ctr"/>
                      <a:r>
                        <a:rPr sz="1875" b="0">
                          <a:solidFill>
                            <a:srgbClr val="111111"/>
                          </a:solidFill>
                          <a:latin typeface="Aptos"/>
                          <a:ea typeface="Aptos"/>
                          <a:cs typeface="Aptos"/>
                        </a:rPr>
                        <a:t>7</a:t>
                      </a:r>
                    </a:p>
                  </a:txBody>
                  <a:tcPr anchor="ctr">
                    <a:solidFill>
                      <a:srgbClr val="EDF7FD"/>
                    </a:solidFill>
                  </a:tcPr>
                </a:tc>
                <a:tc>
                  <a:txBody>
                    <a:bodyPr/>
                    <a:lstStyle/>
                    <a:p>
                      <a:pPr algn="ctr"/>
                      <a:r>
                        <a:rPr sz="1875" b="0">
                          <a:solidFill>
                            <a:srgbClr val="111111"/>
                          </a:solidFill>
                          <a:latin typeface="Aptos"/>
                          <a:ea typeface="Aptos"/>
                          <a:cs typeface="Aptos"/>
                        </a:rPr>
                        <a:t>14</a:t>
                      </a:r>
                    </a:p>
                  </a:txBody>
                  <a:tcPr anchor="ctr">
                    <a:solidFill>
                      <a:srgbClr val="EDF7FD"/>
                    </a:solidFill>
                  </a:tcPr>
                </a:tc>
                <a:tc>
                  <a:txBody>
                    <a:bodyPr/>
                    <a:lstStyle/>
                    <a:p>
                      <a:pPr algn="ctr"/>
                      <a:r>
                        <a:rPr sz="1875" b="0">
                          <a:solidFill>
                            <a:srgbClr val="111111"/>
                          </a:solidFill>
                          <a:latin typeface="Aptos"/>
                          <a:ea typeface="Aptos"/>
                          <a:cs typeface="Aptos"/>
                        </a:rPr>
                        <a:t>28%</a:t>
                      </a:r>
                    </a:p>
                  </a:txBody>
                  <a:tcPr anchor="ctr">
                    <a:solidFill>
                      <a:srgbClr val="EDF7FD"/>
                    </a:solidFill>
                  </a:tcPr>
                </a:tc>
                <a:extLst>
                  <a:ext uri="{0D108BD9-81ED-4DB2-BD59-A6C34878D82A}">
                    <a16:rowId xmlns:a16="http://schemas.microsoft.com/office/drawing/2014/main" val="10002"/>
                  </a:ext>
                </a:extLst>
              </a:tr>
              <a:tr h="428625">
                <a:tc>
                  <a:txBody>
                    <a:bodyPr/>
                    <a:lstStyle/>
                    <a:p>
                      <a:pPr algn="l"/>
                      <a:r>
                        <a:rPr sz="1875" b="0">
                          <a:solidFill>
                            <a:srgbClr val="111111"/>
                          </a:solidFill>
                          <a:latin typeface="Aptos"/>
                          <a:ea typeface="Aptos"/>
                          <a:cs typeface="Aptos"/>
                        </a:rPr>
                        <a:t>30 ≤ x &lt; 40</a:t>
                      </a:r>
                    </a:p>
                  </a:txBody>
                  <a:tcPr anchor="ctr">
                    <a:solidFill>
                      <a:srgbClr val="FFFFFF"/>
                    </a:solidFill>
                  </a:tcPr>
                </a:tc>
                <a:tc>
                  <a:txBody>
                    <a:bodyPr/>
                    <a:lstStyle/>
                    <a:p>
                      <a:pPr algn="ctr"/>
                      <a:r>
                        <a:rPr sz="1875" b="0">
                          <a:solidFill>
                            <a:srgbClr val="111111"/>
                          </a:solidFill>
                          <a:latin typeface="Aptos"/>
                          <a:ea typeface="Aptos"/>
                          <a:cs typeface="Aptos"/>
                        </a:rPr>
                        <a:t>10</a:t>
                      </a:r>
                    </a:p>
                  </a:txBody>
                  <a:tcPr anchor="ctr">
                    <a:solidFill>
                      <a:srgbClr val="FFFFFF"/>
                    </a:solidFill>
                  </a:tcPr>
                </a:tc>
                <a:tc>
                  <a:txBody>
                    <a:bodyPr/>
                    <a:lstStyle/>
                    <a:p>
                      <a:pPr algn="ctr"/>
                      <a:r>
                        <a:rPr sz="1875" b="0">
                          <a:solidFill>
                            <a:srgbClr val="111111"/>
                          </a:solidFill>
                          <a:latin typeface="Aptos"/>
                          <a:ea typeface="Aptos"/>
                          <a:cs typeface="Aptos"/>
                        </a:rPr>
                        <a:t>20</a:t>
                      </a:r>
                    </a:p>
                  </a:txBody>
                  <a:tcPr anchor="ctr">
                    <a:solidFill>
                      <a:srgbClr val="FFFFFF"/>
                    </a:solidFill>
                  </a:tcPr>
                </a:tc>
                <a:tc>
                  <a:txBody>
                    <a:bodyPr/>
                    <a:lstStyle/>
                    <a:p>
                      <a:pPr algn="ctr"/>
                      <a:r>
                        <a:rPr sz="1875" b="0">
                          <a:solidFill>
                            <a:srgbClr val="111111"/>
                          </a:solidFill>
                          <a:latin typeface="Aptos"/>
                          <a:ea typeface="Aptos"/>
                          <a:cs typeface="Aptos"/>
                        </a:rPr>
                        <a:t>40%</a:t>
                      </a:r>
                    </a:p>
                  </a:txBody>
                  <a:tcPr anchor="ctr">
                    <a:solidFill>
                      <a:srgbClr val="FFFFFF"/>
                    </a:solidFill>
                  </a:tcPr>
                </a:tc>
                <a:extLst>
                  <a:ext uri="{0D108BD9-81ED-4DB2-BD59-A6C34878D82A}">
                    <a16:rowId xmlns:a16="http://schemas.microsoft.com/office/drawing/2014/main" val="10003"/>
                  </a:ext>
                </a:extLst>
              </a:tr>
              <a:tr h="428625">
                <a:tc>
                  <a:txBody>
                    <a:bodyPr/>
                    <a:lstStyle/>
                    <a:p>
                      <a:pPr algn="l"/>
                      <a:r>
                        <a:rPr sz="1875" b="0">
                          <a:solidFill>
                            <a:srgbClr val="111111"/>
                          </a:solidFill>
                          <a:latin typeface="Aptos"/>
                          <a:ea typeface="Aptos"/>
                          <a:cs typeface="Aptos"/>
                        </a:rPr>
                        <a:t>40 ≤ x &lt; 50</a:t>
                      </a:r>
                    </a:p>
                  </a:txBody>
                  <a:tcPr anchor="ctr">
                    <a:solidFill>
                      <a:srgbClr val="EDF7FD"/>
                    </a:solidFill>
                  </a:tcPr>
                </a:tc>
                <a:tc>
                  <a:txBody>
                    <a:bodyPr/>
                    <a:lstStyle/>
                    <a:p>
                      <a:pPr algn="ctr"/>
                      <a:r>
                        <a:rPr sz="1875" b="0">
                          <a:solidFill>
                            <a:srgbClr val="111111"/>
                          </a:solidFill>
                          <a:latin typeface="Aptos"/>
                          <a:ea typeface="Aptos"/>
                          <a:cs typeface="Aptos"/>
                        </a:rPr>
                        <a:t>6</a:t>
                      </a:r>
                    </a:p>
                  </a:txBody>
                  <a:tcPr anchor="ctr">
                    <a:solidFill>
                      <a:srgbClr val="EDF7FD"/>
                    </a:solidFill>
                  </a:tcPr>
                </a:tc>
                <a:tc>
                  <a:txBody>
                    <a:bodyPr/>
                    <a:lstStyle/>
                    <a:p>
                      <a:pPr algn="ctr"/>
                      <a:r>
                        <a:rPr sz="1875" b="0">
                          <a:solidFill>
                            <a:srgbClr val="111111"/>
                          </a:solidFill>
                          <a:latin typeface="Aptos"/>
                          <a:ea typeface="Aptos"/>
                          <a:cs typeface="Aptos"/>
                        </a:rPr>
                        <a:t>12</a:t>
                      </a:r>
                    </a:p>
                  </a:txBody>
                  <a:tcPr anchor="ctr">
                    <a:solidFill>
                      <a:srgbClr val="EDF7FD"/>
                    </a:solidFill>
                  </a:tcPr>
                </a:tc>
                <a:tc>
                  <a:txBody>
                    <a:bodyPr/>
                    <a:lstStyle/>
                    <a:p>
                      <a:pPr algn="ctr"/>
                      <a:r>
                        <a:rPr sz="1875" b="0">
                          <a:solidFill>
                            <a:srgbClr val="111111"/>
                          </a:solidFill>
                          <a:latin typeface="Aptos"/>
                          <a:ea typeface="Aptos"/>
                          <a:cs typeface="Aptos"/>
                        </a:rPr>
                        <a:t>24%</a:t>
                      </a:r>
                    </a:p>
                  </a:txBody>
                  <a:tcPr anchor="ctr">
                    <a:solidFill>
                      <a:srgbClr val="EDF7FD"/>
                    </a:solidFill>
                  </a:tcPr>
                </a:tc>
                <a:extLst>
                  <a:ext uri="{0D108BD9-81ED-4DB2-BD59-A6C34878D82A}">
                    <a16:rowId xmlns:a16="http://schemas.microsoft.com/office/drawing/2014/main" val="10004"/>
                  </a:ext>
                </a:extLst>
              </a:tr>
            </a:tbl>
          </a:graphicData>
        </a:graphic>
      </p:graphicFrame>
      <p:sp>
        <p:nvSpPr>
          <p:cNvPr id="6" name="Numerator 2">
            <a:extLst>
              <a:ext uri="{FF2B5EF4-FFF2-40B4-BE49-F238E27FC236}">
                <a16:creationId xmlns:a16="http://schemas.microsoft.com/office/drawing/2014/main" id="{0FD3C191-021D-434E-9EED-F755E9BB96FD}"/>
              </a:ext>
            </a:extLst>
          </p:cNvPr>
          <p:cNvSpPr>
            <a:spLocks noGrp="1"/>
          </p:cNvSpPr>
          <p:nvPr/>
        </p:nvSpPr>
        <p:spPr>
          <a:xfrm>
            <a:off x="952500" y="5048250"/>
            <a:ext cx="714375" cy="371475"/>
          </a:xfrm>
          <a:prstGeom prst="rect">
            <a:avLst/>
          </a:prstGeom>
          <a:noFill/>
          <a:ln w="0">
            <a:noFill/>
          </a:ln>
        </p:spPr>
        <p:txBody>
          <a:bodyPr anchor="t">
            <a:noAutofit/>
          </a:bodyPr>
          <a:lstStyle/>
          <a:p>
            <a:pPr algn="ctr">
              <a:defRPr sz="2175" b="0">
                <a:solidFill>
                  <a:srgbClr val="111111"/>
                </a:solidFill>
                <a:latin typeface="Aptos"/>
                <a:ea typeface="Aptos"/>
                <a:cs typeface="Aptos"/>
              </a:defRPr>
            </a:pPr>
            <a:r>
              <a:rPr sz="2175" b="0">
                <a:solidFill>
                  <a:srgbClr val="111111"/>
                </a:solidFill>
                <a:latin typeface="Aptos"/>
                <a:ea typeface="Aptos"/>
                <a:cs typeface="Aptos"/>
              </a:rPr>
              <a:t>2</a:t>
            </a:r>
          </a:p>
        </p:txBody>
      </p:sp>
      <p:sp>
        <p:nvSpPr>
          <p:cNvPr id="7" name="Fraction bar">
            <a:extLst>
              <a:ext uri="{FF2B5EF4-FFF2-40B4-BE49-F238E27FC236}">
                <a16:creationId xmlns:a16="http://schemas.microsoft.com/office/drawing/2014/main" id="{BEDD48C0-5778-4F8F-8170-061CA36169BD}"/>
              </a:ext>
            </a:extLst>
          </p:cNvPr>
          <p:cNvSpPr>
            <a:spLocks noGrp="1"/>
          </p:cNvSpPr>
          <p:nvPr/>
        </p:nvSpPr>
        <p:spPr>
          <a:xfrm>
            <a:off x="952500" y="5419725"/>
            <a:ext cx="714375" cy="11430"/>
          </a:xfrm>
          <a:prstGeom prst="rect">
            <a:avLst/>
          </a:prstGeom>
          <a:solidFill>
            <a:srgbClr val="111111"/>
          </a:solidFill>
          <a:ln w="0">
            <a:noFill/>
          </a:ln>
        </p:spPr>
        <p:txBody>
          <a:bodyPr/>
          <a:lstStyle/>
          <a:p>
            <a:endParaRPr lang="en-US"/>
          </a:p>
        </p:txBody>
      </p:sp>
      <p:sp>
        <p:nvSpPr>
          <p:cNvPr id="8" name="Denominator 25">
            <a:extLst>
              <a:ext uri="{FF2B5EF4-FFF2-40B4-BE49-F238E27FC236}">
                <a16:creationId xmlns:a16="http://schemas.microsoft.com/office/drawing/2014/main" id="{3ACDFEF6-E3A6-4B62-BF25-B191C378B2C0}"/>
              </a:ext>
            </a:extLst>
          </p:cNvPr>
          <p:cNvSpPr>
            <a:spLocks noGrp="1"/>
          </p:cNvSpPr>
          <p:nvPr/>
        </p:nvSpPr>
        <p:spPr>
          <a:xfrm>
            <a:off x="952500" y="5476875"/>
            <a:ext cx="714375" cy="371475"/>
          </a:xfrm>
          <a:prstGeom prst="rect">
            <a:avLst/>
          </a:prstGeom>
          <a:noFill/>
          <a:ln w="0">
            <a:noFill/>
          </a:ln>
        </p:spPr>
        <p:txBody>
          <a:bodyPr anchor="t">
            <a:noAutofit/>
          </a:bodyPr>
          <a:lstStyle/>
          <a:p>
            <a:pPr algn="ctr">
              <a:defRPr sz="2175" b="0">
                <a:solidFill>
                  <a:srgbClr val="111111"/>
                </a:solidFill>
                <a:latin typeface="Aptos"/>
                <a:ea typeface="Aptos"/>
                <a:cs typeface="Aptos"/>
              </a:defRPr>
            </a:pPr>
            <a:r>
              <a:rPr sz="2175" b="0">
                <a:solidFill>
                  <a:srgbClr val="111111"/>
                </a:solidFill>
                <a:latin typeface="Aptos"/>
                <a:ea typeface="Aptos"/>
                <a:cs typeface="Aptos"/>
              </a:rPr>
              <a:t>25</a:t>
            </a:r>
          </a:p>
        </p:txBody>
      </p:sp>
      <p:sp>
        <p:nvSpPr>
          <p:cNvPr id="9" name="First share">
            <a:extLst>
              <a:ext uri="{FF2B5EF4-FFF2-40B4-BE49-F238E27FC236}">
                <a16:creationId xmlns:a16="http://schemas.microsoft.com/office/drawing/2014/main" id="{9757BAD5-BA67-4420-931C-E5E1EA320BB0}"/>
              </a:ext>
            </a:extLst>
          </p:cNvPr>
          <p:cNvSpPr>
            <a:spLocks noGrp="1"/>
          </p:cNvSpPr>
          <p:nvPr/>
        </p:nvSpPr>
        <p:spPr>
          <a:xfrm>
            <a:off x="1809750" y="5229225"/>
            <a:ext cx="3714750" cy="428625"/>
          </a:xfrm>
          <a:prstGeom prst="rect">
            <a:avLst/>
          </a:prstGeom>
          <a:noFill/>
          <a:ln w="0">
            <a:noFill/>
          </a:ln>
        </p:spPr>
        <p:txBody>
          <a:bodyPr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 0.08 = 8%</a:t>
            </a:r>
          </a:p>
        </p:txBody>
      </p:sp>
      <p:sp>
        <p:nvSpPr>
          <p:cNvPr id="10" name="Numerator 4">
            <a:extLst>
              <a:ext uri="{FF2B5EF4-FFF2-40B4-BE49-F238E27FC236}">
                <a16:creationId xmlns:a16="http://schemas.microsoft.com/office/drawing/2014/main" id="{521B04EB-1299-402D-B0F9-1508730F7536}"/>
              </a:ext>
            </a:extLst>
          </p:cNvPr>
          <p:cNvSpPr>
            <a:spLocks noGrp="1"/>
          </p:cNvSpPr>
          <p:nvPr/>
        </p:nvSpPr>
        <p:spPr>
          <a:xfrm>
            <a:off x="6381750" y="5048250"/>
            <a:ext cx="714375" cy="371475"/>
          </a:xfrm>
          <a:prstGeom prst="rect">
            <a:avLst/>
          </a:prstGeom>
          <a:noFill/>
          <a:ln w="0">
            <a:noFill/>
          </a:ln>
        </p:spPr>
        <p:txBody>
          <a:bodyPr anchor="t">
            <a:noAutofit/>
          </a:bodyPr>
          <a:lstStyle/>
          <a:p>
            <a:pPr algn="ctr">
              <a:defRPr sz="2175" b="0">
                <a:solidFill>
                  <a:srgbClr val="111111"/>
                </a:solidFill>
                <a:latin typeface="Aptos"/>
                <a:ea typeface="Aptos"/>
                <a:cs typeface="Aptos"/>
              </a:defRPr>
            </a:pPr>
            <a:r>
              <a:rPr sz="2175" b="0">
                <a:solidFill>
                  <a:srgbClr val="111111"/>
                </a:solidFill>
                <a:latin typeface="Aptos"/>
                <a:ea typeface="Aptos"/>
                <a:cs typeface="Aptos"/>
              </a:rPr>
              <a:t>4</a:t>
            </a:r>
          </a:p>
        </p:txBody>
      </p:sp>
      <p:sp>
        <p:nvSpPr>
          <p:cNvPr id="11" name="Fraction bar">
            <a:extLst>
              <a:ext uri="{FF2B5EF4-FFF2-40B4-BE49-F238E27FC236}">
                <a16:creationId xmlns:a16="http://schemas.microsoft.com/office/drawing/2014/main" id="{8BBCB947-5980-4F7C-B4DD-EFA0D6DB2F35}"/>
              </a:ext>
            </a:extLst>
          </p:cNvPr>
          <p:cNvSpPr>
            <a:spLocks noGrp="1"/>
          </p:cNvSpPr>
          <p:nvPr/>
        </p:nvSpPr>
        <p:spPr>
          <a:xfrm>
            <a:off x="6381750" y="5419725"/>
            <a:ext cx="714375" cy="11430"/>
          </a:xfrm>
          <a:prstGeom prst="rect">
            <a:avLst/>
          </a:prstGeom>
          <a:solidFill>
            <a:srgbClr val="111111"/>
          </a:solidFill>
          <a:ln w="0">
            <a:noFill/>
          </a:ln>
        </p:spPr>
        <p:txBody>
          <a:bodyPr/>
          <a:lstStyle/>
          <a:p>
            <a:endParaRPr lang="en-US"/>
          </a:p>
        </p:txBody>
      </p:sp>
      <p:sp>
        <p:nvSpPr>
          <p:cNvPr id="12" name="Denominator 50">
            <a:extLst>
              <a:ext uri="{FF2B5EF4-FFF2-40B4-BE49-F238E27FC236}">
                <a16:creationId xmlns:a16="http://schemas.microsoft.com/office/drawing/2014/main" id="{B026E331-E8EE-4AD5-8DB3-BB70EA3A8893}"/>
              </a:ext>
            </a:extLst>
          </p:cNvPr>
          <p:cNvSpPr>
            <a:spLocks noGrp="1"/>
          </p:cNvSpPr>
          <p:nvPr/>
        </p:nvSpPr>
        <p:spPr>
          <a:xfrm>
            <a:off x="6381750" y="5476875"/>
            <a:ext cx="714375" cy="371475"/>
          </a:xfrm>
          <a:prstGeom prst="rect">
            <a:avLst/>
          </a:prstGeom>
          <a:noFill/>
          <a:ln w="0">
            <a:noFill/>
          </a:ln>
        </p:spPr>
        <p:txBody>
          <a:bodyPr anchor="t">
            <a:noAutofit/>
          </a:bodyPr>
          <a:lstStyle/>
          <a:p>
            <a:pPr algn="ctr">
              <a:defRPr sz="2175" b="0">
                <a:solidFill>
                  <a:srgbClr val="111111"/>
                </a:solidFill>
                <a:latin typeface="Aptos"/>
                <a:ea typeface="Aptos"/>
                <a:cs typeface="Aptos"/>
              </a:defRPr>
            </a:pPr>
            <a:r>
              <a:rPr sz="2175" b="0">
                <a:solidFill>
                  <a:srgbClr val="111111"/>
                </a:solidFill>
                <a:latin typeface="Aptos"/>
                <a:ea typeface="Aptos"/>
                <a:cs typeface="Aptos"/>
              </a:rPr>
              <a:t>50</a:t>
            </a:r>
          </a:p>
        </p:txBody>
      </p:sp>
      <p:sp>
        <p:nvSpPr>
          <p:cNvPr id="13" name="Second share">
            <a:extLst>
              <a:ext uri="{FF2B5EF4-FFF2-40B4-BE49-F238E27FC236}">
                <a16:creationId xmlns:a16="http://schemas.microsoft.com/office/drawing/2014/main" id="{A98814B7-54BE-4054-AF17-98D8582FD598}"/>
              </a:ext>
            </a:extLst>
          </p:cNvPr>
          <p:cNvSpPr>
            <a:spLocks noGrp="1"/>
          </p:cNvSpPr>
          <p:nvPr/>
        </p:nvSpPr>
        <p:spPr>
          <a:xfrm>
            <a:off x="7239000" y="5229225"/>
            <a:ext cx="3714750" cy="428625"/>
          </a:xfrm>
          <a:prstGeom prst="rect">
            <a:avLst/>
          </a:prstGeom>
          <a:noFill/>
          <a:ln w="0">
            <a:noFill/>
          </a:ln>
        </p:spPr>
        <p:txBody>
          <a:bodyPr anchor="t">
            <a:noAutofit/>
          </a:bodyPr>
          <a:lstStyle/>
          <a:p>
            <a:pPr algn="l">
              <a:defRPr sz="2400" b="0">
                <a:solidFill>
                  <a:srgbClr val="111111"/>
                </a:solidFill>
                <a:latin typeface="Aptos"/>
                <a:ea typeface="Aptos"/>
                <a:cs typeface="Aptos"/>
              </a:defRPr>
            </a:pPr>
            <a:r>
              <a:rPr sz="2400" b="0">
                <a:solidFill>
                  <a:srgbClr val="111111"/>
                </a:solidFill>
                <a:latin typeface="Aptos"/>
                <a:ea typeface="Aptos"/>
                <a:cs typeface="Aptos"/>
              </a:rPr>
              <a:t>= 0.08 = 8%</a:t>
            </a:r>
          </a:p>
        </p:txBody>
      </p:sp>
    </p:spTree>
    <p:extLst>
      <p:ext uri="{BB962C8B-B14F-4D97-AF65-F5344CB8AC3E}">
        <p14:creationId xmlns:p14="http://schemas.microsoft.com/office/powerpoint/2010/main" val="577846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title">
            <a:extLst>
              <a:ext uri="{FF2B5EF4-FFF2-40B4-BE49-F238E27FC236}">
                <a16:creationId xmlns:a16="http://schemas.microsoft.com/office/drawing/2014/main" id="{F95752A5-EAB2-4776-A264-E1565D798987}"/>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two polygon scales</a:t>
            </a:r>
          </a:p>
        </p:txBody>
      </p:sp>
      <p:sp>
        <p:nvSpPr>
          <p:cNvPr id="2" name="Text">
            <a:extLst>
              <a:ext uri="{FF2B5EF4-FFF2-40B4-BE49-F238E27FC236}">
                <a16:creationId xmlns:a16="http://schemas.microsoft.com/office/drawing/2014/main" id="{8F0497EC-8C2C-47EE-9C2C-685944C41C15}"/>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Use the Smoothie Club table again.</a:t>
            </a:r>
          </a:p>
        </p:txBody>
      </p:sp>
      <p:sp>
        <p:nvSpPr>
          <p:cNvPr id="3" name="Rectangle 2">
            <a:extLst>
              <a:ext uri="{FF2B5EF4-FFF2-40B4-BE49-F238E27FC236}">
                <a16:creationId xmlns:a16="http://schemas.microsoft.com/office/drawing/2014/main" id="{56006C00-B2D0-4ABD-8941-F982BD3AB59E}"/>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E5E254AC-1CBC-4C37-9B00-29BA05638C20}"/>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B2</a:t>
            </a:r>
          </a:p>
        </p:txBody>
      </p:sp>
      <p:graphicFrame>
        <p:nvGraphicFramePr>
          <p:cNvPr id="17" name="Table 16"/>
          <p:cNvGraphicFramePr/>
          <p:nvPr/>
        </p:nvGraphicFramePr>
        <p:xfrm>
          <a:off x="619125" y="2933700"/>
          <a:ext cx="5905500" cy="2667000"/>
        </p:xfrm>
        <a:graphic>
          <a:graphicData uri="http://schemas.openxmlformats.org/drawingml/2006/table">
            <a:tbl>
              <a:tblPr firstRow="1"/>
              <a:tblGrid>
                <a:gridCol w="2047875">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533400">
                <a:tc>
                  <a:txBody>
                    <a:bodyPr/>
                    <a:lstStyle/>
                    <a:p>
                      <a:pPr algn="l">
                        <a:buNone/>
                      </a:pPr>
                      <a:r>
                        <a:rPr sz="2175" b="1">
                          <a:solidFill>
                            <a:srgbClr val="FFFFFF"/>
                          </a:solidFill>
                          <a:latin typeface="Aptos"/>
                          <a:ea typeface="Aptos"/>
                          <a:cs typeface="Aptos"/>
                        </a:rPr>
                        <a:t>Midpoint</a:t>
                      </a:r>
                    </a:p>
                  </a:txBody>
                  <a:tcPr anchor="ctr">
                    <a:solidFill>
                      <a:srgbClr val="D6171D"/>
                    </a:solidFill>
                  </a:tcPr>
                </a:tc>
                <a:tc>
                  <a:txBody>
                    <a:bodyPr/>
                    <a:lstStyle/>
                    <a:p>
                      <a:pPr algn="ctr">
                        <a:buNone/>
                      </a:pPr>
                      <a:r>
                        <a:rPr sz="2175" b="1">
                          <a:solidFill>
                            <a:srgbClr val="FFFFFF"/>
                          </a:solidFill>
                          <a:latin typeface="Aptos"/>
                          <a:ea typeface="Aptos"/>
                          <a:cs typeface="Aptos"/>
                        </a:rPr>
                        <a:t>Frequency</a:t>
                      </a:r>
                    </a:p>
                  </a:txBody>
                  <a:tcPr anchor="ctr">
                    <a:solidFill>
                      <a:srgbClr val="D6171D"/>
                    </a:solidFill>
                  </a:tcPr>
                </a:tc>
                <a:tc>
                  <a:txBody>
                    <a:bodyPr/>
                    <a:lstStyle/>
                    <a:p>
                      <a:pPr algn="ctr">
                        <a:buNone/>
                      </a:pPr>
                      <a:r>
                        <a:rPr sz="2175" b="1">
                          <a:solidFill>
                            <a:srgbClr val="FFFFFF"/>
                          </a:solidFill>
                          <a:latin typeface="Aptos"/>
                          <a:ea typeface="Aptos"/>
                          <a:cs typeface="Aptos"/>
                        </a:rPr>
                        <a:t>Percentage</a:t>
                      </a:r>
                    </a:p>
                  </a:txBody>
                  <a:tcPr anchor="ctr">
                    <a:solidFill>
                      <a:srgbClr val="D6171D"/>
                    </a:solidFill>
                  </a:tcPr>
                </a:tc>
                <a:extLst>
                  <a:ext uri="{0D108BD9-81ED-4DB2-BD59-A6C34878D82A}">
                    <a16:rowId xmlns:a16="http://schemas.microsoft.com/office/drawing/2014/main" val="10000"/>
                  </a:ext>
                </a:extLst>
              </a:tr>
              <a:tr h="533400">
                <a:tc>
                  <a:txBody>
                    <a:bodyPr/>
                    <a:lstStyle/>
                    <a:p>
                      <a:pPr algn="l">
                        <a:buNone/>
                      </a:pPr>
                      <a:r>
                        <a:rPr sz="2175" b="0">
                          <a:solidFill>
                            <a:srgbClr val="111111"/>
                          </a:solidFill>
                          <a:latin typeface="Aptos"/>
                          <a:ea typeface="Aptos"/>
                          <a:cs typeface="Aptos"/>
                        </a:rPr>
                        <a:t>15</a:t>
                      </a:r>
                    </a:p>
                  </a:txBody>
                  <a:tcPr anchor="ctr">
                    <a:solidFill>
                      <a:srgbClr val="FFFFFF"/>
                    </a:solidFill>
                  </a:tcPr>
                </a:tc>
                <a:tc>
                  <a:txBody>
                    <a:bodyPr/>
                    <a:lstStyle/>
                    <a:p>
                      <a:pPr algn="ctr">
                        <a:buNone/>
                      </a:pPr>
                      <a:r>
                        <a:rPr sz="2175" b="0">
                          <a:solidFill>
                            <a:srgbClr val="111111"/>
                          </a:solidFill>
                          <a:latin typeface="Aptos"/>
                          <a:ea typeface="Aptos"/>
                          <a:cs typeface="Aptos"/>
                        </a:rPr>
                        <a:t>4</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1"/>
                  </a:ext>
                </a:extLst>
              </a:tr>
              <a:tr h="533400">
                <a:tc>
                  <a:txBody>
                    <a:bodyPr/>
                    <a:lstStyle/>
                    <a:p>
                      <a:pPr algn="l">
                        <a:buNone/>
                      </a:pPr>
                      <a:r>
                        <a:rPr sz="2175" b="0">
                          <a:solidFill>
                            <a:srgbClr val="111111"/>
                          </a:solidFill>
                          <a:latin typeface="Aptos"/>
                          <a:ea typeface="Aptos"/>
                          <a:cs typeface="Aptos"/>
                        </a:rPr>
                        <a:t>25</a:t>
                      </a:r>
                    </a:p>
                  </a:txBody>
                  <a:tcPr anchor="ctr">
                    <a:solidFill>
                      <a:srgbClr val="EEF8FE"/>
                    </a:solidFill>
                  </a:tcPr>
                </a:tc>
                <a:tc>
                  <a:txBody>
                    <a:bodyPr/>
                    <a:lstStyle/>
                    <a:p>
                      <a:pPr algn="ctr">
                        <a:buNone/>
                      </a:pPr>
                      <a:r>
                        <a:rPr sz="2175" b="0">
                          <a:solidFill>
                            <a:srgbClr val="111111"/>
                          </a:solidFill>
                          <a:latin typeface="Aptos"/>
                          <a:ea typeface="Aptos"/>
                          <a:cs typeface="Aptos"/>
                        </a:rPr>
                        <a:t>8</a:t>
                      </a:r>
                    </a:p>
                  </a:txBody>
                  <a:tcPr anchor="ctr">
                    <a:solidFill>
                      <a:srgbClr val="EEF8FE"/>
                    </a:solidFill>
                  </a:tcPr>
                </a:tc>
                <a:tc>
                  <a:txBody>
                    <a:bodyPr/>
                    <a:lstStyle/>
                    <a:p>
                      <a:endParaRPr/>
                    </a:p>
                  </a:txBody>
                  <a:tcPr anchor="ctr">
                    <a:solidFill>
                      <a:srgbClr val="EEF8FE"/>
                    </a:solidFill>
                  </a:tcPr>
                </a:tc>
                <a:extLst>
                  <a:ext uri="{0D108BD9-81ED-4DB2-BD59-A6C34878D82A}">
                    <a16:rowId xmlns:a16="http://schemas.microsoft.com/office/drawing/2014/main" val="10002"/>
                  </a:ext>
                </a:extLst>
              </a:tr>
              <a:tr h="533400">
                <a:tc>
                  <a:txBody>
                    <a:bodyPr/>
                    <a:lstStyle/>
                    <a:p>
                      <a:pPr algn="l">
                        <a:buNone/>
                      </a:pPr>
                      <a:r>
                        <a:rPr sz="2175" b="0">
                          <a:solidFill>
                            <a:srgbClr val="111111"/>
                          </a:solidFill>
                          <a:latin typeface="Aptos"/>
                          <a:ea typeface="Aptos"/>
                          <a:cs typeface="Aptos"/>
                        </a:rPr>
                        <a:t>35</a:t>
                      </a:r>
                    </a:p>
                  </a:txBody>
                  <a:tcPr anchor="ctr">
                    <a:solidFill>
                      <a:srgbClr val="FFFFFF"/>
                    </a:solidFill>
                  </a:tcPr>
                </a:tc>
                <a:tc>
                  <a:txBody>
                    <a:bodyPr/>
                    <a:lstStyle/>
                    <a:p>
                      <a:pPr algn="ctr">
                        <a:buNone/>
                      </a:pPr>
                      <a:r>
                        <a:rPr sz="2175" b="0">
                          <a:solidFill>
                            <a:srgbClr val="111111"/>
                          </a:solidFill>
                          <a:latin typeface="Aptos"/>
                          <a:ea typeface="Aptos"/>
                          <a:cs typeface="Aptos"/>
                        </a:rPr>
                        <a:t>6</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3"/>
                  </a:ext>
                </a:extLst>
              </a:tr>
              <a:tr h="533400">
                <a:tc>
                  <a:txBody>
                    <a:bodyPr/>
                    <a:lstStyle/>
                    <a:p>
                      <a:pPr algn="l">
                        <a:buNone/>
                      </a:pPr>
                      <a:r>
                        <a:rPr sz="2175" b="0">
                          <a:solidFill>
                            <a:srgbClr val="111111"/>
                          </a:solidFill>
                          <a:latin typeface="Aptos"/>
                          <a:ea typeface="Aptos"/>
                          <a:cs typeface="Aptos"/>
                        </a:rPr>
                        <a:t>45</a:t>
                      </a:r>
                    </a:p>
                  </a:txBody>
                  <a:tcPr anchor="ctr">
                    <a:solidFill>
                      <a:srgbClr val="EEF8FE"/>
                    </a:solidFill>
                  </a:tcPr>
                </a:tc>
                <a:tc>
                  <a:txBody>
                    <a:bodyPr/>
                    <a:lstStyle/>
                    <a:p>
                      <a:pPr algn="ctr">
                        <a:buNone/>
                      </a:pPr>
                      <a:r>
                        <a:rPr sz="2175" b="0">
                          <a:solidFill>
                            <a:srgbClr val="111111"/>
                          </a:solidFill>
                          <a:latin typeface="Aptos"/>
                          <a:ea typeface="Aptos"/>
                          <a:cs typeface="Aptos"/>
                        </a:rPr>
                        <a:t>2</a:t>
                      </a:r>
                    </a:p>
                  </a:txBody>
                  <a:tcPr anchor="ctr">
                    <a:solidFill>
                      <a:srgbClr val="EEF8FE"/>
                    </a:solidFill>
                  </a:tcPr>
                </a:tc>
                <a:tc>
                  <a:txBody>
                    <a:bodyPr/>
                    <a:lstStyle/>
                    <a:p>
                      <a:endParaRPr/>
                    </a:p>
                  </a:txBody>
                  <a:tcPr anchor="ctr">
                    <a:solidFill>
                      <a:srgbClr val="EEF8FE"/>
                    </a:solidFill>
                  </a:tcPr>
                </a:tc>
                <a:extLst>
                  <a:ext uri="{0D108BD9-81ED-4DB2-BD59-A6C34878D82A}">
                    <a16:rowId xmlns:a16="http://schemas.microsoft.com/office/drawing/2014/main" val="10004"/>
                  </a:ext>
                </a:extLst>
              </a:tr>
            </a:tbl>
          </a:graphicData>
        </a:graphic>
      </p:graphicFrame>
      <p:sp>
        <p:nvSpPr>
          <p:cNvPr id="6" name="Text">
            <a:extLst>
              <a:ext uri="{FF2B5EF4-FFF2-40B4-BE49-F238E27FC236}">
                <a16:creationId xmlns:a16="http://schemas.microsoft.com/office/drawing/2014/main" id="{52B6D9CC-81C8-4706-B251-DF9C31565739}"/>
              </a:ext>
            </a:extLst>
          </p:cNvPr>
          <p:cNvSpPr>
            <a:spLocks noGrp="1"/>
          </p:cNvSpPr>
          <p:nvPr/>
        </p:nvSpPr>
        <p:spPr>
          <a:xfrm>
            <a:off x="7105650" y="3000375"/>
            <a:ext cx="4467225" cy="6381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Draw the frequency polygon.</a:t>
            </a:r>
          </a:p>
        </p:txBody>
      </p:sp>
      <p:sp>
        <p:nvSpPr>
          <p:cNvPr id="7" name="Text">
            <a:extLst>
              <a:ext uri="{FF2B5EF4-FFF2-40B4-BE49-F238E27FC236}">
                <a16:creationId xmlns:a16="http://schemas.microsoft.com/office/drawing/2014/main" id="{0BA7653D-72EA-4473-91DA-02214D6058F5}"/>
              </a:ext>
            </a:extLst>
          </p:cNvPr>
          <p:cNvSpPr>
            <a:spLocks noGrp="1"/>
          </p:cNvSpPr>
          <p:nvPr/>
        </p:nvSpPr>
        <p:spPr>
          <a:xfrm>
            <a:off x="7105650" y="3714750"/>
            <a:ext cx="4467225" cy="6381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Calculate each percentage.</a:t>
            </a:r>
          </a:p>
        </p:txBody>
      </p:sp>
      <p:sp>
        <p:nvSpPr>
          <p:cNvPr id="8" name="Text">
            <a:extLst>
              <a:ext uri="{FF2B5EF4-FFF2-40B4-BE49-F238E27FC236}">
                <a16:creationId xmlns:a16="http://schemas.microsoft.com/office/drawing/2014/main" id="{87FE7796-1FB4-43D7-8326-F5106C2B8644}"/>
              </a:ext>
            </a:extLst>
          </p:cNvPr>
          <p:cNvSpPr>
            <a:spLocks noGrp="1"/>
          </p:cNvSpPr>
          <p:nvPr/>
        </p:nvSpPr>
        <p:spPr>
          <a:xfrm>
            <a:off x="7105650" y="4429125"/>
            <a:ext cx="4467225" cy="6381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Draw the version using %.</a:t>
            </a:r>
          </a:p>
        </p:txBody>
      </p:sp>
      <p:sp>
        <p:nvSpPr>
          <p:cNvPr id="9" name="Text">
            <a:extLst>
              <a:ext uri="{FF2B5EF4-FFF2-40B4-BE49-F238E27FC236}">
                <a16:creationId xmlns:a16="http://schemas.microsoft.com/office/drawing/2014/main" id="{2131271D-127D-4EFF-90D7-27B978506CE2}"/>
              </a:ext>
            </a:extLst>
          </p:cNvPr>
          <p:cNvSpPr>
            <a:spLocks noGrp="1"/>
          </p:cNvSpPr>
          <p:nvPr/>
        </p:nvSpPr>
        <p:spPr>
          <a:xfrm>
            <a:off x="7105650" y="5143500"/>
            <a:ext cx="4467225" cy="6381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What changes? What stays the same?</a:t>
            </a:r>
          </a:p>
        </p:txBody>
      </p:sp>
      <p:sp>
        <p:nvSpPr>
          <p:cNvPr id="10" name="Text">
            <a:extLst>
              <a:ext uri="{FF2B5EF4-FFF2-40B4-BE49-F238E27FC236}">
                <a16:creationId xmlns:a16="http://schemas.microsoft.com/office/drawing/2014/main" id="{E287957E-9171-41C6-9782-E4615C267C05}"/>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5½ minutes. Use (5, 0) and (55, 0) to close both polygons.</a:t>
            </a:r>
          </a:p>
        </p:txBody>
      </p:sp>
    </p:spTree>
    <p:extLst>
      <p:ext uri="{BB962C8B-B14F-4D97-AF65-F5344CB8AC3E}">
        <p14:creationId xmlns:p14="http://schemas.microsoft.com/office/powerpoint/2010/main" val="1932835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title">
            <a:extLst>
              <a:ext uri="{FF2B5EF4-FFF2-40B4-BE49-F238E27FC236}">
                <a16:creationId xmlns:a16="http://schemas.microsoft.com/office/drawing/2014/main" id="{52D8A8FF-4A0B-4E03-9121-10973BC2CE77}"/>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Polygon check: same shape, new scale</a:t>
            </a:r>
          </a:p>
        </p:txBody>
      </p:sp>
      <p:sp>
        <p:nvSpPr>
          <p:cNvPr id="2" name="Text">
            <a:extLst>
              <a:ext uri="{FF2B5EF4-FFF2-40B4-BE49-F238E27FC236}">
                <a16:creationId xmlns:a16="http://schemas.microsoft.com/office/drawing/2014/main" id="{23EC0469-0031-46ED-BD95-4D7D733A266D}"/>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Counts show how many sessions. Percentages show each interval’s share.</a:t>
            </a:r>
          </a:p>
        </p:txBody>
      </p:sp>
      <p:sp>
        <p:nvSpPr>
          <p:cNvPr id="3" name="Rectangle 2">
            <a:extLst>
              <a:ext uri="{FF2B5EF4-FFF2-40B4-BE49-F238E27FC236}">
                <a16:creationId xmlns:a16="http://schemas.microsoft.com/office/drawing/2014/main" id="{7EA9DC49-6766-413E-A7C2-676A80E49323}"/>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3ECFEB50-256E-4AD7-B295-785859D30AAF}"/>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B2</a:t>
            </a:r>
          </a:p>
        </p:txBody>
      </p:sp>
      <p:sp>
        <p:nvSpPr>
          <p:cNvPr id="5" name="Text">
            <a:extLst>
              <a:ext uri="{FF2B5EF4-FFF2-40B4-BE49-F238E27FC236}">
                <a16:creationId xmlns:a16="http://schemas.microsoft.com/office/drawing/2014/main" id="{DA1B4CF4-A7C8-40D9-B0DF-BF217D21ABCB}"/>
              </a:ext>
            </a:extLst>
          </p:cNvPr>
          <p:cNvSpPr>
            <a:spLocks noGrp="1"/>
          </p:cNvSpPr>
          <p:nvPr/>
        </p:nvSpPr>
        <p:spPr>
          <a:xfrm>
            <a:off x="619125" y="2790825"/>
            <a:ext cx="4762500" cy="4286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Frequency</a:t>
            </a:r>
          </a:p>
        </p:txBody>
      </p:sp>
      <p:graphicFrame>
        <p:nvGraphicFramePr>
          <p:cNvPr id="18" name="Chart"/>
          <p:cNvGraphicFramePr/>
          <p:nvPr/>
        </p:nvGraphicFramePr>
        <p:xfrm>
          <a:off x="523875" y="3267075"/>
          <a:ext cx="5314950" cy="2362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a:extLst>
              <a:ext uri="{FF2B5EF4-FFF2-40B4-BE49-F238E27FC236}">
                <a16:creationId xmlns:a16="http://schemas.microsoft.com/office/drawing/2014/main" id="{E1E8CFA6-2C22-4871-B4FC-1E60438EA7A3}"/>
              </a:ext>
            </a:extLst>
          </p:cNvPr>
          <p:cNvSpPr>
            <a:spLocks noGrp="1"/>
          </p:cNvSpPr>
          <p:nvPr/>
        </p:nvSpPr>
        <p:spPr>
          <a:xfrm>
            <a:off x="6477000" y="2790825"/>
            <a:ext cx="5048250" cy="4286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Relative frequency (%)</a:t>
            </a:r>
          </a:p>
        </p:txBody>
      </p:sp>
      <p:graphicFrame>
        <p:nvGraphicFramePr>
          <p:cNvPr id="20" name="Chart"/>
          <p:cNvGraphicFramePr/>
          <p:nvPr/>
        </p:nvGraphicFramePr>
        <p:xfrm>
          <a:off x="6362700" y="3267075"/>
          <a:ext cx="5219700" cy="236220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a:extLst>
              <a:ext uri="{FF2B5EF4-FFF2-40B4-BE49-F238E27FC236}">
                <a16:creationId xmlns:a16="http://schemas.microsoft.com/office/drawing/2014/main" id="{DE549C88-6EEF-4E86-9572-E10730F26F9D}"/>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A relative-frequency polygon can show proportions as decimals or percentages.</a:t>
            </a:r>
          </a:p>
        </p:txBody>
      </p:sp>
    </p:spTree>
    <p:extLst>
      <p:ext uri="{BB962C8B-B14F-4D97-AF65-F5344CB8AC3E}">
        <p14:creationId xmlns:p14="http://schemas.microsoft.com/office/powerpoint/2010/main" val="2093223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374E1484-9C89-436E-B292-3887243161E7}"/>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Comparing two clubs fairly</a:t>
            </a:r>
          </a:p>
        </p:txBody>
      </p:sp>
      <p:sp>
        <p:nvSpPr>
          <p:cNvPr id="2" name="Lead">
            <a:extLst>
              <a:ext uri="{FF2B5EF4-FFF2-40B4-BE49-F238E27FC236}">
                <a16:creationId xmlns:a16="http://schemas.microsoft.com/office/drawing/2014/main" id="{7F438482-0C3F-4A78-9F31-A4FEF95F9162}"/>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Relative-frequency polygons (%) compare groups with different numbers of sessions.</a:t>
            </a:r>
          </a:p>
        </p:txBody>
      </p:sp>
      <p:sp>
        <p:nvSpPr>
          <p:cNvPr id="3" name="Footer">
            <a:extLst>
              <a:ext uri="{FF2B5EF4-FFF2-40B4-BE49-F238E27FC236}">
                <a16:creationId xmlns:a16="http://schemas.microsoft.com/office/drawing/2014/main" id="{C6622A85-BA0E-464D-9783-CA281DE59112}"/>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Use the same intervals and axes. These percentages describe classes, not running totals.</a:t>
            </a:r>
          </a:p>
        </p:txBody>
      </p:sp>
      <p:graphicFrame>
        <p:nvGraphicFramePr>
          <p:cNvPr id="13" name="Chart"/>
          <p:cNvGraphicFramePr/>
          <p:nvPr/>
        </p:nvGraphicFramePr>
        <p:xfrm>
          <a:off x="619125" y="2857500"/>
          <a:ext cx="6858000"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a:extLst>
              <a:ext uri="{FF2B5EF4-FFF2-40B4-BE49-F238E27FC236}">
                <a16:creationId xmlns:a16="http://schemas.microsoft.com/office/drawing/2014/main" id="{C4D2D42E-354B-466C-86C9-BC867FA8E05D}"/>
              </a:ext>
            </a:extLst>
          </p:cNvPr>
          <p:cNvSpPr>
            <a:spLocks noGrp="1"/>
          </p:cNvSpPr>
          <p:nvPr/>
        </p:nvSpPr>
        <p:spPr>
          <a:xfrm>
            <a:off x="7810500" y="3095625"/>
            <a:ext cx="3714750" cy="381000"/>
          </a:xfrm>
          <a:prstGeom prst="rect">
            <a:avLst/>
          </a:prstGeom>
          <a:noFill/>
          <a:ln w="0">
            <a:noFill/>
          </a:ln>
        </p:spPr>
        <p:txBody>
          <a:bodyPr wrap="square" lIns="0" tIns="0" rIns="0" bIns="0" anchor="t">
            <a:noAutofit/>
          </a:bodyPr>
          <a:lstStyle/>
          <a:p>
            <a:pPr algn="l">
              <a:buNone/>
              <a:defRPr sz="2025" b="1">
                <a:solidFill>
                  <a:srgbClr val="D6171D"/>
                </a:solidFill>
                <a:latin typeface="Aptos"/>
                <a:ea typeface="Aptos"/>
                <a:cs typeface="Aptos"/>
              </a:defRPr>
            </a:pPr>
            <a:r>
              <a:rPr sz="2025" b="1">
                <a:solidFill>
                  <a:srgbClr val="D6171D"/>
                </a:solidFill>
                <a:latin typeface="Aptos"/>
                <a:ea typeface="Aptos"/>
                <a:cs typeface="Aptos"/>
              </a:rPr>
              <a:t>Food Club: 25 sessions</a:t>
            </a:r>
          </a:p>
        </p:txBody>
      </p:sp>
      <p:sp>
        <p:nvSpPr>
          <p:cNvPr id="6" name="Text">
            <a:extLst>
              <a:ext uri="{FF2B5EF4-FFF2-40B4-BE49-F238E27FC236}">
                <a16:creationId xmlns:a16="http://schemas.microsoft.com/office/drawing/2014/main" id="{92B76FDC-BF3A-4FBD-9CC4-3FD05DDDDAEF}"/>
              </a:ext>
            </a:extLst>
          </p:cNvPr>
          <p:cNvSpPr>
            <a:spLocks noGrp="1"/>
          </p:cNvSpPr>
          <p:nvPr/>
        </p:nvSpPr>
        <p:spPr>
          <a:xfrm>
            <a:off x="7810500" y="3619500"/>
            <a:ext cx="3714750" cy="381000"/>
          </a:xfrm>
          <a:prstGeom prst="rect">
            <a:avLst/>
          </a:prstGeom>
          <a:noFill/>
          <a:ln w="0">
            <a:noFill/>
          </a:ln>
        </p:spPr>
        <p:txBody>
          <a:bodyPr wrap="square" lIns="0" tIns="0" rIns="0" bIns="0" anchor="t">
            <a:noAutofit/>
          </a:bodyPr>
          <a:lstStyle/>
          <a:p>
            <a:pPr algn="l">
              <a:buNone/>
              <a:defRPr sz="2025" b="1">
                <a:solidFill>
                  <a:srgbClr val="2378A1"/>
                </a:solidFill>
                <a:latin typeface="Aptos"/>
                <a:ea typeface="Aptos"/>
                <a:cs typeface="Aptos"/>
              </a:defRPr>
            </a:pPr>
            <a:r>
              <a:rPr sz="2025" b="1">
                <a:solidFill>
                  <a:srgbClr val="2378A1"/>
                </a:solidFill>
                <a:latin typeface="Aptos"/>
                <a:ea typeface="Aptos"/>
                <a:cs typeface="Aptos"/>
              </a:rPr>
              <a:t>Smoothie Club: 20 sessions</a:t>
            </a:r>
          </a:p>
        </p:txBody>
      </p:sp>
      <p:sp>
        <p:nvSpPr>
          <p:cNvPr id="7" name="Text">
            <a:extLst>
              <a:ext uri="{FF2B5EF4-FFF2-40B4-BE49-F238E27FC236}">
                <a16:creationId xmlns:a16="http://schemas.microsoft.com/office/drawing/2014/main" id="{6F281B00-64AF-4D49-B3FA-A90F2B7A6C3F}"/>
              </a:ext>
            </a:extLst>
          </p:cNvPr>
          <p:cNvSpPr>
            <a:spLocks noGrp="1"/>
          </p:cNvSpPr>
          <p:nvPr/>
        </p:nvSpPr>
        <p:spPr>
          <a:xfrm>
            <a:off x="7810500" y="4362450"/>
            <a:ext cx="3714750" cy="1238250"/>
          </a:xfrm>
          <a:prstGeom prst="rect">
            <a:avLst/>
          </a:prstGeom>
          <a:noFill/>
          <a:ln w="0">
            <a:noFill/>
          </a:ln>
        </p:spPr>
        <p:txBody>
          <a:bodyPr wrap="square" lIns="0" tIns="0" rIns="0" bIns="0" anchor="t">
            <a:noAutofit/>
          </a:bodyPr>
          <a:lstStyle/>
          <a:p>
            <a:pPr algn="l">
              <a:buNone/>
              <a:defRPr sz="2175" b="0">
                <a:solidFill>
                  <a:srgbClr val="111111"/>
                </a:solidFill>
                <a:latin typeface="Aptos"/>
                <a:ea typeface="Aptos"/>
                <a:cs typeface="Aptos"/>
              </a:defRPr>
            </a:pPr>
            <a:r>
              <a:rPr sz="2175" b="0">
                <a:solidFill>
                  <a:srgbClr val="111111"/>
                </a:solidFill>
                <a:latin typeface="Aptos"/>
                <a:ea typeface="Aptos"/>
                <a:cs typeface="Aptos"/>
              </a:rPr>
              <a:t>20 ≤ x &lt; 30:</a:t>
            </a:r>
          </a:p>
          <a:p>
            <a:pPr algn="l">
              <a:buNone/>
              <a:defRPr sz="2175" b="0">
                <a:solidFill>
                  <a:srgbClr val="111111"/>
                </a:solidFill>
                <a:latin typeface="Aptos"/>
                <a:ea typeface="Aptos"/>
                <a:cs typeface="Aptos"/>
              </a:defRPr>
            </a:pPr>
            <a:r>
              <a:rPr sz="2175" b="0">
                <a:solidFill>
                  <a:srgbClr val="111111"/>
                </a:solidFill>
                <a:latin typeface="Aptos"/>
                <a:ea typeface="Aptos"/>
                <a:cs typeface="Aptos"/>
              </a:rPr>
              <a:t>Food Club: 28%</a:t>
            </a:r>
          </a:p>
          <a:p>
            <a:pPr algn="l">
              <a:buNone/>
              <a:defRPr sz="2175" b="0">
                <a:solidFill>
                  <a:srgbClr val="111111"/>
                </a:solidFill>
                <a:latin typeface="Aptos"/>
                <a:ea typeface="Aptos"/>
                <a:cs typeface="Aptos"/>
              </a:defRPr>
            </a:pPr>
            <a:r>
              <a:rPr sz="2175" b="0">
                <a:solidFill>
                  <a:srgbClr val="111111"/>
                </a:solidFill>
                <a:latin typeface="Aptos"/>
                <a:ea typeface="Aptos"/>
                <a:cs typeface="Aptos"/>
              </a:rPr>
              <a:t>Smoothie Club: 40%</a:t>
            </a:r>
          </a:p>
        </p:txBody>
      </p:sp>
    </p:spTree>
    <p:extLst>
      <p:ext uri="{BB962C8B-B14F-4D97-AF65-F5344CB8AC3E}">
        <p14:creationId xmlns:p14="http://schemas.microsoft.com/office/powerpoint/2010/main" val="1211520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a:extLst>
              <a:ext uri="{FF2B5EF4-FFF2-40B4-BE49-F238E27FC236}">
                <a16:creationId xmlns:a16="http://schemas.microsoft.com/office/drawing/2014/main" id="{2BFD2B22-AACE-436C-BA5E-064FDAAE575A}"/>
              </a:ext>
            </a:extLst>
          </p:cNvPr>
          <p:cNvSpPr>
            <a:spLocks noGrp="1"/>
          </p:cNvSpPr>
          <p:nvPr/>
        </p:nvSpPr>
        <p:spPr>
          <a:xfrm>
            <a:off x="447675" y="2505075"/>
            <a:ext cx="6048375" cy="3143250"/>
          </a:xfrm>
          <a:prstGeom prst="rect">
            <a:avLst/>
          </a:prstGeom>
          <a:noFill/>
          <a:ln w="0">
            <a:noFill/>
          </a:ln>
        </p:spPr>
        <p:txBody>
          <a:bodyPr wrap="square" lIns="0" tIns="0" rIns="0" bIns="0" anchor="t">
            <a:noAutofit/>
          </a:bodyPr>
          <a:lstStyle/>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3:</a:t>
            </a:r>
          </a:p>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Cumulative</a:t>
            </a:r>
          </a:p>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frequency</a:t>
            </a:r>
          </a:p>
        </p:txBody>
      </p:sp>
    </p:spTree>
    <p:extLst>
      <p:ext uri="{BB962C8B-B14F-4D97-AF65-F5344CB8AC3E}">
        <p14:creationId xmlns:p14="http://schemas.microsoft.com/office/powerpoint/2010/main" val="18532528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A2E1E9B4-25F2-4E7D-BF85-2158A98827A2}"/>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Food Club: counting below a boundary</a:t>
            </a:r>
          </a:p>
        </p:txBody>
      </p:sp>
      <p:sp>
        <p:nvSpPr>
          <p:cNvPr id="2" name="Lead">
            <a:extLst>
              <a:ext uri="{FF2B5EF4-FFF2-40B4-BE49-F238E27FC236}">
                <a16:creationId xmlns:a16="http://schemas.microsoft.com/office/drawing/2014/main" id="{33B82C1F-4752-4F31-9324-DFD939C63D56}"/>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We return to the Food Club’s 25 promotion sessions and keep this dataset together.</a:t>
            </a:r>
          </a:p>
        </p:txBody>
      </p:sp>
      <p:sp>
        <p:nvSpPr>
          <p:cNvPr id="3" name="Footer">
            <a:extLst>
              <a:ext uri="{FF2B5EF4-FFF2-40B4-BE49-F238E27FC236}">
                <a16:creationId xmlns:a16="http://schemas.microsoft.com/office/drawing/2014/main" id="{697E7965-9DFE-459F-8DBC-47696B89E3ED}"/>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One observation = one session. The recorded variable = sign-ups in that session.</a:t>
            </a:r>
          </a:p>
        </p:txBody>
      </p:sp>
      <p:graphicFrame>
        <p:nvGraphicFramePr>
          <p:cNvPr id="13" name="Table 12"/>
          <p:cNvGraphicFramePr/>
          <p:nvPr/>
        </p:nvGraphicFramePr>
        <p:xfrm>
          <a:off x="619125" y="2905125"/>
          <a:ext cx="6286500" cy="2714625"/>
        </p:xfrm>
        <a:graphic>
          <a:graphicData uri="http://schemas.openxmlformats.org/drawingml/2006/table">
            <a:tbl>
              <a:tblPr/>
              <a:tblGrid>
                <a:gridCol w="333375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tblGrid>
              <a:tr h="811530">
                <a:tc>
                  <a:txBody>
                    <a:bodyPr/>
                    <a:lstStyle/>
                    <a:p>
                      <a:pPr algn="l">
                        <a:buNone/>
                      </a:pPr>
                      <a:r>
                        <a:rPr sz="2250" b="1">
                          <a:solidFill>
                            <a:srgbClr val="FFFFFF"/>
                          </a:solidFill>
                          <a:latin typeface="Aptos"/>
                          <a:ea typeface="Aptos"/>
                          <a:cs typeface="Aptos"/>
                        </a:rPr>
                        <a:t>Sign-ups per session</a:t>
                      </a:r>
                    </a:p>
                  </a:txBody>
                  <a:tcPr anchor="ctr">
                    <a:solidFill>
                      <a:srgbClr val="D6171D"/>
                    </a:solidFill>
                  </a:tcPr>
                </a:tc>
                <a:tc>
                  <a:txBody>
                    <a:bodyPr/>
                    <a:lstStyle/>
                    <a:p>
                      <a:pPr algn="ctr">
                        <a:buNone/>
                      </a:pPr>
                      <a:r>
                        <a:rPr sz="2250" b="1">
                          <a:solidFill>
                            <a:srgbClr val="FFFFFF"/>
                          </a:solidFill>
                          <a:latin typeface="Aptos"/>
                          <a:ea typeface="Aptos"/>
                          <a:cs typeface="Aptos"/>
                        </a:rPr>
                        <a:t>Frequency: sessions</a:t>
                      </a:r>
                    </a:p>
                  </a:txBody>
                  <a:tcPr anchor="ctr">
                    <a:solidFill>
                      <a:srgbClr val="D6171D"/>
                    </a:solidFill>
                  </a:tcPr>
                </a:tc>
                <a:extLst>
                  <a:ext uri="{0D108BD9-81ED-4DB2-BD59-A6C34878D82A}">
                    <a16:rowId xmlns:a16="http://schemas.microsoft.com/office/drawing/2014/main" val="10000"/>
                  </a:ext>
                </a:extLst>
              </a:tr>
              <a:tr h="475774">
                <a:tc>
                  <a:txBody>
                    <a:bodyPr/>
                    <a:lstStyle/>
                    <a:p>
                      <a:pPr algn="l">
                        <a:buNone/>
                      </a:pPr>
                      <a:r>
                        <a:rPr sz="2250" b="0">
                          <a:solidFill>
                            <a:srgbClr val="111111"/>
                          </a:solidFill>
                          <a:latin typeface="Aptos"/>
                          <a:ea typeface="Aptos"/>
                          <a:cs typeface="Aptos"/>
                        </a:rPr>
                        <a:t>10 ≤ x &lt; 20</a:t>
                      </a:r>
                    </a:p>
                  </a:txBody>
                  <a:tcPr anchor="ctr">
                    <a:solidFill>
                      <a:srgbClr val="FFFFFF"/>
                    </a:solidFill>
                  </a:tcPr>
                </a:tc>
                <a:tc>
                  <a:txBody>
                    <a:bodyPr/>
                    <a:lstStyle/>
                    <a:p>
                      <a:pPr algn="ctr">
                        <a:buNone/>
                      </a:pPr>
                      <a:r>
                        <a:rPr sz="2250" b="0">
                          <a:solidFill>
                            <a:srgbClr val="111111"/>
                          </a:solidFill>
                          <a:latin typeface="Aptos"/>
                          <a:ea typeface="Aptos"/>
                          <a:cs typeface="Aptos"/>
                        </a:rPr>
                        <a:t>2</a:t>
                      </a:r>
                    </a:p>
                  </a:txBody>
                  <a:tcPr anchor="ctr">
                    <a:solidFill>
                      <a:srgbClr val="FFFFFF"/>
                    </a:solidFill>
                  </a:tcPr>
                </a:tc>
                <a:extLst>
                  <a:ext uri="{0D108BD9-81ED-4DB2-BD59-A6C34878D82A}">
                    <a16:rowId xmlns:a16="http://schemas.microsoft.com/office/drawing/2014/main" val="10001"/>
                  </a:ext>
                </a:extLst>
              </a:tr>
              <a:tr h="475774">
                <a:tc>
                  <a:txBody>
                    <a:bodyPr/>
                    <a:lstStyle/>
                    <a:p>
                      <a:pPr algn="l">
                        <a:buNone/>
                      </a:pPr>
                      <a:r>
                        <a:rPr sz="2250" b="0">
                          <a:solidFill>
                            <a:srgbClr val="111111"/>
                          </a:solidFill>
                          <a:latin typeface="Aptos"/>
                          <a:ea typeface="Aptos"/>
                          <a:cs typeface="Aptos"/>
                        </a:rPr>
                        <a:t>20 ≤ x &lt; 30</a:t>
                      </a:r>
                    </a:p>
                  </a:txBody>
                  <a:tcPr anchor="ctr">
                    <a:solidFill>
                      <a:srgbClr val="EEF8FE"/>
                    </a:solidFill>
                  </a:tcPr>
                </a:tc>
                <a:tc>
                  <a:txBody>
                    <a:bodyPr/>
                    <a:lstStyle/>
                    <a:p>
                      <a:pPr algn="ctr">
                        <a:buNone/>
                      </a:pPr>
                      <a:r>
                        <a:rPr sz="2250" b="0">
                          <a:solidFill>
                            <a:srgbClr val="111111"/>
                          </a:solidFill>
                          <a:latin typeface="Aptos"/>
                          <a:ea typeface="Aptos"/>
                          <a:cs typeface="Aptos"/>
                        </a:rPr>
                        <a:t>7</a:t>
                      </a:r>
                    </a:p>
                  </a:txBody>
                  <a:tcPr anchor="ctr">
                    <a:solidFill>
                      <a:srgbClr val="EEF8FE"/>
                    </a:solidFill>
                  </a:tcPr>
                </a:tc>
                <a:extLst>
                  <a:ext uri="{0D108BD9-81ED-4DB2-BD59-A6C34878D82A}">
                    <a16:rowId xmlns:a16="http://schemas.microsoft.com/office/drawing/2014/main" val="10002"/>
                  </a:ext>
                </a:extLst>
              </a:tr>
              <a:tr h="475774">
                <a:tc>
                  <a:txBody>
                    <a:bodyPr/>
                    <a:lstStyle/>
                    <a:p>
                      <a:pPr algn="l">
                        <a:buNone/>
                      </a:pPr>
                      <a:r>
                        <a:rPr sz="2250" b="0">
                          <a:solidFill>
                            <a:srgbClr val="111111"/>
                          </a:solidFill>
                          <a:latin typeface="Aptos"/>
                          <a:ea typeface="Aptos"/>
                          <a:cs typeface="Aptos"/>
                        </a:rPr>
                        <a:t>30 ≤ x &lt; 40</a:t>
                      </a:r>
                    </a:p>
                  </a:txBody>
                  <a:tcPr anchor="ctr">
                    <a:solidFill>
                      <a:srgbClr val="FFFFFF"/>
                    </a:solidFill>
                  </a:tcPr>
                </a:tc>
                <a:tc>
                  <a:txBody>
                    <a:bodyPr/>
                    <a:lstStyle/>
                    <a:p>
                      <a:pPr algn="ctr">
                        <a:buNone/>
                      </a:pPr>
                      <a:r>
                        <a:rPr sz="2250" b="0">
                          <a:solidFill>
                            <a:srgbClr val="111111"/>
                          </a:solidFill>
                          <a:latin typeface="Aptos"/>
                          <a:ea typeface="Aptos"/>
                          <a:cs typeface="Aptos"/>
                        </a:rPr>
                        <a:t>10</a:t>
                      </a:r>
                    </a:p>
                  </a:txBody>
                  <a:tcPr anchor="ctr">
                    <a:solidFill>
                      <a:srgbClr val="FFFFFF"/>
                    </a:solidFill>
                  </a:tcPr>
                </a:tc>
                <a:extLst>
                  <a:ext uri="{0D108BD9-81ED-4DB2-BD59-A6C34878D82A}">
                    <a16:rowId xmlns:a16="http://schemas.microsoft.com/office/drawing/2014/main" val="10003"/>
                  </a:ext>
                </a:extLst>
              </a:tr>
              <a:tr h="475774">
                <a:tc>
                  <a:txBody>
                    <a:bodyPr/>
                    <a:lstStyle/>
                    <a:p>
                      <a:pPr algn="l">
                        <a:buNone/>
                      </a:pPr>
                      <a:r>
                        <a:rPr sz="2250" b="0">
                          <a:solidFill>
                            <a:srgbClr val="111111"/>
                          </a:solidFill>
                          <a:latin typeface="Aptos"/>
                          <a:ea typeface="Aptos"/>
                          <a:cs typeface="Aptos"/>
                        </a:rPr>
                        <a:t>40 ≤ x &lt; 50</a:t>
                      </a:r>
                    </a:p>
                  </a:txBody>
                  <a:tcPr anchor="ctr">
                    <a:solidFill>
                      <a:srgbClr val="EEF8FE"/>
                    </a:solidFill>
                  </a:tcPr>
                </a:tc>
                <a:tc>
                  <a:txBody>
                    <a:bodyPr/>
                    <a:lstStyle/>
                    <a:p>
                      <a:pPr algn="ctr">
                        <a:buNone/>
                      </a:pPr>
                      <a:r>
                        <a:rPr sz="2250" b="0">
                          <a:solidFill>
                            <a:srgbClr val="111111"/>
                          </a:solidFill>
                          <a:latin typeface="Aptos"/>
                          <a:ea typeface="Aptos"/>
                          <a:cs typeface="Aptos"/>
                        </a:rPr>
                        <a:t>6</a:t>
                      </a:r>
                    </a:p>
                  </a:txBody>
                  <a:tcPr anchor="ctr">
                    <a:solidFill>
                      <a:srgbClr val="EEF8FE"/>
                    </a:solidFill>
                  </a:tcPr>
                </a:tc>
                <a:extLst>
                  <a:ext uri="{0D108BD9-81ED-4DB2-BD59-A6C34878D82A}">
                    <a16:rowId xmlns:a16="http://schemas.microsoft.com/office/drawing/2014/main" val="10004"/>
                  </a:ext>
                </a:extLst>
              </a:tr>
            </a:tbl>
          </a:graphicData>
        </a:graphic>
      </p:graphicFrame>
      <p:sp>
        <p:nvSpPr>
          <p:cNvPr id="5" name="Text">
            <a:extLst>
              <a:ext uri="{FF2B5EF4-FFF2-40B4-BE49-F238E27FC236}">
                <a16:creationId xmlns:a16="http://schemas.microsoft.com/office/drawing/2014/main" id="{DA9F4D99-B73F-4B77-A798-BF0F52043163}"/>
              </a:ext>
            </a:extLst>
          </p:cNvPr>
          <p:cNvSpPr>
            <a:spLocks noGrp="1"/>
          </p:cNvSpPr>
          <p:nvPr/>
        </p:nvSpPr>
        <p:spPr>
          <a:xfrm>
            <a:off x="7477125" y="3048000"/>
            <a:ext cx="4048125" cy="952500"/>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How many sessions attracted</a:t>
            </a:r>
          </a:p>
          <a:p>
            <a:pPr algn="l">
              <a:buNone/>
              <a:defRPr sz="2400" b="1">
                <a:solidFill>
                  <a:srgbClr val="111111"/>
                </a:solidFill>
                <a:latin typeface="Aptos"/>
                <a:ea typeface="Aptos"/>
                <a:cs typeface="Aptos"/>
              </a:defRPr>
            </a:pPr>
            <a:r>
              <a:rPr sz="2400" b="1">
                <a:solidFill>
                  <a:srgbClr val="111111"/>
                </a:solidFill>
                <a:latin typeface="Aptos"/>
                <a:ea typeface="Aptos"/>
                <a:cs typeface="Aptos"/>
              </a:rPr>
              <a:t>fewer than 30 sign-ups?</a:t>
            </a:r>
          </a:p>
        </p:txBody>
      </p:sp>
      <p:sp>
        <p:nvSpPr>
          <p:cNvPr id="6" name="Text">
            <a:extLst>
              <a:ext uri="{FF2B5EF4-FFF2-40B4-BE49-F238E27FC236}">
                <a16:creationId xmlns:a16="http://schemas.microsoft.com/office/drawing/2014/main" id="{7785951B-0926-4D83-9E53-F3438160193B}"/>
              </a:ext>
            </a:extLst>
          </p:cNvPr>
          <p:cNvSpPr>
            <a:spLocks noGrp="1"/>
          </p:cNvSpPr>
          <p:nvPr/>
        </p:nvSpPr>
        <p:spPr>
          <a:xfrm>
            <a:off x="7477125" y="4238625"/>
            <a:ext cx="4048125" cy="1000125"/>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Include BOTH first intervals.</a:t>
            </a:r>
          </a:p>
          <a:p>
            <a:pPr algn="l">
              <a:buNone/>
              <a:defRPr sz="2400" b="0">
                <a:solidFill>
                  <a:srgbClr val="111111"/>
                </a:solidFill>
                <a:latin typeface="Aptos"/>
                <a:ea typeface="Aptos"/>
                <a:cs typeface="Aptos"/>
              </a:defRPr>
            </a:pPr>
            <a:r>
              <a:rPr sz="2400" b="0">
                <a:solidFill>
                  <a:srgbClr val="111111"/>
                </a:solidFill>
                <a:latin typeface="Aptos"/>
                <a:ea typeface="Aptos"/>
                <a:cs typeface="Aptos"/>
              </a:rPr>
              <a:t>2 + 7 = 9 sessions</a:t>
            </a:r>
          </a:p>
        </p:txBody>
      </p:sp>
      <p:sp>
        <p:nvSpPr>
          <p:cNvPr id="7" name="Text">
            <a:extLst>
              <a:ext uri="{FF2B5EF4-FFF2-40B4-BE49-F238E27FC236}">
                <a16:creationId xmlns:a16="http://schemas.microsoft.com/office/drawing/2014/main" id="{70FA9BA9-B84A-4732-9C36-2640803866E2}"/>
              </a:ext>
            </a:extLst>
          </p:cNvPr>
          <p:cNvSpPr>
            <a:spLocks noGrp="1"/>
          </p:cNvSpPr>
          <p:nvPr/>
        </p:nvSpPr>
        <p:spPr>
          <a:xfrm>
            <a:off x="7477125" y="5381625"/>
            <a:ext cx="4048125" cy="381000"/>
          </a:xfrm>
          <a:prstGeom prst="rect">
            <a:avLst/>
          </a:prstGeom>
          <a:noFill/>
          <a:ln w="0">
            <a:noFill/>
          </a:ln>
        </p:spPr>
        <p:txBody>
          <a:bodyPr wrap="square" lIns="0" tIns="0" rIns="0" bIns="0" anchor="t">
            <a:noAutofit/>
          </a:bodyPr>
          <a:lstStyle/>
          <a:p>
            <a:pPr algn="l">
              <a:buNone/>
              <a:defRPr sz="1950" b="0">
                <a:solidFill>
                  <a:srgbClr val="111111"/>
                </a:solidFill>
                <a:latin typeface="Aptos"/>
                <a:ea typeface="Aptos"/>
                <a:cs typeface="Aptos"/>
              </a:defRPr>
            </a:pPr>
            <a:r>
              <a:rPr sz="1950" b="0">
                <a:solidFill>
                  <a:srgbClr val="111111"/>
                </a:solidFill>
                <a:latin typeface="Aptos"/>
                <a:ea typeface="Aptos"/>
                <a:cs typeface="Aptos"/>
              </a:rPr>
              <a:t>We are adding counts as we go.</a:t>
            </a:r>
          </a:p>
        </p:txBody>
      </p:sp>
    </p:spTree>
    <p:extLst>
      <p:ext uri="{BB962C8B-B14F-4D97-AF65-F5344CB8AC3E}">
        <p14:creationId xmlns:p14="http://schemas.microsoft.com/office/powerpoint/2010/main" val="18217416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title">
            <a:extLst>
              <a:ext uri="{FF2B5EF4-FFF2-40B4-BE49-F238E27FC236}">
                <a16:creationId xmlns:a16="http://schemas.microsoft.com/office/drawing/2014/main" id="{E8EF717D-1349-4F29-8C4D-D4FCDA9458E3}"/>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Food Club: the cumulative table</a:t>
            </a:r>
          </a:p>
        </p:txBody>
      </p:sp>
      <p:sp>
        <p:nvSpPr>
          <p:cNvPr id="2" name="Lead">
            <a:extLst>
              <a:ext uri="{FF2B5EF4-FFF2-40B4-BE49-F238E27FC236}">
                <a16:creationId xmlns:a16="http://schemas.microsoft.com/office/drawing/2014/main" id="{1312E4A4-504C-49B9-AA65-DF1E36A9AC36}"/>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Cumulative frequency is the running total up to each upper boundary.</a:t>
            </a:r>
          </a:p>
        </p:txBody>
      </p:sp>
      <p:sp>
        <p:nvSpPr>
          <p:cNvPr id="3" name="Footer">
            <a:extLst>
              <a:ext uri="{FF2B5EF4-FFF2-40B4-BE49-F238E27FC236}">
                <a16:creationId xmlns:a16="http://schemas.microsoft.com/office/drawing/2014/main" id="{3DE325E1-BADA-40AF-A7A1-4380BED42F8D}"/>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CF = cumulative frequency. The last CF is 25, the total number of sessions.</a:t>
            </a:r>
          </a:p>
        </p:txBody>
      </p:sp>
      <p:graphicFrame>
        <p:nvGraphicFramePr>
          <p:cNvPr id="10" name="Table 9"/>
          <p:cNvGraphicFramePr/>
          <p:nvPr/>
        </p:nvGraphicFramePr>
        <p:xfrm>
          <a:off x="619125" y="2857500"/>
          <a:ext cx="10953750" cy="2714625"/>
        </p:xfrm>
        <a:graphic>
          <a:graphicData uri="http://schemas.openxmlformats.org/drawingml/2006/table">
            <a:tbl>
              <a:tblPr/>
              <a:tblGrid>
                <a:gridCol w="2619375">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857375">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571750">
                  <a:extLst>
                    <a:ext uri="{9D8B030D-6E8A-4147-A177-3AD203B41FA5}">
                      <a16:colId xmlns:a16="http://schemas.microsoft.com/office/drawing/2014/main" val="20004"/>
                    </a:ext>
                  </a:extLst>
                </a:gridCol>
              </a:tblGrid>
              <a:tr h="1055561">
                <a:tc>
                  <a:txBody>
                    <a:bodyPr/>
                    <a:lstStyle/>
                    <a:p>
                      <a:pPr algn="l">
                        <a:buNone/>
                      </a:pPr>
                      <a:r>
                        <a:rPr sz="2025" b="1">
                          <a:solidFill>
                            <a:srgbClr val="FFFFFF"/>
                          </a:solidFill>
                          <a:latin typeface="Aptos"/>
                          <a:ea typeface="Aptos"/>
                          <a:cs typeface="Aptos"/>
                        </a:rPr>
                        <a:t>Sign-up interval</a:t>
                      </a:r>
                    </a:p>
                  </a:txBody>
                  <a:tcPr anchor="ctr">
                    <a:solidFill>
                      <a:srgbClr val="D6171D"/>
                    </a:solidFill>
                  </a:tcPr>
                </a:tc>
                <a:tc>
                  <a:txBody>
                    <a:bodyPr/>
                    <a:lstStyle/>
                    <a:p>
                      <a:pPr algn="ctr">
                        <a:buNone/>
                      </a:pPr>
                      <a:r>
                        <a:rPr sz="2025" b="1">
                          <a:solidFill>
                            <a:srgbClr val="FFFFFF"/>
                          </a:solidFill>
                          <a:latin typeface="Aptos"/>
                          <a:ea typeface="Aptos"/>
                          <a:cs typeface="Aptos"/>
                        </a:rPr>
                        <a:t>Upper boundary</a:t>
                      </a:r>
                    </a:p>
                    <a:p>
                      <a:pPr algn="ctr">
                        <a:buNone/>
                      </a:pPr>
                      <a:r>
                        <a:rPr sz="2025" b="1">
                          <a:solidFill>
                            <a:srgbClr val="FFFFFF"/>
                          </a:solidFill>
                          <a:latin typeface="Aptos"/>
                          <a:ea typeface="Aptos"/>
                          <a:cs typeface="Aptos"/>
                        </a:rPr>
                        <a:t>(X)</a:t>
                      </a:r>
                    </a:p>
                  </a:txBody>
                  <a:tcPr anchor="ctr">
                    <a:solidFill>
                      <a:srgbClr val="D6171D"/>
                    </a:solidFill>
                  </a:tcPr>
                </a:tc>
                <a:tc>
                  <a:txBody>
                    <a:bodyPr/>
                    <a:lstStyle/>
                    <a:p>
                      <a:pPr algn="ctr">
                        <a:buNone/>
                      </a:pPr>
                      <a:r>
                        <a:rPr sz="2025" b="1">
                          <a:solidFill>
                            <a:srgbClr val="FFFFFF"/>
                          </a:solidFill>
                          <a:latin typeface="Aptos"/>
                          <a:ea typeface="Aptos"/>
                          <a:cs typeface="Aptos"/>
                        </a:rPr>
                        <a:t>Frequency:</a:t>
                      </a:r>
                    </a:p>
                    <a:p>
                      <a:pPr algn="ctr">
                        <a:buNone/>
                      </a:pPr>
                      <a:r>
                        <a:rPr sz="2025" b="1">
                          <a:solidFill>
                            <a:srgbClr val="FFFFFF"/>
                          </a:solidFill>
                          <a:latin typeface="Aptos"/>
                          <a:ea typeface="Aptos"/>
                          <a:cs typeface="Aptos"/>
                        </a:rPr>
                        <a:t>sessions</a:t>
                      </a:r>
                    </a:p>
                  </a:txBody>
                  <a:tcPr anchor="ctr">
                    <a:solidFill>
                      <a:srgbClr val="D6171D"/>
                    </a:solidFill>
                  </a:tcPr>
                </a:tc>
                <a:tc>
                  <a:txBody>
                    <a:bodyPr/>
                    <a:lstStyle/>
                    <a:p>
                      <a:pPr algn="ctr">
                        <a:buNone/>
                      </a:pPr>
                      <a:r>
                        <a:rPr sz="2025" b="1">
                          <a:solidFill>
                            <a:srgbClr val="FFFFFF"/>
                          </a:solidFill>
                          <a:latin typeface="Aptos"/>
                          <a:ea typeface="Aptos"/>
                          <a:cs typeface="Aptos"/>
                        </a:rPr>
                        <a:t>Running total</a:t>
                      </a:r>
                    </a:p>
                  </a:txBody>
                  <a:tcPr anchor="ctr">
                    <a:solidFill>
                      <a:srgbClr val="D6171D"/>
                    </a:solidFill>
                  </a:tcPr>
                </a:tc>
                <a:tc>
                  <a:txBody>
                    <a:bodyPr/>
                    <a:lstStyle/>
                    <a:p>
                      <a:pPr algn="ctr">
                        <a:buNone/>
                      </a:pPr>
                      <a:r>
                        <a:rPr sz="2025" b="1">
                          <a:solidFill>
                            <a:srgbClr val="FFFFFF"/>
                          </a:solidFill>
                          <a:latin typeface="Aptos"/>
                          <a:ea typeface="Aptos"/>
                          <a:cs typeface="Aptos"/>
                        </a:rPr>
                        <a:t>CF: sessions</a:t>
                      </a:r>
                    </a:p>
                    <a:p>
                      <a:pPr algn="ctr">
                        <a:buNone/>
                      </a:pPr>
                      <a:r>
                        <a:rPr sz="2025" b="1">
                          <a:solidFill>
                            <a:srgbClr val="FFFFFF"/>
                          </a:solidFill>
                          <a:latin typeface="Aptos"/>
                          <a:ea typeface="Aptos"/>
                          <a:cs typeface="Aptos"/>
                        </a:rPr>
                        <a:t>below X (Y)</a:t>
                      </a:r>
                    </a:p>
                  </a:txBody>
                  <a:tcPr anchor="ctr">
                    <a:solidFill>
                      <a:srgbClr val="D6171D"/>
                    </a:solidFill>
                  </a:tcPr>
                </a:tc>
                <a:extLst>
                  <a:ext uri="{0D108BD9-81ED-4DB2-BD59-A6C34878D82A}">
                    <a16:rowId xmlns:a16="http://schemas.microsoft.com/office/drawing/2014/main" val="10000"/>
                  </a:ext>
                </a:extLst>
              </a:tr>
              <a:tr h="414766">
                <a:tc>
                  <a:txBody>
                    <a:bodyPr/>
                    <a:lstStyle/>
                    <a:p>
                      <a:pPr algn="l">
                        <a:buNone/>
                      </a:pPr>
                      <a:r>
                        <a:rPr sz="2025" b="0">
                          <a:solidFill>
                            <a:srgbClr val="111111"/>
                          </a:solidFill>
                          <a:latin typeface="Aptos"/>
                          <a:ea typeface="Aptos"/>
                          <a:cs typeface="Aptos"/>
                        </a:rPr>
                        <a:t>10 ≤ x &lt; 20</a:t>
                      </a:r>
                    </a:p>
                  </a:txBody>
                  <a:tcPr anchor="ctr">
                    <a:solidFill>
                      <a:srgbClr val="FFFFFF"/>
                    </a:solidFill>
                  </a:tcPr>
                </a:tc>
                <a:tc>
                  <a:txBody>
                    <a:bodyPr/>
                    <a:lstStyle/>
                    <a:p>
                      <a:pPr algn="ctr">
                        <a:buNone/>
                      </a:pPr>
                      <a:r>
                        <a:rPr sz="2025" b="0">
                          <a:solidFill>
                            <a:srgbClr val="111111"/>
                          </a:solidFill>
                          <a:latin typeface="Aptos"/>
                          <a:ea typeface="Aptos"/>
                          <a:cs typeface="Aptos"/>
                        </a:rPr>
                        <a:t>20</a:t>
                      </a:r>
                    </a:p>
                  </a:txBody>
                  <a:tcPr anchor="ctr">
                    <a:solidFill>
                      <a:srgbClr val="FFFFFF"/>
                    </a:solidFill>
                  </a:tcPr>
                </a:tc>
                <a:tc>
                  <a:txBody>
                    <a:bodyPr/>
                    <a:lstStyle/>
                    <a:p>
                      <a:pPr algn="ctr">
                        <a:buNone/>
                      </a:pPr>
                      <a:r>
                        <a:rPr sz="2025" b="0">
                          <a:solidFill>
                            <a:srgbClr val="111111"/>
                          </a:solidFill>
                          <a:latin typeface="Aptos"/>
                          <a:ea typeface="Aptos"/>
                          <a:cs typeface="Aptos"/>
                        </a:rPr>
                        <a:t>2</a:t>
                      </a:r>
                    </a:p>
                  </a:txBody>
                  <a:tcPr anchor="ctr">
                    <a:solidFill>
                      <a:srgbClr val="FFFFFF"/>
                    </a:solidFill>
                  </a:tcPr>
                </a:tc>
                <a:tc>
                  <a:txBody>
                    <a:bodyPr/>
                    <a:lstStyle/>
                    <a:p>
                      <a:pPr algn="ctr">
                        <a:buNone/>
                      </a:pPr>
                      <a:r>
                        <a:rPr sz="2025" b="0">
                          <a:solidFill>
                            <a:srgbClr val="111111"/>
                          </a:solidFill>
                          <a:latin typeface="Aptos"/>
                          <a:ea typeface="Aptos"/>
                          <a:cs typeface="Aptos"/>
                        </a:rPr>
                        <a:t>2</a:t>
                      </a:r>
                    </a:p>
                  </a:txBody>
                  <a:tcPr anchor="ctr">
                    <a:solidFill>
                      <a:srgbClr val="FFFFFF"/>
                    </a:solidFill>
                  </a:tcPr>
                </a:tc>
                <a:tc>
                  <a:txBody>
                    <a:bodyPr/>
                    <a:lstStyle/>
                    <a:p>
                      <a:pPr algn="ctr">
                        <a:buNone/>
                      </a:pPr>
                      <a:r>
                        <a:rPr sz="2025" b="0">
                          <a:solidFill>
                            <a:srgbClr val="111111"/>
                          </a:solidFill>
                          <a:latin typeface="Aptos"/>
                          <a:ea typeface="Aptos"/>
                          <a:cs typeface="Aptos"/>
                        </a:rPr>
                        <a:t>2</a:t>
                      </a:r>
                    </a:p>
                  </a:txBody>
                  <a:tcPr anchor="ctr">
                    <a:solidFill>
                      <a:srgbClr val="FFFFFF"/>
                    </a:solidFill>
                  </a:tcPr>
                </a:tc>
                <a:extLst>
                  <a:ext uri="{0D108BD9-81ED-4DB2-BD59-A6C34878D82A}">
                    <a16:rowId xmlns:a16="http://schemas.microsoft.com/office/drawing/2014/main" val="10001"/>
                  </a:ext>
                </a:extLst>
              </a:tr>
              <a:tr h="414766">
                <a:tc>
                  <a:txBody>
                    <a:bodyPr/>
                    <a:lstStyle/>
                    <a:p>
                      <a:pPr algn="l">
                        <a:buNone/>
                      </a:pPr>
                      <a:r>
                        <a:rPr sz="2025" b="0">
                          <a:solidFill>
                            <a:srgbClr val="111111"/>
                          </a:solidFill>
                          <a:latin typeface="Aptos"/>
                          <a:ea typeface="Aptos"/>
                          <a:cs typeface="Aptos"/>
                        </a:rPr>
                        <a:t>20 ≤ x &lt; 30</a:t>
                      </a:r>
                    </a:p>
                  </a:txBody>
                  <a:tcPr anchor="ctr">
                    <a:solidFill>
                      <a:srgbClr val="EEF8FE"/>
                    </a:solidFill>
                  </a:tcPr>
                </a:tc>
                <a:tc>
                  <a:txBody>
                    <a:bodyPr/>
                    <a:lstStyle/>
                    <a:p>
                      <a:pPr algn="ctr">
                        <a:buNone/>
                      </a:pPr>
                      <a:r>
                        <a:rPr sz="2025" b="0">
                          <a:solidFill>
                            <a:srgbClr val="111111"/>
                          </a:solidFill>
                          <a:latin typeface="Aptos"/>
                          <a:ea typeface="Aptos"/>
                          <a:cs typeface="Aptos"/>
                        </a:rPr>
                        <a:t>30</a:t>
                      </a:r>
                    </a:p>
                  </a:txBody>
                  <a:tcPr anchor="ctr">
                    <a:solidFill>
                      <a:srgbClr val="EEF8FE"/>
                    </a:solidFill>
                  </a:tcPr>
                </a:tc>
                <a:tc>
                  <a:txBody>
                    <a:bodyPr/>
                    <a:lstStyle/>
                    <a:p>
                      <a:pPr algn="ctr">
                        <a:buNone/>
                      </a:pPr>
                      <a:r>
                        <a:rPr sz="2025" b="0">
                          <a:solidFill>
                            <a:srgbClr val="111111"/>
                          </a:solidFill>
                          <a:latin typeface="Aptos"/>
                          <a:ea typeface="Aptos"/>
                          <a:cs typeface="Aptos"/>
                        </a:rPr>
                        <a:t>7</a:t>
                      </a:r>
                    </a:p>
                  </a:txBody>
                  <a:tcPr anchor="ctr">
                    <a:solidFill>
                      <a:srgbClr val="EEF8FE"/>
                    </a:solidFill>
                  </a:tcPr>
                </a:tc>
                <a:tc>
                  <a:txBody>
                    <a:bodyPr/>
                    <a:lstStyle/>
                    <a:p>
                      <a:pPr algn="ctr">
                        <a:buNone/>
                      </a:pPr>
                      <a:r>
                        <a:rPr sz="2025" b="0">
                          <a:solidFill>
                            <a:srgbClr val="111111"/>
                          </a:solidFill>
                          <a:latin typeface="Aptos"/>
                          <a:ea typeface="Aptos"/>
                          <a:cs typeface="Aptos"/>
                        </a:rPr>
                        <a:t>2 + 7</a:t>
                      </a:r>
                    </a:p>
                  </a:txBody>
                  <a:tcPr anchor="ctr">
                    <a:solidFill>
                      <a:srgbClr val="EEF8FE"/>
                    </a:solidFill>
                  </a:tcPr>
                </a:tc>
                <a:tc>
                  <a:txBody>
                    <a:bodyPr/>
                    <a:lstStyle/>
                    <a:p>
                      <a:pPr algn="ctr">
                        <a:buNone/>
                      </a:pPr>
                      <a:r>
                        <a:rPr sz="2025" b="0">
                          <a:solidFill>
                            <a:srgbClr val="111111"/>
                          </a:solidFill>
                          <a:latin typeface="Aptos"/>
                          <a:ea typeface="Aptos"/>
                          <a:cs typeface="Aptos"/>
                        </a:rPr>
                        <a:t>9</a:t>
                      </a:r>
                    </a:p>
                  </a:txBody>
                  <a:tcPr anchor="ctr">
                    <a:solidFill>
                      <a:srgbClr val="EEF8FE"/>
                    </a:solidFill>
                  </a:tcPr>
                </a:tc>
                <a:extLst>
                  <a:ext uri="{0D108BD9-81ED-4DB2-BD59-A6C34878D82A}">
                    <a16:rowId xmlns:a16="http://schemas.microsoft.com/office/drawing/2014/main" val="10002"/>
                  </a:ext>
                </a:extLst>
              </a:tr>
              <a:tr h="414766">
                <a:tc>
                  <a:txBody>
                    <a:bodyPr/>
                    <a:lstStyle/>
                    <a:p>
                      <a:pPr algn="l">
                        <a:buNone/>
                      </a:pPr>
                      <a:r>
                        <a:rPr sz="2025" b="0">
                          <a:solidFill>
                            <a:srgbClr val="111111"/>
                          </a:solidFill>
                          <a:latin typeface="Aptos"/>
                          <a:ea typeface="Aptos"/>
                          <a:cs typeface="Aptos"/>
                        </a:rPr>
                        <a:t>30 ≤ x &lt; 40</a:t>
                      </a:r>
                    </a:p>
                  </a:txBody>
                  <a:tcPr anchor="ctr">
                    <a:solidFill>
                      <a:srgbClr val="FFFFFF"/>
                    </a:solidFill>
                  </a:tcPr>
                </a:tc>
                <a:tc>
                  <a:txBody>
                    <a:bodyPr/>
                    <a:lstStyle/>
                    <a:p>
                      <a:pPr algn="ctr">
                        <a:buNone/>
                      </a:pPr>
                      <a:r>
                        <a:rPr sz="2025" b="0">
                          <a:solidFill>
                            <a:srgbClr val="111111"/>
                          </a:solidFill>
                          <a:latin typeface="Aptos"/>
                          <a:ea typeface="Aptos"/>
                          <a:cs typeface="Aptos"/>
                        </a:rPr>
                        <a:t>40</a:t>
                      </a:r>
                    </a:p>
                  </a:txBody>
                  <a:tcPr anchor="ctr">
                    <a:solidFill>
                      <a:srgbClr val="FFFFFF"/>
                    </a:solidFill>
                  </a:tcPr>
                </a:tc>
                <a:tc>
                  <a:txBody>
                    <a:bodyPr/>
                    <a:lstStyle/>
                    <a:p>
                      <a:pPr algn="ctr">
                        <a:buNone/>
                      </a:pPr>
                      <a:r>
                        <a:rPr sz="2025" b="0">
                          <a:solidFill>
                            <a:srgbClr val="111111"/>
                          </a:solidFill>
                          <a:latin typeface="Aptos"/>
                          <a:ea typeface="Aptos"/>
                          <a:cs typeface="Aptos"/>
                        </a:rPr>
                        <a:t>10</a:t>
                      </a:r>
                    </a:p>
                  </a:txBody>
                  <a:tcPr anchor="ctr">
                    <a:solidFill>
                      <a:srgbClr val="FFFFFF"/>
                    </a:solidFill>
                  </a:tcPr>
                </a:tc>
                <a:tc>
                  <a:txBody>
                    <a:bodyPr/>
                    <a:lstStyle/>
                    <a:p>
                      <a:pPr algn="ctr">
                        <a:buNone/>
                      </a:pPr>
                      <a:r>
                        <a:rPr sz="2025" b="0">
                          <a:solidFill>
                            <a:srgbClr val="111111"/>
                          </a:solidFill>
                          <a:latin typeface="Aptos"/>
                          <a:ea typeface="Aptos"/>
                          <a:cs typeface="Aptos"/>
                        </a:rPr>
                        <a:t>9 + 10</a:t>
                      </a:r>
                    </a:p>
                  </a:txBody>
                  <a:tcPr anchor="ctr">
                    <a:solidFill>
                      <a:srgbClr val="FFFFFF"/>
                    </a:solidFill>
                  </a:tcPr>
                </a:tc>
                <a:tc>
                  <a:txBody>
                    <a:bodyPr/>
                    <a:lstStyle/>
                    <a:p>
                      <a:pPr algn="ctr">
                        <a:buNone/>
                      </a:pPr>
                      <a:r>
                        <a:rPr sz="2025" b="0">
                          <a:solidFill>
                            <a:srgbClr val="111111"/>
                          </a:solidFill>
                          <a:latin typeface="Aptos"/>
                          <a:ea typeface="Aptos"/>
                          <a:cs typeface="Aptos"/>
                        </a:rPr>
                        <a:t>19</a:t>
                      </a:r>
                    </a:p>
                  </a:txBody>
                  <a:tcPr anchor="ctr">
                    <a:solidFill>
                      <a:srgbClr val="FFFFFF"/>
                    </a:solidFill>
                  </a:tcPr>
                </a:tc>
                <a:extLst>
                  <a:ext uri="{0D108BD9-81ED-4DB2-BD59-A6C34878D82A}">
                    <a16:rowId xmlns:a16="http://schemas.microsoft.com/office/drawing/2014/main" val="10003"/>
                  </a:ext>
                </a:extLst>
              </a:tr>
              <a:tr h="414766">
                <a:tc>
                  <a:txBody>
                    <a:bodyPr/>
                    <a:lstStyle/>
                    <a:p>
                      <a:pPr algn="l">
                        <a:buNone/>
                      </a:pPr>
                      <a:r>
                        <a:rPr sz="2025" b="0">
                          <a:solidFill>
                            <a:srgbClr val="111111"/>
                          </a:solidFill>
                          <a:latin typeface="Aptos"/>
                          <a:ea typeface="Aptos"/>
                          <a:cs typeface="Aptos"/>
                        </a:rPr>
                        <a:t>40 ≤ x &lt; 50</a:t>
                      </a:r>
                    </a:p>
                  </a:txBody>
                  <a:tcPr anchor="ctr">
                    <a:solidFill>
                      <a:srgbClr val="EEF8FE"/>
                    </a:solidFill>
                  </a:tcPr>
                </a:tc>
                <a:tc>
                  <a:txBody>
                    <a:bodyPr/>
                    <a:lstStyle/>
                    <a:p>
                      <a:pPr algn="ctr">
                        <a:buNone/>
                      </a:pPr>
                      <a:r>
                        <a:rPr sz="2025" b="0">
                          <a:solidFill>
                            <a:srgbClr val="111111"/>
                          </a:solidFill>
                          <a:latin typeface="Aptos"/>
                          <a:ea typeface="Aptos"/>
                          <a:cs typeface="Aptos"/>
                        </a:rPr>
                        <a:t>50</a:t>
                      </a:r>
                    </a:p>
                  </a:txBody>
                  <a:tcPr anchor="ctr">
                    <a:solidFill>
                      <a:srgbClr val="EEF8FE"/>
                    </a:solidFill>
                  </a:tcPr>
                </a:tc>
                <a:tc>
                  <a:txBody>
                    <a:bodyPr/>
                    <a:lstStyle/>
                    <a:p>
                      <a:pPr algn="ctr">
                        <a:buNone/>
                      </a:pPr>
                      <a:r>
                        <a:rPr sz="2025" b="0">
                          <a:solidFill>
                            <a:srgbClr val="111111"/>
                          </a:solidFill>
                          <a:latin typeface="Aptos"/>
                          <a:ea typeface="Aptos"/>
                          <a:cs typeface="Aptos"/>
                        </a:rPr>
                        <a:t>6</a:t>
                      </a:r>
                    </a:p>
                  </a:txBody>
                  <a:tcPr anchor="ctr">
                    <a:solidFill>
                      <a:srgbClr val="EEF8FE"/>
                    </a:solidFill>
                  </a:tcPr>
                </a:tc>
                <a:tc>
                  <a:txBody>
                    <a:bodyPr/>
                    <a:lstStyle/>
                    <a:p>
                      <a:pPr algn="ctr">
                        <a:buNone/>
                      </a:pPr>
                      <a:r>
                        <a:rPr sz="2025" b="0">
                          <a:solidFill>
                            <a:srgbClr val="111111"/>
                          </a:solidFill>
                          <a:latin typeface="Aptos"/>
                          <a:ea typeface="Aptos"/>
                          <a:cs typeface="Aptos"/>
                        </a:rPr>
                        <a:t>19 + 6</a:t>
                      </a:r>
                    </a:p>
                  </a:txBody>
                  <a:tcPr anchor="ctr">
                    <a:solidFill>
                      <a:srgbClr val="EEF8FE"/>
                    </a:solidFill>
                  </a:tcPr>
                </a:tc>
                <a:tc>
                  <a:txBody>
                    <a:bodyPr/>
                    <a:lstStyle/>
                    <a:p>
                      <a:pPr algn="ctr">
                        <a:buNone/>
                      </a:pPr>
                      <a:r>
                        <a:rPr sz="2025" b="0">
                          <a:solidFill>
                            <a:srgbClr val="111111"/>
                          </a:solidFill>
                          <a:latin typeface="Aptos"/>
                          <a:ea typeface="Aptos"/>
                          <a:cs typeface="Aptos"/>
                        </a:rPr>
                        <a:t>25</a:t>
                      </a:r>
                    </a:p>
                  </a:txBody>
                  <a:tcPr anchor="ctr">
                    <a:solidFill>
                      <a:srgbClr val="EEF8FE"/>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803253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0D965484-A32E-47A4-A5AD-8E26C6254F46}"/>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is an ogive?</a:t>
            </a:r>
          </a:p>
        </p:txBody>
      </p:sp>
      <p:sp>
        <p:nvSpPr>
          <p:cNvPr id="2" name="Lead">
            <a:extLst>
              <a:ext uri="{FF2B5EF4-FFF2-40B4-BE49-F238E27FC236}">
                <a16:creationId xmlns:a16="http://schemas.microsoft.com/office/drawing/2014/main" id="{40033A6A-BD5E-4ADF-BEDC-CBC85A2C99C0}"/>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An ogive plots cumulative frequency against the upper class boundary.</a:t>
            </a:r>
          </a:p>
        </p:txBody>
      </p:sp>
      <p:sp>
        <p:nvSpPr>
          <p:cNvPr id="3" name="Footer">
            <a:extLst>
              <a:ext uri="{FF2B5EF4-FFF2-40B4-BE49-F238E27FC236}">
                <a16:creationId xmlns:a16="http://schemas.microsoft.com/office/drawing/2014/main" id="{7E7DFAE2-3BBD-4D9F-ABFF-29EDBB2A2533}"/>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Food Club: (30, 9) means 9 sessions had fewer than 30 sign-ups.</a:t>
            </a:r>
          </a:p>
        </p:txBody>
      </p:sp>
      <p:graphicFrame>
        <p:nvGraphicFramePr>
          <p:cNvPr id="12" name="Table 11"/>
          <p:cNvGraphicFramePr/>
          <p:nvPr/>
        </p:nvGraphicFramePr>
        <p:xfrm>
          <a:off x="619125" y="2943225"/>
          <a:ext cx="7000875" cy="2619375"/>
        </p:xfrm>
        <a:graphic>
          <a:graphicData uri="http://schemas.openxmlformats.org/drawingml/2006/table">
            <a:tbl>
              <a:tblPr/>
              <a:tblGrid>
                <a:gridCol w="2809875">
                  <a:extLst>
                    <a:ext uri="{9D8B030D-6E8A-4147-A177-3AD203B41FA5}">
                      <a16:colId xmlns:a16="http://schemas.microsoft.com/office/drawing/2014/main" val="20000"/>
                    </a:ext>
                  </a:extLst>
                </a:gridCol>
                <a:gridCol w="2238375">
                  <a:extLst>
                    <a:ext uri="{9D8B030D-6E8A-4147-A177-3AD203B41FA5}">
                      <a16:colId xmlns:a16="http://schemas.microsoft.com/office/drawing/2014/main" val="20001"/>
                    </a:ext>
                  </a:extLst>
                </a:gridCol>
                <a:gridCol w="1952625">
                  <a:extLst>
                    <a:ext uri="{9D8B030D-6E8A-4147-A177-3AD203B41FA5}">
                      <a16:colId xmlns:a16="http://schemas.microsoft.com/office/drawing/2014/main" val="20002"/>
                    </a:ext>
                  </a:extLst>
                </a:gridCol>
              </a:tblGrid>
              <a:tr h="741807">
                <a:tc>
                  <a:txBody>
                    <a:bodyPr/>
                    <a:lstStyle/>
                    <a:p>
                      <a:pPr algn="l">
                        <a:buNone/>
                      </a:pPr>
                      <a:r>
                        <a:rPr sz="2025" b="1">
                          <a:solidFill>
                            <a:srgbClr val="FFFFFF"/>
                          </a:solidFill>
                          <a:latin typeface="Aptos"/>
                          <a:ea typeface="Aptos"/>
                          <a:cs typeface="Aptos"/>
                        </a:rPr>
                        <a:t>Sign-up interval</a:t>
                      </a:r>
                    </a:p>
                  </a:txBody>
                  <a:tcPr anchor="ctr">
                    <a:solidFill>
                      <a:srgbClr val="D6171D"/>
                    </a:solidFill>
                  </a:tcPr>
                </a:tc>
                <a:tc>
                  <a:txBody>
                    <a:bodyPr/>
                    <a:lstStyle/>
                    <a:p>
                      <a:pPr algn="ctr">
                        <a:buNone/>
                      </a:pPr>
                      <a:r>
                        <a:rPr sz="2025" b="1">
                          <a:solidFill>
                            <a:srgbClr val="FFFFFF"/>
                          </a:solidFill>
                          <a:latin typeface="Aptos"/>
                          <a:ea typeface="Aptos"/>
                          <a:cs typeface="Aptos"/>
                        </a:rPr>
                        <a:t>Upper boundary (X)</a:t>
                      </a:r>
                    </a:p>
                  </a:txBody>
                  <a:tcPr anchor="ctr">
                    <a:solidFill>
                      <a:srgbClr val="D6171D"/>
                    </a:solidFill>
                  </a:tcPr>
                </a:tc>
                <a:tc>
                  <a:txBody>
                    <a:bodyPr/>
                    <a:lstStyle/>
                    <a:p>
                      <a:pPr algn="ctr">
                        <a:buNone/>
                      </a:pPr>
                      <a:r>
                        <a:rPr sz="2025" b="1">
                          <a:solidFill>
                            <a:srgbClr val="FFFFFF"/>
                          </a:solidFill>
                          <a:latin typeface="Aptos"/>
                          <a:ea typeface="Aptos"/>
                          <a:cs typeface="Aptos"/>
                        </a:rPr>
                        <a:t>CF: sessions (Y)</a:t>
                      </a:r>
                    </a:p>
                  </a:txBody>
                  <a:tcPr anchor="ctr">
                    <a:solidFill>
                      <a:srgbClr val="D6171D"/>
                    </a:solidFill>
                  </a:tcPr>
                </a:tc>
                <a:extLst>
                  <a:ext uri="{0D108BD9-81ED-4DB2-BD59-A6C34878D82A}">
                    <a16:rowId xmlns:a16="http://schemas.microsoft.com/office/drawing/2014/main" val="10000"/>
                  </a:ext>
                </a:extLst>
              </a:tr>
              <a:tr h="469392">
                <a:tc>
                  <a:txBody>
                    <a:bodyPr/>
                    <a:lstStyle/>
                    <a:p>
                      <a:pPr algn="l">
                        <a:buNone/>
                      </a:pPr>
                      <a:r>
                        <a:rPr sz="2025" b="0">
                          <a:solidFill>
                            <a:srgbClr val="111111"/>
                          </a:solidFill>
                          <a:latin typeface="Aptos"/>
                          <a:ea typeface="Aptos"/>
                          <a:cs typeface="Aptos"/>
                        </a:rPr>
                        <a:t>10 ≤ x &lt; 20</a:t>
                      </a:r>
                    </a:p>
                  </a:txBody>
                  <a:tcPr anchor="ctr">
                    <a:solidFill>
                      <a:srgbClr val="FFFFFF"/>
                    </a:solidFill>
                  </a:tcPr>
                </a:tc>
                <a:tc>
                  <a:txBody>
                    <a:bodyPr/>
                    <a:lstStyle/>
                    <a:p>
                      <a:pPr algn="ctr">
                        <a:buNone/>
                      </a:pPr>
                      <a:r>
                        <a:rPr sz="2025" b="0">
                          <a:solidFill>
                            <a:srgbClr val="111111"/>
                          </a:solidFill>
                          <a:latin typeface="Aptos"/>
                          <a:ea typeface="Aptos"/>
                          <a:cs typeface="Aptos"/>
                        </a:rPr>
                        <a:t>20</a:t>
                      </a:r>
                    </a:p>
                  </a:txBody>
                  <a:tcPr anchor="ctr">
                    <a:solidFill>
                      <a:srgbClr val="FFFFFF"/>
                    </a:solidFill>
                  </a:tcPr>
                </a:tc>
                <a:tc>
                  <a:txBody>
                    <a:bodyPr/>
                    <a:lstStyle/>
                    <a:p>
                      <a:pPr algn="ctr">
                        <a:buNone/>
                      </a:pPr>
                      <a:r>
                        <a:rPr sz="2025" b="0">
                          <a:solidFill>
                            <a:srgbClr val="111111"/>
                          </a:solidFill>
                          <a:latin typeface="Aptos"/>
                          <a:ea typeface="Aptos"/>
                          <a:cs typeface="Aptos"/>
                        </a:rPr>
                        <a:t>2</a:t>
                      </a:r>
                    </a:p>
                  </a:txBody>
                  <a:tcPr anchor="ctr">
                    <a:solidFill>
                      <a:srgbClr val="FFFFFF"/>
                    </a:solidFill>
                  </a:tcPr>
                </a:tc>
                <a:extLst>
                  <a:ext uri="{0D108BD9-81ED-4DB2-BD59-A6C34878D82A}">
                    <a16:rowId xmlns:a16="http://schemas.microsoft.com/office/drawing/2014/main" val="10001"/>
                  </a:ext>
                </a:extLst>
              </a:tr>
              <a:tr h="469392">
                <a:tc>
                  <a:txBody>
                    <a:bodyPr/>
                    <a:lstStyle/>
                    <a:p>
                      <a:pPr algn="l">
                        <a:buNone/>
                      </a:pPr>
                      <a:r>
                        <a:rPr sz="2025" b="0">
                          <a:solidFill>
                            <a:srgbClr val="111111"/>
                          </a:solidFill>
                          <a:latin typeface="Aptos"/>
                          <a:ea typeface="Aptos"/>
                          <a:cs typeface="Aptos"/>
                        </a:rPr>
                        <a:t>20 ≤ x &lt; 30</a:t>
                      </a:r>
                    </a:p>
                  </a:txBody>
                  <a:tcPr anchor="ctr">
                    <a:solidFill>
                      <a:srgbClr val="EEF8FE"/>
                    </a:solidFill>
                  </a:tcPr>
                </a:tc>
                <a:tc>
                  <a:txBody>
                    <a:bodyPr/>
                    <a:lstStyle/>
                    <a:p>
                      <a:pPr algn="ctr">
                        <a:buNone/>
                      </a:pPr>
                      <a:r>
                        <a:rPr sz="2025" b="0">
                          <a:solidFill>
                            <a:srgbClr val="111111"/>
                          </a:solidFill>
                          <a:latin typeface="Aptos"/>
                          <a:ea typeface="Aptos"/>
                          <a:cs typeface="Aptos"/>
                        </a:rPr>
                        <a:t>30</a:t>
                      </a:r>
                    </a:p>
                  </a:txBody>
                  <a:tcPr anchor="ctr">
                    <a:solidFill>
                      <a:srgbClr val="EEF8FE"/>
                    </a:solidFill>
                  </a:tcPr>
                </a:tc>
                <a:tc>
                  <a:txBody>
                    <a:bodyPr/>
                    <a:lstStyle/>
                    <a:p>
                      <a:pPr algn="ctr">
                        <a:buNone/>
                      </a:pPr>
                      <a:r>
                        <a:rPr sz="2025" b="0">
                          <a:solidFill>
                            <a:srgbClr val="111111"/>
                          </a:solidFill>
                          <a:latin typeface="Aptos"/>
                          <a:ea typeface="Aptos"/>
                          <a:cs typeface="Aptos"/>
                        </a:rPr>
                        <a:t>9</a:t>
                      </a:r>
                    </a:p>
                  </a:txBody>
                  <a:tcPr anchor="ctr">
                    <a:solidFill>
                      <a:srgbClr val="EEF8FE"/>
                    </a:solidFill>
                  </a:tcPr>
                </a:tc>
                <a:extLst>
                  <a:ext uri="{0D108BD9-81ED-4DB2-BD59-A6C34878D82A}">
                    <a16:rowId xmlns:a16="http://schemas.microsoft.com/office/drawing/2014/main" val="10002"/>
                  </a:ext>
                </a:extLst>
              </a:tr>
              <a:tr h="469392">
                <a:tc>
                  <a:txBody>
                    <a:bodyPr/>
                    <a:lstStyle/>
                    <a:p>
                      <a:pPr algn="l">
                        <a:buNone/>
                      </a:pPr>
                      <a:r>
                        <a:rPr sz="2025" b="0">
                          <a:solidFill>
                            <a:srgbClr val="111111"/>
                          </a:solidFill>
                          <a:latin typeface="Aptos"/>
                          <a:ea typeface="Aptos"/>
                          <a:cs typeface="Aptos"/>
                        </a:rPr>
                        <a:t>30 ≤ x &lt; 40</a:t>
                      </a:r>
                    </a:p>
                  </a:txBody>
                  <a:tcPr anchor="ctr">
                    <a:solidFill>
                      <a:srgbClr val="FFFFFF"/>
                    </a:solidFill>
                  </a:tcPr>
                </a:tc>
                <a:tc>
                  <a:txBody>
                    <a:bodyPr/>
                    <a:lstStyle/>
                    <a:p>
                      <a:pPr algn="ctr">
                        <a:buNone/>
                      </a:pPr>
                      <a:r>
                        <a:rPr sz="2025" b="0">
                          <a:solidFill>
                            <a:srgbClr val="111111"/>
                          </a:solidFill>
                          <a:latin typeface="Aptos"/>
                          <a:ea typeface="Aptos"/>
                          <a:cs typeface="Aptos"/>
                        </a:rPr>
                        <a:t>40</a:t>
                      </a:r>
                    </a:p>
                  </a:txBody>
                  <a:tcPr anchor="ctr">
                    <a:solidFill>
                      <a:srgbClr val="FFFFFF"/>
                    </a:solidFill>
                  </a:tcPr>
                </a:tc>
                <a:tc>
                  <a:txBody>
                    <a:bodyPr/>
                    <a:lstStyle/>
                    <a:p>
                      <a:pPr algn="ctr">
                        <a:buNone/>
                      </a:pPr>
                      <a:r>
                        <a:rPr sz="2025" b="0">
                          <a:solidFill>
                            <a:srgbClr val="111111"/>
                          </a:solidFill>
                          <a:latin typeface="Aptos"/>
                          <a:ea typeface="Aptos"/>
                          <a:cs typeface="Aptos"/>
                        </a:rPr>
                        <a:t>19</a:t>
                      </a:r>
                    </a:p>
                  </a:txBody>
                  <a:tcPr anchor="ctr">
                    <a:solidFill>
                      <a:srgbClr val="FFFFFF"/>
                    </a:solidFill>
                  </a:tcPr>
                </a:tc>
                <a:extLst>
                  <a:ext uri="{0D108BD9-81ED-4DB2-BD59-A6C34878D82A}">
                    <a16:rowId xmlns:a16="http://schemas.microsoft.com/office/drawing/2014/main" val="10003"/>
                  </a:ext>
                </a:extLst>
              </a:tr>
              <a:tr h="469392">
                <a:tc>
                  <a:txBody>
                    <a:bodyPr/>
                    <a:lstStyle/>
                    <a:p>
                      <a:pPr algn="l">
                        <a:buNone/>
                      </a:pPr>
                      <a:r>
                        <a:rPr sz="2025" b="0">
                          <a:solidFill>
                            <a:srgbClr val="111111"/>
                          </a:solidFill>
                          <a:latin typeface="Aptos"/>
                          <a:ea typeface="Aptos"/>
                          <a:cs typeface="Aptos"/>
                        </a:rPr>
                        <a:t>40 ≤ x &lt; 50</a:t>
                      </a:r>
                    </a:p>
                  </a:txBody>
                  <a:tcPr anchor="ctr">
                    <a:solidFill>
                      <a:srgbClr val="EEF8FE"/>
                    </a:solidFill>
                  </a:tcPr>
                </a:tc>
                <a:tc>
                  <a:txBody>
                    <a:bodyPr/>
                    <a:lstStyle/>
                    <a:p>
                      <a:pPr algn="ctr">
                        <a:buNone/>
                      </a:pPr>
                      <a:r>
                        <a:rPr sz="2025" b="0">
                          <a:solidFill>
                            <a:srgbClr val="111111"/>
                          </a:solidFill>
                          <a:latin typeface="Aptos"/>
                          <a:ea typeface="Aptos"/>
                          <a:cs typeface="Aptos"/>
                        </a:rPr>
                        <a:t>50</a:t>
                      </a:r>
                    </a:p>
                  </a:txBody>
                  <a:tcPr anchor="ctr">
                    <a:solidFill>
                      <a:srgbClr val="EEF8FE"/>
                    </a:solidFill>
                  </a:tcPr>
                </a:tc>
                <a:tc>
                  <a:txBody>
                    <a:bodyPr/>
                    <a:lstStyle/>
                    <a:p>
                      <a:pPr algn="ctr">
                        <a:buNone/>
                      </a:pPr>
                      <a:r>
                        <a:rPr sz="2025" b="0">
                          <a:solidFill>
                            <a:srgbClr val="111111"/>
                          </a:solidFill>
                          <a:latin typeface="Aptos"/>
                          <a:ea typeface="Aptos"/>
                          <a:cs typeface="Aptos"/>
                        </a:rPr>
                        <a:t>25</a:t>
                      </a:r>
                    </a:p>
                  </a:txBody>
                  <a:tcPr anchor="ctr">
                    <a:solidFill>
                      <a:srgbClr val="EEF8FE"/>
                    </a:solidFill>
                  </a:tcPr>
                </a:tc>
                <a:extLst>
                  <a:ext uri="{0D108BD9-81ED-4DB2-BD59-A6C34878D82A}">
                    <a16:rowId xmlns:a16="http://schemas.microsoft.com/office/drawing/2014/main" val="10004"/>
                  </a:ext>
                </a:extLst>
              </a:tr>
            </a:tbl>
          </a:graphicData>
        </a:graphic>
      </p:graphicFrame>
      <p:sp>
        <p:nvSpPr>
          <p:cNvPr id="5" name="Text">
            <a:extLst>
              <a:ext uri="{FF2B5EF4-FFF2-40B4-BE49-F238E27FC236}">
                <a16:creationId xmlns:a16="http://schemas.microsoft.com/office/drawing/2014/main" id="{A60C72B0-6CA3-49DA-A679-3F8BAC9CDC96}"/>
              </a:ext>
            </a:extLst>
          </p:cNvPr>
          <p:cNvSpPr>
            <a:spLocks noGrp="1"/>
          </p:cNvSpPr>
          <p:nvPr/>
        </p:nvSpPr>
        <p:spPr>
          <a:xfrm>
            <a:off x="8048625" y="3048000"/>
            <a:ext cx="3476625" cy="952500"/>
          </a:xfrm>
          <a:prstGeom prst="rect">
            <a:avLst/>
          </a:prstGeom>
          <a:noFill/>
          <a:ln w="0">
            <a:noFill/>
          </a:ln>
        </p:spPr>
        <p:txBody>
          <a:bodyPr wrap="square"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Use an ogive to answer:</a:t>
            </a:r>
          </a:p>
          <a:p>
            <a:pPr algn="l">
              <a:buNone/>
              <a:defRPr sz="2250" b="1">
                <a:solidFill>
                  <a:srgbClr val="111111"/>
                </a:solidFill>
                <a:latin typeface="Aptos"/>
                <a:ea typeface="Aptos"/>
                <a:cs typeface="Aptos"/>
              </a:defRPr>
            </a:pPr>
            <a:r>
              <a:rPr sz="2250" b="1">
                <a:solidFill>
                  <a:srgbClr val="111111"/>
                </a:solidFill>
                <a:latin typeface="Aptos"/>
                <a:ea typeface="Aptos"/>
                <a:cs typeface="Aptos"/>
              </a:rPr>
              <a:t>“How many are below…?”</a:t>
            </a:r>
          </a:p>
        </p:txBody>
      </p:sp>
      <p:sp>
        <p:nvSpPr>
          <p:cNvPr id="6" name="Text">
            <a:extLst>
              <a:ext uri="{FF2B5EF4-FFF2-40B4-BE49-F238E27FC236}">
                <a16:creationId xmlns:a16="http://schemas.microsoft.com/office/drawing/2014/main" id="{55975750-621A-4397-8F54-D2880A4FB9F2}"/>
              </a:ext>
            </a:extLst>
          </p:cNvPr>
          <p:cNvSpPr>
            <a:spLocks noGrp="1"/>
          </p:cNvSpPr>
          <p:nvPr/>
        </p:nvSpPr>
        <p:spPr>
          <a:xfrm>
            <a:off x="8048625" y="4238625"/>
            <a:ext cx="3476625" cy="128587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It also helps estimate</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the median and other</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percentage cut-offs.</a:t>
            </a:r>
          </a:p>
        </p:txBody>
      </p:sp>
    </p:spTree>
    <p:extLst>
      <p:ext uri="{BB962C8B-B14F-4D97-AF65-F5344CB8AC3E}">
        <p14:creationId xmlns:p14="http://schemas.microsoft.com/office/powerpoint/2010/main" val="4107679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B67BFE89-740B-495D-84B9-152024D84335}"/>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Food Club: table → ogive</a:t>
            </a:r>
          </a:p>
        </p:txBody>
      </p:sp>
      <p:sp>
        <p:nvSpPr>
          <p:cNvPr id="3" name="Lead">
            <a:extLst>
              <a:ext uri="{FF2B5EF4-FFF2-40B4-BE49-F238E27FC236}">
                <a16:creationId xmlns:a16="http://schemas.microsoft.com/office/drawing/2014/main" id="{C8E55923-25C3-43E1-BBFE-7B08915713F5}"/>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Each row supplies one point. For example, X = 30 and Y = 9 give (30, 9).</a:t>
            </a:r>
          </a:p>
        </p:txBody>
      </p:sp>
      <p:sp>
        <p:nvSpPr>
          <p:cNvPr id="4" name="Footer">
            <a:extLst>
              <a:ext uri="{FF2B5EF4-FFF2-40B4-BE49-F238E27FC236}">
                <a16:creationId xmlns:a16="http://schemas.microsoft.com/office/drawing/2014/main" id="{8F4BBC9D-7A1F-4E82-9B9F-9CB101ED232C}"/>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Start at (10, 0): none are below the first boundary. Finish at (50, 25): all 25 sessions.</a:t>
            </a:r>
          </a:p>
        </p:txBody>
      </p:sp>
      <p:graphicFrame>
        <p:nvGraphicFramePr>
          <p:cNvPr id="5" name="Table 4"/>
          <p:cNvGraphicFramePr/>
          <p:nvPr/>
        </p:nvGraphicFramePr>
        <p:xfrm>
          <a:off x="619125" y="2857500"/>
          <a:ext cx="4238625" cy="2524125"/>
        </p:xfrm>
        <a:graphic>
          <a:graphicData uri="http://schemas.openxmlformats.org/drawingml/2006/table">
            <a:tbl>
              <a:tblPr/>
              <a:tblGrid>
                <a:gridCol w="2161699">
                  <a:extLst>
                    <a:ext uri="{9D8B030D-6E8A-4147-A177-3AD203B41FA5}">
                      <a16:colId xmlns:a16="http://schemas.microsoft.com/office/drawing/2014/main" val="20000"/>
                    </a:ext>
                  </a:extLst>
                </a:gridCol>
                <a:gridCol w="2076926">
                  <a:extLst>
                    <a:ext uri="{9D8B030D-6E8A-4147-A177-3AD203B41FA5}">
                      <a16:colId xmlns:a16="http://schemas.microsoft.com/office/drawing/2014/main" val="20001"/>
                    </a:ext>
                  </a:extLst>
                </a:gridCol>
              </a:tblGrid>
              <a:tr h="1020699">
                <a:tc>
                  <a:txBody>
                    <a:bodyPr/>
                    <a:lstStyle/>
                    <a:p>
                      <a:pPr algn="l">
                        <a:buNone/>
                      </a:pPr>
                      <a:r>
                        <a:rPr sz="1950" b="1">
                          <a:solidFill>
                            <a:srgbClr val="FFFFFF"/>
                          </a:solidFill>
                          <a:latin typeface="Aptos"/>
                          <a:ea typeface="Aptos"/>
                          <a:cs typeface="Aptos"/>
                        </a:rPr>
                        <a:t>Upper boundary</a:t>
                      </a:r>
                    </a:p>
                    <a:p>
                      <a:pPr algn="l">
                        <a:buNone/>
                      </a:pPr>
                      <a:r>
                        <a:rPr sz="1950" b="1">
                          <a:solidFill>
                            <a:srgbClr val="FFFFFF"/>
                          </a:solidFill>
                          <a:latin typeface="Aptos"/>
                          <a:ea typeface="Aptos"/>
                          <a:cs typeface="Aptos"/>
                        </a:rPr>
                        <a:t>(X)</a:t>
                      </a:r>
                    </a:p>
                  </a:txBody>
                  <a:tcPr anchor="ctr">
                    <a:solidFill>
                      <a:srgbClr val="D6171D"/>
                    </a:solidFill>
                  </a:tcPr>
                </a:tc>
                <a:tc>
                  <a:txBody>
                    <a:bodyPr/>
                    <a:lstStyle/>
                    <a:p>
                      <a:pPr algn="ctr">
                        <a:buNone/>
                      </a:pPr>
                      <a:r>
                        <a:rPr sz="1950" b="1">
                          <a:solidFill>
                            <a:srgbClr val="FFFFFF"/>
                          </a:solidFill>
                          <a:latin typeface="Aptos"/>
                          <a:ea typeface="Aptos"/>
                          <a:cs typeface="Aptos"/>
                        </a:rPr>
                        <a:t>Cumulative sessions</a:t>
                      </a:r>
                    </a:p>
                    <a:p>
                      <a:pPr algn="ctr">
                        <a:buNone/>
                      </a:pPr>
                      <a:r>
                        <a:rPr sz="1950" b="1">
                          <a:solidFill>
                            <a:srgbClr val="FFFFFF"/>
                          </a:solidFill>
                          <a:latin typeface="Aptos"/>
                          <a:ea typeface="Aptos"/>
                          <a:cs typeface="Aptos"/>
                        </a:rPr>
                        <a:t>(Y)</a:t>
                      </a:r>
                    </a:p>
                  </a:txBody>
                  <a:tcPr anchor="ctr">
                    <a:solidFill>
                      <a:srgbClr val="D6171D"/>
                    </a:solidFill>
                  </a:tcPr>
                </a:tc>
                <a:extLst>
                  <a:ext uri="{0D108BD9-81ED-4DB2-BD59-A6C34878D82A}">
                    <a16:rowId xmlns:a16="http://schemas.microsoft.com/office/drawing/2014/main" val="10000"/>
                  </a:ext>
                </a:extLst>
              </a:tr>
              <a:tr h="375857">
                <a:tc>
                  <a:txBody>
                    <a:bodyPr/>
                    <a:lstStyle/>
                    <a:p>
                      <a:pPr algn="l">
                        <a:buNone/>
                      </a:pPr>
                      <a:r>
                        <a:rPr sz="1950" b="0">
                          <a:solidFill>
                            <a:srgbClr val="111111"/>
                          </a:solidFill>
                          <a:latin typeface="Aptos"/>
                          <a:ea typeface="Aptos"/>
                          <a:cs typeface="Aptos"/>
                        </a:rPr>
                        <a:t>20</a:t>
                      </a:r>
                    </a:p>
                  </a:txBody>
                  <a:tcPr anchor="ctr">
                    <a:solidFill>
                      <a:srgbClr val="FFFFFF"/>
                    </a:solidFill>
                  </a:tcPr>
                </a:tc>
                <a:tc>
                  <a:txBody>
                    <a:bodyPr/>
                    <a:lstStyle/>
                    <a:p>
                      <a:pPr algn="ctr">
                        <a:buNone/>
                      </a:pPr>
                      <a:r>
                        <a:rPr sz="1950" b="0">
                          <a:solidFill>
                            <a:srgbClr val="111111"/>
                          </a:solidFill>
                          <a:latin typeface="Aptos"/>
                          <a:ea typeface="Aptos"/>
                          <a:cs typeface="Aptos"/>
                        </a:rPr>
                        <a:t>2</a:t>
                      </a:r>
                    </a:p>
                  </a:txBody>
                  <a:tcPr anchor="ctr">
                    <a:solidFill>
                      <a:srgbClr val="FFFFFF"/>
                    </a:solidFill>
                  </a:tcPr>
                </a:tc>
                <a:extLst>
                  <a:ext uri="{0D108BD9-81ED-4DB2-BD59-A6C34878D82A}">
                    <a16:rowId xmlns:a16="http://schemas.microsoft.com/office/drawing/2014/main" val="10001"/>
                  </a:ext>
                </a:extLst>
              </a:tr>
              <a:tr h="375857">
                <a:tc>
                  <a:txBody>
                    <a:bodyPr/>
                    <a:lstStyle/>
                    <a:p>
                      <a:pPr algn="l">
                        <a:buNone/>
                      </a:pPr>
                      <a:r>
                        <a:rPr sz="1950" b="0">
                          <a:solidFill>
                            <a:srgbClr val="111111"/>
                          </a:solidFill>
                          <a:latin typeface="Aptos"/>
                          <a:ea typeface="Aptos"/>
                          <a:cs typeface="Aptos"/>
                        </a:rPr>
                        <a:t>30</a:t>
                      </a:r>
                    </a:p>
                  </a:txBody>
                  <a:tcPr anchor="ctr">
                    <a:solidFill>
                      <a:srgbClr val="FFF0D5"/>
                    </a:solidFill>
                  </a:tcPr>
                </a:tc>
                <a:tc>
                  <a:txBody>
                    <a:bodyPr/>
                    <a:lstStyle/>
                    <a:p>
                      <a:pPr algn="ctr">
                        <a:buNone/>
                      </a:pPr>
                      <a:r>
                        <a:rPr sz="1950" b="0">
                          <a:solidFill>
                            <a:srgbClr val="111111"/>
                          </a:solidFill>
                          <a:latin typeface="Aptos"/>
                          <a:ea typeface="Aptos"/>
                          <a:cs typeface="Aptos"/>
                        </a:rPr>
                        <a:t>9</a:t>
                      </a:r>
                    </a:p>
                  </a:txBody>
                  <a:tcPr anchor="ctr">
                    <a:solidFill>
                      <a:srgbClr val="FFF0D5"/>
                    </a:solidFill>
                  </a:tcPr>
                </a:tc>
                <a:extLst>
                  <a:ext uri="{0D108BD9-81ED-4DB2-BD59-A6C34878D82A}">
                    <a16:rowId xmlns:a16="http://schemas.microsoft.com/office/drawing/2014/main" val="10002"/>
                  </a:ext>
                </a:extLst>
              </a:tr>
              <a:tr h="375857">
                <a:tc>
                  <a:txBody>
                    <a:bodyPr/>
                    <a:lstStyle/>
                    <a:p>
                      <a:pPr algn="l">
                        <a:buNone/>
                      </a:pPr>
                      <a:r>
                        <a:rPr sz="1950" b="0">
                          <a:solidFill>
                            <a:srgbClr val="111111"/>
                          </a:solidFill>
                          <a:latin typeface="Aptos"/>
                          <a:ea typeface="Aptos"/>
                          <a:cs typeface="Aptos"/>
                        </a:rPr>
                        <a:t>40</a:t>
                      </a:r>
                    </a:p>
                  </a:txBody>
                  <a:tcPr anchor="ctr">
                    <a:solidFill>
                      <a:srgbClr val="FFFFFF"/>
                    </a:solidFill>
                  </a:tcPr>
                </a:tc>
                <a:tc>
                  <a:txBody>
                    <a:bodyPr/>
                    <a:lstStyle/>
                    <a:p>
                      <a:pPr algn="ctr">
                        <a:buNone/>
                      </a:pPr>
                      <a:r>
                        <a:rPr sz="1950" b="0">
                          <a:solidFill>
                            <a:srgbClr val="111111"/>
                          </a:solidFill>
                          <a:latin typeface="Aptos"/>
                          <a:ea typeface="Aptos"/>
                          <a:cs typeface="Aptos"/>
                        </a:rPr>
                        <a:t>19</a:t>
                      </a:r>
                    </a:p>
                  </a:txBody>
                  <a:tcPr anchor="ctr">
                    <a:solidFill>
                      <a:srgbClr val="FFFFFF"/>
                    </a:solidFill>
                  </a:tcPr>
                </a:tc>
                <a:extLst>
                  <a:ext uri="{0D108BD9-81ED-4DB2-BD59-A6C34878D82A}">
                    <a16:rowId xmlns:a16="http://schemas.microsoft.com/office/drawing/2014/main" val="10003"/>
                  </a:ext>
                </a:extLst>
              </a:tr>
              <a:tr h="375857">
                <a:tc>
                  <a:txBody>
                    <a:bodyPr/>
                    <a:lstStyle/>
                    <a:p>
                      <a:pPr algn="l">
                        <a:buNone/>
                      </a:pPr>
                      <a:r>
                        <a:rPr sz="1950" b="0">
                          <a:solidFill>
                            <a:srgbClr val="111111"/>
                          </a:solidFill>
                          <a:latin typeface="Aptos"/>
                          <a:ea typeface="Aptos"/>
                          <a:cs typeface="Aptos"/>
                        </a:rPr>
                        <a:t>50</a:t>
                      </a:r>
                    </a:p>
                  </a:txBody>
                  <a:tcPr anchor="ctr">
                    <a:solidFill>
                      <a:srgbClr val="EEF8FE"/>
                    </a:solidFill>
                  </a:tcPr>
                </a:tc>
                <a:tc>
                  <a:txBody>
                    <a:bodyPr/>
                    <a:lstStyle/>
                    <a:p>
                      <a:pPr algn="ctr">
                        <a:buNone/>
                      </a:pPr>
                      <a:r>
                        <a:rPr sz="1950" b="0">
                          <a:solidFill>
                            <a:srgbClr val="111111"/>
                          </a:solidFill>
                          <a:latin typeface="Aptos"/>
                          <a:ea typeface="Aptos"/>
                          <a:cs typeface="Aptos"/>
                        </a:rPr>
                        <a:t>25</a:t>
                      </a:r>
                    </a:p>
                  </a:txBody>
                  <a:tcPr anchor="ctr">
                    <a:solidFill>
                      <a:srgbClr val="EEF8FE"/>
                    </a:solidFill>
                  </a:tcPr>
                </a:tc>
                <a:extLst>
                  <a:ext uri="{0D108BD9-81ED-4DB2-BD59-A6C34878D82A}">
                    <a16:rowId xmlns:a16="http://schemas.microsoft.com/office/drawing/2014/main" val="10004"/>
                  </a:ext>
                </a:extLst>
              </a:tr>
            </a:tbl>
          </a:graphicData>
        </a:graphic>
      </p:graphicFrame>
      <p:graphicFrame>
        <p:nvGraphicFramePr>
          <p:cNvPr id="6" name="Chart"/>
          <p:cNvGraphicFramePr/>
          <p:nvPr/>
        </p:nvGraphicFramePr>
        <p:xfrm>
          <a:off x="5048250" y="2762250"/>
          <a:ext cx="6524625" cy="2905125"/>
        </p:xfrm>
        <a:graphic>
          <a:graphicData uri="http://schemas.openxmlformats.org/drawingml/2006/chart">
            <c:chart xmlns:c="http://schemas.openxmlformats.org/drawingml/2006/chart" xmlns:r="http://schemas.openxmlformats.org/officeDocument/2006/relationships" r:id="rId3"/>
          </a:graphicData>
        </a:graphic>
      </p:graphicFrame>
      <p:sp>
        <p:nvSpPr>
          <p:cNvPr id="7" name="Ogive interpretation callout">
            <a:extLst>
              <a:ext uri="{FF2B5EF4-FFF2-40B4-BE49-F238E27FC236}">
                <a16:creationId xmlns:a16="http://schemas.microsoft.com/office/drawing/2014/main" id="{5D121C44-F65B-4F5A-B8B5-EEB048DB0AD1}"/>
              </a:ext>
            </a:extLst>
          </p:cNvPr>
          <p:cNvSpPr>
            <a:spLocks noGrp="1"/>
          </p:cNvSpPr>
          <p:nvPr/>
        </p:nvSpPr>
        <p:spPr>
          <a:xfrm>
            <a:off x="6191250" y="3048000"/>
            <a:ext cx="2952750" cy="819150"/>
          </a:xfrm>
          <a:prstGeom prst="rect">
            <a:avLst/>
          </a:prstGeom>
          <a:solidFill>
            <a:srgbClr val="FFF1D6"/>
          </a:solidFill>
          <a:ln w="9525">
            <a:solidFill>
              <a:srgbClr val="D4AA5C"/>
            </a:solidFill>
          </a:ln>
        </p:spPr>
        <p:txBody>
          <a:bodyPr/>
          <a:lstStyle/>
          <a:p>
            <a:endParaRPr lang="en-US"/>
          </a:p>
        </p:txBody>
      </p:sp>
      <p:sp>
        <p:nvSpPr>
          <p:cNvPr id="8" name="Ogive meaning">
            <a:extLst>
              <a:ext uri="{FF2B5EF4-FFF2-40B4-BE49-F238E27FC236}">
                <a16:creationId xmlns:a16="http://schemas.microsoft.com/office/drawing/2014/main" id="{D0F1D753-98E2-4A46-9137-A90047940B47}"/>
              </a:ext>
            </a:extLst>
          </p:cNvPr>
          <p:cNvSpPr>
            <a:spLocks noGrp="1"/>
          </p:cNvSpPr>
          <p:nvPr/>
        </p:nvSpPr>
        <p:spPr>
          <a:xfrm>
            <a:off x="6343650" y="3181350"/>
            <a:ext cx="2695575" cy="581025"/>
          </a:xfrm>
          <a:prstGeom prst="rect">
            <a:avLst/>
          </a:prstGeom>
          <a:noFill/>
          <a:ln w="0">
            <a:noFill/>
          </a:ln>
        </p:spPr>
        <p:txBody>
          <a:bodyPr anchor="t">
            <a:noAutofit/>
          </a:bodyPr>
          <a:lstStyle/>
          <a:p>
            <a:pPr algn="l">
              <a:defRPr sz="1875" b="1">
                <a:solidFill>
                  <a:srgbClr val="111111"/>
                </a:solidFill>
                <a:latin typeface="Aptos"/>
                <a:ea typeface="Aptos"/>
                <a:cs typeface="Aptos"/>
              </a:defRPr>
            </a:pPr>
            <a:r>
              <a:rPr sz="1875" b="1">
                <a:solidFill>
                  <a:srgbClr val="111111"/>
                </a:solidFill>
                <a:latin typeface="Aptos"/>
                <a:ea typeface="Aptos"/>
                <a:cs typeface="Aptos"/>
              </a:rPr>
              <a:t>9 sessions had fewer</a:t>
            </a:r>
          </a:p>
          <a:p>
            <a:pPr algn="l">
              <a:defRPr sz="1875" b="1">
                <a:solidFill>
                  <a:srgbClr val="111111"/>
                </a:solidFill>
                <a:latin typeface="Aptos"/>
                <a:ea typeface="Aptos"/>
                <a:cs typeface="Aptos"/>
              </a:defRPr>
            </a:pPr>
            <a:r>
              <a:rPr sz="1875" b="1">
                <a:solidFill>
                  <a:srgbClr val="111111"/>
                </a:solidFill>
                <a:latin typeface="Aptos"/>
                <a:ea typeface="Aptos"/>
                <a:cs typeface="Aptos"/>
              </a:rPr>
              <a:t>than 30 sign-ups.</a:t>
            </a:r>
          </a:p>
        </p:txBody>
      </p:sp>
      <p:sp>
        <p:nvSpPr>
          <p:cNvPr id="9" name="Callout to (30, 9)">
            <a:extLst>
              <a:ext uri="{FF2B5EF4-FFF2-40B4-BE49-F238E27FC236}">
                <a16:creationId xmlns:a16="http://schemas.microsoft.com/office/drawing/2014/main" id="{9CF3B57E-A62A-43AF-897C-0AE6B75A90CB}"/>
              </a:ext>
            </a:extLst>
          </p:cNvPr>
          <p:cNvSpPr>
            <a:spLocks noGrp="1"/>
          </p:cNvSpPr>
          <p:nvPr/>
        </p:nvSpPr>
        <p:spPr>
          <a:xfrm>
            <a:off x="8620125" y="3867150"/>
            <a:ext cx="0" cy="352425"/>
          </a:xfrm>
          <a:prstGeom prst="line">
            <a:avLst/>
          </a:prstGeom>
          <a:ln w="14288">
            <a:solidFill>
              <a:srgbClr val="866B35"/>
            </a:solidFill>
          </a:ln>
        </p:spPr>
        <p:txBody>
          <a:bodyPr/>
          <a:lstStyle/>
          <a:p>
            <a:endParaRPr lang="en-US"/>
          </a:p>
        </p:txBody>
      </p:sp>
    </p:spTree>
    <p:extLst>
      <p:ext uri="{BB962C8B-B14F-4D97-AF65-F5344CB8AC3E}">
        <p14:creationId xmlns:p14="http://schemas.microsoft.com/office/powerpoint/2010/main" val="900440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22727F94-4D26-4BD6-B883-1E110DEFB4A7}"/>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Reading the Food Club ogive</a:t>
            </a:r>
          </a:p>
        </p:txBody>
      </p:sp>
      <p:sp>
        <p:nvSpPr>
          <p:cNvPr id="3" name="Lead">
            <a:extLst>
              <a:ext uri="{FF2B5EF4-FFF2-40B4-BE49-F238E27FC236}">
                <a16:creationId xmlns:a16="http://schemas.microsoft.com/office/drawing/2014/main" id="{E661F684-1136-449A-A60F-CC6A1883431B}"/>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Find the sign-up boundary on X, move up to the graph, then read Y.</a:t>
            </a:r>
          </a:p>
        </p:txBody>
      </p:sp>
      <p:sp>
        <p:nvSpPr>
          <p:cNvPr id="4" name="Footer">
            <a:extLst>
              <a:ext uri="{FF2B5EF4-FFF2-40B4-BE49-F238E27FC236}">
                <a16:creationId xmlns:a16="http://schemas.microsoft.com/office/drawing/2014/main" id="{89BBAF22-826C-42D5-B5DB-1567954ECBD2}"/>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Below 40 includes the sessions below 30. Subtraction removes those earlier sessions.</a:t>
            </a:r>
          </a:p>
        </p:txBody>
      </p:sp>
      <p:graphicFrame>
        <p:nvGraphicFramePr>
          <p:cNvPr id="5" name="Chart"/>
          <p:cNvGraphicFramePr/>
          <p:nvPr/>
        </p:nvGraphicFramePr>
        <p:xfrm>
          <a:off x="619125" y="2857500"/>
          <a:ext cx="6905625" cy="28575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a:extLst>
              <a:ext uri="{FF2B5EF4-FFF2-40B4-BE49-F238E27FC236}">
                <a16:creationId xmlns:a16="http://schemas.microsoft.com/office/drawing/2014/main" id="{9D7A625E-F95F-4404-9BC3-96319E15B0CE}"/>
              </a:ext>
            </a:extLst>
          </p:cNvPr>
          <p:cNvSpPr>
            <a:spLocks noGrp="1"/>
          </p:cNvSpPr>
          <p:nvPr/>
        </p:nvSpPr>
        <p:spPr>
          <a:xfrm>
            <a:off x="7905750" y="4524375"/>
            <a:ext cx="3619500" cy="104775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30 ≤ x &lt; 40 sign-ups:</a:t>
            </a:r>
          </a:p>
          <a:p>
            <a:pPr algn="l">
              <a:buNone/>
              <a:defRPr sz="2325" b="0">
                <a:solidFill>
                  <a:srgbClr val="111111"/>
                </a:solidFill>
                <a:latin typeface="Aptos"/>
                <a:ea typeface="Aptos"/>
                <a:cs typeface="Aptos"/>
              </a:defRPr>
            </a:pPr>
            <a:r>
              <a:rPr sz="2325" b="0">
                <a:solidFill>
                  <a:srgbClr val="111111"/>
                </a:solidFill>
                <a:latin typeface="Aptos"/>
                <a:ea typeface="Aptos"/>
                <a:cs typeface="Aptos"/>
              </a:rPr>
              <a:t>19 − 9 = 10 sessions</a:t>
            </a:r>
          </a:p>
        </p:txBody>
      </p:sp>
      <p:sp>
        <p:nvSpPr>
          <p:cNvPr id="7" name="Ogive interval callout">
            <a:extLst>
              <a:ext uri="{FF2B5EF4-FFF2-40B4-BE49-F238E27FC236}">
                <a16:creationId xmlns:a16="http://schemas.microsoft.com/office/drawing/2014/main" id="{DCEBB6F2-96E8-4DE8-9101-37529CF6D9A8}"/>
              </a:ext>
            </a:extLst>
          </p:cNvPr>
          <p:cNvSpPr>
            <a:spLocks noGrp="1"/>
          </p:cNvSpPr>
          <p:nvPr/>
        </p:nvSpPr>
        <p:spPr>
          <a:xfrm>
            <a:off x="7753350" y="2933700"/>
            <a:ext cx="3810000" cy="1228725"/>
          </a:xfrm>
          <a:prstGeom prst="rect">
            <a:avLst/>
          </a:prstGeom>
          <a:solidFill>
            <a:srgbClr val="FFF1D6"/>
          </a:solidFill>
          <a:ln w="9525">
            <a:solidFill>
              <a:srgbClr val="D4AA5C"/>
            </a:solidFill>
          </a:ln>
        </p:spPr>
        <p:txBody>
          <a:bodyPr/>
          <a:lstStyle/>
          <a:p>
            <a:endParaRPr lang="en-US"/>
          </a:p>
        </p:txBody>
      </p:sp>
      <p:sp>
        <p:nvSpPr>
          <p:cNvPr id="8" name="Below boundary meanings">
            <a:extLst>
              <a:ext uri="{FF2B5EF4-FFF2-40B4-BE49-F238E27FC236}">
                <a16:creationId xmlns:a16="http://schemas.microsoft.com/office/drawing/2014/main" id="{CF5A51D1-43F3-4D7F-9C06-77F00852C8DE}"/>
              </a:ext>
            </a:extLst>
          </p:cNvPr>
          <p:cNvSpPr>
            <a:spLocks noGrp="1"/>
          </p:cNvSpPr>
          <p:nvPr/>
        </p:nvSpPr>
        <p:spPr>
          <a:xfrm>
            <a:off x="7905750" y="3143250"/>
            <a:ext cx="3514725" cy="914400"/>
          </a:xfrm>
          <a:prstGeom prst="rect">
            <a:avLst/>
          </a:prstGeom>
          <a:noFill/>
          <a:ln w="0">
            <a:noFill/>
          </a:ln>
        </p:spPr>
        <p:txBody>
          <a:bodyPr anchor="t">
            <a:noAutofit/>
          </a:bodyPr>
          <a:lstStyle/>
          <a:p>
            <a:pPr algn="l">
              <a:defRPr sz="1800" b="1">
                <a:solidFill>
                  <a:srgbClr val="111111"/>
                </a:solidFill>
                <a:latin typeface="Aptos"/>
                <a:ea typeface="Aptos"/>
                <a:cs typeface="Aptos"/>
              </a:defRPr>
            </a:pPr>
            <a:r>
              <a:rPr sz="1800" b="1">
                <a:solidFill>
                  <a:srgbClr val="111111"/>
                </a:solidFill>
                <a:latin typeface="Aptos"/>
                <a:ea typeface="Aptos"/>
                <a:cs typeface="Aptos"/>
              </a:rPr>
              <a:t>Below 30 sign-ups: 9 sessions</a:t>
            </a:r>
          </a:p>
          <a:p>
            <a:pPr algn="l">
              <a:defRPr sz="1800" b="1">
                <a:solidFill>
                  <a:srgbClr val="111111"/>
                </a:solidFill>
                <a:latin typeface="Aptos"/>
                <a:ea typeface="Aptos"/>
                <a:cs typeface="Aptos"/>
              </a:defRPr>
            </a:pPr>
            <a:r>
              <a:rPr sz="1800" b="1">
                <a:solidFill>
                  <a:srgbClr val="111111"/>
                </a:solidFill>
                <a:latin typeface="Aptos"/>
                <a:ea typeface="Aptos"/>
                <a:cs typeface="Aptos"/>
              </a:rPr>
              <a:t>Below 40 sign-ups: 19 sessions</a:t>
            </a:r>
          </a:p>
        </p:txBody>
      </p:sp>
    </p:spTree>
    <p:extLst>
      <p:ext uri="{BB962C8B-B14F-4D97-AF65-F5344CB8AC3E}">
        <p14:creationId xmlns:p14="http://schemas.microsoft.com/office/powerpoint/2010/main" val="1287744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21F0B820-6308-4835-8A12-5DB837D9C043}"/>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Using an ogive to find the median</a:t>
            </a:r>
          </a:p>
        </p:txBody>
      </p:sp>
      <p:sp>
        <p:nvSpPr>
          <p:cNvPr id="2" name="Lead">
            <a:extLst>
              <a:ext uri="{FF2B5EF4-FFF2-40B4-BE49-F238E27FC236}">
                <a16:creationId xmlns:a16="http://schemas.microsoft.com/office/drawing/2014/main" id="{CC4B0519-A59F-4F5E-A899-1A3690F719AF}"/>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The median is the middle result: the point that divides the data into two halves.</a:t>
            </a:r>
          </a:p>
        </p:txBody>
      </p:sp>
      <p:sp>
        <p:nvSpPr>
          <p:cNvPr id="3" name="Footer">
            <a:extLst>
              <a:ext uri="{FF2B5EF4-FFF2-40B4-BE49-F238E27FC236}">
                <a16:creationId xmlns:a16="http://schemas.microsoft.com/office/drawing/2014/main" id="{B86BC1DD-6780-41C9-8F33-064B8D82C9E0}"/>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We want a sign-up value on X. We will find it by locating 50% on Y.</a:t>
            </a:r>
          </a:p>
        </p:txBody>
      </p:sp>
      <p:sp>
        <p:nvSpPr>
          <p:cNvPr id="4" name="Text">
            <a:extLst>
              <a:ext uri="{FF2B5EF4-FFF2-40B4-BE49-F238E27FC236}">
                <a16:creationId xmlns:a16="http://schemas.microsoft.com/office/drawing/2014/main" id="{3D99E246-BAD4-49FE-8149-137357AA0B64}"/>
              </a:ext>
            </a:extLst>
          </p:cNvPr>
          <p:cNvSpPr>
            <a:spLocks noGrp="1"/>
          </p:cNvSpPr>
          <p:nvPr/>
        </p:nvSpPr>
        <p:spPr>
          <a:xfrm>
            <a:off x="619125" y="3028950"/>
            <a:ext cx="10477500" cy="476250"/>
          </a:xfrm>
          <a:prstGeom prst="rect">
            <a:avLst/>
          </a:prstGeom>
          <a:noFill/>
          <a:ln w="0">
            <a:noFill/>
          </a:ln>
        </p:spPr>
        <p:txBody>
          <a:bodyPr wrap="square" lIns="0" tIns="0" rIns="0" bIns="0" anchor="t">
            <a:noAutofit/>
          </a:bodyPr>
          <a:lstStyle/>
          <a:p>
            <a:pPr algn="l">
              <a:buNone/>
              <a:defRPr sz="2625" b="1">
                <a:solidFill>
                  <a:srgbClr val="111111"/>
                </a:solidFill>
                <a:latin typeface="Aptos"/>
                <a:ea typeface="Aptos"/>
                <a:cs typeface="Aptos"/>
              </a:defRPr>
            </a:pPr>
            <a:r>
              <a:rPr sz="2625" b="1">
                <a:solidFill>
                  <a:srgbClr val="111111"/>
                </a:solidFill>
                <a:latin typeface="Aptos"/>
                <a:ea typeface="Aptos"/>
                <a:cs typeface="Aptos"/>
              </a:rPr>
              <a:t>Food Club question</a:t>
            </a:r>
          </a:p>
        </p:txBody>
      </p:sp>
      <p:sp>
        <p:nvSpPr>
          <p:cNvPr id="5" name="Text">
            <a:extLst>
              <a:ext uri="{FF2B5EF4-FFF2-40B4-BE49-F238E27FC236}">
                <a16:creationId xmlns:a16="http://schemas.microsoft.com/office/drawing/2014/main" id="{A72977A8-57DF-42D5-BFA8-F590A8D15AA9}"/>
              </a:ext>
            </a:extLst>
          </p:cNvPr>
          <p:cNvSpPr>
            <a:spLocks noGrp="1"/>
          </p:cNvSpPr>
          <p:nvPr/>
        </p:nvSpPr>
        <p:spPr>
          <a:xfrm>
            <a:off x="619125" y="3667125"/>
            <a:ext cx="10572750" cy="952500"/>
          </a:xfrm>
          <a:prstGeom prst="rect">
            <a:avLst/>
          </a:prstGeom>
          <a:noFill/>
          <a:ln w="0">
            <a:noFill/>
          </a:ln>
        </p:spPr>
        <p:txBody>
          <a:bodyPr wrap="square" lIns="0" tIns="0" rIns="0" bIns="0" anchor="t">
            <a:noAutofit/>
          </a:bodyPr>
          <a:lstStyle/>
          <a:p>
            <a:pPr algn="l">
              <a:buNone/>
              <a:defRPr sz="2850" b="0">
                <a:solidFill>
                  <a:srgbClr val="111111"/>
                </a:solidFill>
                <a:latin typeface="Aptos"/>
                <a:ea typeface="Aptos"/>
                <a:cs typeface="Aptos"/>
              </a:defRPr>
            </a:pPr>
            <a:r>
              <a:rPr sz="2850" b="0">
                <a:solidFill>
                  <a:srgbClr val="111111"/>
                </a:solidFill>
                <a:latin typeface="Aptos"/>
                <a:ea typeface="Aptos"/>
                <a:cs typeface="Aptos"/>
              </a:rPr>
              <a:t>What sign-up level splits the 25 sessions</a:t>
            </a:r>
          </a:p>
          <a:p>
            <a:pPr algn="l">
              <a:buNone/>
              <a:defRPr sz="2850" b="0">
                <a:solidFill>
                  <a:srgbClr val="111111"/>
                </a:solidFill>
                <a:latin typeface="Aptos"/>
                <a:ea typeface="Aptos"/>
                <a:cs typeface="Aptos"/>
              </a:defRPr>
            </a:pPr>
            <a:r>
              <a:rPr sz="2850" b="0">
                <a:solidFill>
                  <a:srgbClr val="111111"/>
                </a:solidFill>
                <a:latin typeface="Aptos"/>
                <a:ea typeface="Aptos"/>
                <a:cs typeface="Aptos"/>
              </a:rPr>
              <a:t>into a lower half and an upper half?</a:t>
            </a:r>
          </a:p>
        </p:txBody>
      </p:sp>
      <p:sp>
        <p:nvSpPr>
          <p:cNvPr id="6" name="Text">
            <a:extLst>
              <a:ext uri="{FF2B5EF4-FFF2-40B4-BE49-F238E27FC236}">
                <a16:creationId xmlns:a16="http://schemas.microsoft.com/office/drawing/2014/main" id="{9985AF64-8566-41B0-BAD6-DF356066DDF4}"/>
              </a:ext>
            </a:extLst>
          </p:cNvPr>
          <p:cNvSpPr>
            <a:spLocks noGrp="1"/>
          </p:cNvSpPr>
          <p:nvPr/>
        </p:nvSpPr>
        <p:spPr>
          <a:xfrm>
            <a:off x="619125" y="5095875"/>
            <a:ext cx="10572750" cy="523875"/>
          </a:xfrm>
          <a:prstGeom prst="rect">
            <a:avLst/>
          </a:prstGeom>
          <a:noFill/>
          <a:ln w="0">
            <a:noFill/>
          </a:ln>
        </p:spPr>
        <p:txBody>
          <a:bodyPr wrap="square" lIns="0" tIns="0" rIns="0" bIns="0" anchor="t">
            <a:noAutofit/>
          </a:bodyPr>
          <a:lstStyle/>
          <a:p>
            <a:pPr algn="l">
              <a:buNone/>
              <a:defRPr sz="3150" b="1">
                <a:solidFill>
                  <a:srgbClr val="D6171D"/>
                </a:solidFill>
                <a:latin typeface="Aptos"/>
                <a:ea typeface="Aptos"/>
                <a:cs typeface="Aptos"/>
              </a:defRPr>
            </a:pPr>
            <a:r>
              <a:rPr sz="3150" b="1">
                <a:solidFill>
                  <a:srgbClr val="D6171D"/>
                </a:solidFill>
                <a:latin typeface="Aptos"/>
                <a:ea typeface="Aptos"/>
                <a:cs typeface="Aptos"/>
              </a:rPr>
              <a:t>Half of the data = 50%</a:t>
            </a:r>
          </a:p>
        </p:txBody>
      </p:sp>
    </p:spTree>
    <p:extLst>
      <p:ext uri="{BB962C8B-B14F-4D97-AF65-F5344CB8AC3E}">
        <p14:creationId xmlns:p14="http://schemas.microsoft.com/office/powerpoint/2010/main" val="444932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title">
            <a:extLst>
              <a:ext uri="{FF2B5EF4-FFF2-40B4-BE49-F238E27FC236}">
                <a16:creationId xmlns:a16="http://schemas.microsoft.com/office/drawing/2014/main" id="{B464F8CB-5996-481C-A14D-72BCA96D4679}"/>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Food Club: convert the running totals</a:t>
            </a:r>
          </a:p>
        </p:txBody>
      </p:sp>
      <p:sp>
        <p:nvSpPr>
          <p:cNvPr id="2" name="Lead">
            <a:extLst>
              <a:ext uri="{FF2B5EF4-FFF2-40B4-BE49-F238E27FC236}">
                <a16:creationId xmlns:a16="http://schemas.microsoft.com/office/drawing/2014/main" id="{2ADB65F9-4D6C-441E-8716-973EB0A55AED}"/>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The X-values stay the same. Y will now show the cumulative percentage.</a:t>
            </a:r>
          </a:p>
        </p:txBody>
      </p:sp>
      <p:sp>
        <p:nvSpPr>
          <p:cNvPr id="3" name="Footer">
            <a:extLst>
              <a:ext uri="{FF2B5EF4-FFF2-40B4-BE49-F238E27FC236}">
                <a16:creationId xmlns:a16="http://schemas.microsoft.com/office/drawing/2014/main" id="{D0C5D1AD-CE23-49FD-A466-8D8C7DDD4B36}"/>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Cumulative percentage = CF ÷ 25 × 100%. The final value must be 100%.</a:t>
            </a:r>
          </a:p>
        </p:txBody>
      </p:sp>
      <p:graphicFrame>
        <p:nvGraphicFramePr>
          <p:cNvPr id="10" name="Table 9"/>
          <p:cNvGraphicFramePr/>
          <p:nvPr/>
        </p:nvGraphicFramePr>
        <p:xfrm>
          <a:off x="619125" y="3000375"/>
          <a:ext cx="10953750" cy="2575179"/>
        </p:xfrm>
        <a:graphic>
          <a:graphicData uri="http://schemas.openxmlformats.org/drawingml/2006/table">
            <a:tbl>
              <a:tblPr/>
              <a:tblGrid>
                <a:gridCol w="2667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1020699">
                <a:tc>
                  <a:txBody>
                    <a:bodyPr/>
                    <a:lstStyle/>
                    <a:p>
                      <a:pPr algn="l">
                        <a:buNone/>
                      </a:pPr>
                      <a:r>
                        <a:rPr sz="1950" b="1">
                          <a:solidFill>
                            <a:srgbClr val="FFFFFF"/>
                          </a:solidFill>
                          <a:latin typeface="Aptos"/>
                          <a:ea typeface="Aptos"/>
                          <a:cs typeface="Aptos"/>
                        </a:rPr>
                        <a:t>Sign-up interval</a:t>
                      </a:r>
                    </a:p>
                  </a:txBody>
                  <a:tcPr anchor="ctr">
                    <a:solidFill>
                      <a:srgbClr val="D6171D"/>
                    </a:solidFill>
                  </a:tcPr>
                </a:tc>
                <a:tc>
                  <a:txBody>
                    <a:bodyPr/>
                    <a:lstStyle/>
                    <a:p>
                      <a:pPr algn="ctr">
                        <a:buNone/>
                      </a:pPr>
                      <a:r>
                        <a:rPr sz="1950" b="1">
                          <a:solidFill>
                            <a:srgbClr val="FFFFFF"/>
                          </a:solidFill>
                          <a:latin typeface="Aptos"/>
                          <a:ea typeface="Aptos"/>
                          <a:cs typeface="Aptos"/>
                        </a:rPr>
                        <a:t>Upper boundary</a:t>
                      </a:r>
                    </a:p>
                    <a:p>
                      <a:pPr algn="ctr">
                        <a:buNone/>
                      </a:pPr>
                      <a:r>
                        <a:rPr sz="1950" b="1">
                          <a:solidFill>
                            <a:srgbClr val="FFFFFF"/>
                          </a:solidFill>
                          <a:latin typeface="Aptos"/>
                          <a:ea typeface="Aptos"/>
                          <a:cs typeface="Aptos"/>
                        </a:rPr>
                        <a:t>(X)</a:t>
                      </a:r>
                    </a:p>
                  </a:txBody>
                  <a:tcPr anchor="ctr">
                    <a:solidFill>
                      <a:srgbClr val="D6171D"/>
                    </a:solidFill>
                  </a:tcPr>
                </a:tc>
                <a:tc>
                  <a:txBody>
                    <a:bodyPr/>
                    <a:lstStyle/>
                    <a:p>
                      <a:pPr algn="ctr">
                        <a:buNone/>
                      </a:pPr>
                      <a:r>
                        <a:rPr sz="1950" b="1">
                          <a:solidFill>
                            <a:srgbClr val="FFFFFF"/>
                          </a:solidFill>
                          <a:latin typeface="Aptos"/>
                          <a:ea typeface="Aptos"/>
                          <a:cs typeface="Aptos"/>
                        </a:rPr>
                        <a:t>CF:</a:t>
                      </a:r>
                    </a:p>
                    <a:p>
                      <a:pPr algn="ctr">
                        <a:buNone/>
                      </a:pPr>
                      <a:r>
                        <a:rPr sz="1950" b="1">
                          <a:solidFill>
                            <a:srgbClr val="FFFFFF"/>
                          </a:solidFill>
                          <a:latin typeface="Aptos"/>
                          <a:ea typeface="Aptos"/>
                          <a:cs typeface="Aptos"/>
                        </a:rPr>
                        <a:t>sessions</a:t>
                      </a:r>
                    </a:p>
                  </a:txBody>
                  <a:tcPr anchor="ctr">
                    <a:solidFill>
                      <a:srgbClr val="D6171D"/>
                    </a:solidFill>
                  </a:tcPr>
                </a:tc>
                <a:tc>
                  <a:txBody>
                    <a:bodyPr/>
                    <a:lstStyle/>
                    <a:p>
                      <a:pPr algn="ctr">
                        <a:buNone/>
                      </a:pPr>
                      <a:r>
                        <a:rPr sz="1950" b="1">
                          <a:solidFill>
                            <a:srgbClr val="FFFFFF"/>
                          </a:solidFill>
                          <a:latin typeface="Aptos"/>
                          <a:ea typeface="Aptos"/>
                          <a:cs typeface="Aptos"/>
                        </a:rPr>
                        <a:t>Cumulative</a:t>
                      </a:r>
                    </a:p>
                    <a:p>
                      <a:pPr algn="ctr">
                        <a:buNone/>
                      </a:pPr>
                      <a:r>
                        <a:rPr sz="1950" b="1">
                          <a:solidFill>
                            <a:srgbClr val="FFFFFF"/>
                          </a:solidFill>
                          <a:latin typeface="Aptos"/>
                          <a:ea typeface="Aptos"/>
                          <a:cs typeface="Aptos"/>
                        </a:rPr>
                        <a:t>relative frequency</a:t>
                      </a:r>
                    </a:p>
                  </a:txBody>
                  <a:tcPr anchor="ctr">
                    <a:solidFill>
                      <a:srgbClr val="D6171D"/>
                    </a:solidFill>
                  </a:tcPr>
                </a:tc>
                <a:tc>
                  <a:txBody>
                    <a:bodyPr/>
                    <a:lstStyle/>
                    <a:p>
                      <a:pPr algn="ctr">
                        <a:buNone/>
                      </a:pPr>
                      <a:r>
                        <a:rPr sz="1950" b="1">
                          <a:solidFill>
                            <a:srgbClr val="FFFFFF"/>
                          </a:solidFill>
                          <a:latin typeface="Aptos"/>
                          <a:ea typeface="Aptos"/>
                          <a:cs typeface="Aptos"/>
                        </a:rPr>
                        <a:t>Cumulative %</a:t>
                      </a:r>
                    </a:p>
                    <a:p>
                      <a:pPr algn="ctr">
                        <a:buNone/>
                      </a:pPr>
                      <a:r>
                        <a:rPr sz="1950" b="1">
                          <a:solidFill>
                            <a:srgbClr val="FFFFFF"/>
                          </a:solidFill>
                          <a:latin typeface="Aptos"/>
                          <a:ea typeface="Aptos"/>
                          <a:cs typeface="Aptos"/>
                        </a:rPr>
                        <a:t>(Y)</a:t>
                      </a:r>
                    </a:p>
                  </a:txBody>
                  <a:tcPr anchor="ctr">
                    <a:solidFill>
                      <a:srgbClr val="D6171D"/>
                    </a:solidFill>
                  </a:tcPr>
                </a:tc>
                <a:extLst>
                  <a:ext uri="{0D108BD9-81ED-4DB2-BD59-A6C34878D82A}">
                    <a16:rowId xmlns:a16="http://schemas.microsoft.com/office/drawing/2014/main" val="10000"/>
                  </a:ext>
                </a:extLst>
              </a:tr>
              <a:tr h="375857">
                <a:tc>
                  <a:txBody>
                    <a:bodyPr/>
                    <a:lstStyle/>
                    <a:p>
                      <a:pPr algn="l">
                        <a:buNone/>
                      </a:pPr>
                      <a:r>
                        <a:rPr sz="1950" b="0">
                          <a:solidFill>
                            <a:srgbClr val="111111"/>
                          </a:solidFill>
                          <a:latin typeface="Aptos"/>
                          <a:ea typeface="Aptos"/>
                          <a:cs typeface="Aptos"/>
                        </a:rPr>
                        <a:t>10 ≤ x &lt; 20</a:t>
                      </a:r>
                    </a:p>
                  </a:txBody>
                  <a:tcPr anchor="ctr">
                    <a:solidFill>
                      <a:srgbClr val="FFFFFF"/>
                    </a:solidFill>
                  </a:tcPr>
                </a:tc>
                <a:tc>
                  <a:txBody>
                    <a:bodyPr/>
                    <a:lstStyle/>
                    <a:p>
                      <a:pPr algn="ctr">
                        <a:buNone/>
                      </a:pPr>
                      <a:r>
                        <a:rPr sz="1950" b="0">
                          <a:solidFill>
                            <a:srgbClr val="111111"/>
                          </a:solidFill>
                          <a:latin typeface="Aptos"/>
                          <a:ea typeface="Aptos"/>
                          <a:cs typeface="Aptos"/>
                        </a:rPr>
                        <a:t>20</a:t>
                      </a:r>
                    </a:p>
                  </a:txBody>
                  <a:tcPr anchor="ctr">
                    <a:solidFill>
                      <a:srgbClr val="FFFFFF"/>
                    </a:solidFill>
                  </a:tcPr>
                </a:tc>
                <a:tc>
                  <a:txBody>
                    <a:bodyPr/>
                    <a:lstStyle/>
                    <a:p>
                      <a:pPr algn="ctr">
                        <a:buNone/>
                      </a:pPr>
                      <a:r>
                        <a:rPr sz="1950" b="0">
                          <a:solidFill>
                            <a:srgbClr val="111111"/>
                          </a:solidFill>
                          <a:latin typeface="Aptos"/>
                          <a:ea typeface="Aptos"/>
                          <a:cs typeface="Aptos"/>
                        </a:rPr>
                        <a:t>2</a:t>
                      </a:r>
                    </a:p>
                  </a:txBody>
                  <a:tcPr anchor="ctr">
                    <a:solidFill>
                      <a:srgbClr val="FFFFFF"/>
                    </a:solidFill>
                  </a:tcPr>
                </a:tc>
                <a:tc>
                  <a:txBody>
                    <a:bodyPr/>
                    <a:lstStyle/>
                    <a:p>
                      <a:pPr algn="ctr">
                        <a:buNone/>
                      </a:pPr>
                      <a:r>
                        <a:rPr sz="1950" b="0">
                          <a:solidFill>
                            <a:srgbClr val="111111"/>
                          </a:solidFill>
                          <a:latin typeface="Aptos"/>
                          <a:ea typeface="Aptos"/>
                          <a:cs typeface="Aptos"/>
                        </a:rPr>
                        <a:t>0.08</a:t>
                      </a:r>
                    </a:p>
                  </a:txBody>
                  <a:tcPr anchor="ctr">
                    <a:solidFill>
                      <a:srgbClr val="FFFFFF"/>
                    </a:solidFill>
                  </a:tcPr>
                </a:tc>
                <a:tc>
                  <a:txBody>
                    <a:bodyPr/>
                    <a:lstStyle/>
                    <a:p>
                      <a:pPr algn="ctr">
                        <a:buNone/>
                      </a:pPr>
                      <a:r>
                        <a:rPr sz="1950" b="0">
                          <a:solidFill>
                            <a:srgbClr val="111111"/>
                          </a:solidFill>
                          <a:latin typeface="Aptos"/>
                          <a:ea typeface="Aptos"/>
                          <a:cs typeface="Aptos"/>
                        </a:rPr>
                        <a:t>8%</a:t>
                      </a:r>
                    </a:p>
                  </a:txBody>
                  <a:tcPr anchor="ctr">
                    <a:solidFill>
                      <a:srgbClr val="FFFFFF"/>
                    </a:solidFill>
                  </a:tcPr>
                </a:tc>
                <a:extLst>
                  <a:ext uri="{0D108BD9-81ED-4DB2-BD59-A6C34878D82A}">
                    <a16:rowId xmlns:a16="http://schemas.microsoft.com/office/drawing/2014/main" val="10001"/>
                  </a:ext>
                </a:extLst>
              </a:tr>
              <a:tr h="375857">
                <a:tc>
                  <a:txBody>
                    <a:bodyPr/>
                    <a:lstStyle/>
                    <a:p>
                      <a:pPr algn="l">
                        <a:buNone/>
                      </a:pPr>
                      <a:r>
                        <a:rPr sz="1950" b="0">
                          <a:solidFill>
                            <a:srgbClr val="111111"/>
                          </a:solidFill>
                          <a:latin typeface="Aptos"/>
                          <a:ea typeface="Aptos"/>
                          <a:cs typeface="Aptos"/>
                        </a:rPr>
                        <a:t>20 ≤ x &lt; 30</a:t>
                      </a:r>
                    </a:p>
                  </a:txBody>
                  <a:tcPr anchor="ctr">
                    <a:solidFill>
                      <a:srgbClr val="EEF8FE"/>
                    </a:solidFill>
                  </a:tcPr>
                </a:tc>
                <a:tc>
                  <a:txBody>
                    <a:bodyPr/>
                    <a:lstStyle/>
                    <a:p>
                      <a:pPr algn="ctr">
                        <a:buNone/>
                      </a:pPr>
                      <a:r>
                        <a:rPr sz="1950" b="0">
                          <a:solidFill>
                            <a:srgbClr val="111111"/>
                          </a:solidFill>
                          <a:latin typeface="Aptos"/>
                          <a:ea typeface="Aptos"/>
                          <a:cs typeface="Aptos"/>
                        </a:rPr>
                        <a:t>30</a:t>
                      </a:r>
                    </a:p>
                  </a:txBody>
                  <a:tcPr anchor="ctr">
                    <a:solidFill>
                      <a:srgbClr val="EEF8FE"/>
                    </a:solidFill>
                  </a:tcPr>
                </a:tc>
                <a:tc>
                  <a:txBody>
                    <a:bodyPr/>
                    <a:lstStyle/>
                    <a:p>
                      <a:pPr algn="ctr">
                        <a:buNone/>
                      </a:pPr>
                      <a:r>
                        <a:rPr sz="1950" b="0">
                          <a:solidFill>
                            <a:srgbClr val="111111"/>
                          </a:solidFill>
                          <a:latin typeface="Aptos"/>
                          <a:ea typeface="Aptos"/>
                          <a:cs typeface="Aptos"/>
                        </a:rPr>
                        <a:t>9</a:t>
                      </a:r>
                    </a:p>
                  </a:txBody>
                  <a:tcPr anchor="ctr">
                    <a:solidFill>
                      <a:srgbClr val="EEF8FE"/>
                    </a:solidFill>
                  </a:tcPr>
                </a:tc>
                <a:tc>
                  <a:txBody>
                    <a:bodyPr/>
                    <a:lstStyle/>
                    <a:p>
                      <a:pPr algn="ctr">
                        <a:buNone/>
                      </a:pPr>
                      <a:r>
                        <a:rPr sz="1950" b="0">
                          <a:solidFill>
                            <a:srgbClr val="111111"/>
                          </a:solidFill>
                          <a:latin typeface="Aptos"/>
                          <a:ea typeface="Aptos"/>
                          <a:cs typeface="Aptos"/>
                        </a:rPr>
                        <a:t>0.36</a:t>
                      </a:r>
                    </a:p>
                  </a:txBody>
                  <a:tcPr anchor="ctr">
                    <a:solidFill>
                      <a:srgbClr val="EEF8FE"/>
                    </a:solidFill>
                  </a:tcPr>
                </a:tc>
                <a:tc>
                  <a:txBody>
                    <a:bodyPr/>
                    <a:lstStyle/>
                    <a:p>
                      <a:pPr algn="ctr">
                        <a:buNone/>
                      </a:pPr>
                      <a:r>
                        <a:rPr sz="1950" b="0">
                          <a:solidFill>
                            <a:srgbClr val="111111"/>
                          </a:solidFill>
                          <a:latin typeface="Aptos"/>
                          <a:ea typeface="Aptos"/>
                          <a:cs typeface="Aptos"/>
                        </a:rPr>
                        <a:t>36%</a:t>
                      </a:r>
                    </a:p>
                  </a:txBody>
                  <a:tcPr anchor="ctr">
                    <a:solidFill>
                      <a:srgbClr val="EEF8FE"/>
                    </a:solidFill>
                  </a:tcPr>
                </a:tc>
                <a:extLst>
                  <a:ext uri="{0D108BD9-81ED-4DB2-BD59-A6C34878D82A}">
                    <a16:rowId xmlns:a16="http://schemas.microsoft.com/office/drawing/2014/main" val="10002"/>
                  </a:ext>
                </a:extLst>
              </a:tr>
              <a:tr h="375857">
                <a:tc>
                  <a:txBody>
                    <a:bodyPr/>
                    <a:lstStyle/>
                    <a:p>
                      <a:pPr algn="l">
                        <a:buNone/>
                      </a:pPr>
                      <a:r>
                        <a:rPr sz="1950" b="0">
                          <a:solidFill>
                            <a:srgbClr val="111111"/>
                          </a:solidFill>
                          <a:latin typeface="Aptos"/>
                          <a:ea typeface="Aptos"/>
                          <a:cs typeface="Aptos"/>
                        </a:rPr>
                        <a:t>30 ≤ x &lt; 40</a:t>
                      </a:r>
                    </a:p>
                  </a:txBody>
                  <a:tcPr anchor="ctr">
                    <a:solidFill>
                      <a:srgbClr val="FFFFFF"/>
                    </a:solidFill>
                  </a:tcPr>
                </a:tc>
                <a:tc>
                  <a:txBody>
                    <a:bodyPr/>
                    <a:lstStyle/>
                    <a:p>
                      <a:pPr algn="ctr">
                        <a:buNone/>
                      </a:pPr>
                      <a:r>
                        <a:rPr sz="1950" b="0">
                          <a:solidFill>
                            <a:srgbClr val="111111"/>
                          </a:solidFill>
                          <a:latin typeface="Aptos"/>
                          <a:ea typeface="Aptos"/>
                          <a:cs typeface="Aptos"/>
                        </a:rPr>
                        <a:t>40</a:t>
                      </a:r>
                    </a:p>
                  </a:txBody>
                  <a:tcPr anchor="ctr">
                    <a:solidFill>
                      <a:srgbClr val="FFFFFF"/>
                    </a:solidFill>
                  </a:tcPr>
                </a:tc>
                <a:tc>
                  <a:txBody>
                    <a:bodyPr/>
                    <a:lstStyle/>
                    <a:p>
                      <a:pPr algn="ctr">
                        <a:buNone/>
                      </a:pPr>
                      <a:r>
                        <a:rPr sz="1950" b="0">
                          <a:solidFill>
                            <a:srgbClr val="111111"/>
                          </a:solidFill>
                          <a:latin typeface="Aptos"/>
                          <a:ea typeface="Aptos"/>
                          <a:cs typeface="Aptos"/>
                        </a:rPr>
                        <a:t>19</a:t>
                      </a:r>
                    </a:p>
                  </a:txBody>
                  <a:tcPr anchor="ctr">
                    <a:solidFill>
                      <a:srgbClr val="FFFFFF"/>
                    </a:solidFill>
                  </a:tcPr>
                </a:tc>
                <a:tc>
                  <a:txBody>
                    <a:bodyPr/>
                    <a:lstStyle/>
                    <a:p>
                      <a:pPr algn="ctr">
                        <a:buNone/>
                      </a:pPr>
                      <a:r>
                        <a:rPr sz="1950" b="0">
                          <a:solidFill>
                            <a:srgbClr val="111111"/>
                          </a:solidFill>
                          <a:latin typeface="Aptos"/>
                          <a:ea typeface="Aptos"/>
                          <a:cs typeface="Aptos"/>
                        </a:rPr>
                        <a:t>0.76</a:t>
                      </a:r>
                    </a:p>
                  </a:txBody>
                  <a:tcPr anchor="ctr">
                    <a:solidFill>
                      <a:srgbClr val="FFFFFF"/>
                    </a:solidFill>
                  </a:tcPr>
                </a:tc>
                <a:tc>
                  <a:txBody>
                    <a:bodyPr/>
                    <a:lstStyle/>
                    <a:p>
                      <a:pPr algn="ctr">
                        <a:buNone/>
                      </a:pPr>
                      <a:r>
                        <a:rPr sz="1950" b="0">
                          <a:solidFill>
                            <a:srgbClr val="111111"/>
                          </a:solidFill>
                          <a:latin typeface="Aptos"/>
                          <a:ea typeface="Aptos"/>
                          <a:cs typeface="Aptos"/>
                        </a:rPr>
                        <a:t>76%</a:t>
                      </a:r>
                    </a:p>
                  </a:txBody>
                  <a:tcPr anchor="ctr">
                    <a:solidFill>
                      <a:srgbClr val="FFFFFF"/>
                    </a:solidFill>
                  </a:tcPr>
                </a:tc>
                <a:extLst>
                  <a:ext uri="{0D108BD9-81ED-4DB2-BD59-A6C34878D82A}">
                    <a16:rowId xmlns:a16="http://schemas.microsoft.com/office/drawing/2014/main" val="10003"/>
                  </a:ext>
                </a:extLst>
              </a:tr>
              <a:tr h="375857">
                <a:tc>
                  <a:txBody>
                    <a:bodyPr/>
                    <a:lstStyle/>
                    <a:p>
                      <a:pPr algn="l">
                        <a:buNone/>
                      </a:pPr>
                      <a:r>
                        <a:rPr sz="1950" b="0">
                          <a:solidFill>
                            <a:srgbClr val="111111"/>
                          </a:solidFill>
                          <a:latin typeface="Aptos"/>
                          <a:ea typeface="Aptos"/>
                          <a:cs typeface="Aptos"/>
                        </a:rPr>
                        <a:t>40 ≤ x &lt; 50</a:t>
                      </a:r>
                    </a:p>
                  </a:txBody>
                  <a:tcPr anchor="ctr">
                    <a:solidFill>
                      <a:srgbClr val="EEF8FE"/>
                    </a:solidFill>
                  </a:tcPr>
                </a:tc>
                <a:tc>
                  <a:txBody>
                    <a:bodyPr/>
                    <a:lstStyle/>
                    <a:p>
                      <a:pPr algn="ctr">
                        <a:buNone/>
                      </a:pPr>
                      <a:r>
                        <a:rPr sz="1950" b="0">
                          <a:solidFill>
                            <a:srgbClr val="111111"/>
                          </a:solidFill>
                          <a:latin typeface="Aptos"/>
                          <a:ea typeface="Aptos"/>
                          <a:cs typeface="Aptos"/>
                        </a:rPr>
                        <a:t>50</a:t>
                      </a:r>
                    </a:p>
                  </a:txBody>
                  <a:tcPr anchor="ctr">
                    <a:solidFill>
                      <a:srgbClr val="EEF8FE"/>
                    </a:solidFill>
                  </a:tcPr>
                </a:tc>
                <a:tc>
                  <a:txBody>
                    <a:bodyPr/>
                    <a:lstStyle/>
                    <a:p>
                      <a:pPr algn="ctr">
                        <a:buNone/>
                      </a:pPr>
                      <a:r>
                        <a:rPr sz="1950" b="0">
                          <a:solidFill>
                            <a:srgbClr val="111111"/>
                          </a:solidFill>
                          <a:latin typeface="Aptos"/>
                          <a:ea typeface="Aptos"/>
                          <a:cs typeface="Aptos"/>
                        </a:rPr>
                        <a:t>25</a:t>
                      </a:r>
                    </a:p>
                  </a:txBody>
                  <a:tcPr anchor="ctr">
                    <a:solidFill>
                      <a:srgbClr val="EEF8FE"/>
                    </a:solidFill>
                  </a:tcPr>
                </a:tc>
                <a:tc>
                  <a:txBody>
                    <a:bodyPr/>
                    <a:lstStyle/>
                    <a:p>
                      <a:pPr algn="ctr">
                        <a:buNone/>
                      </a:pPr>
                      <a:r>
                        <a:rPr sz="1950" b="0">
                          <a:solidFill>
                            <a:srgbClr val="111111"/>
                          </a:solidFill>
                          <a:latin typeface="Aptos"/>
                          <a:ea typeface="Aptos"/>
                          <a:cs typeface="Aptos"/>
                        </a:rPr>
                        <a:t>1</a:t>
                      </a:r>
                    </a:p>
                  </a:txBody>
                  <a:tcPr anchor="ctr">
                    <a:solidFill>
                      <a:srgbClr val="EEF8FE"/>
                    </a:solidFill>
                  </a:tcPr>
                </a:tc>
                <a:tc>
                  <a:txBody>
                    <a:bodyPr/>
                    <a:lstStyle/>
                    <a:p>
                      <a:pPr algn="ctr">
                        <a:buNone/>
                      </a:pPr>
                      <a:r>
                        <a:rPr sz="1950" b="0">
                          <a:solidFill>
                            <a:srgbClr val="111111"/>
                          </a:solidFill>
                          <a:latin typeface="Aptos"/>
                          <a:ea typeface="Aptos"/>
                          <a:cs typeface="Aptos"/>
                        </a:rPr>
                        <a:t>100%</a:t>
                      </a:r>
                    </a:p>
                  </a:txBody>
                  <a:tcPr anchor="ctr">
                    <a:solidFill>
                      <a:srgbClr val="EEF8FE"/>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7986928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13119B0B-FC8E-47AD-86D0-3D20B04B1BE8}"/>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Food Club: locate 50% on the ogive</a:t>
            </a:r>
          </a:p>
        </p:txBody>
      </p:sp>
      <p:sp>
        <p:nvSpPr>
          <p:cNvPr id="3" name="Lead">
            <a:extLst>
              <a:ext uri="{FF2B5EF4-FFF2-40B4-BE49-F238E27FC236}">
                <a16:creationId xmlns:a16="http://schemas.microsoft.com/office/drawing/2014/main" id="{ABFE9D0F-17DF-445B-81BD-93367CCE7F3B}"/>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Read across from 50%, then down to the sign-up axis.</a:t>
            </a:r>
          </a:p>
        </p:txBody>
      </p:sp>
      <p:sp>
        <p:nvSpPr>
          <p:cNvPr id="4" name="Footer">
            <a:extLst>
              <a:ext uri="{FF2B5EF4-FFF2-40B4-BE49-F238E27FC236}">
                <a16:creationId xmlns:a16="http://schemas.microsoft.com/office/drawing/2014/main" id="{DECC32BE-68BE-4A11-A095-9B08A7B568C4}"/>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36% are below 30 sign-ups; 76% are below 40. The median estimate lies between 30 and 40.</a:t>
            </a:r>
          </a:p>
        </p:txBody>
      </p:sp>
      <p:graphicFrame>
        <p:nvGraphicFramePr>
          <p:cNvPr id="5" name="Table 4"/>
          <p:cNvGraphicFramePr/>
          <p:nvPr/>
        </p:nvGraphicFramePr>
        <p:xfrm>
          <a:off x="619125" y="2857500"/>
          <a:ext cx="4238625" cy="2524126"/>
        </p:xfrm>
        <a:graphic>
          <a:graphicData uri="http://schemas.openxmlformats.org/drawingml/2006/table">
            <a:tbl>
              <a:tblPr/>
              <a:tblGrid>
                <a:gridCol w="2161699">
                  <a:extLst>
                    <a:ext uri="{9D8B030D-6E8A-4147-A177-3AD203B41FA5}">
                      <a16:colId xmlns:a16="http://schemas.microsoft.com/office/drawing/2014/main" val="20000"/>
                    </a:ext>
                  </a:extLst>
                </a:gridCol>
                <a:gridCol w="2076926">
                  <a:extLst>
                    <a:ext uri="{9D8B030D-6E8A-4147-A177-3AD203B41FA5}">
                      <a16:colId xmlns:a16="http://schemas.microsoft.com/office/drawing/2014/main" val="20001"/>
                    </a:ext>
                  </a:extLst>
                </a:gridCol>
              </a:tblGrid>
              <a:tr h="718566">
                <a:tc>
                  <a:txBody>
                    <a:bodyPr/>
                    <a:lstStyle/>
                    <a:p>
                      <a:pPr algn="l">
                        <a:buNone/>
                      </a:pPr>
                      <a:r>
                        <a:rPr sz="1950" b="1">
                          <a:solidFill>
                            <a:srgbClr val="FFFFFF"/>
                          </a:solidFill>
                          <a:latin typeface="Aptos"/>
                          <a:ea typeface="Aptos"/>
                          <a:cs typeface="Aptos"/>
                        </a:rPr>
                        <a:t>Upper boundary</a:t>
                      </a:r>
                    </a:p>
                    <a:p>
                      <a:pPr algn="l">
                        <a:buNone/>
                      </a:pPr>
                      <a:r>
                        <a:rPr sz="1950" b="1">
                          <a:solidFill>
                            <a:srgbClr val="FFFFFF"/>
                          </a:solidFill>
                          <a:latin typeface="Aptos"/>
                          <a:ea typeface="Aptos"/>
                          <a:cs typeface="Aptos"/>
                        </a:rPr>
                        <a:t>(X)</a:t>
                      </a:r>
                    </a:p>
                  </a:txBody>
                  <a:tcPr anchor="ctr">
                    <a:solidFill>
                      <a:srgbClr val="D6171D"/>
                    </a:solidFill>
                  </a:tcPr>
                </a:tc>
                <a:tc>
                  <a:txBody>
                    <a:bodyPr/>
                    <a:lstStyle/>
                    <a:p>
                      <a:pPr algn="ctr">
                        <a:buNone/>
                      </a:pPr>
                      <a:r>
                        <a:rPr sz="1950" b="1">
                          <a:solidFill>
                            <a:srgbClr val="FFFFFF"/>
                          </a:solidFill>
                          <a:latin typeface="Aptos"/>
                          <a:ea typeface="Aptos"/>
                          <a:cs typeface="Aptos"/>
                        </a:rPr>
                        <a:t>Cumulative %</a:t>
                      </a:r>
                    </a:p>
                    <a:p>
                      <a:pPr algn="ctr">
                        <a:buNone/>
                      </a:pPr>
                      <a:r>
                        <a:rPr sz="1950" b="1">
                          <a:solidFill>
                            <a:srgbClr val="FFFFFF"/>
                          </a:solidFill>
                          <a:latin typeface="Aptos"/>
                          <a:ea typeface="Aptos"/>
                          <a:cs typeface="Aptos"/>
                        </a:rPr>
                        <a:t>(Y)</a:t>
                      </a:r>
                    </a:p>
                  </a:txBody>
                  <a:tcPr anchor="ctr">
                    <a:solidFill>
                      <a:srgbClr val="D6171D"/>
                    </a:solidFill>
                  </a:tcPr>
                </a:tc>
                <a:extLst>
                  <a:ext uri="{0D108BD9-81ED-4DB2-BD59-A6C34878D82A}">
                    <a16:rowId xmlns:a16="http://schemas.microsoft.com/office/drawing/2014/main" val="10000"/>
                  </a:ext>
                </a:extLst>
              </a:tr>
              <a:tr h="451390">
                <a:tc>
                  <a:txBody>
                    <a:bodyPr/>
                    <a:lstStyle/>
                    <a:p>
                      <a:pPr algn="l">
                        <a:buNone/>
                      </a:pPr>
                      <a:r>
                        <a:rPr sz="1950" b="0">
                          <a:solidFill>
                            <a:srgbClr val="111111"/>
                          </a:solidFill>
                          <a:latin typeface="Aptos"/>
                          <a:ea typeface="Aptos"/>
                          <a:cs typeface="Aptos"/>
                        </a:rPr>
                        <a:t>20</a:t>
                      </a:r>
                    </a:p>
                  </a:txBody>
                  <a:tcPr anchor="ctr">
                    <a:solidFill>
                      <a:srgbClr val="FFFFFF"/>
                    </a:solidFill>
                  </a:tcPr>
                </a:tc>
                <a:tc>
                  <a:txBody>
                    <a:bodyPr/>
                    <a:lstStyle/>
                    <a:p>
                      <a:pPr algn="ctr">
                        <a:buNone/>
                      </a:pPr>
                      <a:r>
                        <a:rPr sz="1950" b="0">
                          <a:solidFill>
                            <a:srgbClr val="111111"/>
                          </a:solidFill>
                          <a:latin typeface="Aptos"/>
                          <a:ea typeface="Aptos"/>
                          <a:cs typeface="Aptos"/>
                        </a:rPr>
                        <a:t>8%</a:t>
                      </a:r>
                    </a:p>
                  </a:txBody>
                  <a:tcPr anchor="ctr">
                    <a:solidFill>
                      <a:srgbClr val="FFFFFF"/>
                    </a:solidFill>
                  </a:tcPr>
                </a:tc>
                <a:extLst>
                  <a:ext uri="{0D108BD9-81ED-4DB2-BD59-A6C34878D82A}">
                    <a16:rowId xmlns:a16="http://schemas.microsoft.com/office/drawing/2014/main" val="10001"/>
                  </a:ext>
                </a:extLst>
              </a:tr>
              <a:tr h="451390">
                <a:tc>
                  <a:txBody>
                    <a:bodyPr/>
                    <a:lstStyle/>
                    <a:p>
                      <a:pPr algn="l">
                        <a:buNone/>
                      </a:pPr>
                      <a:r>
                        <a:rPr sz="1950" b="0">
                          <a:solidFill>
                            <a:srgbClr val="111111"/>
                          </a:solidFill>
                          <a:latin typeface="Aptos"/>
                          <a:ea typeface="Aptos"/>
                          <a:cs typeface="Aptos"/>
                        </a:rPr>
                        <a:t>30</a:t>
                      </a:r>
                    </a:p>
                  </a:txBody>
                  <a:tcPr anchor="ctr">
                    <a:solidFill>
                      <a:srgbClr val="EEF8FE"/>
                    </a:solidFill>
                  </a:tcPr>
                </a:tc>
                <a:tc>
                  <a:txBody>
                    <a:bodyPr/>
                    <a:lstStyle/>
                    <a:p>
                      <a:pPr algn="ctr">
                        <a:buNone/>
                      </a:pPr>
                      <a:r>
                        <a:rPr sz="1950" b="0">
                          <a:solidFill>
                            <a:srgbClr val="111111"/>
                          </a:solidFill>
                          <a:latin typeface="Aptos"/>
                          <a:ea typeface="Aptos"/>
                          <a:cs typeface="Aptos"/>
                        </a:rPr>
                        <a:t>36%</a:t>
                      </a:r>
                    </a:p>
                  </a:txBody>
                  <a:tcPr anchor="ctr">
                    <a:solidFill>
                      <a:srgbClr val="EEF8FE"/>
                    </a:solidFill>
                  </a:tcPr>
                </a:tc>
                <a:extLst>
                  <a:ext uri="{0D108BD9-81ED-4DB2-BD59-A6C34878D82A}">
                    <a16:rowId xmlns:a16="http://schemas.microsoft.com/office/drawing/2014/main" val="10002"/>
                  </a:ext>
                </a:extLst>
              </a:tr>
              <a:tr h="451390">
                <a:tc>
                  <a:txBody>
                    <a:bodyPr/>
                    <a:lstStyle/>
                    <a:p>
                      <a:pPr algn="l">
                        <a:buNone/>
                      </a:pPr>
                      <a:r>
                        <a:rPr sz="1950" b="0">
                          <a:solidFill>
                            <a:srgbClr val="111111"/>
                          </a:solidFill>
                          <a:latin typeface="Aptos"/>
                          <a:ea typeface="Aptos"/>
                          <a:cs typeface="Aptos"/>
                        </a:rPr>
                        <a:t>40</a:t>
                      </a:r>
                    </a:p>
                  </a:txBody>
                  <a:tcPr anchor="ctr">
                    <a:solidFill>
                      <a:srgbClr val="FFFFFF"/>
                    </a:solidFill>
                  </a:tcPr>
                </a:tc>
                <a:tc>
                  <a:txBody>
                    <a:bodyPr/>
                    <a:lstStyle/>
                    <a:p>
                      <a:pPr algn="ctr">
                        <a:buNone/>
                      </a:pPr>
                      <a:r>
                        <a:rPr sz="1950" b="0">
                          <a:solidFill>
                            <a:srgbClr val="111111"/>
                          </a:solidFill>
                          <a:latin typeface="Aptos"/>
                          <a:ea typeface="Aptos"/>
                          <a:cs typeface="Aptos"/>
                        </a:rPr>
                        <a:t>76%</a:t>
                      </a:r>
                    </a:p>
                  </a:txBody>
                  <a:tcPr anchor="ctr">
                    <a:solidFill>
                      <a:srgbClr val="FFFFFF"/>
                    </a:solidFill>
                  </a:tcPr>
                </a:tc>
                <a:extLst>
                  <a:ext uri="{0D108BD9-81ED-4DB2-BD59-A6C34878D82A}">
                    <a16:rowId xmlns:a16="http://schemas.microsoft.com/office/drawing/2014/main" val="10003"/>
                  </a:ext>
                </a:extLst>
              </a:tr>
              <a:tr h="451390">
                <a:tc>
                  <a:txBody>
                    <a:bodyPr/>
                    <a:lstStyle/>
                    <a:p>
                      <a:pPr algn="l">
                        <a:buNone/>
                      </a:pPr>
                      <a:r>
                        <a:rPr sz="1950" b="0">
                          <a:solidFill>
                            <a:srgbClr val="111111"/>
                          </a:solidFill>
                          <a:latin typeface="Aptos"/>
                          <a:ea typeface="Aptos"/>
                          <a:cs typeface="Aptos"/>
                        </a:rPr>
                        <a:t>50</a:t>
                      </a:r>
                    </a:p>
                  </a:txBody>
                  <a:tcPr anchor="ctr">
                    <a:solidFill>
                      <a:srgbClr val="EEF8FE"/>
                    </a:solidFill>
                  </a:tcPr>
                </a:tc>
                <a:tc>
                  <a:txBody>
                    <a:bodyPr/>
                    <a:lstStyle/>
                    <a:p>
                      <a:pPr algn="ctr">
                        <a:buNone/>
                      </a:pPr>
                      <a:r>
                        <a:rPr sz="1950" b="0">
                          <a:solidFill>
                            <a:srgbClr val="111111"/>
                          </a:solidFill>
                          <a:latin typeface="Aptos"/>
                          <a:ea typeface="Aptos"/>
                          <a:cs typeface="Aptos"/>
                        </a:rPr>
                        <a:t>100%</a:t>
                      </a:r>
                    </a:p>
                  </a:txBody>
                  <a:tcPr anchor="ctr">
                    <a:solidFill>
                      <a:srgbClr val="EEF8FE"/>
                    </a:solidFill>
                  </a:tcPr>
                </a:tc>
                <a:extLst>
                  <a:ext uri="{0D108BD9-81ED-4DB2-BD59-A6C34878D82A}">
                    <a16:rowId xmlns:a16="http://schemas.microsoft.com/office/drawing/2014/main" val="10004"/>
                  </a:ext>
                </a:extLst>
              </a:tr>
            </a:tbl>
          </a:graphicData>
        </a:graphic>
      </p:graphicFrame>
      <p:graphicFrame>
        <p:nvGraphicFramePr>
          <p:cNvPr id="6" name="Chart"/>
          <p:cNvGraphicFramePr/>
          <p:nvPr/>
        </p:nvGraphicFramePr>
        <p:xfrm>
          <a:off x="5048250" y="2762250"/>
          <a:ext cx="6524625" cy="2905125"/>
        </p:xfrm>
        <a:graphic>
          <a:graphicData uri="http://schemas.openxmlformats.org/drawingml/2006/chart">
            <c:chart xmlns:c="http://schemas.openxmlformats.org/drawingml/2006/chart" xmlns:r="http://schemas.openxmlformats.org/officeDocument/2006/relationships" r:id="rId3"/>
          </a:graphicData>
        </a:graphic>
      </p:graphicFrame>
      <p:sp>
        <p:nvSpPr>
          <p:cNvPr id="7" name="Median interpretation callout">
            <a:extLst>
              <a:ext uri="{FF2B5EF4-FFF2-40B4-BE49-F238E27FC236}">
                <a16:creationId xmlns:a16="http://schemas.microsoft.com/office/drawing/2014/main" id="{F0D04F62-440E-43F6-943B-ACD456422280}"/>
              </a:ext>
            </a:extLst>
          </p:cNvPr>
          <p:cNvSpPr>
            <a:spLocks noGrp="1"/>
          </p:cNvSpPr>
          <p:nvPr/>
        </p:nvSpPr>
        <p:spPr>
          <a:xfrm>
            <a:off x="6324600" y="2990850"/>
            <a:ext cx="3048000" cy="704850"/>
          </a:xfrm>
          <a:prstGeom prst="rect">
            <a:avLst/>
          </a:prstGeom>
          <a:solidFill>
            <a:srgbClr val="FFF1D6"/>
          </a:solidFill>
          <a:ln w="9525">
            <a:solidFill>
              <a:srgbClr val="D4AA5C"/>
            </a:solidFill>
          </a:ln>
        </p:spPr>
        <p:txBody>
          <a:bodyPr/>
          <a:lstStyle/>
          <a:p>
            <a:endParaRPr lang="en-US"/>
          </a:p>
        </p:txBody>
      </p:sp>
      <p:sp>
        <p:nvSpPr>
          <p:cNvPr id="8" name="Median estimate meaning">
            <a:extLst>
              <a:ext uri="{FF2B5EF4-FFF2-40B4-BE49-F238E27FC236}">
                <a16:creationId xmlns:a16="http://schemas.microsoft.com/office/drawing/2014/main" id="{E4AAF7DE-0CF2-48B1-BEF7-85A2172737C3}"/>
              </a:ext>
            </a:extLst>
          </p:cNvPr>
          <p:cNvSpPr>
            <a:spLocks noGrp="1"/>
          </p:cNvSpPr>
          <p:nvPr/>
        </p:nvSpPr>
        <p:spPr>
          <a:xfrm>
            <a:off x="6477000" y="3105150"/>
            <a:ext cx="2790825" cy="552450"/>
          </a:xfrm>
          <a:prstGeom prst="rect">
            <a:avLst/>
          </a:prstGeom>
          <a:noFill/>
          <a:ln w="0">
            <a:noFill/>
          </a:ln>
        </p:spPr>
        <p:txBody>
          <a:bodyPr anchor="t">
            <a:noAutofit/>
          </a:bodyPr>
          <a:lstStyle/>
          <a:p>
            <a:pPr algn="l">
              <a:defRPr sz="1725" b="1">
                <a:solidFill>
                  <a:srgbClr val="111111"/>
                </a:solidFill>
                <a:latin typeface="Aptos"/>
                <a:ea typeface="Aptos"/>
                <a:cs typeface="Aptos"/>
              </a:defRPr>
            </a:pPr>
            <a:r>
              <a:rPr sz="1725" b="1" dirty="0">
                <a:solidFill>
                  <a:srgbClr val="111111"/>
                </a:solidFill>
                <a:latin typeface="Aptos"/>
                <a:ea typeface="Aptos"/>
                <a:cs typeface="Aptos"/>
              </a:rPr>
              <a:t>50% gives the median:</a:t>
            </a:r>
          </a:p>
          <a:p>
            <a:pPr algn="l">
              <a:defRPr sz="1725" b="1">
                <a:solidFill>
                  <a:srgbClr val="111111"/>
                </a:solidFill>
                <a:latin typeface="Aptos"/>
                <a:ea typeface="Aptos"/>
                <a:cs typeface="Aptos"/>
              </a:defRPr>
            </a:pPr>
            <a:r>
              <a:rPr sz="1725" b="1" dirty="0">
                <a:solidFill>
                  <a:srgbClr val="111111"/>
                </a:solidFill>
                <a:latin typeface="Aptos"/>
                <a:ea typeface="Aptos"/>
                <a:cs typeface="Aptos"/>
              </a:rPr>
              <a:t>about 33.5 sign-ups.</a:t>
            </a:r>
          </a:p>
        </p:txBody>
      </p:sp>
      <p:sp>
        <p:nvSpPr>
          <p:cNvPr id="9" name="Callout to median intersection">
            <a:extLst>
              <a:ext uri="{FF2B5EF4-FFF2-40B4-BE49-F238E27FC236}">
                <a16:creationId xmlns:a16="http://schemas.microsoft.com/office/drawing/2014/main" id="{9F95A049-765E-4DBA-BBD9-9597A1A871F2}"/>
              </a:ext>
            </a:extLst>
          </p:cNvPr>
          <p:cNvSpPr>
            <a:spLocks noGrp="1"/>
          </p:cNvSpPr>
          <p:nvPr/>
        </p:nvSpPr>
        <p:spPr>
          <a:xfrm flipH="1">
            <a:off x="7698828" y="3695700"/>
            <a:ext cx="1464222" cy="156341"/>
          </a:xfrm>
          <a:prstGeom prst="line">
            <a:avLst/>
          </a:prstGeom>
          <a:ln w="14288">
            <a:solidFill>
              <a:srgbClr val="866B35"/>
            </a:solidFill>
          </a:ln>
        </p:spPr>
        <p:txBody>
          <a:bodyPr/>
          <a:lstStyle/>
          <a:p>
            <a:endParaRPr lang="en-US"/>
          </a:p>
        </p:txBody>
      </p:sp>
    </p:spTree>
    <p:extLst>
      <p:ext uri="{BB962C8B-B14F-4D97-AF65-F5344CB8AC3E}">
        <p14:creationId xmlns:p14="http://schemas.microsoft.com/office/powerpoint/2010/main" val="1796570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title">
            <a:extLst>
              <a:ext uri="{FF2B5EF4-FFF2-40B4-BE49-F238E27FC236}">
                <a16:creationId xmlns:a16="http://schemas.microsoft.com/office/drawing/2014/main" id="{BF82B92D-A95A-4170-A96C-34BDAB580F01}"/>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Median estimate: the vertical part</a:t>
            </a:r>
          </a:p>
        </p:txBody>
      </p:sp>
      <p:sp>
        <p:nvSpPr>
          <p:cNvPr id="2" name="Lead">
            <a:extLst>
              <a:ext uri="{FF2B5EF4-FFF2-40B4-BE49-F238E27FC236}">
                <a16:creationId xmlns:a16="http://schemas.microsoft.com/office/drawing/2014/main" id="{28EE29AC-3880-4CC3-ABE6-9D38E04D6CF1}"/>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We need to reach 50% between the known points (30, 36%) and (40, 76%).</a:t>
            </a:r>
          </a:p>
        </p:txBody>
      </p:sp>
      <p:sp>
        <p:nvSpPr>
          <p:cNvPr id="3" name="Footer">
            <a:extLst>
              <a:ext uri="{FF2B5EF4-FFF2-40B4-BE49-F238E27FC236}">
                <a16:creationId xmlns:a16="http://schemas.microsoft.com/office/drawing/2014/main" id="{788BC0B5-72A7-4F7D-B773-22B412D3B850}"/>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14 and 40 are percentage-point increases. Their ratio tells us how far along the line to move.</a:t>
            </a:r>
          </a:p>
        </p:txBody>
      </p:sp>
      <p:graphicFrame>
        <p:nvGraphicFramePr>
          <p:cNvPr id="16" name="Table 15"/>
          <p:cNvGraphicFramePr/>
          <p:nvPr/>
        </p:nvGraphicFramePr>
        <p:xfrm>
          <a:off x="619125" y="2943225"/>
          <a:ext cx="10953750" cy="1095375"/>
        </p:xfrm>
        <a:graphic>
          <a:graphicData uri="http://schemas.openxmlformats.org/drawingml/2006/table">
            <a:tbl>
              <a:tblPr/>
              <a:tblGrid>
                <a:gridCol w="3667125">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67125">
                  <a:extLst>
                    <a:ext uri="{9D8B030D-6E8A-4147-A177-3AD203B41FA5}">
                      <a16:colId xmlns:a16="http://schemas.microsoft.com/office/drawing/2014/main" val="20002"/>
                    </a:ext>
                  </a:extLst>
                </a:gridCol>
              </a:tblGrid>
              <a:tr h="474536">
                <a:tc>
                  <a:txBody>
                    <a:bodyPr/>
                    <a:lstStyle/>
                    <a:p>
                      <a:pPr algn="l">
                        <a:buNone/>
                      </a:pPr>
                      <a:r>
                        <a:rPr sz="2325" b="1">
                          <a:solidFill>
                            <a:srgbClr val="FFFFFF"/>
                          </a:solidFill>
                          <a:latin typeface="Aptos"/>
                          <a:ea typeface="Aptos"/>
                          <a:cs typeface="Aptos"/>
                        </a:rPr>
                        <a:t>At 30 sign-ups</a:t>
                      </a:r>
                    </a:p>
                  </a:txBody>
                  <a:tcPr anchor="ctr">
                    <a:solidFill>
                      <a:srgbClr val="D6171D"/>
                    </a:solidFill>
                  </a:tcPr>
                </a:tc>
                <a:tc>
                  <a:txBody>
                    <a:bodyPr/>
                    <a:lstStyle/>
                    <a:p>
                      <a:pPr algn="ctr">
                        <a:buNone/>
                      </a:pPr>
                      <a:r>
                        <a:rPr sz="2325" b="1">
                          <a:solidFill>
                            <a:srgbClr val="FFFFFF"/>
                          </a:solidFill>
                          <a:latin typeface="Aptos"/>
                          <a:ea typeface="Aptos"/>
                          <a:cs typeface="Aptos"/>
                        </a:rPr>
                        <a:t>Median target</a:t>
                      </a:r>
                    </a:p>
                  </a:txBody>
                  <a:tcPr anchor="ctr">
                    <a:solidFill>
                      <a:srgbClr val="D6171D"/>
                    </a:solidFill>
                  </a:tcPr>
                </a:tc>
                <a:tc>
                  <a:txBody>
                    <a:bodyPr/>
                    <a:lstStyle/>
                    <a:p>
                      <a:pPr algn="ctr">
                        <a:buNone/>
                      </a:pPr>
                      <a:r>
                        <a:rPr sz="2325" b="1">
                          <a:solidFill>
                            <a:srgbClr val="FFFFFF"/>
                          </a:solidFill>
                          <a:latin typeface="Aptos"/>
                          <a:ea typeface="Aptos"/>
                          <a:cs typeface="Aptos"/>
                        </a:rPr>
                        <a:t>At 40 sign-ups</a:t>
                      </a:r>
                    </a:p>
                  </a:txBody>
                  <a:tcPr anchor="ctr">
                    <a:solidFill>
                      <a:srgbClr val="D6171D"/>
                    </a:solidFill>
                  </a:tcPr>
                </a:tc>
                <a:extLst>
                  <a:ext uri="{0D108BD9-81ED-4DB2-BD59-A6C34878D82A}">
                    <a16:rowId xmlns:a16="http://schemas.microsoft.com/office/drawing/2014/main" val="10000"/>
                  </a:ext>
                </a:extLst>
              </a:tr>
              <a:tr h="620840">
                <a:tc>
                  <a:txBody>
                    <a:bodyPr/>
                    <a:lstStyle/>
                    <a:p>
                      <a:pPr algn="l">
                        <a:buNone/>
                      </a:pPr>
                      <a:r>
                        <a:rPr sz="2325" b="0">
                          <a:solidFill>
                            <a:srgbClr val="111111"/>
                          </a:solidFill>
                          <a:latin typeface="Aptos"/>
                          <a:ea typeface="Aptos"/>
                          <a:cs typeface="Aptos"/>
                        </a:rPr>
                        <a:t>36%</a:t>
                      </a:r>
                    </a:p>
                  </a:txBody>
                  <a:tcPr anchor="ctr">
                    <a:solidFill>
                      <a:srgbClr val="FFFFFF"/>
                    </a:solidFill>
                  </a:tcPr>
                </a:tc>
                <a:tc>
                  <a:txBody>
                    <a:bodyPr/>
                    <a:lstStyle/>
                    <a:p>
                      <a:pPr algn="ctr">
                        <a:buNone/>
                      </a:pPr>
                      <a:r>
                        <a:rPr sz="2325" b="0">
                          <a:solidFill>
                            <a:srgbClr val="111111"/>
                          </a:solidFill>
                          <a:latin typeface="Aptos"/>
                          <a:ea typeface="Aptos"/>
                          <a:cs typeface="Aptos"/>
                        </a:rPr>
                        <a:t>50%</a:t>
                      </a:r>
                    </a:p>
                  </a:txBody>
                  <a:tcPr anchor="ctr">
                    <a:solidFill>
                      <a:srgbClr val="FFFFFF"/>
                    </a:solidFill>
                  </a:tcPr>
                </a:tc>
                <a:tc>
                  <a:txBody>
                    <a:bodyPr/>
                    <a:lstStyle/>
                    <a:p>
                      <a:pPr algn="ctr">
                        <a:buNone/>
                      </a:pPr>
                      <a:r>
                        <a:rPr sz="2325" b="0">
                          <a:solidFill>
                            <a:srgbClr val="111111"/>
                          </a:solidFill>
                          <a:latin typeface="Aptos"/>
                          <a:ea typeface="Aptos"/>
                          <a:cs typeface="Aptos"/>
                        </a:rPr>
                        <a:t>76%</a:t>
                      </a:r>
                    </a:p>
                  </a:txBody>
                  <a:tcPr anchor="ctr">
                    <a:solidFill>
                      <a:srgbClr val="FFFFFF"/>
                    </a:solidFill>
                  </a:tcPr>
                </a:tc>
                <a:extLst>
                  <a:ext uri="{0D108BD9-81ED-4DB2-BD59-A6C34878D82A}">
                    <a16:rowId xmlns:a16="http://schemas.microsoft.com/office/drawing/2014/main" val="10001"/>
                  </a:ext>
                </a:extLst>
              </a:tr>
            </a:tbl>
          </a:graphicData>
        </a:graphic>
      </p:graphicFrame>
      <p:sp>
        <p:nvSpPr>
          <p:cNvPr id="5" name="Text">
            <a:extLst>
              <a:ext uri="{FF2B5EF4-FFF2-40B4-BE49-F238E27FC236}">
                <a16:creationId xmlns:a16="http://schemas.microsoft.com/office/drawing/2014/main" id="{A5FCA55B-1813-4347-A2D8-6E28B2C3876C}"/>
              </a:ext>
            </a:extLst>
          </p:cNvPr>
          <p:cNvSpPr>
            <a:spLocks noGrp="1"/>
          </p:cNvSpPr>
          <p:nvPr/>
        </p:nvSpPr>
        <p:spPr>
          <a:xfrm>
            <a:off x="619125" y="4286250"/>
            <a:ext cx="5429250" cy="476250"/>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Needed rise: 50 − 36 = 14</a:t>
            </a:r>
          </a:p>
        </p:txBody>
      </p:sp>
      <p:sp>
        <p:nvSpPr>
          <p:cNvPr id="6" name="Text">
            <a:extLst>
              <a:ext uri="{FF2B5EF4-FFF2-40B4-BE49-F238E27FC236}">
                <a16:creationId xmlns:a16="http://schemas.microsoft.com/office/drawing/2014/main" id="{CA536C99-3036-40EE-BFE2-C802C4E9D46E}"/>
              </a:ext>
            </a:extLst>
          </p:cNvPr>
          <p:cNvSpPr>
            <a:spLocks noGrp="1"/>
          </p:cNvSpPr>
          <p:nvPr/>
        </p:nvSpPr>
        <p:spPr>
          <a:xfrm>
            <a:off x="619125" y="4924425"/>
            <a:ext cx="5429250" cy="476250"/>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Full rise: 76 − 36 = 40</a:t>
            </a:r>
          </a:p>
        </p:txBody>
      </p:sp>
      <p:sp>
        <p:nvSpPr>
          <p:cNvPr id="7" name="Text">
            <a:extLst>
              <a:ext uri="{FF2B5EF4-FFF2-40B4-BE49-F238E27FC236}">
                <a16:creationId xmlns:a16="http://schemas.microsoft.com/office/drawing/2014/main" id="{6CAC6974-9FDF-414C-9D10-4F3E3784761E}"/>
              </a:ext>
            </a:extLst>
          </p:cNvPr>
          <p:cNvSpPr>
            <a:spLocks noGrp="1"/>
          </p:cNvSpPr>
          <p:nvPr/>
        </p:nvSpPr>
        <p:spPr>
          <a:xfrm>
            <a:off x="6905625" y="4267200"/>
            <a:ext cx="1238250" cy="438150"/>
          </a:xfrm>
          <a:prstGeom prst="rect">
            <a:avLst/>
          </a:prstGeom>
          <a:noFill/>
          <a:ln w="0">
            <a:noFill/>
          </a:ln>
        </p:spPr>
        <p:txBody>
          <a:bodyPr wrap="square" lIns="0" tIns="0" rIns="0" bIns="0" anchor="t">
            <a:noAutofit/>
          </a:bodyPr>
          <a:lstStyle/>
          <a:p>
            <a:pPr algn="ctr">
              <a:buNone/>
              <a:defRPr sz="2700" b="0">
                <a:solidFill>
                  <a:srgbClr val="111111"/>
                </a:solidFill>
                <a:latin typeface="Aptos"/>
                <a:ea typeface="Aptos"/>
                <a:cs typeface="Aptos"/>
              </a:defRPr>
            </a:pPr>
            <a:r>
              <a:rPr sz="2700" b="0">
                <a:solidFill>
                  <a:srgbClr val="111111"/>
                </a:solidFill>
                <a:latin typeface="Aptos"/>
                <a:ea typeface="Aptos"/>
                <a:cs typeface="Aptos"/>
              </a:rPr>
              <a:t>14</a:t>
            </a:r>
          </a:p>
        </p:txBody>
      </p:sp>
      <p:sp>
        <p:nvSpPr>
          <p:cNvPr id="8" name="Diagram line">
            <a:extLst>
              <a:ext uri="{FF2B5EF4-FFF2-40B4-BE49-F238E27FC236}">
                <a16:creationId xmlns:a16="http://schemas.microsoft.com/office/drawing/2014/main" id="{F72F89A0-14D9-4DA1-9C34-B75B5BC2509A}"/>
              </a:ext>
            </a:extLst>
          </p:cNvPr>
          <p:cNvSpPr>
            <a:spLocks noGrp="1"/>
          </p:cNvSpPr>
          <p:nvPr/>
        </p:nvSpPr>
        <p:spPr>
          <a:xfrm>
            <a:off x="6905625" y="4705350"/>
            <a:ext cx="1238250" cy="9525"/>
          </a:xfrm>
          <a:custGeom>
            <a:avLst/>
            <a:gdLst/>
            <a:ahLst/>
            <a:cxnLst/>
            <a:rect l="0" t="0" r="0" b="0"/>
            <a:pathLst>
              <a:path w="1238250" h="9525">
                <a:moveTo>
                  <a:pt x="0" y="0"/>
                </a:moveTo>
                <a:lnTo>
                  <a:pt x="1238250" y="0"/>
                </a:lnTo>
              </a:path>
            </a:pathLst>
          </a:custGeom>
          <a:noFill/>
          <a:ln w="19050">
            <a:solidFill>
              <a:srgbClr val="111111"/>
            </a:solidFill>
          </a:ln>
        </p:spPr>
        <p:txBody>
          <a:bodyPr/>
          <a:lstStyle/>
          <a:p>
            <a:endParaRPr lang="en-US"/>
          </a:p>
        </p:txBody>
      </p:sp>
      <p:sp>
        <p:nvSpPr>
          <p:cNvPr id="9" name="Text">
            <a:extLst>
              <a:ext uri="{FF2B5EF4-FFF2-40B4-BE49-F238E27FC236}">
                <a16:creationId xmlns:a16="http://schemas.microsoft.com/office/drawing/2014/main" id="{36F0E902-259D-4F94-B0F4-C74ECCF57C89}"/>
              </a:ext>
            </a:extLst>
          </p:cNvPr>
          <p:cNvSpPr>
            <a:spLocks noGrp="1"/>
          </p:cNvSpPr>
          <p:nvPr/>
        </p:nvSpPr>
        <p:spPr>
          <a:xfrm>
            <a:off x="6905625" y="4772025"/>
            <a:ext cx="1238250" cy="438150"/>
          </a:xfrm>
          <a:prstGeom prst="rect">
            <a:avLst/>
          </a:prstGeom>
          <a:noFill/>
          <a:ln w="0">
            <a:noFill/>
          </a:ln>
        </p:spPr>
        <p:txBody>
          <a:bodyPr wrap="square" lIns="0" tIns="0" rIns="0" bIns="0" anchor="t">
            <a:noAutofit/>
          </a:bodyPr>
          <a:lstStyle/>
          <a:p>
            <a:pPr algn="ctr">
              <a:buNone/>
              <a:defRPr sz="2700" b="0">
                <a:solidFill>
                  <a:srgbClr val="111111"/>
                </a:solidFill>
                <a:latin typeface="Aptos"/>
                <a:ea typeface="Aptos"/>
                <a:cs typeface="Aptos"/>
              </a:defRPr>
            </a:pPr>
            <a:r>
              <a:rPr sz="2700" b="0">
                <a:solidFill>
                  <a:srgbClr val="111111"/>
                </a:solidFill>
                <a:latin typeface="Aptos"/>
                <a:ea typeface="Aptos"/>
                <a:cs typeface="Aptos"/>
              </a:rPr>
              <a:t>40</a:t>
            </a:r>
          </a:p>
        </p:txBody>
      </p:sp>
      <p:sp>
        <p:nvSpPr>
          <p:cNvPr id="10" name="Text">
            <a:extLst>
              <a:ext uri="{FF2B5EF4-FFF2-40B4-BE49-F238E27FC236}">
                <a16:creationId xmlns:a16="http://schemas.microsoft.com/office/drawing/2014/main" id="{AB2C44A5-C869-499C-AB71-6F0B84FA475B}"/>
              </a:ext>
            </a:extLst>
          </p:cNvPr>
          <p:cNvSpPr>
            <a:spLocks noGrp="1"/>
          </p:cNvSpPr>
          <p:nvPr/>
        </p:nvSpPr>
        <p:spPr>
          <a:xfrm>
            <a:off x="8477250" y="4552950"/>
            <a:ext cx="3048000" cy="619125"/>
          </a:xfrm>
          <a:prstGeom prst="rect">
            <a:avLst/>
          </a:prstGeom>
          <a:noFill/>
          <a:ln w="0">
            <a:noFill/>
          </a:ln>
        </p:spPr>
        <p:txBody>
          <a:bodyPr wrap="square" lIns="0" tIns="0" rIns="0" bIns="0" anchor="t">
            <a:noAutofit/>
          </a:bodyPr>
          <a:lstStyle/>
          <a:p>
            <a:pPr algn="l">
              <a:buNone/>
              <a:defRPr sz="2550" b="1">
                <a:solidFill>
                  <a:srgbClr val="111111"/>
                </a:solidFill>
                <a:latin typeface="Aptos"/>
                <a:ea typeface="Aptos"/>
                <a:cs typeface="Aptos"/>
              </a:defRPr>
            </a:pPr>
            <a:r>
              <a:rPr sz="2550" b="1">
                <a:solidFill>
                  <a:srgbClr val="111111"/>
                </a:solidFill>
                <a:latin typeface="Aptos"/>
                <a:ea typeface="Aptos"/>
                <a:cs typeface="Aptos"/>
              </a:rPr>
              <a:t>= 0.35 of the rise</a:t>
            </a:r>
          </a:p>
        </p:txBody>
      </p:sp>
    </p:spTree>
    <p:extLst>
      <p:ext uri="{BB962C8B-B14F-4D97-AF65-F5344CB8AC3E}">
        <p14:creationId xmlns:p14="http://schemas.microsoft.com/office/powerpoint/2010/main" val="74894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title">
            <a:extLst>
              <a:ext uri="{FF2B5EF4-FFF2-40B4-BE49-F238E27FC236}">
                <a16:creationId xmlns:a16="http://schemas.microsoft.com/office/drawing/2014/main" id="{3CB6128E-936E-4DD9-9B9F-FA3D2FF4C472}"/>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Median estimate: the horizontal part</a:t>
            </a:r>
          </a:p>
        </p:txBody>
      </p:sp>
      <p:sp>
        <p:nvSpPr>
          <p:cNvPr id="2" name="Lead">
            <a:extLst>
              <a:ext uri="{FF2B5EF4-FFF2-40B4-BE49-F238E27FC236}">
                <a16:creationId xmlns:a16="http://schemas.microsoft.com/office/drawing/2014/main" id="{0DD15ACE-642E-4156-BB71-F49F62171F0D}"/>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On a straight line, the same fraction of the rise gives the same fraction of the width.</a:t>
            </a:r>
          </a:p>
        </p:txBody>
      </p:sp>
      <p:sp>
        <p:nvSpPr>
          <p:cNvPr id="3" name="Footer">
            <a:extLst>
              <a:ext uri="{FF2B5EF4-FFF2-40B4-BE49-F238E27FC236}">
                <a16:creationId xmlns:a16="http://schemas.microsoft.com/office/drawing/2014/main" id="{D7FC65DE-17D9-487D-BFEA-2ABCC4E3BA4E}"/>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Estimated median ≈ 33.5 sign-ups per session. This is a grouped estimate, so a decimal is possible.</a:t>
            </a:r>
          </a:p>
        </p:txBody>
      </p:sp>
      <p:sp>
        <p:nvSpPr>
          <p:cNvPr id="4" name="Text">
            <a:extLst>
              <a:ext uri="{FF2B5EF4-FFF2-40B4-BE49-F238E27FC236}">
                <a16:creationId xmlns:a16="http://schemas.microsoft.com/office/drawing/2014/main" id="{F0DAC4EC-4ADC-45C6-9F1A-4FF4C3698105}"/>
              </a:ext>
            </a:extLst>
          </p:cNvPr>
          <p:cNvSpPr>
            <a:spLocks noGrp="1"/>
          </p:cNvSpPr>
          <p:nvPr/>
        </p:nvSpPr>
        <p:spPr>
          <a:xfrm>
            <a:off x="619125" y="2952750"/>
            <a:ext cx="10858500" cy="476250"/>
          </a:xfrm>
          <a:prstGeom prst="rect">
            <a:avLst/>
          </a:prstGeom>
          <a:noFill/>
          <a:ln w="0">
            <a:noFill/>
          </a:ln>
        </p:spPr>
        <p:txBody>
          <a:bodyPr wrap="square" lIns="0" tIns="0" rIns="0" bIns="0" anchor="t">
            <a:noAutofit/>
          </a:bodyPr>
          <a:lstStyle/>
          <a:p>
            <a:pPr algn="l">
              <a:buNone/>
              <a:defRPr sz="2625" b="0">
                <a:solidFill>
                  <a:srgbClr val="111111"/>
                </a:solidFill>
                <a:latin typeface="Aptos"/>
                <a:ea typeface="Aptos"/>
                <a:cs typeface="Aptos"/>
              </a:defRPr>
            </a:pPr>
            <a:r>
              <a:rPr sz="2625" b="0">
                <a:solidFill>
                  <a:srgbClr val="111111"/>
                </a:solidFill>
                <a:latin typeface="Aptos"/>
                <a:ea typeface="Aptos"/>
                <a:cs typeface="Aptos"/>
              </a:rPr>
              <a:t>Interval width: 40 − 30 = 10 sign-ups</a:t>
            </a:r>
          </a:p>
        </p:txBody>
      </p:sp>
      <p:sp>
        <p:nvSpPr>
          <p:cNvPr id="5" name="Text">
            <a:extLst>
              <a:ext uri="{FF2B5EF4-FFF2-40B4-BE49-F238E27FC236}">
                <a16:creationId xmlns:a16="http://schemas.microsoft.com/office/drawing/2014/main" id="{33053A05-D500-4449-861A-11452CC350FE}"/>
              </a:ext>
            </a:extLst>
          </p:cNvPr>
          <p:cNvSpPr>
            <a:spLocks noGrp="1"/>
          </p:cNvSpPr>
          <p:nvPr/>
        </p:nvSpPr>
        <p:spPr>
          <a:xfrm>
            <a:off x="619125" y="3667125"/>
            <a:ext cx="10858500" cy="476250"/>
          </a:xfrm>
          <a:prstGeom prst="rect">
            <a:avLst/>
          </a:prstGeom>
          <a:noFill/>
          <a:ln w="0">
            <a:noFill/>
          </a:ln>
        </p:spPr>
        <p:txBody>
          <a:bodyPr wrap="square" lIns="0" tIns="0" rIns="0" bIns="0" anchor="t">
            <a:noAutofit/>
          </a:bodyPr>
          <a:lstStyle/>
          <a:p>
            <a:pPr algn="l">
              <a:buNone/>
              <a:defRPr sz="2625" b="0">
                <a:solidFill>
                  <a:srgbClr val="111111"/>
                </a:solidFill>
                <a:latin typeface="Aptos"/>
                <a:ea typeface="Aptos"/>
                <a:cs typeface="Aptos"/>
              </a:defRPr>
            </a:pPr>
            <a:r>
              <a:rPr sz="2625" b="0">
                <a:solidFill>
                  <a:srgbClr val="111111"/>
                </a:solidFill>
                <a:latin typeface="Aptos"/>
                <a:ea typeface="Aptos"/>
                <a:cs typeface="Aptos"/>
              </a:rPr>
              <a:t>Distance to move: 0.35 × 10 = 3.5 sign-ups</a:t>
            </a:r>
          </a:p>
        </p:txBody>
      </p:sp>
      <p:sp>
        <p:nvSpPr>
          <p:cNvPr id="6" name="Diagram line">
            <a:extLst>
              <a:ext uri="{FF2B5EF4-FFF2-40B4-BE49-F238E27FC236}">
                <a16:creationId xmlns:a16="http://schemas.microsoft.com/office/drawing/2014/main" id="{5D621FC2-DD21-4C0F-91F1-DD5504EECEFD}"/>
              </a:ext>
            </a:extLst>
          </p:cNvPr>
          <p:cNvSpPr>
            <a:spLocks noGrp="1"/>
          </p:cNvSpPr>
          <p:nvPr/>
        </p:nvSpPr>
        <p:spPr>
          <a:xfrm>
            <a:off x="1524000" y="4953000"/>
            <a:ext cx="9144000" cy="9525"/>
          </a:xfrm>
          <a:custGeom>
            <a:avLst/>
            <a:gdLst/>
            <a:ahLst/>
            <a:cxnLst/>
            <a:rect l="0" t="0" r="0" b="0"/>
            <a:pathLst>
              <a:path w="9144000" h="9525">
                <a:moveTo>
                  <a:pt x="0" y="0"/>
                </a:moveTo>
                <a:lnTo>
                  <a:pt x="9144000" y="0"/>
                </a:lnTo>
              </a:path>
            </a:pathLst>
          </a:custGeom>
          <a:noFill/>
          <a:ln w="19050">
            <a:solidFill>
              <a:srgbClr val="111111"/>
            </a:solidFill>
          </a:ln>
        </p:spPr>
        <p:txBody>
          <a:bodyPr/>
          <a:lstStyle/>
          <a:p>
            <a:endParaRPr lang="en-US"/>
          </a:p>
        </p:txBody>
      </p:sp>
      <p:sp>
        <p:nvSpPr>
          <p:cNvPr id="7" name="Diagram line">
            <a:extLst>
              <a:ext uri="{FF2B5EF4-FFF2-40B4-BE49-F238E27FC236}">
                <a16:creationId xmlns:a16="http://schemas.microsoft.com/office/drawing/2014/main" id="{53DCB8D7-27D4-4AA9-B9D7-0E616929928F}"/>
              </a:ext>
            </a:extLst>
          </p:cNvPr>
          <p:cNvSpPr>
            <a:spLocks noGrp="1"/>
          </p:cNvSpPr>
          <p:nvPr/>
        </p:nvSpPr>
        <p:spPr>
          <a:xfrm>
            <a:off x="1524000" y="4838700"/>
            <a:ext cx="9525" cy="228600"/>
          </a:xfrm>
          <a:custGeom>
            <a:avLst/>
            <a:gdLst/>
            <a:ahLst/>
            <a:cxnLst/>
            <a:rect l="0" t="0" r="0" b="0"/>
            <a:pathLst>
              <a:path w="9525" h="228600">
                <a:moveTo>
                  <a:pt x="0" y="0"/>
                </a:moveTo>
                <a:lnTo>
                  <a:pt x="0" y="228600"/>
                </a:lnTo>
              </a:path>
            </a:pathLst>
          </a:custGeom>
          <a:noFill/>
          <a:ln w="28575">
            <a:solidFill>
              <a:srgbClr val="111111"/>
            </a:solidFill>
          </a:ln>
        </p:spPr>
        <p:txBody>
          <a:bodyPr/>
          <a:lstStyle/>
          <a:p>
            <a:endParaRPr lang="en-US"/>
          </a:p>
        </p:txBody>
      </p:sp>
      <p:sp>
        <p:nvSpPr>
          <p:cNvPr id="8" name="Text">
            <a:extLst>
              <a:ext uri="{FF2B5EF4-FFF2-40B4-BE49-F238E27FC236}">
                <a16:creationId xmlns:a16="http://schemas.microsoft.com/office/drawing/2014/main" id="{8EC2E9E2-A336-47B7-87D4-0BCB331C8E13}"/>
              </a:ext>
            </a:extLst>
          </p:cNvPr>
          <p:cNvSpPr>
            <a:spLocks noGrp="1"/>
          </p:cNvSpPr>
          <p:nvPr/>
        </p:nvSpPr>
        <p:spPr>
          <a:xfrm>
            <a:off x="904875" y="5172075"/>
            <a:ext cx="1238250" cy="476250"/>
          </a:xfrm>
          <a:prstGeom prst="rect">
            <a:avLst/>
          </a:prstGeom>
          <a:noFill/>
          <a:ln w="0">
            <a:noFill/>
          </a:ln>
        </p:spPr>
        <p:txBody>
          <a:bodyPr wrap="square" lIns="0" tIns="0" rIns="0" bIns="0" anchor="t">
            <a:noAutofit/>
          </a:bodyPr>
          <a:lstStyle/>
          <a:p>
            <a:pPr algn="ctr">
              <a:buNone/>
              <a:defRPr sz="2700" b="0">
                <a:solidFill>
                  <a:srgbClr val="111111"/>
                </a:solidFill>
                <a:latin typeface="Aptos"/>
                <a:ea typeface="Aptos"/>
                <a:cs typeface="Aptos"/>
              </a:defRPr>
            </a:pPr>
            <a:r>
              <a:rPr sz="2700" b="0">
                <a:solidFill>
                  <a:srgbClr val="111111"/>
                </a:solidFill>
                <a:latin typeface="Aptos"/>
                <a:ea typeface="Aptos"/>
                <a:cs typeface="Aptos"/>
              </a:rPr>
              <a:t>30</a:t>
            </a:r>
          </a:p>
        </p:txBody>
      </p:sp>
      <p:sp>
        <p:nvSpPr>
          <p:cNvPr id="9" name="Diagram line">
            <a:extLst>
              <a:ext uri="{FF2B5EF4-FFF2-40B4-BE49-F238E27FC236}">
                <a16:creationId xmlns:a16="http://schemas.microsoft.com/office/drawing/2014/main" id="{C68242AB-60F6-453C-8205-0A1BC72F256F}"/>
              </a:ext>
            </a:extLst>
          </p:cNvPr>
          <p:cNvSpPr>
            <a:spLocks noGrp="1"/>
          </p:cNvSpPr>
          <p:nvPr/>
        </p:nvSpPr>
        <p:spPr>
          <a:xfrm>
            <a:off x="4724400" y="4838700"/>
            <a:ext cx="9525" cy="228600"/>
          </a:xfrm>
          <a:custGeom>
            <a:avLst/>
            <a:gdLst/>
            <a:ahLst/>
            <a:cxnLst/>
            <a:rect l="0" t="0" r="0" b="0"/>
            <a:pathLst>
              <a:path w="9525" h="228600">
                <a:moveTo>
                  <a:pt x="0" y="0"/>
                </a:moveTo>
                <a:lnTo>
                  <a:pt x="0" y="228600"/>
                </a:lnTo>
              </a:path>
            </a:pathLst>
          </a:custGeom>
          <a:noFill/>
          <a:ln w="28575">
            <a:solidFill>
              <a:srgbClr val="D6171D"/>
            </a:solidFill>
          </a:ln>
        </p:spPr>
        <p:txBody>
          <a:bodyPr/>
          <a:lstStyle/>
          <a:p>
            <a:endParaRPr lang="en-US"/>
          </a:p>
        </p:txBody>
      </p:sp>
      <p:sp>
        <p:nvSpPr>
          <p:cNvPr id="10" name="Text">
            <a:extLst>
              <a:ext uri="{FF2B5EF4-FFF2-40B4-BE49-F238E27FC236}">
                <a16:creationId xmlns:a16="http://schemas.microsoft.com/office/drawing/2014/main" id="{F0558ADD-D296-4B8B-93AE-94EEDE99AB46}"/>
              </a:ext>
            </a:extLst>
          </p:cNvPr>
          <p:cNvSpPr>
            <a:spLocks noGrp="1"/>
          </p:cNvSpPr>
          <p:nvPr/>
        </p:nvSpPr>
        <p:spPr>
          <a:xfrm>
            <a:off x="4105275" y="5172075"/>
            <a:ext cx="1238250" cy="476250"/>
          </a:xfrm>
          <a:prstGeom prst="rect">
            <a:avLst/>
          </a:prstGeom>
          <a:noFill/>
          <a:ln w="0">
            <a:noFill/>
          </a:ln>
        </p:spPr>
        <p:txBody>
          <a:bodyPr wrap="square" lIns="0" tIns="0" rIns="0" bIns="0" anchor="t">
            <a:noAutofit/>
          </a:bodyPr>
          <a:lstStyle/>
          <a:p>
            <a:pPr algn="ctr">
              <a:buNone/>
              <a:defRPr sz="2700" b="1">
                <a:solidFill>
                  <a:srgbClr val="D6171D"/>
                </a:solidFill>
                <a:latin typeface="Aptos"/>
                <a:ea typeface="Aptos"/>
                <a:cs typeface="Aptos"/>
              </a:defRPr>
            </a:pPr>
            <a:r>
              <a:rPr sz="2700" b="1">
                <a:solidFill>
                  <a:srgbClr val="D6171D"/>
                </a:solidFill>
                <a:latin typeface="Aptos"/>
                <a:ea typeface="Aptos"/>
                <a:cs typeface="Aptos"/>
              </a:rPr>
              <a:t>33.5</a:t>
            </a:r>
          </a:p>
        </p:txBody>
      </p:sp>
      <p:sp>
        <p:nvSpPr>
          <p:cNvPr id="11" name="Diagram line">
            <a:extLst>
              <a:ext uri="{FF2B5EF4-FFF2-40B4-BE49-F238E27FC236}">
                <a16:creationId xmlns:a16="http://schemas.microsoft.com/office/drawing/2014/main" id="{84EB463B-BFB4-4E4A-9466-3FE335065FB6}"/>
              </a:ext>
            </a:extLst>
          </p:cNvPr>
          <p:cNvSpPr>
            <a:spLocks noGrp="1"/>
          </p:cNvSpPr>
          <p:nvPr/>
        </p:nvSpPr>
        <p:spPr>
          <a:xfrm>
            <a:off x="10668000" y="4838700"/>
            <a:ext cx="9525" cy="228600"/>
          </a:xfrm>
          <a:custGeom>
            <a:avLst/>
            <a:gdLst/>
            <a:ahLst/>
            <a:cxnLst/>
            <a:rect l="0" t="0" r="0" b="0"/>
            <a:pathLst>
              <a:path w="9525" h="228600">
                <a:moveTo>
                  <a:pt x="0" y="0"/>
                </a:moveTo>
                <a:lnTo>
                  <a:pt x="0" y="228600"/>
                </a:lnTo>
              </a:path>
            </a:pathLst>
          </a:custGeom>
          <a:noFill/>
          <a:ln w="28575">
            <a:solidFill>
              <a:srgbClr val="111111"/>
            </a:solidFill>
          </a:ln>
        </p:spPr>
        <p:txBody>
          <a:bodyPr/>
          <a:lstStyle/>
          <a:p>
            <a:endParaRPr lang="en-US"/>
          </a:p>
        </p:txBody>
      </p:sp>
      <p:sp>
        <p:nvSpPr>
          <p:cNvPr id="12" name="Text">
            <a:extLst>
              <a:ext uri="{FF2B5EF4-FFF2-40B4-BE49-F238E27FC236}">
                <a16:creationId xmlns:a16="http://schemas.microsoft.com/office/drawing/2014/main" id="{0A3479B2-B202-48D4-B684-46BB0443EC21}"/>
              </a:ext>
            </a:extLst>
          </p:cNvPr>
          <p:cNvSpPr>
            <a:spLocks noGrp="1"/>
          </p:cNvSpPr>
          <p:nvPr/>
        </p:nvSpPr>
        <p:spPr>
          <a:xfrm>
            <a:off x="10048875" y="5172075"/>
            <a:ext cx="1238250" cy="476250"/>
          </a:xfrm>
          <a:prstGeom prst="rect">
            <a:avLst/>
          </a:prstGeom>
          <a:noFill/>
          <a:ln w="0">
            <a:noFill/>
          </a:ln>
        </p:spPr>
        <p:txBody>
          <a:bodyPr wrap="square" lIns="0" tIns="0" rIns="0" bIns="0" anchor="t">
            <a:noAutofit/>
          </a:bodyPr>
          <a:lstStyle/>
          <a:p>
            <a:pPr algn="ctr">
              <a:buNone/>
              <a:defRPr sz="2700" b="0">
                <a:solidFill>
                  <a:srgbClr val="111111"/>
                </a:solidFill>
                <a:latin typeface="Aptos"/>
                <a:ea typeface="Aptos"/>
                <a:cs typeface="Aptos"/>
              </a:defRPr>
            </a:pPr>
            <a:r>
              <a:rPr sz="2700" b="0">
                <a:solidFill>
                  <a:srgbClr val="111111"/>
                </a:solidFill>
                <a:latin typeface="Aptos"/>
                <a:ea typeface="Aptos"/>
                <a:cs typeface="Aptos"/>
              </a:rPr>
              <a:t>40</a:t>
            </a:r>
          </a:p>
        </p:txBody>
      </p:sp>
      <p:sp>
        <p:nvSpPr>
          <p:cNvPr id="13" name="Text">
            <a:extLst>
              <a:ext uri="{FF2B5EF4-FFF2-40B4-BE49-F238E27FC236}">
                <a16:creationId xmlns:a16="http://schemas.microsoft.com/office/drawing/2014/main" id="{C10EFEFC-461E-4C79-83C9-35E84D721BF2}"/>
              </a:ext>
            </a:extLst>
          </p:cNvPr>
          <p:cNvSpPr>
            <a:spLocks noGrp="1"/>
          </p:cNvSpPr>
          <p:nvPr/>
        </p:nvSpPr>
        <p:spPr>
          <a:xfrm>
            <a:off x="3619500" y="4286250"/>
            <a:ext cx="4953000" cy="476250"/>
          </a:xfrm>
          <a:prstGeom prst="rect">
            <a:avLst/>
          </a:prstGeom>
          <a:noFill/>
          <a:ln w="0">
            <a:noFill/>
          </a:ln>
        </p:spPr>
        <p:txBody>
          <a:bodyPr wrap="square" lIns="0" tIns="0" rIns="0" bIns="0" anchor="t">
            <a:noAutofit/>
          </a:bodyPr>
          <a:lstStyle/>
          <a:p>
            <a:pPr algn="ctr">
              <a:buNone/>
              <a:defRPr sz="2550" b="1">
                <a:solidFill>
                  <a:srgbClr val="D6171D"/>
                </a:solidFill>
                <a:latin typeface="Aptos"/>
                <a:ea typeface="Aptos"/>
                <a:cs typeface="Aptos"/>
              </a:defRPr>
            </a:pPr>
            <a:r>
              <a:rPr sz="2550" b="1">
                <a:solidFill>
                  <a:srgbClr val="D6171D"/>
                </a:solidFill>
                <a:latin typeface="Aptos"/>
                <a:ea typeface="Aptos"/>
                <a:cs typeface="Aptos"/>
              </a:rPr>
              <a:t>Start at 30. Add 3.5.</a:t>
            </a:r>
          </a:p>
        </p:txBody>
      </p:sp>
    </p:spTree>
    <p:extLst>
      <p:ext uri="{BB962C8B-B14F-4D97-AF65-F5344CB8AC3E}">
        <p14:creationId xmlns:p14="http://schemas.microsoft.com/office/powerpoint/2010/main" val="14399960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title">
            <a:extLst>
              <a:ext uri="{FF2B5EF4-FFF2-40B4-BE49-F238E27FC236}">
                <a16:creationId xmlns:a16="http://schemas.microsoft.com/office/drawing/2014/main" id="{5B7B5DD0-0E27-468C-AEC8-621A6784E6FF}"/>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is 33.5 only an estimate?</a:t>
            </a:r>
          </a:p>
        </p:txBody>
      </p:sp>
      <p:sp>
        <p:nvSpPr>
          <p:cNvPr id="2" name="Lead">
            <a:extLst>
              <a:ext uri="{FF2B5EF4-FFF2-40B4-BE49-F238E27FC236}">
                <a16:creationId xmlns:a16="http://schemas.microsoft.com/office/drawing/2014/main" id="{2770FFD7-904C-4D79-98EE-E0EAD48D1ADC}"/>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Grouping keeps the counts but loses the exact positions inside each interval.</a:t>
            </a:r>
          </a:p>
        </p:txBody>
      </p:sp>
      <p:sp>
        <p:nvSpPr>
          <p:cNvPr id="3" name="Footer">
            <a:extLst>
              <a:ext uri="{FF2B5EF4-FFF2-40B4-BE49-F238E27FC236}">
                <a16:creationId xmlns:a16="http://schemas.microsoft.com/office/drawing/2014/main" id="{0A736180-C575-40B1-B658-EE5F125D3CE7}"/>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Use the raw records for an exact median when available. Use the ogive when working from grouped data.</a:t>
            </a:r>
          </a:p>
        </p:txBody>
      </p:sp>
      <p:sp>
        <p:nvSpPr>
          <p:cNvPr id="4" name="Text">
            <a:extLst>
              <a:ext uri="{FF2B5EF4-FFF2-40B4-BE49-F238E27FC236}">
                <a16:creationId xmlns:a16="http://schemas.microsoft.com/office/drawing/2014/main" id="{0CA04841-84AF-4BE9-A82D-28E102EE8D09}"/>
              </a:ext>
            </a:extLst>
          </p:cNvPr>
          <p:cNvSpPr>
            <a:spLocks noGrp="1"/>
          </p:cNvSpPr>
          <p:nvPr/>
        </p:nvSpPr>
        <p:spPr>
          <a:xfrm>
            <a:off x="619125" y="2857500"/>
            <a:ext cx="10763250" cy="419100"/>
          </a:xfrm>
          <a:prstGeom prst="rect">
            <a:avLst/>
          </a:prstGeom>
          <a:noFill/>
          <a:ln w="0">
            <a:noFill/>
          </a:ln>
        </p:spPr>
        <p:txBody>
          <a:bodyPr wrap="square"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Food Club’s original 25 records, now in order:</a:t>
            </a:r>
          </a:p>
        </p:txBody>
      </p:sp>
      <p:sp>
        <p:nvSpPr>
          <p:cNvPr id="5" name="Text">
            <a:extLst>
              <a:ext uri="{FF2B5EF4-FFF2-40B4-BE49-F238E27FC236}">
                <a16:creationId xmlns:a16="http://schemas.microsoft.com/office/drawing/2014/main" id="{20513801-AD03-4BF9-BEFB-4C73671A5077}"/>
              </a:ext>
            </a:extLst>
          </p:cNvPr>
          <p:cNvSpPr>
            <a:spLocks noGrp="1"/>
          </p:cNvSpPr>
          <p:nvPr/>
        </p:nvSpPr>
        <p:spPr>
          <a:xfrm>
            <a:off x="619125"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15</a:t>
            </a:r>
          </a:p>
        </p:txBody>
      </p:sp>
      <p:sp>
        <p:nvSpPr>
          <p:cNvPr id="6" name="Text">
            <a:extLst>
              <a:ext uri="{FF2B5EF4-FFF2-40B4-BE49-F238E27FC236}">
                <a16:creationId xmlns:a16="http://schemas.microsoft.com/office/drawing/2014/main" id="{64263B34-2E01-4EC2-8299-601B3982155A}"/>
              </a:ext>
            </a:extLst>
          </p:cNvPr>
          <p:cNvSpPr>
            <a:spLocks noGrp="1"/>
          </p:cNvSpPr>
          <p:nvPr/>
        </p:nvSpPr>
        <p:spPr>
          <a:xfrm>
            <a:off x="1461721"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19</a:t>
            </a:r>
          </a:p>
        </p:txBody>
      </p:sp>
      <p:sp>
        <p:nvSpPr>
          <p:cNvPr id="7" name="Text">
            <a:extLst>
              <a:ext uri="{FF2B5EF4-FFF2-40B4-BE49-F238E27FC236}">
                <a16:creationId xmlns:a16="http://schemas.microsoft.com/office/drawing/2014/main" id="{F2D900B1-11F2-43A6-99D1-5F3E83133683}"/>
              </a:ext>
            </a:extLst>
          </p:cNvPr>
          <p:cNvSpPr>
            <a:spLocks noGrp="1"/>
          </p:cNvSpPr>
          <p:nvPr/>
        </p:nvSpPr>
        <p:spPr>
          <a:xfrm>
            <a:off x="2304317"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21</a:t>
            </a:r>
          </a:p>
        </p:txBody>
      </p:sp>
      <p:sp>
        <p:nvSpPr>
          <p:cNvPr id="8" name="Text">
            <a:extLst>
              <a:ext uri="{FF2B5EF4-FFF2-40B4-BE49-F238E27FC236}">
                <a16:creationId xmlns:a16="http://schemas.microsoft.com/office/drawing/2014/main" id="{622240D0-9E49-43EC-A692-E96E09E6DE56}"/>
              </a:ext>
            </a:extLst>
          </p:cNvPr>
          <p:cNvSpPr>
            <a:spLocks noGrp="1"/>
          </p:cNvSpPr>
          <p:nvPr/>
        </p:nvSpPr>
        <p:spPr>
          <a:xfrm>
            <a:off x="3146913"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22</a:t>
            </a:r>
          </a:p>
        </p:txBody>
      </p:sp>
      <p:sp>
        <p:nvSpPr>
          <p:cNvPr id="9" name="Text">
            <a:extLst>
              <a:ext uri="{FF2B5EF4-FFF2-40B4-BE49-F238E27FC236}">
                <a16:creationId xmlns:a16="http://schemas.microsoft.com/office/drawing/2014/main" id="{074DE1FB-4C74-488F-90CB-B6FC0DA97CFD}"/>
              </a:ext>
            </a:extLst>
          </p:cNvPr>
          <p:cNvSpPr>
            <a:spLocks noGrp="1"/>
          </p:cNvSpPr>
          <p:nvPr/>
        </p:nvSpPr>
        <p:spPr>
          <a:xfrm>
            <a:off x="3989510"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23</a:t>
            </a:r>
          </a:p>
        </p:txBody>
      </p:sp>
      <p:sp>
        <p:nvSpPr>
          <p:cNvPr id="10" name="Text">
            <a:extLst>
              <a:ext uri="{FF2B5EF4-FFF2-40B4-BE49-F238E27FC236}">
                <a16:creationId xmlns:a16="http://schemas.microsoft.com/office/drawing/2014/main" id="{D03F7E52-E625-4FCD-A935-898A3A2FA3FD}"/>
              </a:ext>
            </a:extLst>
          </p:cNvPr>
          <p:cNvSpPr>
            <a:spLocks noGrp="1"/>
          </p:cNvSpPr>
          <p:nvPr/>
        </p:nvSpPr>
        <p:spPr>
          <a:xfrm>
            <a:off x="4832106"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25</a:t>
            </a:r>
          </a:p>
        </p:txBody>
      </p:sp>
      <p:sp>
        <p:nvSpPr>
          <p:cNvPr id="11" name="Text">
            <a:extLst>
              <a:ext uri="{FF2B5EF4-FFF2-40B4-BE49-F238E27FC236}">
                <a16:creationId xmlns:a16="http://schemas.microsoft.com/office/drawing/2014/main" id="{4A89FB3A-38E6-4A05-8BBF-636DBA00B7FC}"/>
              </a:ext>
            </a:extLst>
          </p:cNvPr>
          <p:cNvSpPr>
            <a:spLocks noGrp="1"/>
          </p:cNvSpPr>
          <p:nvPr/>
        </p:nvSpPr>
        <p:spPr>
          <a:xfrm>
            <a:off x="5674702"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27</a:t>
            </a:r>
          </a:p>
        </p:txBody>
      </p:sp>
      <p:sp>
        <p:nvSpPr>
          <p:cNvPr id="12" name="Text">
            <a:extLst>
              <a:ext uri="{FF2B5EF4-FFF2-40B4-BE49-F238E27FC236}">
                <a16:creationId xmlns:a16="http://schemas.microsoft.com/office/drawing/2014/main" id="{4ADB7103-CEBF-4A36-8348-2AFEBE4E8709}"/>
              </a:ext>
            </a:extLst>
          </p:cNvPr>
          <p:cNvSpPr>
            <a:spLocks noGrp="1"/>
          </p:cNvSpPr>
          <p:nvPr/>
        </p:nvSpPr>
        <p:spPr>
          <a:xfrm>
            <a:off x="6517298"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28</a:t>
            </a:r>
          </a:p>
        </p:txBody>
      </p:sp>
      <p:sp>
        <p:nvSpPr>
          <p:cNvPr id="13" name="Text">
            <a:extLst>
              <a:ext uri="{FF2B5EF4-FFF2-40B4-BE49-F238E27FC236}">
                <a16:creationId xmlns:a16="http://schemas.microsoft.com/office/drawing/2014/main" id="{9B91096E-9B26-4779-9576-B616AC19E6DA}"/>
              </a:ext>
            </a:extLst>
          </p:cNvPr>
          <p:cNvSpPr>
            <a:spLocks noGrp="1"/>
          </p:cNvSpPr>
          <p:nvPr/>
        </p:nvSpPr>
        <p:spPr>
          <a:xfrm>
            <a:off x="7359894"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29</a:t>
            </a:r>
          </a:p>
        </p:txBody>
      </p:sp>
      <p:sp>
        <p:nvSpPr>
          <p:cNvPr id="14" name="Text">
            <a:extLst>
              <a:ext uri="{FF2B5EF4-FFF2-40B4-BE49-F238E27FC236}">
                <a16:creationId xmlns:a16="http://schemas.microsoft.com/office/drawing/2014/main" id="{01692C25-06D3-45E4-8DFA-018F3CB841FC}"/>
              </a:ext>
            </a:extLst>
          </p:cNvPr>
          <p:cNvSpPr>
            <a:spLocks noGrp="1"/>
          </p:cNvSpPr>
          <p:nvPr/>
        </p:nvSpPr>
        <p:spPr>
          <a:xfrm>
            <a:off x="8202490"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30</a:t>
            </a:r>
          </a:p>
        </p:txBody>
      </p:sp>
      <p:sp>
        <p:nvSpPr>
          <p:cNvPr id="15" name="Text">
            <a:extLst>
              <a:ext uri="{FF2B5EF4-FFF2-40B4-BE49-F238E27FC236}">
                <a16:creationId xmlns:a16="http://schemas.microsoft.com/office/drawing/2014/main" id="{78AE31C7-1C66-4EBA-B323-701DF9CD266E}"/>
              </a:ext>
            </a:extLst>
          </p:cNvPr>
          <p:cNvSpPr>
            <a:spLocks noGrp="1"/>
          </p:cNvSpPr>
          <p:nvPr/>
        </p:nvSpPr>
        <p:spPr>
          <a:xfrm>
            <a:off x="9045087"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31</a:t>
            </a:r>
          </a:p>
        </p:txBody>
      </p:sp>
      <p:sp>
        <p:nvSpPr>
          <p:cNvPr id="16" name="Text">
            <a:extLst>
              <a:ext uri="{FF2B5EF4-FFF2-40B4-BE49-F238E27FC236}">
                <a16:creationId xmlns:a16="http://schemas.microsoft.com/office/drawing/2014/main" id="{AC9F8198-B61E-41CA-94A0-DD0035F5C35C}"/>
              </a:ext>
            </a:extLst>
          </p:cNvPr>
          <p:cNvSpPr>
            <a:spLocks noGrp="1"/>
          </p:cNvSpPr>
          <p:nvPr/>
        </p:nvSpPr>
        <p:spPr>
          <a:xfrm>
            <a:off x="9887683" y="340042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32</a:t>
            </a:r>
          </a:p>
        </p:txBody>
      </p:sp>
      <p:sp>
        <p:nvSpPr>
          <p:cNvPr id="17" name="Text">
            <a:extLst>
              <a:ext uri="{FF2B5EF4-FFF2-40B4-BE49-F238E27FC236}">
                <a16:creationId xmlns:a16="http://schemas.microsoft.com/office/drawing/2014/main" id="{E17441D5-3EB6-4CDF-9CF3-7B726CC79B10}"/>
              </a:ext>
            </a:extLst>
          </p:cNvPr>
          <p:cNvSpPr>
            <a:spLocks noGrp="1"/>
          </p:cNvSpPr>
          <p:nvPr/>
        </p:nvSpPr>
        <p:spPr>
          <a:xfrm>
            <a:off x="10730279" y="3400425"/>
            <a:ext cx="775921" cy="466725"/>
          </a:xfrm>
          <a:prstGeom prst="rect">
            <a:avLst/>
          </a:prstGeom>
          <a:solidFill>
            <a:srgbClr val="D6171D"/>
          </a:solidFill>
          <a:ln w="0">
            <a:noFill/>
          </a:ln>
        </p:spPr>
        <p:txBody>
          <a:bodyPr wrap="square" lIns="0" tIns="0" rIns="0" bIns="0" anchor="ctr">
            <a:noAutofit/>
          </a:bodyPr>
          <a:lstStyle/>
          <a:p>
            <a:pPr algn="ctr">
              <a:buNone/>
              <a:defRPr sz="2250" b="1">
                <a:solidFill>
                  <a:srgbClr val="FFFFFF"/>
                </a:solidFill>
                <a:latin typeface="Aptos"/>
                <a:ea typeface="Aptos"/>
                <a:cs typeface="Aptos"/>
              </a:defRPr>
            </a:pPr>
            <a:r>
              <a:rPr sz="2250" b="1">
                <a:solidFill>
                  <a:srgbClr val="FFFFFF"/>
                </a:solidFill>
                <a:latin typeface="Aptos"/>
                <a:ea typeface="Aptos"/>
                <a:cs typeface="Aptos"/>
              </a:rPr>
              <a:t>33</a:t>
            </a:r>
          </a:p>
        </p:txBody>
      </p:sp>
      <p:sp>
        <p:nvSpPr>
          <p:cNvPr id="18" name="Text">
            <a:extLst>
              <a:ext uri="{FF2B5EF4-FFF2-40B4-BE49-F238E27FC236}">
                <a16:creationId xmlns:a16="http://schemas.microsoft.com/office/drawing/2014/main" id="{2F5331A1-5E55-4792-AD97-08E9DE31D70C}"/>
              </a:ext>
            </a:extLst>
          </p:cNvPr>
          <p:cNvSpPr>
            <a:spLocks noGrp="1"/>
          </p:cNvSpPr>
          <p:nvPr/>
        </p:nvSpPr>
        <p:spPr>
          <a:xfrm>
            <a:off x="619125"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34</a:t>
            </a:r>
          </a:p>
        </p:txBody>
      </p:sp>
      <p:sp>
        <p:nvSpPr>
          <p:cNvPr id="19" name="Text">
            <a:extLst>
              <a:ext uri="{FF2B5EF4-FFF2-40B4-BE49-F238E27FC236}">
                <a16:creationId xmlns:a16="http://schemas.microsoft.com/office/drawing/2014/main" id="{231F5735-FD14-480C-828D-65BDAB38BABB}"/>
              </a:ext>
            </a:extLst>
          </p:cNvPr>
          <p:cNvSpPr>
            <a:spLocks noGrp="1"/>
          </p:cNvSpPr>
          <p:nvPr/>
        </p:nvSpPr>
        <p:spPr>
          <a:xfrm>
            <a:off x="1461721"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35</a:t>
            </a:r>
          </a:p>
        </p:txBody>
      </p:sp>
      <p:sp>
        <p:nvSpPr>
          <p:cNvPr id="20" name="Text">
            <a:extLst>
              <a:ext uri="{FF2B5EF4-FFF2-40B4-BE49-F238E27FC236}">
                <a16:creationId xmlns:a16="http://schemas.microsoft.com/office/drawing/2014/main" id="{587EC3FA-B0B7-4380-82B1-1AD5AF38FC7A}"/>
              </a:ext>
            </a:extLst>
          </p:cNvPr>
          <p:cNvSpPr>
            <a:spLocks noGrp="1"/>
          </p:cNvSpPr>
          <p:nvPr/>
        </p:nvSpPr>
        <p:spPr>
          <a:xfrm>
            <a:off x="2304317"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36</a:t>
            </a:r>
          </a:p>
        </p:txBody>
      </p:sp>
      <p:sp>
        <p:nvSpPr>
          <p:cNvPr id="21" name="Text">
            <a:extLst>
              <a:ext uri="{FF2B5EF4-FFF2-40B4-BE49-F238E27FC236}">
                <a16:creationId xmlns:a16="http://schemas.microsoft.com/office/drawing/2014/main" id="{A4077FE3-177B-4F7F-AF0A-9A4017C32AEE}"/>
              </a:ext>
            </a:extLst>
          </p:cNvPr>
          <p:cNvSpPr>
            <a:spLocks noGrp="1"/>
          </p:cNvSpPr>
          <p:nvPr/>
        </p:nvSpPr>
        <p:spPr>
          <a:xfrm>
            <a:off x="3146913"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37</a:t>
            </a:r>
          </a:p>
        </p:txBody>
      </p:sp>
      <p:sp>
        <p:nvSpPr>
          <p:cNvPr id="22" name="Text">
            <a:extLst>
              <a:ext uri="{FF2B5EF4-FFF2-40B4-BE49-F238E27FC236}">
                <a16:creationId xmlns:a16="http://schemas.microsoft.com/office/drawing/2014/main" id="{BFDFEA99-E5F5-4B4C-B1FA-33338C8DE3BA}"/>
              </a:ext>
            </a:extLst>
          </p:cNvPr>
          <p:cNvSpPr>
            <a:spLocks noGrp="1"/>
          </p:cNvSpPr>
          <p:nvPr/>
        </p:nvSpPr>
        <p:spPr>
          <a:xfrm>
            <a:off x="3989510"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38</a:t>
            </a:r>
          </a:p>
        </p:txBody>
      </p:sp>
      <p:sp>
        <p:nvSpPr>
          <p:cNvPr id="23" name="Text">
            <a:extLst>
              <a:ext uri="{FF2B5EF4-FFF2-40B4-BE49-F238E27FC236}">
                <a16:creationId xmlns:a16="http://schemas.microsoft.com/office/drawing/2014/main" id="{A47C7CD4-B748-4125-9793-35D8DD6B79D0}"/>
              </a:ext>
            </a:extLst>
          </p:cNvPr>
          <p:cNvSpPr>
            <a:spLocks noGrp="1"/>
          </p:cNvSpPr>
          <p:nvPr/>
        </p:nvSpPr>
        <p:spPr>
          <a:xfrm>
            <a:off x="4832106"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39</a:t>
            </a:r>
          </a:p>
        </p:txBody>
      </p:sp>
      <p:sp>
        <p:nvSpPr>
          <p:cNvPr id="24" name="Text">
            <a:extLst>
              <a:ext uri="{FF2B5EF4-FFF2-40B4-BE49-F238E27FC236}">
                <a16:creationId xmlns:a16="http://schemas.microsoft.com/office/drawing/2014/main" id="{D8B5D2D1-30D5-4935-9EEE-5163CF9571BD}"/>
              </a:ext>
            </a:extLst>
          </p:cNvPr>
          <p:cNvSpPr>
            <a:spLocks noGrp="1"/>
          </p:cNvSpPr>
          <p:nvPr/>
        </p:nvSpPr>
        <p:spPr>
          <a:xfrm>
            <a:off x="5674702"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40</a:t>
            </a:r>
          </a:p>
        </p:txBody>
      </p:sp>
      <p:sp>
        <p:nvSpPr>
          <p:cNvPr id="25" name="Text">
            <a:extLst>
              <a:ext uri="{FF2B5EF4-FFF2-40B4-BE49-F238E27FC236}">
                <a16:creationId xmlns:a16="http://schemas.microsoft.com/office/drawing/2014/main" id="{DCA67DEB-D0F2-4589-8CC5-F92035115363}"/>
              </a:ext>
            </a:extLst>
          </p:cNvPr>
          <p:cNvSpPr>
            <a:spLocks noGrp="1"/>
          </p:cNvSpPr>
          <p:nvPr/>
        </p:nvSpPr>
        <p:spPr>
          <a:xfrm>
            <a:off x="6517298"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41</a:t>
            </a:r>
          </a:p>
        </p:txBody>
      </p:sp>
      <p:sp>
        <p:nvSpPr>
          <p:cNvPr id="26" name="Text">
            <a:extLst>
              <a:ext uri="{FF2B5EF4-FFF2-40B4-BE49-F238E27FC236}">
                <a16:creationId xmlns:a16="http://schemas.microsoft.com/office/drawing/2014/main" id="{F468CA20-B634-430C-A187-C8536ECF94CE}"/>
              </a:ext>
            </a:extLst>
          </p:cNvPr>
          <p:cNvSpPr>
            <a:spLocks noGrp="1"/>
          </p:cNvSpPr>
          <p:nvPr/>
        </p:nvSpPr>
        <p:spPr>
          <a:xfrm>
            <a:off x="7359894"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42</a:t>
            </a:r>
          </a:p>
        </p:txBody>
      </p:sp>
      <p:sp>
        <p:nvSpPr>
          <p:cNvPr id="27" name="Text">
            <a:extLst>
              <a:ext uri="{FF2B5EF4-FFF2-40B4-BE49-F238E27FC236}">
                <a16:creationId xmlns:a16="http://schemas.microsoft.com/office/drawing/2014/main" id="{907EA418-3F44-4AA1-AA1E-63DFA5129297}"/>
              </a:ext>
            </a:extLst>
          </p:cNvPr>
          <p:cNvSpPr>
            <a:spLocks noGrp="1"/>
          </p:cNvSpPr>
          <p:nvPr/>
        </p:nvSpPr>
        <p:spPr>
          <a:xfrm>
            <a:off x="8202490"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43</a:t>
            </a:r>
          </a:p>
        </p:txBody>
      </p:sp>
      <p:sp>
        <p:nvSpPr>
          <p:cNvPr id="28" name="Text">
            <a:extLst>
              <a:ext uri="{FF2B5EF4-FFF2-40B4-BE49-F238E27FC236}">
                <a16:creationId xmlns:a16="http://schemas.microsoft.com/office/drawing/2014/main" id="{AB598976-B8AB-45D4-B2C3-D3E7E60CC8D7}"/>
              </a:ext>
            </a:extLst>
          </p:cNvPr>
          <p:cNvSpPr>
            <a:spLocks noGrp="1"/>
          </p:cNvSpPr>
          <p:nvPr/>
        </p:nvSpPr>
        <p:spPr>
          <a:xfrm>
            <a:off x="9045087"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44</a:t>
            </a:r>
          </a:p>
        </p:txBody>
      </p:sp>
      <p:sp>
        <p:nvSpPr>
          <p:cNvPr id="29" name="Text">
            <a:extLst>
              <a:ext uri="{FF2B5EF4-FFF2-40B4-BE49-F238E27FC236}">
                <a16:creationId xmlns:a16="http://schemas.microsoft.com/office/drawing/2014/main" id="{644719E6-C8A5-410D-A606-1008DFA42602}"/>
              </a:ext>
            </a:extLst>
          </p:cNvPr>
          <p:cNvSpPr>
            <a:spLocks noGrp="1"/>
          </p:cNvSpPr>
          <p:nvPr/>
        </p:nvSpPr>
        <p:spPr>
          <a:xfrm>
            <a:off x="9887683" y="3914775"/>
            <a:ext cx="775921" cy="46672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48</a:t>
            </a:r>
          </a:p>
        </p:txBody>
      </p:sp>
      <p:sp>
        <p:nvSpPr>
          <p:cNvPr id="30" name="Text">
            <a:extLst>
              <a:ext uri="{FF2B5EF4-FFF2-40B4-BE49-F238E27FC236}">
                <a16:creationId xmlns:a16="http://schemas.microsoft.com/office/drawing/2014/main" id="{BAC83F08-41F3-4B6C-935D-2D55C7CA8AC8}"/>
              </a:ext>
            </a:extLst>
          </p:cNvPr>
          <p:cNvSpPr>
            <a:spLocks noGrp="1"/>
          </p:cNvSpPr>
          <p:nvPr/>
        </p:nvSpPr>
        <p:spPr>
          <a:xfrm>
            <a:off x="619125" y="4667250"/>
            <a:ext cx="10953750" cy="428625"/>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The 13th value is 33: 12 values lie on each side.</a:t>
            </a:r>
          </a:p>
        </p:txBody>
      </p:sp>
      <p:sp>
        <p:nvSpPr>
          <p:cNvPr id="31" name="Text">
            <a:extLst>
              <a:ext uri="{FF2B5EF4-FFF2-40B4-BE49-F238E27FC236}">
                <a16:creationId xmlns:a16="http://schemas.microsoft.com/office/drawing/2014/main" id="{C694CBFF-C13B-4D0E-A6C1-9D771051F7AA}"/>
              </a:ext>
            </a:extLst>
          </p:cNvPr>
          <p:cNvSpPr>
            <a:spLocks noGrp="1"/>
          </p:cNvSpPr>
          <p:nvPr/>
        </p:nvSpPr>
        <p:spPr>
          <a:xfrm>
            <a:off x="619125" y="5286375"/>
            <a:ext cx="10953750" cy="428625"/>
          </a:xfrm>
          <a:prstGeom prst="rect">
            <a:avLst/>
          </a:prstGeom>
          <a:noFill/>
          <a:ln w="0">
            <a:noFill/>
          </a:ln>
        </p:spPr>
        <p:txBody>
          <a:bodyPr wrap="square"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The ogive spreads each class evenly for estimation: 33.5.</a:t>
            </a:r>
          </a:p>
        </p:txBody>
      </p:sp>
    </p:spTree>
    <p:extLst>
      <p:ext uri="{BB962C8B-B14F-4D97-AF65-F5344CB8AC3E}">
        <p14:creationId xmlns:p14="http://schemas.microsoft.com/office/powerpoint/2010/main" val="47244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DCC03FCB-D41E-4E17-A4AE-B7DC39B5FA5D}"/>
              </a:ext>
            </a:extLst>
          </p:cNvPr>
          <p:cNvSpPr>
            <a:spLocks noGrp="1"/>
          </p:cNvSpPr>
          <p:nvPr/>
        </p:nvSpPr>
        <p:spPr>
          <a:xfrm>
            <a:off x="430816" y="1023080"/>
            <a:ext cx="11049000" cy="781050"/>
          </a:xfrm>
          <a:prstGeom prst="rect">
            <a:avLst/>
          </a:prstGeom>
          <a:noFill/>
          <a:ln w="0">
            <a:noFill/>
          </a:ln>
        </p:spPr>
        <p:txBody>
          <a:bodyPr anchor="t">
            <a:noAutofit/>
          </a:bodyPr>
          <a:lstStyle/>
          <a:p>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Food Club: mean, median and modal class</a:t>
            </a:r>
          </a:p>
        </p:txBody>
      </p:sp>
      <p:sp>
        <p:nvSpPr>
          <p:cNvPr id="3" name="Lead">
            <a:extLst>
              <a:ext uri="{FF2B5EF4-FFF2-40B4-BE49-F238E27FC236}">
                <a16:creationId xmlns:a16="http://schemas.microsoft.com/office/drawing/2014/main" id="{B0DB2A5B-B95D-4434-8B96-18722F54831C}"/>
              </a:ext>
            </a:extLst>
          </p:cNvPr>
          <p:cNvSpPr>
            <a:spLocks noGrp="1"/>
          </p:cNvSpPr>
          <p:nvPr/>
        </p:nvSpPr>
        <p:spPr>
          <a:xfrm>
            <a:off x="523875" y="2000250"/>
            <a:ext cx="11049000" cy="666750"/>
          </a:xfrm>
          <a:prstGeom prst="rect">
            <a:avLst/>
          </a:prstGeom>
          <a:noFill/>
          <a:ln w="0">
            <a:noFill/>
          </a:ln>
        </p:spPr>
        <p:txBody>
          <a:bodyPr anchor="t">
            <a:noAutofit/>
          </a:bodyPr>
          <a:lstStyle/>
          <a:p>
            <a:pPr algn="l">
              <a:defRPr sz="2400" b="1">
                <a:solidFill>
                  <a:srgbClr val="111111"/>
                </a:solidFill>
                <a:latin typeface="Aptos"/>
                <a:ea typeface="Aptos"/>
                <a:cs typeface="Aptos"/>
              </a:defRPr>
            </a:pPr>
            <a:r>
              <a:rPr sz="2400" b="1">
                <a:solidFill>
                  <a:srgbClr val="111111"/>
                </a:solidFill>
                <a:latin typeface="Aptos"/>
                <a:ea typeface="Aptos"/>
                <a:cs typeface="Aptos"/>
              </a:rPr>
              <a:t>One grouped table gives different summaries of the 25 sessions.</a:t>
            </a:r>
          </a:p>
        </p:txBody>
      </p:sp>
      <p:sp>
        <p:nvSpPr>
          <p:cNvPr id="4" name="Footer">
            <a:extLst>
              <a:ext uri="{FF2B5EF4-FFF2-40B4-BE49-F238E27FC236}">
                <a16:creationId xmlns:a16="http://schemas.microsoft.com/office/drawing/2014/main" id="{BCF04D3D-E19B-4972-B05C-3790EBEACEA4}"/>
              </a:ext>
            </a:extLst>
          </p:cNvPr>
          <p:cNvSpPr>
            <a:spLocks noGrp="1"/>
          </p:cNvSpPr>
          <p:nvPr/>
        </p:nvSpPr>
        <p:spPr>
          <a:xfrm>
            <a:off x="523875" y="5953125"/>
            <a:ext cx="11049000" cy="409575"/>
          </a:xfrm>
          <a:prstGeom prst="rect">
            <a:avLst/>
          </a:prstGeom>
          <a:noFill/>
          <a:ln w="0">
            <a:noFill/>
          </a:ln>
        </p:spPr>
        <p:txBody>
          <a:bodyPr anchor="t">
            <a:noAutofit/>
          </a:bodyPr>
          <a:lstStyle/>
          <a:p>
            <a:pPr algn="l">
              <a:defRPr sz="1600" b="0">
                <a:solidFill>
                  <a:srgbClr val="111111"/>
                </a:solidFill>
                <a:latin typeface="Aptos"/>
                <a:ea typeface="Aptos"/>
                <a:cs typeface="Aptos"/>
              </a:defRPr>
            </a:pPr>
            <a:r>
              <a:rPr sz="1600" b="0">
                <a:solidFill>
                  <a:srgbClr val="111111"/>
                </a:solidFill>
                <a:latin typeface="Aptos"/>
                <a:ea typeface="Aptos"/>
                <a:cs typeface="Aptos"/>
              </a:rPr>
              <a:t>The exact raw-data mean is 32.48 and median is 33. Grouped estimates can differ.</a:t>
            </a:r>
          </a:p>
        </p:txBody>
      </p:sp>
      <p:graphicFrame>
        <p:nvGraphicFramePr>
          <p:cNvPr id="5" name="Table 4"/>
          <p:cNvGraphicFramePr/>
          <p:nvPr/>
        </p:nvGraphicFramePr>
        <p:xfrm>
          <a:off x="619125" y="2838450"/>
          <a:ext cx="10858500" cy="2381250"/>
        </p:xfrm>
        <a:graphic>
          <a:graphicData uri="http://schemas.openxmlformats.org/drawingml/2006/table">
            <a:tbl>
              <a:tblPr/>
              <a:tblGrid>
                <a:gridCol w="2619375">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5429250">
                  <a:extLst>
                    <a:ext uri="{9D8B030D-6E8A-4147-A177-3AD203B41FA5}">
                      <a16:colId xmlns:a16="http://schemas.microsoft.com/office/drawing/2014/main" val="20002"/>
                    </a:ext>
                  </a:extLst>
                </a:gridCol>
              </a:tblGrid>
              <a:tr h="595313">
                <a:tc>
                  <a:txBody>
                    <a:bodyPr/>
                    <a:lstStyle/>
                    <a:p>
                      <a:pPr algn="l"/>
                      <a:r>
                        <a:rPr sz="1875" b="1">
                          <a:solidFill>
                            <a:srgbClr val="FFFFFF"/>
                          </a:solidFill>
                          <a:latin typeface="Aptos"/>
                          <a:ea typeface="Aptos"/>
                          <a:cs typeface="Aptos"/>
                        </a:rPr>
                        <a:t>Measure</a:t>
                      </a:r>
                    </a:p>
                  </a:txBody>
                  <a:tcPr anchor="ctr">
                    <a:solidFill>
                      <a:srgbClr val="D6171D"/>
                    </a:solidFill>
                  </a:tcPr>
                </a:tc>
                <a:tc>
                  <a:txBody>
                    <a:bodyPr/>
                    <a:lstStyle/>
                    <a:p>
                      <a:pPr algn="ctr"/>
                      <a:r>
                        <a:rPr sz="1875" b="1">
                          <a:solidFill>
                            <a:srgbClr val="FFFFFF"/>
                          </a:solidFill>
                          <a:latin typeface="Aptos"/>
                          <a:ea typeface="Aptos"/>
                          <a:cs typeface="Aptos"/>
                        </a:rPr>
                        <a:t>Grouped result</a:t>
                      </a:r>
                    </a:p>
                  </a:txBody>
                  <a:tcPr anchor="ctr">
                    <a:solidFill>
                      <a:srgbClr val="D6171D"/>
                    </a:solidFill>
                  </a:tcPr>
                </a:tc>
                <a:tc>
                  <a:txBody>
                    <a:bodyPr/>
                    <a:lstStyle/>
                    <a:p>
                      <a:pPr algn="ctr"/>
                      <a:r>
                        <a:rPr sz="1875" b="1">
                          <a:solidFill>
                            <a:srgbClr val="FFFFFF"/>
                          </a:solidFill>
                          <a:latin typeface="Aptos"/>
                          <a:ea typeface="Aptos"/>
                          <a:cs typeface="Aptos"/>
                        </a:rPr>
                        <a:t>How we found it</a:t>
                      </a:r>
                    </a:p>
                  </a:txBody>
                  <a:tcPr anchor="ctr">
                    <a:solidFill>
                      <a:srgbClr val="D6171D"/>
                    </a:solidFill>
                  </a:tcPr>
                </a:tc>
                <a:extLst>
                  <a:ext uri="{0D108BD9-81ED-4DB2-BD59-A6C34878D82A}">
                    <a16:rowId xmlns:a16="http://schemas.microsoft.com/office/drawing/2014/main" val="10000"/>
                  </a:ext>
                </a:extLst>
              </a:tr>
              <a:tr h="595313">
                <a:tc>
                  <a:txBody>
                    <a:bodyPr/>
                    <a:lstStyle/>
                    <a:p>
                      <a:pPr algn="l"/>
                      <a:r>
                        <a:rPr sz="1875" b="0">
                          <a:solidFill>
                            <a:srgbClr val="111111"/>
                          </a:solidFill>
                          <a:latin typeface="Aptos"/>
                          <a:ea typeface="Aptos"/>
                          <a:cs typeface="Aptos"/>
                        </a:rPr>
                        <a:t>Estimated mean</a:t>
                      </a:r>
                    </a:p>
                  </a:txBody>
                  <a:tcPr anchor="ctr">
                    <a:solidFill>
                      <a:srgbClr val="FFFFFF"/>
                    </a:solidFill>
                  </a:tcPr>
                </a:tc>
                <a:tc>
                  <a:txBody>
                    <a:bodyPr/>
                    <a:lstStyle/>
                    <a:p>
                      <a:pPr algn="ctr"/>
                      <a:r>
                        <a:rPr sz="1875" b="0">
                          <a:solidFill>
                            <a:srgbClr val="111111"/>
                          </a:solidFill>
                          <a:latin typeface="Aptos"/>
                          <a:ea typeface="Aptos"/>
                          <a:cs typeface="Aptos"/>
                        </a:rPr>
                        <a:t>33 sign-ups</a:t>
                      </a:r>
                    </a:p>
                    <a:p>
                      <a:pPr algn="ctr"/>
                      <a:r>
                        <a:rPr sz="1875" b="0">
                          <a:solidFill>
                            <a:srgbClr val="111111"/>
                          </a:solidFill>
                          <a:latin typeface="Aptos"/>
                          <a:ea typeface="Aptos"/>
                          <a:cs typeface="Aptos"/>
                        </a:rPr>
                        <a:t>per session</a:t>
                      </a:r>
                    </a:p>
                  </a:txBody>
                  <a:tcPr anchor="ctr">
                    <a:solidFill>
                      <a:srgbClr val="FFFFFF"/>
                    </a:solidFill>
                  </a:tcPr>
                </a:tc>
                <a:tc>
                  <a:txBody>
                    <a:bodyPr/>
                    <a:lstStyle/>
                    <a:p>
                      <a:pPr algn="ctr"/>
                      <a:r>
                        <a:rPr sz="1875" b="0">
                          <a:solidFill>
                            <a:srgbClr val="111111"/>
                          </a:solidFill>
                          <a:latin typeface="Aptos"/>
                          <a:ea typeface="Aptos"/>
                          <a:cs typeface="Aptos"/>
                        </a:rPr>
                        <a:t>Multiply each midpoint by its frequency.</a:t>
                      </a:r>
                    </a:p>
                    <a:p>
                      <a:pPr algn="ctr"/>
                      <a:r>
                        <a:rPr sz="1875" b="0">
                          <a:solidFill>
                            <a:srgbClr val="111111"/>
                          </a:solidFill>
                          <a:latin typeface="Aptos"/>
                          <a:ea typeface="Aptos"/>
                          <a:cs typeface="Aptos"/>
                        </a:rPr>
                        <a:t>Add the products, then divide by 25.</a:t>
                      </a:r>
                    </a:p>
                  </a:txBody>
                  <a:tcPr anchor="ctr">
                    <a:solidFill>
                      <a:srgbClr val="FFFFFF"/>
                    </a:solidFill>
                  </a:tcPr>
                </a:tc>
                <a:extLst>
                  <a:ext uri="{0D108BD9-81ED-4DB2-BD59-A6C34878D82A}">
                    <a16:rowId xmlns:a16="http://schemas.microsoft.com/office/drawing/2014/main" val="10001"/>
                  </a:ext>
                </a:extLst>
              </a:tr>
              <a:tr h="595313">
                <a:tc>
                  <a:txBody>
                    <a:bodyPr/>
                    <a:lstStyle/>
                    <a:p>
                      <a:pPr algn="l"/>
                      <a:r>
                        <a:rPr sz="1875" b="0">
                          <a:solidFill>
                            <a:srgbClr val="111111"/>
                          </a:solidFill>
                          <a:latin typeface="Aptos"/>
                          <a:ea typeface="Aptos"/>
                          <a:cs typeface="Aptos"/>
                        </a:rPr>
                        <a:t>Estimated median</a:t>
                      </a:r>
                    </a:p>
                  </a:txBody>
                  <a:tcPr anchor="ctr">
                    <a:solidFill>
                      <a:srgbClr val="EDF7FD"/>
                    </a:solidFill>
                  </a:tcPr>
                </a:tc>
                <a:tc>
                  <a:txBody>
                    <a:bodyPr/>
                    <a:lstStyle/>
                    <a:p>
                      <a:pPr algn="ctr"/>
                      <a:r>
                        <a:rPr sz="1875" b="0">
                          <a:solidFill>
                            <a:srgbClr val="111111"/>
                          </a:solidFill>
                          <a:latin typeface="Aptos"/>
                          <a:ea typeface="Aptos"/>
                          <a:cs typeface="Aptos"/>
                        </a:rPr>
                        <a:t>33.5 sign-ups</a:t>
                      </a:r>
                    </a:p>
                    <a:p>
                      <a:pPr algn="ctr"/>
                      <a:r>
                        <a:rPr sz="1875" b="0">
                          <a:solidFill>
                            <a:srgbClr val="111111"/>
                          </a:solidFill>
                          <a:latin typeface="Aptos"/>
                          <a:ea typeface="Aptos"/>
                          <a:cs typeface="Aptos"/>
                        </a:rPr>
                        <a:t>per session</a:t>
                      </a:r>
                    </a:p>
                  </a:txBody>
                  <a:tcPr anchor="ctr">
                    <a:solidFill>
                      <a:srgbClr val="EDF7FD"/>
                    </a:solidFill>
                  </a:tcPr>
                </a:tc>
                <a:tc>
                  <a:txBody>
                    <a:bodyPr/>
                    <a:lstStyle/>
                    <a:p>
                      <a:pPr algn="ctr"/>
                      <a:r>
                        <a:rPr sz="1875" b="0">
                          <a:solidFill>
                            <a:srgbClr val="111111"/>
                          </a:solidFill>
                          <a:latin typeface="Aptos"/>
                          <a:ea typeface="Aptos"/>
                          <a:cs typeface="Aptos"/>
                        </a:rPr>
                        <a:t>Find 50% on the ogive.</a:t>
                      </a:r>
                    </a:p>
                    <a:p>
                      <a:pPr algn="ctr"/>
                      <a:r>
                        <a:rPr sz="1875" b="0">
                          <a:solidFill>
                            <a:srgbClr val="111111"/>
                          </a:solidFill>
                          <a:latin typeface="Aptos"/>
                          <a:ea typeface="Aptos"/>
                          <a:cs typeface="Aptos"/>
                        </a:rPr>
                        <a:t>Read across, then down to sign-ups.</a:t>
                      </a:r>
                    </a:p>
                  </a:txBody>
                  <a:tcPr anchor="ctr">
                    <a:solidFill>
                      <a:srgbClr val="EDF7FD"/>
                    </a:solidFill>
                  </a:tcPr>
                </a:tc>
                <a:extLst>
                  <a:ext uri="{0D108BD9-81ED-4DB2-BD59-A6C34878D82A}">
                    <a16:rowId xmlns:a16="http://schemas.microsoft.com/office/drawing/2014/main" val="10002"/>
                  </a:ext>
                </a:extLst>
              </a:tr>
              <a:tr h="595313">
                <a:tc>
                  <a:txBody>
                    <a:bodyPr/>
                    <a:lstStyle/>
                    <a:p>
                      <a:pPr algn="l"/>
                      <a:r>
                        <a:rPr sz="1875" b="0">
                          <a:solidFill>
                            <a:srgbClr val="111111"/>
                          </a:solidFill>
                          <a:latin typeface="Aptos"/>
                          <a:ea typeface="Aptos"/>
                          <a:cs typeface="Aptos"/>
                        </a:rPr>
                        <a:t>Modal class</a:t>
                      </a:r>
                    </a:p>
                  </a:txBody>
                  <a:tcPr anchor="ctr">
                    <a:solidFill>
                      <a:srgbClr val="FFFFFF"/>
                    </a:solidFill>
                  </a:tcPr>
                </a:tc>
                <a:tc>
                  <a:txBody>
                    <a:bodyPr/>
                    <a:lstStyle/>
                    <a:p>
                      <a:pPr algn="ctr"/>
                      <a:r>
                        <a:rPr sz="1875" b="0">
                          <a:solidFill>
                            <a:srgbClr val="111111"/>
                          </a:solidFill>
                          <a:latin typeface="Aptos"/>
                          <a:ea typeface="Aptos"/>
                          <a:cs typeface="Aptos"/>
                        </a:rPr>
                        <a:t>30 ≤ x &lt; 40</a:t>
                      </a:r>
                    </a:p>
                  </a:txBody>
                  <a:tcPr anchor="ctr">
                    <a:solidFill>
                      <a:srgbClr val="FFFFFF"/>
                    </a:solidFill>
                  </a:tcPr>
                </a:tc>
                <a:tc>
                  <a:txBody>
                    <a:bodyPr/>
                    <a:lstStyle/>
                    <a:p>
                      <a:pPr algn="ctr"/>
                      <a:r>
                        <a:rPr sz="1875" b="0">
                          <a:solidFill>
                            <a:srgbClr val="111111"/>
                          </a:solidFill>
                          <a:latin typeface="Aptos"/>
                          <a:ea typeface="Aptos"/>
                          <a:cs typeface="Aptos"/>
                        </a:rPr>
                        <a:t>This interval contains 10 sessions,</a:t>
                      </a:r>
                    </a:p>
                    <a:p>
                      <a:pPr algn="ctr"/>
                      <a:r>
                        <a:rPr sz="1875" b="0">
                          <a:solidFill>
                            <a:srgbClr val="111111"/>
                          </a:solidFill>
                          <a:latin typeface="Aptos"/>
                          <a:ea typeface="Aptos"/>
                          <a:cs typeface="Aptos"/>
                        </a:rPr>
                        <a:t>the highest frequency.</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6" name="Modal class caution">
            <a:extLst>
              <a:ext uri="{FF2B5EF4-FFF2-40B4-BE49-F238E27FC236}">
                <a16:creationId xmlns:a16="http://schemas.microsoft.com/office/drawing/2014/main" id="{1E84404E-A6D6-4A70-8803-12DE4A68C378}"/>
              </a:ext>
            </a:extLst>
          </p:cNvPr>
          <p:cNvSpPr>
            <a:spLocks noGrp="1"/>
          </p:cNvSpPr>
          <p:nvPr/>
        </p:nvSpPr>
        <p:spPr>
          <a:xfrm>
            <a:off x="619125" y="5448300"/>
            <a:ext cx="10858500" cy="409575"/>
          </a:xfrm>
          <a:prstGeom prst="rect">
            <a:avLst/>
          </a:prstGeom>
          <a:noFill/>
          <a:ln w="0">
            <a:noFill/>
          </a:ln>
        </p:spPr>
        <p:txBody>
          <a:bodyPr anchor="t">
            <a:noAutofit/>
          </a:bodyPr>
          <a:lstStyle/>
          <a:p>
            <a:pPr algn="l">
              <a:defRPr sz="2025" b="1">
                <a:solidFill>
                  <a:srgbClr val="111111"/>
                </a:solidFill>
                <a:latin typeface="Aptos"/>
                <a:ea typeface="Aptos"/>
                <a:cs typeface="Aptos"/>
              </a:defRPr>
            </a:pPr>
            <a:r>
              <a:rPr sz="2025" b="1">
                <a:solidFill>
                  <a:srgbClr val="111111"/>
                </a:solidFill>
                <a:latin typeface="Aptos"/>
                <a:ea typeface="Aptos"/>
                <a:cs typeface="Aptos"/>
              </a:rPr>
              <a:t>The modal class identifies an interval. It does not identify an exact mode.</a:t>
            </a:r>
          </a:p>
        </p:txBody>
      </p:sp>
    </p:spTree>
    <p:extLst>
      <p:ext uri="{BB962C8B-B14F-4D97-AF65-F5344CB8AC3E}">
        <p14:creationId xmlns:p14="http://schemas.microsoft.com/office/powerpoint/2010/main" val="472447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title">
            <a:extLst>
              <a:ext uri="{FF2B5EF4-FFF2-40B4-BE49-F238E27FC236}">
                <a16:creationId xmlns:a16="http://schemas.microsoft.com/office/drawing/2014/main" id="{C759621C-480C-43B5-B7A4-9447040A5F20}"/>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the Smoothie running totals</a:t>
            </a:r>
          </a:p>
        </p:txBody>
      </p:sp>
      <p:sp>
        <p:nvSpPr>
          <p:cNvPr id="2" name="Lead">
            <a:extLst>
              <a:ext uri="{FF2B5EF4-FFF2-40B4-BE49-F238E27FC236}">
                <a16:creationId xmlns:a16="http://schemas.microsoft.com/office/drawing/2014/main" id="{C0ACD7F2-D786-45B7-9578-46CD04D2BD41}"/>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Use the 20-session dataset you tallied for your histogram.</a:t>
            </a:r>
          </a:p>
        </p:txBody>
      </p:sp>
      <p:sp>
        <p:nvSpPr>
          <p:cNvPr id="3" name="Text">
            <a:extLst>
              <a:ext uri="{FF2B5EF4-FFF2-40B4-BE49-F238E27FC236}">
                <a16:creationId xmlns:a16="http://schemas.microsoft.com/office/drawing/2014/main" id="{CCFB04F7-C77A-4338-9CBD-C12468AF3127}"/>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B3</a:t>
            </a:r>
          </a:p>
        </p:txBody>
      </p:sp>
      <p:sp>
        <p:nvSpPr>
          <p:cNvPr id="4" name="Footer">
            <a:extLst>
              <a:ext uri="{FF2B5EF4-FFF2-40B4-BE49-F238E27FC236}">
                <a16:creationId xmlns:a16="http://schemas.microsoft.com/office/drawing/2014/main" id="{D6DFA195-95A4-447F-8079-88AC855A11E3}"/>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Keep the intervals. CF is a running total; cumulative % = CF ÷ 20 × 100%.</a:t>
            </a:r>
          </a:p>
        </p:txBody>
      </p:sp>
      <p:graphicFrame>
        <p:nvGraphicFramePr>
          <p:cNvPr id="12" name="Table 11"/>
          <p:cNvGraphicFramePr/>
          <p:nvPr/>
        </p:nvGraphicFramePr>
        <p:xfrm>
          <a:off x="619125" y="3000375"/>
          <a:ext cx="10953750" cy="2571750"/>
        </p:xfrm>
        <a:graphic>
          <a:graphicData uri="http://schemas.openxmlformats.org/drawingml/2006/table">
            <a:tbl>
              <a:tblPr/>
              <a:tblGrid>
                <a:gridCol w="2476500">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gridCol w="1476375">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gridCol w="2095500">
                  <a:extLst>
                    <a:ext uri="{9D8B030D-6E8A-4147-A177-3AD203B41FA5}">
                      <a16:colId xmlns:a16="http://schemas.microsoft.com/office/drawing/2014/main" val="20005"/>
                    </a:ext>
                  </a:extLst>
                </a:gridCol>
              </a:tblGrid>
              <a:tr h="985838">
                <a:tc>
                  <a:txBody>
                    <a:bodyPr/>
                    <a:lstStyle/>
                    <a:p>
                      <a:pPr algn="l">
                        <a:buNone/>
                      </a:pPr>
                      <a:r>
                        <a:rPr sz="1875" b="1">
                          <a:solidFill>
                            <a:srgbClr val="FFFFFF"/>
                          </a:solidFill>
                          <a:latin typeface="Aptos"/>
                          <a:ea typeface="Aptos"/>
                          <a:cs typeface="Aptos"/>
                        </a:rPr>
                        <a:t>Sign-up interval</a:t>
                      </a:r>
                    </a:p>
                  </a:txBody>
                  <a:tcPr anchor="ctr">
                    <a:solidFill>
                      <a:srgbClr val="D6171D"/>
                    </a:solidFill>
                  </a:tcPr>
                </a:tc>
                <a:tc>
                  <a:txBody>
                    <a:bodyPr/>
                    <a:lstStyle/>
                    <a:p>
                      <a:pPr algn="ctr">
                        <a:buNone/>
                      </a:pPr>
                      <a:r>
                        <a:rPr sz="1875" b="1">
                          <a:solidFill>
                            <a:srgbClr val="FFFFFF"/>
                          </a:solidFill>
                          <a:latin typeface="Aptos"/>
                          <a:ea typeface="Aptos"/>
                          <a:cs typeface="Aptos"/>
                        </a:rPr>
                        <a:t>Upper boundary</a:t>
                      </a:r>
                    </a:p>
                    <a:p>
                      <a:pPr algn="ctr">
                        <a:buNone/>
                      </a:pPr>
                      <a:r>
                        <a:rPr sz="1875" b="1">
                          <a:solidFill>
                            <a:srgbClr val="FFFFFF"/>
                          </a:solidFill>
                          <a:latin typeface="Aptos"/>
                          <a:ea typeface="Aptos"/>
                          <a:cs typeface="Aptos"/>
                        </a:rPr>
                        <a:t>(X)</a:t>
                      </a:r>
                    </a:p>
                  </a:txBody>
                  <a:tcPr anchor="ctr">
                    <a:solidFill>
                      <a:srgbClr val="D6171D"/>
                    </a:solidFill>
                  </a:tcPr>
                </a:tc>
                <a:tc>
                  <a:txBody>
                    <a:bodyPr/>
                    <a:lstStyle/>
                    <a:p>
                      <a:pPr algn="ctr">
                        <a:buNone/>
                      </a:pPr>
                      <a:r>
                        <a:rPr sz="1875" b="1">
                          <a:solidFill>
                            <a:srgbClr val="FFFFFF"/>
                          </a:solidFill>
                          <a:latin typeface="Aptos"/>
                          <a:ea typeface="Aptos"/>
                          <a:cs typeface="Aptos"/>
                        </a:rPr>
                        <a:t>Frequency</a:t>
                      </a:r>
                    </a:p>
                  </a:txBody>
                  <a:tcPr anchor="ctr">
                    <a:solidFill>
                      <a:srgbClr val="D6171D"/>
                    </a:solidFill>
                  </a:tcPr>
                </a:tc>
                <a:tc>
                  <a:txBody>
                    <a:bodyPr/>
                    <a:lstStyle/>
                    <a:p>
                      <a:pPr algn="ctr">
                        <a:buNone/>
                      </a:pPr>
                      <a:r>
                        <a:rPr sz="1875" b="1">
                          <a:solidFill>
                            <a:srgbClr val="FFFFFF"/>
                          </a:solidFill>
                          <a:latin typeface="Aptos"/>
                          <a:ea typeface="Aptos"/>
                          <a:cs typeface="Aptos"/>
                        </a:rPr>
                        <a:t>CF</a:t>
                      </a:r>
                    </a:p>
                  </a:txBody>
                  <a:tcPr anchor="ctr">
                    <a:solidFill>
                      <a:srgbClr val="D6171D"/>
                    </a:solidFill>
                  </a:tcPr>
                </a:tc>
                <a:tc>
                  <a:txBody>
                    <a:bodyPr/>
                    <a:lstStyle/>
                    <a:p>
                      <a:pPr algn="ctr">
                        <a:buNone/>
                      </a:pPr>
                      <a:r>
                        <a:rPr sz="1875" b="1">
                          <a:solidFill>
                            <a:srgbClr val="FFFFFF"/>
                          </a:solidFill>
                          <a:latin typeface="Aptos"/>
                          <a:ea typeface="Aptos"/>
                          <a:cs typeface="Aptos"/>
                        </a:rPr>
                        <a:t>Cumulative</a:t>
                      </a:r>
                    </a:p>
                    <a:p>
                      <a:pPr algn="ctr">
                        <a:buNone/>
                      </a:pPr>
                      <a:r>
                        <a:rPr sz="1875" b="1">
                          <a:solidFill>
                            <a:srgbClr val="FFFFFF"/>
                          </a:solidFill>
                          <a:latin typeface="Aptos"/>
                          <a:ea typeface="Aptos"/>
                          <a:cs typeface="Aptos"/>
                        </a:rPr>
                        <a:t>relative frequency</a:t>
                      </a:r>
                    </a:p>
                  </a:txBody>
                  <a:tcPr anchor="ctr">
                    <a:solidFill>
                      <a:srgbClr val="D6171D"/>
                    </a:solidFill>
                  </a:tcPr>
                </a:tc>
                <a:tc>
                  <a:txBody>
                    <a:bodyPr/>
                    <a:lstStyle/>
                    <a:p>
                      <a:pPr algn="ctr">
                        <a:buNone/>
                      </a:pPr>
                      <a:r>
                        <a:rPr sz="1875" b="1">
                          <a:solidFill>
                            <a:srgbClr val="FFFFFF"/>
                          </a:solidFill>
                          <a:latin typeface="Aptos"/>
                          <a:ea typeface="Aptos"/>
                          <a:cs typeface="Aptos"/>
                        </a:rPr>
                        <a:t>Cumulative %</a:t>
                      </a:r>
                    </a:p>
                    <a:p>
                      <a:pPr algn="ctr">
                        <a:buNone/>
                      </a:pPr>
                      <a:r>
                        <a:rPr sz="1875" b="1">
                          <a:solidFill>
                            <a:srgbClr val="FFFFFF"/>
                          </a:solidFill>
                          <a:latin typeface="Aptos"/>
                          <a:ea typeface="Aptos"/>
                          <a:cs typeface="Aptos"/>
                        </a:rPr>
                        <a:t>(Y)</a:t>
                      </a:r>
                    </a:p>
                  </a:txBody>
                  <a:tcPr anchor="ctr">
                    <a:solidFill>
                      <a:srgbClr val="D6171D"/>
                    </a:solidFill>
                  </a:tcPr>
                </a:tc>
                <a:extLst>
                  <a:ext uri="{0D108BD9-81ED-4DB2-BD59-A6C34878D82A}">
                    <a16:rowId xmlns:a16="http://schemas.microsoft.com/office/drawing/2014/main" val="10000"/>
                  </a:ext>
                </a:extLst>
              </a:tr>
              <a:tr h="396478">
                <a:tc>
                  <a:txBody>
                    <a:bodyPr/>
                    <a:lstStyle/>
                    <a:p>
                      <a:pPr algn="l">
                        <a:buNone/>
                      </a:pPr>
                      <a:r>
                        <a:rPr sz="1875" b="0">
                          <a:solidFill>
                            <a:srgbClr val="111111"/>
                          </a:solidFill>
                          <a:latin typeface="Aptos"/>
                          <a:ea typeface="Aptos"/>
                          <a:cs typeface="Aptos"/>
                        </a:rPr>
                        <a:t>10 ≤ x &lt; 20</a:t>
                      </a:r>
                    </a:p>
                  </a:txBody>
                  <a:tcPr anchor="ctr">
                    <a:solidFill>
                      <a:srgbClr val="FFFFFF"/>
                    </a:solidFill>
                  </a:tcPr>
                </a:tc>
                <a:tc>
                  <a:txBody>
                    <a:bodyPr/>
                    <a:lstStyle/>
                    <a:p>
                      <a:pPr algn="ctr">
                        <a:buNone/>
                      </a:pPr>
                      <a:r>
                        <a:rPr sz="1875" b="0">
                          <a:solidFill>
                            <a:srgbClr val="111111"/>
                          </a:solidFill>
                          <a:latin typeface="Aptos"/>
                          <a:ea typeface="Aptos"/>
                          <a:cs typeface="Aptos"/>
                        </a:rPr>
                        <a:t>20</a:t>
                      </a:r>
                    </a:p>
                  </a:txBody>
                  <a:tcPr anchor="ctr">
                    <a:solidFill>
                      <a:srgbClr val="FFFFFF"/>
                    </a:solidFill>
                  </a:tcPr>
                </a:tc>
                <a:tc>
                  <a:txBody>
                    <a:bodyPr/>
                    <a:lstStyle/>
                    <a:p>
                      <a:pPr algn="ctr">
                        <a:buNone/>
                      </a:pPr>
                      <a:r>
                        <a:rPr sz="1875" b="0">
                          <a:solidFill>
                            <a:srgbClr val="111111"/>
                          </a:solidFill>
                          <a:latin typeface="Aptos"/>
                          <a:ea typeface="Aptos"/>
                          <a:cs typeface="Aptos"/>
                        </a:rPr>
                        <a:t>4</a:t>
                      </a: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1"/>
                  </a:ext>
                </a:extLst>
              </a:tr>
              <a:tr h="396478">
                <a:tc>
                  <a:txBody>
                    <a:bodyPr/>
                    <a:lstStyle/>
                    <a:p>
                      <a:pPr algn="l">
                        <a:buNone/>
                      </a:pPr>
                      <a:r>
                        <a:rPr sz="1875" b="0">
                          <a:solidFill>
                            <a:srgbClr val="111111"/>
                          </a:solidFill>
                          <a:latin typeface="Aptos"/>
                          <a:ea typeface="Aptos"/>
                          <a:cs typeface="Aptos"/>
                        </a:rPr>
                        <a:t>20 ≤ x &lt; 30</a:t>
                      </a:r>
                    </a:p>
                  </a:txBody>
                  <a:tcPr anchor="ctr">
                    <a:solidFill>
                      <a:srgbClr val="EEF8FE"/>
                    </a:solidFill>
                  </a:tcPr>
                </a:tc>
                <a:tc>
                  <a:txBody>
                    <a:bodyPr/>
                    <a:lstStyle/>
                    <a:p>
                      <a:pPr algn="ctr">
                        <a:buNone/>
                      </a:pPr>
                      <a:r>
                        <a:rPr sz="1875" b="0">
                          <a:solidFill>
                            <a:srgbClr val="111111"/>
                          </a:solidFill>
                          <a:latin typeface="Aptos"/>
                          <a:ea typeface="Aptos"/>
                          <a:cs typeface="Aptos"/>
                        </a:rPr>
                        <a:t>30</a:t>
                      </a:r>
                    </a:p>
                  </a:txBody>
                  <a:tcPr anchor="ctr">
                    <a:solidFill>
                      <a:srgbClr val="EEF8FE"/>
                    </a:solidFill>
                  </a:tcPr>
                </a:tc>
                <a:tc>
                  <a:txBody>
                    <a:bodyPr/>
                    <a:lstStyle/>
                    <a:p>
                      <a:pPr algn="ctr">
                        <a:buNone/>
                      </a:pPr>
                      <a:r>
                        <a:rPr sz="1875" b="0">
                          <a:solidFill>
                            <a:srgbClr val="111111"/>
                          </a:solidFill>
                          <a:latin typeface="Aptos"/>
                          <a:ea typeface="Aptos"/>
                          <a:cs typeface="Aptos"/>
                        </a:rPr>
                        <a:t>8</a:t>
                      </a:r>
                    </a:p>
                  </a:txBody>
                  <a:tcPr anchor="ctr">
                    <a:solidFill>
                      <a:srgbClr val="EEF8FE"/>
                    </a:solidFill>
                  </a:tcPr>
                </a:tc>
                <a:tc>
                  <a:txBody>
                    <a:bodyPr/>
                    <a:lstStyle/>
                    <a:p>
                      <a:endParaRPr/>
                    </a:p>
                  </a:txBody>
                  <a:tcPr anchor="ctr">
                    <a:solidFill>
                      <a:srgbClr val="EEF8FE"/>
                    </a:solidFill>
                  </a:tcPr>
                </a:tc>
                <a:tc>
                  <a:txBody>
                    <a:bodyPr/>
                    <a:lstStyle/>
                    <a:p>
                      <a:endParaRPr/>
                    </a:p>
                  </a:txBody>
                  <a:tcPr anchor="ctr">
                    <a:solidFill>
                      <a:srgbClr val="EEF8FE"/>
                    </a:solidFill>
                  </a:tcPr>
                </a:tc>
                <a:tc>
                  <a:txBody>
                    <a:bodyPr/>
                    <a:lstStyle/>
                    <a:p>
                      <a:endParaRPr/>
                    </a:p>
                  </a:txBody>
                  <a:tcPr anchor="ctr">
                    <a:solidFill>
                      <a:srgbClr val="EEF8FE"/>
                    </a:solidFill>
                  </a:tcPr>
                </a:tc>
                <a:extLst>
                  <a:ext uri="{0D108BD9-81ED-4DB2-BD59-A6C34878D82A}">
                    <a16:rowId xmlns:a16="http://schemas.microsoft.com/office/drawing/2014/main" val="10002"/>
                  </a:ext>
                </a:extLst>
              </a:tr>
              <a:tr h="396478">
                <a:tc>
                  <a:txBody>
                    <a:bodyPr/>
                    <a:lstStyle/>
                    <a:p>
                      <a:pPr algn="l">
                        <a:buNone/>
                      </a:pPr>
                      <a:r>
                        <a:rPr sz="1875" b="0">
                          <a:solidFill>
                            <a:srgbClr val="111111"/>
                          </a:solidFill>
                          <a:latin typeface="Aptos"/>
                          <a:ea typeface="Aptos"/>
                          <a:cs typeface="Aptos"/>
                        </a:rPr>
                        <a:t>30 ≤ x &lt; 40</a:t>
                      </a:r>
                    </a:p>
                  </a:txBody>
                  <a:tcPr anchor="ctr">
                    <a:solidFill>
                      <a:srgbClr val="FFFFFF"/>
                    </a:solidFill>
                  </a:tcPr>
                </a:tc>
                <a:tc>
                  <a:txBody>
                    <a:bodyPr/>
                    <a:lstStyle/>
                    <a:p>
                      <a:pPr algn="ctr">
                        <a:buNone/>
                      </a:pPr>
                      <a:r>
                        <a:rPr sz="1875" b="0">
                          <a:solidFill>
                            <a:srgbClr val="111111"/>
                          </a:solidFill>
                          <a:latin typeface="Aptos"/>
                          <a:ea typeface="Aptos"/>
                          <a:cs typeface="Aptos"/>
                        </a:rPr>
                        <a:t>40</a:t>
                      </a:r>
                    </a:p>
                  </a:txBody>
                  <a:tcPr anchor="ctr">
                    <a:solidFill>
                      <a:srgbClr val="FFFFFF"/>
                    </a:solidFill>
                  </a:tcPr>
                </a:tc>
                <a:tc>
                  <a:txBody>
                    <a:bodyPr/>
                    <a:lstStyle/>
                    <a:p>
                      <a:pPr algn="ctr">
                        <a:buNone/>
                      </a:pPr>
                      <a:r>
                        <a:rPr sz="1875" b="0">
                          <a:solidFill>
                            <a:srgbClr val="111111"/>
                          </a:solidFill>
                          <a:latin typeface="Aptos"/>
                          <a:ea typeface="Aptos"/>
                          <a:cs typeface="Aptos"/>
                        </a:rPr>
                        <a:t>6</a:t>
                      </a: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3"/>
                  </a:ext>
                </a:extLst>
              </a:tr>
              <a:tr h="396478">
                <a:tc>
                  <a:txBody>
                    <a:bodyPr/>
                    <a:lstStyle/>
                    <a:p>
                      <a:pPr algn="l">
                        <a:buNone/>
                      </a:pPr>
                      <a:r>
                        <a:rPr sz="1875" b="0">
                          <a:solidFill>
                            <a:srgbClr val="111111"/>
                          </a:solidFill>
                          <a:latin typeface="Aptos"/>
                          <a:ea typeface="Aptos"/>
                          <a:cs typeface="Aptos"/>
                        </a:rPr>
                        <a:t>40 ≤ x &lt; 50</a:t>
                      </a:r>
                    </a:p>
                  </a:txBody>
                  <a:tcPr anchor="ctr">
                    <a:solidFill>
                      <a:srgbClr val="EEF8FE"/>
                    </a:solidFill>
                  </a:tcPr>
                </a:tc>
                <a:tc>
                  <a:txBody>
                    <a:bodyPr/>
                    <a:lstStyle/>
                    <a:p>
                      <a:pPr algn="ctr">
                        <a:buNone/>
                      </a:pPr>
                      <a:r>
                        <a:rPr sz="1875" b="0">
                          <a:solidFill>
                            <a:srgbClr val="111111"/>
                          </a:solidFill>
                          <a:latin typeface="Aptos"/>
                          <a:ea typeface="Aptos"/>
                          <a:cs typeface="Aptos"/>
                        </a:rPr>
                        <a:t>50</a:t>
                      </a:r>
                    </a:p>
                  </a:txBody>
                  <a:tcPr anchor="ctr">
                    <a:solidFill>
                      <a:srgbClr val="EEF8FE"/>
                    </a:solidFill>
                  </a:tcPr>
                </a:tc>
                <a:tc>
                  <a:txBody>
                    <a:bodyPr/>
                    <a:lstStyle/>
                    <a:p>
                      <a:pPr algn="ctr">
                        <a:buNone/>
                      </a:pPr>
                      <a:r>
                        <a:rPr sz="1875" b="0">
                          <a:solidFill>
                            <a:srgbClr val="111111"/>
                          </a:solidFill>
                          <a:latin typeface="Aptos"/>
                          <a:ea typeface="Aptos"/>
                          <a:cs typeface="Aptos"/>
                        </a:rPr>
                        <a:t>2</a:t>
                      </a:r>
                    </a:p>
                  </a:txBody>
                  <a:tcPr anchor="ctr">
                    <a:solidFill>
                      <a:srgbClr val="EEF8FE"/>
                    </a:solidFill>
                  </a:tcPr>
                </a:tc>
                <a:tc>
                  <a:txBody>
                    <a:bodyPr/>
                    <a:lstStyle/>
                    <a:p>
                      <a:endParaRPr/>
                    </a:p>
                  </a:txBody>
                  <a:tcPr anchor="ctr">
                    <a:solidFill>
                      <a:srgbClr val="EEF8FE"/>
                    </a:solidFill>
                  </a:tcPr>
                </a:tc>
                <a:tc>
                  <a:txBody>
                    <a:bodyPr/>
                    <a:lstStyle/>
                    <a:p>
                      <a:endParaRPr/>
                    </a:p>
                  </a:txBody>
                  <a:tcPr anchor="ctr">
                    <a:solidFill>
                      <a:srgbClr val="EEF8FE"/>
                    </a:solidFill>
                  </a:tcPr>
                </a:tc>
                <a:tc>
                  <a:txBody>
                    <a:bodyPr/>
                    <a:lstStyle/>
                    <a:p>
                      <a:endParaRPr/>
                    </a:p>
                  </a:txBody>
                  <a:tcPr anchor="ctr">
                    <a:solidFill>
                      <a:srgbClr val="EEF8FE"/>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362336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title">
            <a:extLst>
              <a:ext uri="{FF2B5EF4-FFF2-40B4-BE49-F238E27FC236}">
                <a16:creationId xmlns:a16="http://schemas.microsoft.com/office/drawing/2014/main" id="{E9AEB549-54E1-418B-8462-784001D1E9CF}"/>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Smoothie Club: check each total</a:t>
            </a:r>
          </a:p>
        </p:txBody>
      </p:sp>
      <p:sp>
        <p:nvSpPr>
          <p:cNvPr id="2" name="Lead">
            <a:extLst>
              <a:ext uri="{FF2B5EF4-FFF2-40B4-BE49-F238E27FC236}">
                <a16:creationId xmlns:a16="http://schemas.microsoft.com/office/drawing/2014/main" id="{939470A0-B185-4D82-89DC-E45BDF4CD031}"/>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Read down the frequency column and add one class at a time.</a:t>
            </a:r>
          </a:p>
        </p:txBody>
      </p:sp>
      <p:sp>
        <p:nvSpPr>
          <p:cNvPr id="3" name="Text">
            <a:extLst>
              <a:ext uri="{FF2B5EF4-FFF2-40B4-BE49-F238E27FC236}">
                <a16:creationId xmlns:a16="http://schemas.microsoft.com/office/drawing/2014/main" id="{1B41731B-BB76-4D9D-BEB2-B45C336CF544}"/>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B3</a:t>
            </a:r>
          </a:p>
        </p:txBody>
      </p:sp>
      <p:sp>
        <p:nvSpPr>
          <p:cNvPr id="4" name="Footer">
            <a:extLst>
              <a:ext uri="{FF2B5EF4-FFF2-40B4-BE49-F238E27FC236}">
                <a16:creationId xmlns:a16="http://schemas.microsoft.com/office/drawing/2014/main" id="{C912B258-C370-4CEE-B26C-103D70029412}"/>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At X = 30: 12 sessions are below 30 sign-ups. This is 12 ÷ 20 = 0.60 = 60%.</a:t>
            </a:r>
          </a:p>
        </p:txBody>
      </p:sp>
      <p:graphicFrame>
        <p:nvGraphicFramePr>
          <p:cNvPr id="12" name="Table 11"/>
          <p:cNvGraphicFramePr/>
          <p:nvPr/>
        </p:nvGraphicFramePr>
        <p:xfrm>
          <a:off x="619125" y="3000375"/>
          <a:ext cx="10953750" cy="2571750"/>
        </p:xfrm>
        <a:graphic>
          <a:graphicData uri="http://schemas.openxmlformats.org/drawingml/2006/table">
            <a:tbl>
              <a:tblPr/>
              <a:tblGrid>
                <a:gridCol w="2476500">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gridCol w="1476375">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gridCol w="2095500">
                  <a:extLst>
                    <a:ext uri="{9D8B030D-6E8A-4147-A177-3AD203B41FA5}">
                      <a16:colId xmlns:a16="http://schemas.microsoft.com/office/drawing/2014/main" val="20005"/>
                    </a:ext>
                  </a:extLst>
                </a:gridCol>
              </a:tblGrid>
              <a:tr h="985838">
                <a:tc>
                  <a:txBody>
                    <a:bodyPr/>
                    <a:lstStyle/>
                    <a:p>
                      <a:pPr algn="l">
                        <a:buNone/>
                      </a:pPr>
                      <a:r>
                        <a:rPr sz="1875" b="1">
                          <a:solidFill>
                            <a:srgbClr val="FFFFFF"/>
                          </a:solidFill>
                          <a:latin typeface="Aptos"/>
                          <a:ea typeface="Aptos"/>
                          <a:cs typeface="Aptos"/>
                        </a:rPr>
                        <a:t>Sign-up interval</a:t>
                      </a:r>
                    </a:p>
                  </a:txBody>
                  <a:tcPr anchor="ctr">
                    <a:solidFill>
                      <a:srgbClr val="D6171D"/>
                    </a:solidFill>
                  </a:tcPr>
                </a:tc>
                <a:tc>
                  <a:txBody>
                    <a:bodyPr/>
                    <a:lstStyle/>
                    <a:p>
                      <a:pPr algn="ctr">
                        <a:buNone/>
                      </a:pPr>
                      <a:r>
                        <a:rPr sz="1875" b="1">
                          <a:solidFill>
                            <a:srgbClr val="FFFFFF"/>
                          </a:solidFill>
                          <a:latin typeface="Aptos"/>
                          <a:ea typeface="Aptos"/>
                          <a:cs typeface="Aptos"/>
                        </a:rPr>
                        <a:t>Upper boundary</a:t>
                      </a:r>
                    </a:p>
                    <a:p>
                      <a:pPr algn="ctr">
                        <a:buNone/>
                      </a:pPr>
                      <a:r>
                        <a:rPr sz="1875" b="1">
                          <a:solidFill>
                            <a:srgbClr val="FFFFFF"/>
                          </a:solidFill>
                          <a:latin typeface="Aptos"/>
                          <a:ea typeface="Aptos"/>
                          <a:cs typeface="Aptos"/>
                        </a:rPr>
                        <a:t>(X)</a:t>
                      </a:r>
                    </a:p>
                  </a:txBody>
                  <a:tcPr anchor="ctr">
                    <a:solidFill>
                      <a:srgbClr val="D6171D"/>
                    </a:solidFill>
                  </a:tcPr>
                </a:tc>
                <a:tc>
                  <a:txBody>
                    <a:bodyPr/>
                    <a:lstStyle/>
                    <a:p>
                      <a:pPr algn="ctr">
                        <a:buNone/>
                      </a:pPr>
                      <a:r>
                        <a:rPr sz="1875" b="1">
                          <a:solidFill>
                            <a:srgbClr val="FFFFFF"/>
                          </a:solidFill>
                          <a:latin typeface="Aptos"/>
                          <a:ea typeface="Aptos"/>
                          <a:cs typeface="Aptos"/>
                        </a:rPr>
                        <a:t>Frequency</a:t>
                      </a:r>
                    </a:p>
                  </a:txBody>
                  <a:tcPr anchor="ctr">
                    <a:solidFill>
                      <a:srgbClr val="D6171D"/>
                    </a:solidFill>
                  </a:tcPr>
                </a:tc>
                <a:tc>
                  <a:txBody>
                    <a:bodyPr/>
                    <a:lstStyle/>
                    <a:p>
                      <a:pPr algn="ctr">
                        <a:buNone/>
                      </a:pPr>
                      <a:r>
                        <a:rPr sz="1875" b="1">
                          <a:solidFill>
                            <a:srgbClr val="FFFFFF"/>
                          </a:solidFill>
                          <a:latin typeface="Aptos"/>
                          <a:ea typeface="Aptos"/>
                          <a:cs typeface="Aptos"/>
                        </a:rPr>
                        <a:t>CF</a:t>
                      </a:r>
                    </a:p>
                  </a:txBody>
                  <a:tcPr anchor="ctr">
                    <a:solidFill>
                      <a:srgbClr val="D6171D"/>
                    </a:solidFill>
                  </a:tcPr>
                </a:tc>
                <a:tc>
                  <a:txBody>
                    <a:bodyPr/>
                    <a:lstStyle/>
                    <a:p>
                      <a:pPr algn="ctr">
                        <a:buNone/>
                      </a:pPr>
                      <a:r>
                        <a:rPr sz="1875" b="1">
                          <a:solidFill>
                            <a:srgbClr val="FFFFFF"/>
                          </a:solidFill>
                          <a:latin typeface="Aptos"/>
                          <a:ea typeface="Aptos"/>
                          <a:cs typeface="Aptos"/>
                        </a:rPr>
                        <a:t>Cumulative</a:t>
                      </a:r>
                    </a:p>
                    <a:p>
                      <a:pPr algn="ctr">
                        <a:buNone/>
                      </a:pPr>
                      <a:r>
                        <a:rPr sz="1875" b="1">
                          <a:solidFill>
                            <a:srgbClr val="FFFFFF"/>
                          </a:solidFill>
                          <a:latin typeface="Aptos"/>
                          <a:ea typeface="Aptos"/>
                          <a:cs typeface="Aptos"/>
                        </a:rPr>
                        <a:t>relative frequency</a:t>
                      </a:r>
                    </a:p>
                  </a:txBody>
                  <a:tcPr anchor="ctr">
                    <a:solidFill>
                      <a:srgbClr val="D6171D"/>
                    </a:solidFill>
                  </a:tcPr>
                </a:tc>
                <a:tc>
                  <a:txBody>
                    <a:bodyPr/>
                    <a:lstStyle/>
                    <a:p>
                      <a:pPr algn="ctr">
                        <a:buNone/>
                      </a:pPr>
                      <a:r>
                        <a:rPr sz="1875" b="1">
                          <a:solidFill>
                            <a:srgbClr val="FFFFFF"/>
                          </a:solidFill>
                          <a:latin typeface="Aptos"/>
                          <a:ea typeface="Aptos"/>
                          <a:cs typeface="Aptos"/>
                        </a:rPr>
                        <a:t>Cumulative %</a:t>
                      </a:r>
                    </a:p>
                    <a:p>
                      <a:pPr algn="ctr">
                        <a:buNone/>
                      </a:pPr>
                      <a:r>
                        <a:rPr sz="1875" b="1">
                          <a:solidFill>
                            <a:srgbClr val="FFFFFF"/>
                          </a:solidFill>
                          <a:latin typeface="Aptos"/>
                          <a:ea typeface="Aptos"/>
                          <a:cs typeface="Aptos"/>
                        </a:rPr>
                        <a:t>(Y)</a:t>
                      </a:r>
                    </a:p>
                  </a:txBody>
                  <a:tcPr anchor="ctr">
                    <a:solidFill>
                      <a:srgbClr val="D6171D"/>
                    </a:solidFill>
                  </a:tcPr>
                </a:tc>
                <a:extLst>
                  <a:ext uri="{0D108BD9-81ED-4DB2-BD59-A6C34878D82A}">
                    <a16:rowId xmlns:a16="http://schemas.microsoft.com/office/drawing/2014/main" val="10000"/>
                  </a:ext>
                </a:extLst>
              </a:tr>
              <a:tr h="396478">
                <a:tc>
                  <a:txBody>
                    <a:bodyPr/>
                    <a:lstStyle/>
                    <a:p>
                      <a:pPr algn="l">
                        <a:buNone/>
                      </a:pPr>
                      <a:r>
                        <a:rPr sz="1875" b="0">
                          <a:solidFill>
                            <a:srgbClr val="111111"/>
                          </a:solidFill>
                          <a:latin typeface="Aptos"/>
                          <a:ea typeface="Aptos"/>
                          <a:cs typeface="Aptos"/>
                        </a:rPr>
                        <a:t>10 ≤ x &lt; 20</a:t>
                      </a:r>
                    </a:p>
                  </a:txBody>
                  <a:tcPr anchor="ctr">
                    <a:solidFill>
                      <a:srgbClr val="FFFFFF"/>
                    </a:solidFill>
                  </a:tcPr>
                </a:tc>
                <a:tc>
                  <a:txBody>
                    <a:bodyPr/>
                    <a:lstStyle/>
                    <a:p>
                      <a:pPr algn="ctr">
                        <a:buNone/>
                      </a:pPr>
                      <a:r>
                        <a:rPr sz="1875" b="0">
                          <a:solidFill>
                            <a:srgbClr val="111111"/>
                          </a:solidFill>
                          <a:latin typeface="Aptos"/>
                          <a:ea typeface="Aptos"/>
                          <a:cs typeface="Aptos"/>
                        </a:rPr>
                        <a:t>20</a:t>
                      </a:r>
                    </a:p>
                  </a:txBody>
                  <a:tcPr anchor="ctr">
                    <a:solidFill>
                      <a:srgbClr val="FFFFFF"/>
                    </a:solidFill>
                  </a:tcPr>
                </a:tc>
                <a:tc>
                  <a:txBody>
                    <a:bodyPr/>
                    <a:lstStyle/>
                    <a:p>
                      <a:pPr algn="ctr">
                        <a:buNone/>
                      </a:pPr>
                      <a:r>
                        <a:rPr sz="1875" b="0">
                          <a:solidFill>
                            <a:srgbClr val="111111"/>
                          </a:solidFill>
                          <a:latin typeface="Aptos"/>
                          <a:ea typeface="Aptos"/>
                          <a:cs typeface="Aptos"/>
                        </a:rPr>
                        <a:t>4</a:t>
                      </a:r>
                    </a:p>
                  </a:txBody>
                  <a:tcPr anchor="ctr">
                    <a:solidFill>
                      <a:srgbClr val="FFFFFF"/>
                    </a:solidFill>
                  </a:tcPr>
                </a:tc>
                <a:tc>
                  <a:txBody>
                    <a:bodyPr/>
                    <a:lstStyle/>
                    <a:p>
                      <a:pPr algn="ctr">
                        <a:buNone/>
                      </a:pPr>
                      <a:r>
                        <a:rPr sz="1875" b="0">
                          <a:solidFill>
                            <a:srgbClr val="111111"/>
                          </a:solidFill>
                          <a:latin typeface="Aptos"/>
                          <a:ea typeface="Aptos"/>
                          <a:cs typeface="Aptos"/>
                        </a:rPr>
                        <a:t>4</a:t>
                      </a:r>
                    </a:p>
                  </a:txBody>
                  <a:tcPr anchor="ctr">
                    <a:solidFill>
                      <a:srgbClr val="FFFFFF"/>
                    </a:solidFill>
                  </a:tcPr>
                </a:tc>
                <a:tc>
                  <a:txBody>
                    <a:bodyPr/>
                    <a:lstStyle/>
                    <a:p>
                      <a:pPr algn="ctr">
                        <a:buNone/>
                      </a:pPr>
                      <a:r>
                        <a:rPr sz="1875" b="0">
                          <a:solidFill>
                            <a:srgbClr val="111111"/>
                          </a:solidFill>
                          <a:latin typeface="Aptos"/>
                          <a:ea typeface="Aptos"/>
                          <a:cs typeface="Aptos"/>
                        </a:rPr>
                        <a:t>0.2</a:t>
                      </a:r>
                    </a:p>
                  </a:txBody>
                  <a:tcPr anchor="ctr">
                    <a:solidFill>
                      <a:srgbClr val="FFFFFF"/>
                    </a:solidFill>
                  </a:tcPr>
                </a:tc>
                <a:tc>
                  <a:txBody>
                    <a:bodyPr/>
                    <a:lstStyle/>
                    <a:p>
                      <a:pPr algn="ctr">
                        <a:buNone/>
                      </a:pPr>
                      <a:r>
                        <a:rPr sz="1875" b="0">
                          <a:solidFill>
                            <a:srgbClr val="111111"/>
                          </a:solidFill>
                          <a:latin typeface="Aptos"/>
                          <a:ea typeface="Aptos"/>
                          <a:cs typeface="Aptos"/>
                        </a:rPr>
                        <a:t>20%</a:t>
                      </a:r>
                    </a:p>
                  </a:txBody>
                  <a:tcPr anchor="ctr">
                    <a:solidFill>
                      <a:srgbClr val="FFFFFF"/>
                    </a:solidFill>
                  </a:tcPr>
                </a:tc>
                <a:extLst>
                  <a:ext uri="{0D108BD9-81ED-4DB2-BD59-A6C34878D82A}">
                    <a16:rowId xmlns:a16="http://schemas.microsoft.com/office/drawing/2014/main" val="10001"/>
                  </a:ext>
                </a:extLst>
              </a:tr>
              <a:tr h="396478">
                <a:tc>
                  <a:txBody>
                    <a:bodyPr/>
                    <a:lstStyle/>
                    <a:p>
                      <a:pPr algn="l">
                        <a:buNone/>
                      </a:pPr>
                      <a:r>
                        <a:rPr sz="1875" b="0">
                          <a:solidFill>
                            <a:srgbClr val="111111"/>
                          </a:solidFill>
                          <a:latin typeface="Aptos"/>
                          <a:ea typeface="Aptos"/>
                          <a:cs typeface="Aptos"/>
                        </a:rPr>
                        <a:t>20 ≤ x &lt; 30</a:t>
                      </a:r>
                    </a:p>
                  </a:txBody>
                  <a:tcPr anchor="ctr">
                    <a:solidFill>
                      <a:srgbClr val="EEF8FE"/>
                    </a:solidFill>
                  </a:tcPr>
                </a:tc>
                <a:tc>
                  <a:txBody>
                    <a:bodyPr/>
                    <a:lstStyle/>
                    <a:p>
                      <a:pPr algn="ctr">
                        <a:buNone/>
                      </a:pPr>
                      <a:r>
                        <a:rPr sz="1875" b="0">
                          <a:solidFill>
                            <a:srgbClr val="111111"/>
                          </a:solidFill>
                          <a:latin typeface="Aptos"/>
                          <a:ea typeface="Aptos"/>
                          <a:cs typeface="Aptos"/>
                        </a:rPr>
                        <a:t>30</a:t>
                      </a:r>
                    </a:p>
                  </a:txBody>
                  <a:tcPr anchor="ctr">
                    <a:solidFill>
                      <a:srgbClr val="EEF8FE"/>
                    </a:solidFill>
                  </a:tcPr>
                </a:tc>
                <a:tc>
                  <a:txBody>
                    <a:bodyPr/>
                    <a:lstStyle/>
                    <a:p>
                      <a:pPr algn="ctr">
                        <a:buNone/>
                      </a:pPr>
                      <a:r>
                        <a:rPr sz="1875" b="0">
                          <a:solidFill>
                            <a:srgbClr val="111111"/>
                          </a:solidFill>
                          <a:latin typeface="Aptos"/>
                          <a:ea typeface="Aptos"/>
                          <a:cs typeface="Aptos"/>
                        </a:rPr>
                        <a:t>8</a:t>
                      </a:r>
                    </a:p>
                  </a:txBody>
                  <a:tcPr anchor="ctr">
                    <a:solidFill>
                      <a:srgbClr val="EEF8FE"/>
                    </a:solidFill>
                  </a:tcPr>
                </a:tc>
                <a:tc>
                  <a:txBody>
                    <a:bodyPr/>
                    <a:lstStyle/>
                    <a:p>
                      <a:pPr algn="ctr">
                        <a:buNone/>
                      </a:pPr>
                      <a:r>
                        <a:rPr sz="1875" b="0">
                          <a:solidFill>
                            <a:srgbClr val="111111"/>
                          </a:solidFill>
                          <a:latin typeface="Aptos"/>
                          <a:ea typeface="Aptos"/>
                          <a:cs typeface="Aptos"/>
                        </a:rPr>
                        <a:t>12</a:t>
                      </a:r>
                    </a:p>
                  </a:txBody>
                  <a:tcPr anchor="ctr">
                    <a:solidFill>
                      <a:srgbClr val="EEF8FE"/>
                    </a:solidFill>
                  </a:tcPr>
                </a:tc>
                <a:tc>
                  <a:txBody>
                    <a:bodyPr/>
                    <a:lstStyle/>
                    <a:p>
                      <a:pPr algn="ctr">
                        <a:buNone/>
                      </a:pPr>
                      <a:r>
                        <a:rPr sz="1875" b="0">
                          <a:solidFill>
                            <a:srgbClr val="111111"/>
                          </a:solidFill>
                          <a:latin typeface="Aptos"/>
                          <a:ea typeface="Aptos"/>
                          <a:cs typeface="Aptos"/>
                        </a:rPr>
                        <a:t>0.6</a:t>
                      </a:r>
                    </a:p>
                  </a:txBody>
                  <a:tcPr anchor="ctr">
                    <a:solidFill>
                      <a:srgbClr val="EEF8FE"/>
                    </a:solidFill>
                  </a:tcPr>
                </a:tc>
                <a:tc>
                  <a:txBody>
                    <a:bodyPr/>
                    <a:lstStyle/>
                    <a:p>
                      <a:pPr algn="ctr">
                        <a:buNone/>
                      </a:pPr>
                      <a:r>
                        <a:rPr sz="1875" b="0">
                          <a:solidFill>
                            <a:srgbClr val="111111"/>
                          </a:solidFill>
                          <a:latin typeface="Aptos"/>
                          <a:ea typeface="Aptos"/>
                          <a:cs typeface="Aptos"/>
                        </a:rPr>
                        <a:t>60%</a:t>
                      </a:r>
                    </a:p>
                  </a:txBody>
                  <a:tcPr anchor="ctr">
                    <a:solidFill>
                      <a:srgbClr val="EEF8FE"/>
                    </a:solidFill>
                  </a:tcPr>
                </a:tc>
                <a:extLst>
                  <a:ext uri="{0D108BD9-81ED-4DB2-BD59-A6C34878D82A}">
                    <a16:rowId xmlns:a16="http://schemas.microsoft.com/office/drawing/2014/main" val="10002"/>
                  </a:ext>
                </a:extLst>
              </a:tr>
              <a:tr h="396478">
                <a:tc>
                  <a:txBody>
                    <a:bodyPr/>
                    <a:lstStyle/>
                    <a:p>
                      <a:pPr algn="l">
                        <a:buNone/>
                      </a:pPr>
                      <a:r>
                        <a:rPr sz="1875" b="0">
                          <a:solidFill>
                            <a:srgbClr val="111111"/>
                          </a:solidFill>
                          <a:latin typeface="Aptos"/>
                          <a:ea typeface="Aptos"/>
                          <a:cs typeface="Aptos"/>
                        </a:rPr>
                        <a:t>30 ≤ x &lt; 40</a:t>
                      </a:r>
                    </a:p>
                  </a:txBody>
                  <a:tcPr anchor="ctr">
                    <a:solidFill>
                      <a:srgbClr val="FFFFFF"/>
                    </a:solidFill>
                  </a:tcPr>
                </a:tc>
                <a:tc>
                  <a:txBody>
                    <a:bodyPr/>
                    <a:lstStyle/>
                    <a:p>
                      <a:pPr algn="ctr">
                        <a:buNone/>
                      </a:pPr>
                      <a:r>
                        <a:rPr sz="1875" b="0">
                          <a:solidFill>
                            <a:srgbClr val="111111"/>
                          </a:solidFill>
                          <a:latin typeface="Aptos"/>
                          <a:ea typeface="Aptos"/>
                          <a:cs typeface="Aptos"/>
                        </a:rPr>
                        <a:t>40</a:t>
                      </a:r>
                    </a:p>
                  </a:txBody>
                  <a:tcPr anchor="ctr">
                    <a:solidFill>
                      <a:srgbClr val="FFFFFF"/>
                    </a:solidFill>
                  </a:tcPr>
                </a:tc>
                <a:tc>
                  <a:txBody>
                    <a:bodyPr/>
                    <a:lstStyle/>
                    <a:p>
                      <a:pPr algn="ctr">
                        <a:buNone/>
                      </a:pPr>
                      <a:r>
                        <a:rPr sz="1875" b="0">
                          <a:solidFill>
                            <a:srgbClr val="111111"/>
                          </a:solidFill>
                          <a:latin typeface="Aptos"/>
                          <a:ea typeface="Aptos"/>
                          <a:cs typeface="Aptos"/>
                        </a:rPr>
                        <a:t>6</a:t>
                      </a:r>
                    </a:p>
                  </a:txBody>
                  <a:tcPr anchor="ctr">
                    <a:solidFill>
                      <a:srgbClr val="FFFFFF"/>
                    </a:solidFill>
                  </a:tcPr>
                </a:tc>
                <a:tc>
                  <a:txBody>
                    <a:bodyPr/>
                    <a:lstStyle/>
                    <a:p>
                      <a:pPr algn="ctr">
                        <a:buNone/>
                      </a:pPr>
                      <a:r>
                        <a:rPr sz="1875" b="0">
                          <a:solidFill>
                            <a:srgbClr val="111111"/>
                          </a:solidFill>
                          <a:latin typeface="Aptos"/>
                          <a:ea typeface="Aptos"/>
                          <a:cs typeface="Aptos"/>
                        </a:rPr>
                        <a:t>18</a:t>
                      </a:r>
                    </a:p>
                  </a:txBody>
                  <a:tcPr anchor="ctr">
                    <a:solidFill>
                      <a:srgbClr val="FFFFFF"/>
                    </a:solidFill>
                  </a:tcPr>
                </a:tc>
                <a:tc>
                  <a:txBody>
                    <a:bodyPr/>
                    <a:lstStyle/>
                    <a:p>
                      <a:pPr algn="ctr">
                        <a:buNone/>
                      </a:pPr>
                      <a:r>
                        <a:rPr sz="1875" b="0">
                          <a:solidFill>
                            <a:srgbClr val="111111"/>
                          </a:solidFill>
                          <a:latin typeface="Aptos"/>
                          <a:ea typeface="Aptos"/>
                          <a:cs typeface="Aptos"/>
                        </a:rPr>
                        <a:t>0.9</a:t>
                      </a:r>
                    </a:p>
                  </a:txBody>
                  <a:tcPr anchor="ctr">
                    <a:solidFill>
                      <a:srgbClr val="FFFFFF"/>
                    </a:solidFill>
                  </a:tcPr>
                </a:tc>
                <a:tc>
                  <a:txBody>
                    <a:bodyPr/>
                    <a:lstStyle/>
                    <a:p>
                      <a:pPr algn="ctr">
                        <a:buNone/>
                      </a:pPr>
                      <a:r>
                        <a:rPr sz="1875" b="0">
                          <a:solidFill>
                            <a:srgbClr val="111111"/>
                          </a:solidFill>
                          <a:latin typeface="Aptos"/>
                          <a:ea typeface="Aptos"/>
                          <a:cs typeface="Aptos"/>
                        </a:rPr>
                        <a:t>90%</a:t>
                      </a:r>
                    </a:p>
                  </a:txBody>
                  <a:tcPr anchor="ctr">
                    <a:solidFill>
                      <a:srgbClr val="FFFFFF"/>
                    </a:solidFill>
                  </a:tcPr>
                </a:tc>
                <a:extLst>
                  <a:ext uri="{0D108BD9-81ED-4DB2-BD59-A6C34878D82A}">
                    <a16:rowId xmlns:a16="http://schemas.microsoft.com/office/drawing/2014/main" val="10003"/>
                  </a:ext>
                </a:extLst>
              </a:tr>
              <a:tr h="396478">
                <a:tc>
                  <a:txBody>
                    <a:bodyPr/>
                    <a:lstStyle/>
                    <a:p>
                      <a:pPr algn="l">
                        <a:buNone/>
                      </a:pPr>
                      <a:r>
                        <a:rPr sz="1875" b="0">
                          <a:solidFill>
                            <a:srgbClr val="111111"/>
                          </a:solidFill>
                          <a:latin typeface="Aptos"/>
                          <a:ea typeface="Aptos"/>
                          <a:cs typeface="Aptos"/>
                        </a:rPr>
                        <a:t>40 ≤ x &lt; 50</a:t>
                      </a:r>
                    </a:p>
                  </a:txBody>
                  <a:tcPr anchor="ctr">
                    <a:solidFill>
                      <a:srgbClr val="EEF8FE"/>
                    </a:solidFill>
                  </a:tcPr>
                </a:tc>
                <a:tc>
                  <a:txBody>
                    <a:bodyPr/>
                    <a:lstStyle/>
                    <a:p>
                      <a:pPr algn="ctr">
                        <a:buNone/>
                      </a:pPr>
                      <a:r>
                        <a:rPr sz="1875" b="0">
                          <a:solidFill>
                            <a:srgbClr val="111111"/>
                          </a:solidFill>
                          <a:latin typeface="Aptos"/>
                          <a:ea typeface="Aptos"/>
                          <a:cs typeface="Aptos"/>
                        </a:rPr>
                        <a:t>50</a:t>
                      </a:r>
                    </a:p>
                  </a:txBody>
                  <a:tcPr anchor="ctr">
                    <a:solidFill>
                      <a:srgbClr val="EEF8FE"/>
                    </a:solidFill>
                  </a:tcPr>
                </a:tc>
                <a:tc>
                  <a:txBody>
                    <a:bodyPr/>
                    <a:lstStyle/>
                    <a:p>
                      <a:pPr algn="ctr">
                        <a:buNone/>
                      </a:pPr>
                      <a:r>
                        <a:rPr sz="1875" b="0">
                          <a:solidFill>
                            <a:srgbClr val="111111"/>
                          </a:solidFill>
                          <a:latin typeface="Aptos"/>
                          <a:ea typeface="Aptos"/>
                          <a:cs typeface="Aptos"/>
                        </a:rPr>
                        <a:t>2</a:t>
                      </a:r>
                    </a:p>
                  </a:txBody>
                  <a:tcPr anchor="ctr">
                    <a:solidFill>
                      <a:srgbClr val="EEF8FE"/>
                    </a:solidFill>
                  </a:tcPr>
                </a:tc>
                <a:tc>
                  <a:txBody>
                    <a:bodyPr/>
                    <a:lstStyle/>
                    <a:p>
                      <a:pPr algn="ctr">
                        <a:buNone/>
                      </a:pPr>
                      <a:r>
                        <a:rPr sz="1875" b="0">
                          <a:solidFill>
                            <a:srgbClr val="111111"/>
                          </a:solidFill>
                          <a:latin typeface="Aptos"/>
                          <a:ea typeface="Aptos"/>
                          <a:cs typeface="Aptos"/>
                        </a:rPr>
                        <a:t>20</a:t>
                      </a:r>
                    </a:p>
                  </a:txBody>
                  <a:tcPr anchor="ctr">
                    <a:solidFill>
                      <a:srgbClr val="EEF8FE"/>
                    </a:solidFill>
                  </a:tcPr>
                </a:tc>
                <a:tc>
                  <a:txBody>
                    <a:bodyPr/>
                    <a:lstStyle/>
                    <a:p>
                      <a:pPr algn="ctr">
                        <a:buNone/>
                      </a:pPr>
                      <a:r>
                        <a:rPr sz="1875" b="0">
                          <a:solidFill>
                            <a:srgbClr val="111111"/>
                          </a:solidFill>
                          <a:latin typeface="Aptos"/>
                          <a:ea typeface="Aptos"/>
                          <a:cs typeface="Aptos"/>
                        </a:rPr>
                        <a:t>1</a:t>
                      </a:r>
                    </a:p>
                  </a:txBody>
                  <a:tcPr anchor="ctr">
                    <a:solidFill>
                      <a:srgbClr val="EEF8FE"/>
                    </a:solidFill>
                  </a:tcPr>
                </a:tc>
                <a:tc>
                  <a:txBody>
                    <a:bodyPr/>
                    <a:lstStyle/>
                    <a:p>
                      <a:pPr algn="ctr">
                        <a:buNone/>
                      </a:pPr>
                      <a:r>
                        <a:rPr sz="1875" b="0">
                          <a:solidFill>
                            <a:srgbClr val="111111"/>
                          </a:solidFill>
                          <a:latin typeface="Aptos"/>
                          <a:ea typeface="Aptos"/>
                          <a:cs typeface="Aptos"/>
                        </a:rPr>
                        <a:t>100%</a:t>
                      </a:r>
                    </a:p>
                  </a:txBody>
                  <a:tcPr anchor="ctr">
                    <a:solidFill>
                      <a:srgbClr val="EEF8FE"/>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874905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1B66837A-C730-46F2-BD4B-E0F24415278D}"/>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draw the Smoothie ogive</a:t>
            </a:r>
          </a:p>
        </p:txBody>
      </p:sp>
      <p:sp>
        <p:nvSpPr>
          <p:cNvPr id="2" name="Lead">
            <a:extLst>
              <a:ext uri="{FF2B5EF4-FFF2-40B4-BE49-F238E27FC236}">
                <a16:creationId xmlns:a16="http://schemas.microsoft.com/office/drawing/2014/main" id="{4EB6F712-4522-4EA6-9705-612488F13F44}"/>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Plot upper boundaries on X and cumulative percentages on Y.</a:t>
            </a:r>
          </a:p>
        </p:txBody>
      </p:sp>
      <p:sp>
        <p:nvSpPr>
          <p:cNvPr id="3" name="Text">
            <a:extLst>
              <a:ext uri="{FF2B5EF4-FFF2-40B4-BE49-F238E27FC236}">
                <a16:creationId xmlns:a16="http://schemas.microsoft.com/office/drawing/2014/main" id="{ED2258D0-A5D9-43C7-B9D8-10FE97D8EE3F}"/>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B4</a:t>
            </a:r>
          </a:p>
        </p:txBody>
      </p:sp>
      <p:sp>
        <p:nvSpPr>
          <p:cNvPr id="4" name="Footer">
            <a:extLst>
              <a:ext uri="{FF2B5EF4-FFF2-40B4-BE49-F238E27FC236}">
                <a16:creationId xmlns:a16="http://schemas.microsoft.com/office/drawing/2014/main" id="{BCC5B355-B53B-42BD-AC32-D446FAD4E549}"/>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Use your completed table. Start at (10, 0%). Join consecutive points with straight lines.</a:t>
            </a:r>
          </a:p>
        </p:txBody>
      </p:sp>
      <p:graphicFrame>
        <p:nvGraphicFramePr>
          <p:cNvPr id="13" name="Table 12"/>
          <p:cNvGraphicFramePr/>
          <p:nvPr/>
        </p:nvGraphicFramePr>
        <p:xfrm>
          <a:off x="619125" y="3000375"/>
          <a:ext cx="6191250" cy="2428875"/>
        </p:xfrm>
        <a:graphic>
          <a:graphicData uri="http://schemas.openxmlformats.org/drawingml/2006/table">
            <a:tbl>
              <a:tblPr/>
              <a:tblGrid>
                <a:gridCol w="314325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62915">
                <a:tc>
                  <a:txBody>
                    <a:bodyPr/>
                    <a:lstStyle/>
                    <a:p>
                      <a:pPr algn="l">
                        <a:buNone/>
                      </a:pPr>
                      <a:r>
                        <a:rPr sz="2250" b="1">
                          <a:solidFill>
                            <a:srgbClr val="FFFFFF"/>
                          </a:solidFill>
                          <a:latin typeface="Aptos"/>
                          <a:ea typeface="Aptos"/>
                          <a:cs typeface="Aptos"/>
                        </a:rPr>
                        <a:t>Upper boundary (X)</a:t>
                      </a:r>
                    </a:p>
                  </a:txBody>
                  <a:tcPr anchor="ctr">
                    <a:solidFill>
                      <a:srgbClr val="D6171D"/>
                    </a:solidFill>
                  </a:tcPr>
                </a:tc>
                <a:tc>
                  <a:txBody>
                    <a:bodyPr/>
                    <a:lstStyle/>
                    <a:p>
                      <a:pPr algn="ctr">
                        <a:buNone/>
                      </a:pPr>
                      <a:r>
                        <a:rPr sz="2250" b="1">
                          <a:solidFill>
                            <a:srgbClr val="FFFFFF"/>
                          </a:solidFill>
                          <a:latin typeface="Aptos"/>
                          <a:ea typeface="Aptos"/>
                          <a:cs typeface="Aptos"/>
                        </a:rPr>
                        <a:t>Cumulative % (Y)</a:t>
                      </a:r>
                    </a:p>
                  </a:txBody>
                  <a:tcPr anchor="ctr">
                    <a:solidFill>
                      <a:srgbClr val="D6171D"/>
                    </a:solidFill>
                  </a:tcPr>
                </a:tc>
                <a:extLst>
                  <a:ext uri="{0D108BD9-81ED-4DB2-BD59-A6C34878D82A}">
                    <a16:rowId xmlns:a16="http://schemas.microsoft.com/office/drawing/2014/main" val="10000"/>
                  </a:ext>
                </a:extLst>
              </a:tr>
              <a:tr h="491490">
                <a:tc>
                  <a:txBody>
                    <a:bodyPr/>
                    <a:lstStyle/>
                    <a:p>
                      <a:pPr algn="l">
                        <a:buNone/>
                      </a:pPr>
                      <a:r>
                        <a:rPr sz="2250" b="0">
                          <a:solidFill>
                            <a:srgbClr val="111111"/>
                          </a:solidFill>
                          <a:latin typeface="Aptos"/>
                          <a:ea typeface="Aptos"/>
                          <a:cs typeface="Aptos"/>
                        </a:rPr>
                        <a:t>20</a:t>
                      </a:r>
                    </a:p>
                  </a:txBody>
                  <a:tcPr anchor="ctr">
                    <a:solidFill>
                      <a:srgbClr val="FFFFFF"/>
                    </a:solidFill>
                  </a:tcPr>
                </a:tc>
                <a:tc>
                  <a:txBody>
                    <a:bodyPr/>
                    <a:lstStyle/>
                    <a:p>
                      <a:pPr algn="ctr">
                        <a:buNone/>
                      </a:pPr>
                      <a:r>
                        <a:rPr sz="2250" b="0">
                          <a:solidFill>
                            <a:srgbClr val="111111"/>
                          </a:solidFill>
                          <a:latin typeface="Aptos"/>
                          <a:ea typeface="Aptos"/>
                          <a:cs typeface="Aptos"/>
                        </a:rPr>
                        <a:t>20%</a:t>
                      </a:r>
                    </a:p>
                  </a:txBody>
                  <a:tcPr anchor="ctr">
                    <a:solidFill>
                      <a:srgbClr val="FFFFFF"/>
                    </a:solidFill>
                  </a:tcPr>
                </a:tc>
                <a:extLst>
                  <a:ext uri="{0D108BD9-81ED-4DB2-BD59-A6C34878D82A}">
                    <a16:rowId xmlns:a16="http://schemas.microsoft.com/office/drawing/2014/main" val="10001"/>
                  </a:ext>
                </a:extLst>
              </a:tr>
              <a:tr h="491490">
                <a:tc>
                  <a:txBody>
                    <a:bodyPr/>
                    <a:lstStyle/>
                    <a:p>
                      <a:pPr algn="l">
                        <a:buNone/>
                      </a:pPr>
                      <a:r>
                        <a:rPr sz="2250" b="0">
                          <a:solidFill>
                            <a:srgbClr val="111111"/>
                          </a:solidFill>
                          <a:latin typeface="Aptos"/>
                          <a:ea typeface="Aptos"/>
                          <a:cs typeface="Aptos"/>
                        </a:rPr>
                        <a:t>30</a:t>
                      </a:r>
                    </a:p>
                  </a:txBody>
                  <a:tcPr anchor="ctr">
                    <a:solidFill>
                      <a:srgbClr val="EEF8FE"/>
                    </a:solidFill>
                  </a:tcPr>
                </a:tc>
                <a:tc>
                  <a:txBody>
                    <a:bodyPr/>
                    <a:lstStyle/>
                    <a:p>
                      <a:pPr algn="ctr">
                        <a:buNone/>
                      </a:pPr>
                      <a:r>
                        <a:rPr sz="2250" b="0">
                          <a:solidFill>
                            <a:srgbClr val="111111"/>
                          </a:solidFill>
                          <a:latin typeface="Aptos"/>
                          <a:ea typeface="Aptos"/>
                          <a:cs typeface="Aptos"/>
                        </a:rPr>
                        <a:t>60%</a:t>
                      </a:r>
                    </a:p>
                  </a:txBody>
                  <a:tcPr anchor="ctr">
                    <a:solidFill>
                      <a:srgbClr val="EEF8FE"/>
                    </a:solidFill>
                  </a:tcPr>
                </a:tc>
                <a:extLst>
                  <a:ext uri="{0D108BD9-81ED-4DB2-BD59-A6C34878D82A}">
                    <a16:rowId xmlns:a16="http://schemas.microsoft.com/office/drawing/2014/main" val="10002"/>
                  </a:ext>
                </a:extLst>
              </a:tr>
              <a:tr h="491490">
                <a:tc>
                  <a:txBody>
                    <a:bodyPr/>
                    <a:lstStyle/>
                    <a:p>
                      <a:pPr algn="l">
                        <a:buNone/>
                      </a:pPr>
                      <a:r>
                        <a:rPr sz="2250" b="0">
                          <a:solidFill>
                            <a:srgbClr val="111111"/>
                          </a:solidFill>
                          <a:latin typeface="Aptos"/>
                          <a:ea typeface="Aptos"/>
                          <a:cs typeface="Aptos"/>
                        </a:rPr>
                        <a:t>40</a:t>
                      </a:r>
                    </a:p>
                  </a:txBody>
                  <a:tcPr anchor="ctr">
                    <a:solidFill>
                      <a:srgbClr val="FFFFFF"/>
                    </a:solidFill>
                  </a:tcPr>
                </a:tc>
                <a:tc>
                  <a:txBody>
                    <a:bodyPr/>
                    <a:lstStyle/>
                    <a:p>
                      <a:pPr algn="ctr">
                        <a:buNone/>
                      </a:pPr>
                      <a:r>
                        <a:rPr sz="2250" b="0">
                          <a:solidFill>
                            <a:srgbClr val="111111"/>
                          </a:solidFill>
                          <a:latin typeface="Aptos"/>
                          <a:ea typeface="Aptos"/>
                          <a:cs typeface="Aptos"/>
                        </a:rPr>
                        <a:t>90%</a:t>
                      </a:r>
                    </a:p>
                  </a:txBody>
                  <a:tcPr anchor="ctr">
                    <a:solidFill>
                      <a:srgbClr val="FFFFFF"/>
                    </a:solidFill>
                  </a:tcPr>
                </a:tc>
                <a:extLst>
                  <a:ext uri="{0D108BD9-81ED-4DB2-BD59-A6C34878D82A}">
                    <a16:rowId xmlns:a16="http://schemas.microsoft.com/office/drawing/2014/main" val="10003"/>
                  </a:ext>
                </a:extLst>
              </a:tr>
              <a:tr h="491490">
                <a:tc>
                  <a:txBody>
                    <a:bodyPr/>
                    <a:lstStyle/>
                    <a:p>
                      <a:pPr algn="l">
                        <a:buNone/>
                      </a:pPr>
                      <a:r>
                        <a:rPr sz="2250" b="0">
                          <a:solidFill>
                            <a:srgbClr val="111111"/>
                          </a:solidFill>
                          <a:latin typeface="Aptos"/>
                          <a:ea typeface="Aptos"/>
                          <a:cs typeface="Aptos"/>
                        </a:rPr>
                        <a:t>50</a:t>
                      </a:r>
                    </a:p>
                  </a:txBody>
                  <a:tcPr anchor="ctr">
                    <a:solidFill>
                      <a:srgbClr val="EEF8FE"/>
                    </a:solidFill>
                  </a:tcPr>
                </a:tc>
                <a:tc>
                  <a:txBody>
                    <a:bodyPr/>
                    <a:lstStyle/>
                    <a:p>
                      <a:pPr algn="ctr">
                        <a:buNone/>
                      </a:pPr>
                      <a:r>
                        <a:rPr sz="2250" b="0">
                          <a:solidFill>
                            <a:srgbClr val="111111"/>
                          </a:solidFill>
                          <a:latin typeface="Aptos"/>
                          <a:ea typeface="Aptos"/>
                          <a:cs typeface="Aptos"/>
                        </a:rPr>
                        <a:t>100%</a:t>
                      </a:r>
                    </a:p>
                  </a:txBody>
                  <a:tcPr anchor="ctr">
                    <a:solidFill>
                      <a:srgbClr val="EEF8FE"/>
                    </a:solidFill>
                  </a:tcPr>
                </a:tc>
                <a:extLst>
                  <a:ext uri="{0D108BD9-81ED-4DB2-BD59-A6C34878D82A}">
                    <a16:rowId xmlns:a16="http://schemas.microsoft.com/office/drawing/2014/main" val="10004"/>
                  </a:ext>
                </a:extLst>
              </a:tr>
            </a:tbl>
          </a:graphicData>
        </a:graphic>
      </p:graphicFrame>
      <p:sp>
        <p:nvSpPr>
          <p:cNvPr id="6" name="Text">
            <a:extLst>
              <a:ext uri="{FF2B5EF4-FFF2-40B4-BE49-F238E27FC236}">
                <a16:creationId xmlns:a16="http://schemas.microsoft.com/office/drawing/2014/main" id="{E877A72F-786F-4DE3-A7B2-08BC83F2208D}"/>
              </a:ext>
            </a:extLst>
          </p:cNvPr>
          <p:cNvSpPr>
            <a:spLocks noGrp="1"/>
          </p:cNvSpPr>
          <p:nvPr/>
        </p:nvSpPr>
        <p:spPr>
          <a:xfrm>
            <a:off x="7477125" y="3143250"/>
            <a:ext cx="4095750" cy="219075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1. Choose even axis scales.</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2. Plot each table row.</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3. Label both axes.</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4. Read the share below 40.</a:t>
            </a:r>
          </a:p>
        </p:txBody>
      </p:sp>
    </p:spTree>
    <p:extLst>
      <p:ext uri="{BB962C8B-B14F-4D97-AF65-F5344CB8AC3E}">
        <p14:creationId xmlns:p14="http://schemas.microsoft.com/office/powerpoint/2010/main" val="8332491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CD1E1FFA-A4B9-4CFD-A4AD-3711397280F7}"/>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Smoothie Club: ogive check</a:t>
            </a:r>
          </a:p>
        </p:txBody>
      </p:sp>
      <p:sp>
        <p:nvSpPr>
          <p:cNvPr id="2" name="Lead">
            <a:extLst>
              <a:ext uri="{FF2B5EF4-FFF2-40B4-BE49-F238E27FC236}">
                <a16:creationId xmlns:a16="http://schemas.microsoft.com/office/drawing/2014/main" id="{F6E680DB-ED37-4154-8A0A-E29788250C32}"/>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Each table row gives a red point. We also start at (10, 0%).</a:t>
            </a:r>
          </a:p>
        </p:txBody>
      </p:sp>
      <p:sp>
        <p:nvSpPr>
          <p:cNvPr id="3" name="Text">
            <a:extLst>
              <a:ext uri="{FF2B5EF4-FFF2-40B4-BE49-F238E27FC236}">
                <a16:creationId xmlns:a16="http://schemas.microsoft.com/office/drawing/2014/main" id="{B59F1547-0DEA-4F6F-AB97-CD8B4A44D1DA}"/>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B4</a:t>
            </a:r>
          </a:p>
        </p:txBody>
      </p:sp>
      <p:sp>
        <p:nvSpPr>
          <p:cNvPr id="4" name="Footer">
            <a:extLst>
              <a:ext uri="{FF2B5EF4-FFF2-40B4-BE49-F238E27FC236}">
                <a16:creationId xmlns:a16="http://schemas.microsoft.com/office/drawing/2014/main" id="{D21B540F-CC17-4309-A8CC-98E0C552B5AC}"/>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Below 40 sign-ups: 90% of sessions. In counts, 0.90 × 20 = 18 sessions.</a:t>
            </a:r>
          </a:p>
        </p:txBody>
      </p:sp>
      <p:graphicFrame>
        <p:nvGraphicFramePr>
          <p:cNvPr id="14" name="Table 13"/>
          <p:cNvGraphicFramePr/>
          <p:nvPr/>
        </p:nvGraphicFramePr>
        <p:xfrm>
          <a:off x="619125" y="2857500"/>
          <a:ext cx="4238625" cy="2524125"/>
        </p:xfrm>
        <a:graphic>
          <a:graphicData uri="http://schemas.openxmlformats.org/drawingml/2006/table">
            <a:tbl>
              <a:tblPr/>
              <a:tblGrid>
                <a:gridCol w="2143125">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tblGrid>
              <a:tr h="741807">
                <a:tc>
                  <a:txBody>
                    <a:bodyPr/>
                    <a:lstStyle/>
                    <a:p>
                      <a:pPr algn="l">
                        <a:buNone/>
                      </a:pPr>
                      <a:r>
                        <a:rPr sz="2025" b="1">
                          <a:solidFill>
                            <a:srgbClr val="FFFFFF"/>
                          </a:solidFill>
                          <a:latin typeface="Aptos"/>
                          <a:ea typeface="Aptos"/>
                          <a:cs typeface="Aptos"/>
                        </a:rPr>
                        <a:t>Upper boundary</a:t>
                      </a:r>
                    </a:p>
                    <a:p>
                      <a:pPr algn="l">
                        <a:buNone/>
                      </a:pPr>
                      <a:r>
                        <a:rPr sz="2025" b="1">
                          <a:solidFill>
                            <a:srgbClr val="FFFFFF"/>
                          </a:solidFill>
                          <a:latin typeface="Aptos"/>
                          <a:ea typeface="Aptos"/>
                          <a:cs typeface="Aptos"/>
                        </a:rPr>
                        <a:t>(X)</a:t>
                      </a:r>
                    </a:p>
                  </a:txBody>
                  <a:tcPr anchor="ctr">
                    <a:solidFill>
                      <a:srgbClr val="D6171D"/>
                    </a:solidFill>
                  </a:tcPr>
                </a:tc>
                <a:tc>
                  <a:txBody>
                    <a:bodyPr/>
                    <a:lstStyle/>
                    <a:p>
                      <a:pPr algn="ctr">
                        <a:buNone/>
                      </a:pPr>
                      <a:r>
                        <a:rPr sz="2025" b="1">
                          <a:solidFill>
                            <a:srgbClr val="FFFFFF"/>
                          </a:solidFill>
                          <a:latin typeface="Aptos"/>
                          <a:ea typeface="Aptos"/>
                          <a:cs typeface="Aptos"/>
                        </a:rPr>
                        <a:t>Cumulative %</a:t>
                      </a:r>
                    </a:p>
                    <a:p>
                      <a:pPr algn="ctr">
                        <a:buNone/>
                      </a:pPr>
                      <a:r>
                        <a:rPr sz="2025" b="1">
                          <a:solidFill>
                            <a:srgbClr val="FFFFFF"/>
                          </a:solidFill>
                          <a:latin typeface="Aptos"/>
                          <a:ea typeface="Aptos"/>
                          <a:cs typeface="Aptos"/>
                        </a:rPr>
                        <a:t>(Y)</a:t>
                      </a:r>
                    </a:p>
                  </a:txBody>
                  <a:tcPr anchor="ctr">
                    <a:solidFill>
                      <a:srgbClr val="D6171D"/>
                    </a:solidFill>
                  </a:tcPr>
                </a:tc>
                <a:extLst>
                  <a:ext uri="{0D108BD9-81ED-4DB2-BD59-A6C34878D82A}">
                    <a16:rowId xmlns:a16="http://schemas.microsoft.com/office/drawing/2014/main" val="10000"/>
                  </a:ext>
                </a:extLst>
              </a:tr>
              <a:tr h="445580">
                <a:tc>
                  <a:txBody>
                    <a:bodyPr/>
                    <a:lstStyle/>
                    <a:p>
                      <a:pPr algn="l">
                        <a:buNone/>
                      </a:pPr>
                      <a:r>
                        <a:rPr sz="2025" b="0">
                          <a:solidFill>
                            <a:srgbClr val="111111"/>
                          </a:solidFill>
                          <a:latin typeface="Aptos"/>
                          <a:ea typeface="Aptos"/>
                          <a:cs typeface="Aptos"/>
                        </a:rPr>
                        <a:t>20</a:t>
                      </a:r>
                    </a:p>
                  </a:txBody>
                  <a:tcPr anchor="ctr">
                    <a:solidFill>
                      <a:srgbClr val="FFFFFF"/>
                    </a:solidFill>
                  </a:tcPr>
                </a:tc>
                <a:tc>
                  <a:txBody>
                    <a:bodyPr/>
                    <a:lstStyle/>
                    <a:p>
                      <a:pPr algn="ctr">
                        <a:buNone/>
                      </a:pPr>
                      <a:r>
                        <a:rPr sz="2025" b="0">
                          <a:solidFill>
                            <a:srgbClr val="111111"/>
                          </a:solidFill>
                          <a:latin typeface="Aptos"/>
                          <a:ea typeface="Aptos"/>
                          <a:cs typeface="Aptos"/>
                        </a:rPr>
                        <a:t>20%</a:t>
                      </a:r>
                    </a:p>
                  </a:txBody>
                  <a:tcPr anchor="ctr">
                    <a:solidFill>
                      <a:srgbClr val="FFFFFF"/>
                    </a:solidFill>
                  </a:tcPr>
                </a:tc>
                <a:extLst>
                  <a:ext uri="{0D108BD9-81ED-4DB2-BD59-A6C34878D82A}">
                    <a16:rowId xmlns:a16="http://schemas.microsoft.com/office/drawing/2014/main" val="10001"/>
                  </a:ext>
                </a:extLst>
              </a:tr>
              <a:tr h="445580">
                <a:tc>
                  <a:txBody>
                    <a:bodyPr/>
                    <a:lstStyle/>
                    <a:p>
                      <a:pPr algn="l">
                        <a:buNone/>
                      </a:pPr>
                      <a:r>
                        <a:rPr sz="2025" b="0">
                          <a:solidFill>
                            <a:srgbClr val="111111"/>
                          </a:solidFill>
                          <a:latin typeface="Aptos"/>
                          <a:ea typeface="Aptos"/>
                          <a:cs typeface="Aptos"/>
                        </a:rPr>
                        <a:t>30</a:t>
                      </a:r>
                    </a:p>
                  </a:txBody>
                  <a:tcPr anchor="ctr">
                    <a:solidFill>
                      <a:srgbClr val="EEF8FE"/>
                    </a:solidFill>
                  </a:tcPr>
                </a:tc>
                <a:tc>
                  <a:txBody>
                    <a:bodyPr/>
                    <a:lstStyle/>
                    <a:p>
                      <a:pPr algn="ctr">
                        <a:buNone/>
                      </a:pPr>
                      <a:r>
                        <a:rPr sz="2025" b="0">
                          <a:solidFill>
                            <a:srgbClr val="111111"/>
                          </a:solidFill>
                          <a:latin typeface="Aptos"/>
                          <a:ea typeface="Aptos"/>
                          <a:cs typeface="Aptos"/>
                        </a:rPr>
                        <a:t>60%</a:t>
                      </a:r>
                    </a:p>
                  </a:txBody>
                  <a:tcPr anchor="ctr">
                    <a:solidFill>
                      <a:srgbClr val="EEF8FE"/>
                    </a:solidFill>
                  </a:tcPr>
                </a:tc>
                <a:extLst>
                  <a:ext uri="{0D108BD9-81ED-4DB2-BD59-A6C34878D82A}">
                    <a16:rowId xmlns:a16="http://schemas.microsoft.com/office/drawing/2014/main" val="10002"/>
                  </a:ext>
                </a:extLst>
              </a:tr>
              <a:tr h="445580">
                <a:tc>
                  <a:txBody>
                    <a:bodyPr/>
                    <a:lstStyle/>
                    <a:p>
                      <a:pPr algn="l">
                        <a:buNone/>
                      </a:pPr>
                      <a:r>
                        <a:rPr sz="2025" b="0">
                          <a:solidFill>
                            <a:srgbClr val="111111"/>
                          </a:solidFill>
                          <a:latin typeface="Aptos"/>
                          <a:ea typeface="Aptos"/>
                          <a:cs typeface="Aptos"/>
                        </a:rPr>
                        <a:t>40</a:t>
                      </a:r>
                    </a:p>
                  </a:txBody>
                  <a:tcPr anchor="ctr">
                    <a:solidFill>
                      <a:srgbClr val="FFFFFF"/>
                    </a:solidFill>
                  </a:tcPr>
                </a:tc>
                <a:tc>
                  <a:txBody>
                    <a:bodyPr/>
                    <a:lstStyle/>
                    <a:p>
                      <a:pPr algn="ctr">
                        <a:buNone/>
                      </a:pPr>
                      <a:r>
                        <a:rPr sz="2025" b="0">
                          <a:solidFill>
                            <a:srgbClr val="111111"/>
                          </a:solidFill>
                          <a:latin typeface="Aptos"/>
                          <a:ea typeface="Aptos"/>
                          <a:cs typeface="Aptos"/>
                        </a:rPr>
                        <a:t>90%</a:t>
                      </a:r>
                    </a:p>
                  </a:txBody>
                  <a:tcPr anchor="ctr">
                    <a:solidFill>
                      <a:srgbClr val="FFFFFF"/>
                    </a:solidFill>
                  </a:tcPr>
                </a:tc>
                <a:extLst>
                  <a:ext uri="{0D108BD9-81ED-4DB2-BD59-A6C34878D82A}">
                    <a16:rowId xmlns:a16="http://schemas.microsoft.com/office/drawing/2014/main" val="10003"/>
                  </a:ext>
                </a:extLst>
              </a:tr>
              <a:tr h="445580">
                <a:tc>
                  <a:txBody>
                    <a:bodyPr/>
                    <a:lstStyle/>
                    <a:p>
                      <a:pPr algn="l">
                        <a:buNone/>
                      </a:pPr>
                      <a:r>
                        <a:rPr sz="2025" b="0">
                          <a:solidFill>
                            <a:srgbClr val="111111"/>
                          </a:solidFill>
                          <a:latin typeface="Aptos"/>
                          <a:ea typeface="Aptos"/>
                          <a:cs typeface="Aptos"/>
                        </a:rPr>
                        <a:t>50</a:t>
                      </a:r>
                    </a:p>
                  </a:txBody>
                  <a:tcPr anchor="ctr">
                    <a:solidFill>
                      <a:srgbClr val="EEF8FE"/>
                    </a:solidFill>
                  </a:tcPr>
                </a:tc>
                <a:tc>
                  <a:txBody>
                    <a:bodyPr/>
                    <a:lstStyle/>
                    <a:p>
                      <a:pPr algn="ctr">
                        <a:buNone/>
                      </a:pPr>
                      <a:r>
                        <a:rPr sz="2025" b="0">
                          <a:solidFill>
                            <a:srgbClr val="111111"/>
                          </a:solidFill>
                          <a:latin typeface="Aptos"/>
                          <a:ea typeface="Aptos"/>
                          <a:cs typeface="Aptos"/>
                        </a:rPr>
                        <a:t>100%</a:t>
                      </a:r>
                    </a:p>
                  </a:txBody>
                  <a:tcPr anchor="ctr">
                    <a:solidFill>
                      <a:srgbClr val="EEF8FE"/>
                    </a:solidFill>
                  </a:tcPr>
                </a:tc>
                <a:extLst>
                  <a:ext uri="{0D108BD9-81ED-4DB2-BD59-A6C34878D82A}">
                    <a16:rowId xmlns:a16="http://schemas.microsoft.com/office/drawing/2014/main" val="10004"/>
                  </a:ext>
                </a:extLst>
              </a:tr>
            </a:tbl>
          </a:graphicData>
        </a:graphic>
      </p:graphicFrame>
      <p:graphicFrame>
        <p:nvGraphicFramePr>
          <p:cNvPr id="15" name="Chart"/>
          <p:cNvGraphicFramePr/>
          <p:nvPr/>
        </p:nvGraphicFramePr>
        <p:xfrm>
          <a:off x="5048250" y="2762250"/>
          <a:ext cx="6524625" cy="29051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154301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6E3F709A-423A-4CAF-8EB4-5225AD6D3E80}"/>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estimate the Smoothie median</a:t>
            </a:r>
          </a:p>
        </p:txBody>
      </p:sp>
      <p:sp>
        <p:nvSpPr>
          <p:cNvPr id="2" name="Lead">
            <a:extLst>
              <a:ext uri="{FF2B5EF4-FFF2-40B4-BE49-F238E27FC236}">
                <a16:creationId xmlns:a16="http://schemas.microsoft.com/office/drawing/2014/main" id="{1951CB2C-6CE5-4187-9669-FDC10EC10F08}"/>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Find the sign-up value at the 50% level on your own ogive.</a:t>
            </a:r>
          </a:p>
        </p:txBody>
      </p:sp>
      <p:sp>
        <p:nvSpPr>
          <p:cNvPr id="3" name="Text">
            <a:extLst>
              <a:ext uri="{FF2B5EF4-FFF2-40B4-BE49-F238E27FC236}">
                <a16:creationId xmlns:a16="http://schemas.microsoft.com/office/drawing/2014/main" id="{02D6A840-AD95-4B59-9A8E-95903453FD58}"/>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B5</a:t>
            </a:r>
          </a:p>
        </p:txBody>
      </p:sp>
      <p:sp>
        <p:nvSpPr>
          <p:cNvPr id="4" name="Footer">
            <a:extLst>
              <a:ext uri="{FF2B5EF4-FFF2-40B4-BE49-F238E27FC236}">
                <a16:creationId xmlns:a16="http://schemas.microsoft.com/office/drawing/2014/main" id="{C8E970AD-20F5-45B5-9233-67A36D859E86}"/>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50% is the target on Y. Your final answer must be a sign-up value on X.</a:t>
            </a:r>
          </a:p>
        </p:txBody>
      </p:sp>
      <p:graphicFrame>
        <p:nvGraphicFramePr>
          <p:cNvPr id="13" name="Table 12"/>
          <p:cNvGraphicFramePr/>
          <p:nvPr/>
        </p:nvGraphicFramePr>
        <p:xfrm>
          <a:off x="619125" y="3000375"/>
          <a:ext cx="6191250" cy="1571625"/>
        </p:xfrm>
        <a:graphic>
          <a:graphicData uri="http://schemas.openxmlformats.org/drawingml/2006/table">
            <a:tbl>
              <a:tblPr/>
              <a:tblGrid>
                <a:gridCol w="3190875">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tblGrid>
              <a:tr h="462915">
                <a:tc>
                  <a:txBody>
                    <a:bodyPr/>
                    <a:lstStyle/>
                    <a:p>
                      <a:pPr algn="l">
                        <a:buNone/>
                      </a:pPr>
                      <a:r>
                        <a:rPr sz="2250" b="1">
                          <a:solidFill>
                            <a:srgbClr val="FFFFFF"/>
                          </a:solidFill>
                          <a:latin typeface="Aptos"/>
                          <a:ea typeface="Aptos"/>
                          <a:cs typeface="Aptos"/>
                        </a:rPr>
                        <a:t>Sign-up boundary (X)</a:t>
                      </a:r>
                    </a:p>
                  </a:txBody>
                  <a:tcPr anchor="ctr">
                    <a:solidFill>
                      <a:srgbClr val="D6171D"/>
                    </a:solidFill>
                  </a:tcPr>
                </a:tc>
                <a:tc>
                  <a:txBody>
                    <a:bodyPr/>
                    <a:lstStyle/>
                    <a:p>
                      <a:pPr algn="ctr">
                        <a:buNone/>
                      </a:pPr>
                      <a:r>
                        <a:rPr sz="2250" b="1">
                          <a:solidFill>
                            <a:srgbClr val="FFFFFF"/>
                          </a:solidFill>
                          <a:latin typeface="Aptos"/>
                          <a:ea typeface="Aptos"/>
                          <a:cs typeface="Aptos"/>
                        </a:rPr>
                        <a:t>Cumulative % (Y)</a:t>
                      </a:r>
                    </a:p>
                  </a:txBody>
                  <a:tcPr anchor="ctr">
                    <a:solidFill>
                      <a:srgbClr val="D6171D"/>
                    </a:solidFill>
                  </a:tcPr>
                </a:tc>
                <a:extLst>
                  <a:ext uri="{0D108BD9-81ED-4DB2-BD59-A6C34878D82A}">
                    <a16:rowId xmlns:a16="http://schemas.microsoft.com/office/drawing/2014/main" val="10000"/>
                  </a:ext>
                </a:extLst>
              </a:tr>
              <a:tr h="554355">
                <a:tc>
                  <a:txBody>
                    <a:bodyPr/>
                    <a:lstStyle/>
                    <a:p>
                      <a:pPr algn="l">
                        <a:buNone/>
                      </a:pPr>
                      <a:r>
                        <a:rPr sz="2250" b="0">
                          <a:solidFill>
                            <a:srgbClr val="111111"/>
                          </a:solidFill>
                          <a:latin typeface="Aptos"/>
                          <a:ea typeface="Aptos"/>
                          <a:cs typeface="Aptos"/>
                        </a:rPr>
                        <a:t>20</a:t>
                      </a:r>
                    </a:p>
                  </a:txBody>
                  <a:tcPr anchor="ctr">
                    <a:solidFill>
                      <a:srgbClr val="FFFFFF"/>
                    </a:solidFill>
                  </a:tcPr>
                </a:tc>
                <a:tc>
                  <a:txBody>
                    <a:bodyPr/>
                    <a:lstStyle/>
                    <a:p>
                      <a:pPr algn="ctr">
                        <a:buNone/>
                      </a:pPr>
                      <a:r>
                        <a:rPr sz="2250" b="0">
                          <a:solidFill>
                            <a:srgbClr val="111111"/>
                          </a:solidFill>
                          <a:latin typeface="Aptos"/>
                          <a:ea typeface="Aptos"/>
                          <a:cs typeface="Aptos"/>
                        </a:rPr>
                        <a:t>20%</a:t>
                      </a:r>
                    </a:p>
                  </a:txBody>
                  <a:tcPr anchor="ctr">
                    <a:solidFill>
                      <a:srgbClr val="FFFFFF"/>
                    </a:solidFill>
                  </a:tcPr>
                </a:tc>
                <a:extLst>
                  <a:ext uri="{0D108BD9-81ED-4DB2-BD59-A6C34878D82A}">
                    <a16:rowId xmlns:a16="http://schemas.microsoft.com/office/drawing/2014/main" val="10001"/>
                  </a:ext>
                </a:extLst>
              </a:tr>
              <a:tr h="554355">
                <a:tc>
                  <a:txBody>
                    <a:bodyPr/>
                    <a:lstStyle/>
                    <a:p>
                      <a:pPr algn="l">
                        <a:buNone/>
                      </a:pPr>
                      <a:r>
                        <a:rPr sz="2250" b="0">
                          <a:solidFill>
                            <a:srgbClr val="111111"/>
                          </a:solidFill>
                          <a:latin typeface="Aptos"/>
                          <a:ea typeface="Aptos"/>
                          <a:cs typeface="Aptos"/>
                        </a:rPr>
                        <a:t>30</a:t>
                      </a:r>
                    </a:p>
                  </a:txBody>
                  <a:tcPr anchor="ctr">
                    <a:solidFill>
                      <a:srgbClr val="EEF8FE"/>
                    </a:solidFill>
                  </a:tcPr>
                </a:tc>
                <a:tc>
                  <a:txBody>
                    <a:bodyPr/>
                    <a:lstStyle/>
                    <a:p>
                      <a:pPr algn="ctr">
                        <a:buNone/>
                      </a:pPr>
                      <a:r>
                        <a:rPr sz="2250" b="0">
                          <a:solidFill>
                            <a:srgbClr val="111111"/>
                          </a:solidFill>
                          <a:latin typeface="Aptos"/>
                          <a:ea typeface="Aptos"/>
                          <a:cs typeface="Aptos"/>
                        </a:rPr>
                        <a:t>60%</a:t>
                      </a:r>
                    </a:p>
                  </a:txBody>
                  <a:tcPr anchor="ctr">
                    <a:solidFill>
                      <a:srgbClr val="EEF8FE"/>
                    </a:solidFill>
                  </a:tcPr>
                </a:tc>
                <a:extLst>
                  <a:ext uri="{0D108BD9-81ED-4DB2-BD59-A6C34878D82A}">
                    <a16:rowId xmlns:a16="http://schemas.microsoft.com/office/drawing/2014/main" val="10002"/>
                  </a:ext>
                </a:extLst>
              </a:tr>
            </a:tbl>
          </a:graphicData>
        </a:graphic>
      </p:graphicFrame>
      <p:sp>
        <p:nvSpPr>
          <p:cNvPr id="6" name="Text">
            <a:extLst>
              <a:ext uri="{FF2B5EF4-FFF2-40B4-BE49-F238E27FC236}">
                <a16:creationId xmlns:a16="http://schemas.microsoft.com/office/drawing/2014/main" id="{DE753561-9E65-4F5A-8E76-7F961BA2A7A8}"/>
              </a:ext>
            </a:extLst>
          </p:cNvPr>
          <p:cNvSpPr>
            <a:spLocks noGrp="1"/>
          </p:cNvSpPr>
          <p:nvPr/>
        </p:nvSpPr>
        <p:spPr>
          <a:xfrm>
            <a:off x="7381875" y="2905125"/>
            <a:ext cx="4191000" cy="2571750"/>
          </a:xfrm>
          <a:prstGeom prst="rect">
            <a:avLst/>
          </a:prstGeom>
          <a:noFill/>
          <a:ln w="0">
            <a:noFill/>
          </a:ln>
        </p:spPr>
        <p:txBody>
          <a:bodyPr wrap="square" lIns="0" tIns="0" rIns="0" bIns="0" anchor="t">
            <a:noAutofit/>
          </a:bodyPr>
          <a:lstStyle/>
          <a:p>
            <a:pPr algn="l">
              <a:buNone/>
              <a:defRPr sz="2175" b="0">
                <a:solidFill>
                  <a:srgbClr val="111111"/>
                </a:solidFill>
                <a:latin typeface="Aptos"/>
                <a:ea typeface="Aptos"/>
                <a:cs typeface="Aptos"/>
              </a:defRPr>
            </a:pPr>
            <a:r>
              <a:rPr sz="2175" b="0">
                <a:solidFill>
                  <a:srgbClr val="111111"/>
                </a:solidFill>
                <a:latin typeface="Aptos"/>
                <a:ea typeface="Aptos"/>
                <a:cs typeface="Aptos"/>
              </a:rPr>
              <a:t>1. Which interval contains 50%?</a:t>
            </a:r>
          </a:p>
          <a:p>
            <a:pPr algn="l">
              <a:buNone/>
              <a:defRPr sz="2175" b="0">
                <a:solidFill>
                  <a:srgbClr val="111111"/>
                </a:solidFill>
                <a:latin typeface="Aptos"/>
                <a:ea typeface="Aptos"/>
                <a:cs typeface="Aptos"/>
              </a:defRPr>
            </a:pPr>
            <a:r>
              <a:rPr sz="2175" b="0">
                <a:solidFill>
                  <a:srgbClr val="111111"/>
                </a:solidFill>
                <a:latin typeface="Aptos"/>
                <a:ea typeface="Aptos"/>
                <a:cs typeface="Aptos"/>
              </a:rPr>
              <a:t>2. How much rise is needed?</a:t>
            </a:r>
          </a:p>
          <a:p>
            <a:pPr algn="l">
              <a:buNone/>
              <a:defRPr sz="2175" b="0">
                <a:solidFill>
                  <a:srgbClr val="111111"/>
                </a:solidFill>
                <a:latin typeface="Aptos"/>
                <a:ea typeface="Aptos"/>
                <a:cs typeface="Aptos"/>
              </a:defRPr>
            </a:pPr>
            <a:r>
              <a:rPr sz="2175" b="0">
                <a:solidFill>
                  <a:srgbClr val="111111"/>
                </a:solidFill>
                <a:latin typeface="Aptos"/>
                <a:ea typeface="Aptos"/>
                <a:cs typeface="Aptos"/>
              </a:rPr>
              <a:t>3. What fraction of the full rise?</a:t>
            </a:r>
          </a:p>
          <a:p>
            <a:pPr algn="l">
              <a:buNone/>
              <a:defRPr sz="2175" b="0">
                <a:solidFill>
                  <a:srgbClr val="111111"/>
                </a:solidFill>
                <a:latin typeface="Aptos"/>
                <a:ea typeface="Aptos"/>
                <a:cs typeface="Aptos"/>
              </a:defRPr>
            </a:pPr>
            <a:r>
              <a:rPr sz="2175" b="0">
                <a:solidFill>
                  <a:srgbClr val="111111"/>
                </a:solidFill>
                <a:latin typeface="Aptos"/>
                <a:ea typeface="Aptos"/>
                <a:cs typeface="Aptos"/>
              </a:rPr>
              <a:t>4. Move that fraction across</a:t>
            </a:r>
          </a:p>
          <a:p>
            <a:pPr algn="l">
              <a:buNone/>
              <a:defRPr sz="2175" b="0">
                <a:solidFill>
                  <a:srgbClr val="111111"/>
                </a:solidFill>
                <a:latin typeface="Aptos"/>
                <a:ea typeface="Aptos"/>
                <a:cs typeface="Aptos"/>
              </a:defRPr>
            </a:pPr>
            <a:r>
              <a:rPr sz="2175" b="0">
                <a:solidFill>
                  <a:srgbClr val="111111"/>
                </a:solidFill>
                <a:latin typeface="Aptos"/>
                <a:ea typeface="Aptos"/>
                <a:cs typeface="Aptos"/>
              </a:rPr>
              <a:t>    the sign-up interval.</a:t>
            </a:r>
          </a:p>
        </p:txBody>
      </p:sp>
    </p:spTree>
    <p:extLst>
      <p:ext uri="{BB962C8B-B14F-4D97-AF65-F5344CB8AC3E}">
        <p14:creationId xmlns:p14="http://schemas.microsoft.com/office/powerpoint/2010/main" val="1055812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lide title">
            <a:extLst>
              <a:ext uri="{FF2B5EF4-FFF2-40B4-BE49-F238E27FC236}">
                <a16:creationId xmlns:a16="http://schemas.microsoft.com/office/drawing/2014/main" id="{F1C186B6-5D2E-49A9-BA25-C7A4B8DD1E75}"/>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Smoothie median: first find the fraction</a:t>
            </a:r>
          </a:p>
        </p:txBody>
      </p:sp>
      <p:sp>
        <p:nvSpPr>
          <p:cNvPr id="2" name="Lead">
            <a:extLst>
              <a:ext uri="{FF2B5EF4-FFF2-40B4-BE49-F238E27FC236}">
                <a16:creationId xmlns:a16="http://schemas.microsoft.com/office/drawing/2014/main" id="{9F089FCC-BF15-4493-89C5-7E5F4F266416}"/>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The median is between 20 and 30 sign-ups because 50% lies between 20% and 60%.</a:t>
            </a:r>
          </a:p>
        </p:txBody>
      </p:sp>
      <p:sp>
        <p:nvSpPr>
          <p:cNvPr id="3" name="Text">
            <a:extLst>
              <a:ext uri="{FF2B5EF4-FFF2-40B4-BE49-F238E27FC236}">
                <a16:creationId xmlns:a16="http://schemas.microsoft.com/office/drawing/2014/main" id="{4234783F-07F1-4370-B154-006336F65580}"/>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B5</a:t>
            </a:r>
          </a:p>
        </p:txBody>
      </p:sp>
      <p:sp>
        <p:nvSpPr>
          <p:cNvPr id="4" name="Footer">
            <a:extLst>
              <a:ext uri="{FF2B5EF4-FFF2-40B4-BE49-F238E27FC236}">
                <a16:creationId xmlns:a16="http://schemas.microsoft.com/office/drawing/2014/main" id="{A6FC9CA2-4760-48B6-ACD4-A3F0F5D440DC}"/>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All three percentages come from the Smoothie table and the 50% median target.</a:t>
            </a:r>
          </a:p>
        </p:txBody>
      </p:sp>
      <p:graphicFrame>
        <p:nvGraphicFramePr>
          <p:cNvPr id="18" name="Table 17"/>
          <p:cNvGraphicFramePr/>
          <p:nvPr/>
        </p:nvGraphicFramePr>
        <p:xfrm>
          <a:off x="619125" y="2943225"/>
          <a:ext cx="10953750" cy="1095375"/>
        </p:xfrm>
        <a:graphic>
          <a:graphicData uri="http://schemas.openxmlformats.org/drawingml/2006/table">
            <a:tbl>
              <a:tblPr/>
              <a:tblGrid>
                <a:gridCol w="3667125">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667125">
                  <a:extLst>
                    <a:ext uri="{9D8B030D-6E8A-4147-A177-3AD203B41FA5}">
                      <a16:colId xmlns:a16="http://schemas.microsoft.com/office/drawing/2014/main" val="20002"/>
                    </a:ext>
                  </a:extLst>
                </a:gridCol>
              </a:tblGrid>
              <a:tr h="474536">
                <a:tc>
                  <a:txBody>
                    <a:bodyPr/>
                    <a:lstStyle/>
                    <a:p>
                      <a:pPr algn="l">
                        <a:buNone/>
                      </a:pPr>
                      <a:r>
                        <a:rPr sz="2325" b="1">
                          <a:solidFill>
                            <a:srgbClr val="FFFFFF"/>
                          </a:solidFill>
                          <a:latin typeface="Aptos"/>
                          <a:ea typeface="Aptos"/>
                          <a:cs typeface="Aptos"/>
                        </a:rPr>
                        <a:t>At 20 sign-ups</a:t>
                      </a:r>
                    </a:p>
                  </a:txBody>
                  <a:tcPr anchor="ctr">
                    <a:solidFill>
                      <a:srgbClr val="D6171D"/>
                    </a:solidFill>
                  </a:tcPr>
                </a:tc>
                <a:tc>
                  <a:txBody>
                    <a:bodyPr/>
                    <a:lstStyle/>
                    <a:p>
                      <a:pPr algn="ctr">
                        <a:buNone/>
                      </a:pPr>
                      <a:r>
                        <a:rPr sz="2325" b="1">
                          <a:solidFill>
                            <a:srgbClr val="FFFFFF"/>
                          </a:solidFill>
                          <a:latin typeface="Aptos"/>
                          <a:ea typeface="Aptos"/>
                          <a:cs typeface="Aptos"/>
                        </a:rPr>
                        <a:t>Median target</a:t>
                      </a:r>
                    </a:p>
                  </a:txBody>
                  <a:tcPr anchor="ctr">
                    <a:solidFill>
                      <a:srgbClr val="D6171D"/>
                    </a:solidFill>
                  </a:tcPr>
                </a:tc>
                <a:tc>
                  <a:txBody>
                    <a:bodyPr/>
                    <a:lstStyle/>
                    <a:p>
                      <a:pPr algn="ctr">
                        <a:buNone/>
                      </a:pPr>
                      <a:r>
                        <a:rPr sz="2325" b="1">
                          <a:solidFill>
                            <a:srgbClr val="FFFFFF"/>
                          </a:solidFill>
                          <a:latin typeface="Aptos"/>
                          <a:ea typeface="Aptos"/>
                          <a:cs typeface="Aptos"/>
                        </a:rPr>
                        <a:t>At 30 sign-ups</a:t>
                      </a:r>
                    </a:p>
                  </a:txBody>
                  <a:tcPr anchor="ctr">
                    <a:solidFill>
                      <a:srgbClr val="D6171D"/>
                    </a:solidFill>
                  </a:tcPr>
                </a:tc>
                <a:extLst>
                  <a:ext uri="{0D108BD9-81ED-4DB2-BD59-A6C34878D82A}">
                    <a16:rowId xmlns:a16="http://schemas.microsoft.com/office/drawing/2014/main" val="10000"/>
                  </a:ext>
                </a:extLst>
              </a:tr>
              <a:tr h="620840">
                <a:tc>
                  <a:txBody>
                    <a:bodyPr/>
                    <a:lstStyle/>
                    <a:p>
                      <a:pPr algn="l">
                        <a:buNone/>
                      </a:pPr>
                      <a:r>
                        <a:rPr sz="2325" b="0">
                          <a:solidFill>
                            <a:srgbClr val="111111"/>
                          </a:solidFill>
                          <a:latin typeface="Aptos"/>
                          <a:ea typeface="Aptos"/>
                          <a:cs typeface="Aptos"/>
                        </a:rPr>
                        <a:t>20%</a:t>
                      </a:r>
                    </a:p>
                  </a:txBody>
                  <a:tcPr anchor="ctr">
                    <a:solidFill>
                      <a:srgbClr val="FFFFFF"/>
                    </a:solidFill>
                  </a:tcPr>
                </a:tc>
                <a:tc>
                  <a:txBody>
                    <a:bodyPr/>
                    <a:lstStyle/>
                    <a:p>
                      <a:pPr algn="ctr">
                        <a:buNone/>
                      </a:pPr>
                      <a:r>
                        <a:rPr sz="2325" b="0">
                          <a:solidFill>
                            <a:srgbClr val="111111"/>
                          </a:solidFill>
                          <a:latin typeface="Aptos"/>
                          <a:ea typeface="Aptos"/>
                          <a:cs typeface="Aptos"/>
                        </a:rPr>
                        <a:t>50%</a:t>
                      </a:r>
                    </a:p>
                  </a:txBody>
                  <a:tcPr anchor="ctr">
                    <a:solidFill>
                      <a:srgbClr val="FFFFFF"/>
                    </a:solidFill>
                  </a:tcPr>
                </a:tc>
                <a:tc>
                  <a:txBody>
                    <a:bodyPr/>
                    <a:lstStyle/>
                    <a:p>
                      <a:pPr algn="ctr">
                        <a:buNone/>
                      </a:pPr>
                      <a:r>
                        <a:rPr sz="2325" b="0">
                          <a:solidFill>
                            <a:srgbClr val="111111"/>
                          </a:solidFill>
                          <a:latin typeface="Aptos"/>
                          <a:ea typeface="Aptos"/>
                          <a:cs typeface="Aptos"/>
                        </a:rPr>
                        <a:t>60%</a:t>
                      </a:r>
                    </a:p>
                  </a:txBody>
                  <a:tcPr anchor="ctr">
                    <a:solidFill>
                      <a:srgbClr val="FFFFFF"/>
                    </a:solidFill>
                  </a:tcPr>
                </a:tc>
                <a:extLst>
                  <a:ext uri="{0D108BD9-81ED-4DB2-BD59-A6C34878D82A}">
                    <a16:rowId xmlns:a16="http://schemas.microsoft.com/office/drawing/2014/main" val="10001"/>
                  </a:ext>
                </a:extLst>
              </a:tr>
            </a:tbl>
          </a:graphicData>
        </a:graphic>
      </p:graphicFrame>
      <p:sp>
        <p:nvSpPr>
          <p:cNvPr id="6" name="Text">
            <a:extLst>
              <a:ext uri="{FF2B5EF4-FFF2-40B4-BE49-F238E27FC236}">
                <a16:creationId xmlns:a16="http://schemas.microsoft.com/office/drawing/2014/main" id="{0001FB55-09C1-4C18-A3BB-CA5EBE5E84DD}"/>
              </a:ext>
            </a:extLst>
          </p:cNvPr>
          <p:cNvSpPr>
            <a:spLocks noGrp="1"/>
          </p:cNvSpPr>
          <p:nvPr/>
        </p:nvSpPr>
        <p:spPr>
          <a:xfrm>
            <a:off x="619125" y="4286250"/>
            <a:ext cx="5429250" cy="476250"/>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Needed rise: 50 − 20 = 30</a:t>
            </a:r>
          </a:p>
        </p:txBody>
      </p:sp>
      <p:sp>
        <p:nvSpPr>
          <p:cNvPr id="7" name="Text">
            <a:extLst>
              <a:ext uri="{FF2B5EF4-FFF2-40B4-BE49-F238E27FC236}">
                <a16:creationId xmlns:a16="http://schemas.microsoft.com/office/drawing/2014/main" id="{B79EB46B-0A34-4EE2-887D-333698930D92}"/>
              </a:ext>
            </a:extLst>
          </p:cNvPr>
          <p:cNvSpPr>
            <a:spLocks noGrp="1"/>
          </p:cNvSpPr>
          <p:nvPr/>
        </p:nvSpPr>
        <p:spPr>
          <a:xfrm>
            <a:off x="619125" y="4924425"/>
            <a:ext cx="5429250" cy="476250"/>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Full rise: 60 − 20 = 40</a:t>
            </a:r>
          </a:p>
        </p:txBody>
      </p:sp>
      <p:sp>
        <p:nvSpPr>
          <p:cNvPr id="8" name="Text">
            <a:extLst>
              <a:ext uri="{FF2B5EF4-FFF2-40B4-BE49-F238E27FC236}">
                <a16:creationId xmlns:a16="http://schemas.microsoft.com/office/drawing/2014/main" id="{91C4CA2A-B994-484A-8DEB-E6AA4DB64974}"/>
              </a:ext>
            </a:extLst>
          </p:cNvPr>
          <p:cNvSpPr>
            <a:spLocks noGrp="1"/>
          </p:cNvSpPr>
          <p:nvPr/>
        </p:nvSpPr>
        <p:spPr>
          <a:xfrm>
            <a:off x="7000875" y="4267200"/>
            <a:ext cx="1238250" cy="438150"/>
          </a:xfrm>
          <a:prstGeom prst="rect">
            <a:avLst/>
          </a:prstGeom>
          <a:noFill/>
          <a:ln w="0">
            <a:noFill/>
          </a:ln>
        </p:spPr>
        <p:txBody>
          <a:bodyPr wrap="square" lIns="0" tIns="0" rIns="0" bIns="0" anchor="t">
            <a:noAutofit/>
          </a:bodyPr>
          <a:lstStyle/>
          <a:p>
            <a:pPr algn="ctr">
              <a:buNone/>
              <a:defRPr sz="2700" b="0">
                <a:solidFill>
                  <a:srgbClr val="111111"/>
                </a:solidFill>
                <a:latin typeface="Aptos"/>
                <a:ea typeface="Aptos"/>
                <a:cs typeface="Aptos"/>
              </a:defRPr>
            </a:pPr>
            <a:r>
              <a:rPr sz="2700" b="0">
                <a:solidFill>
                  <a:srgbClr val="111111"/>
                </a:solidFill>
                <a:latin typeface="Aptos"/>
                <a:ea typeface="Aptos"/>
                <a:cs typeface="Aptos"/>
              </a:rPr>
              <a:t>30</a:t>
            </a:r>
          </a:p>
        </p:txBody>
      </p:sp>
      <p:sp>
        <p:nvSpPr>
          <p:cNvPr id="9" name="Diagram line">
            <a:extLst>
              <a:ext uri="{FF2B5EF4-FFF2-40B4-BE49-F238E27FC236}">
                <a16:creationId xmlns:a16="http://schemas.microsoft.com/office/drawing/2014/main" id="{56D91C56-5F4A-42BA-80F6-3945AEFC8287}"/>
              </a:ext>
            </a:extLst>
          </p:cNvPr>
          <p:cNvSpPr>
            <a:spLocks noGrp="1"/>
          </p:cNvSpPr>
          <p:nvPr/>
        </p:nvSpPr>
        <p:spPr>
          <a:xfrm>
            <a:off x="7000875" y="4705350"/>
            <a:ext cx="1238250" cy="9525"/>
          </a:xfrm>
          <a:custGeom>
            <a:avLst/>
            <a:gdLst/>
            <a:ahLst/>
            <a:cxnLst/>
            <a:rect l="0" t="0" r="0" b="0"/>
            <a:pathLst>
              <a:path w="1238250" h="9525">
                <a:moveTo>
                  <a:pt x="0" y="0"/>
                </a:moveTo>
                <a:lnTo>
                  <a:pt x="1238250" y="0"/>
                </a:lnTo>
              </a:path>
            </a:pathLst>
          </a:custGeom>
          <a:noFill/>
          <a:ln w="19050">
            <a:solidFill>
              <a:srgbClr val="111111"/>
            </a:solidFill>
          </a:ln>
        </p:spPr>
        <p:txBody>
          <a:bodyPr/>
          <a:lstStyle/>
          <a:p>
            <a:endParaRPr lang="en-US"/>
          </a:p>
        </p:txBody>
      </p:sp>
      <p:sp>
        <p:nvSpPr>
          <p:cNvPr id="10" name="Text">
            <a:extLst>
              <a:ext uri="{FF2B5EF4-FFF2-40B4-BE49-F238E27FC236}">
                <a16:creationId xmlns:a16="http://schemas.microsoft.com/office/drawing/2014/main" id="{7DA5A7BF-80E6-422A-83B4-821347E9C798}"/>
              </a:ext>
            </a:extLst>
          </p:cNvPr>
          <p:cNvSpPr>
            <a:spLocks noGrp="1"/>
          </p:cNvSpPr>
          <p:nvPr/>
        </p:nvSpPr>
        <p:spPr>
          <a:xfrm>
            <a:off x="7000875" y="4772025"/>
            <a:ext cx="1238250" cy="438150"/>
          </a:xfrm>
          <a:prstGeom prst="rect">
            <a:avLst/>
          </a:prstGeom>
          <a:noFill/>
          <a:ln w="0">
            <a:noFill/>
          </a:ln>
        </p:spPr>
        <p:txBody>
          <a:bodyPr wrap="square" lIns="0" tIns="0" rIns="0" bIns="0" anchor="t">
            <a:noAutofit/>
          </a:bodyPr>
          <a:lstStyle/>
          <a:p>
            <a:pPr algn="ctr">
              <a:buNone/>
              <a:defRPr sz="2700" b="0">
                <a:solidFill>
                  <a:srgbClr val="111111"/>
                </a:solidFill>
                <a:latin typeface="Aptos"/>
                <a:ea typeface="Aptos"/>
                <a:cs typeface="Aptos"/>
              </a:defRPr>
            </a:pPr>
            <a:r>
              <a:rPr sz="2700" b="0">
                <a:solidFill>
                  <a:srgbClr val="111111"/>
                </a:solidFill>
                <a:latin typeface="Aptos"/>
                <a:ea typeface="Aptos"/>
                <a:cs typeface="Aptos"/>
              </a:rPr>
              <a:t>40</a:t>
            </a:r>
          </a:p>
        </p:txBody>
      </p:sp>
      <p:sp>
        <p:nvSpPr>
          <p:cNvPr id="11" name="Text">
            <a:extLst>
              <a:ext uri="{FF2B5EF4-FFF2-40B4-BE49-F238E27FC236}">
                <a16:creationId xmlns:a16="http://schemas.microsoft.com/office/drawing/2014/main" id="{08083032-001D-48E0-8564-7387E8547B40}"/>
              </a:ext>
            </a:extLst>
          </p:cNvPr>
          <p:cNvSpPr>
            <a:spLocks noGrp="1"/>
          </p:cNvSpPr>
          <p:nvPr/>
        </p:nvSpPr>
        <p:spPr>
          <a:xfrm>
            <a:off x="8524875" y="4552950"/>
            <a:ext cx="3000375" cy="619125"/>
          </a:xfrm>
          <a:prstGeom prst="rect">
            <a:avLst/>
          </a:prstGeom>
          <a:noFill/>
          <a:ln w="0">
            <a:noFill/>
          </a:ln>
        </p:spPr>
        <p:txBody>
          <a:bodyPr wrap="square" lIns="0" tIns="0" rIns="0" bIns="0" anchor="t">
            <a:noAutofit/>
          </a:bodyPr>
          <a:lstStyle/>
          <a:p>
            <a:pPr algn="l">
              <a:buNone/>
              <a:defRPr sz="2475" b="1">
                <a:solidFill>
                  <a:srgbClr val="111111"/>
                </a:solidFill>
                <a:latin typeface="Aptos"/>
                <a:ea typeface="Aptos"/>
                <a:cs typeface="Aptos"/>
              </a:defRPr>
            </a:pPr>
            <a:r>
              <a:rPr sz="2475" b="1">
                <a:solidFill>
                  <a:srgbClr val="111111"/>
                </a:solidFill>
                <a:latin typeface="Aptos"/>
                <a:ea typeface="Aptos"/>
                <a:cs typeface="Aptos"/>
              </a:rPr>
              <a:t>= 0.75 of the rise</a:t>
            </a:r>
          </a:p>
        </p:txBody>
      </p:sp>
    </p:spTree>
    <p:extLst>
      <p:ext uri="{BB962C8B-B14F-4D97-AF65-F5344CB8AC3E}">
        <p14:creationId xmlns:p14="http://schemas.microsoft.com/office/powerpoint/2010/main" val="7264605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572060FE-3252-41C9-ABD5-C01FE71B46D0}"/>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Smoothie median: then find the value</a:t>
            </a:r>
          </a:p>
        </p:txBody>
      </p:sp>
      <p:sp>
        <p:nvSpPr>
          <p:cNvPr id="2" name="Lead">
            <a:extLst>
              <a:ext uri="{FF2B5EF4-FFF2-40B4-BE49-F238E27FC236}">
                <a16:creationId xmlns:a16="http://schemas.microsoft.com/office/drawing/2014/main" id="{EA4DA30C-138A-45B6-857F-D163472E03B9}"/>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Move three quarters of the way from 20 to 30 sign-ups.</a:t>
            </a:r>
          </a:p>
        </p:txBody>
      </p:sp>
      <p:sp>
        <p:nvSpPr>
          <p:cNvPr id="3" name="Text">
            <a:extLst>
              <a:ext uri="{FF2B5EF4-FFF2-40B4-BE49-F238E27FC236}">
                <a16:creationId xmlns:a16="http://schemas.microsoft.com/office/drawing/2014/main" id="{E6E84636-A5E6-494B-ACDF-52D33308C100}"/>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B5</a:t>
            </a:r>
          </a:p>
        </p:txBody>
      </p:sp>
      <p:sp>
        <p:nvSpPr>
          <p:cNvPr id="4" name="Footer">
            <a:extLst>
              <a:ext uri="{FF2B5EF4-FFF2-40B4-BE49-F238E27FC236}">
                <a16:creationId xmlns:a16="http://schemas.microsoft.com/office/drawing/2014/main" id="{B5784087-6E58-4D6E-A2BA-FF652D352F6C}"/>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Estimated median ≈ 27.5 sign-ups per session. The straight line assumes an even spread within the class.</a:t>
            </a:r>
          </a:p>
        </p:txBody>
      </p:sp>
      <p:sp>
        <p:nvSpPr>
          <p:cNvPr id="5" name="Text">
            <a:extLst>
              <a:ext uri="{FF2B5EF4-FFF2-40B4-BE49-F238E27FC236}">
                <a16:creationId xmlns:a16="http://schemas.microsoft.com/office/drawing/2014/main" id="{A65CE68B-3361-4D21-B299-1C769BB93D9D}"/>
              </a:ext>
            </a:extLst>
          </p:cNvPr>
          <p:cNvSpPr>
            <a:spLocks noGrp="1"/>
          </p:cNvSpPr>
          <p:nvPr/>
        </p:nvSpPr>
        <p:spPr>
          <a:xfrm>
            <a:off x="619125" y="3000375"/>
            <a:ext cx="10477500" cy="476250"/>
          </a:xfrm>
          <a:prstGeom prst="rect">
            <a:avLst/>
          </a:prstGeom>
          <a:noFill/>
          <a:ln w="0">
            <a:noFill/>
          </a:ln>
        </p:spPr>
        <p:txBody>
          <a:bodyPr wrap="square" lIns="0" tIns="0" rIns="0" bIns="0" anchor="t">
            <a:noAutofit/>
          </a:bodyPr>
          <a:lstStyle/>
          <a:p>
            <a:pPr algn="l">
              <a:buNone/>
              <a:defRPr sz="2625" b="0">
                <a:solidFill>
                  <a:srgbClr val="111111"/>
                </a:solidFill>
                <a:latin typeface="Aptos"/>
                <a:ea typeface="Aptos"/>
                <a:cs typeface="Aptos"/>
              </a:defRPr>
            </a:pPr>
            <a:r>
              <a:rPr sz="2625" b="0">
                <a:solidFill>
                  <a:srgbClr val="111111"/>
                </a:solidFill>
                <a:latin typeface="Aptos"/>
                <a:ea typeface="Aptos"/>
                <a:cs typeface="Aptos"/>
              </a:rPr>
              <a:t>Width: 30 − 20 = 10 sign-ups</a:t>
            </a:r>
          </a:p>
        </p:txBody>
      </p:sp>
      <p:sp>
        <p:nvSpPr>
          <p:cNvPr id="6" name="Text">
            <a:extLst>
              <a:ext uri="{FF2B5EF4-FFF2-40B4-BE49-F238E27FC236}">
                <a16:creationId xmlns:a16="http://schemas.microsoft.com/office/drawing/2014/main" id="{19B45BD3-6BCD-4A53-ACE9-99EC1506719C}"/>
              </a:ext>
            </a:extLst>
          </p:cNvPr>
          <p:cNvSpPr>
            <a:spLocks noGrp="1"/>
          </p:cNvSpPr>
          <p:nvPr/>
        </p:nvSpPr>
        <p:spPr>
          <a:xfrm>
            <a:off x="619125" y="3714750"/>
            <a:ext cx="10477500" cy="476250"/>
          </a:xfrm>
          <a:prstGeom prst="rect">
            <a:avLst/>
          </a:prstGeom>
          <a:noFill/>
          <a:ln w="0">
            <a:noFill/>
          </a:ln>
        </p:spPr>
        <p:txBody>
          <a:bodyPr wrap="square" lIns="0" tIns="0" rIns="0" bIns="0" anchor="t">
            <a:noAutofit/>
          </a:bodyPr>
          <a:lstStyle/>
          <a:p>
            <a:pPr algn="l">
              <a:buNone/>
              <a:defRPr sz="2625" b="0">
                <a:solidFill>
                  <a:srgbClr val="111111"/>
                </a:solidFill>
                <a:latin typeface="Aptos"/>
                <a:ea typeface="Aptos"/>
                <a:cs typeface="Aptos"/>
              </a:defRPr>
            </a:pPr>
            <a:r>
              <a:rPr sz="2625" b="0">
                <a:solidFill>
                  <a:srgbClr val="111111"/>
                </a:solidFill>
                <a:latin typeface="Aptos"/>
                <a:ea typeface="Aptos"/>
                <a:cs typeface="Aptos"/>
              </a:rPr>
              <a:t>Distance to move: 0.75 × 10 = 7.5 sign-ups</a:t>
            </a:r>
          </a:p>
        </p:txBody>
      </p:sp>
      <p:sp>
        <p:nvSpPr>
          <p:cNvPr id="7" name="Text">
            <a:extLst>
              <a:ext uri="{FF2B5EF4-FFF2-40B4-BE49-F238E27FC236}">
                <a16:creationId xmlns:a16="http://schemas.microsoft.com/office/drawing/2014/main" id="{D37E0E34-1C6D-4C44-BF2D-2CC8F2DBB03F}"/>
              </a:ext>
            </a:extLst>
          </p:cNvPr>
          <p:cNvSpPr>
            <a:spLocks noGrp="1"/>
          </p:cNvSpPr>
          <p:nvPr/>
        </p:nvSpPr>
        <p:spPr>
          <a:xfrm>
            <a:off x="619125" y="4648200"/>
            <a:ext cx="10763250" cy="571500"/>
          </a:xfrm>
          <a:prstGeom prst="rect">
            <a:avLst/>
          </a:prstGeom>
          <a:noFill/>
          <a:ln w="0">
            <a:noFill/>
          </a:ln>
        </p:spPr>
        <p:txBody>
          <a:bodyPr wrap="square" lIns="0" tIns="0" rIns="0" bIns="0" anchor="t">
            <a:noAutofit/>
          </a:bodyPr>
          <a:lstStyle/>
          <a:p>
            <a:pPr algn="l">
              <a:buNone/>
              <a:defRPr sz="3150" b="1">
                <a:solidFill>
                  <a:srgbClr val="D6171D"/>
                </a:solidFill>
                <a:latin typeface="Aptos"/>
                <a:ea typeface="Aptos"/>
                <a:cs typeface="Aptos"/>
              </a:defRPr>
            </a:pPr>
            <a:r>
              <a:rPr sz="3150" b="1">
                <a:solidFill>
                  <a:srgbClr val="D6171D"/>
                </a:solidFill>
                <a:latin typeface="Aptos"/>
                <a:ea typeface="Aptos"/>
                <a:cs typeface="Aptos"/>
              </a:rPr>
              <a:t>Start + distance = 20 + 7.5 = 27.5</a:t>
            </a:r>
          </a:p>
        </p:txBody>
      </p:sp>
    </p:spTree>
    <p:extLst>
      <p:ext uri="{BB962C8B-B14F-4D97-AF65-F5344CB8AC3E}">
        <p14:creationId xmlns:p14="http://schemas.microsoft.com/office/powerpoint/2010/main" val="1520133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a:extLst>
              <a:ext uri="{FF2B5EF4-FFF2-40B4-BE49-F238E27FC236}">
                <a16:creationId xmlns:a16="http://schemas.microsoft.com/office/drawing/2014/main" id="{E63ECB46-71FD-43A8-937A-2342FA67FC06}"/>
              </a:ext>
            </a:extLst>
          </p:cNvPr>
          <p:cNvSpPr>
            <a:spLocks noGrp="1"/>
          </p:cNvSpPr>
          <p:nvPr/>
        </p:nvSpPr>
        <p:spPr>
          <a:xfrm>
            <a:off x="447675" y="2505075"/>
            <a:ext cx="6048375" cy="3143250"/>
          </a:xfrm>
          <a:prstGeom prst="rect">
            <a:avLst/>
          </a:prstGeom>
          <a:noFill/>
          <a:ln w="0">
            <a:noFill/>
          </a:ln>
        </p:spPr>
        <p:txBody>
          <a:bodyPr wrap="square" lIns="0" tIns="0" rIns="0" bIns="0" anchor="t">
            <a:noAutofit/>
          </a:bodyPr>
          <a:lstStyle/>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4:</a:t>
            </a:r>
          </a:p>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Scatterplots</a:t>
            </a:r>
          </a:p>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and trend lines</a:t>
            </a:r>
          </a:p>
        </p:txBody>
      </p:sp>
    </p:spTree>
    <p:extLst>
      <p:ext uri="{BB962C8B-B14F-4D97-AF65-F5344CB8AC3E}">
        <p14:creationId xmlns:p14="http://schemas.microsoft.com/office/powerpoint/2010/main" val="9077073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295B92A2-8EA6-49A6-ABCA-E508B7234F17}"/>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Do busy days bring more drink sales?</a:t>
            </a:r>
          </a:p>
        </p:txBody>
      </p:sp>
      <p:sp>
        <p:nvSpPr>
          <p:cNvPr id="2" name="Text">
            <a:extLst>
              <a:ext uri="{FF2B5EF4-FFF2-40B4-BE49-F238E27FC236}">
                <a16:creationId xmlns:a16="http://schemas.microsoft.com/office/drawing/2014/main" id="{C6364F4B-D9BE-4299-A921-D71756297168}"/>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A café records two numbers on each day.</a:t>
            </a:r>
          </a:p>
        </p:txBody>
      </p:sp>
      <p:graphicFrame>
        <p:nvGraphicFramePr>
          <p:cNvPr id="11" name="Table 10"/>
          <p:cNvGraphicFramePr/>
          <p:nvPr/>
        </p:nvGraphicFramePr>
        <p:xfrm>
          <a:off x="619125" y="2924175"/>
          <a:ext cx="6572250" cy="2695575"/>
        </p:xfrm>
        <a:graphic>
          <a:graphicData uri="http://schemas.openxmlformats.org/drawingml/2006/table">
            <a:tbl>
              <a:tblPr firstRow="1"/>
              <a:tblGrid>
                <a:gridCol w="2333625">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449263">
                <a:tc>
                  <a:txBody>
                    <a:bodyPr/>
                    <a:lstStyle/>
                    <a:p>
                      <a:pPr algn="l">
                        <a:buNone/>
                      </a:pPr>
                      <a:r>
                        <a:rPr sz="2175" b="1">
                          <a:solidFill>
                            <a:srgbClr val="FFFFFF"/>
                          </a:solidFill>
                          <a:latin typeface="Aptos"/>
                          <a:ea typeface="Aptos"/>
                          <a:cs typeface="Aptos"/>
                        </a:rPr>
                        <a:t>Day</a:t>
                      </a:r>
                    </a:p>
                  </a:txBody>
                  <a:tcPr anchor="ctr">
                    <a:solidFill>
                      <a:srgbClr val="D6171D"/>
                    </a:solidFill>
                  </a:tcPr>
                </a:tc>
                <a:tc>
                  <a:txBody>
                    <a:bodyPr/>
                    <a:lstStyle/>
                    <a:p>
                      <a:pPr algn="ctr">
                        <a:buNone/>
                      </a:pPr>
                      <a:r>
                        <a:rPr sz="2175" b="1">
                          <a:solidFill>
                            <a:srgbClr val="FFFFFF"/>
                          </a:solidFill>
                          <a:latin typeface="Aptos"/>
                          <a:ea typeface="Aptos"/>
                          <a:cs typeface="Aptos"/>
                        </a:rPr>
                        <a:t>Visitors, x</a:t>
                      </a:r>
                    </a:p>
                  </a:txBody>
                  <a:tcPr anchor="ctr">
                    <a:solidFill>
                      <a:srgbClr val="D6171D"/>
                    </a:solidFill>
                  </a:tcPr>
                </a:tc>
                <a:tc>
                  <a:txBody>
                    <a:bodyPr/>
                    <a:lstStyle/>
                    <a:p>
                      <a:pPr algn="ctr">
                        <a:buNone/>
                      </a:pPr>
                      <a:r>
                        <a:rPr sz="2175" b="1">
                          <a:solidFill>
                            <a:srgbClr val="FFFFFF"/>
                          </a:solidFill>
                          <a:latin typeface="Aptos"/>
                          <a:ea typeface="Aptos"/>
                          <a:cs typeface="Aptos"/>
                        </a:rPr>
                        <a:t>Cups sold, y</a:t>
                      </a:r>
                    </a:p>
                  </a:txBody>
                  <a:tcPr anchor="ctr">
                    <a:solidFill>
                      <a:srgbClr val="D6171D"/>
                    </a:solidFill>
                  </a:tcPr>
                </a:tc>
                <a:extLst>
                  <a:ext uri="{0D108BD9-81ED-4DB2-BD59-A6C34878D82A}">
                    <a16:rowId xmlns:a16="http://schemas.microsoft.com/office/drawing/2014/main" val="10000"/>
                  </a:ext>
                </a:extLst>
              </a:tr>
              <a:tr h="449263">
                <a:tc>
                  <a:txBody>
                    <a:bodyPr/>
                    <a:lstStyle/>
                    <a:p>
                      <a:pPr algn="l">
                        <a:buNone/>
                      </a:pPr>
                      <a:r>
                        <a:rPr sz="2175" b="0">
                          <a:solidFill>
                            <a:srgbClr val="111111"/>
                          </a:solidFill>
                          <a:latin typeface="Aptos"/>
                          <a:ea typeface="Aptos"/>
                          <a:cs typeface="Aptos"/>
                        </a:rPr>
                        <a:t>Monday</a:t>
                      </a:r>
                    </a:p>
                  </a:txBody>
                  <a:tcPr anchor="ctr">
                    <a:solidFill>
                      <a:srgbClr val="FFFFFF"/>
                    </a:solidFill>
                  </a:tcPr>
                </a:tc>
                <a:tc>
                  <a:txBody>
                    <a:bodyPr/>
                    <a:lstStyle/>
                    <a:p>
                      <a:pPr algn="ctr">
                        <a:buNone/>
                      </a:pPr>
                      <a:r>
                        <a:rPr sz="2175" b="0">
                          <a:solidFill>
                            <a:srgbClr val="111111"/>
                          </a:solidFill>
                          <a:latin typeface="Aptos"/>
                          <a:ea typeface="Aptos"/>
                          <a:cs typeface="Aptos"/>
                        </a:rPr>
                        <a:t>40</a:t>
                      </a:r>
                    </a:p>
                  </a:txBody>
                  <a:tcPr anchor="ctr">
                    <a:solidFill>
                      <a:srgbClr val="FFFFFF"/>
                    </a:solidFill>
                  </a:tcPr>
                </a:tc>
                <a:tc>
                  <a:txBody>
                    <a:bodyPr/>
                    <a:lstStyle/>
                    <a:p>
                      <a:pPr algn="ctr">
                        <a:buNone/>
                      </a:pPr>
                      <a:r>
                        <a:rPr sz="2175" b="0">
                          <a:solidFill>
                            <a:srgbClr val="111111"/>
                          </a:solidFill>
                          <a:latin typeface="Aptos"/>
                          <a:ea typeface="Aptos"/>
                          <a:cs typeface="Aptos"/>
                        </a:rPr>
                        <a:t>25</a:t>
                      </a:r>
                    </a:p>
                  </a:txBody>
                  <a:tcPr anchor="ctr">
                    <a:solidFill>
                      <a:srgbClr val="FFFFFF"/>
                    </a:solidFill>
                  </a:tcPr>
                </a:tc>
                <a:extLst>
                  <a:ext uri="{0D108BD9-81ED-4DB2-BD59-A6C34878D82A}">
                    <a16:rowId xmlns:a16="http://schemas.microsoft.com/office/drawing/2014/main" val="10001"/>
                  </a:ext>
                </a:extLst>
              </a:tr>
              <a:tr h="449263">
                <a:tc>
                  <a:txBody>
                    <a:bodyPr/>
                    <a:lstStyle/>
                    <a:p>
                      <a:pPr algn="l">
                        <a:buNone/>
                      </a:pPr>
                      <a:r>
                        <a:rPr sz="2175" b="0">
                          <a:solidFill>
                            <a:srgbClr val="111111"/>
                          </a:solidFill>
                          <a:latin typeface="Aptos"/>
                          <a:ea typeface="Aptos"/>
                          <a:cs typeface="Aptos"/>
                        </a:rPr>
                        <a:t>Tuesday</a:t>
                      </a:r>
                    </a:p>
                  </a:txBody>
                  <a:tcPr anchor="ctr">
                    <a:solidFill>
                      <a:srgbClr val="EEF8FE"/>
                    </a:solidFill>
                  </a:tcPr>
                </a:tc>
                <a:tc>
                  <a:txBody>
                    <a:bodyPr/>
                    <a:lstStyle/>
                    <a:p>
                      <a:pPr algn="ctr">
                        <a:buNone/>
                      </a:pPr>
                      <a:r>
                        <a:rPr sz="2175" b="0">
                          <a:solidFill>
                            <a:srgbClr val="111111"/>
                          </a:solidFill>
                          <a:latin typeface="Aptos"/>
                          <a:ea typeface="Aptos"/>
                          <a:cs typeface="Aptos"/>
                        </a:rPr>
                        <a:t>60</a:t>
                      </a:r>
                    </a:p>
                  </a:txBody>
                  <a:tcPr anchor="ctr">
                    <a:solidFill>
                      <a:srgbClr val="EEF8FE"/>
                    </a:solidFill>
                  </a:tcPr>
                </a:tc>
                <a:tc>
                  <a:txBody>
                    <a:bodyPr/>
                    <a:lstStyle/>
                    <a:p>
                      <a:pPr algn="ctr">
                        <a:buNone/>
                      </a:pPr>
                      <a:r>
                        <a:rPr sz="2175" b="0">
                          <a:solidFill>
                            <a:srgbClr val="111111"/>
                          </a:solidFill>
                          <a:latin typeface="Aptos"/>
                          <a:ea typeface="Aptos"/>
                          <a:cs typeface="Aptos"/>
                        </a:rPr>
                        <a:t>40</a:t>
                      </a:r>
                    </a:p>
                  </a:txBody>
                  <a:tcPr anchor="ctr">
                    <a:solidFill>
                      <a:srgbClr val="EEF8FE"/>
                    </a:solidFill>
                  </a:tcPr>
                </a:tc>
                <a:extLst>
                  <a:ext uri="{0D108BD9-81ED-4DB2-BD59-A6C34878D82A}">
                    <a16:rowId xmlns:a16="http://schemas.microsoft.com/office/drawing/2014/main" val="10002"/>
                  </a:ext>
                </a:extLst>
              </a:tr>
              <a:tr h="449263">
                <a:tc>
                  <a:txBody>
                    <a:bodyPr/>
                    <a:lstStyle/>
                    <a:p>
                      <a:pPr algn="l">
                        <a:buNone/>
                      </a:pPr>
                      <a:r>
                        <a:rPr sz="2175" b="0">
                          <a:solidFill>
                            <a:srgbClr val="111111"/>
                          </a:solidFill>
                          <a:latin typeface="Aptos"/>
                          <a:ea typeface="Aptos"/>
                          <a:cs typeface="Aptos"/>
                        </a:rPr>
                        <a:t>Wednesday</a:t>
                      </a:r>
                    </a:p>
                  </a:txBody>
                  <a:tcPr anchor="ctr">
                    <a:solidFill>
                      <a:srgbClr val="FFFFFF"/>
                    </a:solidFill>
                  </a:tcPr>
                </a:tc>
                <a:tc>
                  <a:txBody>
                    <a:bodyPr/>
                    <a:lstStyle/>
                    <a:p>
                      <a:pPr algn="ctr">
                        <a:buNone/>
                      </a:pPr>
                      <a:r>
                        <a:rPr sz="2175" b="0">
                          <a:solidFill>
                            <a:srgbClr val="111111"/>
                          </a:solidFill>
                          <a:latin typeface="Aptos"/>
                          <a:ea typeface="Aptos"/>
                          <a:cs typeface="Aptos"/>
                        </a:rPr>
                        <a:t>80</a:t>
                      </a:r>
                    </a:p>
                  </a:txBody>
                  <a:tcPr anchor="ctr">
                    <a:solidFill>
                      <a:srgbClr val="FFFFFF"/>
                    </a:solidFill>
                  </a:tcPr>
                </a:tc>
                <a:tc>
                  <a:txBody>
                    <a:bodyPr/>
                    <a:lstStyle/>
                    <a:p>
                      <a:pPr algn="ctr">
                        <a:buNone/>
                      </a:pPr>
                      <a:r>
                        <a:rPr sz="2175" b="0">
                          <a:solidFill>
                            <a:srgbClr val="111111"/>
                          </a:solidFill>
                          <a:latin typeface="Aptos"/>
                          <a:ea typeface="Aptos"/>
                          <a:cs typeface="Aptos"/>
                        </a:rPr>
                        <a:t>45</a:t>
                      </a:r>
                    </a:p>
                  </a:txBody>
                  <a:tcPr anchor="ctr">
                    <a:solidFill>
                      <a:srgbClr val="FFFFFF"/>
                    </a:solidFill>
                  </a:tcPr>
                </a:tc>
                <a:extLst>
                  <a:ext uri="{0D108BD9-81ED-4DB2-BD59-A6C34878D82A}">
                    <a16:rowId xmlns:a16="http://schemas.microsoft.com/office/drawing/2014/main" val="10003"/>
                  </a:ext>
                </a:extLst>
              </a:tr>
              <a:tr h="449263">
                <a:tc>
                  <a:txBody>
                    <a:bodyPr/>
                    <a:lstStyle/>
                    <a:p>
                      <a:pPr algn="l">
                        <a:buNone/>
                      </a:pPr>
                      <a:r>
                        <a:rPr sz="2175" b="0">
                          <a:solidFill>
                            <a:srgbClr val="111111"/>
                          </a:solidFill>
                          <a:latin typeface="Aptos"/>
                          <a:ea typeface="Aptos"/>
                          <a:cs typeface="Aptos"/>
                        </a:rPr>
                        <a:t>Thursday</a:t>
                      </a:r>
                    </a:p>
                  </a:txBody>
                  <a:tcPr anchor="ctr">
                    <a:solidFill>
                      <a:srgbClr val="EEF8FE"/>
                    </a:solidFill>
                  </a:tcPr>
                </a:tc>
                <a:tc>
                  <a:txBody>
                    <a:bodyPr/>
                    <a:lstStyle/>
                    <a:p>
                      <a:pPr algn="ctr">
                        <a:buNone/>
                      </a:pPr>
                      <a:r>
                        <a:rPr sz="2175" b="0">
                          <a:solidFill>
                            <a:srgbClr val="111111"/>
                          </a:solidFill>
                          <a:latin typeface="Aptos"/>
                          <a:ea typeface="Aptos"/>
                          <a:cs typeface="Aptos"/>
                        </a:rPr>
                        <a:t>100</a:t>
                      </a:r>
                    </a:p>
                  </a:txBody>
                  <a:tcPr anchor="ctr">
                    <a:solidFill>
                      <a:srgbClr val="EEF8FE"/>
                    </a:solidFill>
                  </a:tcPr>
                </a:tc>
                <a:tc>
                  <a:txBody>
                    <a:bodyPr/>
                    <a:lstStyle/>
                    <a:p>
                      <a:pPr algn="ctr">
                        <a:buNone/>
                      </a:pPr>
                      <a:r>
                        <a:rPr sz="2175" b="0">
                          <a:solidFill>
                            <a:srgbClr val="111111"/>
                          </a:solidFill>
                          <a:latin typeface="Aptos"/>
                          <a:ea typeface="Aptos"/>
                          <a:cs typeface="Aptos"/>
                        </a:rPr>
                        <a:t>65</a:t>
                      </a:r>
                    </a:p>
                  </a:txBody>
                  <a:tcPr anchor="ctr">
                    <a:solidFill>
                      <a:srgbClr val="EEF8FE"/>
                    </a:solidFill>
                  </a:tcPr>
                </a:tc>
                <a:extLst>
                  <a:ext uri="{0D108BD9-81ED-4DB2-BD59-A6C34878D82A}">
                    <a16:rowId xmlns:a16="http://schemas.microsoft.com/office/drawing/2014/main" val="10004"/>
                  </a:ext>
                </a:extLst>
              </a:tr>
              <a:tr h="449263">
                <a:tc>
                  <a:txBody>
                    <a:bodyPr/>
                    <a:lstStyle/>
                    <a:p>
                      <a:pPr algn="l">
                        <a:buNone/>
                      </a:pPr>
                      <a:r>
                        <a:rPr sz="2175" b="0">
                          <a:solidFill>
                            <a:srgbClr val="111111"/>
                          </a:solidFill>
                          <a:latin typeface="Aptos"/>
                          <a:ea typeface="Aptos"/>
                          <a:cs typeface="Aptos"/>
                        </a:rPr>
                        <a:t>Friday</a:t>
                      </a:r>
                    </a:p>
                  </a:txBody>
                  <a:tcPr anchor="ctr">
                    <a:solidFill>
                      <a:srgbClr val="FFFFFF"/>
                    </a:solidFill>
                  </a:tcPr>
                </a:tc>
                <a:tc>
                  <a:txBody>
                    <a:bodyPr/>
                    <a:lstStyle/>
                    <a:p>
                      <a:pPr algn="ctr">
                        <a:buNone/>
                      </a:pPr>
                      <a:r>
                        <a:rPr sz="2175" b="0">
                          <a:solidFill>
                            <a:srgbClr val="111111"/>
                          </a:solidFill>
                          <a:latin typeface="Aptos"/>
                          <a:ea typeface="Aptos"/>
                          <a:cs typeface="Aptos"/>
                        </a:rPr>
                        <a:t>120</a:t>
                      </a:r>
                    </a:p>
                  </a:txBody>
                  <a:tcPr anchor="ctr">
                    <a:solidFill>
                      <a:srgbClr val="FFFFFF"/>
                    </a:solidFill>
                  </a:tcPr>
                </a:tc>
                <a:tc>
                  <a:txBody>
                    <a:bodyPr/>
                    <a:lstStyle/>
                    <a:p>
                      <a:pPr algn="ctr">
                        <a:buNone/>
                      </a:pPr>
                      <a:r>
                        <a:rPr sz="2175" b="0">
                          <a:solidFill>
                            <a:srgbClr val="111111"/>
                          </a:solidFill>
                          <a:latin typeface="Aptos"/>
                          <a:ea typeface="Aptos"/>
                          <a:cs typeface="Aptos"/>
                        </a:rPr>
                        <a:t>70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4" name="Text">
            <a:extLst>
              <a:ext uri="{FF2B5EF4-FFF2-40B4-BE49-F238E27FC236}">
                <a16:creationId xmlns:a16="http://schemas.microsoft.com/office/drawing/2014/main" id="{C1F17FFB-E13C-42B4-AA5F-EA941A0A23CE}"/>
              </a:ext>
            </a:extLst>
          </p:cNvPr>
          <p:cNvSpPr>
            <a:spLocks noGrp="1"/>
          </p:cNvSpPr>
          <p:nvPr/>
        </p:nvSpPr>
        <p:spPr>
          <a:xfrm>
            <a:off x="7705725" y="3038475"/>
            <a:ext cx="3867150" cy="647700"/>
          </a:xfrm>
          <a:prstGeom prst="rect">
            <a:avLst/>
          </a:prstGeom>
          <a:noFill/>
          <a:ln w="0">
            <a:noFill/>
          </a:ln>
        </p:spPr>
        <p:txBody>
          <a:bodyPr wrap="square" lIns="0" tIns="0" rIns="0" bIns="0" anchor="t">
            <a:noAutofit/>
          </a:bodyPr>
          <a:lstStyle/>
          <a:p>
            <a:pPr algn="l">
              <a:buNone/>
              <a:defRPr sz="2625" b="1">
                <a:solidFill>
                  <a:srgbClr val="111111"/>
                </a:solidFill>
                <a:latin typeface="Aptos"/>
                <a:ea typeface="Aptos"/>
                <a:cs typeface="Aptos"/>
              </a:defRPr>
            </a:pPr>
            <a:r>
              <a:rPr sz="2625" b="1">
                <a:solidFill>
                  <a:srgbClr val="111111"/>
                </a:solidFill>
                <a:latin typeface="Aptos"/>
                <a:ea typeface="Aptos"/>
                <a:cs typeface="Aptos"/>
              </a:rPr>
              <a:t>One row = one day.</a:t>
            </a:r>
          </a:p>
        </p:txBody>
      </p:sp>
      <p:sp>
        <p:nvSpPr>
          <p:cNvPr id="5" name="Text">
            <a:extLst>
              <a:ext uri="{FF2B5EF4-FFF2-40B4-BE49-F238E27FC236}">
                <a16:creationId xmlns:a16="http://schemas.microsoft.com/office/drawing/2014/main" id="{1A05F590-1EAC-4BE4-AAE3-0D5E42450A5E}"/>
              </a:ext>
            </a:extLst>
          </p:cNvPr>
          <p:cNvSpPr>
            <a:spLocks noGrp="1"/>
          </p:cNvSpPr>
          <p:nvPr/>
        </p:nvSpPr>
        <p:spPr>
          <a:xfrm>
            <a:off x="7705725" y="4048125"/>
            <a:ext cx="3867150" cy="904875"/>
          </a:xfrm>
          <a:prstGeom prst="rect">
            <a:avLst/>
          </a:prstGeom>
          <a:noFill/>
          <a:ln w="0">
            <a:noFill/>
          </a:ln>
        </p:spPr>
        <p:txBody>
          <a:bodyPr wrap="square" lIns="0" tIns="0" rIns="0" bIns="0" anchor="t">
            <a:noAutofit/>
          </a:bodyPr>
          <a:lstStyle/>
          <a:p>
            <a:pPr algn="l">
              <a:buNone/>
              <a:defRPr sz="2700" b="1">
                <a:solidFill>
                  <a:srgbClr val="D6171D"/>
                </a:solidFill>
                <a:latin typeface="Aptos"/>
                <a:ea typeface="Aptos"/>
                <a:cs typeface="Aptos"/>
              </a:defRPr>
            </a:pPr>
            <a:r>
              <a:rPr sz="2700" b="1">
                <a:solidFill>
                  <a:srgbClr val="D6171D"/>
                </a:solidFill>
                <a:latin typeface="Aptos"/>
                <a:ea typeface="Aptos"/>
                <a:cs typeface="Aptos"/>
              </a:rPr>
              <a:t>Tuesday gives</a:t>
            </a:r>
          </a:p>
          <a:p>
            <a:pPr algn="l">
              <a:buNone/>
              <a:defRPr sz="2700" b="1">
                <a:solidFill>
                  <a:srgbClr val="D6171D"/>
                </a:solidFill>
                <a:latin typeface="Aptos"/>
                <a:ea typeface="Aptos"/>
                <a:cs typeface="Aptos"/>
              </a:defRPr>
            </a:pPr>
            <a:r>
              <a:rPr sz="2700" b="1">
                <a:solidFill>
                  <a:srgbClr val="D6171D"/>
                </a:solidFill>
                <a:latin typeface="Aptos"/>
                <a:ea typeface="Aptos"/>
                <a:cs typeface="Aptos"/>
              </a:rPr>
              <a:t>the point (60, 40).</a:t>
            </a:r>
          </a:p>
        </p:txBody>
      </p:sp>
      <p:sp>
        <p:nvSpPr>
          <p:cNvPr id="6" name="Text">
            <a:extLst>
              <a:ext uri="{FF2B5EF4-FFF2-40B4-BE49-F238E27FC236}">
                <a16:creationId xmlns:a16="http://schemas.microsoft.com/office/drawing/2014/main" id="{A2778FE1-652F-46B4-AF91-72E51E5AC9C3}"/>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x goes on the horizontal axis. y goes on the vertical axis. Keep each pair together.</a:t>
            </a:r>
          </a:p>
        </p:txBody>
      </p:sp>
    </p:spTree>
    <p:extLst>
      <p:ext uri="{BB962C8B-B14F-4D97-AF65-F5344CB8AC3E}">
        <p14:creationId xmlns:p14="http://schemas.microsoft.com/office/powerpoint/2010/main" val="2882086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title">
            <a:extLst>
              <a:ext uri="{FF2B5EF4-FFF2-40B4-BE49-F238E27FC236}">
                <a16:creationId xmlns:a16="http://schemas.microsoft.com/office/drawing/2014/main" id="{225C7C99-7CD1-42E1-A908-2E5193AC6BFD}"/>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Which variable goes on X and Y?</a:t>
            </a:r>
          </a:p>
        </p:txBody>
      </p:sp>
      <p:sp>
        <p:nvSpPr>
          <p:cNvPr id="2" name="Lead">
            <a:extLst>
              <a:ext uri="{FF2B5EF4-FFF2-40B4-BE49-F238E27FC236}">
                <a16:creationId xmlns:a16="http://schemas.microsoft.com/office/drawing/2014/main" id="{D3BBEAAD-CCAC-4DCD-81D0-9AC435A09AAA}"/>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X is the predictor (input). Y is the response: the value we want to predict.</a:t>
            </a:r>
          </a:p>
        </p:txBody>
      </p:sp>
      <p:sp>
        <p:nvSpPr>
          <p:cNvPr id="3" name="Footer">
            <a:extLst>
              <a:ext uri="{FF2B5EF4-FFF2-40B4-BE49-F238E27FC236}">
                <a16:creationId xmlns:a16="http://schemas.microsoft.com/office/drawing/2014/main" id="{727F8361-1E1C-4D6B-96F7-D3D2E5F0906F}"/>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Choosing X does not prove that X causes Y. The labels must match the question being asked.</a:t>
            </a:r>
          </a:p>
        </p:txBody>
      </p:sp>
      <p:graphicFrame>
        <p:nvGraphicFramePr>
          <p:cNvPr id="11" name="Table 10"/>
          <p:cNvGraphicFramePr/>
          <p:nvPr/>
        </p:nvGraphicFramePr>
        <p:xfrm>
          <a:off x="619125" y="2933700"/>
          <a:ext cx="10953750" cy="1762125"/>
        </p:xfrm>
        <a:graphic>
          <a:graphicData uri="http://schemas.openxmlformats.org/drawingml/2006/table">
            <a:tbl>
              <a:tblPr/>
              <a:tblGrid>
                <a:gridCol w="5095875">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788289">
                <a:tc>
                  <a:txBody>
                    <a:bodyPr/>
                    <a:lstStyle/>
                    <a:p>
                      <a:pPr algn="l">
                        <a:buNone/>
                      </a:pPr>
                      <a:r>
                        <a:rPr sz="2175" b="1">
                          <a:solidFill>
                            <a:srgbClr val="FFFFFF"/>
                          </a:solidFill>
                          <a:latin typeface="Aptos"/>
                          <a:ea typeface="Aptos"/>
                          <a:cs typeface="Aptos"/>
                        </a:rPr>
                        <a:t>Question</a:t>
                      </a:r>
                    </a:p>
                  </a:txBody>
                  <a:tcPr anchor="ctr">
                    <a:solidFill>
                      <a:srgbClr val="D6171D"/>
                    </a:solidFill>
                  </a:tcPr>
                </a:tc>
                <a:tc>
                  <a:txBody>
                    <a:bodyPr/>
                    <a:lstStyle/>
                    <a:p>
                      <a:pPr algn="ctr">
                        <a:buNone/>
                      </a:pPr>
                      <a:r>
                        <a:rPr sz="2175" b="1">
                          <a:solidFill>
                            <a:srgbClr val="FFFFFF"/>
                          </a:solidFill>
                          <a:latin typeface="Aptos"/>
                          <a:ea typeface="Aptos"/>
                          <a:cs typeface="Aptos"/>
                        </a:rPr>
                        <a:t>Horizontal axis (X)</a:t>
                      </a:r>
                    </a:p>
                  </a:txBody>
                  <a:tcPr anchor="ctr">
                    <a:solidFill>
                      <a:srgbClr val="D6171D"/>
                    </a:solidFill>
                  </a:tcPr>
                </a:tc>
                <a:tc>
                  <a:txBody>
                    <a:bodyPr/>
                    <a:lstStyle/>
                    <a:p>
                      <a:pPr algn="ctr">
                        <a:buNone/>
                      </a:pPr>
                      <a:r>
                        <a:rPr sz="2175" b="1">
                          <a:solidFill>
                            <a:srgbClr val="FFFFFF"/>
                          </a:solidFill>
                          <a:latin typeface="Aptos"/>
                          <a:ea typeface="Aptos"/>
                          <a:cs typeface="Aptos"/>
                        </a:rPr>
                        <a:t>Vertical axis (Y)</a:t>
                      </a:r>
                    </a:p>
                  </a:txBody>
                  <a:tcPr anchor="ctr">
                    <a:solidFill>
                      <a:srgbClr val="D6171D"/>
                    </a:solidFill>
                  </a:tcPr>
                </a:tc>
                <a:extLst>
                  <a:ext uri="{0D108BD9-81ED-4DB2-BD59-A6C34878D82A}">
                    <a16:rowId xmlns:a16="http://schemas.microsoft.com/office/drawing/2014/main" val="10000"/>
                  </a:ext>
                </a:extLst>
              </a:tr>
              <a:tr h="486918">
                <a:tc>
                  <a:txBody>
                    <a:bodyPr/>
                    <a:lstStyle/>
                    <a:p>
                      <a:pPr algn="l">
                        <a:buNone/>
                      </a:pPr>
                      <a:r>
                        <a:rPr sz="2175" b="0">
                          <a:solidFill>
                            <a:srgbClr val="111111"/>
                          </a:solidFill>
                          <a:latin typeface="Aptos"/>
                          <a:ea typeface="Aptos"/>
                          <a:cs typeface="Aptos"/>
                        </a:rPr>
                        <a:t>Predict cups sold from visitors</a:t>
                      </a:r>
                    </a:p>
                  </a:txBody>
                  <a:tcPr anchor="ctr">
                    <a:solidFill>
                      <a:srgbClr val="FFFFFF"/>
                    </a:solidFill>
                  </a:tcPr>
                </a:tc>
                <a:tc>
                  <a:txBody>
                    <a:bodyPr/>
                    <a:lstStyle/>
                    <a:p>
                      <a:pPr algn="ctr">
                        <a:buNone/>
                      </a:pPr>
                      <a:r>
                        <a:rPr sz="2175" b="0">
                          <a:solidFill>
                            <a:srgbClr val="111111"/>
                          </a:solidFill>
                          <a:latin typeface="Aptos"/>
                          <a:ea typeface="Aptos"/>
                          <a:cs typeface="Aptos"/>
                        </a:rPr>
                        <a:t>Number of visitors</a:t>
                      </a:r>
                    </a:p>
                  </a:txBody>
                  <a:tcPr anchor="ctr">
                    <a:solidFill>
                      <a:srgbClr val="FFFFFF"/>
                    </a:solidFill>
                  </a:tcPr>
                </a:tc>
                <a:tc>
                  <a:txBody>
                    <a:bodyPr/>
                    <a:lstStyle/>
                    <a:p>
                      <a:pPr algn="ctr">
                        <a:buNone/>
                      </a:pPr>
                      <a:r>
                        <a:rPr sz="2175" b="0">
                          <a:solidFill>
                            <a:srgbClr val="111111"/>
                          </a:solidFill>
                          <a:latin typeface="Aptos"/>
                          <a:ea typeface="Aptos"/>
                          <a:cs typeface="Aptos"/>
                        </a:rPr>
                        <a:t>Cups sold</a:t>
                      </a:r>
                    </a:p>
                  </a:txBody>
                  <a:tcPr anchor="ctr">
                    <a:solidFill>
                      <a:srgbClr val="FFFFFF"/>
                    </a:solidFill>
                  </a:tcPr>
                </a:tc>
                <a:extLst>
                  <a:ext uri="{0D108BD9-81ED-4DB2-BD59-A6C34878D82A}">
                    <a16:rowId xmlns:a16="http://schemas.microsoft.com/office/drawing/2014/main" val="10001"/>
                  </a:ext>
                </a:extLst>
              </a:tr>
              <a:tr h="486918">
                <a:tc>
                  <a:txBody>
                    <a:bodyPr/>
                    <a:lstStyle/>
                    <a:p>
                      <a:pPr algn="l">
                        <a:buNone/>
                      </a:pPr>
                      <a:r>
                        <a:rPr sz="2175" b="0">
                          <a:solidFill>
                            <a:srgbClr val="111111"/>
                          </a:solidFill>
                          <a:latin typeface="Aptos"/>
                          <a:ea typeface="Aptos"/>
                          <a:cs typeface="Aptos"/>
                        </a:rPr>
                        <a:t>Predict sales from advertising</a:t>
                      </a:r>
                    </a:p>
                  </a:txBody>
                  <a:tcPr anchor="ctr">
                    <a:solidFill>
                      <a:srgbClr val="EEF8FE"/>
                    </a:solidFill>
                  </a:tcPr>
                </a:tc>
                <a:tc>
                  <a:txBody>
                    <a:bodyPr/>
                    <a:lstStyle/>
                    <a:p>
                      <a:pPr algn="ctr">
                        <a:buNone/>
                      </a:pPr>
                      <a:r>
                        <a:rPr sz="2175" b="0">
                          <a:solidFill>
                            <a:srgbClr val="111111"/>
                          </a:solidFill>
                          <a:latin typeface="Aptos"/>
                          <a:ea typeface="Aptos"/>
                          <a:cs typeface="Aptos"/>
                        </a:rPr>
                        <a:t>Advertising spend</a:t>
                      </a:r>
                    </a:p>
                  </a:txBody>
                  <a:tcPr anchor="ctr">
                    <a:solidFill>
                      <a:srgbClr val="EEF8FE"/>
                    </a:solidFill>
                  </a:tcPr>
                </a:tc>
                <a:tc>
                  <a:txBody>
                    <a:bodyPr/>
                    <a:lstStyle/>
                    <a:p>
                      <a:pPr algn="ctr">
                        <a:buNone/>
                      </a:pPr>
                      <a:r>
                        <a:rPr sz="2175" b="0">
                          <a:solidFill>
                            <a:srgbClr val="111111"/>
                          </a:solidFill>
                          <a:latin typeface="Aptos"/>
                          <a:ea typeface="Aptos"/>
                          <a:cs typeface="Aptos"/>
                        </a:rPr>
                        <a:t>Sales</a:t>
                      </a:r>
                    </a:p>
                  </a:txBody>
                  <a:tcPr anchor="ctr">
                    <a:solidFill>
                      <a:srgbClr val="EEF8FE"/>
                    </a:solidFill>
                  </a:tcPr>
                </a:tc>
                <a:extLst>
                  <a:ext uri="{0D108BD9-81ED-4DB2-BD59-A6C34878D82A}">
                    <a16:rowId xmlns:a16="http://schemas.microsoft.com/office/drawing/2014/main" val="10002"/>
                  </a:ext>
                </a:extLst>
              </a:tr>
            </a:tbl>
          </a:graphicData>
        </a:graphic>
      </p:graphicFrame>
      <p:sp>
        <p:nvSpPr>
          <p:cNvPr id="5" name="Text">
            <a:extLst>
              <a:ext uri="{FF2B5EF4-FFF2-40B4-BE49-F238E27FC236}">
                <a16:creationId xmlns:a16="http://schemas.microsoft.com/office/drawing/2014/main" id="{5DE2A193-5858-49D3-92C1-0B01CE70ADF4}"/>
              </a:ext>
            </a:extLst>
          </p:cNvPr>
          <p:cNvSpPr>
            <a:spLocks noGrp="1"/>
          </p:cNvSpPr>
          <p:nvPr/>
        </p:nvSpPr>
        <p:spPr>
          <a:xfrm>
            <a:off x="619125" y="4953000"/>
            <a:ext cx="10953750" cy="85725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If neither variable is a predictor, either axis choice can work</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for exploring association. For prediction, the direction matters.</a:t>
            </a:r>
          </a:p>
        </p:txBody>
      </p:sp>
    </p:spTree>
    <p:extLst>
      <p:ext uri="{BB962C8B-B14F-4D97-AF65-F5344CB8AC3E}">
        <p14:creationId xmlns:p14="http://schemas.microsoft.com/office/powerpoint/2010/main" val="123020590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945CDA03-0711-4A1F-AD02-9CB4A8EC7312}"/>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Plotting paired observations</a:t>
            </a:r>
          </a:p>
        </p:txBody>
      </p:sp>
      <p:sp>
        <p:nvSpPr>
          <p:cNvPr id="2" name="Text">
            <a:extLst>
              <a:ext uri="{FF2B5EF4-FFF2-40B4-BE49-F238E27FC236}">
                <a16:creationId xmlns:a16="http://schemas.microsoft.com/office/drawing/2014/main" id="{9D89F4B6-CE4C-46E1-BF44-35F38A831344}"/>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A scatterplot uses one point for each pair of numerical values.</a:t>
            </a:r>
          </a:p>
        </p:txBody>
      </p:sp>
      <p:graphicFrame>
        <p:nvGraphicFramePr>
          <p:cNvPr id="11" name="Chart"/>
          <p:cNvGraphicFramePr/>
          <p:nvPr/>
        </p:nvGraphicFramePr>
        <p:xfrm>
          <a:off x="523875" y="2781300"/>
          <a:ext cx="8096250" cy="304800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a:extLst>
              <a:ext uri="{FF2B5EF4-FFF2-40B4-BE49-F238E27FC236}">
                <a16:creationId xmlns:a16="http://schemas.microsoft.com/office/drawing/2014/main" id="{8AB79E5D-95E6-4410-9D4A-F3C27A782FB6}"/>
              </a:ext>
            </a:extLst>
          </p:cNvPr>
          <p:cNvSpPr>
            <a:spLocks noGrp="1"/>
          </p:cNvSpPr>
          <p:nvPr/>
        </p:nvSpPr>
        <p:spPr>
          <a:xfrm>
            <a:off x="8934450" y="3038475"/>
            <a:ext cx="2647950" cy="1257300"/>
          </a:xfrm>
          <a:prstGeom prst="rect">
            <a:avLst/>
          </a:prstGeom>
          <a:noFill/>
          <a:ln w="0">
            <a:noFill/>
          </a:ln>
        </p:spPr>
        <p:txBody>
          <a:bodyPr wrap="square" lIns="0" tIns="0" rIns="0" bIns="0" anchor="t">
            <a:noAutofit/>
          </a:bodyPr>
          <a:lstStyle/>
          <a:p>
            <a:pPr algn="l">
              <a:buNone/>
              <a:defRPr sz="2550" b="1">
                <a:solidFill>
                  <a:srgbClr val="111111"/>
                </a:solidFill>
                <a:latin typeface="Aptos"/>
                <a:ea typeface="Aptos"/>
                <a:cs typeface="Aptos"/>
              </a:defRPr>
            </a:pPr>
            <a:r>
              <a:rPr sz="2550" b="1">
                <a:solidFill>
                  <a:srgbClr val="111111"/>
                </a:solidFill>
                <a:latin typeface="Aptos"/>
                <a:ea typeface="Aptos"/>
                <a:cs typeface="Aptos"/>
              </a:rPr>
              <a:t>For (60, 40):</a:t>
            </a:r>
          </a:p>
          <a:p>
            <a:pPr algn="l">
              <a:buNone/>
              <a:defRPr sz="2550" b="1">
                <a:solidFill>
                  <a:srgbClr val="111111"/>
                </a:solidFill>
                <a:latin typeface="Aptos"/>
                <a:ea typeface="Aptos"/>
                <a:cs typeface="Aptos"/>
              </a:defRPr>
            </a:pPr>
            <a:r>
              <a:rPr sz="2550" b="1">
                <a:solidFill>
                  <a:srgbClr val="111111"/>
                </a:solidFill>
                <a:latin typeface="Aptos"/>
                <a:ea typeface="Aptos"/>
                <a:cs typeface="Aptos"/>
              </a:rPr>
              <a:t>60 along,</a:t>
            </a:r>
          </a:p>
          <a:p>
            <a:pPr algn="l">
              <a:buNone/>
              <a:defRPr sz="2550" b="1">
                <a:solidFill>
                  <a:srgbClr val="111111"/>
                </a:solidFill>
                <a:latin typeface="Aptos"/>
                <a:ea typeface="Aptos"/>
                <a:cs typeface="Aptos"/>
              </a:defRPr>
            </a:pPr>
            <a:r>
              <a:rPr sz="2550" b="1">
                <a:solidFill>
                  <a:srgbClr val="111111"/>
                </a:solidFill>
                <a:latin typeface="Aptos"/>
                <a:ea typeface="Aptos"/>
                <a:cs typeface="Aptos"/>
              </a:rPr>
              <a:t>40 up.</a:t>
            </a:r>
          </a:p>
        </p:txBody>
      </p:sp>
      <p:sp>
        <p:nvSpPr>
          <p:cNvPr id="5" name="Text">
            <a:extLst>
              <a:ext uri="{FF2B5EF4-FFF2-40B4-BE49-F238E27FC236}">
                <a16:creationId xmlns:a16="http://schemas.microsoft.com/office/drawing/2014/main" id="{D17EDA77-AD8F-4E87-A2CA-B475AAD62B31}"/>
              </a:ext>
            </a:extLst>
          </p:cNvPr>
          <p:cNvSpPr>
            <a:spLocks noGrp="1"/>
          </p:cNvSpPr>
          <p:nvPr/>
        </p:nvSpPr>
        <p:spPr>
          <a:xfrm>
            <a:off x="8934450" y="4867275"/>
            <a:ext cx="2647950" cy="95250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Each dot keeps</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one day’s pair.</a:t>
            </a:r>
          </a:p>
        </p:txBody>
      </p:sp>
      <p:sp>
        <p:nvSpPr>
          <p:cNvPr id="6" name="Text">
            <a:extLst>
              <a:ext uri="{FF2B5EF4-FFF2-40B4-BE49-F238E27FC236}">
                <a16:creationId xmlns:a16="http://schemas.microsoft.com/office/drawing/2014/main" id="{06E259E4-81CF-4BB3-8455-5066BF7888BE}"/>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The graph suggests a positive association: larger x tends to occur with larger y.</a:t>
            </a:r>
          </a:p>
        </p:txBody>
      </p:sp>
    </p:spTree>
    <p:extLst>
      <p:ext uri="{BB962C8B-B14F-4D97-AF65-F5344CB8AC3E}">
        <p14:creationId xmlns:p14="http://schemas.microsoft.com/office/powerpoint/2010/main" val="19205318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title">
            <a:extLst>
              <a:ext uri="{FF2B5EF4-FFF2-40B4-BE49-F238E27FC236}">
                <a16:creationId xmlns:a16="http://schemas.microsoft.com/office/drawing/2014/main" id="{C8AA7059-E3DA-4571-A497-50ED1973C180}"/>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Three possible patterns</a:t>
            </a:r>
          </a:p>
        </p:txBody>
      </p:sp>
      <p:sp>
        <p:nvSpPr>
          <p:cNvPr id="2" name="Text">
            <a:extLst>
              <a:ext uri="{FF2B5EF4-FFF2-40B4-BE49-F238E27FC236}">
                <a16:creationId xmlns:a16="http://schemas.microsoft.com/office/drawing/2014/main" id="{C8C65B5D-BAF8-4CA4-978E-D5FC2C852D70}"/>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Look for a general tendency across the points.</a:t>
            </a:r>
          </a:p>
        </p:txBody>
      </p:sp>
      <p:sp>
        <p:nvSpPr>
          <p:cNvPr id="3" name="Text">
            <a:extLst>
              <a:ext uri="{FF2B5EF4-FFF2-40B4-BE49-F238E27FC236}">
                <a16:creationId xmlns:a16="http://schemas.microsoft.com/office/drawing/2014/main" id="{90B2CC06-9E89-43CE-92A8-A791F1DEF7B0}"/>
              </a:ext>
            </a:extLst>
          </p:cNvPr>
          <p:cNvSpPr>
            <a:spLocks noGrp="1"/>
          </p:cNvSpPr>
          <p:nvPr/>
        </p:nvSpPr>
        <p:spPr>
          <a:xfrm>
            <a:off x="619125" y="2914650"/>
            <a:ext cx="3333750" cy="43815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Positive</a:t>
            </a:r>
          </a:p>
        </p:txBody>
      </p:sp>
      <p:graphicFrame>
        <p:nvGraphicFramePr>
          <p:cNvPr id="17" name="Chart"/>
          <p:cNvGraphicFramePr/>
          <p:nvPr/>
        </p:nvGraphicFramePr>
        <p:xfrm>
          <a:off x="523875" y="3429000"/>
          <a:ext cx="3571875" cy="211455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a:extLst>
              <a:ext uri="{FF2B5EF4-FFF2-40B4-BE49-F238E27FC236}">
                <a16:creationId xmlns:a16="http://schemas.microsoft.com/office/drawing/2014/main" id="{222EC09F-4F23-4387-9F5F-4747A72C5702}"/>
              </a:ext>
            </a:extLst>
          </p:cNvPr>
          <p:cNvSpPr>
            <a:spLocks noGrp="1"/>
          </p:cNvSpPr>
          <p:nvPr/>
        </p:nvSpPr>
        <p:spPr>
          <a:xfrm>
            <a:off x="4371975" y="2914650"/>
            <a:ext cx="3333750" cy="43815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Negative</a:t>
            </a:r>
          </a:p>
        </p:txBody>
      </p:sp>
      <p:graphicFrame>
        <p:nvGraphicFramePr>
          <p:cNvPr id="19" name="Chart"/>
          <p:cNvGraphicFramePr/>
          <p:nvPr/>
        </p:nvGraphicFramePr>
        <p:xfrm>
          <a:off x="4276725" y="3429000"/>
          <a:ext cx="3571875" cy="211455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a:extLst>
              <a:ext uri="{FF2B5EF4-FFF2-40B4-BE49-F238E27FC236}">
                <a16:creationId xmlns:a16="http://schemas.microsoft.com/office/drawing/2014/main" id="{D9030E98-4F29-4AC9-8C7E-880122D17BFD}"/>
              </a:ext>
            </a:extLst>
          </p:cNvPr>
          <p:cNvSpPr>
            <a:spLocks noGrp="1"/>
          </p:cNvSpPr>
          <p:nvPr/>
        </p:nvSpPr>
        <p:spPr>
          <a:xfrm>
            <a:off x="8124825" y="2914650"/>
            <a:ext cx="3333750" cy="43815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No clear pattern</a:t>
            </a:r>
          </a:p>
        </p:txBody>
      </p:sp>
      <p:graphicFrame>
        <p:nvGraphicFramePr>
          <p:cNvPr id="21" name="Chart"/>
          <p:cNvGraphicFramePr/>
          <p:nvPr/>
        </p:nvGraphicFramePr>
        <p:xfrm>
          <a:off x="8029575" y="3429000"/>
          <a:ext cx="3571875" cy="2114550"/>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
            <a:extLst>
              <a:ext uri="{FF2B5EF4-FFF2-40B4-BE49-F238E27FC236}">
                <a16:creationId xmlns:a16="http://schemas.microsoft.com/office/drawing/2014/main" id="{05B82A65-9402-4A7F-ADD0-3B3A2653FB5A}"/>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Association describes a pattern. It does not by itself establish cause and effect.</a:t>
            </a:r>
          </a:p>
        </p:txBody>
      </p:sp>
    </p:spTree>
    <p:extLst>
      <p:ext uri="{BB962C8B-B14F-4D97-AF65-F5344CB8AC3E}">
        <p14:creationId xmlns:p14="http://schemas.microsoft.com/office/powerpoint/2010/main" val="17204395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68238117-0458-450C-BAE4-E59D7546A77F}"/>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advertising and sales</a:t>
            </a:r>
          </a:p>
        </p:txBody>
      </p:sp>
      <p:sp>
        <p:nvSpPr>
          <p:cNvPr id="2" name="Lead">
            <a:extLst>
              <a:ext uri="{FF2B5EF4-FFF2-40B4-BE49-F238E27FC236}">
                <a16:creationId xmlns:a16="http://schemas.microsoft.com/office/drawing/2014/main" id="{336A0F22-07CB-48C8-890D-C1C6766B3C2E}"/>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Each row describes one month for a consumer-goods company.</a:t>
            </a:r>
          </a:p>
        </p:txBody>
      </p:sp>
      <p:sp>
        <p:nvSpPr>
          <p:cNvPr id="3" name="Text">
            <a:extLst>
              <a:ext uri="{FF2B5EF4-FFF2-40B4-BE49-F238E27FC236}">
                <a16:creationId xmlns:a16="http://schemas.microsoft.com/office/drawing/2014/main" id="{D2D8EC17-E4A5-4C79-8939-D1B62CC64C6C}"/>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B6</a:t>
            </a:r>
          </a:p>
        </p:txBody>
      </p:sp>
      <p:sp>
        <p:nvSpPr>
          <p:cNvPr id="4" name="Footer">
            <a:extLst>
              <a:ext uri="{FF2B5EF4-FFF2-40B4-BE49-F238E27FC236}">
                <a16:creationId xmlns:a16="http://schemas.microsoft.com/office/drawing/2014/main" id="{989C88FD-509E-4ECA-91D0-187C7415A139}"/>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4 minutes. £000s means thousands of pounds. For example, 22.5 means £22,500.</a:t>
            </a:r>
          </a:p>
        </p:txBody>
      </p:sp>
      <p:graphicFrame>
        <p:nvGraphicFramePr>
          <p:cNvPr id="13" name="Table 12"/>
          <p:cNvGraphicFramePr/>
          <p:nvPr/>
        </p:nvGraphicFramePr>
        <p:xfrm>
          <a:off x="619125" y="2733675"/>
          <a:ext cx="7143750" cy="2714625"/>
        </p:xfrm>
        <a:graphic>
          <a:graphicData uri="http://schemas.openxmlformats.org/drawingml/2006/table">
            <a:tbl>
              <a:tblPr/>
              <a:tblGrid>
                <a:gridCol w="142875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tblGrid>
              <a:tr h="765048">
                <a:tc>
                  <a:txBody>
                    <a:bodyPr/>
                    <a:lstStyle/>
                    <a:p>
                      <a:pPr algn="l">
                        <a:buNone/>
                      </a:pPr>
                      <a:r>
                        <a:rPr sz="2100" b="1">
                          <a:solidFill>
                            <a:srgbClr val="FFFFFF"/>
                          </a:solidFill>
                          <a:latin typeface="Aptos"/>
                          <a:ea typeface="Aptos"/>
                          <a:cs typeface="Aptos"/>
                        </a:rPr>
                        <a:t>Month</a:t>
                      </a:r>
                    </a:p>
                  </a:txBody>
                  <a:tcPr anchor="ctr">
                    <a:solidFill>
                      <a:srgbClr val="D6171D"/>
                    </a:solidFill>
                  </a:tcPr>
                </a:tc>
                <a:tc>
                  <a:txBody>
                    <a:bodyPr/>
                    <a:lstStyle/>
                    <a:p>
                      <a:pPr algn="ctr">
                        <a:buNone/>
                      </a:pPr>
                      <a:r>
                        <a:rPr sz="2100" b="1">
                          <a:solidFill>
                            <a:srgbClr val="FFFFFF"/>
                          </a:solidFill>
                          <a:latin typeface="Aptos"/>
                          <a:ea typeface="Aptos"/>
                          <a:cs typeface="Aptos"/>
                        </a:rPr>
                        <a:t>Advertising</a:t>
                      </a:r>
                    </a:p>
                    <a:p>
                      <a:pPr algn="ctr">
                        <a:buNone/>
                      </a:pPr>
                      <a:r>
                        <a:rPr sz="2100" b="1">
                          <a:solidFill>
                            <a:srgbClr val="FFFFFF"/>
                          </a:solidFill>
                          <a:latin typeface="Aptos"/>
                          <a:ea typeface="Aptos"/>
                          <a:cs typeface="Aptos"/>
                        </a:rPr>
                        <a:t>£000s (X)</a:t>
                      </a:r>
                    </a:p>
                  </a:txBody>
                  <a:tcPr anchor="ctr">
                    <a:solidFill>
                      <a:srgbClr val="D6171D"/>
                    </a:solidFill>
                  </a:tcPr>
                </a:tc>
                <a:tc>
                  <a:txBody>
                    <a:bodyPr/>
                    <a:lstStyle/>
                    <a:p>
                      <a:pPr algn="ctr">
                        <a:buNone/>
                      </a:pPr>
                      <a:r>
                        <a:rPr sz="2100" b="1">
                          <a:solidFill>
                            <a:srgbClr val="FFFFFF"/>
                          </a:solidFill>
                          <a:latin typeface="Aptos"/>
                          <a:ea typeface="Aptos"/>
                          <a:cs typeface="Aptos"/>
                        </a:rPr>
                        <a:t>Sales</a:t>
                      </a:r>
                    </a:p>
                    <a:p>
                      <a:pPr algn="ctr">
                        <a:buNone/>
                      </a:pPr>
                      <a:r>
                        <a:rPr sz="2100" b="1">
                          <a:solidFill>
                            <a:srgbClr val="FFFFFF"/>
                          </a:solidFill>
                          <a:latin typeface="Aptos"/>
                          <a:ea typeface="Aptos"/>
                          <a:cs typeface="Aptos"/>
                        </a:rPr>
                        <a:t>£000s (Y)</a:t>
                      </a:r>
                    </a:p>
                  </a:txBody>
                  <a:tcPr anchor="ctr">
                    <a:solidFill>
                      <a:srgbClr val="D6171D"/>
                    </a:solidFill>
                  </a:tcPr>
                </a:tc>
                <a:extLst>
                  <a:ext uri="{0D108BD9-81ED-4DB2-BD59-A6C34878D82A}">
                    <a16:rowId xmlns:a16="http://schemas.microsoft.com/office/drawing/2014/main" val="10000"/>
                  </a:ext>
                </a:extLst>
              </a:tr>
              <a:tr h="389915">
                <a:tc>
                  <a:txBody>
                    <a:bodyPr/>
                    <a:lstStyle/>
                    <a:p>
                      <a:pPr algn="l">
                        <a:buNone/>
                      </a:pPr>
                      <a:r>
                        <a:rPr sz="2100" b="0">
                          <a:solidFill>
                            <a:srgbClr val="111111"/>
                          </a:solidFill>
                          <a:latin typeface="Aptos"/>
                          <a:ea typeface="Aptos"/>
                          <a:cs typeface="Aptos"/>
                        </a:rPr>
                        <a:t>1</a:t>
                      </a:r>
                    </a:p>
                  </a:txBody>
                  <a:tcPr anchor="ctr">
                    <a:solidFill>
                      <a:srgbClr val="FFFFFF"/>
                    </a:solidFill>
                  </a:tcPr>
                </a:tc>
                <a:tc>
                  <a:txBody>
                    <a:bodyPr/>
                    <a:lstStyle/>
                    <a:p>
                      <a:pPr algn="ctr">
                        <a:buNone/>
                      </a:pPr>
                      <a:r>
                        <a:rPr sz="2100" b="0">
                          <a:solidFill>
                            <a:srgbClr val="111111"/>
                          </a:solidFill>
                          <a:latin typeface="Aptos"/>
                          <a:ea typeface="Aptos"/>
                          <a:cs typeface="Aptos"/>
                        </a:rPr>
                        <a:t>15</a:t>
                      </a:r>
                    </a:p>
                  </a:txBody>
                  <a:tcPr anchor="ctr">
                    <a:solidFill>
                      <a:srgbClr val="FFFFFF"/>
                    </a:solidFill>
                  </a:tcPr>
                </a:tc>
                <a:tc>
                  <a:txBody>
                    <a:bodyPr/>
                    <a:lstStyle/>
                    <a:p>
                      <a:pPr algn="ctr">
                        <a:buNone/>
                      </a:pPr>
                      <a:r>
                        <a:rPr sz="2100" b="0">
                          <a:solidFill>
                            <a:srgbClr val="111111"/>
                          </a:solidFill>
                          <a:latin typeface="Aptos"/>
                          <a:ea typeface="Aptos"/>
                          <a:cs typeface="Aptos"/>
                        </a:rPr>
                        <a:t>150</a:t>
                      </a:r>
                    </a:p>
                  </a:txBody>
                  <a:tcPr anchor="ctr">
                    <a:solidFill>
                      <a:srgbClr val="FFFFFF"/>
                    </a:solidFill>
                  </a:tcPr>
                </a:tc>
                <a:extLst>
                  <a:ext uri="{0D108BD9-81ED-4DB2-BD59-A6C34878D82A}">
                    <a16:rowId xmlns:a16="http://schemas.microsoft.com/office/drawing/2014/main" val="10001"/>
                  </a:ext>
                </a:extLst>
              </a:tr>
              <a:tr h="389915">
                <a:tc>
                  <a:txBody>
                    <a:bodyPr/>
                    <a:lstStyle/>
                    <a:p>
                      <a:pPr algn="l">
                        <a:buNone/>
                      </a:pPr>
                      <a:r>
                        <a:rPr sz="2100" b="0">
                          <a:solidFill>
                            <a:srgbClr val="111111"/>
                          </a:solidFill>
                          <a:latin typeface="Aptos"/>
                          <a:ea typeface="Aptos"/>
                          <a:cs typeface="Aptos"/>
                        </a:rPr>
                        <a:t>2</a:t>
                      </a:r>
                    </a:p>
                  </a:txBody>
                  <a:tcPr anchor="ctr">
                    <a:solidFill>
                      <a:srgbClr val="EEF8FE"/>
                    </a:solidFill>
                  </a:tcPr>
                </a:tc>
                <a:tc>
                  <a:txBody>
                    <a:bodyPr/>
                    <a:lstStyle/>
                    <a:p>
                      <a:pPr algn="ctr">
                        <a:buNone/>
                      </a:pPr>
                      <a:r>
                        <a:rPr sz="2100" b="0">
                          <a:solidFill>
                            <a:srgbClr val="111111"/>
                          </a:solidFill>
                          <a:latin typeface="Aptos"/>
                          <a:ea typeface="Aptos"/>
                          <a:cs typeface="Aptos"/>
                        </a:rPr>
                        <a:t>22.5</a:t>
                      </a:r>
                    </a:p>
                  </a:txBody>
                  <a:tcPr anchor="ctr">
                    <a:solidFill>
                      <a:srgbClr val="EEF8FE"/>
                    </a:solidFill>
                  </a:tcPr>
                </a:tc>
                <a:tc>
                  <a:txBody>
                    <a:bodyPr/>
                    <a:lstStyle/>
                    <a:p>
                      <a:pPr algn="ctr">
                        <a:buNone/>
                      </a:pPr>
                      <a:r>
                        <a:rPr sz="2100" b="0">
                          <a:solidFill>
                            <a:srgbClr val="111111"/>
                          </a:solidFill>
                          <a:latin typeface="Aptos"/>
                          <a:ea typeface="Aptos"/>
                          <a:cs typeface="Aptos"/>
                        </a:rPr>
                        <a:t>300</a:t>
                      </a:r>
                    </a:p>
                  </a:txBody>
                  <a:tcPr anchor="ctr">
                    <a:solidFill>
                      <a:srgbClr val="EEF8FE"/>
                    </a:solidFill>
                  </a:tcPr>
                </a:tc>
                <a:extLst>
                  <a:ext uri="{0D108BD9-81ED-4DB2-BD59-A6C34878D82A}">
                    <a16:rowId xmlns:a16="http://schemas.microsoft.com/office/drawing/2014/main" val="10002"/>
                  </a:ext>
                </a:extLst>
              </a:tr>
              <a:tr h="389915">
                <a:tc>
                  <a:txBody>
                    <a:bodyPr/>
                    <a:lstStyle/>
                    <a:p>
                      <a:pPr algn="l">
                        <a:buNone/>
                      </a:pPr>
                      <a:r>
                        <a:rPr sz="2100" b="0">
                          <a:solidFill>
                            <a:srgbClr val="111111"/>
                          </a:solidFill>
                          <a:latin typeface="Aptos"/>
                          <a:ea typeface="Aptos"/>
                          <a:cs typeface="Aptos"/>
                        </a:rPr>
                        <a:t>3</a:t>
                      </a:r>
                    </a:p>
                  </a:txBody>
                  <a:tcPr anchor="ctr">
                    <a:solidFill>
                      <a:srgbClr val="FFFFFF"/>
                    </a:solidFill>
                  </a:tcPr>
                </a:tc>
                <a:tc>
                  <a:txBody>
                    <a:bodyPr/>
                    <a:lstStyle/>
                    <a:p>
                      <a:pPr algn="ctr">
                        <a:buNone/>
                      </a:pPr>
                      <a:r>
                        <a:rPr sz="2100" b="0">
                          <a:solidFill>
                            <a:srgbClr val="111111"/>
                          </a:solidFill>
                          <a:latin typeface="Aptos"/>
                          <a:ea typeface="Aptos"/>
                          <a:cs typeface="Aptos"/>
                        </a:rPr>
                        <a:t>10.5</a:t>
                      </a:r>
                    </a:p>
                  </a:txBody>
                  <a:tcPr anchor="ctr">
                    <a:solidFill>
                      <a:srgbClr val="FFFFFF"/>
                    </a:solidFill>
                  </a:tcPr>
                </a:tc>
                <a:tc>
                  <a:txBody>
                    <a:bodyPr/>
                    <a:lstStyle/>
                    <a:p>
                      <a:pPr algn="ctr">
                        <a:buNone/>
                      </a:pPr>
                      <a:r>
                        <a:rPr sz="2100" b="0">
                          <a:solidFill>
                            <a:srgbClr val="111111"/>
                          </a:solidFill>
                          <a:latin typeface="Aptos"/>
                          <a:ea typeface="Aptos"/>
                          <a:cs typeface="Aptos"/>
                        </a:rPr>
                        <a:t>120</a:t>
                      </a:r>
                    </a:p>
                  </a:txBody>
                  <a:tcPr anchor="ctr">
                    <a:solidFill>
                      <a:srgbClr val="FFFFFF"/>
                    </a:solidFill>
                  </a:tcPr>
                </a:tc>
                <a:extLst>
                  <a:ext uri="{0D108BD9-81ED-4DB2-BD59-A6C34878D82A}">
                    <a16:rowId xmlns:a16="http://schemas.microsoft.com/office/drawing/2014/main" val="10003"/>
                  </a:ext>
                </a:extLst>
              </a:tr>
              <a:tr h="389915">
                <a:tc>
                  <a:txBody>
                    <a:bodyPr/>
                    <a:lstStyle/>
                    <a:p>
                      <a:pPr algn="l">
                        <a:buNone/>
                      </a:pPr>
                      <a:r>
                        <a:rPr sz="2100" b="0">
                          <a:solidFill>
                            <a:srgbClr val="111111"/>
                          </a:solidFill>
                          <a:latin typeface="Aptos"/>
                          <a:ea typeface="Aptos"/>
                          <a:cs typeface="Aptos"/>
                        </a:rPr>
                        <a:t>4</a:t>
                      </a:r>
                    </a:p>
                  </a:txBody>
                  <a:tcPr anchor="ctr">
                    <a:solidFill>
                      <a:srgbClr val="EEF8FE"/>
                    </a:solidFill>
                  </a:tcPr>
                </a:tc>
                <a:tc>
                  <a:txBody>
                    <a:bodyPr/>
                    <a:lstStyle/>
                    <a:p>
                      <a:pPr algn="ctr">
                        <a:buNone/>
                      </a:pPr>
                      <a:r>
                        <a:rPr sz="2100" b="0">
                          <a:solidFill>
                            <a:srgbClr val="111111"/>
                          </a:solidFill>
                          <a:latin typeface="Aptos"/>
                          <a:ea typeface="Aptos"/>
                          <a:cs typeface="Aptos"/>
                        </a:rPr>
                        <a:t>18</a:t>
                      </a:r>
                    </a:p>
                  </a:txBody>
                  <a:tcPr anchor="ctr">
                    <a:solidFill>
                      <a:srgbClr val="EEF8FE"/>
                    </a:solidFill>
                  </a:tcPr>
                </a:tc>
                <a:tc>
                  <a:txBody>
                    <a:bodyPr/>
                    <a:lstStyle/>
                    <a:p>
                      <a:pPr algn="ctr">
                        <a:buNone/>
                      </a:pPr>
                      <a:r>
                        <a:rPr sz="2100" b="0">
                          <a:solidFill>
                            <a:srgbClr val="111111"/>
                          </a:solidFill>
                          <a:latin typeface="Aptos"/>
                          <a:ea typeface="Aptos"/>
                          <a:cs typeface="Aptos"/>
                        </a:rPr>
                        <a:t>180</a:t>
                      </a:r>
                    </a:p>
                  </a:txBody>
                  <a:tcPr anchor="ctr">
                    <a:solidFill>
                      <a:srgbClr val="EEF8FE"/>
                    </a:solidFill>
                  </a:tcPr>
                </a:tc>
                <a:extLst>
                  <a:ext uri="{0D108BD9-81ED-4DB2-BD59-A6C34878D82A}">
                    <a16:rowId xmlns:a16="http://schemas.microsoft.com/office/drawing/2014/main" val="10004"/>
                  </a:ext>
                </a:extLst>
              </a:tr>
              <a:tr h="389915">
                <a:tc>
                  <a:txBody>
                    <a:bodyPr/>
                    <a:lstStyle/>
                    <a:p>
                      <a:pPr algn="l">
                        <a:buNone/>
                      </a:pPr>
                      <a:r>
                        <a:rPr sz="2100" b="0">
                          <a:solidFill>
                            <a:srgbClr val="111111"/>
                          </a:solidFill>
                          <a:latin typeface="Aptos"/>
                          <a:ea typeface="Aptos"/>
                          <a:cs typeface="Aptos"/>
                        </a:rPr>
                        <a:t>5</a:t>
                      </a:r>
                    </a:p>
                  </a:txBody>
                  <a:tcPr anchor="ctr">
                    <a:solidFill>
                      <a:srgbClr val="FFFFFF"/>
                    </a:solidFill>
                  </a:tcPr>
                </a:tc>
                <a:tc>
                  <a:txBody>
                    <a:bodyPr/>
                    <a:lstStyle/>
                    <a:p>
                      <a:pPr algn="ctr">
                        <a:buNone/>
                      </a:pPr>
                      <a:r>
                        <a:rPr sz="2100" b="0">
                          <a:solidFill>
                            <a:srgbClr val="111111"/>
                          </a:solidFill>
                          <a:latin typeface="Aptos"/>
                          <a:ea typeface="Aptos"/>
                          <a:cs typeface="Aptos"/>
                        </a:rPr>
                        <a:t>21</a:t>
                      </a:r>
                    </a:p>
                  </a:txBody>
                  <a:tcPr anchor="ctr">
                    <a:solidFill>
                      <a:srgbClr val="FFFFFF"/>
                    </a:solidFill>
                  </a:tcPr>
                </a:tc>
                <a:tc>
                  <a:txBody>
                    <a:bodyPr/>
                    <a:lstStyle/>
                    <a:p>
                      <a:pPr algn="ctr">
                        <a:buNone/>
                      </a:pPr>
                      <a:r>
                        <a:rPr sz="2100" b="0">
                          <a:solidFill>
                            <a:srgbClr val="111111"/>
                          </a:solidFill>
                          <a:latin typeface="Aptos"/>
                          <a:ea typeface="Aptos"/>
                          <a:cs typeface="Aptos"/>
                        </a:rPr>
                        <a:t>225</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6" name="Text">
            <a:extLst>
              <a:ext uri="{FF2B5EF4-FFF2-40B4-BE49-F238E27FC236}">
                <a16:creationId xmlns:a16="http://schemas.microsoft.com/office/drawing/2014/main" id="{A2369DDB-7272-4D7F-8A69-33B5E6A88584}"/>
              </a:ext>
            </a:extLst>
          </p:cNvPr>
          <p:cNvSpPr>
            <a:spLocks noGrp="1"/>
          </p:cNvSpPr>
          <p:nvPr/>
        </p:nvSpPr>
        <p:spPr>
          <a:xfrm>
            <a:off x="8239125" y="2952750"/>
            <a:ext cx="3333750" cy="266700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Plot all five pairs.</a:t>
            </a:r>
          </a:p>
          <a:p>
            <a:endParaRPr sz="2325" b="0">
              <a:solidFill>
                <a:srgbClr val="111111"/>
              </a:solidFill>
              <a:latin typeface="Aptos"/>
              <a:ea typeface="Aptos"/>
              <a:cs typeface="Aptos"/>
            </a:endParaRPr>
          </a:p>
          <a:p>
            <a:pPr algn="l">
              <a:buNone/>
              <a:defRPr sz="2325" b="0">
                <a:solidFill>
                  <a:srgbClr val="111111"/>
                </a:solidFill>
                <a:latin typeface="Aptos"/>
                <a:ea typeface="Aptos"/>
                <a:cs typeface="Aptos"/>
              </a:defRPr>
            </a:pPr>
            <a:r>
              <a:rPr sz="2325" b="0">
                <a:solidFill>
                  <a:srgbClr val="111111"/>
                </a:solidFill>
                <a:latin typeface="Aptos"/>
                <a:ea typeface="Aptos"/>
                <a:cs typeface="Aptos"/>
              </a:rPr>
              <a:t>Label both numerical axes.</a:t>
            </a:r>
          </a:p>
          <a:p>
            <a:endParaRPr sz="2325" b="0">
              <a:solidFill>
                <a:srgbClr val="111111"/>
              </a:solidFill>
              <a:latin typeface="Aptos"/>
              <a:ea typeface="Aptos"/>
              <a:cs typeface="Aptos"/>
            </a:endParaRPr>
          </a:p>
          <a:p>
            <a:pPr algn="l">
              <a:buNone/>
              <a:defRPr sz="2325" b="0">
                <a:solidFill>
                  <a:srgbClr val="111111"/>
                </a:solidFill>
                <a:latin typeface="Aptos"/>
                <a:ea typeface="Aptos"/>
                <a:cs typeface="Aptos"/>
              </a:defRPr>
            </a:pPr>
            <a:r>
              <a:rPr sz="2325" b="0">
                <a:solidFill>
                  <a:srgbClr val="111111"/>
                </a:solidFill>
                <a:latin typeface="Aptos"/>
                <a:ea typeface="Aptos"/>
                <a:cs typeface="Aptos"/>
              </a:rPr>
              <a:t>Describe the overall pattern.</a:t>
            </a:r>
          </a:p>
        </p:txBody>
      </p:sp>
    </p:spTree>
    <p:extLst>
      <p:ext uri="{BB962C8B-B14F-4D97-AF65-F5344CB8AC3E}">
        <p14:creationId xmlns:p14="http://schemas.microsoft.com/office/powerpoint/2010/main" val="4214003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title">
            <a:extLst>
              <a:ext uri="{FF2B5EF4-FFF2-40B4-BE49-F238E27FC236}">
                <a16:creationId xmlns:a16="http://schemas.microsoft.com/office/drawing/2014/main" id="{1E8318E2-60F4-48EA-874E-6190E335F969}"/>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Advertising and sales: plot check</a:t>
            </a:r>
          </a:p>
        </p:txBody>
      </p:sp>
      <p:sp>
        <p:nvSpPr>
          <p:cNvPr id="2" name="Text">
            <a:extLst>
              <a:ext uri="{FF2B5EF4-FFF2-40B4-BE49-F238E27FC236}">
                <a16:creationId xmlns:a16="http://schemas.microsoft.com/office/drawing/2014/main" id="{737BE109-DFAD-49B1-8BC1-04FC7B1685F6}"/>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The points show a positive association in these five months.</a:t>
            </a:r>
          </a:p>
        </p:txBody>
      </p:sp>
      <p:sp>
        <p:nvSpPr>
          <p:cNvPr id="3" name="Rectangle 2">
            <a:extLst>
              <a:ext uri="{FF2B5EF4-FFF2-40B4-BE49-F238E27FC236}">
                <a16:creationId xmlns:a16="http://schemas.microsoft.com/office/drawing/2014/main" id="{563CC675-85C3-4F31-BB54-D7EFEB80BE1F}"/>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8CE8FEE7-9DD3-4288-8E96-5F8518F89AB3}"/>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B6</a:t>
            </a:r>
          </a:p>
        </p:txBody>
      </p:sp>
      <p:graphicFrame>
        <p:nvGraphicFramePr>
          <p:cNvPr id="15" name="Chart"/>
          <p:cNvGraphicFramePr/>
          <p:nvPr/>
        </p:nvGraphicFramePr>
        <p:xfrm>
          <a:off x="523875" y="2771775"/>
          <a:ext cx="8096250" cy="30575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a:extLst>
              <a:ext uri="{FF2B5EF4-FFF2-40B4-BE49-F238E27FC236}">
                <a16:creationId xmlns:a16="http://schemas.microsoft.com/office/drawing/2014/main" id="{D6D8EC12-0277-4E07-AA20-83587BC47140}"/>
              </a:ext>
            </a:extLst>
          </p:cNvPr>
          <p:cNvSpPr>
            <a:spLocks noGrp="1"/>
          </p:cNvSpPr>
          <p:nvPr/>
        </p:nvSpPr>
        <p:spPr>
          <a:xfrm>
            <a:off x="8896350" y="3048000"/>
            <a:ext cx="2676525" cy="137160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Higher advertising</a:t>
            </a:r>
          </a:p>
          <a:p>
            <a:pPr algn="l">
              <a:buNone/>
              <a:defRPr sz="2325" b="1">
                <a:solidFill>
                  <a:srgbClr val="111111"/>
                </a:solidFill>
                <a:latin typeface="Aptos"/>
                <a:ea typeface="Aptos"/>
                <a:cs typeface="Aptos"/>
              </a:defRPr>
            </a:pPr>
            <a:r>
              <a:rPr sz="2325" b="1">
                <a:solidFill>
                  <a:srgbClr val="111111"/>
                </a:solidFill>
                <a:latin typeface="Aptos"/>
                <a:ea typeface="Aptos"/>
                <a:cs typeface="Aptos"/>
              </a:rPr>
              <a:t>tends to go with</a:t>
            </a:r>
          </a:p>
          <a:p>
            <a:pPr algn="l">
              <a:buNone/>
              <a:defRPr sz="2325" b="1">
                <a:solidFill>
                  <a:srgbClr val="111111"/>
                </a:solidFill>
                <a:latin typeface="Aptos"/>
                <a:ea typeface="Aptos"/>
                <a:cs typeface="Aptos"/>
              </a:defRPr>
            </a:pPr>
            <a:r>
              <a:rPr sz="2325" b="1">
                <a:solidFill>
                  <a:srgbClr val="111111"/>
                </a:solidFill>
                <a:latin typeface="Aptos"/>
                <a:ea typeface="Aptos"/>
                <a:cs typeface="Aptos"/>
              </a:rPr>
              <a:t>higher sales.</a:t>
            </a:r>
          </a:p>
        </p:txBody>
      </p:sp>
      <p:sp>
        <p:nvSpPr>
          <p:cNvPr id="7" name="Text">
            <a:extLst>
              <a:ext uri="{FF2B5EF4-FFF2-40B4-BE49-F238E27FC236}">
                <a16:creationId xmlns:a16="http://schemas.microsoft.com/office/drawing/2014/main" id="{84D6A1D0-9546-453E-9E5C-CADB65E1EBC0}"/>
              </a:ext>
            </a:extLst>
          </p:cNvPr>
          <p:cNvSpPr>
            <a:spLocks noGrp="1"/>
          </p:cNvSpPr>
          <p:nvPr/>
        </p:nvSpPr>
        <p:spPr>
          <a:xfrm>
            <a:off x="8896350" y="4886325"/>
            <a:ext cx="2676525" cy="914400"/>
          </a:xfrm>
          <a:prstGeom prst="rect">
            <a:avLst/>
          </a:prstGeom>
          <a:noFill/>
          <a:ln w="0">
            <a:noFill/>
          </a:ln>
        </p:spPr>
        <p:txBody>
          <a:bodyPr wrap="square" lIns="0" tIns="0" rIns="0" bIns="0" anchor="t">
            <a:noAutofit/>
          </a:bodyPr>
          <a:lstStyle/>
          <a:p>
            <a:pPr algn="l">
              <a:buNone/>
              <a:defRPr sz="2100" b="0">
                <a:solidFill>
                  <a:srgbClr val="111111"/>
                </a:solidFill>
                <a:latin typeface="Aptos"/>
                <a:ea typeface="Aptos"/>
                <a:cs typeface="Aptos"/>
              </a:defRPr>
            </a:pPr>
            <a:r>
              <a:rPr sz="2100" b="0">
                <a:solidFill>
                  <a:srgbClr val="111111"/>
                </a:solidFill>
                <a:latin typeface="Aptos"/>
                <a:ea typeface="Aptos"/>
                <a:cs typeface="Aptos"/>
              </a:rPr>
              <a:t>A pattern alone</a:t>
            </a:r>
          </a:p>
          <a:p>
            <a:pPr algn="l">
              <a:buNone/>
              <a:defRPr sz="2100" b="0">
                <a:solidFill>
                  <a:srgbClr val="111111"/>
                </a:solidFill>
                <a:latin typeface="Aptos"/>
                <a:ea typeface="Aptos"/>
                <a:cs typeface="Aptos"/>
              </a:defRPr>
            </a:pPr>
            <a:r>
              <a:rPr sz="2100" b="0">
                <a:solidFill>
                  <a:srgbClr val="111111"/>
                </a:solidFill>
                <a:latin typeface="Aptos"/>
                <a:ea typeface="Aptos"/>
                <a:cs typeface="Aptos"/>
              </a:rPr>
              <a:t>does not prove</a:t>
            </a:r>
          </a:p>
          <a:p>
            <a:pPr algn="l">
              <a:buNone/>
              <a:defRPr sz="2100" b="0">
                <a:solidFill>
                  <a:srgbClr val="111111"/>
                </a:solidFill>
                <a:latin typeface="Aptos"/>
                <a:ea typeface="Aptos"/>
                <a:cs typeface="Aptos"/>
              </a:defRPr>
            </a:pPr>
            <a:r>
              <a:rPr sz="2100" b="0">
                <a:solidFill>
                  <a:srgbClr val="111111"/>
                </a:solidFill>
                <a:latin typeface="Aptos"/>
                <a:ea typeface="Aptos"/>
                <a:cs typeface="Aptos"/>
              </a:rPr>
              <a:t>cause and effect.</a:t>
            </a:r>
          </a:p>
        </p:txBody>
      </p:sp>
      <p:sp>
        <p:nvSpPr>
          <p:cNvPr id="8" name="Text">
            <a:extLst>
              <a:ext uri="{FF2B5EF4-FFF2-40B4-BE49-F238E27FC236}">
                <a16:creationId xmlns:a16="http://schemas.microsoft.com/office/drawing/2014/main" id="{6795B518-455F-401F-9002-B340EECCB0F6}"/>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Check the two decimal x-values. Each dot still represents one month.</a:t>
            </a:r>
          </a:p>
        </p:txBody>
      </p:sp>
    </p:spTree>
    <p:extLst>
      <p:ext uri="{BB962C8B-B14F-4D97-AF65-F5344CB8AC3E}">
        <p14:creationId xmlns:p14="http://schemas.microsoft.com/office/powerpoint/2010/main" val="19689471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title">
            <a:extLst>
              <a:ext uri="{FF2B5EF4-FFF2-40B4-BE49-F238E27FC236}">
                <a16:creationId xmlns:a16="http://schemas.microsoft.com/office/drawing/2014/main" id="{4B9B6F09-3742-478D-8B38-8C0909F193B5}"/>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a line of best fit</a:t>
            </a:r>
          </a:p>
        </p:txBody>
      </p:sp>
      <p:sp>
        <p:nvSpPr>
          <p:cNvPr id="2" name="Text">
            <a:extLst>
              <a:ext uri="{FF2B5EF4-FFF2-40B4-BE49-F238E27FC236}">
                <a16:creationId xmlns:a16="http://schemas.microsoft.com/office/drawing/2014/main" id="{DF04D7B6-8016-4DE6-8621-A7FFE8986763}"/>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A straight trend line can summarise the overall relationship.</a:t>
            </a:r>
          </a:p>
        </p:txBody>
      </p:sp>
      <p:sp>
        <p:nvSpPr>
          <p:cNvPr id="3" name="Rectangle 2">
            <a:extLst>
              <a:ext uri="{FF2B5EF4-FFF2-40B4-BE49-F238E27FC236}">
                <a16:creationId xmlns:a16="http://schemas.microsoft.com/office/drawing/2014/main" id="{50D6C396-CF0E-4817-A35E-C429161A340B}"/>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5F606966-D1BC-4121-9857-16DD4BD56592}"/>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B7</a:t>
            </a:r>
          </a:p>
        </p:txBody>
      </p:sp>
      <p:sp>
        <p:nvSpPr>
          <p:cNvPr id="5" name="Text">
            <a:extLst>
              <a:ext uri="{FF2B5EF4-FFF2-40B4-BE49-F238E27FC236}">
                <a16:creationId xmlns:a16="http://schemas.microsoft.com/office/drawing/2014/main" id="{4C6D4CF1-FEC4-4231-B87F-73CA8AD83363}"/>
              </a:ext>
            </a:extLst>
          </p:cNvPr>
          <p:cNvSpPr>
            <a:spLocks noGrp="1"/>
          </p:cNvSpPr>
          <p:nvPr/>
        </p:nvSpPr>
        <p:spPr>
          <a:xfrm>
            <a:off x="619125" y="3028950"/>
            <a:ext cx="10906125" cy="857250"/>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Draw one straight line through the centre of the pattern.</a:t>
            </a:r>
          </a:p>
        </p:txBody>
      </p:sp>
      <p:sp>
        <p:nvSpPr>
          <p:cNvPr id="6" name="Text">
            <a:extLst>
              <a:ext uri="{FF2B5EF4-FFF2-40B4-BE49-F238E27FC236}">
                <a16:creationId xmlns:a16="http://schemas.microsoft.com/office/drawing/2014/main" id="{4B4ED4F5-3FEF-4FC2-BC7E-3626DEF936EE}"/>
              </a:ext>
            </a:extLst>
          </p:cNvPr>
          <p:cNvSpPr>
            <a:spLocks noGrp="1"/>
          </p:cNvSpPr>
          <p:nvPr/>
        </p:nvSpPr>
        <p:spPr>
          <a:xfrm>
            <a:off x="619125" y="3962400"/>
            <a:ext cx="10906125" cy="857250"/>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Use the line to estimate sales when advertising is £20,000.</a:t>
            </a:r>
          </a:p>
        </p:txBody>
      </p:sp>
      <p:sp>
        <p:nvSpPr>
          <p:cNvPr id="7" name="Text">
            <a:extLst>
              <a:ext uri="{FF2B5EF4-FFF2-40B4-BE49-F238E27FC236}">
                <a16:creationId xmlns:a16="http://schemas.microsoft.com/office/drawing/2014/main" id="{C74CBFF6-3FF1-4DBF-876E-01B8CDEFACBD}"/>
              </a:ext>
            </a:extLst>
          </p:cNvPr>
          <p:cNvSpPr>
            <a:spLocks noGrp="1"/>
          </p:cNvSpPr>
          <p:nvPr/>
        </p:nvSpPr>
        <p:spPr>
          <a:xfrm>
            <a:off x="619125" y="4895850"/>
            <a:ext cx="10906125" cy="857250"/>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Would you trust a prediction at £50,000? Explain why.</a:t>
            </a:r>
          </a:p>
        </p:txBody>
      </p:sp>
      <p:sp>
        <p:nvSpPr>
          <p:cNvPr id="8" name="Text">
            <a:extLst>
              <a:ext uri="{FF2B5EF4-FFF2-40B4-BE49-F238E27FC236}">
                <a16:creationId xmlns:a16="http://schemas.microsoft.com/office/drawing/2014/main" id="{87F15140-0D9F-4A2B-A31D-CB64FEC836D4}"/>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2½ minutes. Sketch on your scatterplot. The line summarises the trend across the points.</a:t>
            </a:r>
          </a:p>
        </p:txBody>
      </p:sp>
    </p:spTree>
    <p:extLst>
      <p:ext uri="{BB962C8B-B14F-4D97-AF65-F5344CB8AC3E}">
        <p14:creationId xmlns:p14="http://schemas.microsoft.com/office/powerpoint/2010/main" val="16146113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title">
            <a:extLst>
              <a:ext uri="{FF2B5EF4-FFF2-40B4-BE49-F238E27FC236}">
                <a16:creationId xmlns:a16="http://schemas.microsoft.com/office/drawing/2014/main" id="{DF0E3536-17BA-473A-93D4-FCEAB45E1A1C}"/>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Predicting sales at £20,000</a:t>
            </a:r>
          </a:p>
        </p:txBody>
      </p:sp>
      <p:sp>
        <p:nvSpPr>
          <p:cNvPr id="2" name="Lead">
            <a:extLst>
              <a:ext uri="{FF2B5EF4-FFF2-40B4-BE49-F238E27FC236}">
                <a16:creationId xmlns:a16="http://schemas.microsoft.com/office/drawing/2014/main" id="{8DBBF2BE-4C34-449A-BE64-547983717CC7}"/>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£20,000 is inside the observed range, but it is not one of the five recorded budgets.</a:t>
            </a:r>
          </a:p>
        </p:txBody>
      </p:sp>
      <p:sp>
        <p:nvSpPr>
          <p:cNvPr id="3" name="Text">
            <a:extLst>
              <a:ext uri="{FF2B5EF4-FFF2-40B4-BE49-F238E27FC236}">
                <a16:creationId xmlns:a16="http://schemas.microsoft.com/office/drawing/2014/main" id="{20439EF6-DD96-42A1-B85E-AA84971DEA97}"/>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B7</a:t>
            </a:r>
          </a:p>
        </p:txBody>
      </p:sp>
      <p:sp>
        <p:nvSpPr>
          <p:cNvPr id="4" name="Footer">
            <a:extLst>
              <a:ext uri="{FF2B5EF4-FFF2-40B4-BE49-F238E27FC236}">
                <a16:creationId xmlns:a16="http://schemas.microsoft.com/office/drawing/2014/main" id="{3B63C868-CB1B-4DE3-B2FD-5861BE3475BA}"/>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The axes use £ thousands: X = 20 means £20,000; Y ≈ 230 means about £230,000.</a:t>
            </a:r>
          </a:p>
        </p:txBody>
      </p:sp>
      <p:graphicFrame>
        <p:nvGraphicFramePr>
          <p:cNvPr id="14" name="Chart"/>
          <p:cNvGraphicFramePr/>
          <p:nvPr/>
        </p:nvGraphicFramePr>
        <p:xfrm>
          <a:off x="619125" y="2809875"/>
          <a:ext cx="7143750" cy="295275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a:extLst>
              <a:ext uri="{FF2B5EF4-FFF2-40B4-BE49-F238E27FC236}">
                <a16:creationId xmlns:a16="http://schemas.microsoft.com/office/drawing/2014/main" id="{8010D031-3FAB-470D-A721-15D0702C510F}"/>
              </a:ext>
            </a:extLst>
          </p:cNvPr>
          <p:cNvSpPr>
            <a:spLocks noGrp="1"/>
          </p:cNvSpPr>
          <p:nvPr/>
        </p:nvSpPr>
        <p:spPr>
          <a:xfrm>
            <a:off x="8096250" y="3048000"/>
            <a:ext cx="3429000" cy="142875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1. Find 20 on X.</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2. Move up to the line.</a:t>
            </a:r>
          </a:p>
          <a:p>
            <a:pPr algn="l">
              <a:buNone/>
              <a:defRPr sz="2250" b="0">
                <a:solidFill>
                  <a:srgbClr val="111111"/>
                </a:solidFill>
                <a:latin typeface="Aptos"/>
                <a:ea typeface="Aptos"/>
                <a:cs typeface="Aptos"/>
              </a:defRPr>
            </a:pPr>
            <a:r>
              <a:rPr sz="2250" b="0">
                <a:solidFill>
                  <a:srgbClr val="111111"/>
                </a:solidFill>
                <a:latin typeface="Aptos"/>
                <a:ea typeface="Aptos"/>
                <a:cs typeface="Aptos"/>
              </a:rPr>
              <a:t>3. Read across to Y.</a:t>
            </a:r>
          </a:p>
        </p:txBody>
      </p:sp>
      <p:sp>
        <p:nvSpPr>
          <p:cNvPr id="7" name="Text">
            <a:extLst>
              <a:ext uri="{FF2B5EF4-FFF2-40B4-BE49-F238E27FC236}">
                <a16:creationId xmlns:a16="http://schemas.microsoft.com/office/drawing/2014/main" id="{5A1729AC-9C9E-416B-86D7-BE6A73E745AD}"/>
              </a:ext>
            </a:extLst>
          </p:cNvPr>
          <p:cNvSpPr>
            <a:spLocks noGrp="1"/>
          </p:cNvSpPr>
          <p:nvPr/>
        </p:nvSpPr>
        <p:spPr>
          <a:xfrm>
            <a:off x="8096250" y="4762500"/>
            <a:ext cx="3429000" cy="952500"/>
          </a:xfrm>
          <a:prstGeom prst="rect">
            <a:avLst/>
          </a:prstGeom>
          <a:noFill/>
          <a:ln w="0">
            <a:noFill/>
          </a:ln>
        </p:spPr>
        <p:txBody>
          <a:bodyPr wrap="square" lIns="0" tIns="0" rIns="0" bIns="0" anchor="t">
            <a:noAutofit/>
          </a:bodyPr>
          <a:lstStyle/>
          <a:p>
            <a:pPr algn="l">
              <a:buNone/>
              <a:defRPr sz="2550" b="1">
                <a:solidFill>
                  <a:srgbClr val="D6171D"/>
                </a:solidFill>
                <a:latin typeface="Aptos"/>
                <a:ea typeface="Aptos"/>
                <a:cs typeface="Aptos"/>
              </a:defRPr>
            </a:pPr>
            <a:r>
              <a:rPr sz="2550" b="1">
                <a:solidFill>
                  <a:srgbClr val="D6171D"/>
                </a:solidFill>
                <a:latin typeface="Aptos"/>
                <a:ea typeface="Aptos"/>
                <a:cs typeface="Aptos"/>
              </a:rPr>
              <a:t>Predicted sales:</a:t>
            </a:r>
          </a:p>
          <a:p>
            <a:pPr algn="l">
              <a:buNone/>
              <a:defRPr sz="2550" b="1">
                <a:solidFill>
                  <a:srgbClr val="D6171D"/>
                </a:solidFill>
                <a:latin typeface="Aptos"/>
                <a:ea typeface="Aptos"/>
                <a:cs typeface="Aptos"/>
              </a:defRPr>
            </a:pPr>
            <a:r>
              <a:rPr sz="2550" b="1">
                <a:solidFill>
                  <a:srgbClr val="D6171D"/>
                </a:solidFill>
                <a:latin typeface="Aptos"/>
                <a:ea typeface="Aptos"/>
                <a:cs typeface="Aptos"/>
              </a:rPr>
              <a:t>about £230,000</a:t>
            </a:r>
          </a:p>
        </p:txBody>
      </p:sp>
    </p:spTree>
    <p:extLst>
      <p:ext uri="{BB962C8B-B14F-4D97-AF65-F5344CB8AC3E}">
        <p14:creationId xmlns:p14="http://schemas.microsoft.com/office/powerpoint/2010/main" val="17879616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title">
            <a:extLst>
              <a:ext uri="{FF2B5EF4-FFF2-40B4-BE49-F238E27FC236}">
                <a16:creationId xmlns:a16="http://schemas.microsoft.com/office/drawing/2014/main" id="{9084F325-0F8B-481C-981F-73CE4E859EF8}"/>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 prediction is not a recorded result</a:t>
            </a:r>
          </a:p>
        </p:txBody>
      </p:sp>
      <p:sp>
        <p:nvSpPr>
          <p:cNvPr id="2" name="Lead">
            <a:extLst>
              <a:ext uri="{FF2B5EF4-FFF2-40B4-BE49-F238E27FC236}">
                <a16:creationId xmlns:a16="http://schemas.microsoft.com/office/drawing/2014/main" id="{5CB9126F-5E6F-478C-A933-50AA1F16C14D}"/>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At the same advertising budget, the line’s estimate can differ from actual sales.</a:t>
            </a:r>
          </a:p>
        </p:txBody>
      </p:sp>
      <p:sp>
        <p:nvSpPr>
          <p:cNvPr id="3" name="Footer">
            <a:extLst>
              <a:ext uri="{FF2B5EF4-FFF2-40B4-BE49-F238E27FC236}">
                <a16:creationId xmlns:a16="http://schemas.microsoft.com/office/drawing/2014/main" id="{9182A2FE-9EF6-46C9-A390-A65B2EC9250C}"/>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A line summarises the overall pattern. Individual months can lie above or below it.</a:t>
            </a:r>
          </a:p>
        </p:txBody>
      </p:sp>
      <p:graphicFrame>
        <p:nvGraphicFramePr>
          <p:cNvPr id="11" name="Table 10"/>
          <p:cNvGraphicFramePr/>
          <p:nvPr/>
        </p:nvGraphicFramePr>
        <p:xfrm>
          <a:off x="619125" y="3000375"/>
          <a:ext cx="10953750" cy="2333625"/>
        </p:xfrm>
        <a:graphic>
          <a:graphicData uri="http://schemas.openxmlformats.org/drawingml/2006/table">
            <a:tbl>
              <a:tblPr/>
              <a:tblGrid>
                <a:gridCol w="2619375">
                  <a:extLst>
                    <a:ext uri="{9D8B030D-6E8A-4147-A177-3AD203B41FA5}">
                      <a16:colId xmlns:a16="http://schemas.microsoft.com/office/drawing/2014/main" val="20000"/>
                    </a:ext>
                  </a:extLst>
                </a:gridCol>
                <a:gridCol w="3095625">
                  <a:extLst>
                    <a:ext uri="{9D8B030D-6E8A-4147-A177-3AD203B41FA5}">
                      <a16:colId xmlns:a16="http://schemas.microsoft.com/office/drawing/2014/main" val="20001"/>
                    </a:ext>
                  </a:extLst>
                </a:gridCol>
                <a:gridCol w="5238750">
                  <a:extLst>
                    <a:ext uri="{9D8B030D-6E8A-4147-A177-3AD203B41FA5}">
                      <a16:colId xmlns:a16="http://schemas.microsoft.com/office/drawing/2014/main" val="20002"/>
                    </a:ext>
                  </a:extLst>
                </a:gridCol>
              </a:tblGrid>
              <a:tr h="439674">
                <a:tc>
                  <a:txBody>
                    <a:bodyPr/>
                    <a:lstStyle/>
                    <a:p>
                      <a:pPr algn="l">
                        <a:buNone/>
                      </a:pPr>
                      <a:r>
                        <a:rPr sz="2100" b="1">
                          <a:solidFill>
                            <a:srgbClr val="FFFFFF"/>
                          </a:solidFill>
                          <a:latin typeface="Aptos"/>
                          <a:ea typeface="Aptos"/>
                          <a:cs typeface="Aptos"/>
                        </a:rPr>
                        <a:t>Advertising (X)</a:t>
                      </a:r>
                    </a:p>
                  </a:txBody>
                  <a:tcPr anchor="ctr">
                    <a:solidFill>
                      <a:srgbClr val="D6171D"/>
                    </a:solidFill>
                  </a:tcPr>
                </a:tc>
                <a:tc>
                  <a:txBody>
                    <a:bodyPr/>
                    <a:lstStyle/>
                    <a:p>
                      <a:pPr algn="ctr">
                        <a:buNone/>
                      </a:pPr>
                      <a:r>
                        <a:rPr sz="2100" b="1">
                          <a:solidFill>
                            <a:srgbClr val="FFFFFF"/>
                          </a:solidFill>
                          <a:latin typeface="Aptos"/>
                          <a:ea typeface="Aptos"/>
                          <a:cs typeface="Aptos"/>
                        </a:rPr>
                        <a:t>Recorded sales</a:t>
                      </a:r>
                    </a:p>
                  </a:txBody>
                  <a:tcPr anchor="ctr">
                    <a:solidFill>
                      <a:srgbClr val="D6171D"/>
                    </a:solidFill>
                  </a:tcPr>
                </a:tc>
                <a:tc>
                  <a:txBody>
                    <a:bodyPr/>
                    <a:lstStyle/>
                    <a:p>
                      <a:pPr algn="ctr">
                        <a:buNone/>
                      </a:pPr>
                      <a:r>
                        <a:rPr sz="2100" b="1">
                          <a:solidFill>
                            <a:srgbClr val="FFFFFF"/>
                          </a:solidFill>
                          <a:latin typeface="Aptos"/>
                          <a:ea typeface="Aptos"/>
                          <a:cs typeface="Aptos"/>
                        </a:rPr>
                        <a:t>Line estimate / use</a:t>
                      </a:r>
                    </a:p>
                  </a:txBody>
                  <a:tcPr anchor="ctr">
                    <a:solidFill>
                      <a:srgbClr val="D6171D"/>
                    </a:solidFill>
                  </a:tcPr>
                </a:tc>
                <a:extLst>
                  <a:ext uri="{0D108BD9-81ED-4DB2-BD59-A6C34878D82A}">
                    <a16:rowId xmlns:a16="http://schemas.microsoft.com/office/drawing/2014/main" val="10000"/>
                  </a:ext>
                </a:extLst>
              </a:tr>
              <a:tr h="631317">
                <a:tc>
                  <a:txBody>
                    <a:bodyPr/>
                    <a:lstStyle/>
                    <a:p>
                      <a:pPr algn="l">
                        <a:buNone/>
                      </a:pPr>
                      <a:r>
                        <a:rPr sz="2100" b="0">
                          <a:solidFill>
                            <a:srgbClr val="111111"/>
                          </a:solidFill>
                          <a:latin typeface="Aptos"/>
                          <a:ea typeface="Aptos"/>
                          <a:cs typeface="Aptos"/>
                        </a:rPr>
                        <a:t>£18,000</a:t>
                      </a:r>
                    </a:p>
                  </a:txBody>
                  <a:tcPr anchor="ctr">
                    <a:solidFill>
                      <a:srgbClr val="FFFFFF"/>
                    </a:solidFill>
                  </a:tcPr>
                </a:tc>
                <a:tc>
                  <a:txBody>
                    <a:bodyPr/>
                    <a:lstStyle/>
                    <a:p>
                      <a:pPr algn="ctr">
                        <a:buNone/>
                      </a:pPr>
                      <a:r>
                        <a:rPr sz="2100" b="0">
                          <a:solidFill>
                            <a:srgbClr val="111111"/>
                          </a:solidFill>
                          <a:latin typeface="Aptos"/>
                          <a:ea typeface="Aptos"/>
                          <a:cs typeface="Aptos"/>
                        </a:rPr>
                        <a:t>£180,000</a:t>
                      </a:r>
                    </a:p>
                  </a:txBody>
                  <a:tcPr anchor="ctr">
                    <a:solidFill>
                      <a:srgbClr val="FFFFFF"/>
                    </a:solidFill>
                  </a:tcPr>
                </a:tc>
                <a:tc>
                  <a:txBody>
                    <a:bodyPr/>
                    <a:lstStyle/>
                    <a:p>
                      <a:pPr algn="ctr">
                        <a:buNone/>
                      </a:pPr>
                      <a:r>
                        <a:rPr sz="2100" b="0">
                          <a:solidFill>
                            <a:srgbClr val="111111"/>
                          </a:solidFill>
                          <a:latin typeface="Aptos"/>
                          <a:ea typeface="Aptos"/>
                          <a:cs typeface="Aptos"/>
                        </a:rPr>
                        <a:t>About £203,000 (predicted)</a:t>
                      </a:r>
                    </a:p>
                  </a:txBody>
                  <a:tcPr anchor="ctr">
                    <a:solidFill>
                      <a:srgbClr val="FFFFFF"/>
                    </a:solidFill>
                  </a:tcPr>
                </a:tc>
                <a:extLst>
                  <a:ext uri="{0D108BD9-81ED-4DB2-BD59-A6C34878D82A}">
                    <a16:rowId xmlns:a16="http://schemas.microsoft.com/office/drawing/2014/main" val="10001"/>
                  </a:ext>
                </a:extLst>
              </a:tr>
              <a:tr h="631317">
                <a:tc>
                  <a:txBody>
                    <a:bodyPr/>
                    <a:lstStyle/>
                    <a:p>
                      <a:pPr algn="l">
                        <a:buNone/>
                      </a:pPr>
                      <a:r>
                        <a:rPr sz="2100" b="0">
                          <a:solidFill>
                            <a:srgbClr val="111111"/>
                          </a:solidFill>
                          <a:latin typeface="Aptos"/>
                          <a:ea typeface="Aptos"/>
                          <a:cs typeface="Aptos"/>
                        </a:rPr>
                        <a:t>£20,000</a:t>
                      </a:r>
                    </a:p>
                  </a:txBody>
                  <a:tcPr anchor="ctr">
                    <a:solidFill>
                      <a:srgbClr val="EEF8FE"/>
                    </a:solidFill>
                  </a:tcPr>
                </a:tc>
                <a:tc>
                  <a:txBody>
                    <a:bodyPr/>
                    <a:lstStyle/>
                    <a:p>
                      <a:pPr algn="ctr">
                        <a:buNone/>
                      </a:pPr>
                      <a:r>
                        <a:rPr sz="2100" b="0">
                          <a:solidFill>
                            <a:srgbClr val="111111"/>
                          </a:solidFill>
                          <a:latin typeface="Aptos"/>
                          <a:ea typeface="Aptos"/>
                          <a:cs typeface="Aptos"/>
                        </a:rPr>
                        <a:t>Not recorded</a:t>
                      </a:r>
                    </a:p>
                  </a:txBody>
                  <a:tcPr anchor="ctr">
                    <a:solidFill>
                      <a:srgbClr val="EEF8FE"/>
                    </a:solidFill>
                  </a:tcPr>
                </a:tc>
                <a:tc>
                  <a:txBody>
                    <a:bodyPr/>
                    <a:lstStyle/>
                    <a:p>
                      <a:pPr algn="ctr">
                        <a:buNone/>
                      </a:pPr>
                      <a:r>
                        <a:rPr sz="2100" b="0">
                          <a:solidFill>
                            <a:srgbClr val="111111"/>
                          </a:solidFill>
                          <a:latin typeface="Aptos"/>
                          <a:ea typeface="Aptos"/>
                          <a:cs typeface="Aptos"/>
                        </a:rPr>
                        <a:t>About £230,000 (within range)</a:t>
                      </a:r>
                    </a:p>
                  </a:txBody>
                  <a:tcPr anchor="ctr">
                    <a:solidFill>
                      <a:srgbClr val="EEF8FE"/>
                    </a:solidFill>
                  </a:tcPr>
                </a:tc>
                <a:extLst>
                  <a:ext uri="{0D108BD9-81ED-4DB2-BD59-A6C34878D82A}">
                    <a16:rowId xmlns:a16="http://schemas.microsoft.com/office/drawing/2014/main" val="10002"/>
                  </a:ext>
                </a:extLst>
              </a:tr>
              <a:tr h="631317">
                <a:tc>
                  <a:txBody>
                    <a:bodyPr/>
                    <a:lstStyle/>
                    <a:p>
                      <a:pPr algn="l">
                        <a:buNone/>
                      </a:pPr>
                      <a:r>
                        <a:rPr sz="2100" b="0">
                          <a:solidFill>
                            <a:srgbClr val="111111"/>
                          </a:solidFill>
                          <a:latin typeface="Aptos"/>
                          <a:ea typeface="Aptos"/>
                          <a:cs typeface="Aptos"/>
                        </a:rPr>
                        <a:t>£50,000</a:t>
                      </a:r>
                    </a:p>
                  </a:txBody>
                  <a:tcPr anchor="ctr">
                    <a:solidFill>
                      <a:srgbClr val="FFFFFF"/>
                    </a:solidFill>
                  </a:tcPr>
                </a:tc>
                <a:tc>
                  <a:txBody>
                    <a:bodyPr/>
                    <a:lstStyle/>
                    <a:p>
                      <a:pPr algn="ctr">
                        <a:buNone/>
                      </a:pPr>
                      <a:r>
                        <a:rPr sz="2100" b="0">
                          <a:solidFill>
                            <a:srgbClr val="111111"/>
                          </a:solidFill>
                          <a:latin typeface="Aptos"/>
                          <a:ea typeface="Aptos"/>
                          <a:cs typeface="Aptos"/>
                        </a:rPr>
                        <a:t>Not recorded</a:t>
                      </a:r>
                    </a:p>
                  </a:txBody>
                  <a:tcPr anchor="ctr">
                    <a:solidFill>
                      <a:srgbClr val="FFFFFF"/>
                    </a:solidFill>
                  </a:tcPr>
                </a:tc>
                <a:tc>
                  <a:txBody>
                    <a:bodyPr/>
                    <a:lstStyle/>
                    <a:p>
                      <a:pPr algn="ctr">
                        <a:buNone/>
                      </a:pPr>
                      <a:r>
                        <a:rPr sz="2100" b="0">
                          <a:solidFill>
                            <a:srgbClr val="111111"/>
                          </a:solidFill>
                          <a:latin typeface="Aptos"/>
                          <a:ea typeface="Aptos"/>
                          <a:cs typeface="Aptos"/>
                        </a:rPr>
                        <a:t>Outside range: less reliable</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Text">
            <a:extLst>
              <a:ext uri="{FF2B5EF4-FFF2-40B4-BE49-F238E27FC236}">
                <a16:creationId xmlns:a16="http://schemas.microsoft.com/office/drawing/2014/main" id="{70B17A7A-093D-49BD-9E0B-7B4A3B5FBE76}"/>
              </a:ext>
            </a:extLst>
          </p:cNvPr>
          <p:cNvSpPr>
            <a:spLocks noGrp="1"/>
          </p:cNvSpPr>
          <p:nvPr/>
        </p:nvSpPr>
        <p:spPr>
          <a:xfrm>
            <a:off x="619125" y="5505450"/>
            <a:ext cx="10953750" cy="361950"/>
          </a:xfrm>
          <a:prstGeom prst="rect">
            <a:avLst/>
          </a:prstGeom>
          <a:noFill/>
          <a:ln w="0">
            <a:noFill/>
          </a:ln>
        </p:spPr>
        <p:txBody>
          <a:bodyPr wrap="square" lIns="0" tIns="0" rIns="0" bIns="0" anchor="t">
            <a:noAutofit/>
          </a:bodyPr>
          <a:lstStyle/>
          <a:p>
            <a:pPr algn="l">
              <a:buNone/>
              <a:defRPr sz="2100" b="1">
                <a:solidFill>
                  <a:srgbClr val="111111"/>
                </a:solidFill>
                <a:latin typeface="Aptos"/>
                <a:ea typeface="Aptos"/>
                <a:cs typeface="Aptos"/>
              </a:defRPr>
            </a:pPr>
            <a:r>
              <a:rPr sz="2100" b="1">
                <a:solidFill>
                  <a:srgbClr val="111111"/>
                </a:solidFill>
                <a:latin typeface="Aptos"/>
                <a:ea typeface="Aptos"/>
                <a:cs typeface="Aptos"/>
              </a:rPr>
              <a:t>Observed advertising budgets range from £10,500 to £22,500.</a:t>
            </a:r>
          </a:p>
        </p:txBody>
      </p:sp>
    </p:spTree>
    <p:extLst>
      <p:ext uri="{BB962C8B-B14F-4D97-AF65-F5344CB8AC3E}">
        <p14:creationId xmlns:p14="http://schemas.microsoft.com/office/powerpoint/2010/main" val="15282942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a:extLst>
              <a:ext uri="{FF2B5EF4-FFF2-40B4-BE49-F238E27FC236}">
                <a16:creationId xmlns:a16="http://schemas.microsoft.com/office/drawing/2014/main" id="{E63ECB46-71FD-43A8-937A-2342FA67FC06}"/>
              </a:ext>
            </a:extLst>
          </p:cNvPr>
          <p:cNvSpPr>
            <a:spLocks noGrp="1"/>
          </p:cNvSpPr>
          <p:nvPr/>
        </p:nvSpPr>
        <p:spPr>
          <a:xfrm>
            <a:off x="447675" y="2505075"/>
            <a:ext cx="6048375" cy="3143250"/>
          </a:xfrm>
          <a:prstGeom prst="rect">
            <a:avLst/>
          </a:prstGeom>
          <a:noFill/>
          <a:ln w="0">
            <a:noFill/>
          </a:ln>
        </p:spPr>
        <p:txBody>
          <a:bodyPr wrap="square" lIns="0" tIns="0" rIns="0" bIns="0" anchor="t">
            <a:noAutofit/>
          </a:bodyPr>
          <a:lstStyle/>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5:</a:t>
            </a:r>
          </a:p>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Boxplots</a:t>
            </a:r>
          </a:p>
          <a:p>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and spread</a:t>
            </a:r>
          </a:p>
        </p:txBody>
      </p:sp>
    </p:spTree>
    <p:extLst>
      <p:ext uri="{BB962C8B-B14F-4D97-AF65-F5344CB8AC3E}">
        <p14:creationId xmlns:p14="http://schemas.microsoft.com/office/powerpoint/2010/main" val="9077073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title">
            <a:extLst>
              <a:ext uri="{FF2B5EF4-FFF2-40B4-BE49-F238E27FC236}">
                <a16:creationId xmlns:a16="http://schemas.microsoft.com/office/drawing/2014/main" id="{0489B2C3-2EF2-4E6B-B352-0E3DA93F9BAF}"/>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is a boxplot?</a:t>
            </a:r>
          </a:p>
        </p:txBody>
      </p:sp>
      <p:sp>
        <p:nvSpPr>
          <p:cNvPr id="2" name="Lead">
            <a:extLst>
              <a:ext uri="{FF2B5EF4-FFF2-40B4-BE49-F238E27FC236}">
                <a16:creationId xmlns:a16="http://schemas.microsoft.com/office/drawing/2014/main" id="{6B58BFA6-5989-4EC7-AF66-07AFEEA4DBC2}"/>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A boxplot uses five numbers to show the centre and spread of numerical data.</a:t>
            </a:r>
          </a:p>
        </p:txBody>
      </p:sp>
      <p:sp>
        <p:nvSpPr>
          <p:cNvPr id="3" name="Footer">
            <a:extLst>
              <a:ext uri="{FF2B5EF4-FFF2-40B4-BE49-F238E27FC236}">
                <a16:creationId xmlns:a16="http://schemas.microsoft.com/office/drawing/2014/main" id="{9CD3D954-1878-452B-BCCE-B160C99B80A5}"/>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Use boxplots to compare medians and spread. The box spans the middle half of the data.</a:t>
            </a:r>
          </a:p>
        </p:txBody>
      </p:sp>
      <p:sp>
        <p:nvSpPr>
          <p:cNvPr id="4" name="Text">
            <a:extLst>
              <a:ext uri="{FF2B5EF4-FFF2-40B4-BE49-F238E27FC236}">
                <a16:creationId xmlns:a16="http://schemas.microsoft.com/office/drawing/2014/main" id="{E1B35774-695D-4192-BD28-9B4E2D39542C}"/>
              </a:ext>
            </a:extLst>
          </p:cNvPr>
          <p:cNvSpPr>
            <a:spLocks noGrp="1"/>
          </p:cNvSpPr>
          <p:nvPr/>
        </p:nvSpPr>
        <p:spPr>
          <a:xfrm>
            <a:off x="619125" y="2857500"/>
            <a:ext cx="10953750" cy="419100"/>
          </a:xfrm>
          <a:prstGeom prst="rect">
            <a:avLst/>
          </a:prstGeom>
          <a:noFill/>
          <a:ln w="0">
            <a:noFill/>
          </a:ln>
        </p:spPr>
        <p:txBody>
          <a:bodyPr wrap="square" lIns="0" tIns="0" rIns="0" bIns="0" anchor="t">
            <a:noAutofit/>
          </a:bodyPr>
          <a:lstStyle/>
          <a:p>
            <a:pPr algn="l">
              <a:buNone/>
              <a:defRPr sz="2250" b="1">
                <a:solidFill>
                  <a:srgbClr val="111111"/>
                </a:solidFill>
                <a:latin typeface="Aptos"/>
                <a:ea typeface="Aptos"/>
                <a:cs typeface="Aptos"/>
              </a:defRPr>
            </a:pPr>
            <a:r>
              <a:rPr sz="2250" b="1">
                <a:solidFill>
                  <a:srgbClr val="111111"/>
                </a:solidFill>
                <a:latin typeface="Aptos"/>
                <a:ea typeface="Aptos"/>
                <a:cs typeface="Aptos"/>
              </a:rPr>
              <a:t>Example: delivery times in minutes</a:t>
            </a:r>
          </a:p>
        </p:txBody>
      </p:sp>
      <p:sp>
        <p:nvSpPr>
          <p:cNvPr id="5" name="Diagram line">
            <a:extLst>
              <a:ext uri="{FF2B5EF4-FFF2-40B4-BE49-F238E27FC236}">
                <a16:creationId xmlns:a16="http://schemas.microsoft.com/office/drawing/2014/main" id="{11476033-73AB-44B4-8466-8E2D78520EF5}"/>
              </a:ext>
            </a:extLst>
          </p:cNvPr>
          <p:cNvSpPr>
            <a:spLocks noGrp="1"/>
          </p:cNvSpPr>
          <p:nvPr/>
        </p:nvSpPr>
        <p:spPr>
          <a:xfrm>
            <a:off x="1143000" y="5095875"/>
            <a:ext cx="9715500" cy="9525"/>
          </a:xfrm>
          <a:custGeom>
            <a:avLst/>
            <a:gdLst/>
            <a:ahLst/>
            <a:cxnLst/>
            <a:rect l="0" t="0" r="0" b="0"/>
            <a:pathLst>
              <a:path w="9715500" h="9525">
                <a:moveTo>
                  <a:pt x="0" y="0"/>
                </a:moveTo>
                <a:lnTo>
                  <a:pt x="9715500" y="0"/>
                </a:lnTo>
              </a:path>
            </a:pathLst>
          </a:custGeom>
          <a:noFill/>
          <a:ln w="14288">
            <a:solidFill>
              <a:srgbClr val="111111"/>
            </a:solidFill>
          </a:ln>
        </p:spPr>
        <p:txBody>
          <a:bodyPr/>
          <a:lstStyle/>
          <a:p>
            <a:endParaRPr lang="en-US"/>
          </a:p>
        </p:txBody>
      </p:sp>
      <p:sp>
        <p:nvSpPr>
          <p:cNvPr id="6" name="Diagram line">
            <a:extLst>
              <a:ext uri="{FF2B5EF4-FFF2-40B4-BE49-F238E27FC236}">
                <a16:creationId xmlns:a16="http://schemas.microsoft.com/office/drawing/2014/main" id="{5411C7A1-1E97-48DD-8B58-90F873685B71}"/>
              </a:ext>
            </a:extLst>
          </p:cNvPr>
          <p:cNvSpPr>
            <a:spLocks noGrp="1"/>
          </p:cNvSpPr>
          <p:nvPr/>
        </p:nvSpPr>
        <p:spPr>
          <a:xfrm>
            <a:off x="1143000" y="5029200"/>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7" name="Text">
            <a:extLst>
              <a:ext uri="{FF2B5EF4-FFF2-40B4-BE49-F238E27FC236}">
                <a16:creationId xmlns:a16="http://schemas.microsoft.com/office/drawing/2014/main" id="{A4FCA677-686F-4679-91E3-9BFAF61D2663}"/>
              </a:ext>
            </a:extLst>
          </p:cNvPr>
          <p:cNvSpPr>
            <a:spLocks noGrp="1"/>
          </p:cNvSpPr>
          <p:nvPr/>
        </p:nvSpPr>
        <p:spPr>
          <a:xfrm>
            <a:off x="904875" y="5238750"/>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0</a:t>
            </a:r>
          </a:p>
        </p:txBody>
      </p:sp>
      <p:sp>
        <p:nvSpPr>
          <p:cNvPr id="8" name="Diagram line">
            <a:extLst>
              <a:ext uri="{FF2B5EF4-FFF2-40B4-BE49-F238E27FC236}">
                <a16:creationId xmlns:a16="http://schemas.microsoft.com/office/drawing/2014/main" id="{2CD9E355-0975-428F-AC47-9DC61DAC46E5}"/>
              </a:ext>
            </a:extLst>
          </p:cNvPr>
          <p:cNvSpPr>
            <a:spLocks noGrp="1"/>
          </p:cNvSpPr>
          <p:nvPr/>
        </p:nvSpPr>
        <p:spPr>
          <a:xfrm>
            <a:off x="3086100" y="5029200"/>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9" name="Text">
            <a:extLst>
              <a:ext uri="{FF2B5EF4-FFF2-40B4-BE49-F238E27FC236}">
                <a16:creationId xmlns:a16="http://schemas.microsoft.com/office/drawing/2014/main" id="{8A2FB07C-C021-495A-B16C-A67BFF818F3A}"/>
              </a:ext>
            </a:extLst>
          </p:cNvPr>
          <p:cNvSpPr>
            <a:spLocks noGrp="1"/>
          </p:cNvSpPr>
          <p:nvPr/>
        </p:nvSpPr>
        <p:spPr>
          <a:xfrm>
            <a:off x="2847975" y="5238750"/>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10</a:t>
            </a:r>
          </a:p>
        </p:txBody>
      </p:sp>
      <p:sp>
        <p:nvSpPr>
          <p:cNvPr id="10" name="Diagram line">
            <a:extLst>
              <a:ext uri="{FF2B5EF4-FFF2-40B4-BE49-F238E27FC236}">
                <a16:creationId xmlns:a16="http://schemas.microsoft.com/office/drawing/2014/main" id="{46A93FAF-D3FC-47B3-BD81-E92A864FE388}"/>
              </a:ext>
            </a:extLst>
          </p:cNvPr>
          <p:cNvSpPr>
            <a:spLocks noGrp="1"/>
          </p:cNvSpPr>
          <p:nvPr/>
        </p:nvSpPr>
        <p:spPr>
          <a:xfrm>
            <a:off x="5029200" y="5029200"/>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1" name="Text">
            <a:extLst>
              <a:ext uri="{FF2B5EF4-FFF2-40B4-BE49-F238E27FC236}">
                <a16:creationId xmlns:a16="http://schemas.microsoft.com/office/drawing/2014/main" id="{FBEEF882-9B75-41F1-B618-B4C462DFBAB3}"/>
              </a:ext>
            </a:extLst>
          </p:cNvPr>
          <p:cNvSpPr>
            <a:spLocks noGrp="1"/>
          </p:cNvSpPr>
          <p:nvPr/>
        </p:nvSpPr>
        <p:spPr>
          <a:xfrm>
            <a:off x="4791075" y="5238750"/>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20</a:t>
            </a:r>
          </a:p>
        </p:txBody>
      </p:sp>
      <p:sp>
        <p:nvSpPr>
          <p:cNvPr id="12" name="Diagram line">
            <a:extLst>
              <a:ext uri="{FF2B5EF4-FFF2-40B4-BE49-F238E27FC236}">
                <a16:creationId xmlns:a16="http://schemas.microsoft.com/office/drawing/2014/main" id="{460770F0-A289-4646-B0F5-2EBC2661F549}"/>
              </a:ext>
            </a:extLst>
          </p:cNvPr>
          <p:cNvSpPr>
            <a:spLocks noGrp="1"/>
          </p:cNvSpPr>
          <p:nvPr/>
        </p:nvSpPr>
        <p:spPr>
          <a:xfrm>
            <a:off x="6972300" y="5029200"/>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3" name="Text">
            <a:extLst>
              <a:ext uri="{FF2B5EF4-FFF2-40B4-BE49-F238E27FC236}">
                <a16:creationId xmlns:a16="http://schemas.microsoft.com/office/drawing/2014/main" id="{8B343440-20E5-4D9C-89CE-D28CEC3FB201}"/>
              </a:ext>
            </a:extLst>
          </p:cNvPr>
          <p:cNvSpPr>
            <a:spLocks noGrp="1"/>
          </p:cNvSpPr>
          <p:nvPr/>
        </p:nvSpPr>
        <p:spPr>
          <a:xfrm>
            <a:off x="6734175" y="5238750"/>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30</a:t>
            </a:r>
          </a:p>
        </p:txBody>
      </p:sp>
      <p:sp>
        <p:nvSpPr>
          <p:cNvPr id="14" name="Diagram line">
            <a:extLst>
              <a:ext uri="{FF2B5EF4-FFF2-40B4-BE49-F238E27FC236}">
                <a16:creationId xmlns:a16="http://schemas.microsoft.com/office/drawing/2014/main" id="{60699E74-15F3-46A7-89A3-29D1BC89CC91}"/>
              </a:ext>
            </a:extLst>
          </p:cNvPr>
          <p:cNvSpPr>
            <a:spLocks noGrp="1"/>
          </p:cNvSpPr>
          <p:nvPr/>
        </p:nvSpPr>
        <p:spPr>
          <a:xfrm>
            <a:off x="8915400" y="5029200"/>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5" name="Text">
            <a:extLst>
              <a:ext uri="{FF2B5EF4-FFF2-40B4-BE49-F238E27FC236}">
                <a16:creationId xmlns:a16="http://schemas.microsoft.com/office/drawing/2014/main" id="{775A52A4-DD76-4743-87A9-337ED3C6BD75}"/>
              </a:ext>
            </a:extLst>
          </p:cNvPr>
          <p:cNvSpPr>
            <a:spLocks noGrp="1"/>
          </p:cNvSpPr>
          <p:nvPr/>
        </p:nvSpPr>
        <p:spPr>
          <a:xfrm>
            <a:off x="8677275" y="5238750"/>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40</a:t>
            </a:r>
          </a:p>
        </p:txBody>
      </p:sp>
      <p:sp>
        <p:nvSpPr>
          <p:cNvPr id="16" name="Diagram line">
            <a:extLst>
              <a:ext uri="{FF2B5EF4-FFF2-40B4-BE49-F238E27FC236}">
                <a16:creationId xmlns:a16="http://schemas.microsoft.com/office/drawing/2014/main" id="{744248DB-1082-4896-BEFE-34A0BFC40712}"/>
              </a:ext>
            </a:extLst>
          </p:cNvPr>
          <p:cNvSpPr>
            <a:spLocks noGrp="1"/>
          </p:cNvSpPr>
          <p:nvPr/>
        </p:nvSpPr>
        <p:spPr>
          <a:xfrm>
            <a:off x="10858500" y="5029200"/>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7" name="Text">
            <a:extLst>
              <a:ext uri="{FF2B5EF4-FFF2-40B4-BE49-F238E27FC236}">
                <a16:creationId xmlns:a16="http://schemas.microsoft.com/office/drawing/2014/main" id="{6A59C2B7-1E77-4E43-8670-E72A948E4D14}"/>
              </a:ext>
            </a:extLst>
          </p:cNvPr>
          <p:cNvSpPr>
            <a:spLocks noGrp="1"/>
          </p:cNvSpPr>
          <p:nvPr/>
        </p:nvSpPr>
        <p:spPr>
          <a:xfrm>
            <a:off x="10620375" y="5238750"/>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50</a:t>
            </a:r>
          </a:p>
        </p:txBody>
      </p:sp>
      <p:sp>
        <p:nvSpPr>
          <p:cNvPr id="18" name="Diagram line">
            <a:extLst>
              <a:ext uri="{FF2B5EF4-FFF2-40B4-BE49-F238E27FC236}">
                <a16:creationId xmlns:a16="http://schemas.microsoft.com/office/drawing/2014/main" id="{575C6D04-5F5E-40D4-918D-1F36EFC91CD2}"/>
              </a:ext>
            </a:extLst>
          </p:cNvPr>
          <p:cNvSpPr>
            <a:spLocks noGrp="1"/>
          </p:cNvSpPr>
          <p:nvPr/>
        </p:nvSpPr>
        <p:spPr>
          <a:xfrm>
            <a:off x="3474720" y="4238625"/>
            <a:ext cx="1165860" cy="9525"/>
          </a:xfrm>
          <a:custGeom>
            <a:avLst/>
            <a:gdLst/>
            <a:ahLst/>
            <a:cxnLst/>
            <a:rect l="0" t="0" r="0" b="0"/>
            <a:pathLst>
              <a:path w="1165860" h="9525">
                <a:moveTo>
                  <a:pt x="0" y="0"/>
                </a:moveTo>
                <a:lnTo>
                  <a:pt x="1165860" y="0"/>
                </a:lnTo>
              </a:path>
            </a:pathLst>
          </a:custGeom>
          <a:noFill/>
          <a:ln w="19050">
            <a:solidFill>
              <a:srgbClr val="111111"/>
            </a:solidFill>
          </a:ln>
        </p:spPr>
        <p:txBody>
          <a:bodyPr/>
          <a:lstStyle/>
          <a:p>
            <a:endParaRPr lang="en-US"/>
          </a:p>
        </p:txBody>
      </p:sp>
      <p:sp>
        <p:nvSpPr>
          <p:cNvPr id="19" name="Diagram line">
            <a:extLst>
              <a:ext uri="{FF2B5EF4-FFF2-40B4-BE49-F238E27FC236}">
                <a16:creationId xmlns:a16="http://schemas.microsoft.com/office/drawing/2014/main" id="{39F9AFE2-D3F9-4064-836A-546DBE7E5DDB}"/>
              </a:ext>
            </a:extLst>
          </p:cNvPr>
          <p:cNvSpPr>
            <a:spLocks noGrp="1"/>
          </p:cNvSpPr>
          <p:nvPr/>
        </p:nvSpPr>
        <p:spPr>
          <a:xfrm>
            <a:off x="7360920" y="4238625"/>
            <a:ext cx="2331720" cy="9525"/>
          </a:xfrm>
          <a:custGeom>
            <a:avLst/>
            <a:gdLst/>
            <a:ahLst/>
            <a:cxnLst/>
            <a:rect l="0" t="0" r="0" b="0"/>
            <a:pathLst>
              <a:path w="2331720" h="9525">
                <a:moveTo>
                  <a:pt x="0" y="0"/>
                </a:moveTo>
                <a:lnTo>
                  <a:pt x="2331720" y="0"/>
                </a:lnTo>
              </a:path>
            </a:pathLst>
          </a:custGeom>
          <a:noFill/>
          <a:ln w="19050">
            <a:solidFill>
              <a:srgbClr val="111111"/>
            </a:solidFill>
          </a:ln>
        </p:spPr>
        <p:txBody>
          <a:bodyPr/>
          <a:lstStyle/>
          <a:p>
            <a:endParaRPr lang="en-US"/>
          </a:p>
        </p:txBody>
      </p:sp>
      <p:sp>
        <p:nvSpPr>
          <p:cNvPr id="20" name="Diagram line">
            <a:extLst>
              <a:ext uri="{FF2B5EF4-FFF2-40B4-BE49-F238E27FC236}">
                <a16:creationId xmlns:a16="http://schemas.microsoft.com/office/drawing/2014/main" id="{DEF2528D-F478-47A6-B06B-B140327C0B6A}"/>
              </a:ext>
            </a:extLst>
          </p:cNvPr>
          <p:cNvSpPr>
            <a:spLocks noGrp="1"/>
          </p:cNvSpPr>
          <p:nvPr/>
        </p:nvSpPr>
        <p:spPr>
          <a:xfrm>
            <a:off x="3474720" y="4048125"/>
            <a:ext cx="9525" cy="381000"/>
          </a:xfrm>
          <a:custGeom>
            <a:avLst/>
            <a:gdLst/>
            <a:ahLst/>
            <a:cxnLst/>
            <a:rect l="0" t="0" r="0" b="0"/>
            <a:pathLst>
              <a:path w="9525" h="381000">
                <a:moveTo>
                  <a:pt x="0" y="0"/>
                </a:moveTo>
                <a:lnTo>
                  <a:pt x="0" y="381000"/>
                </a:lnTo>
              </a:path>
            </a:pathLst>
          </a:custGeom>
          <a:noFill/>
          <a:ln w="19050">
            <a:solidFill>
              <a:srgbClr val="111111"/>
            </a:solidFill>
          </a:ln>
        </p:spPr>
        <p:txBody>
          <a:bodyPr/>
          <a:lstStyle/>
          <a:p>
            <a:endParaRPr lang="en-US"/>
          </a:p>
        </p:txBody>
      </p:sp>
      <p:sp>
        <p:nvSpPr>
          <p:cNvPr id="21" name="Diagram line">
            <a:extLst>
              <a:ext uri="{FF2B5EF4-FFF2-40B4-BE49-F238E27FC236}">
                <a16:creationId xmlns:a16="http://schemas.microsoft.com/office/drawing/2014/main" id="{B1B1BA0E-C06C-4741-A7E4-132F81ECF018}"/>
              </a:ext>
            </a:extLst>
          </p:cNvPr>
          <p:cNvSpPr>
            <a:spLocks noGrp="1"/>
          </p:cNvSpPr>
          <p:nvPr/>
        </p:nvSpPr>
        <p:spPr>
          <a:xfrm>
            <a:off x="9692640" y="4048125"/>
            <a:ext cx="9525" cy="381000"/>
          </a:xfrm>
          <a:custGeom>
            <a:avLst/>
            <a:gdLst/>
            <a:ahLst/>
            <a:cxnLst/>
            <a:rect l="0" t="0" r="0" b="0"/>
            <a:pathLst>
              <a:path w="9525" h="381000">
                <a:moveTo>
                  <a:pt x="0" y="0"/>
                </a:moveTo>
                <a:lnTo>
                  <a:pt x="0" y="381000"/>
                </a:lnTo>
              </a:path>
            </a:pathLst>
          </a:custGeom>
          <a:noFill/>
          <a:ln w="19050">
            <a:solidFill>
              <a:srgbClr val="111111"/>
            </a:solidFill>
          </a:ln>
        </p:spPr>
        <p:txBody>
          <a:bodyPr/>
          <a:lstStyle/>
          <a:p>
            <a:endParaRPr lang="en-US"/>
          </a:p>
        </p:txBody>
      </p:sp>
      <p:sp>
        <p:nvSpPr>
          <p:cNvPr id="22" name="Box from Q1 to Q3">
            <a:extLst>
              <a:ext uri="{FF2B5EF4-FFF2-40B4-BE49-F238E27FC236}">
                <a16:creationId xmlns:a16="http://schemas.microsoft.com/office/drawing/2014/main" id="{670D440F-3797-42CE-8FD0-E273DCB413D4}"/>
              </a:ext>
            </a:extLst>
          </p:cNvPr>
          <p:cNvSpPr>
            <a:spLocks noGrp="1"/>
          </p:cNvSpPr>
          <p:nvPr/>
        </p:nvSpPr>
        <p:spPr>
          <a:xfrm>
            <a:off x="4640580" y="3933825"/>
            <a:ext cx="2720340" cy="609600"/>
          </a:xfrm>
          <a:prstGeom prst="rect">
            <a:avLst/>
          </a:prstGeom>
          <a:solidFill>
            <a:srgbClr val="EEF8FE"/>
          </a:solidFill>
          <a:ln w="19050">
            <a:solidFill>
              <a:srgbClr val="111111"/>
            </a:solidFill>
          </a:ln>
        </p:spPr>
        <p:txBody>
          <a:bodyPr/>
          <a:lstStyle/>
          <a:p>
            <a:endParaRPr lang="en-US"/>
          </a:p>
        </p:txBody>
      </p:sp>
      <p:sp>
        <p:nvSpPr>
          <p:cNvPr id="23" name="Diagram line">
            <a:extLst>
              <a:ext uri="{FF2B5EF4-FFF2-40B4-BE49-F238E27FC236}">
                <a16:creationId xmlns:a16="http://schemas.microsoft.com/office/drawing/2014/main" id="{F1007B16-D01B-4A17-A1AB-AB1A9470715D}"/>
              </a:ext>
            </a:extLst>
          </p:cNvPr>
          <p:cNvSpPr>
            <a:spLocks noGrp="1"/>
          </p:cNvSpPr>
          <p:nvPr/>
        </p:nvSpPr>
        <p:spPr>
          <a:xfrm>
            <a:off x="6000750" y="3933825"/>
            <a:ext cx="9525" cy="609600"/>
          </a:xfrm>
          <a:custGeom>
            <a:avLst/>
            <a:gdLst/>
            <a:ahLst/>
            <a:cxnLst/>
            <a:rect l="0" t="0" r="0" b="0"/>
            <a:pathLst>
              <a:path w="9525" h="609600">
                <a:moveTo>
                  <a:pt x="0" y="0"/>
                </a:moveTo>
                <a:lnTo>
                  <a:pt x="0" y="609600"/>
                </a:lnTo>
              </a:path>
            </a:pathLst>
          </a:custGeom>
          <a:noFill/>
          <a:ln w="28575">
            <a:solidFill>
              <a:srgbClr val="D6171D"/>
            </a:solidFill>
          </a:ln>
        </p:spPr>
        <p:txBody>
          <a:bodyPr/>
          <a:lstStyle/>
          <a:p>
            <a:endParaRPr lang="en-US"/>
          </a:p>
        </p:txBody>
      </p:sp>
      <p:sp>
        <p:nvSpPr>
          <p:cNvPr id="24" name="Text">
            <a:extLst>
              <a:ext uri="{FF2B5EF4-FFF2-40B4-BE49-F238E27FC236}">
                <a16:creationId xmlns:a16="http://schemas.microsoft.com/office/drawing/2014/main" id="{C8297F6C-17DB-4058-91DE-90200B41E929}"/>
              </a:ext>
            </a:extLst>
          </p:cNvPr>
          <p:cNvSpPr>
            <a:spLocks noGrp="1"/>
          </p:cNvSpPr>
          <p:nvPr/>
        </p:nvSpPr>
        <p:spPr>
          <a:xfrm>
            <a:off x="2750820" y="3362325"/>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Min 12</a:t>
            </a:r>
          </a:p>
        </p:txBody>
      </p:sp>
      <p:sp>
        <p:nvSpPr>
          <p:cNvPr id="25" name="Text">
            <a:extLst>
              <a:ext uri="{FF2B5EF4-FFF2-40B4-BE49-F238E27FC236}">
                <a16:creationId xmlns:a16="http://schemas.microsoft.com/office/drawing/2014/main" id="{62373582-DBFA-4094-AA29-D6D7F29EF320}"/>
              </a:ext>
            </a:extLst>
          </p:cNvPr>
          <p:cNvSpPr>
            <a:spLocks noGrp="1"/>
          </p:cNvSpPr>
          <p:nvPr/>
        </p:nvSpPr>
        <p:spPr>
          <a:xfrm>
            <a:off x="3916680" y="3362325"/>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Q₁ 18</a:t>
            </a:r>
          </a:p>
        </p:txBody>
      </p:sp>
      <p:sp>
        <p:nvSpPr>
          <p:cNvPr id="26" name="Text">
            <a:extLst>
              <a:ext uri="{FF2B5EF4-FFF2-40B4-BE49-F238E27FC236}">
                <a16:creationId xmlns:a16="http://schemas.microsoft.com/office/drawing/2014/main" id="{66A50181-35DD-47F0-A73C-DE3378DE162B}"/>
              </a:ext>
            </a:extLst>
          </p:cNvPr>
          <p:cNvSpPr>
            <a:spLocks noGrp="1"/>
          </p:cNvSpPr>
          <p:nvPr/>
        </p:nvSpPr>
        <p:spPr>
          <a:xfrm>
            <a:off x="5276850" y="3362325"/>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Median 25</a:t>
            </a:r>
          </a:p>
        </p:txBody>
      </p:sp>
      <p:sp>
        <p:nvSpPr>
          <p:cNvPr id="27" name="Text">
            <a:extLst>
              <a:ext uri="{FF2B5EF4-FFF2-40B4-BE49-F238E27FC236}">
                <a16:creationId xmlns:a16="http://schemas.microsoft.com/office/drawing/2014/main" id="{C92BCB7E-E2F6-4DA4-8F1A-BC95AB1715CF}"/>
              </a:ext>
            </a:extLst>
          </p:cNvPr>
          <p:cNvSpPr>
            <a:spLocks noGrp="1"/>
          </p:cNvSpPr>
          <p:nvPr/>
        </p:nvSpPr>
        <p:spPr>
          <a:xfrm>
            <a:off x="6637020" y="3362325"/>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Q₃ 32</a:t>
            </a:r>
          </a:p>
        </p:txBody>
      </p:sp>
      <p:sp>
        <p:nvSpPr>
          <p:cNvPr id="28" name="Text">
            <a:extLst>
              <a:ext uri="{FF2B5EF4-FFF2-40B4-BE49-F238E27FC236}">
                <a16:creationId xmlns:a16="http://schemas.microsoft.com/office/drawing/2014/main" id="{109DEFDC-2FC0-4B39-9602-C55E349C1E90}"/>
              </a:ext>
            </a:extLst>
          </p:cNvPr>
          <p:cNvSpPr>
            <a:spLocks noGrp="1"/>
          </p:cNvSpPr>
          <p:nvPr/>
        </p:nvSpPr>
        <p:spPr>
          <a:xfrm>
            <a:off x="8968740" y="3362325"/>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Max 44</a:t>
            </a:r>
          </a:p>
        </p:txBody>
      </p:sp>
    </p:spTree>
    <p:extLst>
      <p:ext uri="{BB962C8B-B14F-4D97-AF65-F5344CB8AC3E}">
        <p14:creationId xmlns:p14="http://schemas.microsoft.com/office/powerpoint/2010/main" val="13129387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 title">
            <a:extLst>
              <a:ext uri="{FF2B5EF4-FFF2-40B4-BE49-F238E27FC236}">
                <a16:creationId xmlns:a16="http://schemas.microsoft.com/office/drawing/2014/main" id="{860C51CE-A7C2-44F4-8AD8-07E4A70AAA1E}"/>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Find the five numbers first</a:t>
            </a:r>
          </a:p>
        </p:txBody>
      </p:sp>
      <p:sp>
        <p:nvSpPr>
          <p:cNvPr id="2" name="Lead">
            <a:extLst>
              <a:ext uri="{FF2B5EF4-FFF2-40B4-BE49-F238E27FC236}">
                <a16:creationId xmlns:a16="http://schemas.microsoft.com/office/drawing/2014/main" id="{18DD4B9F-42E6-4A8F-BADD-9CE577425415}"/>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There are n = 11 delivery times, ordered from smallest to largest (minutes).</a:t>
            </a:r>
          </a:p>
        </p:txBody>
      </p:sp>
      <p:sp>
        <p:nvSpPr>
          <p:cNvPr id="3" name="Footer">
            <a:extLst>
              <a:ext uri="{FF2B5EF4-FFF2-40B4-BE49-F238E27FC236}">
                <a16:creationId xmlns:a16="http://schemas.microsoft.com/office/drawing/2014/main" id="{001CB103-4A7D-42D7-8D03-2159CB610419}"/>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Q₁ = lower quartile. Q₃ = upper quartile. The positions tell us which values to read.</a:t>
            </a:r>
          </a:p>
        </p:txBody>
      </p:sp>
      <p:sp>
        <p:nvSpPr>
          <p:cNvPr id="4" name="Text">
            <a:extLst>
              <a:ext uri="{FF2B5EF4-FFF2-40B4-BE49-F238E27FC236}">
                <a16:creationId xmlns:a16="http://schemas.microsoft.com/office/drawing/2014/main" id="{0FD84742-EB27-41DE-9D78-147A747BF09B}"/>
              </a:ext>
            </a:extLst>
          </p:cNvPr>
          <p:cNvSpPr>
            <a:spLocks noGrp="1"/>
          </p:cNvSpPr>
          <p:nvPr/>
        </p:nvSpPr>
        <p:spPr>
          <a:xfrm>
            <a:off x="619125"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12</a:t>
            </a:r>
          </a:p>
        </p:txBody>
      </p:sp>
      <p:sp>
        <p:nvSpPr>
          <p:cNvPr id="5" name="Text">
            <a:extLst>
              <a:ext uri="{FF2B5EF4-FFF2-40B4-BE49-F238E27FC236}">
                <a16:creationId xmlns:a16="http://schemas.microsoft.com/office/drawing/2014/main" id="{EBF3C5BA-FBEE-42F8-9949-10011541738C}"/>
              </a:ext>
            </a:extLst>
          </p:cNvPr>
          <p:cNvSpPr>
            <a:spLocks noGrp="1"/>
          </p:cNvSpPr>
          <p:nvPr/>
        </p:nvSpPr>
        <p:spPr>
          <a:xfrm>
            <a:off x="1614920"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15</a:t>
            </a:r>
          </a:p>
        </p:txBody>
      </p:sp>
      <p:sp>
        <p:nvSpPr>
          <p:cNvPr id="6" name="Text">
            <a:extLst>
              <a:ext uri="{FF2B5EF4-FFF2-40B4-BE49-F238E27FC236}">
                <a16:creationId xmlns:a16="http://schemas.microsoft.com/office/drawing/2014/main" id="{12E05BCB-7F68-4E42-9FC8-B988ADB024D4}"/>
              </a:ext>
            </a:extLst>
          </p:cNvPr>
          <p:cNvSpPr>
            <a:spLocks noGrp="1"/>
          </p:cNvSpPr>
          <p:nvPr/>
        </p:nvSpPr>
        <p:spPr>
          <a:xfrm>
            <a:off x="2610716"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18</a:t>
            </a:r>
          </a:p>
        </p:txBody>
      </p:sp>
      <p:sp>
        <p:nvSpPr>
          <p:cNvPr id="7" name="Text">
            <a:extLst>
              <a:ext uri="{FF2B5EF4-FFF2-40B4-BE49-F238E27FC236}">
                <a16:creationId xmlns:a16="http://schemas.microsoft.com/office/drawing/2014/main" id="{6E76E3F9-59BC-4527-A38D-9702C486BD8F}"/>
              </a:ext>
            </a:extLst>
          </p:cNvPr>
          <p:cNvSpPr>
            <a:spLocks noGrp="1"/>
          </p:cNvSpPr>
          <p:nvPr/>
        </p:nvSpPr>
        <p:spPr>
          <a:xfrm>
            <a:off x="3606511"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20</a:t>
            </a:r>
          </a:p>
        </p:txBody>
      </p:sp>
      <p:sp>
        <p:nvSpPr>
          <p:cNvPr id="8" name="Text">
            <a:extLst>
              <a:ext uri="{FF2B5EF4-FFF2-40B4-BE49-F238E27FC236}">
                <a16:creationId xmlns:a16="http://schemas.microsoft.com/office/drawing/2014/main" id="{B368631F-845B-4FA6-8381-624868EEBE13}"/>
              </a:ext>
            </a:extLst>
          </p:cNvPr>
          <p:cNvSpPr>
            <a:spLocks noGrp="1"/>
          </p:cNvSpPr>
          <p:nvPr/>
        </p:nvSpPr>
        <p:spPr>
          <a:xfrm>
            <a:off x="4602307"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22</a:t>
            </a:r>
          </a:p>
        </p:txBody>
      </p:sp>
      <p:sp>
        <p:nvSpPr>
          <p:cNvPr id="9" name="Text">
            <a:extLst>
              <a:ext uri="{FF2B5EF4-FFF2-40B4-BE49-F238E27FC236}">
                <a16:creationId xmlns:a16="http://schemas.microsoft.com/office/drawing/2014/main" id="{357DC6F3-D6A9-492E-BB8A-6E2A32C8EC91}"/>
              </a:ext>
            </a:extLst>
          </p:cNvPr>
          <p:cNvSpPr>
            <a:spLocks noGrp="1"/>
          </p:cNvSpPr>
          <p:nvPr/>
        </p:nvSpPr>
        <p:spPr>
          <a:xfrm>
            <a:off x="5598102"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25</a:t>
            </a:r>
          </a:p>
        </p:txBody>
      </p:sp>
      <p:sp>
        <p:nvSpPr>
          <p:cNvPr id="10" name="Text">
            <a:extLst>
              <a:ext uri="{FF2B5EF4-FFF2-40B4-BE49-F238E27FC236}">
                <a16:creationId xmlns:a16="http://schemas.microsoft.com/office/drawing/2014/main" id="{3608FC18-1FE4-493B-98AD-C82683FAB279}"/>
              </a:ext>
            </a:extLst>
          </p:cNvPr>
          <p:cNvSpPr>
            <a:spLocks noGrp="1"/>
          </p:cNvSpPr>
          <p:nvPr/>
        </p:nvSpPr>
        <p:spPr>
          <a:xfrm>
            <a:off x="6593898"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28</a:t>
            </a:r>
          </a:p>
        </p:txBody>
      </p:sp>
      <p:sp>
        <p:nvSpPr>
          <p:cNvPr id="11" name="Text">
            <a:extLst>
              <a:ext uri="{FF2B5EF4-FFF2-40B4-BE49-F238E27FC236}">
                <a16:creationId xmlns:a16="http://schemas.microsoft.com/office/drawing/2014/main" id="{F9888866-B54B-48B2-B838-8799752A1E32}"/>
              </a:ext>
            </a:extLst>
          </p:cNvPr>
          <p:cNvSpPr>
            <a:spLocks noGrp="1"/>
          </p:cNvSpPr>
          <p:nvPr/>
        </p:nvSpPr>
        <p:spPr>
          <a:xfrm>
            <a:off x="7589693"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30</a:t>
            </a:r>
          </a:p>
        </p:txBody>
      </p:sp>
      <p:sp>
        <p:nvSpPr>
          <p:cNvPr id="12" name="Text">
            <a:extLst>
              <a:ext uri="{FF2B5EF4-FFF2-40B4-BE49-F238E27FC236}">
                <a16:creationId xmlns:a16="http://schemas.microsoft.com/office/drawing/2014/main" id="{FB6C2696-A7B0-497F-B6F5-CD0BBD9A8FAC}"/>
              </a:ext>
            </a:extLst>
          </p:cNvPr>
          <p:cNvSpPr>
            <a:spLocks noGrp="1"/>
          </p:cNvSpPr>
          <p:nvPr/>
        </p:nvSpPr>
        <p:spPr>
          <a:xfrm>
            <a:off x="8585489"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32</a:t>
            </a:r>
          </a:p>
        </p:txBody>
      </p:sp>
      <p:sp>
        <p:nvSpPr>
          <p:cNvPr id="13" name="Text">
            <a:extLst>
              <a:ext uri="{FF2B5EF4-FFF2-40B4-BE49-F238E27FC236}">
                <a16:creationId xmlns:a16="http://schemas.microsoft.com/office/drawing/2014/main" id="{7B337D39-5D3A-4595-89A5-6C9FBF99B40B}"/>
              </a:ext>
            </a:extLst>
          </p:cNvPr>
          <p:cNvSpPr>
            <a:spLocks noGrp="1"/>
          </p:cNvSpPr>
          <p:nvPr/>
        </p:nvSpPr>
        <p:spPr>
          <a:xfrm>
            <a:off x="9581284"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38</a:t>
            </a:r>
          </a:p>
        </p:txBody>
      </p:sp>
      <p:sp>
        <p:nvSpPr>
          <p:cNvPr id="14" name="Text">
            <a:extLst>
              <a:ext uri="{FF2B5EF4-FFF2-40B4-BE49-F238E27FC236}">
                <a16:creationId xmlns:a16="http://schemas.microsoft.com/office/drawing/2014/main" id="{72C5DEDC-2773-4DC0-BBFF-8B541989A4E4}"/>
              </a:ext>
            </a:extLst>
          </p:cNvPr>
          <p:cNvSpPr>
            <a:spLocks noGrp="1"/>
          </p:cNvSpPr>
          <p:nvPr/>
        </p:nvSpPr>
        <p:spPr>
          <a:xfrm>
            <a:off x="10577080" y="2886075"/>
            <a:ext cx="929120" cy="476250"/>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44</a:t>
            </a:r>
          </a:p>
        </p:txBody>
      </p:sp>
      <p:graphicFrame>
        <p:nvGraphicFramePr>
          <p:cNvPr id="44" name="Table 43"/>
          <p:cNvGraphicFramePr/>
          <p:nvPr/>
        </p:nvGraphicFramePr>
        <p:xfrm>
          <a:off x="619125" y="3476625"/>
          <a:ext cx="10953750" cy="2247900"/>
        </p:xfrm>
        <a:graphic>
          <a:graphicData uri="http://schemas.openxmlformats.org/drawingml/2006/table">
            <a:tbl>
              <a:tblPr/>
              <a:tblGrid>
                <a:gridCol w="21907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gridCol w="2190750">
                  <a:extLst>
                    <a:ext uri="{9D8B030D-6E8A-4147-A177-3AD203B41FA5}">
                      <a16:colId xmlns:a16="http://schemas.microsoft.com/office/drawing/2014/main" val="20004"/>
                    </a:ext>
                  </a:extLst>
                </a:gridCol>
              </a:tblGrid>
              <a:tr h="438150">
                <a:tc>
                  <a:txBody>
                    <a:bodyPr/>
                    <a:lstStyle/>
                    <a:p>
                      <a:pPr algn="l">
                        <a:buNone/>
                      </a:pPr>
                      <a:r>
                        <a:rPr sz="2100" b="1">
                          <a:solidFill>
                            <a:srgbClr val="FFFFFF"/>
                          </a:solidFill>
                          <a:latin typeface="Aptos"/>
                          <a:ea typeface="Aptos"/>
                          <a:cs typeface="Aptos"/>
                        </a:rPr>
                        <a:t>Minimum</a:t>
                      </a:r>
                    </a:p>
                  </a:txBody>
                  <a:tcPr anchor="ctr">
                    <a:solidFill>
                      <a:srgbClr val="D6171D"/>
                    </a:solidFill>
                  </a:tcPr>
                </a:tc>
                <a:tc>
                  <a:txBody>
                    <a:bodyPr/>
                    <a:lstStyle/>
                    <a:p>
                      <a:pPr algn="ctr">
                        <a:buNone/>
                      </a:pPr>
                      <a:r>
                        <a:rPr sz="2100" b="1">
                          <a:solidFill>
                            <a:srgbClr val="FFFFFF"/>
                          </a:solidFill>
                          <a:latin typeface="Aptos"/>
                          <a:ea typeface="Aptos"/>
                          <a:cs typeface="Aptos"/>
                        </a:rPr>
                        <a:t>Q₁</a:t>
                      </a:r>
                    </a:p>
                  </a:txBody>
                  <a:tcPr anchor="ctr">
                    <a:solidFill>
                      <a:srgbClr val="D6171D"/>
                    </a:solidFill>
                  </a:tcPr>
                </a:tc>
                <a:tc>
                  <a:txBody>
                    <a:bodyPr/>
                    <a:lstStyle/>
                    <a:p>
                      <a:pPr algn="ctr">
                        <a:buNone/>
                      </a:pPr>
                      <a:r>
                        <a:rPr sz="2100" b="1">
                          <a:solidFill>
                            <a:srgbClr val="FFFFFF"/>
                          </a:solidFill>
                          <a:latin typeface="Aptos"/>
                          <a:ea typeface="Aptos"/>
                          <a:cs typeface="Aptos"/>
                        </a:rPr>
                        <a:t>Median</a:t>
                      </a:r>
                    </a:p>
                  </a:txBody>
                  <a:tcPr anchor="ctr">
                    <a:solidFill>
                      <a:srgbClr val="D6171D"/>
                    </a:solidFill>
                  </a:tcPr>
                </a:tc>
                <a:tc>
                  <a:txBody>
                    <a:bodyPr/>
                    <a:lstStyle/>
                    <a:p>
                      <a:pPr algn="ctr">
                        <a:buNone/>
                      </a:pPr>
                      <a:r>
                        <a:rPr sz="2100" b="1">
                          <a:solidFill>
                            <a:srgbClr val="FFFFFF"/>
                          </a:solidFill>
                          <a:latin typeface="Aptos"/>
                          <a:ea typeface="Aptos"/>
                          <a:cs typeface="Aptos"/>
                        </a:rPr>
                        <a:t>Q₃</a:t>
                      </a:r>
                    </a:p>
                  </a:txBody>
                  <a:tcPr anchor="ctr">
                    <a:solidFill>
                      <a:srgbClr val="D6171D"/>
                    </a:solidFill>
                  </a:tcPr>
                </a:tc>
                <a:tc>
                  <a:txBody>
                    <a:bodyPr/>
                    <a:lstStyle/>
                    <a:p>
                      <a:pPr algn="ctr">
                        <a:buNone/>
                      </a:pPr>
                      <a:r>
                        <a:rPr sz="2100" b="1">
                          <a:solidFill>
                            <a:srgbClr val="FFFFFF"/>
                          </a:solidFill>
                          <a:latin typeface="Aptos"/>
                          <a:ea typeface="Aptos"/>
                          <a:cs typeface="Aptos"/>
                        </a:rPr>
                        <a:t>Maximum</a:t>
                      </a:r>
                    </a:p>
                  </a:txBody>
                  <a:tcPr anchor="ctr">
                    <a:solidFill>
                      <a:srgbClr val="D6171D"/>
                    </a:solidFill>
                  </a:tcPr>
                </a:tc>
                <a:extLst>
                  <a:ext uri="{0D108BD9-81ED-4DB2-BD59-A6C34878D82A}">
                    <a16:rowId xmlns:a16="http://schemas.microsoft.com/office/drawing/2014/main" val="10000"/>
                  </a:ext>
                </a:extLst>
              </a:tr>
              <a:tr h="1381125">
                <a:tc>
                  <a:txBody>
                    <a:bodyPr/>
                    <a:lstStyle/>
                    <a:p>
                      <a:pPr algn="l">
                        <a:buNone/>
                      </a:pPr>
                      <a:r>
                        <a:rPr sz="2100" b="0">
                          <a:solidFill>
                            <a:srgbClr val="111111"/>
                          </a:solidFill>
                          <a:latin typeface="Aptos"/>
                          <a:ea typeface="Aptos"/>
                          <a:cs typeface="Aptos"/>
                        </a:rPr>
                        <a:t>First value</a:t>
                      </a: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tc>
                  <a:txBody>
                    <a:bodyPr/>
                    <a:lstStyle/>
                    <a:p>
                      <a:endParaRPr/>
                    </a:p>
                  </a:txBody>
                  <a:tcPr anchor="ctr">
                    <a:solidFill>
                      <a:srgbClr val="FFFFFF"/>
                    </a:solidFill>
                  </a:tcPr>
                </a:tc>
                <a:tc>
                  <a:txBody>
                    <a:bodyPr/>
                    <a:lstStyle/>
                    <a:p>
                      <a:pPr algn="ctr">
                        <a:buNone/>
                      </a:pPr>
                      <a:r>
                        <a:rPr sz="2100" b="0">
                          <a:solidFill>
                            <a:srgbClr val="111111"/>
                          </a:solidFill>
                          <a:latin typeface="Aptos"/>
                          <a:ea typeface="Aptos"/>
                          <a:cs typeface="Aptos"/>
                        </a:rPr>
                        <a:t>Last value</a:t>
                      </a:r>
                    </a:p>
                  </a:txBody>
                  <a:tcPr anchor="ctr">
                    <a:solidFill>
                      <a:srgbClr val="FFFFFF"/>
                    </a:solidFill>
                  </a:tcPr>
                </a:tc>
                <a:extLst>
                  <a:ext uri="{0D108BD9-81ED-4DB2-BD59-A6C34878D82A}">
                    <a16:rowId xmlns:a16="http://schemas.microsoft.com/office/drawing/2014/main" val="10001"/>
                  </a:ext>
                </a:extLst>
              </a:tr>
              <a:tr h="428625">
                <a:tc>
                  <a:txBody>
                    <a:bodyPr/>
                    <a:lstStyle/>
                    <a:p>
                      <a:pPr algn="l">
                        <a:buNone/>
                      </a:pPr>
                      <a:r>
                        <a:rPr sz="2100" b="0">
                          <a:solidFill>
                            <a:srgbClr val="111111"/>
                          </a:solidFill>
                          <a:latin typeface="Aptos"/>
                          <a:ea typeface="Aptos"/>
                          <a:cs typeface="Aptos"/>
                        </a:rPr>
                        <a:t>12</a:t>
                      </a:r>
                    </a:p>
                  </a:txBody>
                  <a:tcPr anchor="ctr">
                    <a:solidFill>
                      <a:srgbClr val="EEF8FE"/>
                    </a:solidFill>
                  </a:tcPr>
                </a:tc>
                <a:tc>
                  <a:txBody>
                    <a:bodyPr/>
                    <a:lstStyle/>
                    <a:p>
                      <a:pPr algn="ctr">
                        <a:buNone/>
                      </a:pPr>
                      <a:r>
                        <a:rPr sz="2100" b="0">
                          <a:solidFill>
                            <a:srgbClr val="111111"/>
                          </a:solidFill>
                          <a:latin typeface="Aptos"/>
                          <a:ea typeface="Aptos"/>
                          <a:cs typeface="Aptos"/>
                        </a:rPr>
                        <a:t>18</a:t>
                      </a:r>
                    </a:p>
                  </a:txBody>
                  <a:tcPr anchor="ctr">
                    <a:solidFill>
                      <a:srgbClr val="EEF8FE"/>
                    </a:solidFill>
                  </a:tcPr>
                </a:tc>
                <a:tc>
                  <a:txBody>
                    <a:bodyPr/>
                    <a:lstStyle/>
                    <a:p>
                      <a:pPr algn="ctr">
                        <a:buNone/>
                      </a:pPr>
                      <a:r>
                        <a:rPr sz="2100" b="0">
                          <a:solidFill>
                            <a:srgbClr val="111111"/>
                          </a:solidFill>
                          <a:latin typeface="Aptos"/>
                          <a:ea typeface="Aptos"/>
                          <a:cs typeface="Aptos"/>
                        </a:rPr>
                        <a:t>25</a:t>
                      </a:r>
                    </a:p>
                  </a:txBody>
                  <a:tcPr anchor="ctr">
                    <a:solidFill>
                      <a:srgbClr val="EEF8FE"/>
                    </a:solidFill>
                  </a:tcPr>
                </a:tc>
                <a:tc>
                  <a:txBody>
                    <a:bodyPr/>
                    <a:lstStyle/>
                    <a:p>
                      <a:pPr algn="ctr">
                        <a:buNone/>
                      </a:pPr>
                      <a:r>
                        <a:rPr sz="2100" b="0">
                          <a:solidFill>
                            <a:srgbClr val="111111"/>
                          </a:solidFill>
                          <a:latin typeface="Aptos"/>
                          <a:ea typeface="Aptos"/>
                          <a:cs typeface="Aptos"/>
                        </a:rPr>
                        <a:t>32</a:t>
                      </a:r>
                    </a:p>
                  </a:txBody>
                  <a:tcPr anchor="ctr">
                    <a:solidFill>
                      <a:srgbClr val="EEF8FE"/>
                    </a:solidFill>
                  </a:tcPr>
                </a:tc>
                <a:tc>
                  <a:txBody>
                    <a:bodyPr/>
                    <a:lstStyle/>
                    <a:p>
                      <a:pPr algn="ctr">
                        <a:buNone/>
                      </a:pPr>
                      <a:r>
                        <a:rPr sz="2100" b="0">
                          <a:solidFill>
                            <a:srgbClr val="111111"/>
                          </a:solidFill>
                          <a:latin typeface="Aptos"/>
                          <a:ea typeface="Aptos"/>
                          <a:cs typeface="Aptos"/>
                        </a:rPr>
                        <a:t>44</a:t>
                      </a:r>
                    </a:p>
                  </a:txBody>
                  <a:tcPr anchor="ctr">
                    <a:solidFill>
                      <a:srgbClr val="EEF8FE"/>
                    </a:solidFill>
                  </a:tcPr>
                </a:tc>
                <a:extLst>
                  <a:ext uri="{0D108BD9-81ED-4DB2-BD59-A6C34878D82A}">
                    <a16:rowId xmlns:a16="http://schemas.microsoft.com/office/drawing/2014/main" val="10002"/>
                  </a:ext>
                </a:extLst>
              </a:tr>
            </a:tbl>
          </a:graphicData>
        </a:graphic>
      </p:graphicFrame>
      <p:sp>
        <p:nvSpPr>
          <p:cNvPr id="16" name="Text">
            <a:extLst>
              <a:ext uri="{FF2B5EF4-FFF2-40B4-BE49-F238E27FC236}">
                <a16:creationId xmlns:a16="http://schemas.microsoft.com/office/drawing/2014/main" id="{D4220C4C-3F0D-47CD-9BCA-2E23EEFC2B6F}"/>
              </a:ext>
            </a:extLst>
          </p:cNvPr>
          <p:cNvSpPr>
            <a:spLocks noGrp="1"/>
          </p:cNvSpPr>
          <p:nvPr/>
        </p:nvSpPr>
        <p:spPr>
          <a:xfrm>
            <a:off x="3314700" y="3962400"/>
            <a:ext cx="1181100" cy="361950"/>
          </a:xfrm>
          <a:prstGeom prst="rect">
            <a:avLst/>
          </a:prstGeom>
          <a:noFill/>
          <a:ln w="0">
            <a:noFill/>
          </a:ln>
        </p:spPr>
        <p:txBody>
          <a:bodyPr wrap="square" lIns="0" tIns="0" rIns="0" bIns="0" anchor="t">
            <a:noAutofit/>
          </a:bodyPr>
          <a:lstStyle/>
          <a:p>
            <a:pPr algn="ctr">
              <a:buNone/>
              <a:defRPr sz="2100" b="0">
                <a:solidFill>
                  <a:srgbClr val="111111"/>
                </a:solidFill>
                <a:latin typeface="Aptos"/>
                <a:ea typeface="Aptos"/>
                <a:cs typeface="Aptos"/>
              </a:defRPr>
            </a:pPr>
            <a:r>
              <a:rPr sz="2100" b="0">
                <a:solidFill>
                  <a:srgbClr val="111111"/>
                </a:solidFill>
                <a:latin typeface="Aptos"/>
                <a:ea typeface="Aptos"/>
                <a:cs typeface="Aptos"/>
              </a:rPr>
              <a:t>11 + 1</a:t>
            </a:r>
          </a:p>
        </p:txBody>
      </p:sp>
      <p:sp>
        <p:nvSpPr>
          <p:cNvPr id="17" name="Diagram line">
            <a:extLst>
              <a:ext uri="{FF2B5EF4-FFF2-40B4-BE49-F238E27FC236}">
                <a16:creationId xmlns:a16="http://schemas.microsoft.com/office/drawing/2014/main" id="{A6F7EA61-7F6D-4A14-836D-E545FD8A452D}"/>
              </a:ext>
            </a:extLst>
          </p:cNvPr>
          <p:cNvSpPr>
            <a:spLocks noGrp="1"/>
          </p:cNvSpPr>
          <p:nvPr/>
        </p:nvSpPr>
        <p:spPr>
          <a:xfrm>
            <a:off x="3314700" y="4324350"/>
            <a:ext cx="1181100" cy="9525"/>
          </a:xfrm>
          <a:custGeom>
            <a:avLst/>
            <a:gdLst/>
            <a:ahLst/>
            <a:cxnLst/>
            <a:rect l="0" t="0" r="0" b="0"/>
            <a:pathLst>
              <a:path w="1181100" h="9525">
                <a:moveTo>
                  <a:pt x="0" y="0"/>
                </a:moveTo>
                <a:lnTo>
                  <a:pt x="1181100" y="0"/>
                </a:lnTo>
              </a:path>
            </a:pathLst>
          </a:custGeom>
          <a:noFill/>
          <a:ln w="19050">
            <a:solidFill>
              <a:srgbClr val="111111"/>
            </a:solidFill>
          </a:ln>
        </p:spPr>
        <p:txBody>
          <a:bodyPr/>
          <a:lstStyle/>
          <a:p>
            <a:endParaRPr lang="en-US"/>
          </a:p>
        </p:txBody>
      </p:sp>
      <p:sp>
        <p:nvSpPr>
          <p:cNvPr id="18" name="Text">
            <a:extLst>
              <a:ext uri="{FF2B5EF4-FFF2-40B4-BE49-F238E27FC236}">
                <a16:creationId xmlns:a16="http://schemas.microsoft.com/office/drawing/2014/main" id="{C8FBEA44-E625-4785-9153-546D1465E825}"/>
              </a:ext>
            </a:extLst>
          </p:cNvPr>
          <p:cNvSpPr>
            <a:spLocks noGrp="1"/>
          </p:cNvSpPr>
          <p:nvPr/>
        </p:nvSpPr>
        <p:spPr>
          <a:xfrm>
            <a:off x="3314700" y="4391025"/>
            <a:ext cx="1181100" cy="361950"/>
          </a:xfrm>
          <a:prstGeom prst="rect">
            <a:avLst/>
          </a:prstGeom>
          <a:noFill/>
          <a:ln w="0">
            <a:noFill/>
          </a:ln>
        </p:spPr>
        <p:txBody>
          <a:bodyPr wrap="square" lIns="0" tIns="0" rIns="0" bIns="0" anchor="t">
            <a:noAutofit/>
          </a:bodyPr>
          <a:lstStyle/>
          <a:p>
            <a:pPr algn="ctr">
              <a:buNone/>
              <a:defRPr sz="2100" b="0">
                <a:solidFill>
                  <a:srgbClr val="111111"/>
                </a:solidFill>
                <a:latin typeface="Aptos"/>
                <a:ea typeface="Aptos"/>
                <a:cs typeface="Aptos"/>
              </a:defRPr>
            </a:pPr>
            <a:r>
              <a:rPr sz="2100" b="0">
                <a:solidFill>
                  <a:srgbClr val="111111"/>
                </a:solidFill>
                <a:latin typeface="Aptos"/>
                <a:ea typeface="Aptos"/>
                <a:cs typeface="Aptos"/>
              </a:rPr>
              <a:t>4</a:t>
            </a:r>
          </a:p>
        </p:txBody>
      </p:sp>
      <p:sp>
        <p:nvSpPr>
          <p:cNvPr id="19" name="Text">
            <a:extLst>
              <a:ext uri="{FF2B5EF4-FFF2-40B4-BE49-F238E27FC236}">
                <a16:creationId xmlns:a16="http://schemas.microsoft.com/office/drawing/2014/main" id="{8934FBBF-85DA-4D0D-875F-5BBFF57465AD}"/>
              </a:ext>
            </a:extLst>
          </p:cNvPr>
          <p:cNvSpPr>
            <a:spLocks noGrp="1"/>
          </p:cNvSpPr>
          <p:nvPr/>
        </p:nvSpPr>
        <p:spPr>
          <a:xfrm>
            <a:off x="3048000" y="4819650"/>
            <a:ext cx="1714500" cy="400050"/>
          </a:xfrm>
          <a:prstGeom prst="rect">
            <a:avLst/>
          </a:prstGeom>
          <a:noFill/>
          <a:ln w="0">
            <a:noFill/>
          </a:ln>
        </p:spPr>
        <p:txBody>
          <a:bodyPr wrap="square" lIns="0" tIns="0" rIns="0" bIns="0" anchor="t">
            <a:noAutofit/>
          </a:bodyPr>
          <a:lstStyle/>
          <a:p>
            <a:pPr algn="ctr">
              <a:buNone/>
              <a:defRPr sz="1950" b="0">
                <a:solidFill>
                  <a:srgbClr val="111111"/>
                </a:solidFill>
                <a:latin typeface="Aptos"/>
                <a:ea typeface="Aptos"/>
                <a:cs typeface="Aptos"/>
              </a:defRPr>
            </a:pPr>
            <a:r>
              <a:rPr sz="1950" b="0">
                <a:solidFill>
                  <a:srgbClr val="111111"/>
                </a:solidFill>
                <a:latin typeface="Aptos"/>
                <a:ea typeface="Aptos"/>
                <a:cs typeface="Aptos"/>
              </a:rPr>
              <a:t>= 3rd position</a:t>
            </a:r>
          </a:p>
        </p:txBody>
      </p:sp>
      <p:sp>
        <p:nvSpPr>
          <p:cNvPr id="20" name="Text">
            <a:extLst>
              <a:ext uri="{FF2B5EF4-FFF2-40B4-BE49-F238E27FC236}">
                <a16:creationId xmlns:a16="http://schemas.microsoft.com/office/drawing/2014/main" id="{E5F96E1B-FA89-4C71-98D0-AD737D7212A8}"/>
              </a:ext>
            </a:extLst>
          </p:cNvPr>
          <p:cNvSpPr>
            <a:spLocks noGrp="1"/>
          </p:cNvSpPr>
          <p:nvPr/>
        </p:nvSpPr>
        <p:spPr>
          <a:xfrm>
            <a:off x="5505450" y="3962400"/>
            <a:ext cx="1181100" cy="361950"/>
          </a:xfrm>
          <a:prstGeom prst="rect">
            <a:avLst/>
          </a:prstGeom>
          <a:noFill/>
          <a:ln w="0">
            <a:noFill/>
          </a:ln>
        </p:spPr>
        <p:txBody>
          <a:bodyPr wrap="square" lIns="0" tIns="0" rIns="0" bIns="0" anchor="t">
            <a:noAutofit/>
          </a:bodyPr>
          <a:lstStyle/>
          <a:p>
            <a:pPr algn="ctr">
              <a:buNone/>
              <a:defRPr sz="2100" b="0">
                <a:solidFill>
                  <a:srgbClr val="111111"/>
                </a:solidFill>
                <a:latin typeface="Aptos"/>
                <a:ea typeface="Aptos"/>
                <a:cs typeface="Aptos"/>
              </a:defRPr>
            </a:pPr>
            <a:r>
              <a:rPr sz="2100" b="0">
                <a:solidFill>
                  <a:srgbClr val="111111"/>
                </a:solidFill>
                <a:latin typeface="Aptos"/>
                <a:ea typeface="Aptos"/>
                <a:cs typeface="Aptos"/>
              </a:rPr>
              <a:t>11 + 1</a:t>
            </a:r>
          </a:p>
        </p:txBody>
      </p:sp>
      <p:sp>
        <p:nvSpPr>
          <p:cNvPr id="21" name="Diagram line">
            <a:extLst>
              <a:ext uri="{FF2B5EF4-FFF2-40B4-BE49-F238E27FC236}">
                <a16:creationId xmlns:a16="http://schemas.microsoft.com/office/drawing/2014/main" id="{7BFD0C67-CC76-4F62-81EE-7E746BAA252B}"/>
              </a:ext>
            </a:extLst>
          </p:cNvPr>
          <p:cNvSpPr>
            <a:spLocks noGrp="1"/>
          </p:cNvSpPr>
          <p:nvPr/>
        </p:nvSpPr>
        <p:spPr>
          <a:xfrm>
            <a:off x="5505450" y="4324350"/>
            <a:ext cx="1181100" cy="9525"/>
          </a:xfrm>
          <a:custGeom>
            <a:avLst/>
            <a:gdLst/>
            <a:ahLst/>
            <a:cxnLst/>
            <a:rect l="0" t="0" r="0" b="0"/>
            <a:pathLst>
              <a:path w="1181100" h="9525">
                <a:moveTo>
                  <a:pt x="0" y="0"/>
                </a:moveTo>
                <a:lnTo>
                  <a:pt x="1181100" y="0"/>
                </a:lnTo>
              </a:path>
            </a:pathLst>
          </a:custGeom>
          <a:noFill/>
          <a:ln w="19050">
            <a:solidFill>
              <a:srgbClr val="111111"/>
            </a:solidFill>
          </a:ln>
        </p:spPr>
        <p:txBody>
          <a:bodyPr/>
          <a:lstStyle/>
          <a:p>
            <a:endParaRPr lang="en-US"/>
          </a:p>
        </p:txBody>
      </p:sp>
      <p:sp>
        <p:nvSpPr>
          <p:cNvPr id="22" name="Text">
            <a:extLst>
              <a:ext uri="{FF2B5EF4-FFF2-40B4-BE49-F238E27FC236}">
                <a16:creationId xmlns:a16="http://schemas.microsoft.com/office/drawing/2014/main" id="{646E77AA-50D6-44A3-B55A-ABC9205269A4}"/>
              </a:ext>
            </a:extLst>
          </p:cNvPr>
          <p:cNvSpPr>
            <a:spLocks noGrp="1"/>
          </p:cNvSpPr>
          <p:nvPr/>
        </p:nvSpPr>
        <p:spPr>
          <a:xfrm>
            <a:off x="5505450" y="4391025"/>
            <a:ext cx="1181100" cy="361950"/>
          </a:xfrm>
          <a:prstGeom prst="rect">
            <a:avLst/>
          </a:prstGeom>
          <a:noFill/>
          <a:ln w="0">
            <a:noFill/>
          </a:ln>
        </p:spPr>
        <p:txBody>
          <a:bodyPr wrap="square" lIns="0" tIns="0" rIns="0" bIns="0" anchor="t">
            <a:noAutofit/>
          </a:bodyPr>
          <a:lstStyle/>
          <a:p>
            <a:pPr algn="ctr">
              <a:buNone/>
              <a:defRPr sz="2100" b="0">
                <a:solidFill>
                  <a:srgbClr val="111111"/>
                </a:solidFill>
                <a:latin typeface="Aptos"/>
                <a:ea typeface="Aptos"/>
                <a:cs typeface="Aptos"/>
              </a:defRPr>
            </a:pPr>
            <a:r>
              <a:rPr sz="2100" b="0">
                <a:solidFill>
                  <a:srgbClr val="111111"/>
                </a:solidFill>
                <a:latin typeface="Aptos"/>
                <a:ea typeface="Aptos"/>
                <a:cs typeface="Aptos"/>
              </a:rPr>
              <a:t>2</a:t>
            </a:r>
          </a:p>
        </p:txBody>
      </p:sp>
      <p:sp>
        <p:nvSpPr>
          <p:cNvPr id="23" name="Text">
            <a:extLst>
              <a:ext uri="{FF2B5EF4-FFF2-40B4-BE49-F238E27FC236}">
                <a16:creationId xmlns:a16="http://schemas.microsoft.com/office/drawing/2014/main" id="{6B1B2B48-A794-403C-B7AB-FBC36C19132B}"/>
              </a:ext>
            </a:extLst>
          </p:cNvPr>
          <p:cNvSpPr>
            <a:spLocks noGrp="1"/>
          </p:cNvSpPr>
          <p:nvPr/>
        </p:nvSpPr>
        <p:spPr>
          <a:xfrm>
            <a:off x="5238750" y="4819650"/>
            <a:ext cx="1714500" cy="400050"/>
          </a:xfrm>
          <a:prstGeom prst="rect">
            <a:avLst/>
          </a:prstGeom>
          <a:noFill/>
          <a:ln w="0">
            <a:noFill/>
          </a:ln>
        </p:spPr>
        <p:txBody>
          <a:bodyPr wrap="square" lIns="0" tIns="0" rIns="0" bIns="0" anchor="t">
            <a:noAutofit/>
          </a:bodyPr>
          <a:lstStyle/>
          <a:p>
            <a:pPr algn="ctr">
              <a:buNone/>
              <a:defRPr sz="1950" b="0">
                <a:solidFill>
                  <a:srgbClr val="111111"/>
                </a:solidFill>
                <a:latin typeface="Aptos"/>
                <a:ea typeface="Aptos"/>
                <a:cs typeface="Aptos"/>
              </a:defRPr>
            </a:pPr>
            <a:r>
              <a:rPr sz="1950" b="0">
                <a:solidFill>
                  <a:srgbClr val="111111"/>
                </a:solidFill>
                <a:latin typeface="Aptos"/>
                <a:ea typeface="Aptos"/>
                <a:cs typeface="Aptos"/>
              </a:rPr>
              <a:t>= 6th position</a:t>
            </a:r>
          </a:p>
        </p:txBody>
      </p:sp>
      <p:sp>
        <p:nvSpPr>
          <p:cNvPr id="24" name="Text">
            <a:extLst>
              <a:ext uri="{FF2B5EF4-FFF2-40B4-BE49-F238E27FC236}">
                <a16:creationId xmlns:a16="http://schemas.microsoft.com/office/drawing/2014/main" id="{0373A9E3-63E2-420A-83DF-5D9B0130DBF2}"/>
              </a:ext>
            </a:extLst>
          </p:cNvPr>
          <p:cNvSpPr>
            <a:spLocks noGrp="1"/>
          </p:cNvSpPr>
          <p:nvPr/>
        </p:nvSpPr>
        <p:spPr>
          <a:xfrm>
            <a:off x="7696200" y="3962400"/>
            <a:ext cx="1181100" cy="361950"/>
          </a:xfrm>
          <a:prstGeom prst="rect">
            <a:avLst/>
          </a:prstGeom>
          <a:noFill/>
          <a:ln w="0">
            <a:noFill/>
          </a:ln>
        </p:spPr>
        <p:txBody>
          <a:bodyPr wrap="square" lIns="0" tIns="0" rIns="0" bIns="0" anchor="t">
            <a:noAutofit/>
          </a:bodyPr>
          <a:lstStyle/>
          <a:p>
            <a:pPr algn="ctr">
              <a:buNone/>
              <a:defRPr sz="2100" b="0">
                <a:solidFill>
                  <a:srgbClr val="111111"/>
                </a:solidFill>
                <a:latin typeface="Aptos"/>
                <a:ea typeface="Aptos"/>
                <a:cs typeface="Aptos"/>
              </a:defRPr>
            </a:pPr>
            <a:r>
              <a:rPr sz="2100" b="0">
                <a:solidFill>
                  <a:srgbClr val="111111"/>
                </a:solidFill>
                <a:latin typeface="Aptos"/>
                <a:ea typeface="Aptos"/>
                <a:cs typeface="Aptos"/>
              </a:rPr>
              <a:t>3(11 + 1)</a:t>
            </a:r>
          </a:p>
        </p:txBody>
      </p:sp>
      <p:sp>
        <p:nvSpPr>
          <p:cNvPr id="25" name="Diagram line">
            <a:extLst>
              <a:ext uri="{FF2B5EF4-FFF2-40B4-BE49-F238E27FC236}">
                <a16:creationId xmlns:a16="http://schemas.microsoft.com/office/drawing/2014/main" id="{B80E109B-09CF-46D5-9D3E-1F5F5483F065}"/>
              </a:ext>
            </a:extLst>
          </p:cNvPr>
          <p:cNvSpPr>
            <a:spLocks noGrp="1"/>
          </p:cNvSpPr>
          <p:nvPr/>
        </p:nvSpPr>
        <p:spPr>
          <a:xfrm>
            <a:off x="7696200" y="4324350"/>
            <a:ext cx="1181100" cy="9525"/>
          </a:xfrm>
          <a:custGeom>
            <a:avLst/>
            <a:gdLst/>
            <a:ahLst/>
            <a:cxnLst/>
            <a:rect l="0" t="0" r="0" b="0"/>
            <a:pathLst>
              <a:path w="1181100" h="9525">
                <a:moveTo>
                  <a:pt x="0" y="0"/>
                </a:moveTo>
                <a:lnTo>
                  <a:pt x="1181100" y="0"/>
                </a:lnTo>
              </a:path>
            </a:pathLst>
          </a:custGeom>
          <a:noFill/>
          <a:ln w="19050">
            <a:solidFill>
              <a:srgbClr val="111111"/>
            </a:solidFill>
          </a:ln>
        </p:spPr>
        <p:txBody>
          <a:bodyPr/>
          <a:lstStyle/>
          <a:p>
            <a:endParaRPr lang="en-US"/>
          </a:p>
        </p:txBody>
      </p:sp>
      <p:sp>
        <p:nvSpPr>
          <p:cNvPr id="26" name="Text">
            <a:extLst>
              <a:ext uri="{FF2B5EF4-FFF2-40B4-BE49-F238E27FC236}">
                <a16:creationId xmlns:a16="http://schemas.microsoft.com/office/drawing/2014/main" id="{25DFD44B-4118-4D3B-8B3C-0923D79DEC0A}"/>
              </a:ext>
            </a:extLst>
          </p:cNvPr>
          <p:cNvSpPr>
            <a:spLocks noGrp="1"/>
          </p:cNvSpPr>
          <p:nvPr/>
        </p:nvSpPr>
        <p:spPr>
          <a:xfrm>
            <a:off x="7696200" y="4391025"/>
            <a:ext cx="1181100" cy="361950"/>
          </a:xfrm>
          <a:prstGeom prst="rect">
            <a:avLst/>
          </a:prstGeom>
          <a:noFill/>
          <a:ln w="0">
            <a:noFill/>
          </a:ln>
        </p:spPr>
        <p:txBody>
          <a:bodyPr wrap="square" lIns="0" tIns="0" rIns="0" bIns="0" anchor="t">
            <a:noAutofit/>
          </a:bodyPr>
          <a:lstStyle/>
          <a:p>
            <a:pPr algn="ctr">
              <a:buNone/>
              <a:defRPr sz="2100" b="0">
                <a:solidFill>
                  <a:srgbClr val="111111"/>
                </a:solidFill>
                <a:latin typeface="Aptos"/>
                <a:ea typeface="Aptos"/>
                <a:cs typeface="Aptos"/>
              </a:defRPr>
            </a:pPr>
            <a:r>
              <a:rPr sz="2100" b="0">
                <a:solidFill>
                  <a:srgbClr val="111111"/>
                </a:solidFill>
                <a:latin typeface="Aptos"/>
                <a:ea typeface="Aptos"/>
                <a:cs typeface="Aptos"/>
              </a:rPr>
              <a:t>4</a:t>
            </a:r>
          </a:p>
        </p:txBody>
      </p:sp>
      <p:sp>
        <p:nvSpPr>
          <p:cNvPr id="27" name="Text">
            <a:extLst>
              <a:ext uri="{FF2B5EF4-FFF2-40B4-BE49-F238E27FC236}">
                <a16:creationId xmlns:a16="http://schemas.microsoft.com/office/drawing/2014/main" id="{A958445D-7CD9-44FE-8C0C-ED3459E4E244}"/>
              </a:ext>
            </a:extLst>
          </p:cNvPr>
          <p:cNvSpPr>
            <a:spLocks noGrp="1"/>
          </p:cNvSpPr>
          <p:nvPr/>
        </p:nvSpPr>
        <p:spPr>
          <a:xfrm>
            <a:off x="7429500" y="4819650"/>
            <a:ext cx="1714500" cy="400050"/>
          </a:xfrm>
          <a:prstGeom prst="rect">
            <a:avLst/>
          </a:prstGeom>
          <a:noFill/>
          <a:ln w="0">
            <a:noFill/>
          </a:ln>
        </p:spPr>
        <p:txBody>
          <a:bodyPr wrap="square" lIns="0" tIns="0" rIns="0" bIns="0" anchor="t">
            <a:noAutofit/>
          </a:bodyPr>
          <a:lstStyle/>
          <a:p>
            <a:pPr algn="ctr">
              <a:buNone/>
              <a:defRPr sz="1950" b="0">
                <a:solidFill>
                  <a:srgbClr val="111111"/>
                </a:solidFill>
                <a:latin typeface="Aptos"/>
                <a:ea typeface="Aptos"/>
                <a:cs typeface="Aptos"/>
              </a:defRPr>
            </a:pPr>
            <a:r>
              <a:rPr sz="1950" b="0">
                <a:solidFill>
                  <a:srgbClr val="111111"/>
                </a:solidFill>
                <a:latin typeface="Aptos"/>
                <a:ea typeface="Aptos"/>
                <a:cs typeface="Aptos"/>
              </a:rPr>
              <a:t>= 9th position</a:t>
            </a:r>
          </a:p>
        </p:txBody>
      </p:sp>
    </p:spTree>
    <p:extLst>
      <p:ext uri="{BB962C8B-B14F-4D97-AF65-F5344CB8AC3E}">
        <p14:creationId xmlns:p14="http://schemas.microsoft.com/office/powerpoint/2010/main" val="14293072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title">
            <a:extLst>
              <a:ext uri="{FF2B5EF4-FFF2-40B4-BE49-F238E27FC236}">
                <a16:creationId xmlns:a16="http://schemas.microsoft.com/office/drawing/2014/main" id="{FD9BE3FE-40C8-40A2-B2E8-BB239E237E46}"/>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Build the box and whiskers</a:t>
            </a:r>
          </a:p>
        </p:txBody>
      </p:sp>
      <p:sp>
        <p:nvSpPr>
          <p:cNvPr id="2" name="Lead">
            <a:extLst>
              <a:ext uri="{FF2B5EF4-FFF2-40B4-BE49-F238E27FC236}">
                <a16:creationId xmlns:a16="http://schemas.microsoft.com/office/drawing/2014/main" id="{04E782E2-3163-47A1-973A-0471B5967CE0}"/>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Use an evenly spaced number line. Every position is a time in minutes.</a:t>
            </a:r>
          </a:p>
        </p:txBody>
      </p:sp>
      <p:sp>
        <p:nvSpPr>
          <p:cNvPr id="3" name="Footer">
            <a:extLst>
              <a:ext uri="{FF2B5EF4-FFF2-40B4-BE49-F238E27FC236}">
                <a16:creationId xmlns:a16="http://schemas.microsoft.com/office/drawing/2014/main" id="{D021E562-3B6C-4F7B-9955-49A096704019}"/>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Here the whiskers reach the minimum and maximum. The vertical height of the box has no data meaning.</a:t>
            </a:r>
          </a:p>
        </p:txBody>
      </p:sp>
      <p:sp>
        <p:nvSpPr>
          <p:cNvPr id="4" name="Text">
            <a:extLst>
              <a:ext uri="{FF2B5EF4-FFF2-40B4-BE49-F238E27FC236}">
                <a16:creationId xmlns:a16="http://schemas.microsoft.com/office/drawing/2014/main" id="{3718A439-5E6F-41EE-A644-B2BC99DB879C}"/>
              </a:ext>
            </a:extLst>
          </p:cNvPr>
          <p:cNvSpPr>
            <a:spLocks noGrp="1"/>
          </p:cNvSpPr>
          <p:nvPr/>
        </p:nvSpPr>
        <p:spPr>
          <a:xfrm>
            <a:off x="619125" y="2781300"/>
            <a:ext cx="10953750" cy="857250"/>
          </a:xfrm>
          <a:prstGeom prst="rect">
            <a:avLst/>
          </a:prstGeom>
          <a:noFill/>
          <a:ln w="0">
            <a:noFill/>
          </a:ln>
        </p:spPr>
        <p:txBody>
          <a:bodyPr wrap="square" lIns="0" tIns="0" rIns="0" bIns="0" anchor="t">
            <a:noAutofit/>
          </a:bodyPr>
          <a:lstStyle/>
          <a:p>
            <a:pPr algn="l">
              <a:buNone/>
              <a:defRPr sz="2325" b="0">
                <a:solidFill>
                  <a:srgbClr val="111111"/>
                </a:solidFill>
                <a:latin typeface="Aptos"/>
                <a:ea typeface="Aptos"/>
                <a:cs typeface="Aptos"/>
              </a:defRPr>
            </a:pPr>
            <a:r>
              <a:rPr sz="2325" b="0">
                <a:solidFill>
                  <a:srgbClr val="111111"/>
                </a:solidFill>
                <a:latin typeface="Aptos"/>
                <a:ea typeface="Aptos"/>
                <a:cs typeface="Aptos"/>
              </a:rPr>
              <a:t>Box: Q₁ = 18 to Q₃ = 32     Median line: 25</a:t>
            </a:r>
          </a:p>
          <a:p>
            <a:pPr algn="l">
              <a:buNone/>
              <a:defRPr sz="2325" b="0">
                <a:solidFill>
                  <a:srgbClr val="111111"/>
                </a:solidFill>
                <a:latin typeface="Aptos"/>
                <a:ea typeface="Aptos"/>
                <a:cs typeface="Aptos"/>
              </a:defRPr>
            </a:pPr>
            <a:r>
              <a:rPr sz="2325" b="0">
                <a:solidFill>
                  <a:srgbClr val="111111"/>
                </a:solidFill>
                <a:latin typeface="Aptos"/>
                <a:ea typeface="Aptos"/>
                <a:cs typeface="Aptos"/>
              </a:rPr>
              <a:t>Whiskers: from the box out to 12 and 44</a:t>
            </a:r>
          </a:p>
        </p:txBody>
      </p:sp>
      <p:sp>
        <p:nvSpPr>
          <p:cNvPr id="5" name="Diagram line">
            <a:extLst>
              <a:ext uri="{FF2B5EF4-FFF2-40B4-BE49-F238E27FC236}">
                <a16:creationId xmlns:a16="http://schemas.microsoft.com/office/drawing/2014/main" id="{378D84B5-6165-46D6-97A2-F30E7CC25A84}"/>
              </a:ext>
            </a:extLst>
          </p:cNvPr>
          <p:cNvSpPr>
            <a:spLocks noGrp="1"/>
          </p:cNvSpPr>
          <p:nvPr/>
        </p:nvSpPr>
        <p:spPr>
          <a:xfrm>
            <a:off x="1143000" y="5219700"/>
            <a:ext cx="9715500" cy="9525"/>
          </a:xfrm>
          <a:custGeom>
            <a:avLst/>
            <a:gdLst/>
            <a:ahLst/>
            <a:cxnLst/>
            <a:rect l="0" t="0" r="0" b="0"/>
            <a:pathLst>
              <a:path w="9715500" h="9525">
                <a:moveTo>
                  <a:pt x="0" y="0"/>
                </a:moveTo>
                <a:lnTo>
                  <a:pt x="9715500" y="0"/>
                </a:lnTo>
              </a:path>
            </a:pathLst>
          </a:custGeom>
          <a:noFill/>
          <a:ln w="14288">
            <a:solidFill>
              <a:srgbClr val="111111"/>
            </a:solidFill>
          </a:ln>
        </p:spPr>
        <p:txBody>
          <a:bodyPr/>
          <a:lstStyle/>
          <a:p>
            <a:endParaRPr lang="en-US"/>
          </a:p>
        </p:txBody>
      </p:sp>
      <p:sp>
        <p:nvSpPr>
          <p:cNvPr id="6" name="Diagram line">
            <a:extLst>
              <a:ext uri="{FF2B5EF4-FFF2-40B4-BE49-F238E27FC236}">
                <a16:creationId xmlns:a16="http://schemas.microsoft.com/office/drawing/2014/main" id="{11EF5A0E-A3CA-4C5D-AEAF-108EF1E94B27}"/>
              </a:ext>
            </a:extLst>
          </p:cNvPr>
          <p:cNvSpPr>
            <a:spLocks noGrp="1"/>
          </p:cNvSpPr>
          <p:nvPr/>
        </p:nvSpPr>
        <p:spPr>
          <a:xfrm>
            <a:off x="1143000" y="51530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7" name="Text">
            <a:extLst>
              <a:ext uri="{FF2B5EF4-FFF2-40B4-BE49-F238E27FC236}">
                <a16:creationId xmlns:a16="http://schemas.microsoft.com/office/drawing/2014/main" id="{2D3EA9A5-519C-41C3-9BF5-BE5618BB3FC0}"/>
              </a:ext>
            </a:extLst>
          </p:cNvPr>
          <p:cNvSpPr>
            <a:spLocks noGrp="1"/>
          </p:cNvSpPr>
          <p:nvPr/>
        </p:nvSpPr>
        <p:spPr>
          <a:xfrm>
            <a:off x="904875" y="53625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0</a:t>
            </a:r>
          </a:p>
        </p:txBody>
      </p:sp>
      <p:sp>
        <p:nvSpPr>
          <p:cNvPr id="8" name="Diagram line">
            <a:extLst>
              <a:ext uri="{FF2B5EF4-FFF2-40B4-BE49-F238E27FC236}">
                <a16:creationId xmlns:a16="http://schemas.microsoft.com/office/drawing/2014/main" id="{22C14E3F-F4CB-47D3-8616-6DBFB5413F75}"/>
              </a:ext>
            </a:extLst>
          </p:cNvPr>
          <p:cNvSpPr>
            <a:spLocks noGrp="1"/>
          </p:cNvSpPr>
          <p:nvPr/>
        </p:nvSpPr>
        <p:spPr>
          <a:xfrm>
            <a:off x="3086100" y="51530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9" name="Text">
            <a:extLst>
              <a:ext uri="{FF2B5EF4-FFF2-40B4-BE49-F238E27FC236}">
                <a16:creationId xmlns:a16="http://schemas.microsoft.com/office/drawing/2014/main" id="{39E29886-5A46-4E8D-9565-1F6C476EEC85}"/>
              </a:ext>
            </a:extLst>
          </p:cNvPr>
          <p:cNvSpPr>
            <a:spLocks noGrp="1"/>
          </p:cNvSpPr>
          <p:nvPr/>
        </p:nvSpPr>
        <p:spPr>
          <a:xfrm>
            <a:off x="2847975" y="53625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10</a:t>
            </a:r>
          </a:p>
        </p:txBody>
      </p:sp>
      <p:sp>
        <p:nvSpPr>
          <p:cNvPr id="10" name="Diagram line">
            <a:extLst>
              <a:ext uri="{FF2B5EF4-FFF2-40B4-BE49-F238E27FC236}">
                <a16:creationId xmlns:a16="http://schemas.microsoft.com/office/drawing/2014/main" id="{4F833530-C49A-41FC-9B7F-32FD8F0BBD92}"/>
              </a:ext>
            </a:extLst>
          </p:cNvPr>
          <p:cNvSpPr>
            <a:spLocks noGrp="1"/>
          </p:cNvSpPr>
          <p:nvPr/>
        </p:nvSpPr>
        <p:spPr>
          <a:xfrm>
            <a:off x="5029200" y="51530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1" name="Text">
            <a:extLst>
              <a:ext uri="{FF2B5EF4-FFF2-40B4-BE49-F238E27FC236}">
                <a16:creationId xmlns:a16="http://schemas.microsoft.com/office/drawing/2014/main" id="{AED96B1F-4EA3-46C1-8C8C-58BE3C29A8EA}"/>
              </a:ext>
            </a:extLst>
          </p:cNvPr>
          <p:cNvSpPr>
            <a:spLocks noGrp="1"/>
          </p:cNvSpPr>
          <p:nvPr/>
        </p:nvSpPr>
        <p:spPr>
          <a:xfrm>
            <a:off x="4791075" y="53625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20</a:t>
            </a:r>
          </a:p>
        </p:txBody>
      </p:sp>
      <p:sp>
        <p:nvSpPr>
          <p:cNvPr id="12" name="Diagram line">
            <a:extLst>
              <a:ext uri="{FF2B5EF4-FFF2-40B4-BE49-F238E27FC236}">
                <a16:creationId xmlns:a16="http://schemas.microsoft.com/office/drawing/2014/main" id="{206CD071-ABE6-4CD7-A5CF-613D6F9F6B87}"/>
              </a:ext>
            </a:extLst>
          </p:cNvPr>
          <p:cNvSpPr>
            <a:spLocks noGrp="1"/>
          </p:cNvSpPr>
          <p:nvPr/>
        </p:nvSpPr>
        <p:spPr>
          <a:xfrm>
            <a:off x="6972300" y="51530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3" name="Text">
            <a:extLst>
              <a:ext uri="{FF2B5EF4-FFF2-40B4-BE49-F238E27FC236}">
                <a16:creationId xmlns:a16="http://schemas.microsoft.com/office/drawing/2014/main" id="{FE35151E-BFAA-448F-BFA4-EF1639DFAD31}"/>
              </a:ext>
            </a:extLst>
          </p:cNvPr>
          <p:cNvSpPr>
            <a:spLocks noGrp="1"/>
          </p:cNvSpPr>
          <p:nvPr/>
        </p:nvSpPr>
        <p:spPr>
          <a:xfrm>
            <a:off x="6734175" y="53625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30</a:t>
            </a:r>
          </a:p>
        </p:txBody>
      </p:sp>
      <p:sp>
        <p:nvSpPr>
          <p:cNvPr id="14" name="Diagram line">
            <a:extLst>
              <a:ext uri="{FF2B5EF4-FFF2-40B4-BE49-F238E27FC236}">
                <a16:creationId xmlns:a16="http://schemas.microsoft.com/office/drawing/2014/main" id="{414F3432-71A2-4832-8760-72AC8DF2FC93}"/>
              </a:ext>
            </a:extLst>
          </p:cNvPr>
          <p:cNvSpPr>
            <a:spLocks noGrp="1"/>
          </p:cNvSpPr>
          <p:nvPr/>
        </p:nvSpPr>
        <p:spPr>
          <a:xfrm>
            <a:off x="8915400" y="51530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5" name="Text">
            <a:extLst>
              <a:ext uri="{FF2B5EF4-FFF2-40B4-BE49-F238E27FC236}">
                <a16:creationId xmlns:a16="http://schemas.microsoft.com/office/drawing/2014/main" id="{8458DA82-BDB1-43B2-859C-3E429CC588A4}"/>
              </a:ext>
            </a:extLst>
          </p:cNvPr>
          <p:cNvSpPr>
            <a:spLocks noGrp="1"/>
          </p:cNvSpPr>
          <p:nvPr/>
        </p:nvSpPr>
        <p:spPr>
          <a:xfrm>
            <a:off x="8677275" y="53625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40</a:t>
            </a:r>
          </a:p>
        </p:txBody>
      </p:sp>
      <p:sp>
        <p:nvSpPr>
          <p:cNvPr id="16" name="Diagram line">
            <a:extLst>
              <a:ext uri="{FF2B5EF4-FFF2-40B4-BE49-F238E27FC236}">
                <a16:creationId xmlns:a16="http://schemas.microsoft.com/office/drawing/2014/main" id="{3B7C8C23-6E36-4B28-84F2-4486AE3E26DC}"/>
              </a:ext>
            </a:extLst>
          </p:cNvPr>
          <p:cNvSpPr>
            <a:spLocks noGrp="1"/>
          </p:cNvSpPr>
          <p:nvPr/>
        </p:nvSpPr>
        <p:spPr>
          <a:xfrm>
            <a:off x="10858500" y="51530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7" name="Text">
            <a:extLst>
              <a:ext uri="{FF2B5EF4-FFF2-40B4-BE49-F238E27FC236}">
                <a16:creationId xmlns:a16="http://schemas.microsoft.com/office/drawing/2014/main" id="{FE515D32-7642-4EBE-8BE1-FEC465D2C20C}"/>
              </a:ext>
            </a:extLst>
          </p:cNvPr>
          <p:cNvSpPr>
            <a:spLocks noGrp="1"/>
          </p:cNvSpPr>
          <p:nvPr/>
        </p:nvSpPr>
        <p:spPr>
          <a:xfrm>
            <a:off x="10620375" y="53625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50</a:t>
            </a:r>
          </a:p>
        </p:txBody>
      </p:sp>
      <p:sp>
        <p:nvSpPr>
          <p:cNvPr id="18" name="Diagram line">
            <a:extLst>
              <a:ext uri="{FF2B5EF4-FFF2-40B4-BE49-F238E27FC236}">
                <a16:creationId xmlns:a16="http://schemas.microsoft.com/office/drawing/2014/main" id="{D990DB4A-04A4-4C0F-B89A-DB52CCBE8A88}"/>
              </a:ext>
            </a:extLst>
          </p:cNvPr>
          <p:cNvSpPr>
            <a:spLocks noGrp="1"/>
          </p:cNvSpPr>
          <p:nvPr/>
        </p:nvSpPr>
        <p:spPr>
          <a:xfrm>
            <a:off x="3474720" y="4410075"/>
            <a:ext cx="1165860" cy="9525"/>
          </a:xfrm>
          <a:custGeom>
            <a:avLst/>
            <a:gdLst/>
            <a:ahLst/>
            <a:cxnLst/>
            <a:rect l="0" t="0" r="0" b="0"/>
            <a:pathLst>
              <a:path w="1165860" h="9525">
                <a:moveTo>
                  <a:pt x="0" y="0"/>
                </a:moveTo>
                <a:lnTo>
                  <a:pt x="1165860" y="0"/>
                </a:lnTo>
              </a:path>
            </a:pathLst>
          </a:custGeom>
          <a:noFill/>
          <a:ln w="19050">
            <a:solidFill>
              <a:srgbClr val="111111"/>
            </a:solidFill>
          </a:ln>
        </p:spPr>
        <p:txBody>
          <a:bodyPr/>
          <a:lstStyle/>
          <a:p>
            <a:endParaRPr lang="en-US"/>
          </a:p>
        </p:txBody>
      </p:sp>
      <p:sp>
        <p:nvSpPr>
          <p:cNvPr id="19" name="Diagram line">
            <a:extLst>
              <a:ext uri="{FF2B5EF4-FFF2-40B4-BE49-F238E27FC236}">
                <a16:creationId xmlns:a16="http://schemas.microsoft.com/office/drawing/2014/main" id="{F7B8FC40-6C35-446E-A89F-85E25CBFCCA2}"/>
              </a:ext>
            </a:extLst>
          </p:cNvPr>
          <p:cNvSpPr>
            <a:spLocks noGrp="1"/>
          </p:cNvSpPr>
          <p:nvPr/>
        </p:nvSpPr>
        <p:spPr>
          <a:xfrm>
            <a:off x="7360920" y="4410075"/>
            <a:ext cx="2331720" cy="9525"/>
          </a:xfrm>
          <a:custGeom>
            <a:avLst/>
            <a:gdLst/>
            <a:ahLst/>
            <a:cxnLst/>
            <a:rect l="0" t="0" r="0" b="0"/>
            <a:pathLst>
              <a:path w="2331720" h="9525">
                <a:moveTo>
                  <a:pt x="0" y="0"/>
                </a:moveTo>
                <a:lnTo>
                  <a:pt x="2331720" y="0"/>
                </a:lnTo>
              </a:path>
            </a:pathLst>
          </a:custGeom>
          <a:noFill/>
          <a:ln w="19050">
            <a:solidFill>
              <a:srgbClr val="111111"/>
            </a:solidFill>
          </a:ln>
        </p:spPr>
        <p:txBody>
          <a:bodyPr/>
          <a:lstStyle/>
          <a:p>
            <a:endParaRPr lang="en-US"/>
          </a:p>
        </p:txBody>
      </p:sp>
      <p:sp>
        <p:nvSpPr>
          <p:cNvPr id="20" name="Diagram line">
            <a:extLst>
              <a:ext uri="{FF2B5EF4-FFF2-40B4-BE49-F238E27FC236}">
                <a16:creationId xmlns:a16="http://schemas.microsoft.com/office/drawing/2014/main" id="{3AE0A3AD-7407-46CD-B54E-8F40094A3CB5}"/>
              </a:ext>
            </a:extLst>
          </p:cNvPr>
          <p:cNvSpPr>
            <a:spLocks noGrp="1"/>
          </p:cNvSpPr>
          <p:nvPr/>
        </p:nvSpPr>
        <p:spPr>
          <a:xfrm>
            <a:off x="3474720" y="4219575"/>
            <a:ext cx="9525" cy="381000"/>
          </a:xfrm>
          <a:custGeom>
            <a:avLst/>
            <a:gdLst/>
            <a:ahLst/>
            <a:cxnLst/>
            <a:rect l="0" t="0" r="0" b="0"/>
            <a:pathLst>
              <a:path w="9525" h="381000">
                <a:moveTo>
                  <a:pt x="0" y="0"/>
                </a:moveTo>
                <a:lnTo>
                  <a:pt x="0" y="381000"/>
                </a:lnTo>
              </a:path>
            </a:pathLst>
          </a:custGeom>
          <a:noFill/>
          <a:ln w="19050">
            <a:solidFill>
              <a:srgbClr val="111111"/>
            </a:solidFill>
          </a:ln>
        </p:spPr>
        <p:txBody>
          <a:bodyPr/>
          <a:lstStyle/>
          <a:p>
            <a:endParaRPr lang="en-US"/>
          </a:p>
        </p:txBody>
      </p:sp>
      <p:sp>
        <p:nvSpPr>
          <p:cNvPr id="21" name="Diagram line">
            <a:extLst>
              <a:ext uri="{FF2B5EF4-FFF2-40B4-BE49-F238E27FC236}">
                <a16:creationId xmlns:a16="http://schemas.microsoft.com/office/drawing/2014/main" id="{A1AFE085-8B98-4590-952A-3C86E13D15C9}"/>
              </a:ext>
            </a:extLst>
          </p:cNvPr>
          <p:cNvSpPr>
            <a:spLocks noGrp="1"/>
          </p:cNvSpPr>
          <p:nvPr/>
        </p:nvSpPr>
        <p:spPr>
          <a:xfrm>
            <a:off x="9692640" y="4219575"/>
            <a:ext cx="9525" cy="381000"/>
          </a:xfrm>
          <a:custGeom>
            <a:avLst/>
            <a:gdLst/>
            <a:ahLst/>
            <a:cxnLst/>
            <a:rect l="0" t="0" r="0" b="0"/>
            <a:pathLst>
              <a:path w="9525" h="381000">
                <a:moveTo>
                  <a:pt x="0" y="0"/>
                </a:moveTo>
                <a:lnTo>
                  <a:pt x="0" y="381000"/>
                </a:lnTo>
              </a:path>
            </a:pathLst>
          </a:custGeom>
          <a:noFill/>
          <a:ln w="19050">
            <a:solidFill>
              <a:srgbClr val="111111"/>
            </a:solidFill>
          </a:ln>
        </p:spPr>
        <p:txBody>
          <a:bodyPr/>
          <a:lstStyle/>
          <a:p>
            <a:endParaRPr lang="en-US"/>
          </a:p>
        </p:txBody>
      </p:sp>
      <p:sp>
        <p:nvSpPr>
          <p:cNvPr id="22" name="Box from Q1 to Q3">
            <a:extLst>
              <a:ext uri="{FF2B5EF4-FFF2-40B4-BE49-F238E27FC236}">
                <a16:creationId xmlns:a16="http://schemas.microsoft.com/office/drawing/2014/main" id="{16296C31-B216-48D7-8075-FE1A1BDAF3FE}"/>
              </a:ext>
            </a:extLst>
          </p:cNvPr>
          <p:cNvSpPr>
            <a:spLocks noGrp="1"/>
          </p:cNvSpPr>
          <p:nvPr/>
        </p:nvSpPr>
        <p:spPr>
          <a:xfrm>
            <a:off x="4640580" y="4105275"/>
            <a:ext cx="2720340" cy="609600"/>
          </a:xfrm>
          <a:prstGeom prst="rect">
            <a:avLst/>
          </a:prstGeom>
          <a:solidFill>
            <a:srgbClr val="EEF8FE"/>
          </a:solidFill>
          <a:ln w="19050">
            <a:solidFill>
              <a:srgbClr val="111111"/>
            </a:solidFill>
          </a:ln>
        </p:spPr>
        <p:txBody>
          <a:bodyPr/>
          <a:lstStyle/>
          <a:p>
            <a:endParaRPr lang="en-US"/>
          </a:p>
        </p:txBody>
      </p:sp>
      <p:sp>
        <p:nvSpPr>
          <p:cNvPr id="23" name="Diagram line">
            <a:extLst>
              <a:ext uri="{FF2B5EF4-FFF2-40B4-BE49-F238E27FC236}">
                <a16:creationId xmlns:a16="http://schemas.microsoft.com/office/drawing/2014/main" id="{58F693E0-CEAD-4DC2-B86D-2FD5C0C9D238}"/>
              </a:ext>
            </a:extLst>
          </p:cNvPr>
          <p:cNvSpPr>
            <a:spLocks noGrp="1"/>
          </p:cNvSpPr>
          <p:nvPr/>
        </p:nvSpPr>
        <p:spPr>
          <a:xfrm>
            <a:off x="6000750" y="4105275"/>
            <a:ext cx="9525" cy="609600"/>
          </a:xfrm>
          <a:custGeom>
            <a:avLst/>
            <a:gdLst/>
            <a:ahLst/>
            <a:cxnLst/>
            <a:rect l="0" t="0" r="0" b="0"/>
            <a:pathLst>
              <a:path w="9525" h="609600">
                <a:moveTo>
                  <a:pt x="0" y="0"/>
                </a:moveTo>
                <a:lnTo>
                  <a:pt x="0" y="609600"/>
                </a:lnTo>
              </a:path>
            </a:pathLst>
          </a:custGeom>
          <a:noFill/>
          <a:ln w="28575">
            <a:solidFill>
              <a:srgbClr val="D6171D"/>
            </a:solidFill>
          </a:ln>
        </p:spPr>
        <p:txBody>
          <a:bodyPr/>
          <a:lstStyle/>
          <a:p>
            <a:endParaRPr lang="en-US"/>
          </a:p>
        </p:txBody>
      </p:sp>
    </p:spTree>
    <p:extLst>
      <p:ext uri="{BB962C8B-B14F-4D97-AF65-F5344CB8AC3E}">
        <p14:creationId xmlns:p14="http://schemas.microsoft.com/office/powerpoint/2010/main" val="3850565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title">
            <a:extLst>
              <a:ext uri="{FF2B5EF4-FFF2-40B4-BE49-F238E27FC236}">
                <a16:creationId xmlns:a16="http://schemas.microsoft.com/office/drawing/2014/main" id="{89AA9D6D-68A8-4D18-9BB3-60222656BD2A}"/>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does this boxplot tell us?</a:t>
            </a:r>
          </a:p>
        </p:txBody>
      </p:sp>
      <p:sp>
        <p:nvSpPr>
          <p:cNvPr id="2" name="Lead">
            <a:extLst>
              <a:ext uri="{FF2B5EF4-FFF2-40B4-BE49-F238E27FC236}">
                <a16:creationId xmlns:a16="http://schemas.microsoft.com/office/drawing/2014/main" id="{EF868F69-8637-4201-8224-D16242B408BD}"/>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Read the median for the middle value and the box width for the middle spread.</a:t>
            </a:r>
          </a:p>
        </p:txBody>
      </p:sp>
      <p:sp>
        <p:nvSpPr>
          <p:cNvPr id="3" name="Footer">
            <a:extLst>
              <a:ext uri="{FF2B5EF4-FFF2-40B4-BE49-F238E27FC236}">
                <a16:creationId xmlns:a16="http://schemas.microsoft.com/office/drawing/2014/main" id="{A895EEF2-9AA8-47D5-B420-21E5316E1530}"/>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This graph summarises a distribution; it does not show every individual delivery time.</a:t>
            </a:r>
          </a:p>
        </p:txBody>
      </p:sp>
      <p:sp>
        <p:nvSpPr>
          <p:cNvPr id="4" name="Diagram line">
            <a:extLst>
              <a:ext uri="{FF2B5EF4-FFF2-40B4-BE49-F238E27FC236}">
                <a16:creationId xmlns:a16="http://schemas.microsoft.com/office/drawing/2014/main" id="{5CB7435F-0406-4673-9195-26D857165164}"/>
              </a:ext>
            </a:extLst>
          </p:cNvPr>
          <p:cNvSpPr>
            <a:spLocks noGrp="1"/>
          </p:cNvSpPr>
          <p:nvPr/>
        </p:nvSpPr>
        <p:spPr>
          <a:xfrm>
            <a:off x="1143000" y="4572000"/>
            <a:ext cx="9715500" cy="9525"/>
          </a:xfrm>
          <a:custGeom>
            <a:avLst/>
            <a:gdLst/>
            <a:ahLst/>
            <a:cxnLst/>
            <a:rect l="0" t="0" r="0" b="0"/>
            <a:pathLst>
              <a:path w="9715500" h="9525">
                <a:moveTo>
                  <a:pt x="0" y="0"/>
                </a:moveTo>
                <a:lnTo>
                  <a:pt x="9715500" y="0"/>
                </a:lnTo>
              </a:path>
            </a:pathLst>
          </a:custGeom>
          <a:noFill/>
          <a:ln w="14288">
            <a:solidFill>
              <a:srgbClr val="111111"/>
            </a:solidFill>
          </a:ln>
        </p:spPr>
        <p:txBody>
          <a:bodyPr/>
          <a:lstStyle/>
          <a:p>
            <a:endParaRPr lang="en-US"/>
          </a:p>
        </p:txBody>
      </p:sp>
      <p:sp>
        <p:nvSpPr>
          <p:cNvPr id="5" name="Diagram line">
            <a:extLst>
              <a:ext uri="{FF2B5EF4-FFF2-40B4-BE49-F238E27FC236}">
                <a16:creationId xmlns:a16="http://schemas.microsoft.com/office/drawing/2014/main" id="{52CB3295-0968-4215-81A1-28D66CF5A034}"/>
              </a:ext>
            </a:extLst>
          </p:cNvPr>
          <p:cNvSpPr>
            <a:spLocks noGrp="1"/>
          </p:cNvSpPr>
          <p:nvPr/>
        </p:nvSpPr>
        <p:spPr>
          <a:xfrm>
            <a:off x="1143000" y="45053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6" name="Text">
            <a:extLst>
              <a:ext uri="{FF2B5EF4-FFF2-40B4-BE49-F238E27FC236}">
                <a16:creationId xmlns:a16="http://schemas.microsoft.com/office/drawing/2014/main" id="{BF9AD4ED-3BE7-45A4-AAD1-882A8B645A9F}"/>
              </a:ext>
            </a:extLst>
          </p:cNvPr>
          <p:cNvSpPr>
            <a:spLocks noGrp="1"/>
          </p:cNvSpPr>
          <p:nvPr/>
        </p:nvSpPr>
        <p:spPr>
          <a:xfrm>
            <a:off x="904875" y="47148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0</a:t>
            </a:r>
          </a:p>
        </p:txBody>
      </p:sp>
      <p:sp>
        <p:nvSpPr>
          <p:cNvPr id="7" name="Diagram line">
            <a:extLst>
              <a:ext uri="{FF2B5EF4-FFF2-40B4-BE49-F238E27FC236}">
                <a16:creationId xmlns:a16="http://schemas.microsoft.com/office/drawing/2014/main" id="{2FE48888-3466-4924-B934-611B19CA9CE2}"/>
              </a:ext>
            </a:extLst>
          </p:cNvPr>
          <p:cNvSpPr>
            <a:spLocks noGrp="1"/>
          </p:cNvSpPr>
          <p:nvPr/>
        </p:nvSpPr>
        <p:spPr>
          <a:xfrm>
            <a:off x="3086100" y="45053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8" name="Text">
            <a:extLst>
              <a:ext uri="{FF2B5EF4-FFF2-40B4-BE49-F238E27FC236}">
                <a16:creationId xmlns:a16="http://schemas.microsoft.com/office/drawing/2014/main" id="{A47084F8-B551-44B9-A749-8C0BB9CD4185}"/>
              </a:ext>
            </a:extLst>
          </p:cNvPr>
          <p:cNvSpPr>
            <a:spLocks noGrp="1"/>
          </p:cNvSpPr>
          <p:nvPr/>
        </p:nvSpPr>
        <p:spPr>
          <a:xfrm>
            <a:off x="2847975" y="47148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10</a:t>
            </a:r>
          </a:p>
        </p:txBody>
      </p:sp>
      <p:sp>
        <p:nvSpPr>
          <p:cNvPr id="9" name="Diagram line">
            <a:extLst>
              <a:ext uri="{FF2B5EF4-FFF2-40B4-BE49-F238E27FC236}">
                <a16:creationId xmlns:a16="http://schemas.microsoft.com/office/drawing/2014/main" id="{38516A18-BBF4-4931-AE22-06D67E1032BF}"/>
              </a:ext>
            </a:extLst>
          </p:cNvPr>
          <p:cNvSpPr>
            <a:spLocks noGrp="1"/>
          </p:cNvSpPr>
          <p:nvPr/>
        </p:nvSpPr>
        <p:spPr>
          <a:xfrm>
            <a:off x="5029200" y="45053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0" name="Text">
            <a:extLst>
              <a:ext uri="{FF2B5EF4-FFF2-40B4-BE49-F238E27FC236}">
                <a16:creationId xmlns:a16="http://schemas.microsoft.com/office/drawing/2014/main" id="{B772855E-E58E-4C84-B9A7-6359B6F7C193}"/>
              </a:ext>
            </a:extLst>
          </p:cNvPr>
          <p:cNvSpPr>
            <a:spLocks noGrp="1"/>
          </p:cNvSpPr>
          <p:nvPr/>
        </p:nvSpPr>
        <p:spPr>
          <a:xfrm>
            <a:off x="4791075" y="47148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20</a:t>
            </a:r>
          </a:p>
        </p:txBody>
      </p:sp>
      <p:sp>
        <p:nvSpPr>
          <p:cNvPr id="11" name="Diagram line">
            <a:extLst>
              <a:ext uri="{FF2B5EF4-FFF2-40B4-BE49-F238E27FC236}">
                <a16:creationId xmlns:a16="http://schemas.microsoft.com/office/drawing/2014/main" id="{8566A309-D882-4235-99AD-0416486E6D89}"/>
              </a:ext>
            </a:extLst>
          </p:cNvPr>
          <p:cNvSpPr>
            <a:spLocks noGrp="1"/>
          </p:cNvSpPr>
          <p:nvPr/>
        </p:nvSpPr>
        <p:spPr>
          <a:xfrm>
            <a:off x="6972300" y="45053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2" name="Text">
            <a:extLst>
              <a:ext uri="{FF2B5EF4-FFF2-40B4-BE49-F238E27FC236}">
                <a16:creationId xmlns:a16="http://schemas.microsoft.com/office/drawing/2014/main" id="{7330E9FF-747D-4D35-8A1A-056861BD6D55}"/>
              </a:ext>
            </a:extLst>
          </p:cNvPr>
          <p:cNvSpPr>
            <a:spLocks noGrp="1"/>
          </p:cNvSpPr>
          <p:nvPr/>
        </p:nvSpPr>
        <p:spPr>
          <a:xfrm>
            <a:off x="6734175" y="47148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30</a:t>
            </a:r>
          </a:p>
        </p:txBody>
      </p:sp>
      <p:sp>
        <p:nvSpPr>
          <p:cNvPr id="13" name="Diagram line">
            <a:extLst>
              <a:ext uri="{FF2B5EF4-FFF2-40B4-BE49-F238E27FC236}">
                <a16:creationId xmlns:a16="http://schemas.microsoft.com/office/drawing/2014/main" id="{2A4E2330-A955-4250-A1DD-CE8B443BDB5E}"/>
              </a:ext>
            </a:extLst>
          </p:cNvPr>
          <p:cNvSpPr>
            <a:spLocks noGrp="1"/>
          </p:cNvSpPr>
          <p:nvPr/>
        </p:nvSpPr>
        <p:spPr>
          <a:xfrm>
            <a:off x="8915400" y="45053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4" name="Text">
            <a:extLst>
              <a:ext uri="{FF2B5EF4-FFF2-40B4-BE49-F238E27FC236}">
                <a16:creationId xmlns:a16="http://schemas.microsoft.com/office/drawing/2014/main" id="{104EA209-6610-4FE9-9D12-3492BF8F12D1}"/>
              </a:ext>
            </a:extLst>
          </p:cNvPr>
          <p:cNvSpPr>
            <a:spLocks noGrp="1"/>
          </p:cNvSpPr>
          <p:nvPr/>
        </p:nvSpPr>
        <p:spPr>
          <a:xfrm>
            <a:off x="8677275" y="47148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40</a:t>
            </a:r>
          </a:p>
        </p:txBody>
      </p:sp>
      <p:sp>
        <p:nvSpPr>
          <p:cNvPr id="15" name="Diagram line">
            <a:extLst>
              <a:ext uri="{FF2B5EF4-FFF2-40B4-BE49-F238E27FC236}">
                <a16:creationId xmlns:a16="http://schemas.microsoft.com/office/drawing/2014/main" id="{4820CDBC-1B3D-4F97-9C81-A5D5F1563F1E}"/>
              </a:ext>
            </a:extLst>
          </p:cNvPr>
          <p:cNvSpPr>
            <a:spLocks noGrp="1"/>
          </p:cNvSpPr>
          <p:nvPr/>
        </p:nvSpPr>
        <p:spPr>
          <a:xfrm>
            <a:off x="10858500" y="45053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6" name="Text">
            <a:extLst>
              <a:ext uri="{FF2B5EF4-FFF2-40B4-BE49-F238E27FC236}">
                <a16:creationId xmlns:a16="http://schemas.microsoft.com/office/drawing/2014/main" id="{759A8160-8C2D-47D4-B1EE-AB6BF4F60244}"/>
              </a:ext>
            </a:extLst>
          </p:cNvPr>
          <p:cNvSpPr>
            <a:spLocks noGrp="1"/>
          </p:cNvSpPr>
          <p:nvPr/>
        </p:nvSpPr>
        <p:spPr>
          <a:xfrm>
            <a:off x="10620375" y="47148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50</a:t>
            </a:r>
          </a:p>
        </p:txBody>
      </p:sp>
      <p:sp>
        <p:nvSpPr>
          <p:cNvPr id="17" name="Diagram line">
            <a:extLst>
              <a:ext uri="{FF2B5EF4-FFF2-40B4-BE49-F238E27FC236}">
                <a16:creationId xmlns:a16="http://schemas.microsoft.com/office/drawing/2014/main" id="{3FEB8A92-C0CE-48CF-8C64-DBB291750643}"/>
              </a:ext>
            </a:extLst>
          </p:cNvPr>
          <p:cNvSpPr>
            <a:spLocks noGrp="1"/>
          </p:cNvSpPr>
          <p:nvPr/>
        </p:nvSpPr>
        <p:spPr>
          <a:xfrm>
            <a:off x="3474720" y="3829050"/>
            <a:ext cx="1165860" cy="9525"/>
          </a:xfrm>
          <a:custGeom>
            <a:avLst/>
            <a:gdLst/>
            <a:ahLst/>
            <a:cxnLst/>
            <a:rect l="0" t="0" r="0" b="0"/>
            <a:pathLst>
              <a:path w="1165860" h="9525">
                <a:moveTo>
                  <a:pt x="0" y="0"/>
                </a:moveTo>
                <a:lnTo>
                  <a:pt x="1165860" y="0"/>
                </a:lnTo>
              </a:path>
            </a:pathLst>
          </a:custGeom>
          <a:noFill/>
          <a:ln w="19050">
            <a:solidFill>
              <a:srgbClr val="111111"/>
            </a:solidFill>
          </a:ln>
        </p:spPr>
        <p:txBody>
          <a:bodyPr/>
          <a:lstStyle/>
          <a:p>
            <a:endParaRPr lang="en-US"/>
          </a:p>
        </p:txBody>
      </p:sp>
      <p:sp>
        <p:nvSpPr>
          <p:cNvPr id="18" name="Diagram line">
            <a:extLst>
              <a:ext uri="{FF2B5EF4-FFF2-40B4-BE49-F238E27FC236}">
                <a16:creationId xmlns:a16="http://schemas.microsoft.com/office/drawing/2014/main" id="{7CCF243B-413C-40DA-B535-BC3EF037F112}"/>
              </a:ext>
            </a:extLst>
          </p:cNvPr>
          <p:cNvSpPr>
            <a:spLocks noGrp="1"/>
          </p:cNvSpPr>
          <p:nvPr/>
        </p:nvSpPr>
        <p:spPr>
          <a:xfrm>
            <a:off x="7360920" y="3829050"/>
            <a:ext cx="2331720" cy="9525"/>
          </a:xfrm>
          <a:custGeom>
            <a:avLst/>
            <a:gdLst/>
            <a:ahLst/>
            <a:cxnLst/>
            <a:rect l="0" t="0" r="0" b="0"/>
            <a:pathLst>
              <a:path w="2331720" h="9525">
                <a:moveTo>
                  <a:pt x="0" y="0"/>
                </a:moveTo>
                <a:lnTo>
                  <a:pt x="2331720" y="0"/>
                </a:lnTo>
              </a:path>
            </a:pathLst>
          </a:custGeom>
          <a:noFill/>
          <a:ln w="19050">
            <a:solidFill>
              <a:srgbClr val="111111"/>
            </a:solidFill>
          </a:ln>
        </p:spPr>
        <p:txBody>
          <a:bodyPr/>
          <a:lstStyle/>
          <a:p>
            <a:endParaRPr lang="en-US"/>
          </a:p>
        </p:txBody>
      </p:sp>
      <p:sp>
        <p:nvSpPr>
          <p:cNvPr id="19" name="Diagram line">
            <a:extLst>
              <a:ext uri="{FF2B5EF4-FFF2-40B4-BE49-F238E27FC236}">
                <a16:creationId xmlns:a16="http://schemas.microsoft.com/office/drawing/2014/main" id="{29B63B34-7BF1-4079-9AE5-ED39366F89AA}"/>
              </a:ext>
            </a:extLst>
          </p:cNvPr>
          <p:cNvSpPr>
            <a:spLocks noGrp="1"/>
          </p:cNvSpPr>
          <p:nvPr/>
        </p:nvSpPr>
        <p:spPr>
          <a:xfrm>
            <a:off x="3474720" y="3638550"/>
            <a:ext cx="9525" cy="381000"/>
          </a:xfrm>
          <a:custGeom>
            <a:avLst/>
            <a:gdLst/>
            <a:ahLst/>
            <a:cxnLst/>
            <a:rect l="0" t="0" r="0" b="0"/>
            <a:pathLst>
              <a:path w="9525" h="381000">
                <a:moveTo>
                  <a:pt x="0" y="0"/>
                </a:moveTo>
                <a:lnTo>
                  <a:pt x="0" y="381000"/>
                </a:lnTo>
              </a:path>
            </a:pathLst>
          </a:custGeom>
          <a:noFill/>
          <a:ln w="19050">
            <a:solidFill>
              <a:srgbClr val="111111"/>
            </a:solidFill>
          </a:ln>
        </p:spPr>
        <p:txBody>
          <a:bodyPr/>
          <a:lstStyle/>
          <a:p>
            <a:endParaRPr lang="en-US"/>
          </a:p>
        </p:txBody>
      </p:sp>
      <p:sp>
        <p:nvSpPr>
          <p:cNvPr id="20" name="Diagram line">
            <a:extLst>
              <a:ext uri="{FF2B5EF4-FFF2-40B4-BE49-F238E27FC236}">
                <a16:creationId xmlns:a16="http://schemas.microsoft.com/office/drawing/2014/main" id="{37D96E39-6332-4E79-B5AE-B8513975F91B}"/>
              </a:ext>
            </a:extLst>
          </p:cNvPr>
          <p:cNvSpPr>
            <a:spLocks noGrp="1"/>
          </p:cNvSpPr>
          <p:nvPr/>
        </p:nvSpPr>
        <p:spPr>
          <a:xfrm>
            <a:off x="9692640" y="3638550"/>
            <a:ext cx="9525" cy="381000"/>
          </a:xfrm>
          <a:custGeom>
            <a:avLst/>
            <a:gdLst/>
            <a:ahLst/>
            <a:cxnLst/>
            <a:rect l="0" t="0" r="0" b="0"/>
            <a:pathLst>
              <a:path w="9525" h="381000">
                <a:moveTo>
                  <a:pt x="0" y="0"/>
                </a:moveTo>
                <a:lnTo>
                  <a:pt x="0" y="381000"/>
                </a:lnTo>
              </a:path>
            </a:pathLst>
          </a:custGeom>
          <a:noFill/>
          <a:ln w="19050">
            <a:solidFill>
              <a:srgbClr val="111111"/>
            </a:solidFill>
          </a:ln>
        </p:spPr>
        <p:txBody>
          <a:bodyPr/>
          <a:lstStyle/>
          <a:p>
            <a:endParaRPr lang="en-US"/>
          </a:p>
        </p:txBody>
      </p:sp>
      <p:sp>
        <p:nvSpPr>
          <p:cNvPr id="21" name="Box from Q1 to Q3">
            <a:extLst>
              <a:ext uri="{FF2B5EF4-FFF2-40B4-BE49-F238E27FC236}">
                <a16:creationId xmlns:a16="http://schemas.microsoft.com/office/drawing/2014/main" id="{89250CDC-D008-45C6-9868-7BE2F62AE5B1}"/>
              </a:ext>
            </a:extLst>
          </p:cNvPr>
          <p:cNvSpPr>
            <a:spLocks noGrp="1"/>
          </p:cNvSpPr>
          <p:nvPr/>
        </p:nvSpPr>
        <p:spPr>
          <a:xfrm>
            <a:off x="4640580" y="3567113"/>
            <a:ext cx="2720340" cy="523875"/>
          </a:xfrm>
          <a:prstGeom prst="rect">
            <a:avLst/>
          </a:prstGeom>
          <a:solidFill>
            <a:srgbClr val="EEF8FE"/>
          </a:solidFill>
          <a:ln w="19050">
            <a:solidFill>
              <a:srgbClr val="111111"/>
            </a:solidFill>
          </a:ln>
        </p:spPr>
        <p:txBody>
          <a:bodyPr/>
          <a:lstStyle/>
          <a:p>
            <a:endParaRPr lang="en-US"/>
          </a:p>
        </p:txBody>
      </p:sp>
      <p:sp>
        <p:nvSpPr>
          <p:cNvPr id="22" name="Diagram line">
            <a:extLst>
              <a:ext uri="{FF2B5EF4-FFF2-40B4-BE49-F238E27FC236}">
                <a16:creationId xmlns:a16="http://schemas.microsoft.com/office/drawing/2014/main" id="{30698322-20C9-4D6E-9CD5-66BC9393A8CD}"/>
              </a:ext>
            </a:extLst>
          </p:cNvPr>
          <p:cNvSpPr>
            <a:spLocks noGrp="1"/>
          </p:cNvSpPr>
          <p:nvPr/>
        </p:nvSpPr>
        <p:spPr>
          <a:xfrm>
            <a:off x="6000750" y="3567113"/>
            <a:ext cx="9525" cy="523875"/>
          </a:xfrm>
          <a:custGeom>
            <a:avLst/>
            <a:gdLst/>
            <a:ahLst/>
            <a:cxnLst/>
            <a:rect l="0" t="0" r="0" b="0"/>
            <a:pathLst>
              <a:path w="9525" h="523875">
                <a:moveTo>
                  <a:pt x="0" y="0"/>
                </a:moveTo>
                <a:lnTo>
                  <a:pt x="0" y="523875"/>
                </a:lnTo>
              </a:path>
            </a:pathLst>
          </a:custGeom>
          <a:noFill/>
          <a:ln w="28575">
            <a:solidFill>
              <a:srgbClr val="D6171D"/>
            </a:solidFill>
          </a:ln>
        </p:spPr>
        <p:txBody>
          <a:bodyPr/>
          <a:lstStyle/>
          <a:p>
            <a:endParaRPr lang="en-US"/>
          </a:p>
        </p:txBody>
      </p:sp>
      <p:sp>
        <p:nvSpPr>
          <p:cNvPr id="23" name="Text">
            <a:extLst>
              <a:ext uri="{FF2B5EF4-FFF2-40B4-BE49-F238E27FC236}">
                <a16:creationId xmlns:a16="http://schemas.microsoft.com/office/drawing/2014/main" id="{2E3B6663-F187-4612-9711-29E46ACF1839}"/>
              </a:ext>
            </a:extLst>
          </p:cNvPr>
          <p:cNvSpPr>
            <a:spLocks noGrp="1"/>
          </p:cNvSpPr>
          <p:nvPr/>
        </p:nvSpPr>
        <p:spPr>
          <a:xfrm>
            <a:off x="2750820" y="2995613"/>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Min 12</a:t>
            </a:r>
          </a:p>
        </p:txBody>
      </p:sp>
      <p:sp>
        <p:nvSpPr>
          <p:cNvPr id="24" name="Text">
            <a:extLst>
              <a:ext uri="{FF2B5EF4-FFF2-40B4-BE49-F238E27FC236}">
                <a16:creationId xmlns:a16="http://schemas.microsoft.com/office/drawing/2014/main" id="{D5B933EB-03EB-410A-AD75-368E7BFBFFCD}"/>
              </a:ext>
            </a:extLst>
          </p:cNvPr>
          <p:cNvSpPr>
            <a:spLocks noGrp="1"/>
          </p:cNvSpPr>
          <p:nvPr/>
        </p:nvSpPr>
        <p:spPr>
          <a:xfrm>
            <a:off x="3916680" y="2995613"/>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Q₁ 18</a:t>
            </a:r>
          </a:p>
        </p:txBody>
      </p:sp>
      <p:sp>
        <p:nvSpPr>
          <p:cNvPr id="25" name="Text">
            <a:extLst>
              <a:ext uri="{FF2B5EF4-FFF2-40B4-BE49-F238E27FC236}">
                <a16:creationId xmlns:a16="http://schemas.microsoft.com/office/drawing/2014/main" id="{D40C54D1-71A6-4A0E-95B3-E0842A825884}"/>
              </a:ext>
            </a:extLst>
          </p:cNvPr>
          <p:cNvSpPr>
            <a:spLocks noGrp="1"/>
          </p:cNvSpPr>
          <p:nvPr/>
        </p:nvSpPr>
        <p:spPr>
          <a:xfrm>
            <a:off x="5276850" y="2995613"/>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Median 25</a:t>
            </a:r>
          </a:p>
        </p:txBody>
      </p:sp>
      <p:sp>
        <p:nvSpPr>
          <p:cNvPr id="26" name="Text">
            <a:extLst>
              <a:ext uri="{FF2B5EF4-FFF2-40B4-BE49-F238E27FC236}">
                <a16:creationId xmlns:a16="http://schemas.microsoft.com/office/drawing/2014/main" id="{C522E6A1-B0E8-43A5-8E6B-1573AEEF3418}"/>
              </a:ext>
            </a:extLst>
          </p:cNvPr>
          <p:cNvSpPr>
            <a:spLocks noGrp="1"/>
          </p:cNvSpPr>
          <p:nvPr/>
        </p:nvSpPr>
        <p:spPr>
          <a:xfrm>
            <a:off x="6637020" y="2995613"/>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Q₃ 32</a:t>
            </a:r>
          </a:p>
        </p:txBody>
      </p:sp>
      <p:sp>
        <p:nvSpPr>
          <p:cNvPr id="27" name="Text">
            <a:extLst>
              <a:ext uri="{FF2B5EF4-FFF2-40B4-BE49-F238E27FC236}">
                <a16:creationId xmlns:a16="http://schemas.microsoft.com/office/drawing/2014/main" id="{2E487279-4EEC-463A-BA71-83A391EF47D9}"/>
              </a:ext>
            </a:extLst>
          </p:cNvPr>
          <p:cNvSpPr>
            <a:spLocks noGrp="1"/>
          </p:cNvSpPr>
          <p:nvPr/>
        </p:nvSpPr>
        <p:spPr>
          <a:xfrm>
            <a:off x="8968740" y="2995613"/>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Max 44</a:t>
            </a:r>
          </a:p>
        </p:txBody>
      </p:sp>
      <p:sp>
        <p:nvSpPr>
          <p:cNvPr id="28" name="Text">
            <a:extLst>
              <a:ext uri="{FF2B5EF4-FFF2-40B4-BE49-F238E27FC236}">
                <a16:creationId xmlns:a16="http://schemas.microsoft.com/office/drawing/2014/main" id="{63C44B0B-C6C2-4756-878C-D947209041F3}"/>
              </a:ext>
            </a:extLst>
          </p:cNvPr>
          <p:cNvSpPr>
            <a:spLocks noGrp="1"/>
          </p:cNvSpPr>
          <p:nvPr/>
        </p:nvSpPr>
        <p:spPr>
          <a:xfrm>
            <a:off x="619125" y="5314950"/>
            <a:ext cx="10953750" cy="47625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Median: 25 min     IQR: 32 − 18 = 14 min     Range: 44 − 12 = 32 min</a:t>
            </a:r>
          </a:p>
        </p:txBody>
      </p:sp>
    </p:spTree>
    <p:extLst>
      <p:ext uri="{BB962C8B-B14F-4D97-AF65-F5344CB8AC3E}">
        <p14:creationId xmlns:p14="http://schemas.microsoft.com/office/powerpoint/2010/main" val="14286771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title">
            <a:extLst>
              <a:ext uri="{FF2B5EF4-FFF2-40B4-BE49-F238E27FC236}">
                <a16:creationId xmlns:a16="http://schemas.microsoft.com/office/drawing/2014/main" id="{F30FD810-77F9-4B86-99F2-DA758C7C8026}"/>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a second delivery service</a:t>
            </a:r>
          </a:p>
        </p:txBody>
      </p:sp>
      <p:sp>
        <p:nvSpPr>
          <p:cNvPr id="2" name="Lead">
            <a:extLst>
              <a:ext uri="{FF2B5EF4-FFF2-40B4-BE49-F238E27FC236}">
                <a16:creationId xmlns:a16="http://schemas.microsoft.com/office/drawing/2014/main" id="{4CDE3F33-EE34-4A1A-A0AC-94F6C8EFB8F9}"/>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Sort the times, calculate the five-number summary, then draw the boxplot.</a:t>
            </a:r>
          </a:p>
        </p:txBody>
      </p:sp>
      <p:sp>
        <p:nvSpPr>
          <p:cNvPr id="3" name="Text">
            <a:extLst>
              <a:ext uri="{FF2B5EF4-FFF2-40B4-BE49-F238E27FC236}">
                <a16:creationId xmlns:a16="http://schemas.microsoft.com/office/drawing/2014/main" id="{BE6B7711-69A3-4E31-83BA-17DCE2324357}"/>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B8</a:t>
            </a:r>
          </a:p>
        </p:txBody>
      </p:sp>
      <p:sp>
        <p:nvSpPr>
          <p:cNvPr id="4" name="Footer">
            <a:extLst>
              <a:ext uri="{FF2B5EF4-FFF2-40B4-BE49-F238E27FC236}">
                <a16:creationId xmlns:a16="http://schemas.microsoft.com/office/drawing/2014/main" id="{61A4AFDE-03B4-4972-A6CD-E68EBA5945A1}"/>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All values are minutes. Use the same 0–50 scale so you can compare the two services.</a:t>
            </a:r>
          </a:p>
        </p:txBody>
      </p:sp>
      <p:sp>
        <p:nvSpPr>
          <p:cNvPr id="5" name="Text">
            <a:extLst>
              <a:ext uri="{FF2B5EF4-FFF2-40B4-BE49-F238E27FC236}">
                <a16:creationId xmlns:a16="http://schemas.microsoft.com/office/drawing/2014/main" id="{A359B148-B211-4B6B-B0FF-85AD8881AA11}"/>
              </a:ext>
            </a:extLst>
          </p:cNvPr>
          <p:cNvSpPr>
            <a:spLocks noGrp="1"/>
          </p:cNvSpPr>
          <p:nvPr/>
        </p:nvSpPr>
        <p:spPr>
          <a:xfrm>
            <a:off x="619125"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34</a:t>
            </a:r>
          </a:p>
        </p:txBody>
      </p:sp>
      <p:sp>
        <p:nvSpPr>
          <p:cNvPr id="6" name="Text">
            <a:extLst>
              <a:ext uri="{FF2B5EF4-FFF2-40B4-BE49-F238E27FC236}">
                <a16:creationId xmlns:a16="http://schemas.microsoft.com/office/drawing/2014/main" id="{04D595AD-C5A4-411F-93FD-B711AB0A35FA}"/>
              </a:ext>
            </a:extLst>
          </p:cNvPr>
          <p:cNvSpPr>
            <a:spLocks noGrp="1"/>
          </p:cNvSpPr>
          <p:nvPr/>
        </p:nvSpPr>
        <p:spPr>
          <a:xfrm>
            <a:off x="1614920"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16</a:t>
            </a:r>
          </a:p>
        </p:txBody>
      </p:sp>
      <p:sp>
        <p:nvSpPr>
          <p:cNvPr id="7" name="Text">
            <a:extLst>
              <a:ext uri="{FF2B5EF4-FFF2-40B4-BE49-F238E27FC236}">
                <a16:creationId xmlns:a16="http://schemas.microsoft.com/office/drawing/2014/main" id="{562DD906-5A3B-427A-87FA-7923A4CDDC40}"/>
              </a:ext>
            </a:extLst>
          </p:cNvPr>
          <p:cNvSpPr>
            <a:spLocks noGrp="1"/>
          </p:cNvSpPr>
          <p:nvPr/>
        </p:nvSpPr>
        <p:spPr>
          <a:xfrm>
            <a:off x="2610716"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24</a:t>
            </a:r>
          </a:p>
        </p:txBody>
      </p:sp>
      <p:sp>
        <p:nvSpPr>
          <p:cNvPr id="8" name="Text">
            <a:extLst>
              <a:ext uri="{FF2B5EF4-FFF2-40B4-BE49-F238E27FC236}">
                <a16:creationId xmlns:a16="http://schemas.microsoft.com/office/drawing/2014/main" id="{4B2C4BDC-AF96-4B47-A3EB-3B17DF7F9356}"/>
              </a:ext>
            </a:extLst>
          </p:cNvPr>
          <p:cNvSpPr>
            <a:spLocks noGrp="1"/>
          </p:cNvSpPr>
          <p:nvPr/>
        </p:nvSpPr>
        <p:spPr>
          <a:xfrm>
            <a:off x="3606511"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10</a:t>
            </a:r>
          </a:p>
        </p:txBody>
      </p:sp>
      <p:sp>
        <p:nvSpPr>
          <p:cNvPr id="9" name="Text">
            <a:extLst>
              <a:ext uri="{FF2B5EF4-FFF2-40B4-BE49-F238E27FC236}">
                <a16:creationId xmlns:a16="http://schemas.microsoft.com/office/drawing/2014/main" id="{D743DC42-356E-40FD-9275-E275B1A7CB6A}"/>
              </a:ext>
            </a:extLst>
          </p:cNvPr>
          <p:cNvSpPr>
            <a:spLocks noGrp="1"/>
          </p:cNvSpPr>
          <p:nvPr/>
        </p:nvSpPr>
        <p:spPr>
          <a:xfrm>
            <a:off x="4602307"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30</a:t>
            </a:r>
          </a:p>
        </p:txBody>
      </p:sp>
      <p:sp>
        <p:nvSpPr>
          <p:cNvPr id="10" name="Text">
            <a:extLst>
              <a:ext uri="{FF2B5EF4-FFF2-40B4-BE49-F238E27FC236}">
                <a16:creationId xmlns:a16="http://schemas.microsoft.com/office/drawing/2014/main" id="{2700600F-9B65-40EF-9EBC-F4B9F9CAEC71}"/>
              </a:ext>
            </a:extLst>
          </p:cNvPr>
          <p:cNvSpPr>
            <a:spLocks noGrp="1"/>
          </p:cNvSpPr>
          <p:nvPr/>
        </p:nvSpPr>
        <p:spPr>
          <a:xfrm>
            <a:off x="5598102"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20</a:t>
            </a:r>
          </a:p>
        </p:txBody>
      </p:sp>
      <p:sp>
        <p:nvSpPr>
          <p:cNvPr id="11" name="Text">
            <a:extLst>
              <a:ext uri="{FF2B5EF4-FFF2-40B4-BE49-F238E27FC236}">
                <a16:creationId xmlns:a16="http://schemas.microsoft.com/office/drawing/2014/main" id="{2676879C-8B23-4AED-8D95-AC5353A776B9}"/>
              </a:ext>
            </a:extLst>
          </p:cNvPr>
          <p:cNvSpPr>
            <a:spLocks noGrp="1"/>
          </p:cNvSpPr>
          <p:nvPr/>
        </p:nvSpPr>
        <p:spPr>
          <a:xfrm>
            <a:off x="6593898"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28</a:t>
            </a:r>
          </a:p>
        </p:txBody>
      </p:sp>
      <p:sp>
        <p:nvSpPr>
          <p:cNvPr id="12" name="Text">
            <a:extLst>
              <a:ext uri="{FF2B5EF4-FFF2-40B4-BE49-F238E27FC236}">
                <a16:creationId xmlns:a16="http://schemas.microsoft.com/office/drawing/2014/main" id="{73884A60-C6C3-48A7-8118-82449124E02F}"/>
              </a:ext>
            </a:extLst>
          </p:cNvPr>
          <p:cNvSpPr>
            <a:spLocks noGrp="1"/>
          </p:cNvSpPr>
          <p:nvPr/>
        </p:nvSpPr>
        <p:spPr>
          <a:xfrm>
            <a:off x="7589693"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22</a:t>
            </a:r>
          </a:p>
        </p:txBody>
      </p:sp>
      <p:sp>
        <p:nvSpPr>
          <p:cNvPr id="13" name="Text">
            <a:extLst>
              <a:ext uri="{FF2B5EF4-FFF2-40B4-BE49-F238E27FC236}">
                <a16:creationId xmlns:a16="http://schemas.microsoft.com/office/drawing/2014/main" id="{85D60B7E-4F29-4A5C-AC86-FEF7DAD41D9B}"/>
              </a:ext>
            </a:extLst>
          </p:cNvPr>
          <p:cNvSpPr>
            <a:spLocks noGrp="1"/>
          </p:cNvSpPr>
          <p:nvPr/>
        </p:nvSpPr>
        <p:spPr>
          <a:xfrm>
            <a:off x="8585489"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14</a:t>
            </a:r>
          </a:p>
        </p:txBody>
      </p:sp>
      <p:sp>
        <p:nvSpPr>
          <p:cNvPr id="14" name="Text">
            <a:extLst>
              <a:ext uri="{FF2B5EF4-FFF2-40B4-BE49-F238E27FC236}">
                <a16:creationId xmlns:a16="http://schemas.microsoft.com/office/drawing/2014/main" id="{B2BE089D-3931-4070-8169-CCEB2E24EB55}"/>
              </a:ext>
            </a:extLst>
          </p:cNvPr>
          <p:cNvSpPr>
            <a:spLocks noGrp="1"/>
          </p:cNvSpPr>
          <p:nvPr/>
        </p:nvSpPr>
        <p:spPr>
          <a:xfrm>
            <a:off x="9581284"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26</a:t>
            </a:r>
          </a:p>
        </p:txBody>
      </p:sp>
      <p:sp>
        <p:nvSpPr>
          <p:cNvPr id="15" name="Text">
            <a:extLst>
              <a:ext uri="{FF2B5EF4-FFF2-40B4-BE49-F238E27FC236}">
                <a16:creationId xmlns:a16="http://schemas.microsoft.com/office/drawing/2014/main" id="{0FDD4958-DE94-42FB-8C25-558AAF3B5409}"/>
              </a:ext>
            </a:extLst>
          </p:cNvPr>
          <p:cNvSpPr>
            <a:spLocks noGrp="1"/>
          </p:cNvSpPr>
          <p:nvPr/>
        </p:nvSpPr>
        <p:spPr>
          <a:xfrm>
            <a:off x="10577080" y="2952750"/>
            <a:ext cx="929120" cy="523875"/>
          </a:xfrm>
          <a:prstGeom prst="rect">
            <a:avLst/>
          </a:prstGeom>
          <a:solidFill>
            <a:srgbClr val="EEF8FE"/>
          </a:solidFill>
          <a:ln w="0">
            <a:noFill/>
          </a:ln>
        </p:spPr>
        <p:txBody>
          <a:bodyPr wrap="square" lIns="0" tIns="0" rIns="0" bIns="0" anchor="ctr">
            <a:noAutofit/>
          </a:bodyPr>
          <a:lstStyle/>
          <a:p>
            <a:pPr algn="ctr">
              <a:buNone/>
              <a:defRPr sz="2250" b="0">
                <a:solidFill>
                  <a:srgbClr val="111111"/>
                </a:solidFill>
                <a:latin typeface="Aptos"/>
                <a:ea typeface="Aptos"/>
                <a:cs typeface="Aptos"/>
              </a:defRPr>
            </a:pPr>
            <a:r>
              <a:rPr sz="2250" b="0">
                <a:solidFill>
                  <a:srgbClr val="111111"/>
                </a:solidFill>
                <a:latin typeface="Aptos"/>
                <a:ea typeface="Aptos"/>
                <a:cs typeface="Aptos"/>
              </a:rPr>
              <a:t>18</a:t>
            </a:r>
          </a:p>
        </p:txBody>
      </p:sp>
      <p:sp>
        <p:nvSpPr>
          <p:cNvPr id="16" name="Text">
            <a:extLst>
              <a:ext uri="{FF2B5EF4-FFF2-40B4-BE49-F238E27FC236}">
                <a16:creationId xmlns:a16="http://schemas.microsoft.com/office/drawing/2014/main" id="{250EE99D-E117-4E28-A799-04009C5ED171}"/>
              </a:ext>
            </a:extLst>
          </p:cNvPr>
          <p:cNvSpPr>
            <a:spLocks noGrp="1"/>
          </p:cNvSpPr>
          <p:nvPr/>
        </p:nvSpPr>
        <p:spPr>
          <a:xfrm>
            <a:off x="619125" y="3857625"/>
            <a:ext cx="10953750" cy="1981200"/>
          </a:xfrm>
          <a:prstGeom prst="rect">
            <a:avLst/>
          </a:prstGeom>
          <a:noFill/>
          <a:ln w="0">
            <a:noFill/>
          </a:ln>
        </p:spPr>
        <p:txBody>
          <a:bodyPr wrap="square" lIns="0" tIns="0" rIns="0" bIns="0" anchor="t">
            <a:noAutofit/>
          </a:bodyPr>
          <a:lstStyle/>
          <a:p>
            <a:pPr algn="l">
              <a:buNone/>
              <a:defRPr sz="2400" b="0">
                <a:solidFill>
                  <a:srgbClr val="111111"/>
                </a:solidFill>
                <a:latin typeface="Aptos"/>
                <a:ea typeface="Aptos"/>
                <a:cs typeface="Aptos"/>
              </a:defRPr>
            </a:pPr>
            <a:r>
              <a:rPr sz="2400" b="0">
                <a:solidFill>
                  <a:srgbClr val="111111"/>
                </a:solidFill>
                <a:latin typeface="Aptos"/>
                <a:ea typeface="Aptos"/>
                <a:cs typeface="Aptos"/>
              </a:rPr>
              <a:t>1. Put the 11 times in ascending order.</a:t>
            </a:r>
          </a:p>
          <a:p>
            <a:pPr algn="l">
              <a:buNone/>
              <a:defRPr sz="2400" b="0">
                <a:solidFill>
                  <a:srgbClr val="111111"/>
                </a:solidFill>
                <a:latin typeface="Aptos"/>
                <a:ea typeface="Aptos"/>
                <a:cs typeface="Aptos"/>
              </a:defRPr>
            </a:pPr>
            <a:r>
              <a:rPr sz="2400" b="0">
                <a:solidFill>
                  <a:srgbClr val="111111"/>
                </a:solidFill>
                <a:latin typeface="Aptos"/>
                <a:ea typeface="Aptos"/>
                <a:cs typeface="Aptos"/>
              </a:rPr>
              <a:t>2. Find the minimum, Q₁, median, Q₃ and maximum.</a:t>
            </a:r>
          </a:p>
          <a:p>
            <a:pPr algn="l">
              <a:buNone/>
              <a:defRPr sz="2400" b="0">
                <a:solidFill>
                  <a:srgbClr val="111111"/>
                </a:solidFill>
                <a:latin typeface="Aptos"/>
                <a:ea typeface="Aptos"/>
                <a:cs typeface="Aptos"/>
              </a:defRPr>
            </a:pPr>
            <a:r>
              <a:rPr sz="2400" b="0">
                <a:solidFill>
                  <a:srgbClr val="111111"/>
                </a:solidFill>
                <a:latin typeface="Aptos"/>
                <a:ea typeface="Aptos"/>
                <a:cs typeface="Aptos"/>
              </a:rPr>
              <a:t>3. Draw and label the boxplot. Calculate the IQR.</a:t>
            </a:r>
          </a:p>
          <a:p>
            <a:pPr algn="l">
              <a:buNone/>
              <a:defRPr sz="2400" b="0">
                <a:solidFill>
                  <a:srgbClr val="111111"/>
                </a:solidFill>
                <a:latin typeface="Aptos"/>
                <a:ea typeface="Aptos"/>
                <a:cs typeface="Aptos"/>
              </a:defRPr>
            </a:pPr>
            <a:r>
              <a:rPr sz="2400" b="0">
                <a:solidFill>
                  <a:srgbClr val="111111"/>
                </a:solidFill>
                <a:latin typeface="Aptos"/>
                <a:ea typeface="Aptos"/>
                <a:cs typeface="Aptos"/>
              </a:rPr>
              <a:t>4. Compare its median and IQR with the first service.</a:t>
            </a:r>
          </a:p>
        </p:txBody>
      </p:sp>
    </p:spTree>
    <p:extLst>
      <p:ext uri="{BB962C8B-B14F-4D97-AF65-F5344CB8AC3E}">
        <p14:creationId xmlns:p14="http://schemas.microsoft.com/office/powerpoint/2010/main" val="19362299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title">
            <a:extLst>
              <a:ext uri="{FF2B5EF4-FFF2-40B4-BE49-F238E27FC236}">
                <a16:creationId xmlns:a16="http://schemas.microsoft.com/office/drawing/2014/main" id="{4AB3D8C5-D850-4B5E-B419-6CF29A76FAA8}"/>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Delivery service: boxplot check</a:t>
            </a:r>
          </a:p>
        </p:txBody>
      </p:sp>
      <p:sp>
        <p:nvSpPr>
          <p:cNvPr id="2" name="Lead">
            <a:extLst>
              <a:ext uri="{FF2B5EF4-FFF2-40B4-BE49-F238E27FC236}">
                <a16:creationId xmlns:a16="http://schemas.microsoft.com/office/drawing/2014/main" id="{1AACAD6A-11AA-4CFC-9491-EBD0138E2D55}"/>
              </a:ext>
            </a:extLst>
          </p:cNvPr>
          <p:cNvSpPr>
            <a:spLocks noGrp="1"/>
          </p:cNvSpPr>
          <p:nvPr/>
        </p:nvSpPr>
        <p:spPr>
          <a:xfrm>
            <a:off x="523875" y="2000250"/>
            <a:ext cx="11049000" cy="73342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The new median is 22 minutes and the IQR is 28 − 16 = 12 minutes.</a:t>
            </a:r>
          </a:p>
        </p:txBody>
      </p:sp>
      <p:sp>
        <p:nvSpPr>
          <p:cNvPr id="3" name="Text">
            <a:extLst>
              <a:ext uri="{FF2B5EF4-FFF2-40B4-BE49-F238E27FC236}">
                <a16:creationId xmlns:a16="http://schemas.microsoft.com/office/drawing/2014/main" id="{233BD5D5-8367-4846-961B-45D396C12862}"/>
              </a:ext>
            </a:extLst>
          </p:cNvPr>
          <p:cNvSpPr>
            <a:spLocks noGrp="1"/>
          </p:cNvSpPr>
          <p:nvPr/>
        </p:nvSpPr>
        <p:spPr>
          <a:xfrm>
            <a:off x="9810750" y="457200"/>
            <a:ext cx="1762125" cy="361950"/>
          </a:xfrm>
          <a:prstGeom prst="rect">
            <a:avLst/>
          </a:prstGeom>
          <a:solidFill>
            <a:srgbClr val="D6171D"/>
          </a:solidFill>
          <a:ln w="0">
            <a:noFill/>
          </a:ln>
        </p:spPr>
        <p:txBody>
          <a:bodyPr wrap="squar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B8</a:t>
            </a:r>
          </a:p>
        </p:txBody>
      </p:sp>
      <p:sp>
        <p:nvSpPr>
          <p:cNvPr id="4" name="Footer">
            <a:extLst>
              <a:ext uri="{FF2B5EF4-FFF2-40B4-BE49-F238E27FC236}">
                <a16:creationId xmlns:a16="http://schemas.microsoft.com/office/drawing/2014/main" id="{326119E2-8790-407F-BE55-02C1794F9719}"/>
              </a:ext>
            </a:extLst>
          </p:cNvPr>
          <p:cNvSpPr>
            <a:spLocks noGrp="1"/>
          </p:cNvSpPr>
          <p:nvPr/>
        </p:nvSpPr>
        <p:spPr>
          <a:xfrm>
            <a:off x="523875" y="5953125"/>
            <a:ext cx="11049000" cy="32385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First service: median 25, IQR 14. Second service: lower median and slightly smaller central spread.</a:t>
            </a:r>
          </a:p>
        </p:txBody>
      </p:sp>
      <p:sp>
        <p:nvSpPr>
          <p:cNvPr id="5" name="Text">
            <a:extLst>
              <a:ext uri="{FF2B5EF4-FFF2-40B4-BE49-F238E27FC236}">
                <a16:creationId xmlns:a16="http://schemas.microsoft.com/office/drawing/2014/main" id="{9644303F-DE3E-4327-B4F1-261DBE78406F}"/>
              </a:ext>
            </a:extLst>
          </p:cNvPr>
          <p:cNvSpPr>
            <a:spLocks noGrp="1"/>
          </p:cNvSpPr>
          <p:nvPr/>
        </p:nvSpPr>
        <p:spPr>
          <a:xfrm>
            <a:off x="619125" y="2857500"/>
            <a:ext cx="10953750" cy="419100"/>
          </a:xfrm>
          <a:prstGeom prst="rect">
            <a:avLst/>
          </a:prstGeom>
          <a:noFill/>
          <a:ln w="0">
            <a:noFill/>
          </a:ln>
        </p:spPr>
        <p:txBody>
          <a:bodyPr wrap="square" lIns="0" tIns="0" rIns="0" bIns="0" anchor="t">
            <a:noAutofit/>
          </a:bodyPr>
          <a:lstStyle/>
          <a:p>
            <a:pPr algn="l">
              <a:buNone/>
              <a:defRPr sz="2250" b="0">
                <a:solidFill>
                  <a:srgbClr val="111111"/>
                </a:solidFill>
                <a:latin typeface="Aptos"/>
                <a:ea typeface="Aptos"/>
                <a:cs typeface="Aptos"/>
              </a:defRPr>
            </a:pPr>
            <a:r>
              <a:rPr sz="2250" b="0">
                <a:solidFill>
                  <a:srgbClr val="111111"/>
                </a:solidFill>
                <a:latin typeface="Aptos"/>
                <a:ea typeface="Aptos"/>
                <a:cs typeface="Aptos"/>
              </a:rPr>
              <a:t>Ordered: 10, 14, 16, 18, 20, 22, 24, 26, 28, 30, 34</a:t>
            </a:r>
          </a:p>
        </p:txBody>
      </p:sp>
      <p:sp>
        <p:nvSpPr>
          <p:cNvPr id="6" name="Diagram line">
            <a:extLst>
              <a:ext uri="{FF2B5EF4-FFF2-40B4-BE49-F238E27FC236}">
                <a16:creationId xmlns:a16="http://schemas.microsoft.com/office/drawing/2014/main" id="{32FD7FAA-BCFD-4668-B1DC-1901928C378E}"/>
              </a:ext>
            </a:extLst>
          </p:cNvPr>
          <p:cNvSpPr>
            <a:spLocks noGrp="1"/>
          </p:cNvSpPr>
          <p:nvPr/>
        </p:nvSpPr>
        <p:spPr>
          <a:xfrm>
            <a:off x="1143000" y="5143500"/>
            <a:ext cx="9715500" cy="9525"/>
          </a:xfrm>
          <a:custGeom>
            <a:avLst/>
            <a:gdLst/>
            <a:ahLst/>
            <a:cxnLst/>
            <a:rect l="0" t="0" r="0" b="0"/>
            <a:pathLst>
              <a:path w="9715500" h="9525">
                <a:moveTo>
                  <a:pt x="0" y="0"/>
                </a:moveTo>
                <a:lnTo>
                  <a:pt x="9715500" y="0"/>
                </a:lnTo>
              </a:path>
            </a:pathLst>
          </a:custGeom>
          <a:noFill/>
          <a:ln w="14288">
            <a:solidFill>
              <a:srgbClr val="111111"/>
            </a:solidFill>
          </a:ln>
        </p:spPr>
        <p:txBody>
          <a:bodyPr/>
          <a:lstStyle/>
          <a:p>
            <a:endParaRPr lang="en-US"/>
          </a:p>
        </p:txBody>
      </p:sp>
      <p:sp>
        <p:nvSpPr>
          <p:cNvPr id="7" name="Diagram line">
            <a:extLst>
              <a:ext uri="{FF2B5EF4-FFF2-40B4-BE49-F238E27FC236}">
                <a16:creationId xmlns:a16="http://schemas.microsoft.com/office/drawing/2014/main" id="{EB0479F0-6229-4D03-8DD5-828B2897D1DD}"/>
              </a:ext>
            </a:extLst>
          </p:cNvPr>
          <p:cNvSpPr>
            <a:spLocks noGrp="1"/>
          </p:cNvSpPr>
          <p:nvPr/>
        </p:nvSpPr>
        <p:spPr>
          <a:xfrm>
            <a:off x="1143000" y="50768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8" name="Text">
            <a:extLst>
              <a:ext uri="{FF2B5EF4-FFF2-40B4-BE49-F238E27FC236}">
                <a16:creationId xmlns:a16="http://schemas.microsoft.com/office/drawing/2014/main" id="{F5F15E0A-D35B-477F-8737-C4C1C5B8F718}"/>
              </a:ext>
            </a:extLst>
          </p:cNvPr>
          <p:cNvSpPr>
            <a:spLocks noGrp="1"/>
          </p:cNvSpPr>
          <p:nvPr/>
        </p:nvSpPr>
        <p:spPr>
          <a:xfrm>
            <a:off x="904875" y="52863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0</a:t>
            </a:r>
          </a:p>
        </p:txBody>
      </p:sp>
      <p:sp>
        <p:nvSpPr>
          <p:cNvPr id="9" name="Diagram line">
            <a:extLst>
              <a:ext uri="{FF2B5EF4-FFF2-40B4-BE49-F238E27FC236}">
                <a16:creationId xmlns:a16="http://schemas.microsoft.com/office/drawing/2014/main" id="{DD086CBE-F942-4766-B731-A7D45DF95F5B}"/>
              </a:ext>
            </a:extLst>
          </p:cNvPr>
          <p:cNvSpPr>
            <a:spLocks noGrp="1"/>
          </p:cNvSpPr>
          <p:nvPr/>
        </p:nvSpPr>
        <p:spPr>
          <a:xfrm>
            <a:off x="3086100" y="50768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0" name="Text">
            <a:extLst>
              <a:ext uri="{FF2B5EF4-FFF2-40B4-BE49-F238E27FC236}">
                <a16:creationId xmlns:a16="http://schemas.microsoft.com/office/drawing/2014/main" id="{27C8C688-D7DD-4FEC-B5E3-D151398583A4}"/>
              </a:ext>
            </a:extLst>
          </p:cNvPr>
          <p:cNvSpPr>
            <a:spLocks noGrp="1"/>
          </p:cNvSpPr>
          <p:nvPr/>
        </p:nvSpPr>
        <p:spPr>
          <a:xfrm>
            <a:off x="2847975" y="52863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10</a:t>
            </a:r>
          </a:p>
        </p:txBody>
      </p:sp>
      <p:sp>
        <p:nvSpPr>
          <p:cNvPr id="11" name="Diagram line">
            <a:extLst>
              <a:ext uri="{FF2B5EF4-FFF2-40B4-BE49-F238E27FC236}">
                <a16:creationId xmlns:a16="http://schemas.microsoft.com/office/drawing/2014/main" id="{3FF4900B-3258-4EC5-A898-C8F8D3CEFC32}"/>
              </a:ext>
            </a:extLst>
          </p:cNvPr>
          <p:cNvSpPr>
            <a:spLocks noGrp="1"/>
          </p:cNvSpPr>
          <p:nvPr/>
        </p:nvSpPr>
        <p:spPr>
          <a:xfrm>
            <a:off x="5029200" y="50768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2" name="Text">
            <a:extLst>
              <a:ext uri="{FF2B5EF4-FFF2-40B4-BE49-F238E27FC236}">
                <a16:creationId xmlns:a16="http://schemas.microsoft.com/office/drawing/2014/main" id="{0EDC106E-F3B4-4183-881B-F22D5680C8B1}"/>
              </a:ext>
            </a:extLst>
          </p:cNvPr>
          <p:cNvSpPr>
            <a:spLocks noGrp="1"/>
          </p:cNvSpPr>
          <p:nvPr/>
        </p:nvSpPr>
        <p:spPr>
          <a:xfrm>
            <a:off x="4791075" y="52863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20</a:t>
            </a:r>
          </a:p>
        </p:txBody>
      </p:sp>
      <p:sp>
        <p:nvSpPr>
          <p:cNvPr id="13" name="Diagram line">
            <a:extLst>
              <a:ext uri="{FF2B5EF4-FFF2-40B4-BE49-F238E27FC236}">
                <a16:creationId xmlns:a16="http://schemas.microsoft.com/office/drawing/2014/main" id="{65DBD7E2-BC2C-406A-9CDA-D6BE4A3D1E1D}"/>
              </a:ext>
            </a:extLst>
          </p:cNvPr>
          <p:cNvSpPr>
            <a:spLocks noGrp="1"/>
          </p:cNvSpPr>
          <p:nvPr/>
        </p:nvSpPr>
        <p:spPr>
          <a:xfrm>
            <a:off x="6972300" y="50768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4" name="Text">
            <a:extLst>
              <a:ext uri="{FF2B5EF4-FFF2-40B4-BE49-F238E27FC236}">
                <a16:creationId xmlns:a16="http://schemas.microsoft.com/office/drawing/2014/main" id="{EDE3ECFD-34A1-41F7-ADD1-43D5661F5BE3}"/>
              </a:ext>
            </a:extLst>
          </p:cNvPr>
          <p:cNvSpPr>
            <a:spLocks noGrp="1"/>
          </p:cNvSpPr>
          <p:nvPr/>
        </p:nvSpPr>
        <p:spPr>
          <a:xfrm>
            <a:off x="6734175" y="52863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30</a:t>
            </a:r>
          </a:p>
        </p:txBody>
      </p:sp>
      <p:sp>
        <p:nvSpPr>
          <p:cNvPr id="15" name="Diagram line">
            <a:extLst>
              <a:ext uri="{FF2B5EF4-FFF2-40B4-BE49-F238E27FC236}">
                <a16:creationId xmlns:a16="http://schemas.microsoft.com/office/drawing/2014/main" id="{3A9D72C7-6399-4D65-A783-499EDE742A16}"/>
              </a:ext>
            </a:extLst>
          </p:cNvPr>
          <p:cNvSpPr>
            <a:spLocks noGrp="1"/>
          </p:cNvSpPr>
          <p:nvPr/>
        </p:nvSpPr>
        <p:spPr>
          <a:xfrm>
            <a:off x="8915400" y="50768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6" name="Text">
            <a:extLst>
              <a:ext uri="{FF2B5EF4-FFF2-40B4-BE49-F238E27FC236}">
                <a16:creationId xmlns:a16="http://schemas.microsoft.com/office/drawing/2014/main" id="{1311BBBB-97A2-4002-BB69-B766738C6E99}"/>
              </a:ext>
            </a:extLst>
          </p:cNvPr>
          <p:cNvSpPr>
            <a:spLocks noGrp="1"/>
          </p:cNvSpPr>
          <p:nvPr/>
        </p:nvSpPr>
        <p:spPr>
          <a:xfrm>
            <a:off x="8677275" y="52863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40</a:t>
            </a:r>
          </a:p>
        </p:txBody>
      </p:sp>
      <p:sp>
        <p:nvSpPr>
          <p:cNvPr id="17" name="Diagram line">
            <a:extLst>
              <a:ext uri="{FF2B5EF4-FFF2-40B4-BE49-F238E27FC236}">
                <a16:creationId xmlns:a16="http://schemas.microsoft.com/office/drawing/2014/main" id="{F14CB048-BF63-4E2B-910F-124E1D2195FB}"/>
              </a:ext>
            </a:extLst>
          </p:cNvPr>
          <p:cNvSpPr>
            <a:spLocks noGrp="1"/>
          </p:cNvSpPr>
          <p:nvPr/>
        </p:nvSpPr>
        <p:spPr>
          <a:xfrm>
            <a:off x="10858500" y="5076825"/>
            <a:ext cx="9525" cy="133350"/>
          </a:xfrm>
          <a:custGeom>
            <a:avLst/>
            <a:gdLst/>
            <a:ahLst/>
            <a:cxnLst/>
            <a:rect l="0" t="0" r="0" b="0"/>
            <a:pathLst>
              <a:path w="9525" h="133350">
                <a:moveTo>
                  <a:pt x="0" y="0"/>
                </a:moveTo>
                <a:lnTo>
                  <a:pt x="0" y="133350"/>
                </a:lnTo>
              </a:path>
            </a:pathLst>
          </a:custGeom>
          <a:noFill/>
          <a:ln w="14288">
            <a:solidFill>
              <a:srgbClr val="111111"/>
            </a:solidFill>
          </a:ln>
        </p:spPr>
        <p:txBody>
          <a:bodyPr/>
          <a:lstStyle/>
          <a:p>
            <a:endParaRPr lang="en-US"/>
          </a:p>
        </p:txBody>
      </p:sp>
      <p:sp>
        <p:nvSpPr>
          <p:cNvPr id="18" name="Text">
            <a:extLst>
              <a:ext uri="{FF2B5EF4-FFF2-40B4-BE49-F238E27FC236}">
                <a16:creationId xmlns:a16="http://schemas.microsoft.com/office/drawing/2014/main" id="{54272423-12CB-4D87-A465-BA7425285328}"/>
              </a:ext>
            </a:extLst>
          </p:cNvPr>
          <p:cNvSpPr>
            <a:spLocks noGrp="1"/>
          </p:cNvSpPr>
          <p:nvPr/>
        </p:nvSpPr>
        <p:spPr>
          <a:xfrm>
            <a:off x="10620375" y="5286375"/>
            <a:ext cx="476250" cy="333375"/>
          </a:xfrm>
          <a:prstGeom prst="rect">
            <a:avLst/>
          </a:prstGeom>
          <a:noFill/>
          <a:ln w="0">
            <a:noFill/>
          </a:ln>
        </p:spPr>
        <p:txBody>
          <a:bodyPr wrap="square" lIns="0" tIns="0" rIns="0" bIns="0" anchor="t">
            <a:noAutofit/>
          </a:bodyPr>
          <a:lstStyle/>
          <a:p>
            <a:pPr algn="ctr">
              <a:buNone/>
              <a:defRPr sz="1875" b="0">
                <a:solidFill>
                  <a:srgbClr val="111111"/>
                </a:solidFill>
                <a:latin typeface="Aptos"/>
                <a:ea typeface="Aptos"/>
                <a:cs typeface="Aptos"/>
              </a:defRPr>
            </a:pPr>
            <a:r>
              <a:rPr sz="1875" b="0">
                <a:solidFill>
                  <a:srgbClr val="111111"/>
                </a:solidFill>
                <a:latin typeface="Aptos"/>
                <a:ea typeface="Aptos"/>
                <a:cs typeface="Aptos"/>
              </a:rPr>
              <a:t>50</a:t>
            </a:r>
          </a:p>
        </p:txBody>
      </p:sp>
      <p:sp>
        <p:nvSpPr>
          <p:cNvPr id="19" name="Diagram line">
            <a:extLst>
              <a:ext uri="{FF2B5EF4-FFF2-40B4-BE49-F238E27FC236}">
                <a16:creationId xmlns:a16="http://schemas.microsoft.com/office/drawing/2014/main" id="{C3AA3300-6BDD-4CB0-B634-BF31BB4B3DCC}"/>
              </a:ext>
            </a:extLst>
          </p:cNvPr>
          <p:cNvSpPr>
            <a:spLocks noGrp="1"/>
          </p:cNvSpPr>
          <p:nvPr/>
        </p:nvSpPr>
        <p:spPr>
          <a:xfrm>
            <a:off x="3086100" y="4305300"/>
            <a:ext cx="1165860" cy="9525"/>
          </a:xfrm>
          <a:custGeom>
            <a:avLst/>
            <a:gdLst/>
            <a:ahLst/>
            <a:cxnLst/>
            <a:rect l="0" t="0" r="0" b="0"/>
            <a:pathLst>
              <a:path w="1165860" h="9525">
                <a:moveTo>
                  <a:pt x="0" y="0"/>
                </a:moveTo>
                <a:lnTo>
                  <a:pt x="1165860" y="0"/>
                </a:lnTo>
              </a:path>
            </a:pathLst>
          </a:custGeom>
          <a:noFill/>
          <a:ln w="19050">
            <a:solidFill>
              <a:srgbClr val="111111"/>
            </a:solidFill>
          </a:ln>
        </p:spPr>
        <p:txBody>
          <a:bodyPr/>
          <a:lstStyle/>
          <a:p>
            <a:endParaRPr lang="en-US"/>
          </a:p>
        </p:txBody>
      </p:sp>
      <p:sp>
        <p:nvSpPr>
          <p:cNvPr id="20" name="Diagram line">
            <a:extLst>
              <a:ext uri="{FF2B5EF4-FFF2-40B4-BE49-F238E27FC236}">
                <a16:creationId xmlns:a16="http://schemas.microsoft.com/office/drawing/2014/main" id="{5524A118-9050-45DC-A9C7-E933E1109AF8}"/>
              </a:ext>
            </a:extLst>
          </p:cNvPr>
          <p:cNvSpPr>
            <a:spLocks noGrp="1"/>
          </p:cNvSpPr>
          <p:nvPr/>
        </p:nvSpPr>
        <p:spPr>
          <a:xfrm>
            <a:off x="6583680" y="4305300"/>
            <a:ext cx="1165860" cy="9525"/>
          </a:xfrm>
          <a:custGeom>
            <a:avLst/>
            <a:gdLst/>
            <a:ahLst/>
            <a:cxnLst/>
            <a:rect l="0" t="0" r="0" b="0"/>
            <a:pathLst>
              <a:path w="1165860" h="9525">
                <a:moveTo>
                  <a:pt x="0" y="0"/>
                </a:moveTo>
                <a:lnTo>
                  <a:pt x="1165860" y="0"/>
                </a:lnTo>
              </a:path>
            </a:pathLst>
          </a:custGeom>
          <a:noFill/>
          <a:ln w="19050">
            <a:solidFill>
              <a:srgbClr val="111111"/>
            </a:solidFill>
          </a:ln>
        </p:spPr>
        <p:txBody>
          <a:bodyPr/>
          <a:lstStyle/>
          <a:p>
            <a:endParaRPr lang="en-US"/>
          </a:p>
        </p:txBody>
      </p:sp>
      <p:sp>
        <p:nvSpPr>
          <p:cNvPr id="21" name="Diagram line">
            <a:extLst>
              <a:ext uri="{FF2B5EF4-FFF2-40B4-BE49-F238E27FC236}">
                <a16:creationId xmlns:a16="http://schemas.microsoft.com/office/drawing/2014/main" id="{B3DDCCF8-25C1-4B13-AC3E-0ACBA795ECE7}"/>
              </a:ext>
            </a:extLst>
          </p:cNvPr>
          <p:cNvSpPr>
            <a:spLocks noGrp="1"/>
          </p:cNvSpPr>
          <p:nvPr/>
        </p:nvSpPr>
        <p:spPr>
          <a:xfrm>
            <a:off x="3086100" y="4114800"/>
            <a:ext cx="9525" cy="381000"/>
          </a:xfrm>
          <a:custGeom>
            <a:avLst/>
            <a:gdLst/>
            <a:ahLst/>
            <a:cxnLst/>
            <a:rect l="0" t="0" r="0" b="0"/>
            <a:pathLst>
              <a:path w="9525" h="381000">
                <a:moveTo>
                  <a:pt x="0" y="0"/>
                </a:moveTo>
                <a:lnTo>
                  <a:pt x="0" y="381000"/>
                </a:lnTo>
              </a:path>
            </a:pathLst>
          </a:custGeom>
          <a:noFill/>
          <a:ln w="19050">
            <a:solidFill>
              <a:srgbClr val="111111"/>
            </a:solidFill>
          </a:ln>
        </p:spPr>
        <p:txBody>
          <a:bodyPr/>
          <a:lstStyle/>
          <a:p>
            <a:endParaRPr lang="en-US"/>
          </a:p>
        </p:txBody>
      </p:sp>
      <p:sp>
        <p:nvSpPr>
          <p:cNvPr id="22" name="Diagram line">
            <a:extLst>
              <a:ext uri="{FF2B5EF4-FFF2-40B4-BE49-F238E27FC236}">
                <a16:creationId xmlns:a16="http://schemas.microsoft.com/office/drawing/2014/main" id="{E8B3E73F-9118-42DA-BA4D-0DA8D94048BC}"/>
              </a:ext>
            </a:extLst>
          </p:cNvPr>
          <p:cNvSpPr>
            <a:spLocks noGrp="1"/>
          </p:cNvSpPr>
          <p:nvPr/>
        </p:nvSpPr>
        <p:spPr>
          <a:xfrm>
            <a:off x="7749540" y="4114800"/>
            <a:ext cx="9525" cy="381000"/>
          </a:xfrm>
          <a:custGeom>
            <a:avLst/>
            <a:gdLst/>
            <a:ahLst/>
            <a:cxnLst/>
            <a:rect l="0" t="0" r="0" b="0"/>
            <a:pathLst>
              <a:path w="9525" h="381000">
                <a:moveTo>
                  <a:pt x="0" y="0"/>
                </a:moveTo>
                <a:lnTo>
                  <a:pt x="0" y="381000"/>
                </a:lnTo>
              </a:path>
            </a:pathLst>
          </a:custGeom>
          <a:noFill/>
          <a:ln w="19050">
            <a:solidFill>
              <a:srgbClr val="111111"/>
            </a:solidFill>
          </a:ln>
        </p:spPr>
        <p:txBody>
          <a:bodyPr/>
          <a:lstStyle/>
          <a:p>
            <a:endParaRPr lang="en-US"/>
          </a:p>
        </p:txBody>
      </p:sp>
      <p:sp>
        <p:nvSpPr>
          <p:cNvPr id="23" name="Box from Q1 to Q3">
            <a:extLst>
              <a:ext uri="{FF2B5EF4-FFF2-40B4-BE49-F238E27FC236}">
                <a16:creationId xmlns:a16="http://schemas.microsoft.com/office/drawing/2014/main" id="{6246E135-6ECE-4891-9376-F44CCAB82FD9}"/>
              </a:ext>
            </a:extLst>
          </p:cNvPr>
          <p:cNvSpPr>
            <a:spLocks noGrp="1"/>
          </p:cNvSpPr>
          <p:nvPr/>
        </p:nvSpPr>
        <p:spPr>
          <a:xfrm>
            <a:off x="4251960" y="4000500"/>
            <a:ext cx="2331720" cy="609600"/>
          </a:xfrm>
          <a:prstGeom prst="rect">
            <a:avLst/>
          </a:prstGeom>
          <a:solidFill>
            <a:srgbClr val="EEF8FE"/>
          </a:solidFill>
          <a:ln w="19050">
            <a:solidFill>
              <a:srgbClr val="111111"/>
            </a:solidFill>
          </a:ln>
        </p:spPr>
        <p:txBody>
          <a:bodyPr/>
          <a:lstStyle/>
          <a:p>
            <a:endParaRPr lang="en-US"/>
          </a:p>
        </p:txBody>
      </p:sp>
      <p:sp>
        <p:nvSpPr>
          <p:cNvPr id="24" name="Diagram line">
            <a:extLst>
              <a:ext uri="{FF2B5EF4-FFF2-40B4-BE49-F238E27FC236}">
                <a16:creationId xmlns:a16="http://schemas.microsoft.com/office/drawing/2014/main" id="{2725E7AF-E0DA-46C5-8BE8-F181A7750F56}"/>
              </a:ext>
            </a:extLst>
          </p:cNvPr>
          <p:cNvSpPr>
            <a:spLocks noGrp="1"/>
          </p:cNvSpPr>
          <p:nvPr/>
        </p:nvSpPr>
        <p:spPr>
          <a:xfrm>
            <a:off x="5417820" y="4000500"/>
            <a:ext cx="9525" cy="609600"/>
          </a:xfrm>
          <a:custGeom>
            <a:avLst/>
            <a:gdLst/>
            <a:ahLst/>
            <a:cxnLst/>
            <a:rect l="0" t="0" r="0" b="0"/>
            <a:pathLst>
              <a:path w="9525" h="609600">
                <a:moveTo>
                  <a:pt x="0" y="0"/>
                </a:moveTo>
                <a:lnTo>
                  <a:pt x="0" y="609600"/>
                </a:lnTo>
              </a:path>
            </a:pathLst>
          </a:custGeom>
          <a:noFill/>
          <a:ln w="28575">
            <a:solidFill>
              <a:srgbClr val="D6171D"/>
            </a:solidFill>
          </a:ln>
        </p:spPr>
        <p:txBody>
          <a:bodyPr/>
          <a:lstStyle/>
          <a:p>
            <a:endParaRPr lang="en-US"/>
          </a:p>
        </p:txBody>
      </p:sp>
      <p:sp>
        <p:nvSpPr>
          <p:cNvPr id="25" name="Text">
            <a:extLst>
              <a:ext uri="{FF2B5EF4-FFF2-40B4-BE49-F238E27FC236}">
                <a16:creationId xmlns:a16="http://schemas.microsoft.com/office/drawing/2014/main" id="{2A4B58FF-0A3F-468F-BB06-041D5672DED7}"/>
              </a:ext>
            </a:extLst>
          </p:cNvPr>
          <p:cNvSpPr>
            <a:spLocks noGrp="1"/>
          </p:cNvSpPr>
          <p:nvPr/>
        </p:nvSpPr>
        <p:spPr>
          <a:xfrm>
            <a:off x="2362200" y="3429000"/>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Min 10</a:t>
            </a:r>
          </a:p>
        </p:txBody>
      </p:sp>
      <p:sp>
        <p:nvSpPr>
          <p:cNvPr id="26" name="Text">
            <a:extLst>
              <a:ext uri="{FF2B5EF4-FFF2-40B4-BE49-F238E27FC236}">
                <a16:creationId xmlns:a16="http://schemas.microsoft.com/office/drawing/2014/main" id="{74E99673-1540-4EBB-86CE-BFC75E2C1FE1}"/>
              </a:ext>
            </a:extLst>
          </p:cNvPr>
          <p:cNvSpPr>
            <a:spLocks noGrp="1"/>
          </p:cNvSpPr>
          <p:nvPr/>
        </p:nvSpPr>
        <p:spPr>
          <a:xfrm>
            <a:off x="3528060" y="3429000"/>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Q₁ 16</a:t>
            </a:r>
          </a:p>
        </p:txBody>
      </p:sp>
      <p:sp>
        <p:nvSpPr>
          <p:cNvPr id="27" name="Text">
            <a:extLst>
              <a:ext uri="{FF2B5EF4-FFF2-40B4-BE49-F238E27FC236}">
                <a16:creationId xmlns:a16="http://schemas.microsoft.com/office/drawing/2014/main" id="{A67A7222-9AF8-43F2-A3E5-3E9680A676F5}"/>
              </a:ext>
            </a:extLst>
          </p:cNvPr>
          <p:cNvSpPr>
            <a:spLocks noGrp="1"/>
          </p:cNvSpPr>
          <p:nvPr/>
        </p:nvSpPr>
        <p:spPr>
          <a:xfrm>
            <a:off x="4693920" y="3429000"/>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Median 22</a:t>
            </a:r>
          </a:p>
        </p:txBody>
      </p:sp>
      <p:sp>
        <p:nvSpPr>
          <p:cNvPr id="28" name="Text">
            <a:extLst>
              <a:ext uri="{FF2B5EF4-FFF2-40B4-BE49-F238E27FC236}">
                <a16:creationId xmlns:a16="http://schemas.microsoft.com/office/drawing/2014/main" id="{D5856234-EA88-42C4-8406-3E655CE5A540}"/>
              </a:ext>
            </a:extLst>
          </p:cNvPr>
          <p:cNvSpPr>
            <a:spLocks noGrp="1"/>
          </p:cNvSpPr>
          <p:nvPr/>
        </p:nvSpPr>
        <p:spPr>
          <a:xfrm>
            <a:off x="5859780" y="3429000"/>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Q₃ 28</a:t>
            </a:r>
          </a:p>
        </p:txBody>
      </p:sp>
      <p:sp>
        <p:nvSpPr>
          <p:cNvPr id="29" name="Text">
            <a:extLst>
              <a:ext uri="{FF2B5EF4-FFF2-40B4-BE49-F238E27FC236}">
                <a16:creationId xmlns:a16="http://schemas.microsoft.com/office/drawing/2014/main" id="{5AFBEE92-3390-4646-929A-DAD6B7C34B83}"/>
              </a:ext>
            </a:extLst>
          </p:cNvPr>
          <p:cNvSpPr>
            <a:spLocks noGrp="1"/>
          </p:cNvSpPr>
          <p:nvPr/>
        </p:nvSpPr>
        <p:spPr>
          <a:xfrm>
            <a:off x="7025640" y="3429000"/>
            <a:ext cx="1447800" cy="381000"/>
          </a:xfrm>
          <a:prstGeom prst="rect">
            <a:avLst/>
          </a:prstGeom>
          <a:noFill/>
          <a:ln w="0">
            <a:noFill/>
          </a:ln>
        </p:spPr>
        <p:txBody>
          <a:bodyPr wrap="square" lIns="0" tIns="0" rIns="0" bIns="0" anchor="t">
            <a:noAutofit/>
          </a:bodyPr>
          <a:lstStyle/>
          <a:p>
            <a:pPr algn="ctr">
              <a:buNone/>
              <a:defRPr sz="1875" b="1">
                <a:solidFill>
                  <a:srgbClr val="111111"/>
                </a:solidFill>
                <a:latin typeface="Aptos"/>
                <a:ea typeface="Aptos"/>
                <a:cs typeface="Aptos"/>
              </a:defRPr>
            </a:pPr>
            <a:r>
              <a:rPr sz="1875" b="1">
                <a:solidFill>
                  <a:srgbClr val="111111"/>
                </a:solidFill>
                <a:latin typeface="Aptos"/>
                <a:ea typeface="Aptos"/>
                <a:cs typeface="Aptos"/>
              </a:rPr>
              <a:t>Max 34</a:t>
            </a:r>
          </a:p>
        </p:txBody>
      </p:sp>
    </p:spTree>
    <p:extLst>
      <p:ext uri="{BB962C8B-B14F-4D97-AF65-F5344CB8AC3E}">
        <p14:creationId xmlns:p14="http://schemas.microsoft.com/office/powerpoint/2010/main" val="20967843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CE19B839-663D-4938-B8D9-5348958F43EF}"/>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Which graph answers the question?</a:t>
            </a:r>
          </a:p>
        </p:txBody>
      </p:sp>
      <p:sp>
        <p:nvSpPr>
          <p:cNvPr id="2" name="Text">
            <a:extLst>
              <a:ext uri="{FF2B5EF4-FFF2-40B4-BE49-F238E27FC236}">
                <a16:creationId xmlns:a16="http://schemas.microsoft.com/office/drawing/2014/main" id="{1EFB8816-BC62-4DF9-8BDF-B1A4CCFECC78}"/>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Choose a suitable graph and explain one choice.</a:t>
            </a:r>
          </a:p>
        </p:txBody>
      </p:sp>
      <p:sp>
        <p:nvSpPr>
          <p:cNvPr id="3" name="Rectangle 2">
            <a:extLst>
              <a:ext uri="{FF2B5EF4-FFF2-40B4-BE49-F238E27FC236}">
                <a16:creationId xmlns:a16="http://schemas.microsoft.com/office/drawing/2014/main" id="{9C99879A-3844-4B4A-B82D-ED2C8B177DA5}"/>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1316152D-B820-4354-B315-69EC92C26943}"/>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B9</a:t>
            </a:r>
          </a:p>
        </p:txBody>
      </p:sp>
      <p:graphicFrame>
        <p:nvGraphicFramePr>
          <p:cNvPr id="13" name="Table 12"/>
          <p:cNvGraphicFramePr/>
          <p:nvPr/>
        </p:nvGraphicFramePr>
        <p:xfrm>
          <a:off x="619125" y="2733675"/>
          <a:ext cx="10953750" cy="2800350"/>
        </p:xfrm>
        <a:graphic>
          <a:graphicData uri="http://schemas.openxmlformats.org/drawingml/2006/table">
            <a:tbl>
              <a:tblPr firstRow="1"/>
              <a:tblGrid>
                <a:gridCol w="847725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tblGrid>
              <a:tr h="400050">
                <a:tc>
                  <a:txBody>
                    <a:bodyPr/>
                    <a:lstStyle/>
                    <a:p>
                      <a:pPr algn="l">
                        <a:buNone/>
                      </a:pPr>
                      <a:r>
                        <a:rPr sz="1950" b="1">
                          <a:solidFill>
                            <a:srgbClr val="FFFFFF"/>
                          </a:solidFill>
                          <a:latin typeface="Aptos"/>
                          <a:ea typeface="Aptos"/>
                          <a:cs typeface="Aptos"/>
                        </a:rPr>
                        <a:t>Question</a:t>
                      </a:r>
                    </a:p>
                  </a:txBody>
                  <a:tcPr anchor="ctr">
                    <a:solidFill>
                      <a:srgbClr val="D6171D"/>
                    </a:solidFill>
                  </a:tcPr>
                </a:tc>
                <a:tc>
                  <a:txBody>
                    <a:bodyPr/>
                    <a:lstStyle/>
                    <a:p>
                      <a:pPr algn="ctr">
                        <a:buNone/>
                      </a:pPr>
                      <a:r>
                        <a:rPr sz="1950" b="1">
                          <a:solidFill>
                            <a:srgbClr val="FFFFFF"/>
                          </a:solidFill>
                          <a:latin typeface="Aptos"/>
                          <a:ea typeface="Aptos"/>
                          <a:cs typeface="Aptos"/>
                        </a:rPr>
                        <a:t>Your graph</a:t>
                      </a:r>
                    </a:p>
                  </a:txBody>
                  <a:tcPr anchor="ctr">
                    <a:solidFill>
                      <a:srgbClr val="D6171D"/>
                    </a:solidFill>
                  </a:tcPr>
                </a:tc>
                <a:extLst>
                  <a:ext uri="{0D108BD9-81ED-4DB2-BD59-A6C34878D82A}">
                    <a16:rowId xmlns:a16="http://schemas.microsoft.com/office/drawing/2014/main" val="10000"/>
                  </a:ext>
                </a:extLst>
              </a:tr>
              <a:tr h="400050">
                <a:tc>
                  <a:txBody>
                    <a:bodyPr/>
                    <a:lstStyle/>
                    <a:p>
                      <a:pPr algn="l">
                        <a:buNone/>
                      </a:pPr>
                      <a:r>
                        <a:rPr sz="1950" b="0">
                          <a:solidFill>
                            <a:srgbClr val="111111"/>
                          </a:solidFill>
                          <a:latin typeface="Aptos"/>
                          <a:ea typeface="Aptos"/>
                          <a:cs typeface="Aptos"/>
                        </a:rPr>
                        <a:t>Which drinks have the largest shares?</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1"/>
                  </a:ext>
                </a:extLst>
              </a:tr>
              <a:tr h="400050">
                <a:tc>
                  <a:txBody>
                    <a:bodyPr/>
                    <a:lstStyle/>
                    <a:p>
                      <a:pPr algn="l">
                        <a:buNone/>
                      </a:pPr>
                      <a:r>
                        <a:rPr sz="1950" b="0">
                          <a:solidFill>
                            <a:srgbClr val="111111"/>
                          </a:solidFill>
                          <a:latin typeface="Aptos"/>
                          <a:ea typeface="Aptos"/>
                          <a:cs typeface="Aptos"/>
                        </a:rPr>
                        <a:t>How many sessions fall in each sign-up interval?</a:t>
                      </a:r>
                    </a:p>
                  </a:txBody>
                  <a:tcPr anchor="ctr">
                    <a:solidFill>
                      <a:srgbClr val="EEF8FE"/>
                    </a:solidFill>
                  </a:tcPr>
                </a:tc>
                <a:tc>
                  <a:txBody>
                    <a:bodyPr/>
                    <a:lstStyle/>
                    <a:p>
                      <a:endParaRPr/>
                    </a:p>
                  </a:txBody>
                  <a:tcPr anchor="ctr">
                    <a:solidFill>
                      <a:srgbClr val="EEF8FE"/>
                    </a:solidFill>
                  </a:tcPr>
                </a:tc>
                <a:extLst>
                  <a:ext uri="{0D108BD9-81ED-4DB2-BD59-A6C34878D82A}">
                    <a16:rowId xmlns:a16="http://schemas.microsoft.com/office/drawing/2014/main" val="10002"/>
                  </a:ext>
                </a:extLst>
              </a:tr>
              <a:tr h="400050">
                <a:tc>
                  <a:txBody>
                    <a:bodyPr/>
                    <a:lstStyle/>
                    <a:p>
                      <a:pPr algn="l">
                        <a:buNone/>
                      </a:pPr>
                      <a:r>
                        <a:rPr sz="1950" b="0">
                          <a:solidFill>
                            <a:srgbClr val="111111"/>
                          </a:solidFill>
                          <a:latin typeface="Aptos"/>
                          <a:ea typeface="Aptos"/>
                          <a:cs typeface="Aptos"/>
                        </a:rPr>
                        <a:t>How do interval shares compare for two sample sizes?</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3"/>
                  </a:ext>
                </a:extLst>
              </a:tr>
              <a:tr h="400050">
                <a:tc>
                  <a:txBody>
                    <a:bodyPr/>
                    <a:lstStyle/>
                    <a:p>
                      <a:pPr algn="l">
                        <a:buNone/>
                      </a:pPr>
                      <a:r>
                        <a:rPr sz="1950" b="0">
                          <a:solidFill>
                            <a:srgbClr val="111111"/>
                          </a:solidFill>
                          <a:latin typeface="Aptos"/>
                          <a:ea typeface="Aptos"/>
                          <a:cs typeface="Aptos"/>
                        </a:rPr>
                        <a:t>What percentage had fewer than 30 sign-ups?</a:t>
                      </a:r>
                    </a:p>
                  </a:txBody>
                  <a:tcPr anchor="ctr">
                    <a:solidFill>
                      <a:srgbClr val="EEF8FE"/>
                    </a:solidFill>
                  </a:tcPr>
                </a:tc>
                <a:tc>
                  <a:txBody>
                    <a:bodyPr/>
                    <a:lstStyle/>
                    <a:p>
                      <a:endParaRPr/>
                    </a:p>
                  </a:txBody>
                  <a:tcPr anchor="ctr">
                    <a:solidFill>
                      <a:srgbClr val="EEF8FE"/>
                    </a:solidFill>
                  </a:tcPr>
                </a:tc>
                <a:extLst>
                  <a:ext uri="{0D108BD9-81ED-4DB2-BD59-A6C34878D82A}">
                    <a16:rowId xmlns:a16="http://schemas.microsoft.com/office/drawing/2014/main" val="10004"/>
                  </a:ext>
                </a:extLst>
              </a:tr>
              <a:tr h="400050">
                <a:tc>
                  <a:txBody>
                    <a:bodyPr/>
                    <a:lstStyle/>
                    <a:p>
                      <a:pPr algn="l">
                        <a:buNone/>
                      </a:pPr>
                      <a:r>
                        <a:rPr sz="1950" b="0">
                          <a:solidFill>
                            <a:srgbClr val="111111"/>
                          </a:solidFill>
                          <a:latin typeface="Aptos"/>
                          <a:ea typeface="Aptos"/>
                          <a:cs typeface="Aptos"/>
                        </a:rPr>
                        <a:t>How are advertising and sales related?</a:t>
                      </a:r>
                    </a:p>
                  </a:txBody>
                  <a:tcPr anchor="ctr">
                    <a:solidFill>
                      <a:srgbClr val="FFFFFF"/>
                    </a:solidFill>
                  </a:tcPr>
                </a:tc>
                <a:tc>
                  <a:txBody>
                    <a:bodyPr/>
                    <a:lstStyle/>
                    <a:p>
                      <a:endParaRPr/>
                    </a:p>
                  </a:txBody>
                  <a:tcPr anchor="ctr">
                    <a:solidFill>
                      <a:srgbClr val="FFFFFF"/>
                    </a:solidFill>
                  </a:tcPr>
                </a:tc>
                <a:extLst>
                  <a:ext uri="{0D108BD9-81ED-4DB2-BD59-A6C34878D82A}">
                    <a16:rowId xmlns:a16="http://schemas.microsoft.com/office/drawing/2014/main" val="10005"/>
                  </a:ext>
                </a:extLst>
              </a:tr>
              <a:tr h="400050">
                <a:tc>
                  <a:txBody>
                    <a:bodyPr/>
                    <a:lstStyle/>
                    <a:p>
                      <a:pPr algn="l">
                        <a:buNone/>
                      </a:pPr>
                      <a:r>
                        <a:rPr sz="1950" b="0">
                          <a:solidFill>
                            <a:srgbClr val="111111"/>
                          </a:solidFill>
                          <a:latin typeface="Aptos"/>
                          <a:ea typeface="Aptos"/>
                          <a:cs typeface="Aptos"/>
                        </a:rPr>
                        <a:t>Which delivery service has the lower median and IQR?</a:t>
                      </a:r>
                    </a:p>
                  </a:txBody>
                  <a:tcPr anchor="ctr">
                    <a:solidFill>
                      <a:srgbClr val="EEF8FE"/>
                    </a:solidFill>
                  </a:tcPr>
                </a:tc>
                <a:tc>
                  <a:txBody>
                    <a:bodyPr/>
                    <a:lstStyle/>
                    <a:p>
                      <a:endParaRPr/>
                    </a:p>
                  </a:txBody>
                  <a:tcPr anchor="ctr">
                    <a:solidFill>
                      <a:srgbClr val="EEF8FE"/>
                    </a:solidFill>
                  </a:tcPr>
                </a:tc>
                <a:extLst>
                  <a:ext uri="{0D108BD9-81ED-4DB2-BD59-A6C34878D82A}">
                    <a16:rowId xmlns:a16="http://schemas.microsoft.com/office/drawing/2014/main" val="10006"/>
                  </a:ext>
                </a:extLst>
              </a:tr>
            </a:tbl>
          </a:graphicData>
        </a:graphic>
      </p:graphicFrame>
      <p:sp>
        <p:nvSpPr>
          <p:cNvPr id="6" name="Text">
            <a:extLst>
              <a:ext uri="{FF2B5EF4-FFF2-40B4-BE49-F238E27FC236}">
                <a16:creationId xmlns:a16="http://schemas.microsoft.com/office/drawing/2014/main" id="{30D82D24-EA43-49A3-A80C-291048AC4BF3}"/>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3 minutes. Graph bank: bar/pie, histogram, relative-frequency polygon, ogive, scatterplot, boxplot.</a:t>
            </a:r>
          </a:p>
        </p:txBody>
      </p:sp>
    </p:spTree>
    <p:extLst>
      <p:ext uri="{BB962C8B-B14F-4D97-AF65-F5344CB8AC3E}">
        <p14:creationId xmlns:p14="http://schemas.microsoft.com/office/powerpoint/2010/main" val="83173773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title">
            <a:extLst>
              <a:ext uri="{FF2B5EF4-FFF2-40B4-BE49-F238E27FC236}">
                <a16:creationId xmlns:a16="http://schemas.microsoft.com/office/drawing/2014/main" id="{42FF7B8A-2EFE-4483-8D3C-71FB58EC5FE5}"/>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Graph choice: answers</a:t>
            </a:r>
          </a:p>
        </p:txBody>
      </p:sp>
      <p:sp>
        <p:nvSpPr>
          <p:cNvPr id="2" name="Text">
            <a:extLst>
              <a:ext uri="{FF2B5EF4-FFF2-40B4-BE49-F238E27FC236}">
                <a16:creationId xmlns:a16="http://schemas.microsoft.com/office/drawing/2014/main" id="{B1F2907A-1EC4-4ADE-807B-EDCE49245C56}"/>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The question determines which feature the graph must show.</a:t>
            </a:r>
          </a:p>
        </p:txBody>
      </p:sp>
      <p:sp>
        <p:nvSpPr>
          <p:cNvPr id="3" name="Rectangle 2">
            <a:extLst>
              <a:ext uri="{FF2B5EF4-FFF2-40B4-BE49-F238E27FC236}">
                <a16:creationId xmlns:a16="http://schemas.microsoft.com/office/drawing/2014/main" id="{0A01BFEF-1A6E-4E5F-B312-7B61376CAEED}"/>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3E8D6039-E0E6-4DFA-ADA2-D0CE26F97040}"/>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B9</a:t>
            </a:r>
          </a:p>
        </p:txBody>
      </p:sp>
      <p:graphicFrame>
        <p:nvGraphicFramePr>
          <p:cNvPr id="13" name="Table 12"/>
          <p:cNvGraphicFramePr/>
          <p:nvPr/>
        </p:nvGraphicFramePr>
        <p:xfrm>
          <a:off x="619125" y="2733675"/>
          <a:ext cx="10953750" cy="2800350"/>
        </p:xfrm>
        <a:graphic>
          <a:graphicData uri="http://schemas.openxmlformats.org/drawingml/2006/table">
            <a:tbl>
              <a:tblPr firstRow="1"/>
              <a:tblGrid>
                <a:gridCol w="6143625">
                  <a:extLst>
                    <a:ext uri="{9D8B030D-6E8A-4147-A177-3AD203B41FA5}">
                      <a16:colId xmlns:a16="http://schemas.microsoft.com/office/drawing/2014/main" val="20000"/>
                    </a:ext>
                  </a:extLst>
                </a:gridCol>
                <a:gridCol w="4810125">
                  <a:extLst>
                    <a:ext uri="{9D8B030D-6E8A-4147-A177-3AD203B41FA5}">
                      <a16:colId xmlns:a16="http://schemas.microsoft.com/office/drawing/2014/main" val="20001"/>
                    </a:ext>
                  </a:extLst>
                </a:gridCol>
              </a:tblGrid>
              <a:tr h="400050">
                <a:tc>
                  <a:txBody>
                    <a:bodyPr/>
                    <a:lstStyle/>
                    <a:p>
                      <a:pPr algn="l">
                        <a:buNone/>
                      </a:pPr>
                      <a:r>
                        <a:rPr sz="1950" b="1">
                          <a:solidFill>
                            <a:srgbClr val="FFFFFF"/>
                          </a:solidFill>
                          <a:latin typeface="Aptos"/>
                          <a:ea typeface="Aptos"/>
                          <a:cs typeface="Aptos"/>
                        </a:rPr>
                        <a:t>Question</a:t>
                      </a:r>
                    </a:p>
                  </a:txBody>
                  <a:tcPr anchor="ctr">
                    <a:solidFill>
                      <a:srgbClr val="D6171D"/>
                    </a:solidFill>
                  </a:tcPr>
                </a:tc>
                <a:tc>
                  <a:txBody>
                    <a:bodyPr/>
                    <a:lstStyle/>
                    <a:p>
                      <a:pPr algn="ctr">
                        <a:buNone/>
                      </a:pPr>
                      <a:r>
                        <a:rPr sz="1950" b="1">
                          <a:solidFill>
                            <a:srgbClr val="FFFFFF"/>
                          </a:solidFill>
                          <a:latin typeface="Aptos"/>
                          <a:ea typeface="Aptos"/>
                          <a:cs typeface="Aptos"/>
                        </a:rPr>
                        <a:t>Suitable graph</a:t>
                      </a:r>
                    </a:p>
                  </a:txBody>
                  <a:tcPr anchor="ctr">
                    <a:solidFill>
                      <a:srgbClr val="D6171D"/>
                    </a:solidFill>
                  </a:tcPr>
                </a:tc>
                <a:extLst>
                  <a:ext uri="{0D108BD9-81ED-4DB2-BD59-A6C34878D82A}">
                    <a16:rowId xmlns:a16="http://schemas.microsoft.com/office/drawing/2014/main" val="10000"/>
                  </a:ext>
                </a:extLst>
              </a:tr>
              <a:tr h="400050">
                <a:tc>
                  <a:txBody>
                    <a:bodyPr/>
                    <a:lstStyle/>
                    <a:p>
                      <a:pPr algn="l">
                        <a:buNone/>
                      </a:pPr>
                      <a:r>
                        <a:rPr sz="1950" b="0">
                          <a:solidFill>
                            <a:srgbClr val="111111"/>
                          </a:solidFill>
                          <a:latin typeface="Aptos"/>
                          <a:ea typeface="Aptos"/>
                          <a:cs typeface="Aptos"/>
                        </a:rPr>
                        <a:t>Shares of drink categories</a:t>
                      </a:r>
                    </a:p>
                  </a:txBody>
                  <a:tcPr anchor="ctr">
                    <a:solidFill>
                      <a:srgbClr val="FFFFFF"/>
                    </a:solidFill>
                  </a:tcPr>
                </a:tc>
                <a:tc>
                  <a:txBody>
                    <a:bodyPr/>
                    <a:lstStyle/>
                    <a:p>
                      <a:pPr algn="ctr">
                        <a:buNone/>
                      </a:pPr>
                      <a:r>
                        <a:rPr sz="1950" b="0">
                          <a:solidFill>
                            <a:srgbClr val="111111"/>
                          </a:solidFill>
                          <a:latin typeface="Aptos"/>
                          <a:ea typeface="Aptos"/>
                          <a:cs typeface="Aptos"/>
                        </a:rPr>
                        <a:t>Pie or percentage bar chart</a:t>
                      </a:r>
                    </a:p>
                  </a:txBody>
                  <a:tcPr anchor="ctr">
                    <a:solidFill>
                      <a:srgbClr val="FFFFFF"/>
                    </a:solidFill>
                  </a:tcPr>
                </a:tc>
                <a:extLst>
                  <a:ext uri="{0D108BD9-81ED-4DB2-BD59-A6C34878D82A}">
                    <a16:rowId xmlns:a16="http://schemas.microsoft.com/office/drawing/2014/main" val="10001"/>
                  </a:ext>
                </a:extLst>
              </a:tr>
              <a:tr h="400050">
                <a:tc>
                  <a:txBody>
                    <a:bodyPr/>
                    <a:lstStyle/>
                    <a:p>
                      <a:pPr algn="l">
                        <a:buNone/>
                      </a:pPr>
                      <a:r>
                        <a:rPr sz="1950" b="0">
                          <a:solidFill>
                            <a:srgbClr val="111111"/>
                          </a:solidFill>
                          <a:latin typeface="Aptos"/>
                          <a:ea typeface="Aptos"/>
                          <a:cs typeface="Aptos"/>
                        </a:rPr>
                        <a:t>Counts in numerical intervals</a:t>
                      </a:r>
                    </a:p>
                  </a:txBody>
                  <a:tcPr anchor="ctr">
                    <a:solidFill>
                      <a:srgbClr val="EEF8FE"/>
                    </a:solidFill>
                  </a:tcPr>
                </a:tc>
                <a:tc>
                  <a:txBody>
                    <a:bodyPr/>
                    <a:lstStyle/>
                    <a:p>
                      <a:pPr algn="ctr">
                        <a:buNone/>
                      </a:pPr>
                      <a:r>
                        <a:rPr sz="1950" b="0">
                          <a:solidFill>
                            <a:srgbClr val="111111"/>
                          </a:solidFill>
                          <a:latin typeface="Aptos"/>
                          <a:ea typeface="Aptos"/>
                          <a:cs typeface="Aptos"/>
                        </a:rPr>
                        <a:t>Histogram</a:t>
                      </a:r>
                    </a:p>
                  </a:txBody>
                  <a:tcPr anchor="ctr">
                    <a:solidFill>
                      <a:srgbClr val="EEF8FE"/>
                    </a:solidFill>
                  </a:tcPr>
                </a:tc>
                <a:extLst>
                  <a:ext uri="{0D108BD9-81ED-4DB2-BD59-A6C34878D82A}">
                    <a16:rowId xmlns:a16="http://schemas.microsoft.com/office/drawing/2014/main" val="10002"/>
                  </a:ext>
                </a:extLst>
              </a:tr>
              <a:tr h="400050">
                <a:tc>
                  <a:txBody>
                    <a:bodyPr/>
                    <a:lstStyle/>
                    <a:p>
                      <a:pPr algn="l">
                        <a:buNone/>
                      </a:pPr>
                      <a:r>
                        <a:rPr sz="1950" b="0">
                          <a:solidFill>
                            <a:srgbClr val="111111"/>
                          </a:solidFill>
                          <a:latin typeface="Aptos"/>
                          <a:ea typeface="Aptos"/>
                          <a:cs typeface="Aptos"/>
                        </a:rPr>
                        <a:t>Interval shares across sample sizes</a:t>
                      </a:r>
                    </a:p>
                  </a:txBody>
                  <a:tcPr anchor="ctr">
                    <a:solidFill>
                      <a:srgbClr val="FFFFFF"/>
                    </a:solidFill>
                  </a:tcPr>
                </a:tc>
                <a:tc>
                  <a:txBody>
                    <a:bodyPr/>
                    <a:lstStyle/>
                    <a:p>
                      <a:pPr algn="ctr">
                        <a:buNone/>
                      </a:pPr>
                      <a:r>
                        <a:rPr sz="1950" b="0">
                          <a:solidFill>
                            <a:srgbClr val="111111"/>
                          </a:solidFill>
                          <a:latin typeface="Aptos"/>
                          <a:ea typeface="Aptos"/>
                          <a:cs typeface="Aptos"/>
                        </a:rPr>
                        <a:t>Relative-frequency polygon</a:t>
                      </a:r>
                    </a:p>
                  </a:txBody>
                  <a:tcPr anchor="ctr">
                    <a:solidFill>
                      <a:srgbClr val="FFFFFF"/>
                    </a:solidFill>
                  </a:tcPr>
                </a:tc>
                <a:extLst>
                  <a:ext uri="{0D108BD9-81ED-4DB2-BD59-A6C34878D82A}">
                    <a16:rowId xmlns:a16="http://schemas.microsoft.com/office/drawing/2014/main" val="10003"/>
                  </a:ext>
                </a:extLst>
              </a:tr>
              <a:tr h="400050">
                <a:tc>
                  <a:txBody>
                    <a:bodyPr/>
                    <a:lstStyle/>
                    <a:p>
                      <a:pPr algn="l">
                        <a:buNone/>
                      </a:pPr>
                      <a:r>
                        <a:rPr sz="1950" b="0">
                          <a:solidFill>
                            <a:srgbClr val="111111"/>
                          </a:solidFill>
                          <a:latin typeface="Aptos"/>
                          <a:ea typeface="Aptos"/>
                          <a:cs typeface="Aptos"/>
                        </a:rPr>
                        <a:t>Percentage below a boundary</a:t>
                      </a:r>
                    </a:p>
                  </a:txBody>
                  <a:tcPr anchor="ctr">
                    <a:solidFill>
                      <a:srgbClr val="EEF8FE"/>
                    </a:solidFill>
                  </a:tcPr>
                </a:tc>
                <a:tc>
                  <a:txBody>
                    <a:bodyPr/>
                    <a:lstStyle/>
                    <a:p>
                      <a:pPr algn="ctr">
                        <a:buNone/>
                      </a:pPr>
                      <a:r>
                        <a:rPr sz="1950" b="0">
                          <a:solidFill>
                            <a:srgbClr val="111111"/>
                          </a:solidFill>
                          <a:latin typeface="Aptos"/>
                          <a:ea typeface="Aptos"/>
                          <a:cs typeface="Aptos"/>
                        </a:rPr>
                        <a:t>Ogive</a:t>
                      </a:r>
                    </a:p>
                  </a:txBody>
                  <a:tcPr anchor="ctr">
                    <a:solidFill>
                      <a:srgbClr val="EEF8FE"/>
                    </a:solidFill>
                  </a:tcPr>
                </a:tc>
                <a:extLst>
                  <a:ext uri="{0D108BD9-81ED-4DB2-BD59-A6C34878D82A}">
                    <a16:rowId xmlns:a16="http://schemas.microsoft.com/office/drawing/2014/main" val="10004"/>
                  </a:ext>
                </a:extLst>
              </a:tr>
              <a:tr h="400050">
                <a:tc>
                  <a:txBody>
                    <a:bodyPr/>
                    <a:lstStyle/>
                    <a:p>
                      <a:pPr algn="l">
                        <a:buNone/>
                      </a:pPr>
                      <a:r>
                        <a:rPr sz="1950" b="0">
                          <a:solidFill>
                            <a:srgbClr val="111111"/>
                          </a:solidFill>
                          <a:latin typeface="Aptos"/>
                          <a:ea typeface="Aptos"/>
                          <a:cs typeface="Aptos"/>
                        </a:rPr>
                        <a:t>Two numerical variables</a:t>
                      </a:r>
                    </a:p>
                  </a:txBody>
                  <a:tcPr anchor="ctr">
                    <a:solidFill>
                      <a:srgbClr val="FFFFFF"/>
                    </a:solidFill>
                  </a:tcPr>
                </a:tc>
                <a:tc>
                  <a:txBody>
                    <a:bodyPr/>
                    <a:lstStyle/>
                    <a:p>
                      <a:pPr algn="ctr">
                        <a:buNone/>
                      </a:pPr>
                      <a:r>
                        <a:rPr sz="1950" b="0">
                          <a:solidFill>
                            <a:srgbClr val="111111"/>
                          </a:solidFill>
                          <a:latin typeface="Aptos"/>
                          <a:ea typeface="Aptos"/>
                          <a:cs typeface="Aptos"/>
                        </a:rPr>
                        <a:t>Scatterplot</a:t>
                      </a:r>
                    </a:p>
                  </a:txBody>
                  <a:tcPr anchor="ctr">
                    <a:solidFill>
                      <a:srgbClr val="FFFFFF"/>
                    </a:solidFill>
                  </a:tcPr>
                </a:tc>
                <a:extLst>
                  <a:ext uri="{0D108BD9-81ED-4DB2-BD59-A6C34878D82A}">
                    <a16:rowId xmlns:a16="http://schemas.microsoft.com/office/drawing/2014/main" val="10005"/>
                  </a:ext>
                </a:extLst>
              </a:tr>
              <a:tr h="400050">
                <a:tc>
                  <a:txBody>
                    <a:bodyPr/>
                    <a:lstStyle/>
                    <a:p>
                      <a:pPr algn="l">
                        <a:buNone/>
                      </a:pPr>
                      <a:r>
                        <a:rPr sz="1950" b="0">
                          <a:solidFill>
                            <a:srgbClr val="111111"/>
                          </a:solidFill>
                          <a:latin typeface="Aptos"/>
                          <a:ea typeface="Aptos"/>
                          <a:cs typeface="Aptos"/>
                        </a:rPr>
                        <a:t>Comparison of median and IQR</a:t>
                      </a:r>
                    </a:p>
                  </a:txBody>
                  <a:tcPr anchor="ctr">
                    <a:solidFill>
                      <a:srgbClr val="EEF8FE"/>
                    </a:solidFill>
                  </a:tcPr>
                </a:tc>
                <a:tc>
                  <a:txBody>
                    <a:bodyPr/>
                    <a:lstStyle/>
                    <a:p>
                      <a:pPr algn="ctr">
                        <a:buNone/>
                      </a:pPr>
                      <a:r>
                        <a:rPr sz="1950" b="0">
                          <a:solidFill>
                            <a:srgbClr val="111111"/>
                          </a:solidFill>
                          <a:latin typeface="Aptos"/>
                          <a:ea typeface="Aptos"/>
                          <a:cs typeface="Aptos"/>
                        </a:rPr>
                        <a:t>Boxplot</a:t>
                      </a:r>
                    </a:p>
                  </a:txBody>
                  <a:tcPr anchor="ctr">
                    <a:solidFill>
                      <a:srgbClr val="EEF8FE"/>
                    </a:solidFill>
                  </a:tcPr>
                </a:tc>
                <a:extLst>
                  <a:ext uri="{0D108BD9-81ED-4DB2-BD59-A6C34878D82A}">
                    <a16:rowId xmlns:a16="http://schemas.microsoft.com/office/drawing/2014/main" val="10006"/>
                  </a:ext>
                </a:extLst>
              </a:tr>
            </a:tbl>
          </a:graphicData>
        </a:graphic>
      </p:graphicFrame>
      <p:sp>
        <p:nvSpPr>
          <p:cNvPr id="6" name="Text">
            <a:extLst>
              <a:ext uri="{FF2B5EF4-FFF2-40B4-BE49-F238E27FC236}">
                <a16:creationId xmlns:a16="http://schemas.microsoft.com/office/drawing/2014/main" id="{409E7C1F-3DA3-4D35-97C6-320090F6384D}"/>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A stem-and-leaf plot from Class A is useful when you want to preserve the individual values.</a:t>
            </a:r>
          </a:p>
        </p:txBody>
      </p:sp>
    </p:spTree>
    <p:extLst>
      <p:ext uri="{BB962C8B-B14F-4D97-AF65-F5344CB8AC3E}">
        <p14:creationId xmlns:p14="http://schemas.microsoft.com/office/powerpoint/2010/main" val="2766850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title">
            <a:extLst>
              <a:ext uri="{FF2B5EF4-FFF2-40B4-BE49-F238E27FC236}">
                <a16:creationId xmlns:a16="http://schemas.microsoft.com/office/drawing/2014/main" id="{D9F7B392-8C23-454D-B1B0-E7DC4A57F886}"/>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Three final checks</a:t>
            </a:r>
          </a:p>
        </p:txBody>
      </p:sp>
      <p:sp>
        <p:nvSpPr>
          <p:cNvPr id="2" name="Text">
            <a:extLst>
              <a:ext uri="{FF2B5EF4-FFF2-40B4-BE49-F238E27FC236}">
                <a16:creationId xmlns:a16="http://schemas.microsoft.com/office/drawing/2014/main" id="{35E3FECD-02BF-47C9-8032-4A9D78E93C25}"/>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Explain the reason as well as the answer.</a:t>
            </a:r>
          </a:p>
        </p:txBody>
      </p:sp>
      <p:sp>
        <p:nvSpPr>
          <p:cNvPr id="3" name="Rectangle 2">
            <a:extLst>
              <a:ext uri="{FF2B5EF4-FFF2-40B4-BE49-F238E27FC236}">
                <a16:creationId xmlns:a16="http://schemas.microsoft.com/office/drawing/2014/main" id="{FCC6A5AB-24DA-44AB-8CC9-8455D97B6D72}"/>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F713F013-03F0-48C7-8650-7C8CD1E85F1C}"/>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B10</a:t>
            </a:r>
          </a:p>
        </p:txBody>
      </p:sp>
      <p:sp>
        <p:nvSpPr>
          <p:cNvPr id="5" name="Text">
            <a:extLst>
              <a:ext uri="{FF2B5EF4-FFF2-40B4-BE49-F238E27FC236}">
                <a16:creationId xmlns:a16="http://schemas.microsoft.com/office/drawing/2014/main" id="{5B965A42-D8ED-40F8-8793-86D34992EEC7}"/>
              </a:ext>
            </a:extLst>
          </p:cNvPr>
          <p:cNvSpPr>
            <a:spLocks noGrp="1"/>
          </p:cNvSpPr>
          <p:nvPr/>
        </p:nvSpPr>
        <p:spPr>
          <a:xfrm>
            <a:off x="619125" y="2895600"/>
            <a:ext cx="10906125" cy="895350"/>
          </a:xfrm>
          <a:prstGeom prst="rect">
            <a:avLst/>
          </a:prstGeom>
          <a:noFill/>
          <a:ln w="0">
            <a:noFill/>
          </a:ln>
        </p:spPr>
        <p:txBody>
          <a:bodyPr wrap="square" lIns="0" tIns="0" rIns="0" bIns="0" anchor="t">
            <a:noAutofit/>
          </a:bodyPr>
          <a:lstStyle/>
          <a:p>
            <a:pPr algn="l">
              <a:buNone/>
              <a:defRPr sz="2475" b="0">
                <a:solidFill>
                  <a:srgbClr val="111111"/>
                </a:solidFill>
                <a:latin typeface="Aptos"/>
                <a:ea typeface="Aptos"/>
                <a:cs typeface="Aptos"/>
              </a:defRPr>
            </a:pPr>
            <a:r>
              <a:rPr sz="2475" b="0">
                <a:solidFill>
                  <a:srgbClr val="111111"/>
                </a:solidFill>
                <a:latin typeface="Aptos"/>
                <a:ea typeface="Aptos"/>
                <a:cs typeface="Aptos"/>
              </a:rPr>
              <a:t>1. For 20 ≤ x &lt; 30, which x-value belongs on a polygon?</a:t>
            </a:r>
          </a:p>
          <a:p>
            <a:pPr algn="l">
              <a:buNone/>
              <a:defRPr sz="2475" b="0">
                <a:solidFill>
                  <a:srgbClr val="111111"/>
                </a:solidFill>
                <a:latin typeface="Aptos"/>
                <a:ea typeface="Aptos"/>
                <a:cs typeface="Aptos"/>
              </a:defRPr>
            </a:pPr>
            <a:r>
              <a:rPr sz="2475" b="0">
                <a:solidFill>
                  <a:srgbClr val="111111"/>
                </a:solidFill>
                <a:latin typeface="Aptos"/>
                <a:ea typeface="Aptos"/>
                <a:cs typeface="Aptos"/>
              </a:rPr>
              <a:t>    Which x-value belongs on an ogive?</a:t>
            </a:r>
          </a:p>
        </p:txBody>
      </p:sp>
      <p:sp>
        <p:nvSpPr>
          <p:cNvPr id="6" name="Text">
            <a:extLst>
              <a:ext uri="{FF2B5EF4-FFF2-40B4-BE49-F238E27FC236}">
                <a16:creationId xmlns:a16="http://schemas.microsoft.com/office/drawing/2014/main" id="{7C6DFBE2-CC56-4D9C-BEDD-A534D5292146}"/>
              </a:ext>
            </a:extLst>
          </p:cNvPr>
          <p:cNvSpPr>
            <a:spLocks noGrp="1"/>
          </p:cNvSpPr>
          <p:nvPr/>
        </p:nvSpPr>
        <p:spPr>
          <a:xfrm>
            <a:off x="619125" y="3867150"/>
            <a:ext cx="10906125" cy="895350"/>
          </a:xfrm>
          <a:prstGeom prst="rect">
            <a:avLst/>
          </a:prstGeom>
          <a:noFill/>
          <a:ln w="0">
            <a:noFill/>
          </a:ln>
        </p:spPr>
        <p:txBody>
          <a:bodyPr wrap="square" lIns="0" tIns="0" rIns="0" bIns="0" anchor="t">
            <a:noAutofit/>
          </a:bodyPr>
          <a:lstStyle/>
          <a:p>
            <a:pPr algn="l">
              <a:buNone/>
              <a:defRPr sz="2475" b="0">
                <a:solidFill>
                  <a:srgbClr val="111111"/>
                </a:solidFill>
                <a:latin typeface="Aptos"/>
                <a:ea typeface="Aptos"/>
                <a:cs typeface="Aptos"/>
              </a:defRPr>
            </a:pPr>
            <a:r>
              <a:rPr sz="2475" b="0">
                <a:solidFill>
                  <a:srgbClr val="111111"/>
                </a:solidFill>
                <a:latin typeface="Aptos"/>
                <a:ea typeface="Aptos"/>
                <a:cs typeface="Aptos"/>
              </a:rPr>
              <a:t>2. 18 sessions are below 40 and 12 are below 30.</a:t>
            </a:r>
          </a:p>
          <a:p>
            <a:pPr algn="l">
              <a:buNone/>
              <a:defRPr sz="2475" b="0">
                <a:solidFill>
                  <a:srgbClr val="111111"/>
                </a:solidFill>
                <a:latin typeface="Aptos"/>
                <a:ea typeface="Aptos"/>
                <a:cs typeface="Aptos"/>
              </a:defRPr>
            </a:pPr>
            <a:r>
              <a:rPr sz="2475" b="0">
                <a:solidFill>
                  <a:srgbClr val="111111"/>
                </a:solidFill>
                <a:latin typeface="Aptos"/>
                <a:ea typeface="Aptos"/>
                <a:cs typeface="Aptos"/>
              </a:rPr>
              <a:t>    How many are in 30 ≤ x &lt; 40?</a:t>
            </a:r>
          </a:p>
        </p:txBody>
      </p:sp>
      <p:sp>
        <p:nvSpPr>
          <p:cNvPr id="7" name="Text">
            <a:extLst>
              <a:ext uri="{FF2B5EF4-FFF2-40B4-BE49-F238E27FC236}">
                <a16:creationId xmlns:a16="http://schemas.microsoft.com/office/drawing/2014/main" id="{77430FE9-3498-47A8-A79C-9BA0CE027D21}"/>
              </a:ext>
            </a:extLst>
          </p:cNvPr>
          <p:cNvSpPr>
            <a:spLocks noGrp="1"/>
          </p:cNvSpPr>
          <p:nvPr/>
        </p:nvSpPr>
        <p:spPr>
          <a:xfrm>
            <a:off x="619125" y="4838700"/>
            <a:ext cx="10906125" cy="895350"/>
          </a:xfrm>
          <a:prstGeom prst="rect">
            <a:avLst/>
          </a:prstGeom>
          <a:noFill/>
          <a:ln w="0">
            <a:noFill/>
          </a:ln>
        </p:spPr>
        <p:txBody>
          <a:bodyPr wrap="square" lIns="0" tIns="0" rIns="0" bIns="0" anchor="t">
            <a:noAutofit/>
          </a:bodyPr>
          <a:lstStyle/>
          <a:p>
            <a:pPr algn="l">
              <a:buNone/>
              <a:defRPr sz="2475" b="0">
                <a:solidFill>
                  <a:srgbClr val="111111"/>
                </a:solidFill>
                <a:latin typeface="Aptos"/>
                <a:ea typeface="Aptos"/>
                <a:cs typeface="Aptos"/>
              </a:defRPr>
            </a:pPr>
            <a:r>
              <a:rPr sz="2475" b="0">
                <a:solidFill>
                  <a:srgbClr val="111111"/>
                </a:solidFill>
                <a:latin typeface="Aptos"/>
                <a:ea typeface="Aptos"/>
                <a:cs typeface="Aptos"/>
              </a:rPr>
              <a:t>3. Does a positive scatterplot prove that x causes y?</a:t>
            </a:r>
          </a:p>
        </p:txBody>
      </p:sp>
      <p:sp>
        <p:nvSpPr>
          <p:cNvPr id="8" name="Text">
            <a:extLst>
              <a:ext uri="{FF2B5EF4-FFF2-40B4-BE49-F238E27FC236}">
                <a16:creationId xmlns:a16="http://schemas.microsoft.com/office/drawing/2014/main" id="{A2630C5B-FFE7-4090-9801-6D9397196866}"/>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2 minutes. Use the graph’s purpose to explain question 1.</a:t>
            </a:r>
          </a:p>
        </p:txBody>
      </p:sp>
    </p:spTree>
    <p:extLst>
      <p:ext uri="{BB962C8B-B14F-4D97-AF65-F5344CB8AC3E}">
        <p14:creationId xmlns:p14="http://schemas.microsoft.com/office/powerpoint/2010/main" val="11979721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title">
            <a:extLst>
              <a:ext uri="{FF2B5EF4-FFF2-40B4-BE49-F238E27FC236}">
                <a16:creationId xmlns:a16="http://schemas.microsoft.com/office/drawing/2014/main" id="{D5617ED9-0B6F-4A52-9DEB-143D9C6A35F8}"/>
              </a:ext>
            </a:extLst>
          </p:cNvPr>
          <p:cNvSpPr>
            <a:spLocks noGrp="1"/>
          </p:cNvSpPr>
          <p:nvPr/>
        </p:nvSpPr>
        <p:spPr>
          <a:xfrm>
            <a:off x="430816" y="1023080"/>
            <a:ext cx="11049000" cy="781050"/>
          </a:xfrm>
          <a:prstGeom prst="rect">
            <a:avLst/>
          </a:prstGeom>
          <a:noFill/>
          <a:ln w="0">
            <a:noFill/>
          </a:ln>
        </p:spPr>
        <p:txBody>
          <a:bodyPr wrap="square" lIns="0" tIns="0" rIns="0" bIns="0" anchor="t">
            <a:noAutofit/>
          </a:bodyPr>
          <a:lstStyle/>
          <a:p>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Answers and post-class practice</a:t>
            </a:r>
          </a:p>
        </p:txBody>
      </p:sp>
      <p:sp>
        <p:nvSpPr>
          <p:cNvPr id="2" name="Text">
            <a:extLst>
              <a:ext uri="{FF2B5EF4-FFF2-40B4-BE49-F238E27FC236}">
                <a16:creationId xmlns:a16="http://schemas.microsoft.com/office/drawing/2014/main" id="{CAD78A60-9765-46F8-8032-18F2B826EB0A}"/>
              </a:ext>
            </a:extLst>
          </p:cNvPr>
          <p:cNvSpPr>
            <a:spLocks noGrp="1"/>
          </p:cNvSpPr>
          <p:nvPr/>
        </p:nvSpPr>
        <p:spPr>
          <a:xfrm>
            <a:off x="523875" y="2000250"/>
            <a:ext cx="11049000" cy="714375"/>
          </a:xfrm>
          <a:prstGeom prst="rect">
            <a:avLst/>
          </a:prstGeom>
          <a:noFill/>
          <a:ln w="0">
            <a:noFill/>
          </a:ln>
        </p:spPr>
        <p:txBody>
          <a:bodyPr wrap="square" lIns="0" tIns="0" rIns="0" bIns="0" anchor="t">
            <a:noAutofit/>
          </a:bodyPr>
          <a:lstStyle/>
          <a:p>
            <a:pPr algn="l">
              <a:buNone/>
              <a:defRPr sz="2400" b="1">
                <a:solidFill>
                  <a:srgbClr val="111111"/>
                </a:solidFill>
                <a:latin typeface="Aptos"/>
                <a:ea typeface="Aptos"/>
                <a:cs typeface="Aptos"/>
              </a:defRPr>
            </a:pPr>
            <a:r>
              <a:rPr sz="2400" b="1">
                <a:solidFill>
                  <a:srgbClr val="111111"/>
                </a:solidFill>
                <a:latin typeface="Aptos"/>
                <a:ea typeface="Aptos"/>
                <a:cs typeface="Aptos"/>
              </a:rPr>
              <a:t>Keep your graphs together so you can compare what each one shows.</a:t>
            </a:r>
          </a:p>
        </p:txBody>
      </p:sp>
      <p:sp>
        <p:nvSpPr>
          <p:cNvPr id="3" name="Rectangle 2">
            <a:extLst>
              <a:ext uri="{FF2B5EF4-FFF2-40B4-BE49-F238E27FC236}">
                <a16:creationId xmlns:a16="http://schemas.microsoft.com/office/drawing/2014/main" id="{9DCB1624-7983-4AF9-A6B0-D409A4D6953D}"/>
              </a:ext>
            </a:extLst>
          </p:cNvPr>
          <p:cNvSpPr>
            <a:spLocks noGrp="1"/>
          </p:cNvSpPr>
          <p:nvPr/>
        </p:nvSpPr>
        <p:spPr>
          <a:xfrm>
            <a:off x="9810750" y="457200"/>
            <a:ext cx="1762125" cy="361950"/>
          </a:xfrm>
          <a:prstGeom prst="rect">
            <a:avLst/>
          </a:prstGeom>
          <a:solidFill>
            <a:srgbClr val="D6171D"/>
          </a:solidFill>
          <a:ln w="0">
            <a:noFill/>
          </a:ln>
        </p:spPr>
        <p:txBody>
          <a:bodyPr/>
          <a:lstStyle/>
          <a:p>
            <a:endParaRPr lang="en-US"/>
          </a:p>
        </p:txBody>
      </p:sp>
      <p:sp>
        <p:nvSpPr>
          <p:cNvPr id="4" name="Text">
            <a:extLst>
              <a:ext uri="{FF2B5EF4-FFF2-40B4-BE49-F238E27FC236}">
                <a16:creationId xmlns:a16="http://schemas.microsoft.com/office/drawing/2014/main" id="{6419FBA1-6142-413D-84FD-C4F9330A493F}"/>
              </a:ext>
            </a:extLst>
          </p:cNvPr>
          <p:cNvSpPr>
            <a:spLocks noGrp="1"/>
          </p:cNvSpPr>
          <p:nvPr/>
        </p:nvSpPr>
        <p:spPr>
          <a:xfrm>
            <a:off x="9867900" y="457200"/>
            <a:ext cx="1647825" cy="361950"/>
          </a:xfrm>
          <a:prstGeom prst="rect">
            <a:avLst/>
          </a:prstGeom>
          <a:noFill/>
          <a:ln w="0">
            <a:noFill/>
          </a:ln>
        </p:spPr>
        <p:txBody>
          <a:bodyPr wrap="none" lIns="0" tIns="0" rIns="0" bIns="0" anchor="ctr">
            <a:noAutofit/>
          </a:bodyPr>
          <a:lstStyle/>
          <a:p>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B10</a:t>
            </a:r>
          </a:p>
        </p:txBody>
      </p:sp>
      <p:sp>
        <p:nvSpPr>
          <p:cNvPr id="5" name="Text">
            <a:extLst>
              <a:ext uri="{FF2B5EF4-FFF2-40B4-BE49-F238E27FC236}">
                <a16:creationId xmlns:a16="http://schemas.microsoft.com/office/drawing/2014/main" id="{0B208EFE-A53F-404C-880A-7133F5CFF4E7}"/>
              </a:ext>
            </a:extLst>
          </p:cNvPr>
          <p:cNvSpPr>
            <a:spLocks noGrp="1"/>
          </p:cNvSpPr>
          <p:nvPr/>
        </p:nvSpPr>
        <p:spPr>
          <a:xfrm>
            <a:off x="619125" y="2876550"/>
            <a:ext cx="10906125" cy="61912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1. Polygon: midpoint 25.  Ogive: upper boundary 30.</a:t>
            </a:r>
          </a:p>
        </p:txBody>
      </p:sp>
      <p:sp>
        <p:nvSpPr>
          <p:cNvPr id="6" name="Text">
            <a:extLst>
              <a:ext uri="{FF2B5EF4-FFF2-40B4-BE49-F238E27FC236}">
                <a16:creationId xmlns:a16="http://schemas.microsoft.com/office/drawing/2014/main" id="{EAB3E3A8-609E-41DA-B0B2-105206180507}"/>
              </a:ext>
            </a:extLst>
          </p:cNvPr>
          <p:cNvSpPr>
            <a:spLocks noGrp="1"/>
          </p:cNvSpPr>
          <p:nvPr/>
        </p:nvSpPr>
        <p:spPr>
          <a:xfrm>
            <a:off x="619125" y="3571875"/>
            <a:ext cx="10906125" cy="61912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2. 18 − 12 = 6 sessions.</a:t>
            </a:r>
          </a:p>
        </p:txBody>
      </p:sp>
      <p:sp>
        <p:nvSpPr>
          <p:cNvPr id="7" name="Text">
            <a:extLst>
              <a:ext uri="{FF2B5EF4-FFF2-40B4-BE49-F238E27FC236}">
                <a16:creationId xmlns:a16="http://schemas.microsoft.com/office/drawing/2014/main" id="{6D6CB752-4AE0-4AB4-8BAC-0FE530EB8EBB}"/>
              </a:ext>
            </a:extLst>
          </p:cNvPr>
          <p:cNvSpPr>
            <a:spLocks noGrp="1"/>
          </p:cNvSpPr>
          <p:nvPr/>
        </p:nvSpPr>
        <p:spPr>
          <a:xfrm>
            <a:off x="619125" y="4267200"/>
            <a:ext cx="10906125" cy="619125"/>
          </a:xfrm>
          <a:prstGeom prst="rect">
            <a:avLst/>
          </a:prstGeom>
          <a:noFill/>
          <a:ln w="0">
            <a:noFill/>
          </a:ln>
        </p:spPr>
        <p:txBody>
          <a:bodyPr wrap="square" lIns="0" tIns="0" rIns="0" bIns="0" anchor="t">
            <a:noAutofit/>
          </a:bodyPr>
          <a:lstStyle/>
          <a:p>
            <a:pPr algn="l">
              <a:buNone/>
              <a:defRPr sz="2550" b="0">
                <a:solidFill>
                  <a:srgbClr val="111111"/>
                </a:solidFill>
                <a:latin typeface="Aptos"/>
                <a:ea typeface="Aptos"/>
                <a:cs typeface="Aptos"/>
              </a:defRPr>
            </a:pPr>
            <a:r>
              <a:rPr sz="2550" b="0">
                <a:solidFill>
                  <a:srgbClr val="111111"/>
                </a:solidFill>
                <a:latin typeface="Aptos"/>
                <a:ea typeface="Aptos"/>
                <a:cs typeface="Aptos"/>
              </a:rPr>
              <a:t>3. No. Association alone does not prove causation.</a:t>
            </a:r>
          </a:p>
        </p:txBody>
      </p:sp>
      <p:sp>
        <p:nvSpPr>
          <p:cNvPr id="8" name="Text">
            <a:extLst>
              <a:ext uri="{FF2B5EF4-FFF2-40B4-BE49-F238E27FC236}">
                <a16:creationId xmlns:a16="http://schemas.microsoft.com/office/drawing/2014/main" id="{BE3AA2DA-3408-4E13-BD34-150282CF0FAF}"/>
              </a:ext>
            </a:extLst>
          </p:cNvPr>
          <p:cNvSpPr>
            <a:spLocks noGrp="1"/>
          </p:cNvSpPr>
          <p:nvPr/>
        </p:nvSpPr>
        <p:spPr>
          <a:xfrm>
            <a:off x="619125" y="5105400"/>
            <a:ext cx="10906125" cy="419100"/>
          </a:xfrm>
          <a:prstGeom prst="rect">
            <a:avLst/>
          </a:prstGeom>
          <a:noFill/>
          <a:ln w="0">
            <a:noFill/>
          </a:ln>
        </p:spPr>
        <p:txBody>
          <a:bodyPr wrap="square" lIns="0" tIns="0" rIns="0" bIns="0" anchor="t">
            <a:noAutofit/>
          </a:bodyPr>
          <a:lstStyle/>
          <a:p>
            <a:pPr algn="l">
              <a:buNone/>
              <a:defRPr sz="2325" b="1">
                <a:solidFill>
                  <a:srgbClr val="111111"/>
                </a:solidFill>
                <a:latin typeface="Aptos"/>
                <a:ea typeface="Aptos"/>
                <a:cs typeface="Aptos"/>
              </a:defRPr>
            </a:pPr>
            <a:r>
              <a:rPr sz="2325" b="1">
                <a:solidFill>
                  <a:srgbClr val="111111"/>
                </a:solidFill>
                <a:latin typeface="Aptos"/>
                <a:ea typeface="Aptos"/>
                <a:cs typeface="Aptos"/>
              </a:rPr>
              <a:t>After class</a:t>
            </a:r>
          </a:p>
        </p:txBody>
      </p:sp>
      <p:sp>
        <p:nvSpPr>
          <p:cNvPr id="9" name="Text">
            <a:extLst>
              <a:ext uri="{FF2B5EF4-FFF2-40B4-BE49-F238E27FC236}">
                <a16:creationId xmlns:a16="http://schemas.microsoft.com/office/drawing/2014/main" id="{BF4743B6-FBA5-4549-9344-0D80C5CA1D4B}"/>
              </a:ext>
            </a:extLst>
          </p:cNvPr>
          <p:cNvSpPr>
            <a:spLocks noGrp="1"/>
          </p:cNvSpPr>
          <p:nvPr/>
        </p:nvSpPr>
        <p:spPr>
          <a:xfrm>
            <a:off x="619125" y="5562600"/>
            <a:ext cx="10906125" cy="466725"/>
          </a:xfrm>
          <a:prstGeom prst="rect">
            <a:avLst/>
          </a:prstGeom>
          <a:noFill/>
          <a:ln w="0">
            <a:noFill/>
          </a:ln>
        </p:spPr>
        <p:txBody>
          <a:bodyPr wrap="square" lIns="0" tIns="0" rIns="0" bIns="0" anchor="t">
            <a:noAutofit/>
          </a:bodyPr>
          <a:lstStyle/>
          <a:p>
            <a:pPr algn="l">
              <a:buNone/>
              <a:defRPr sz="2100" b="0">
                <a:solidFill>
                  <a:srgbClr val="111111"/>
                </a:solidFill>
                <a:latin typeface="Aptos"/>
                <a:ea typeface="Aptos"/>
                <a:cs typeface="Aptos"/>
              </a:defRPr>
            </a:pPr>
            <a:r>
              <a:rPr sz="2100" b="0">
                <a:solidFill>
                  <a:srgbClr val="111111"/>
                </a:solidFill>
                <a:latin typeface="Aptos"/>
                <a:ea typeface="Aptos"/>
                <a:cs typeface="Aptos"/>
              </a:rPr>
              <a:t>Seminar 1: campaign (c–f).  Seminar 2: box plot and graph comparison.</a:t>
            </a:r>
          </a:p>
        </p:txBody>
      </p:sp>
      <p:sp>
        <p:nvSpPr>
          <p:cNvPr id="10" name="Text">
            <a:extLst>
              <a:ext uri="{FF2B5EF4-FFF2-40B4-BE49-F238E27FC236}">
                <a16:creationId xmlns:a16="http://schemas.microsoft.com/office/drawing/2014/main" id="{CB1857D1-2D8B-4420-BA56-2B2567C35AEE}"/>
              </a:ext>
            </a:extLst>
          </p:cNvPr>
          <p:cNvSpPr>
            <a:spLocks noGrp="1"/>
          </p:cNvSpPr>
          <p:nvPr/>
        </p:nvSpPr>
        <p:spPr>
          <a:xfrm>
            <a:off x="523875" y="5953125"/>
            <a:ext cx="11049000" cy="304800"/>
          </a:xfrm>
          <a:prstGeom prst="rect">
            <a:avLst/>
          </a:prstGeom>
          <a:noFill/>
          <a:ln w="0">
            <a:noFill/>
          </a:ln>
        </p:spPr>
        <p:txBody>
          <a:bodyPr wrap="square" lIns="0" tIns="0" rIns="0" bIns="0" anchor="t">
            <a:noAutofit/>
          </a:bodyPr>
          <a:lstStyle/>
          <a:p>
            <a:pPr algn="l">
              <a:buNone/>
              <a:defRPr sz="1575" b="0">
                <a:solidFill>
                  <a:srgbClr val="111111"/>
                </a:solidFill>
                <a:latin typeface="Aptos"/>
                <a:ea typeface="Aptos"/>
                <a:cs typeface="Aptos"/>
              </a:defRPr>
            </a:pPr>
            <a:r>
              <a:rPr sz="1575" b="0">
                <a:solidFill>
                  <a:srgbClr val="111111"/>
                </a:solidFill>
                <a:latin typeface="Aptos"/>
                <a:ea typeface="Aptos"/>
                <a:cs typeface="Aptos"/>
              </a:rPr>
              <a:t>The Seminar 2 advertising–sales scatter task was today’s B6/B7 activity.</a:t>
            </a:r>
          </a:p>
        </p:txBody>
      </p:sp>
    </p:spTree>
    <p:extLst>
      <p:ext uri="{BB962C8B-B14F-4D97-AF65-F5344CB8AC3E}">
        <p14:creationId xmlns:p14="http://schemas.microsoft.com/office/powerpoint/2010/main" val="1706508644"/>
      </p:ext>
    </p:extLst>
  </p:cSld>
  <p:clrMapOvr>
    <a:masterClrMapping/>
  </p:clrMapOvr>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14878</Words>
  <Application>Microsoft Office PowerPoint</Application>
  <DocSecurity>0</DocSecurity>
  <PresentationFormat>Widescreen</PresentationFormat>
  <Paragraphs>1233</Paragraphs>
  <Slides>62</Slides>
  <Notes>62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62</vt:i4>
      </vt:variant>
    </vt:vector>
  </HeadingPairs>
  <TitlesOfParts>
    <vt:vector size="6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Jacob Mlynarski</cp:lastModifiedBy>
  <cp:revision>1</cp:revision>
  <dcterms:created xsi:type="dcterms:W3CDTF">2026-09-10T08:45:22Z</dcterms:created>
  <dcterms:modified xsi:type="dcterms:W3CDTF">2026-09-11T02:24:18Z</dcterms:modified>
</cp:coreProperties>
</file>