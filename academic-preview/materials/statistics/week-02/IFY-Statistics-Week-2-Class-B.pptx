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rts/chart1.xml" ContentType="application/vnd.openxmlformats-officedocument.drawingml.chart+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306"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32E32B-6CF1-4B73-9571-F20323961DBD}" v="1" dt="2026-09-22T14:29:00.3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4" d="100"/>
          <a:sy n="144" d="100"/>
        </p:scale>
        <p:origin x="312"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ob Mlynarski" userId="5c8c5ce1edfe4dd6" providerId="LiveId" clId="{EA34CD77-B017-48F4-80DC-E98A38773462}"/>
    <pc:docChg chg="undo custSel addSld modSld sldOrd">
      <pc:chgData name="Jacob Mlynarski" userId="5c8c5ce1edfe4dd6" providerId="LiveId" clId="{EA34CD77-B017-48F4-80DC-E98A38773462}" dt="2026-09-22T14:29:10.708" v="22"/>
      <pc:docMkLst>
        <pc:docMk/>
      </pc:docMkLst>
      <pc:sldChg chg="modSp mod">
        <pc:chgData name="Jacob Mlynarski" userId="5c8c5ce1edfe4dd6" providerId="LiveId" clId="{EA34CD77-B017-48F4-80DC-E98A38773462}" dt="2026-09-22T13:36:40.700" v="6" actId="179"/>
        <pc:sldMkLst>
          <pc:docMk/>
          <pc:sldMk cId="3281361232" sldId="274"/>
        </pc:sldMkLst>
        <pc:spChg chg="mod">
          <ac:chgData name="Jacob Mlynarski" userId="5c8c5ce1edfe4dd6" providerId="LiveId" clId="{EA34CD77-B017-48F4-80DC-E98A38773462}" dt="2026-09-22T13:36:40.700" v="6" actId="179"/>
          <ac:spMkLst>
            <pc:docMk/>
            <pc:sldMk cId="3281361232" sldId="274"/>
            <ac:spMk id="5" creationId="{17717F0F-B1A4-49BC-AF7D-D91A15E3B6C2}"/>
          </ac:spMkLst>
        </pc:spChg>
      </pc:sldChg>
      <pc:sldChg chg="ord">
        <pc:chgData name="Jacob Mlynarski" userId="5c8c5ce1edfe4dd6" providerId="LiveId" clId="{EA34CD77-B017-48F4-80DC-E98A38773462}" dt="2026-09-22T14:29:04.380" v="20"/>
        <pc:sldMkLst>
          <pc:docMk/>
          <pc:sldMk cId="3281361232" sldId="284"/>
        </pc:sldMkLst>
      </pc:sldChg>
      <pc:sldChg chg="ord">
        <pc:chgData name="Jacob Mlynarski" userId="5c8c5ce1edfe4dd6" providerId="LiveId" clId="{EA34CD77-B017-48F4-80DC-E98A38773462}" dt="2026-09-22T14:29:10.708" v="22"/>
        <pc:sldMkLst>
          <pc:docMk/>
          <pc:sldMk cId="3281361232" sldId="285"/>
        </pc:sldMkLst>
      </pc:sldChg>
      <pc:sldChg chg="modSp mod">
        <pc:chgData name="Jacob Mlynarski" userId="5c8c5ce1edfe4dd6" providerId="LiveId" clId="{EA34CD77-B017-48F4-80DC-E98A38773462}" dt="2026-09-22T13:50:22.965" v="8" actId="207"/>
        <pc:sldMkLst>
          <pc:docMk/>
          <pc:sldMk cId="3281361232" sldId="286"/>
        </pc:sldMkLst>
        <pc:spChg chg="mod">
          <ac:chgData name="Jacob Mlynarski" userId="5c8c5ce1edfe4dd6" providerId="LiveId" clId="{EA34CD77-B017-48F4-80DC-E98A38773462}" dt="2026-09-22T13:50:22.965" v="8" actId="207"/>
          <ac:spMkLst>
            <pc:docMk/>
            <pc:sldMk cId="3281361232" sldId="286"/>
            <ac:spMk id="3" creationId="{668CF5BD-488C-45A2-834B-D634C3FB2468}"/>
          </ac:spMkLst>
        </pc:spChg>
      </pc:sldChg>
      <pc:sldChg chg="modSp mod">
        <pc:chgData name="Jacob Mlynarski" userId="5c8c5ce1edfe4dd6" providerId="LiveId" clId="{EA34CD77-B017-48F4-80DC-E98A38773462}" dt="2026-09-22T14:05:54.063" v="15" actId="20577"/>
        <pc:sldMkLst>
          <pc:docMk/>
          <pc:sldMk cId="3281361232" sldId="297"/>
        </pc:sldMkLst>
        <pc:graphicFrameChg chg="modGraphic">
          <ac:chgData name="Jacob Mlynarski" userId="5c8c5ce1edfe4dd6" providerId="LiveId" clId="{EA34CD77-B017-48F4-80DC-E98A38773462}" dt="2026-09-22T14:05:54.063" v="15" actId="20577"/>
          <ac:graphicFrameMkLst>
            <pc:docMk/>
            <pc:sldMk cId="3281361232" sldId="297"/>
            <ac:graphicFrameMk id="12" creationId="{00000000-0000-0000-0000-000000000000}"/>
          </ac:graphicFrameMkLst>
        </pc:graphicFrameChg>
      </pc:sldChg>
      <pc:sldChg chg="modSp mod">
        <pc:chgData name="Jacob Mlynarski" userId="5c8c5ce1edfe4dd6" providerId="LiveId" clId="{EA34CD77-B017-48F4-80DC-E98A38773462}" dt="2026-09-22T14:10:02.704" v="17" actId="20577"/>
        <pc:sldMkLst>
          <pc:docMk/>
          <pc:sldMk cId="3281361232" sldId="302"/>
        </pc:sldMkLst>
        <pc:spChg chg="mod">
          <ac:chgData name="Jacob Mlynarski" userId="5c8c5ce1edfe4dd6" providerId="LiveId" clId="{EA34CD77-B017-48F4-80DC-E98A38773462}" dt="2026-09-22T14:10:02.704" v="17" actId="20577"/>
          <ac:spMkLst>
            <pc:docMk/>
            <pc:sldMk cId="3281361232" sldId="302"/>
            <ac:spMk id="5" creationId="{322431F7-FE57-4949-B7E7-A0C29BE6C36C}"/>
          </ac:spMkLst>
        </pc:spChg>
      </pc:sldChg>
      <pc:sldChg chg="add">
        <pc:chgData name="Jacob Mlynarski" userId="5c8c5ce1edfe4dd6" providerId="LiveId" clId="{EA34CD77-B017-48F4-80DC-E98A38773462}" dt="2026-09-22T14:29:00.382" v="18"/>
        <pc:sldMkLst>
          <pc:docMk/>
          <pc:sldMk cId="3996929458" sldId="306"/>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stacked"/>
        <c:varyColors val="0"/>
        <c:ser>
          <c:idx val="0"/>
          <c:order val="0"/>
          <c:tx>
            <c:v>Centre visits</c:v>
          </c:tx>
          <c:spPr>
            <a:solidFill>
              <a:srgbClr val="A6C9E2"/>
            </a:solidFill>
          </c:spPr>
          <c:invertIfNegative val="1"/>
          <c:dLbls>
            <c:spPr>
              <a:noFill/>
              <a:ln>
                <a:noFill/>
              </a:ln>
              <a:effectLst/>
            </c:spPr>
            <c:txPr>
              <a:bodyPr anchorCtr="1"/>
              <a:lstStyle/>
              <a:p>
                <a:pPr>
                  <a:defRPr sz="1725" b="1">
                    <a:solidFill>
                      <a:srgbClr val="111111"/>
                    </a:solidFill>
                    <a:latin typeface="Aptos"/>
                    <a:ea typeface="Aptos"/>
                    <a:cs typeface="Apto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B: cluster</c:v>
                </c:pt>
                <c:pt idx="1">
                  <c:v>A: simple random</c:v>
                </c:pt>
              </c:strCache>
            </c:strRef>
          </c:cat>
          <c:val>
            <c:numRef>
              <c:f>'Chart Data'!$B$2:$B$3</c:f>
              <c:numCache>
                <c:formatCode>#,##0</c:formatCode>
                <c:ptCount val="2"/>
                <c:pt idx="0">
                  <c:v>595</c:v>
                </c:pt>
                <c:pt idx="1">
                  <c:v>5695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DD0-43E9-9529-D8EEA11F26AB}"/>
            </c:ext>
          </c:extLst>
        </c:ser>
        <c:ser>
          <c:idx val="1"/>
          <c:order val="1"/>
          <c:tx>
            <c:v>Interviews</c:v>
          </c:tx>
          <c:spPr>
            <a:solidFill>
              <a:srgbClr val="244E6A"/>
            </a:solidFill>
          </c:spPr>
          <c:invertIfNegative val="1"/>
          <c:dLbls>
            <c:dLbl>
              <c:idx val="0"/>
              <c:spPr/>
              <c:txPr>
                <a:bodyPr anchorCtr="1"/>
                <a:lstStyle/>
                <a:p>
                  <a:pPr>
                    <a:defRPr sz="1725">
                      <a:solidFill>
                        <a:srgbClr val="FFFFFF"/>
                      </a:solidFill>
                      <a:latin typeface="Aptos"/>
                      <a:ea typeface="Aptos"/>
                      <a:cs typeface="Apto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DD0-43E9-9529-D8EEA11F26AB}"/>
                </c:ext>
              </c:extLst>
            </c:dLbl>
            <c:dLbl>
              <c:idx val="1"/>
              <c:spPr/>
              <c:txPr>
                <a:bodyPr anchorCtr="1"/>
                <a:lstStyle/>
                <a:p>
                  <a:pPr>
                    <a:defRPr sz="1725">
                      <a:solidFill>
                        <a:srgbClr val="FFFFFF"/>
                      </a:solidFill>
                      <a:latin typeface="Aptos"/>
                      <a:ea typeface="Aptos"/>
                      <a:cs typeface="Apto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DD0-43E9-9529-D8EEA11F26AB}"/>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Data'!$C$2:$C$3</c:f>
              <c:strCache>
                <c:ptCount val="2"/>
                <c:pt idx="0">
                  <c:v>B: cluster</c:v>
                </c:pt>
                <c:pt idx="1">
                  <c:v>A: simple random</c:v>
                </c:pt>
              </c:strCache>
            </c:strRef>
          </c:cat>
          <c:val>
            <c:numRef>
              <c:f>'Chart Data'!$D$2:$D$3</c:f>
              <c:numCache>
                <c:formatCode>#,##0</c:formatCode>
                <c:ptCount val="2"/>
                <c:pt idx="0">
                  <c:v>2975</c:v>
                </c:pt>
                <c:pt idx="1">
                  <c:v>2975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7DD0-43E9-9529-D8EEA11F26AB}"/>
            </c:ext>
          </c:extLst>
        </c:ser>
        <c:dLbls>
          <c:dLblPos val="ctr"/>
          <c:showLegendKey val="0"/>
          <c:showVal val="1"/>
          <c:showCatName val="0"/>
          <c:showSerName val="0"/>
          <c:showPercent val="0"/>
          <c:showBubbleSize val="0"/>
        </c:dLbls>
        <c:gapWidth val="70"/>
        <c:overlap val="100"/>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725">
                <a:solidFill>
                  <a:srgbClr val="111111"/>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9000"/>
          <c:min val="0"/>
        </c:scaling>
        <c:delete val="0"/>
        <c:axPos val="b"/>
        <c:majorGridlines>
          <c:spPr>
            <a:ln w="9525">
              <a:solidFill>
                <a:srgbClr val="DDE3E7"/>
              </a:solidFill>
            </a:ln>
          </c:spPr>
        </c:majorGridlines>
        <c:numFmt formatCode="#,##0" sourceLinked="1"/>
        <c:majorTickMark val="none"/>
        <c:minorTickMark val="none"/>
        <c:tickLblPos val="nextTo"/>
        <c:spPr>
          <a:ln w="9525">
            <a:solidFill>
              <a:srgbClr val="8A959C"/>
            </a:solidFill>
          </a:ln>
        </c:spPr>
        <c:txPr>
          <a:bodyPr anchorCtr="1"/>
          <a:lstStyle/>
          <a:p>
            <a:pPr>
              <a:defRPr sz="1575">
                <a:solidFill>
                  <a:srgbClr val="666666"/>
                </a:solidFill>
                <a:latin typeface="Aptos"/>
                <a:ea typeface="Aptos"/>
                <a:cs typeface="Aptos"/>
              </a:defRPr>
            </a:pPr>
            <a:endParaRPr lang="en-US"/>
          </a:p>
        </c:txPr>
        <c:crossAx val="48650112"/>
        <c:crosses val="autoZero"/>
        <c:crossBetween val="between"/>
        <c:majorUnit val="3000"/>
      </c:valAx>
      <c:spPr>
        <a:noFill/>
        <a:ln w="0">
          <a:noFill/>
        </a:ln>
      </c:spPr>
    </c:plotArea>
    <c:legend>
      <c:legendPos val="t"/>
      <c:overlay val="0"/>
      <c:txPr>
        <a:bodyPr anchorCtr="1"/>
        <a:lstStyle/>
        <a:p>
          <a:pPr>
            <a:defRPr sz="1725">
              <a:solidFill>
                <a:srgbClr val="111111"/>
              </a:solidFill>
              <a:latin typeface="Aptos"/>
              <a:ea typeface="Aptos"/>
              <a:cs typeface="Aptos"/>
            </a:defRPr>
          </a:pPr>
          <a:endParaRPr lang="en-US"/>
        </a:p>
      </c:txPr>
    </c:legend>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90-minute teaching plan. Recall 5 min. Stratified sampling and B1 20 min. Cluster sampling and B2 13 min. Variation, bias and B3 22 min. Accuracy and precision 6 min. Evaluation, B4 budget and B5 16 min. Exit 5 min. Buffer 3 min. Slides 49–50 are an optional extension outside the core timing. Calculators allowed. Round requested percentages to two decimal places. All numerical cases are fictional teaching examples. Reserve the complete investigation design for Class 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Short retrieval practice from Class A. Do not reteach all foundations before allowing students to attempt the questions.</a:t>
            </a:r>
          </a:p>
          <a:p>
            <a:endParaRPr/>
          </a:p>
          <a:p>
            <a:r>
              <a:t>[Sources]</a:t>
            </a:r>
          </a:p>
          <a:p>
            <a:r>
              <a:t>Visual template and inherited photo assets: Statistics-Week-2-Class-A.pptx, locked version 1, based on original Bellerby teaching materials.</a:t>
            </a:r>
          </a:p>
          <a:p>
            <a:r>
              <a:t>Content base: Statistics Week 2 Lecture.pptx (original slides 3, 8, 9) and Week 2 Seminar 1/2 materials from the user-provided Semester 1 archive.</a:t>
            </a:r>
          </a:p>
          <a:p>
            <a:r>
              <a:t>All college/company data and sample estimates in this lesson are fictional instructional examples. Exact diagrams and mathematical graphics were created from the stated values for this lesson.</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Recall block, slides 2–4: 5 minutes total. Give 3 minutes individually and 2 minutes for the answer. Do not spend time reteaching every Class A definition. B-R4 explicitly uses a separate population, so all data needed are present.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B-R2 is a sample statistic even though every selected student replied. B-R4 uses k=N/n. Starting position is counted as the first selected person.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stratified sampling: random people from every chosen group.</a:t>
            </a:r>
          </a:p>
          <a:p>
            <a:endParaRPr/>
          </a:p>
          <a:p>
            <a:r>
              <a:t>[Sources]</a:t>
            </a:r>
          </a:p>
          <a:p>
            <a:r>
              <a:t>Visual template and inherited photo assets: Statistics-Week-2-Class-A.pptx, locked version 1, based on original Bellerby teaching materials.</a:t>
            </a:r>
          </a:p>
          <a:p>
            <a:r>
              <a:t>Content base: Statistics Week 2 Lecture.pptx (original slides 10, 17) and Week 2 Seminar 1/2 materials from the user-provided Semester 1 archive.</a:t>
            </a:r>
          </a:p>
          <a:p>
            <a:r>
              <a:t>All college/company data and sample estimates in this lesson are fictional instructional examples. Exact diagrams and mathematical graphics were created from the stated values for this lesson.</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Fictional demonstration. Select 200 from 2,000, with Business 1,200 and Engineering 800. The easy numbers make proportional allocation visible. Selected students are invitees, not guaranteed respondents.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distinction between allocating numbers and choosing people. Proportional stratified sampling keeps population shares. The groups must cover the population and not overlap.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shared boundary at 60% to show what is preserved. The two bars represent different totals and each bar is normalized to 100%, so their equal lengths do not mean equal population counts.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Demonstrate the group allocation formula with the simple college case. Group sample=(group population/total population)×total sample. Arithmetic is shown to teach the process. More demanding values follow in B1.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cut up paper or stage a physical draw. Explain the generator setting: minimum ID, maximum ID, number required, no repeats. Every valid set of the required size within a stratum must be equally likely. Run each group separately and keep an auditable selected-ID list. Do not substitute friends for selected students who fail to reply. A generator demo is optional and should take under one minute.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proportional and equal-number allocation can be stratified if individuals are selected randomly within every group. Equal numbers may help programme comparisons, but an overall population estimate must account for unequal population shares. No weighting calculation is required here.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B1.1–B1.4: allow 4 minutes of pair work. Complete, current lists are available. Require calculations and specific selection steps rather than the phrase choose randomly. Answers 99,51,27. Fictional company.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Allow 2 minutes to review. Require unique IDs and sampling without replacement inside every department. Randomly choosing department names is not enough.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B1.5: allow 3 minutes of pair work, then 2 minutes for the answer. Hint only if needed: allocate the integer parts first and compare the remaining decimals. This is the largest-remainder allocation convention, introduced informally. Fractional people cannot be selected.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Exact values = group size/2478×173. Largest fractional remainders are Sales .8474576 and Production .7627119. Nearest-integer rounding also happens to yield the same answer here, but checking the total is essential.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Shift from selecting individuals in every group to selecting whole groups.</a:t>
            </a:r>
          </a:p>
          <a:p>
            <a:endParaRPr/>
          </a:p>
          <a:p>
            <a:r>
              <a:t>[Sources]</a:t>
            </a:r>
          </a:p>
          <a:p>
            <a:r>
              <a:t>Visual template and inherited photo assets: Statistics-Week-2-Class-A.pptx, locked version 1, based on original Bellerby teaching materials.</a:t>
            </a:r>
          </a:p>
          <a:p>
            <a:r>
              <a:t>Content base: Statistics Week 2 Lecture.pptx (original slides 11, 18) and Week 2 Seminar 1/2 materials from the user-provided Semester 1 archive.</a:t>
            </a:r>
          </a:p>
          <a:p>
            <a:r>
              <a:t>All college/company data and sample estimates in this lesson are fictional instructional examples. Exact diagrams and mathematical graphics were created from the stated values for this lesson.</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is a complete list of all 40 classes and each student belongs to one class. Label classes 1–40, generate four distinct random class IDs, then invite everyone on those class registers. No second random draw of individuals is required for this one-stage cluster example. Do not teach a separate two-stage procedure here.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Filled dots are selected students. Open dots are unselected. Each outlined box is one class. In this miniature example classes serve as strata on the left and clusters on the right. Left: random sample within every class. Right: random sample of classes followed by all six in each selected class. Both select 12 of 36, yet the possible samples differ.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how the photograph represents one whole class as a possible cluster. Ask: which costs could fall if researchers visit only a few classes? Follow with the precision concern. Internal similarity is relevant to the variable measured, not an assumption about every classroom. Random cluster sampling is not automatically biased. Photo source: University of Georgia, https://mib.uga.edu/bs-microbiology . Photograph illustrates a classroom only and does not depict the fictional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B2.1–B2.3: allow 3 minutes in pairs. Population 2268, target 378 in all three plans. The equal totals are deliberate, so classification must follow the selection process. The complete class partition is stated.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Review for 1 minute. B2.1 is also proportional because all class sizes are equal and the same 7/42 fraction is selected within each. B2.2 is one-stage cluster sampling with equal-size clusters.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Allow 2 minutes discussion and 1 minute answer. Students must distinguish correct-looking group counts from a valid random process. The ordered register and convenient classroom choices are not random. Do not assert a definite direction of bias without information about register order or class characteristics.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random-number generator is the repair in both cases, but its sampling unit differs: individuals within each class for B2.4, classes for B2.5. Answer the why-wrong part explicitly.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Separate chance variation from faults or systematic tendencies in the survey process. The original deck's taxonomy is simplified and imprecise; use the corrected distinctions.</a:t>
            </a:r>
          </a:p>
          <a:p>
            <a:endParaRPr/>
          </a:p>
          <a:p>
            <a:r>
              <a:t>[Sources]</a:t>
            </a:r>
          </a:p>
          <a:p>
            <a:r>
              <a:t>Visual template and inherited photo assets: Statistics-Week-2-Class-A.pptx, locked version 1, based on original Bellerby teaching materials.</a:t>
            </a:r>
          </a:p>
          <a:p>
            <a:r>
              <a:t>Content base: Statistics Week 2 Lecture.pptx (original slides 13, 14, 15) and Week 2 Seminar 1/2 materials from the user-provided Semester 1 archive.</a:t>
            </a:r>
          </a:p>
          <a:p>
            <a:r>
              <a:t>All college/company data and sample estimates in this lesson are fictional instructional examples. Exact diagrams and mathematical graphics were created from the stated values for this lesson.</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explaining, ask pairs: do different results prove that a team made a mistake? Take a 20-second prediction. The differences alone do not show that anyone made a mistake. Sampling variation is variability between samples. Sampling error is the realised estimate minus the true population quantity, which is normally unknown. This demonstration uses fictional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deliberately simplified schematic dot plots, with five example estimates in each process, to illustrate properties over repetition. The true population percentage is stipulated to be 60%. A has small spread near 60; B has larger spread near 60; C has small spread but is centred near 72. One isolated estimate away from the truth is not evidence of a biased process.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photo: The Lantern, https://www.thelantern.com/2019/02/diversity-in-literature-essential-to-student-learning/ ; image https://www.thelantern.com/files/2019/02/IMG_9047-2a5qyvg.jpg . Photo does not depict an actual survey. Fictional selection-bias example. Do not claim a known direction: frequent users may favour longer hours, while people unable to attend may also favour them. The key is systematic exclusion from the invitation process.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this demonstration simple. Explain that the original random selection and the responding group are different stages. Missing replies matter especially if willingness or ability to respond is related to the view being measured.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Allow 3 minutes for B3.1–B3.3 and 2 minutes for the answers. Round percentages to 2 decimal places. Require named denominators and an explanation conditional on nonrespondents having different relevant views. The fictional figures intentionally do not simplify to round percentages.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157/263×100=59.69581749%; 112/157×100=71.33757962%; 263−157=106. Random selection of invitees does not guarantee representative response. An estimate is possible under appropriate assumptions, but the college’s true percentage is not established by these counts. The optional extension in slides 49–50 explores worst-case bounds among invitees 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Hypothetical teaching example using the numbers discussed in class. Nonresponse means an invited student does not answer. Assume supporters are more likely to reply. Of the 60 respondents, 48 support later library hours (80%). Suppose 42 of the 140 nonrespondents would also support it (30%). Then 90 of all 200 invitees support it (45%). The hidden views are supplied only to demonstrate the mechanism. In an actual survey these views are usually unknown. The 45% refers to the 200 invitees, not a known percentage for the entire college. Nonresponse alone does not establish bias; concern depends on relevant differences associated with replying. Ask students why random invitations do not guarantee representative replies.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students to identify the exact words that encourage a particular answer before discussing the neutral alternative. Response bias concerns the answers obtained from people who do respond. Wording may signal the desirable answer. Nonresponse bias concerns relevant differences between people who answer and those who do not. Use the distinction explicitly.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Photo is illustrative and the error is fictional. The photographed scale displays zero and is not alleged to be faulty. Source: https://www.casseroles-et-ustensiles-culinaire.com/categories/78/balance-verres-mesureurs ; image https://www.casseroles-et-ustensiles-culinaire.com/images/products/10519_photo_1.jpg . A constant positive error overstates every reading and the mean by 20g. Repeating measurements does not remove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Allow 4 minutes pair work and 2 minutes answer discussion. All five contexts are fictional. Students must transfer the ideas beyond the library examples. For B3.6 require a neutral alternative and consider privacy. For B3.8 no design fault is established by the two different estimates. B3.4 does not give a definite direction of bias.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Distinguish selection, nonresponse and response bias. B3.5 explicitly makes dissatisfied employees more likely to respond, so dissatisfaction may be overstated. Better response rates help but do not guarantee absence of bias. B3.4 has no definite direction from the given facts. For B3.6 pair neutral wording with balanced options and privacy. B3.8 has no demonstrated fault.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for a prediction before explaining. This diagram is schematic; no programme population size or Plan B numerical split is specified. Plan B selects individuals randomly within both programme lists. Do not infer an equal allocation from equal-sized boxes. A larger valid sample can reduce chance variation, but increasing an excluded-group design does not fix its coverage. Neither plan guarantees an accurate realised estimate.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Move from identifying methods to defending a choice in a given context.</a:t>
            </a:r>
          </a:p>
          <a:p>
            <a:endParaRPr/>
          </a:p>
          <a:p>
            <a:r>
              <a:t>[Sources]</a:t>
            </a:r>
          </a:p>
          <a:p>
            <a:r>
              <a:t>Visual template and inherited photo assets: Statistics-Week-2-Class-A.pptx, locked version 1, based on original Bellerby teaching materials.</a:t>
            </a:r>
          </a:p>
          <a:p>
            <a:r>
              <a:t>Content base: Statistics Week 2 Lecture.pptx (original slides 12, 19) and Week 2 Seminar 1/2 materials from the user-provided Semester 1 archive.</a:t>
            </a:r>
          </a:p>
          <a:p>
            <a:r>
              <a:t>All college/company data and sample estimates in this lesson are fictional instructional examples. Exact diagrams and mathematical graphics were created from the stated values for this lesson.</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as a 45-second reference rather than another lecture. All miniature examples select4 of12, so sample size cannot identify the method. SRS chooses4 individuals from the full list. Systematic has random start2 from1–3, selecting2,5,8,11. Stratified uses2 groups of6 and randomly selects2 from each. Cluster uses3 groups of4 and randomly selects one entire group. These different group partitions are intentional and stated. Filled dots are selected, open dots are unselected; boxes are defined groups. A favourite starting student is not a random start.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this as a reference for the upcoming decision. Spend no more than 45 seconds here rather than reading every row. Under appropriate designs stratification may improve precision, but merely having group labels does not guarantee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Accuracy and precision block: 6 minutes including explanation and discussion. Give 2 minutes to interpret this new graph first. A and C have the same small spread; A centres at61 and C at46. B is wider and centres at46. Population truth is stipulated to be46%. These schematic samples illustrate processes by construction, rather than proving real-world bias from five estimates.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Discuss why consistency does not ensure accuracy. In this task C combines both properties. The diagram illustrates the processes by construction. Do not teach that exactly five estimates suffice to establish real bias. Refer back to the constant scale error as an example of highly repeatable wrong readings.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the four terms connected to the earlier cases. The next task makes both plans feasible so students must justify a tradeoff rather than identify an obvious unaffordable option.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B4.2–B4.4: allow 4 minutes pair work and 5 minutes for competing defences and the answer. Each pair writes its choice and the strongest statistical objection to it. Hear one Plan A defence and one Plan B defence, then ask which extra information would change the decision. Do not reveal the answer before pairs commit. Fictional district and costs. All trainees belong to one centre, complete lists exist, all selected trainees respond and only the stated visit and interview costs are included. 67 centres is a supplied result of Plan A’s random draw, not something students must derive. Both plans fit the budget, deliberately. Arithmetic 238×12.50=2975; A 67×85+2975=8670; B 7×85+2975=3570.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cost bars share a zero baseline and a maximum of9000yuan, equal to the budget. Visits cost5695forA and595forB. Interviews cost2975forboth. Both fit the budget; B saves5100. The diagram shows the same number of interviews but very different travel/setup costs. B4.3: A offers wider centre coverage in this draw, but SRS can underrepresent some centre types by chance and estimates retain sampling variation. B has lower costs but similarity within only7centres can reduce precision. Accept either plan when justified. B4.4: useful information is how views differ within and between centres. Hear the competing defences before revealing. All costs and categories are fictional exercise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B5:3minutes pairs and2minutes review. No counts supplied intentionally. Require a ranked judgement with reasons. Before the answer, hear two different top priorities and ask what makes each important. B5.2 explicitly supplies the respondent denominator, so the rewrite is now justified. The headline is fictional and does not describe the pictured university. Photo: UBD Library in2024, Pangalau, Wikimedia Commons, CC BY-SA4.0, https://commons.wikimedia.org/wiki/File:UBD_Library_in_2024.jpg ; license https://creativecommons.org/licenses/by-sa/4.0/ . Image resized and cropped.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Accept other relevant missing details, for example survey timing and administration mode, with a clear link to reliability. Sample size alone is insufficient. The rewritten claim is conditional on the reported response percentage being correct. It deliberately avoids generalising to all students.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Exit block 5 minutes: 3 minutes individually, 2 minutes answer/review. Do not turn B6.2 into a response-rate calculation; the focus is when nonresponse creates bias. B6.1 is intentionally nonproportional stratification.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Look for explanations rather than copied labels. Larger samples can reduce sampling variation under a fixed valid design, while a systematic response problem may persist. If students confuse response bias and nonresponse bias, revisit whose answers are present and whether the answers themselves were influenced.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End the core sequence here. Do not start a second full project design task in Class B. Optional B3.9 slides follow for early finishers or if discussion runs faster than expected.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Optional extension, 3–5 minutes including answer, outside the essential 90-minute sequence. Among invitees, minimum support112/263 and maximum(112+106)/263. This is not a confidence interval for the college and does not establish the population percentage. All 45 non-supporting respondents are known not to have selected Support.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endpoints use the same denominator, all263invitees. These worst-case bounds use no assumptions about nonrespondents. They are not a population confidence interval. If most nonrespondents oppose, the invitation group may lack a majority despite 71.34% support among respondents.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Edi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 Edi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der 3">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tx1"/>
                </a:solidFill>
              </a:defRPr>
            </a:lvl1pPr>
          </a:lstStyle>
          <a:p>
            <a:r>
              <a:t>Click to edit Master title style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4">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5">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Image 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divider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1384914"/>
            <a:ext cx="5012602" cy="2387600"/>
          </a:xfrm>
        </p:spPr>
        <p:txBody>
          <a:bodyPr anchor="ctr">
            <a:normAutofit/>
          </a:bodyPr>
          <a:lstStyle>
            <a:lvl1pPr algn="l">
              <a:buNone/>
              <a:defRPr sz="5400">
                <a:solidFill>
                  <a:schemeClr val="tx1"/>
                </a:solidFill>
              </a:defRPr>
            </a:lvl1pPr>
          </a:lstStyle>
          <a:p>
            <a:r>
              <a:t>Click to edit Master 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ext and image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337079"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33707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ext and image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337079"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33707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Text and logo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11293444"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11293444" cy="4330731"/>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4" y="1979534"/>
            <a:ext cx="5589006"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1B27F821-23A1-E30C-4CF7-BCB0A54C884C}"/>
              </a:ext>
            </a:extLst>
          </p:cNvPr>
          <p:cNvSpPr>
            <a:spLocks noGrp="1"/>
          </p:cNvSpPr>
          <p:nvPr>
            <p:ph idx="2"/>
          </p:nvPr>
        </p:nvSpPr>
        <p:spPr>
          <a:xfrm>
            <a:off x="6172200" y="1979534"/>
            <a:ext cx="5552038"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3" y="1979534"/>
            <a:ext cx="360425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5" name="Content Placeholder 2">
            <a:extLst>
              <a:ext uri="{FF2B5EF4-FFF2-40B4-BE49-F238E27FC236}">
                <a16:creationId xmlns:a16="http://schemas.microsoft.com/office/drawing/2014/main" id="{39B8B3E1-3E22-853B-33F7-08DB9B6F05C9}"/>
              </a:ext>
            </a:extLst>
          </p:cNvPr>
          <p:cNvSpPr>
            <a:spLocks noGrp="1"/>
          </p:cNvSpPr>
          <p:nvPr>
            <p:ph idx="10"/>
          </p:nvPr>
        </p:nvSpPr>
        <p:spPr>
          <a:xfrm>
            <a:off x="4293873" y="1989591"/>
            <a:ext cx="360425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Content Placeholder 2">
            <a:extLst>
              <a:ext uri="{FF2B5EF4-FFF2-40B4-BE49-F238E27FC236}">
                <a16:creationId xmlns:a16="http://schemas.microsoft.com/office/drawing/2014/main" id="{03F7CAF5-096C-F6FE-105D-033F35B064E8}"/>
              </a:ext>
            </a:extLst>
          </p:cNvPr>
          <p:cNvSpPr>
            <a:spLocks noGrp="1"/>
          </p:cNvSpPr>
          <p:nvPr>
            <p:ph idx="11"/>
          </p:nvPr>
        </p:nvSpPr>
        <p:spPr>
          <a:xfrm>
            <a:off x="8119985" y="1979534"/>
            <a:ext cx="3604253"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ext and stat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8150498"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8150498"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ext and testimonial">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411944"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41194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Column with Imag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4" y="1979534"/>
            <a:ext cx="5589006"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5" name="Picture Placeholder 4">
            <a:extLst>
              <a:ext uri="{FF2B5EF4-FFF2-40B4-BE49-F238E27FC236}">
                <a16:creationId xmlns:a16="http://schemas.microsoft.com/office/drawing/2014/main" id="{1D4466F3-6EF4-7C6C-700F-D82BD03B0915}"/>
              </a:ext>
            </a:extLst>
          </p:cNvPr>
          <p:cNvSpPr>
            <a:spLocks noGrp="1"/>
          </p:cNvSpPr>
          <p:nvPr>
            <p:ph type="pic" idx="10"/>
          </p:nvPr>
        </p:nvSpPr>
        <p:spPr>
          <a:xfrm>
            <a:off x="6096000" y="1979613"/>
            <a:ext cx="5627688" cy="4351337"/>
          </a:xfrm>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4" name="Chart Placeholder 3">
            <a:extLst>
              <a:ext uri="{FF2B5EF4-FFF2-40B4-BE49-F238E27FC236}">
                <a16:creationId xmlns:a16="http://schemas.microsoft.com/office/drawing/2014/main" id="{06F8C7EE-44FF-25E2-FD85-4A9A4E59F43C}"/>
              </a:ext>
            </a:extLst>
          </p:cNvPr>
          <p:cNvSpPr>
            <a:spLocks noGrp="1"/>
          </p:cNvSpPr>
          <p:nvPr>
            <p:ph type="chart" idx="10"/>
          </p:nvPr>
        </p:nvSpPr>
        <p:spPr>
          <a:xfrm>
            <a:off x="430213" y="1928813"/>
            <a:ext cx="11293475" cy="4354512"/>
          </a:xfrm>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3" name="Table Placeholder 2">
            <a:extLst>
              <a:ext uri="{FF2B5EF4-FFF2-40B4-BE49-F238E27FC236}">
                <a16:creationId xmlns:a16="http://schemas.microsoft.com/office/drawing/2014/main" id="{9F2E8F34-9DD5-6734-21E2-9B7CCAD9F297}"/>
              </a:ext>
            </a:extLst>
          </p:cNvPr>
          <p:cNvSpPr>
            <a:spLocks noGrp="1"/>
          </p:cNvSpPr>
          <p:nvPr>
            <p:ph type="tbl" idx="10"/>
          </p:nvPr>
        </p:nvSpPr>
        <p:spPr>
          <a:xfrm>
            <a:off x="430213" y="1919288"/>
            <a:ext cx="11293475" cy="4391025"/>
          </a:xfrm>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8C7BB9-ED14-2EE7-B747-6D3AC509C6F7}"/>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FC5B5F42-1935-63EA-A56F-BCFFCC5F3844}"/>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4A4FD98-5FB3-0F33-190B-F09E379EA8D3}"/>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577B4DDA-DC7A-BA44-95F8-6F5B47B98114}" type="datetimeFigureOut">
              <a:t>9/22/2026</a:t>
            </a:fld>
            <a:endParaRPr/>
          </a:p>
        </p:txBody>
      </p:sp>
      <p:sp>
        <p:nvSpPr>
          <p:cNvPr id="5" name="Footer Placeholder 4">
            <a:extLst>
              <a:ext uri="{FF2B5EF4-FFF2-40B4-BE49-F238E27FC236}">
                <a16:creationId xmlns:a16="http://schemas.microsoft.com/office/drawing/2014/main" id="{34199F5F-1ACA-4A1A-5173-27733EE45675}"/>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FB4C4A5E-3279-A2E1-BFFA-8259ABF8BC49}"/>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CF9A60C2-D39C-DE40-8B64-BE745D99ECE8}"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5.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0EE20-CE2E-3013-3D7D-3F4166CBDECE}"/>
              </a:ext>
            </a:extLst>
          </p:cNvPr>
          <p:cNvSpPr>
            <a:spLocks noGrp="1"/>
          </p:cNvSpPr>
          <p:nvPr>
            <p:ph type="ctrTitle"/>
          </p:nvPr>
        </p:nvSpPr>
        <p:spPr>
          <a:xfrm>
            <a:off x="356140" y="2154460"/>
            <a:ext cx="5626703" cy="4050411"/>
          </a:xfrm>
        </p:spPr>
        <p:txBody>
          <a:bodyPr wrap="square" lIns="91440" tIns="45720" rIns="91440" bIns="45720" anchor="t">
            <a:noAutofit/>
          </a:bodyPr>
          <a:lstStyle/>
          <a:p>
            <a:pPr algn="l">
              <a:lnSpc>
                <a:spcPct val="100000"/>
              </a:lnSpc>
              <a:buNone/>
              <a:defRPr sz="4860">
                <a:solidFill>
                  <a:srgbClr val="FFFFFF"/>
                </a:solidFill>
                <a:latin typeface="Aptos Display"/>
                <a:ea typeface="Aptos Display"/>
                <a:cs typeface="Aptos Display"/>
              </a:defRPr>
            </a:pPr>
            <a:r>
              <a:rPr sz="4860">
                <a:solidFill>
                  <a:srgbClr val="FFFFFF"/>
                </a:solidFill>
                <a:latin typeface="Aptos Display"/>
                <a:ea typeface="Aptos Display"/>
                <a:cs typeface="Aptos Display"/>
              </a:rPr>
              <a:t>IFY Statistics</a:t>
            </a:r>
          </a:p>
          <a:p>
            <a:pPr algn="l">
              <a:lnSpc>
                <a:spcPct val="100000"/>
              </a:lnSpc>
              <a:buNone/>
              <a:defRPr sz="4860">
                <a:solidFill>
                  <a:srgbClr val="FFFFFF"/>
                </a:solidFill>
                <a:latin typeface="Aptos Display"/>
                <a:ea typeface="Aptos Display"/>
                <a:cs typeface="Aptos Display"/>
              </a:defRPr>
            </a:pPr>
            <a:r>
              <a:rPr sz="4860">
                <a:solidFill>
                  <a:srgbClr val="FFFFFF"/>
                </a:solidFill>
                <a:latin typeface="Aptos Display"/>
                <a:ea typeface="Aptos Display"/>
                <a:cs typeface="Aptos Display"/>
              </a:rPr>
              <a:t>Week 2 • Class B</a:t>
            </a:r>
          </a:p>
          <a:p>
            <a:pPr algn="l">
              <a:lnSpc>
                <a:spcPct val="100000"/>
              </a:lnSpc>
              <a:buNone/>
              <a:defRPr sz="4860">
                <a:solidFill>
                  <a:srgbClr val="FFFFFF"/>
                </a:solidFill>
                <a:latin typeface="Aptos Display"/>
                <a:ea typeface="Aptos Display"/>
                <a:cs typeface="Aptos Display"/>
              </a:defRPr>
            </a:pPr>
            <a:r>
              <a:rPr sz="4860">
                <a:solidFill>
                  <a:srgbClr val="FFFFFF"/>
                </a:solidFill>
                <a:latin typeface="Aptos Display"/>
                <a:ea typeface="Aptos Display"/>
                <a:cs typeface="Aptos Display"/>
              </a:rPr>
              <a:t>Sampling and</a:t>
            </a:r>
          </a:p>
          <a:p>
            <a:pPr algn="l">
              <a:lnSpc>
                <a:spcPct val="100000"/>
              </a:lnSpc>
              <a:buNone/>
              <a:defRPr sz="4860">
                <a:solidFill>
                  <a:srgbClr val="FFFFFF"/>
                </a:solidFill>
                <a:latin typeface="Aptos Display"/>
                <a:ea typeface="Aptos Display"/>
                <a:cs typeface="Aptos Display"/>
              </a:defRPr>
            </a:pPr>
            <a:r>
              <a:rPr sz="4860">
                <a:solidFill>
                  <a:srgbClr val="FFFFFF"/>
                </a:solidFill>
                <a:latin typeface="Aptos Display"/>
                <a:ea typeface="Aptos Display"/>
                <a:cs typeface="Aptos Display"/>
              </a:rPr>
              <a:t>Reliable Results</a:t>
            </a:r>
          </a:p>
        </p:txBody>
      </p:sp>
    </p:spTree>
    <p:extLst>
      <p:ext uri="{BB962C8B-B14F-4D97-AF65-F5344CB8AC3E}">
        <p14:creationId xmlns:p14="http://schemas.microsoft.com/office/powerpoint/2010/main" val="3742239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140" y="2154460"/>
            <a:ext cx="5966365" cy="3318891"/>
          </a:xfrm>
        </p:spPr>
        <p:txBody>
          <a:bodyPr wrap="square" lIns="91440" tIns="45720" rIns="91440" bIns="45720" anchor="ctr">
            <a:noAutofit/>
          </a:bodyPr>
          <a:lstStyle/>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Revision:</a:t>
            </a:r>
          </a:p>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Class A</a:t>
            </a:r>
          </a:p>
        </p:txBody>
      </p:sp>
    </p:spTree>
    <p:extLst>
      <p:ext uri="{BB962C8B-B14F-4D97-AF65-F5344CB8AC3E}">
        <p14:creationId xmlns:p14="http://schemas.microsoft.com/office/powerpoint/2010/main" val="3281361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aching-1">
            <a:extLst>
              <a:ext uri="{FF2B5EF4-FFF2-40B4-BE49-F238E27FC236}">
                <a16:creationId xmlns:a16="http://schemas.microsoft.com/office/drawing/2014/main" id="{36EDDEE8-7F77-43C8-9571-C255DC05BE87}"/>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Quick revision</a:t>
            </a:r>
          </a:p>
        </p:txBody>
      </p:sp>
      <p:sp>
        <p:nvSpPr>
          <p:cNvPr id="2" name="Teaching-2">
            <a:extLst>
              <a:ext uri="{FF2B5EF4-FFF2-40B4-BE49-F238E27FC236}">
                <a16:creationId xmlns:a16="http://schemas.microsoft.com/office/drawing/2014/main" id="{0E858A07-D566-4BDE-B02F-BC8FEB5ACA48}"/>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3">
            <a:extLst>
              <a:ext uri="{FF2B5EF4-FFF2-40B4-BE49-F238E27FC236}">
                <a16:creationId xmlns:a16="http://schemas.microsoft.com/office/drawing/2014/main" id="{B9A88BF8-36BA-4FBA-817A-093D99C0D921}"/>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REVISION</a:t>
            </a:r>
          </a:p>
        </p:txBody>
      </p:sp>
      <p:sp>
        <p:nvSpPr>
          <p:cNvPr id="4" name="Teaching-4">
            <a:extLst>
              <a:ext uri="{FF2B5EF4-FFF2-40B4-BE49-F238E27FC236}">
                <a16:creationId xmlns:a16="http://schemas.microsoft.com/office/drawing/2014/main" id="{2CAE256D-E61E-4B06-BCEA-1C2BFF3D1B78}"/>
              </a:ext>
            </a:extLst>
          </p:cNvPr>
          <p:cNvSpPr>
            <a:spLocks noGrp="1"/>
          </p:cNvSpPr>
          <p:nvPr/>
        </p:nvSpPr>
        <p:spPr>
          <a:xfrm>
            <a:off x="428625" y="1952625"/>
            <a:ext cx="11277600" cy="8382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A college has </a:t>
            </a:r>
            <a:r>
              <a:rPr b="1"/>
              <a:t>3,216 students</a:t>
            </a:r>
            <a:r>
              <a:t>. All </a:t>
            </a:r>
            <a:r>
              <a:rPr b="1"/>
              <a:t>268</a:t>
            </a:r>
            <a:r>
              <a:t> randomly selected students</a:t>
            </a:r>
          </a:p>
          <a:p>
            <a:pPr algn="l">
              <a:defRPr sz="2325" b="0">
                <a:solidFill>
                  <a:srgbClr val="111111"/>
                </a:solidFill>
                <a:latin typeface="Aptos"/>
                <a:ea typeface="Aptos"/>
                <a:cs typeface="Aptos"/>
              </a:defRPr>
            </a:pPr>
            <a:r>
              <a:t>reply. </a:t>
            </a:r>
            <a:r>
              <a:rPr b="1"/>
              <a:t>173</a:t>
            </a:r>
            <a:r>
              <a:t> support longer library hours.</a:t>
            </a:r>
          </a:p>
        </p:txBody>
      </p:sp>
      <p:sp>
        <p:nvSpPr>
          <p:cNvPr id="5" name="Teaching-5">
            <a:extLst>
              <a:ext uri="{FF2B5EF4-FFF2-40B4-BE49-F238E27FC236}">
                <a16:creationId xmlns:a16="http://schemas.microsoft.com/office/drawing/2014/main" id="{4EE25909-6179-4F1A-A540-1E9F9E85465D}"/>
              </a:ext>
            </a:extLst>
          </p:cNvPr>
          <p:cNvSpPr>
            <a:spLocks noGrp="1"/>
          </p:cNvSpPr>
          <p:nvPr/>
        </p:nvSpPr>
        <p:spPr>
          <a:xfrm>
            <a:off x="619125" y="2971800"/>
            <a:ext cx="10810875" cy="4191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B-R1</a:t>
            </a:r>
            <a:r>
              <a:t>  Identify the population and sample.</a:t>
            </a:r>
          </a:p>
        </p:txBody>
      </p:sp>
      <p:sp>
        <p:nvSpPr>
          <p:cNvPr id="6" name="Teaching-6">
            <a:extLst>
              <a:ext uri="{FF2B5EF4-FFF2-40B4-BE49-F238E27FC236}">
                <a16:creationId xmlns:a16="http://schemas.microsoft.com/office/drawing/2014/main" id="{FDAA2225-04D2-40C6-A56A-2CE3BCB3AFF0}"/>
              </a:ext>
            </a:extLst>
          </p:cNvPr>
          <p:cNvSpPr>
            <a:spLocks noGrp="1"/>
          </p:cNvSpPr>
          <p:nvPr/>
        </p:nvSpPr>
        <p:spPr>
          <a:xfrm>
            <a:off x="619125" y="3533775"/>
            <a:ext cx="10810875" cy="7429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B-R2</a:t>
            </a:r>
            <a:r>
              <a:t>  Calculate the support percentage. Is it a parameter or statistic?</a:t>
            </a:r>
          </a:p>
        </p:txBody>
      </p:sp>
      <p:sp>
        <p:nvSpPr>
          <p:cNvPr id="7" name="Teaching-7">
            <a:extLst>
              <a:ext uri="{FF2B5EF4-FFF2-40B4-BE49-F238E27FC236}">
                <a16:creationId xmlns:a16="http://schemas.microsoft.com/office/drawing/2014/main" id="{848E279A-4335-4268-8EFF-F2B03C5758C2}"/>
              </a:ext>
            </a:extLst>
          </p:cNvPr>
          <p:cNvSpPr>
            <a:spLocks noGrp="1"/>
          </p:cNvSpPr>
          <p:nvPr/>
        </p:nvSpPr>
        <p:spPr>
          <a:xfrm>
            <a:off x="619125" y="4238625"/>
            <a:ext cx="10810875" cy="7810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B-R3</a:t>
            </a:r>
            <a:r>
              <a:t>  Name each method: random distinct IDs from the full list,</a:t>
            </a:r>
          </a:p>
          <a:p>
            <a:pPr algn="l">
              <a:defRPr sz="2325" b="0">
                <a:solidFill>
                  <a:srgbClr val="111111"/>
                </a:solidFill>
                <a:latin typeface="Aptos"/>
                <a:ea typeface="Aptos"/>
                <a:cs typeface="Aptos"/>
              </a:defRPr>
            </a:pPr>
            <a:r>
              <a:t>or a random start followed by every 12th student.</a:t>
            </a:r>
          </a:p>
        </p:txBody>
      </p:sp>
      <p:sp>
        <p:nvSpPr>
          <p:cNvPr id="8" name="Teaching-8">
            <a:extLst>
              <a:ext uri="{FF2B5EF4-FFF2-40B4-BE49-F238E27FC236}">
                <a16:creationId xmlns:a16="http://schemas.microsoft.com/office/drawing/2014/main" id="{3F329F3A-475D-4E01-AFB1-D24BB656464A}"/>
              </a:ext>
            </a:extLst>
          </p:cNvPr>
          <p:cNvSpPr>
            <a:spLocks noGrp="1"/>
          </p:cNvSpPr>
          <p:nvPr/>
        </p:nvSpPr>
        <p:spPr>
          <a:xfrm>
            <a:off x="619125" y="5153025"/>
            <a:ext cx="10810875" cy="7524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B-R4</a:t>
            </a:r>
            <a:r>
              <a:t>  A separate list has 2,592 people. Select 96 systematically.</a:t>
            </a:r>
          </a:p>
          <a:p>
            <a:pPr algn="l">
              <a:defRPr sz="2325" b="0">
                <a:solidFill>
                  <a:srgbClr val="111111"/>
                </a:solidFill>
                <a:latin typeface="Aptos"/>
                <a:ea typeface="Aptos"/>
                <a:cs typeface="Aptos"/>
              </a:defRPr>
            </a:pPr>
            <a:r>
              <a:t>Find the interval and the first four positions from random start 17.</a:t>
            </a:r>
          </a:p>
        </p:txBody>
      </p:sp>
    </p:spTree>
    <p:extLst>
      <p:ext uri="{BB962C8B-B14F-4D97-AF65-F5344CB8AC3E}">
        <p14:creationId xmlns:p14="http://schemas.microsoft.com/office/powerpoint/2010/main" val="3281361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aching-9">
            <a:extLst>
              <a:ext uri="{FF2B5EF4-FFF2-40B4-BE49-F238E27FC236}">
                <a16:creationId xmlns:a16="http://schemas.microsoft.com/office/drawing/2014/main" id="{79162E61-9BAA-4E78-A050-20D48C0E04EB}"/>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Revision answers</a:t>
            </a:r>
          </a:p>
        </p:txBody>
      </p:sp>
      <p:sp>
        <p:nvSpPr>
          <p:cNvPr id="2" name="Teaching-10">
            <a:extLst>
              <a:ext uri="{FF2B5EF4-FFF2-40B4-BE49-F238E27FC236}">
                <a16:creationId xmlns:a16="http://schemas.microsoft.com/office/drawing/2014/main" id="{D0DF4BA7-8266-43BA-B6F7-880E594FF357}"/>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11">
            <a:extLst>
              <a:ext uri="{FF2B5EF4-FFF2-40B4-BE49-F238E27FC236}">
                <a16:creationId xmlns:a16="http://schemas.microsoft.com/office/drawing/2014/main" id="{8DCC94BA-8348-47A5-880A-9086EF58E64C}"/>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REVISION</a:t>
            </a:r>
          </a:p>
        </p:txBody>
      </p:sp>
      <p:sp>
        <p:nvSpPr>
          <p:cNvPr id="4" name="Teaching-12">
            <a:extLst>
              <a:ext uri="{FF2B5EF4-FFF2-40B4-BE49-F238E27FC236}">
                <a16:creationId xmlns:a16="http://schemas.microsoft.com/office/drawing/2014/main" id="{6FAE4EA0-F6DC-42E2-A2FF-A1B2814B8951}"/>
              </a:ext>
            </a:extLst>
          </p:cNvPr>
          <p:cNvSpPr>
            <a:spLocks noGrp="1"/>
          </p:cNvSpPr>
          <p:nvPr/>
        </p:nvSpPr>
        <p:spPr>
          <a:xfrm>
            <a:off x="523875" y="1981200"/>
            <a:ext cx="11106150" cy="42862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B-R1</a:t>
            </a:r>
            <a:r>
              <a:t>  Population: all 3,216 students. Sample: the 268 selected.</a:t>
            </a:r>
          </a:p>
        </p:txBody>
      </p:sp>
      <p:sp>
        <p:nvSpPr>
          <p:cNvPr id="5" name="Teaching-13">
            <a:extLst>
              <a:ext uri="{FF2B5EF4-FFF2-40B4-BE49-F238E27FC236}">
                <a16:creationId xmlns:a16="http://schemas.microsoft.com/office/drawing/2014/main" id="{687500BC-AD7E-4A67-90CE-6571FCB870CF}"/>
              </a:ext>
            </a:extLst>
          </p:cNvPr>
          <p:cNvSpPr>
            <a:spLocks noGrp="1"/>
          </p:cNvSpPr>
          <p:nvPr/>
        </p:nvSpPr>
        <p:spPr>
          <a:xfrm>
            <a:off x="523875" y="2619375"/>
            <a:ext cx="11106150" cy="7429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B-R2</a:t>
            </a:r>
            <a:r>
              <a:t>  173 ÷ 268 × 100 ≈ </a:t>
            </a:r>
            <a:r>
              <a:rPr b="1"/>
              <a:t>64.55%</a:t>
            </a:r>
            <a:r>
              <a:t>. A statistic: it describes the sample.</a:t>
            </a:r>
          </a:p>
        </p:txBody>
      </p:sp>
      <p:sp>
        <p:nvSpPr>
          <p:cNvPr id="6" name="Teaching-14">
            <a:extLst>
              <a:ext uri="{FF2B5EF4-FFF2-40B4-BE49-F238E27FC236}">
                <a16:creationId xmlns:a16="http://schemas.microsoft.com/office/drawing/2014/main" id="{5031E6C7-A9AF-4ABC-981F-52C970FD79F9}"/>
              </a:ext>
            </a:extLst>
          </p:cNvPr>
          <p:cNvSpPr>
            <a:spLocks noGrp="1"/>
          </p:cNvSpPr>
          <p:nvPr/>
        </p:nvSpPr>
        <p:spPr>
          <a:xfrm>
            <a:off x="523875" y="3476625"/>
            <a:ext cx="11106150" cy="42862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B-R3</a:t>
            </a:r>
            <a:r>
              <a:t>  Simple random sampling, then systematic sampling.</a:t>
            </a:r>
          </a:p>
        </p:txBody>
      </p:sp>
      <p:sp>
        <p:nvSpPr>
          <p:cNvPr id="7" name="Teaching-15">
            <a:extLst>
              <a:ext uri="{FF2B5EF4-FFF2-40B4-BE49-F238E27FC236}">
                <a16:creationId xmlns:a16="http://schemas.microsoft.com/office/drawing/2014/main" id="{07A15B87-EABC-4BD2-A27D-20C40A4DB167}"/>
              </a:ext>
            </a:extLst>
          </p:cNvPr>
          <p:cNvSpPr>
            <a:spLocks noGrp="1"/>
          </p:cNvSpPr>
          <p:nvPr/>
        </p:nvSpPr>
        <p:spPr>
          <a:xfrm>
            <a:off x="523875" y="4105275"/>
            <a:ext cx="11106150" cy="4095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B-R4</a:t>
            </a:r>
            <a:r>
              <a:t>  Interval = 2,592 ÷ 96 = </a:t>
            </a:r>
            <a:r>
              <a:rPr b="1"/>
              <a:t>27</a:t>
            </a:r>
            <a:r>
              <a:t>.</a:t>
            </a:r>
          </a:p>
        </p:txBody>
      </p:sp>
      <p:sp>
        <p:nvSpPr>
          <p:cNvPr id="8" name="Teaching-16">
            <a:extLst>
              <a:ext uri="{FF2B5EF4-FFF2-40B4-BE49-F238E27FC236}">
                <a16:creationId xmlns:a16="http://schemas.microsoft.com/office/drawing/2014/main" id="{730A2D44-B8E5-47BE-860B-3382B06977DC}"/>
              </a:ext>
            </a:extLst>
          </p:cNvPr>
          <p:cNvSpPr>
            <a:spLocks noGrp="1"/>
          </p:cNvSpPr>
          <p:nvPr/>
        </p:nvSpPr>
        <p:spPr>
          <a:xfrm>
            <a:off x="1466850" y="5286375"/>
            <a:ext cx="114300" cy="114300"/>
          </a:xfrm>
          <a:prstGeom prst="ellipse">
            <a:avLst/>
          </a:prstGeom>
          <a:solidFill>
            <a:srgbClr val="244E6A"/>
          </a:solidFill>
          <a:ln w="13335">
            <a:solidFill>
              <a:srgbClr val="244E6A"/>
            </a:solidFill>
          </a:ln>
        </p:spPr>
        <p:txBody>
          <a:bodyPr/>
          <a:lstStyle/>
          <a:p>
            <a:endParaRPr lang="en-US"/>
          </a:p>
        </p:txBody>
      </p:sp>
      <p:sp>
        <p:nvSpPr>
          <p:cNvPr id="9" name="Teaching-17">
            <a:extLst>
              <a:ext uri="{FF2B5EF4-FFF2-40B4-BE49-F238E27FC236}">
                <a16:creationId xmlns:a16="http://schemas.microsoft.com/office/drawing/2014/main" id="{D24D4B44-BDED-4FED-AC07-72375672E3CD}"/>
              </a:ext>
            </a:extLst>
          </p:cNvPr>
          <p:cNvSpPr>
            <a:spLocks noGrp="1"/>
          </p:cNvSpPr>
          <p:nvPr/>
        </p:nvSpPr>
        <p:spPr>
          <a:xfrm>
            <a:off x="1143000" y="5534025"/>
            <a:ext cx="762000" cy="371475"/>
          </a:xfrm>
          <a:prstGeom prst="rect">
            <a:avLst/>
          </a:prstGeom>
          <a:noFill/>
          <a:ln w="0">
            <a:noFill/>
          </a:ln>
        </p:spPr>
        <p:txBody>
          <a:bodyPr wrap="square" lIns="0" tIns="0" rIns="0" bIns="0" anchor="t">
            <a:noAutofit/>
          </a:bodyPr>
          <a:lstStyle/>
          <a:p>
            <a:pPr algn="ctr">
              <a:defRPr sz="2325" b="1">
                <a:solidFill>
                  <a:srgbClr val="111111"/>
                </a:solidFill>
                <a:latin typeface="Aptos"/>
                <a:ea typeface="Aptos"/>
                <a:cs typeface="Aptos"/>
              </a:defRPr>
            </a:pPr>
            <a:r>
              <a:t>17</a:t>
            </a:r>
          </a:p>
        </p:txBody>
      </p:sp>
      <p:sp>
        <p:nvSpPr>
          <p:cNvPr id="10" name="Teaching-18">
            <a:extLst>
              <a:ext uri="{FF2B5EF4-FFF2-40B4-BE49-F238E27FC236}">
                <a16:creationId xmlns:a16="http://schemas.microsoft.com/office/drawing/2014/main" id="{F565C303-3A58-4557-8F0C-0B0D45609B1F}"/>
              </a:ext>
            </a:extLst>
          </p:cNvPr>
          <p:cNvSpPr>
            <a:spLocks noGrp="1"/>
          </p:cNvSpPr>
          <p:nvPr/>
        </p:nvSpPr>
        <p:spPr>
          <a:xfrm>
            <a:off x="1714500" y="5343525"/>
            <a:ext cx="2381250" cy="0"/>
          </a:xfrm>
          <a:prstGeom prst="line">
            <a:avLst/>
          </a:prstGeom>
          <a:noFill/>
          <a:ln w="19050">
            <a:solidFill>
              <a:srgbClr val="111111"/>
            </a:solidFill>
          </a:ln>
        </p:spPr>
        <p:txBody>
          <a:bodyPr/>
          <a:lstStyle/>
          <a:p>
            <a:endParaRPr lang="en-US"/>
          </a:p>
        </p:txBody>
      </p:sp>
      <p:sp>
        <p:nvSpPr>
          <p:cNvPr id="11" name="Teaching-19">
            <a:extLst>
              <a:ext uri="{FF2B5EF4-FFF2-40B4-BE49-F238E27FC236}">
                <a16:creationId xmlns:a16="http://schemas.microsoft.com/office/drawing/2014/main" id="{F1549FB0-8D9D-4AF2-BAEC-52F4D08A4B7F}"/>
              </a:ext>
            </a:extLst>
          </p:cNvPr>
          <p:cNvSpPr>
            <a:spLocks noGrp="1"/>
          </p:cNvSpPr>
          <p:nvPr/>
        </p:nvSpPr>
        <p:spPr>
          <a:xfrm>
            <a:off x="2238375" y="4905375"/>
            <a:ext cx="1000125" cy="342900"/>
          </a:xfrm>
          <a:prstGeom prst="rect">
            <a:avLst/>
          </a:prstGeom>
          <a:noFill/>
          <a:ln w="0">
            <a:noFill/>
          </a:ln>
        </p:spPr>
        <p:txBody>
          <a:bodyPr wrap="square" lIns="0" tIns="0" rIns="0" bIns="0" anchor="t">
            <a:noAutofit/>
          </a:bodyPr>
          <a:lstStyle/>
          <a:p>
            <a:pPr algn="ctr">
              <a:defRPr sz="2175" b="1">
                <a:solidFill>
                  <a:srgbClr val="111111"/>
                </a:solidFill>
                <a:latin typeface="Aptos"/>
                <a:ea typeface="Aptos"/>
                <a:cs typeface="Aptos"/>
              </a:defRPr>
            </a:pPr>
            <a:r>
              <a:t>+27</a:t>
            </a:r>
          </a:p>
        </p:txBody>
      </p:sp>
      <p:sp>
        <p:nvSpPr>
          <p:cNvPr id="12" name="Teaching-20">
            <a:extLst>
              <a:ext uri="{FF2B5EF4-FFF2-40B4-BE49-F238E27FC236}">
                <a16:creationId xmlns:a16="http://schemas.microsoft.com/office/drawing/2014/main" id="{C1E010B8-F337-4452-8ACB-C87881A95B19}"/>
              </a:ext>
            </a:extLst>
          </p:cNvPr>
          <p:cNvSpPr>
            <a:spLocks noGrp="1"/>
          </p:cNvSpPr>
          <p:nvPr/>
        </p:nvSpPr>
        <p:spPr>
          <a:xfrm>
            <a:off x="4248150" y="5286375"/>
            <a:ext cx="114300" cy="114300"/>
          </a:xfrm>
          <a:prstGeom prst="ellipse">
            <a:avLst/>
          </a:prstGeom>
          <a:solidFill>
            <a:srgbClr val="244E6A"/>
          </a:solidFill>
          <a:ln w="13335">
            <a:solidFill>
              <a:srgbClr val="244E6A"/>
            </a:solidFill>
          </a:ln>
        </p:spPr>
        <p:txBody>
          <a:bodyPr/>
          <a:lstStyle/>
          <a:p>
            <a:endParaRPr lang="en-US"/>
          </a:p>
        </p:txBody>
      </p:sp>
      <p:sp>
        <p:nvSpPr>
          <p:cNvPr id="13" name="Teaching-21">
            <a:extLst>
              <a:ext uri="{FF2B5EF4-FFF2-40B4-BE49-F238E27FC236}">
                <a16:creationId xmlns:a16="http://schemas.microsoft.com/office/drawing/2014/main" id="{B52E681C-2A05-4A34-85B4-4BBD15D6FD50}"/>
              </a:ext>
            </a:extLst>
          </p:cNvPr>
          <p:cNvSpPr>
            <a:spLocks noGrp="1"/>
          </p:cNvSpPr>
          <p:nvPr/>
        </p:nvSpPr>
        <p:spPr>
          <a:xfrm>
            <a:off x="3924300" y="5534025"/>
            <a:ext cx="762000" cy="371475"/>
          </a:xfrm>
          <a:prstGeom prst="rect">
            <a:avLst/>
          </a:prstGeom>
          <a:noFill/>
          <a:ln w="0">
            <a:noFill/>
          </a:ln>
        </p:spPr>
        <p:txBody>
          <a:bodyPr wrap="square" lIns="0" tIns="0" rIns="0" bIns="0" anchor="t">
            <a:noAutofit/>
          </a:bodyPr>
          <a:lstStyle/>
          <a:p>
            <a:pPr algn="ctr">
              <a:defRPr sz="2325" b="1">
                <a:solidFill>
                  <a:srgbClr val="111111"/>
                </a:solidFill>
                <a:latin typeface="Aptos"/>
                <a:ea typeface="Aptos"/>
                <a:cs typeface="Aptos"/>
              </a:defRPr>
            </a:pPr>
            <a:r>
              <a:t>44</a:t>
            </a:r>
          </a:p>
        </p:txBody>
      </p:sp>
      <p:sp>
        <p:nvSpPr>
          <p:cNvPr id="14" name="Teaching-22">
            <a:extLst>
              <a:ext uri="{FF2B5EF4-FFF2-40B4-BE49-F238E27FC236}">
                <a16:creationId xmlns:a16="http://schemas.microsoft.com/office/drawing/2014/main" id="{42520156-D209-4540-A3C4-DB29916DA478}"/>
              </a:ext>
            </a:extLst>
          </p:cNvPr>
          <p:cNvSpPr>
            <a:spLocks noGrp="1"/>
          </p:cNvSpPr>
          <p:nvPr/>
        </p:nvSpPr>
        <p:spPr>
          <a:xfrm>
            <a:off x="4495800" y="5343525"/>
            <a:ext cx="2381250" cy="0"/>
          </a:xfrm>
          <a:prstGeom prst="line">
            <a:avLst/>
          </a:prstGeom>
          <a:noFill/>
          <a:ln w="19050">
            <a:solidFill>
              <a:srgbClr val="111111"/>
            </a:solidFill>
          </a:ln>
        </p:spPr>
        <p:txBody>
          <a:bodyPr/>
          <a:lstStyle/>
          <a:p>
            <a:endParaRPr lang="en-US"/>
          </a:p>
        </p:txBody>
      </p:sp>
      <p:sp>
        <p:nvSpPr>
          <p:cNvPr id="15" name="Teaching-23">
            <a:extLst>
              <a:ext uri="{FF2B5EF4-FFF2-40B4-BE49-F238E27FC236}">
                <a16:creationId xmlns:a16="http://schemas.microsoft.com/office/drawing/2014/main" id="{5259B6C3-2B7F-4556-B868-B1367E2CB4A1}"/>
              </a:ext>
            </a:extLst>
          </p:cNvPr>
          <p:cNvSpPr>
            <a:spLocks noGrp="1"/>
          </p:cNvSpPr>
          <p:nvPr/>
        </p:nvSpPr>
        <p:spPr>
          <a:xfrm>
            <a:off x="5019675" y="4905375"/>
            <a:ext cx="1000125" cy="342900"/>
          </a:xfrm>
          <a:prstGeom prst="rect">
            <a:avLst/>
          </a:prstGeom>
          <a:noFill/>
          <a:ln w="0">
            <a:noFill/>
          </a:ln>
        </p:spPr>
        <p:txBody>
          <a:bodyPr wrap="square" lIns="0" tIns="0" rIns="0" bIns="0" anchor="t">
            <a:noAutofit/>
          </a:bodyPr>
          <a:lstStyle/>
          <a:p>
            <a:pPr algn="ctr">
              <a:defRPr sz="2175" b="1">
                <a:solidFill>
                  <a:srgbClr val="111111"/>
                </a:solidFill>
                <a:latin typeface="Aptos"/>
                <a:ea typeface="Aptos"/>
                <a:cs typeface="Aptos"/>
              </a:defRPr>
            </a:pPr>
            <a:r>
              <a:t>+27</a:t>
            </a:r>
          </a:p>
        </p:txBody>
      </p:sp>
      <p:sp>
        <p:nvSpPr>
          <p:cNvPr id="16" name="Teaching-24">
            <a:extLst>
              <a:ext uri="{FF2B5EF4-FFF2-40B4-BE49-F238E27FC236}">
                <a16:creationId xmlns:a16="http://schemas.microsoft.com/office/drawing/2014/main" id="{99FFA6B3-620D-4035-B34B-3A3DD77DB2C8}"/>
              </a:ext>
            </a:extLst>
          </p:cNvPr>
          <p:cNvSpPr>
            <a:spLocks noGrp="1"/>
          </p:cNvSpPr>
          <p:nvPr/>
        </p:nvSpPr>
        <p:spPr>
          <a:xfrm>
            <a:off x="7029450" y="5286375"/>
            <a:ext cx="114300" cy="114300"/>
          </a:xfrm>
          <a:prstGeom prst="ellipse">
            <a:avLst/>
          </a:prstGeom>
          <a:solidFill>
            <a:srgbClr val="244E6A"/>
          </a:solidFill>
          <a:ln w="13335">
            <a:solidFill>
              <a:srgbClr val="244E6A"/>
            </a:solidFill>
          </a:ln>
        </p:spPr>
        <p:txBody>
          <a:bodyPr/>
          <a:lstStyle/>
          <a:p>
            <a:endParaRPr lang="en-US"/>
          </a:p>
        </p:txBody>
      </p:sp>
      <p:sp>
        <p:nvSpPr>
          <p:cNvPr id="17" name="Teaching-25">
            <a:extLst>
              <a:ext uri="{FF2B5EF4-FFF2-40B4-BE49-F238E27FC236}">
                <a16:creationId xmlns:a16="http://schemas.microsoft.com/office/drawing/2014/main" id="{9F2AA291-B920-46AF-95B4-FB3BF4B588BE}"/>
              </a:ext>
            </a:extLst>
          </p:cNvPr>
          <p:cNvSpPr>
            <a:spLocks noGrp="1"/>
          </p:cNvSpPr>
          <p:nvPr/>
        </p:nvSpPr>
        <p:spPr>
          <a:xfrm>
            <a:off x="6705600" y="5534025"/>
            <a:ext cx="762000" cy="371475"/>
          </a:xfrm>
          <a:prstGeom prst="rect">
            <a:avLst/>
          </a:prstGeom>
          <a:noFill/>
          <a:ln w="0">
            <a:noFill/>
          </a:ln>
        </p:spPr>
        <p:txBody>
          <a:bodyPr wrap="square" lIns="0" tIns="0" rIns="0" bIns="0" anchor="t">
            <a:noAutofit/>
          </a:bodyPr>
          <a:lstStyle/>
          <a:p>
            <a:pPr algn="ctr">
              <a:defRPr sz="2325" b="1">
                <a:solidFill>
                  <a:srgbClr val="111111"/>
                </a:solidFill>
                <a:latin typeface="Aptos"/>
                <a:ea typeface="Aptos"/>
                <a:cs typeface="Aptos"/>
              </a:defRPr>
            </a:pPr>
            <a:r>
              <a:t>71</a:t>
            </a:r>
          </a:p>
        </p:txBody>
      </p:sp>
      <p:sp>
        <p:nvSpPr>
          <p:cNvPr id="18" name="Teaching-26">
            <a:extLst>
              <a:ext uri="{FF2B5EF4-FFF2-40B4-BE49-F238E27FC236}">
                <a16:creationId xmlns:a16="http://schemas.microsoft.com/office/drawing/2014/main" id="{34BAF84A-E862-4D67-891E-F0A304D62B1E}"/>
              </a:ext>
            </a:extLst>
          </p:cNvPr>
          <p:cNvSpPr>
            <a:spLocks noGrp="1"/>
          </p:cNvSpPr>
          <p:nvPr/>
        </p:nvSpPr>
        <p:spPr>
          <a:xfrm>
            <a:off x="7277100" y="5343525"/>
            <a:ext cx="2381250" cy="0"/>
          </a:xfrm>
          <a:prstGeom prst="line">
            <a:avLst/>
          </a:prstGeom>
          <a:noFill/>
          <a:ln w="19050">
            <a:solidFill>
              <a:srgbClr val="111111"/>
            </a:solidFill>
          </a:ln>
        </p:spPr>
        <p:txBody>
          <a:bodyPr/>
          <a:lstStyle/>
          <a:p>
            <a:endParaRPr lang="en-US"/>
          </a:p>
        </p:txBody>
      </p:sp>
      <p:sp>
        <p:nvSpPr>
          <p:cNvPr id="19" name="Teaching-27">
            <a:extLst>
              <a:ext uri="{FF2B5EF4-FFF2-40B4-BE49-F238E27FC236}">
                <a16:creationId xmlns:a16="http://schemas.microsoft.com/office/drawing/2014/main" id="{26898D79-B02D-4A69-893B-21BF7DD882C8}"/>
              </a:ext>
            </a:extLst>
          </p:cNvPr>
          <p:cNvSpPr>
            <a:spLocks noGrp="1"/>
          </p:cNvSpPr>
          <p:nvPr/>
        </p:nvSpPr>
        <p:spPr>
          <a:xfrm>
            <a:off x="7800975" y="4905375"/>
            <a:ext cx="1000125" cy="342900"/>
          </a:xfrm>
          <a:prstGeom prst="rect">
            <a:avLst/>
          </a:prstGeom>
          <a:noFill/>
          <a:ln w="0">
            <a:noFill/>
          </a:ln>
        </p:spPr>
        <p:txBody>
          <a:bodyPr wrap="square" lIns="0" tIns="0" rIns="0" bIns="0" anchor="t">
            <a:noAutofit/>
          </a:bodyPr>
          <a:lstStyle/>
          <a:p>
            <a:pPr algn="ctr">
              <a:defRPr sz="2175" b="1">
                <a:solidFill>
                  <a:srgbClr val="111111"/>
                </a:solidFill>
                <a:latin typeface="Aptos"/>
                <a:ea typeface="Aptos"/>
                <a:cs typeface="Aptos"/>
              </a:defRPr>
            </a:pPr>
            <a:r>
              <a:t>+27</a:t>
            </a:r>
          </a:p>
        </p:txBody>
      </p:sp>
      <p:sp>
        <p:nvSpPr>
          <p:cNvPr id="20" name="Teaching-28">
            <a:extLst>
              <a:ext uri="{FF2B5EF4-FFF2-40B4-BE49-F238E27FC236}">
                <a16:creationId xmlns:a16="http://schemas.microsoft.com/office/drawing/2014/main" id="{89E42DEC-B351-4BEE-9F06-951076A3D7A2}"/>
              </a:ext>
            </a:extLst>
          </p:cNvPr>
          <p:cNvSpPr>
            <a:spLocks noGrp="1"/>
          </p:cNvSpPr>
          <p:nvPr/>
        </p:nvSpPr>
        <p:spPr>
          <a:xfrm>
            <a:off x="9810750" y="5286375"/>
            <a:ext cx="114300" cy="114300"/>
          </a:xfrm>
          <a:prstGeom prst="ellipse">
            <a:avLst/>
          </a:prstGeom>
          <a:solidFill>
            <a:srgbClr val="244E6A"/>
          </a:solidFill>
          <a:ln w="13335">
            <a:solidFill>
              <a:srgbClr val="244E6A"/>
            </a:solidFill>
          </a:ln>
        </p:spPr>
        <p:txBody>
          <a:bodyPr/>
          <a:lstStyle/>
          <a:p>
            <a:endParaRPr lang="en-US"/>
          </a:p>
        </p:txBody>
      </p:sp>
      <p:sp>
        <p:nvSpPr>
          <p:cNvPr id="21" name="Teaching-29">
            <a:extLst>
              <a:ext uri="{FF2B5EF4-FFF2-40B4-BE49-F238E27FC236}">
                <a16:creationId xmlns:a16="http://schemas.microsoft.com/office/drawing/2014/main" id="{B691B93D-FD16-4C88-AE56-BD097E5014B4}"/>
              </a:ext>
            </a:extLst>
          </p:cNvPr>
          <p:cNvSpPr>
            <a:spLocks noGrp="1"/>
          </p:cNvSpPr>
          <p:nvPr/>
        </p:nvSpPr>
        <p:spPr>
          <a:xfrm>
            <a:off x="9486900" y="5534025"/>
            <a:ext cx="762000" cy="371475"/>
          </a:xfrm>
          <a:prstGeom prst="rect">
            <a:avLst/>
          </a:prstGeom>
          <a:noFill/>
          <a:ln w="0">
            <a:noFill/>
          </a:ln>
        </p:spPr>
        <p:txBody>
          <a:bodyPr wrap="square" lIns="0" tIns="0" rIns="0" bIns="0" anchor="t">
            <a:noAutofit/>
          </a:bodyPr>
          <a:lstStyle/>
          <a:p>
            <a:pPr algn="ctr">
              <a:defRPr sz="2325" b="1">
                <a:solidFill>
                  <a:srgbClr val="111111"/>
                </a:solidFill>
                <a:latin typeface="Aptos"/>
                <a:ea typeface="Aptos"/>
                <a:cs typeface="Aptos"/>
              </a:defRPr>
            </a:pPr>
            <a:r>
              <a:t>98</a:t>
            </a:r>
          </a:p>
        </p:txBody>
      </p:sp>
    </p:spTree>
    <p:extLst>
      <p:ext uri="{BB962C8B-B14F-4D97-AF65-F5344CB8AC3E}">
        <p14:creationId xmlns:p14="http://schemas.microsoft.com/office/powerpoint/2010/main" val="3281361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140" y="2154460"/>
            <a:ext cx="5966365" cy="3318891"/>
          </a:xfrm>
        </p:spPr>
        <p:txBody>
          <a:bodyPr wrap="square" lIns="91440" tIns="45720" rIns="91440" bIns="45720" anchor="ctr">
            <a:noAutofit/>
          </a:bodyPr>
          <a:lstStyle/>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Section 1:</a:t>
            </a:r>
          </a:p>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Stratified</a:t>
            </a:r>
          </a:p>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Sampling</a:t>
            </a:r>
          </a:p>
        </p:txBody>
      </p:sp>
    </p:spTree>
    <p:extLst>
      <p:ext uri="{BB962C8B-B14F-4D97-AF65-F5344CB8AC3E}">
        <p14:creationId xmlns:p14="http://schemas.microsoft.com/office/powerpoint/2010/main" val="3281361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784" y="1023112"/>
            <a:ext cx="11293475"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Our college: two programmes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84" y="1952371"/>
            <a:ext cx="11293475" cy="742950"/>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We want views on </a:t>
            </a:r>
            <a:r>
              <a:rPr sz="2325" b="1">
                <a:solidFill>
                  <a:srgbClr val="111111"/>
                </a:solidFill>
                <a:latin typeface="Aptos"/>
                <a:ea typeface="Aptos"/>
                <a:cs typeface="Aptos"/>
              </a:rPr>
              <a:t>longer library opening hours</a:t>
            </a:r>
            <a:r>
              <a:rPr sz="2325" b="0">
                <a:solidFill>
                  <a:srgbClr val="111111"/>
                </a:solidFill>
                <a:latin typeface="Aptos"/>
                <a:ea typeface="Aptos"/>
                <a:cs typeface="Aptos"/>
              </a:rPr>
              <a:t>.</a:t>
            </a:r>
          </a:p>
        </p:txBody>
      </p:sp>
      <p:sp>
        <p:nvSpPr>
          <p:cNvPr id="6" name="S12-text-3">
            <a:extLst>
              <a:ext uri="{FF2B5EF4-FFF2-40B4-BE49-F238E27FC236}">
                <a16:creationId xmlns:a16="http://schemas.microsoft.com/office/drawing/2014/main" id="{BE16CED8-5F4D-400D-8A10-6CA57B1ABC16}"/>
              </a:ext>
            </a:extLst>
          </p:cNvPr>
          <p:cNvSpPr>
            <a:spLocks noGrp="1"/>
          </p:cNvSpPr>
          <p:nvPr/>
        </p:nvSpPr>
        <p:spPr>
          <a:xfrm>
            <a:off x="5715000" y="2895600"/>
            <a:ext cx="5762625" cy="18288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475">
                <a:solidFill>
                  <a:srgbClr val="111111"/>
                </a:solidFill>
                <a:latin typeface="Aptos"/>
                <a:ea typeface="Aptos"/>
                <a:cs typeface="Aptos"/>
              </a:defRPr>
            </a:pPr>
            <a:r>
              <a:rPr sz="2475" b="1">
                <a:solidFill>
                  <a:srgbClr val="111111"/>
                </a:solidFill>
                <a:latin typeface="Aptos"/>
                <a:ea typeface="Aptos"/>
                <a:cs typeface="Aptos"/>
              </a:rPr>
              <a:t>Select 200 students.</a:t>
            </a:r>
          </a:p>
          <a:p>
            <a:pPr marL="0" indent="0">
              <a:spcBef>
                <a:spcPts val="0"/>
              </a:spcBef>
              <a:spcAft>
                <a:spcPts val="0"/>
              </a:spcAft>
              <a:buNone/>
            </a:pPr>
            <a:endParaRPr sz="2475" b="1">
              <a:solidFill>
                <a:srgbClr val="111111"/>
              </a:solidFill>
              <a:latin typeface="Aptos"/>
              <a:ea typeface="Aptos"/>
              <a:cs typeface="Aptos"/>
            </a:endParaRPr>
          </a:p>
          <a:p>
            <a:pPr marL="0" indent="0" algn="l">
              <a:lnSpc>
                <a:spcPct val="106000"/>
              </a:lnSpc>
              <a:spcBef>
                <a:spcPts val="0"/>
              </a:spcBef>
              <a:spcAft>
                <a:spcPts val="0"/>
              </a:spcAft>
              <a:buNone/>
              <a:defRPr sz="2475">
                <a:solidFill>
                  <a:srgbClr val="111111"/>
                </a:solidFill>
                <a:latin typeface="Aptos"/>
                <a:ea typeface="Aptos"/>
                <a:cs typeface="Aptos"/>
              </a:defRPr>
            </a:pPr>
            <a:r>
              <a:rPr sz="2475" b="0">
                <a:solidFill>
                  <a:srgbClr val="111111"/>
                </a:solidFill>
                <a:latin typeface="Aptos"/>
                <a:ea typeface="Aptos"/>
                <a:cs typeface="Aptos"/>
              </a:rPr>
              <a:t>Both programmes may have</a:t>
            </a:r>
          </a:p>
          <a:p>
            <a:pPr marL="0" indent="0" algn="l">
              <a:lnSpc>
                <a:spcPct val="106000"/>
              </a:lnSpc>
              <a:spcBef>
                <a:spcPts val="0"/>
              </a:spcBef>
              <a:spcAft>
                <a:spcPts val="0"/>
              </a:spcAft>
              <a:buNone/>
              <a:defRPr sz="2475">
                <a:solidFill>
                  <a:srgbClr val="111111"/>
                </a:solidFill>
                <a:latin typeface="Aptos"/>
                <a:ea typeface="Aptos"/>
                <a:cs typeface="Aptos"/>
              </a:defRPr>
            </a:pPr>
            <a:r>
              <a:rPr sz="2475" b="0">
                <a:solidFill>
                  <a:srgbClr val="111111"/>
                </a:solidFill>
                <a:latin typeface="Aptos"/>
                <a:ea typeface="Aptos"/>
                <a:cs typeface="Aptos"/>
              </a:rPr>
              <a:t>different timetables and</a:t>
            </a:r>
          </a:p>
          <a:p>
            <a:pPr marL="0" indent="0" algn="l">
              <a:lnSpc>
                <a:spcPct val="106000"/>
              </a:lnSpc>
              <a:spcBef>
                <a:spcPts val="0"/>
              </a:spcBef>
              <a:spcAft>
                <a:spcPts val="0"/>
              </a:spcAft>
              <a:buNone/>
              <a:defRPr sz="2475">
                <a:solidFill>
                  <a:srgbClr val="111111"/>
                </a:solidFill>
                <a:latin typeface="Aptos"/>
                <a:ea typeface="Aptos"/>
                <a:cs typeface="Aptos"/>
              </a:defRPr>
            </a:pPr>
            <a:r>
              <a:rPr sz="2475" b="0">
                <a:solidFill>
                  <a:srgbClr val="111111"/>
                </a:solidFill>
                <a:latin typeface="Aptos"/>
                <a:ea typeface="Aptos"/>
                <a:cs typeface="Aptos"/>
              </a:rPr>
              <a:t>library needs.</a:t>
            </a:r>
          </a:p>
        </p:txBody>
      </p:sp>
      <p:graphicFrame>
        <p:nvGraphicFramePr>
          <p:cNvPr id="19" name="Table 18"/>
          <p:cNvGraphicFramePr/>
          <p:nvPr/>
        </p:nvGraphicFramePr>
        <p:xfrm>
          <a:off x="619125" y="2943225"/>
          <a:ext cx="4476750" cy="2514600"/>
        </p:xfrm>
        <a:graphic>
          <a:graphicData uri="http://schemas.openxmlformats.org/drawingml/2006/table">
            <a:tbl>
              <a:tblPr/>
              <a:tblGrid>
                <a:gridCol w="2714625">
                  <a:extLst>
                    <a:ext uri="{9D8B030D-6E8A-4147-A177-3AD203B41FA5}">
                      <a16:colId xmlns:a16="http://schemas.microsoft.com/office/drawing/2014/main" val="20000"/>
                    </a:ext>
                  </a:extLst>
                </a:gridCol>
                <a:gridCol w="1762125">
                  <a:extLst>
                    <a:ext uri="{9D8B030D-6E8A-4147-A177-3AD203B41FA5}">
                      <a16:colId xmlns:a16="http://schemas.microsoft.com/office/drawing/2014/main" val="20001"/>
                    </a:ext>
                  </a:extLst>
                </a:gridCol>
              </a:tblGrid>
              <a:tr h="628650">
                <a:tc>
                  <a:txBody>
                    <a:bodyPr/>
                    <a:lstStyle/>
                    <a:p>
                      <a:pPr algn="l">
                        <a:spcBef>
                          <a:spcPts val="0"/>
                        </a:spcBef>
                        <a:spcAft>
                          <a:spcPts val="0"/>
                        </a:spcAft>
                        <a:buNone/>
                      </a:pPr>
                      <a:r>
                        <a:rPr sz="2250" b="1">
                          <a:solidFill>
                            <a:srgbClr val="FFFFFF"/>
                          </a:solidFill>
                          <a:latin typeface="Aptos"/>
                          <a:ea typeface="Aptos"/>
                          <a:cs typeface="Aptos"/>
                        </a:rPr>
                        <a:t>Programme</a:t>
                      </a:r>
                    </a:p>
                  </a:txBody>
                  <a:tcPr anchor="ctr">
                    <a:solidFill>
                      <a:srgbClr val="D6171D"/>
                    </a:solidFill>
                  </a:tcPr>
                </a:tc>
                <a:tc>
                  <a:txBody>
                    <a:bodyPr/>
                    <a:lstStyle/>
                    <a:p>
                      <a:pPr algn="l">
                        <a:spcBef>
                          <a:spcPts val="0"/>
                        </a:spcBef>
                        <a:spcAft>
                          <a:spcPts val="0"/>
                        </a:spcAft>
                        <a:buNone/>
                      </a:pPr>
                      <a:r>
                        <a:rPr sz="2250" b="1">
                          <a:solidFill>
                            <a:srgbClr val="FFFFFF"/>
                          </a:solidFill>
                          <a:latin typeface="Aptos"/>
                          <a:ea typeface="Aptos"/>
                          <a:cs typeface="Aptos"/>
                        </a:rPr>
                        <a:t>Students</a:t>
                      </a:r>
                    </a:p>
                  </a:txBody>
                  <a:tcPr anchor="ctr">
                    <a:solidFill>
                      <a:srgbClr val="D6171D"/>
                    </a:solidFill>
                  </a:tcPr>
                </a:tc>
                <a:extLst>
                  <a:ext uri="{0D108BD9-81ED-4DB2-BD59-A6C34878D82A}">
                    <a16:rowId xmlns:a16="http://schemas.microsoft.com/office/drawing/2014/main" val="10000"/>
                  </a:ext>
                </a:extLst>
              </a:tr>
              <a:tr h="628650">
                <a:tc>
                  <a:txBody>
                    <a:bodyPr/>
                    <a:lstStyle/>
                    <a:p>
                      <a:pPr algn="l">
                        <a:spcBef>
                          <a:spcPts val="0"/>
                        </a:spcBef>
                        <a:spcAft>
                          <a:spcPts val="0"/>
                        </a:spcAft>
                        <a:buNone/>
                      </a:pPr>
                      <a:r>
                        <a:rPr sz="2250" b="0">
                          <a:solidFill>
                            <a:srgbClr val="111111"/>
                          </a:solidFill>
                          <a:latin typeface="Aptos"/>
                          <a:ea typeface="Aptos"/>
                          <a:cs typeface="Aptos"/>
                        </a:rPr>
                        <a:t>Business</a:t>
                      </a:r>
                    </a:p>
                  </a:txBody>
                  <a:tcPr anchor="ctr">
                    <a:solidFill>
                      <a:srgbClr val="FFFFFF"/>
                    </a:solidFill>
                  </a:tcPr>
                </a:tc>
                <a:tc>
                  <a:txBody>
                    <a:bodyPr/>
                    <a:lstStyle/>
                    <a:p>
                      <a:pPr algn="l">
                        <a:spcBef>
                          <a:spcPts val="0"/>
                        </a:spcBef>
                        <a:spcAft>
                          <a:spcPts val="0"/>
                        </a:spcAft>
                        <a:buNone/>
                      </a:pPr>
                      <a:r>
                        <a:rPr sz="2250" b="0">
                          <a:solidFill>
                            <a:srgbClr val="111111"/>
                          </a:solidFill>
                          <a:latin typeface="Aptos"/>
                          <a:ea typeface="Aptos"/>
                          <a:cs typeface="Aptos"/>
                        </a:rPr>
                        <a:t>1,200</a:t>
                      </a:r>
                    </a:p>
                  </a:txBody>
                  <a:tcPr anchor="ctr">
                    <a:solidFill>
                      <a:srgbClr val="FFFFFF"/>
                    </a:solidFill>
                  </a:tcPr>
                </a:tc>
                <a:extLst>
                  <a:ext uri="{0D108BD9-81ED-4DB2-BD59-A6C34878D82A}">
                    <a16:rowId xmlns:a16="http://schemas.microsoft.com/office/drawing/2014/main" val="10001"/>
                  </a:ext>
                </a:extLst>
              </a:tr>
              <a:tr h="628650">
                <a:tc>
                  <a:txBody>
                    <a:bodyPr/>
                    <a:lstStyle/>
                    <a:p>
                      <a:pPr algn="l">
                        <a:spcBef>
                          <a:spcPts val="0"/>
                        </a:spcBef>
                        <a:spcAft>
                          <a:spcPts val="0"/>
                        </a:spcAft>
                        <a:buNone/>
                      </a:pPr>
                      <a:r>
                        <a:rPr sz="2250" b="0">
                          <a:solidFill>
                            <a:srgbClr val="111111"/>
                          </a:solidFill>
                          <a:latin typeface="Aptos"/>
                          <a:ea typeface="Aptos"/>
                          <a:cs typeface="Aptos"/>
                        </a:rPr>
                        <a:t>Engineering</a:t>
                      </a:r>
                    </a:p>
                  </a:txBody>
                  <a:tcPr anchor="ctr">
                    <a:solidFill>
                      <a:srgbClr val="EFF8FF"/>
                    </a:solidFill>
                  </a:tcPr>
                </a:tc>
                <a:tc>
                  <a:txBody>
                    <a:bodyPr/>
                    <a:lstStyle/>
                    <a:p>
                      <a:pPr algn="l">
                        <a:spcBef>
                          <a:spcPts val="0"/>
                        </a:spcBef>
                        <a:spcAft>
                          <a:spcPts val="0"/>
                        </a:spcAft>
                        <a:buNone/>
                      </a:pPr>
                      <a:r>
                        <a:rPr sz="2250" b="0">
                          <a:solidFill>
                            <a:srgbClr val="111111"/>
                          </a:solidFill>
                          <a:latin typeface="Aptos"/>
                          <a:ea typeface="Aptos"/>
                          <a:cs typeface="Aptos"/>
                        </a:rPr>
                        <a:t>800</a:t>
                      </a:r>
                    </a:p>
                  </a:txBody>
                  <a:tcPr anchor="ctr">
                    <a:solidFill>
                      <a:srgbClr val="EFF8FF"/>
                    </a:solidFill>
                  </a:tcPr>
                </a:tc>
                <a:extLst>
                  <a:ext uri="{0D108BD9-81ED-4DB2-BD59-A6C34878D82A}">
                    <a16:rowId xmlns:a16="http://schemas.microsoft.com/office/drawing/2014/main" val="10002"/>
                  </a:ext>
                </a:extLst>
              </a:tr>
              <a:tr h="628650">
                <a:tc>
                  <a:txBody>
                    <a:bodyPr/>
                    <a:lstStyle/>
                    <a:p>
                      <a:pPr algn="l">
                        <a:spcBef>
                          <a:spcPts val="0"/>
                        </a:spcBef>
                        <a:spcAft>
                          <a:spcPts val="0"/>
                        </a:spcAft>
                        <a:buNone/>
                      </a:pPr>
                      <a:r>
                        <a:rPr sz="2250" b="0">
                          <a:solidFill>
                            <a:srgbClr val="111111"/>
                          </a:solidFill>
                          <a:latin typeface="Aptos"/>
                          <a:ea typeface="Aptos"/>
                          <a:cs typeface="Aptos"/>
                        </a:rPr>
                        <a:t>Total</a:t>
                      </a:r>
                    </a:p>
                  </a:txBody>
                  <a:tcPr anchor="ctr">
                    <a:solidFill>
                      <a:srgbClr val="FFFFFF"/>
                    </a:solidFill>
                  </a:tcPr>
                </a:tc>
                <a:tc>
                  <a:txBody>
                    <a:bodyPr/>
                    <a:lstStyle/>
                    <a:p>
                      <a:pPr algn="l">
                        <a:spcBef>
                          <a:spcPts val="0"/>
                        </a:spcBef>
                        <a:spcAft>
                          <a:spcPts val="0"/>
                        </a:spcAft>
                        <a:buNone/>
                      </a:pPr>
                      <a:r>
                        <a:rPr sz="2250" b="0">
                          <a:solidFill>
                            <a:srgbClr val="111111"/>
                          </a:solidFill>
                          <a:latin typeface="Aptos"/>
                          <a:ea typeface="Aptos"/>
                          <a:cs typeface="Aptos"/>
                        </a:rPr>
                        <a:t>2,000</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0" name="B6-diagram-1">
            <a:extLst>
              <a:ext uri="{FF2B5EF4-FFF2-40B4-BE49-F238E27FC236}">
                <a16:creationId xmlns:a16="http://schemas.microsoft.com/office/drawing/2014/main" id="{8B784278-EEB7-44DE-9C9F-CB9240F395E9}"/>
              </a:ext>
            </a:extLst>
          </p:cNvPr>
          <p:cNvSpPr>
            <a:spLocks noGrp="1"/>
          </p:cNvSpPr>
          <p:nvPr/>
        </p:nvSpPr>
        <p:spPr>
          <a:xfrm>
            <a:off x="5715000" y="4981575"/>
            <a:ext cx="3429000" cy="800100"/>
          </a:xfrm>
          <a:prstGeom prst="rect">
            <a:avLst/>
          </a:prstGeom>
          <a:noFill/>
          <a:ln w="11430">
            <a:solidFill>
              <a:srgbClr val="111111"/>
            </a:solidFill>
            <a:prstDash val="solid"/>
          </a:ln>
        </p:spPr>
        <p:txBody>
          <a:bodyPr/>
          <a:lstStyle/>
          <a:p>
            <a:endParaRPr/>
          </a:p>
        </p:txBody>
      </p:sp>
      <p:sp>
        <p:nvSpPr>
          <p:cNvPr id="11" name="B6-diagram-2">
            <a:extLst>
              <a:ext uri="{FF2B5EF4-FFF2-40B4-BE49-F238E27FC236}">
                <a16:creationId xmlns:a16="http://schemas.microsoft.com/office/drawing/2014/main" id="{2342394B-628E-4021-A7E8-23095EE33808}"/>
              </a:ext>
            </a:extLst>
          </p:cNvPr>
          <p:cNvSpPr>
            <a:spLocks noGrp="1"/>
          </p:cNvSpPr>
          <p:nvPr/>
        </p:nvSpPr>
        <p:spPr>
          <a:xfrm>
            <a:off x="9144000" y="4981575"/>
            <a:ext cx="2286000" cy="800100"/>
          </a:xfrm>
          <a:prstGeom prst="rect">
            <a:avLst/>
          </a:prstGeom>
          <a:noFill/>
          <a:ln w="11430">
            <a:solidFill>
              <a:srgbClr val="111111"/>
            </a:solidFill>
            <a:prstDash val="solid"/>
          </a:ln>
        </p:spPr>
        <p:txBody>
          <a:bodyPr/>
          <a:lstStyle/>
          <a:p>
            <a:endParaRPr/>
          </a:p>
        </p:txBody>
      </p:sp>
      <p:sp>
        <p:nvSpPr>
          <p:cNvPr id="12" name="B6-text-3">
            <a:extLst>
              <a:ext uri="{FF2B5EF4-FFF2-40B4-BE49-F238E27FC236}">
                <a16:creationId xmlns:a16="http://schemas.microsoft.com/office/drawing/2014/main" id="{3E030C39-7159-439C-B1CC-45B71C4BD401}"/>
              </a:ext>
            </a:extLst>
          </p:cNvPr>
          <p:cNvSpPr>
            <a:spLocks noGrp="1"/>
          </p:cNvSpPr>
          <p:nvPr/>
        </p:nvSpPr>
        <p:spPr>
          <a:xfrm>
            <a:off x="5810250" y="5095875"/>
            <a:ext cx="3238500" cy="628650"/>
          </a:xfrm>
          <a:prstGeom prst="rect">
            <a:avLst/>
          </a:prstGeom>
          <a:noFill/>
          <a:ln w="0">
            <a:noFill/>
          </a:ln>
        </p:spPr>
        <p:txBody>
          <a:bodyPr wrap="square" lIns="0" tIns="0" rIns="0" bIns="0" anchor="t">
            <a:noAutofit/>
          </a:bodyPr>
          <a:lstStyle/>
          <a:p>
            <a:pPr marL="0" indent="0" algn="ctr">
              <a:lnSpc>
                <a:spcPct val="106000"/>
              </a:lnSpc>
              <a:spcBef>
                <a:spcPts val="0"/>
              </a:spcBef>
              <a:spcAft>
                <a:spcPts val="0"/>
              </a:spcAft>
              <a:buNone/>
              <a:defRPr sz="2175">
                <a:solidFill>
                  <a:srgbClr val="111111"/>
                </a:solidFill>
                <a:latin typeface="Aptos"/>
                <a:ea typeface="Aptos"/>
                <a:cs typeface="Aptos"/>
              </a:defRPr>
            </a:pPr>
            <a:r>
              <a:rPr sz="2175" b="1">
                <a:solidFill>
                  <a:srgbClr val="111111"/>
                </a:solidFill>
                <a:latin typeface="Aptos"/>
                <a:ea typeface="Aptos"/>
                <a:cs typeface="Aptos"/>
              </a:rPr>
              <a:t>Business</a:t>
            </a:r>
          </a:p>
          <a:p>
            <a:pPr marL="0" indent="0" algn="ctr">
              <a:lnSpc>
                <a:spcPct val="106000"/>
              </a:lnSpc>
              <a:spcBef>
                <a:spcPts val="0"/>
              </a:spcBef>
              <a:spcAft>
                <a:spcPts val="0"/>
              </a:spcAft>
              <a:buNone/>
              <a:defRPr sz="2175">
                <a:solidFill>
                  <a:srgbClr val="111111"/>
                </a:solidFill>
                <a:latin typeface="Aptos"/>
                <a:ea typeface="Aptos"/>
                <a:cs typeface="Aptos"/>
              </a:defRPr>
            </a:pPr>
            <a:r>
              <a:rPr sz="2175" b="0">
                <a:solidFill>
                  <a:srgbClr val="111111"/>
                </a:solidFill>
                <a:latin typeface="Aptos"/>
                <a:ea typeface="Aptos"/>
                <a:cs typeface="Aptos"/>
              </a:rPr>
              <a:t>1,200  (60%)</a:t>
            </a:r>
          </a:p>
        </p:txBody>
      </p:sp>
      <p:sp>
        <p:nvSpPr>
          <p:cNvPr id="13" name="B6-text-4">
            <a:extLst>
              <a:ext uri="{FF2B5EF4-FFF2-40B4-BE49-F238E27FC236}">
                <a16:creationId xmlns:a16="http://schemas.microsoft.com/office/drawing/2014/main" id="{B9252AEC-1E99-4736-BF1D-3C5EE68655AD}"/>
              </a:ext>
            </a:extLst>
          </p:cNvPr>
          <p:cNvSpPr>
            <a:spLocks noGrp="1"/>
          </p:cNvSpPr>
          <p:nvPr/>
        </p:nvSpPr>
        <p:spPr>
          <a:xfrm>
            <a:off x="9239250" y="5095875"/>
            <a:ext cx="2095500" cy="628650"/>
          </a:xfrm>
          <a:prstGeom prst="rect">
            <a:avLst/>
          </a:prstGeom>
          <a:noFill/>
          <a:ln w="0">
            <a:noFill/>
          </a:ln>
        </p:spPr>
        <p:txBody>
          <a:bodyPr wrap="square" lIns="0" tIns="0" rIns="0" bIns="0" anchor="t">
            <a:noAutofit/>
          </a:bodyPr>
          <a:lstStyle/>
          <a:p>
            <a:pPr marL="0" indent="0" algn="ctr">
              <a:lnSpc>
                <a:spcPct val="106000"/>
              </a:lnSpc>
              <a:spcBef>
                <a:spcPts val="0"/>
              </a:spcBef>
              <a:spcAft>
                <a:spcPts val="0"/>
              </a:spcAft>
              <a:buNone/>
              <a:defRPr sz="2175">
                <a:solidFill>
                  <a:srgbClr val="111111"/>
                </a:solidFill>
                <a:latin typeface="Aptos"/>
                <a:ea typeface="Aptos"/>
                <a:cs typeface="Aptos"/>
              </a:defRPr>
            </a:pPr>
            <a:r>
              <a:rPr sz="2175" b="1">
                <a:solidFill>
                  <a:srgbClr val="111111"/>
                </a:solidFill>
                <a:latin typeface="Aptos"/>
                <a:ea typeface="Aptos"/>
                <a:cs typeface="Aptos"/>
              </a:rPr>
              <a:t>Engineering</a:t>
            </a:r>
          </a:p>
          <a:p>
            <a:pPr marL="0" indent="0" algn="ctr">
              <a:lnSpc>
                <a:spcPct val="106000"/>
              </a:lnSpc>
              <a:spcBef>
                <a:spcPts val="0"/>
              </a:spcBef>
              <a:spcAft>
                <a:spcPts val="0"/>
              </a:spcAft>
              <a:buNone/>
              <a:defRPr sz="2175">
                <a:solidFill>
                  <a:srgbClr val="111111"/>
                </a:solidFill>
                <a:latin typeface="Aptos"/>
                <a:ea typeface="Aptos"/>
                <a:cs typeface="Aptos"/>
              </a:defRPr>
            </a:pPr>
            <a:r>
              <a:rPr sz="2175" b="0">
                <a:solidFill>
                  <a:srgbClr val="111111"/>
                </a:solidFill>
                <a:latin typeface="Aptos"/>
                <a:ea typeface="Aptos"/>
                <a:cs typeface="Aptos"/>
              </a:rPr>
              <a:t>800  (40%)</a:t>
            </a:r>
          </a:p>
        </p:txBody>
      </p:sp>
      <p:sp>
        <p:nvSpPr>
          <p:cNvPr id="14" name="B6-text-5">
            <a:extLst>
              <a:ext uri="{FF2B5EF4-FFF2-40B4-BE49-F238E27FC236}">
                <a16:creationId xmlns:a16="http://schemas.microsoft.com/office/drawing/2014/main" id="{3A2B283F-926F-4D0B-860E-0D10E634E356}"/>
              </a:ext>
            </a:extLst>
          </p:cNvPr>
          <p:cNvSpPr>
            <a:spLocks noGrp="1"/>
          </p:cNvSpPr>
          <p:nvPr/>
        </p:nvSpPr>
        <p:spPr>
          <a:xfrm>
            <a:off x="523875" y="5924550"/>
            <a:ext cx="11087100" cy="333375"/>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1725">
                <a:solidFill>
                  <a:srgbClr val="111111"/>
                </a:solidFill>
                <a:latin typeface="Aptos"/>
                <a:ea typeface="Aptos"/>
                <a:cs typeface="Aptos"/>
              </a:defRPr>
            </a:pPr>
            <a:r>
              <a:rPr sz="1725" b="0">
                <a:solidFill>
                  <a:srgbClr val="111111"/>
                </a:solidFill>
                <a:latin typeface="Aptos"/>
                <a:ea typeface="Aptos"/>
                <a:cs typeface="Aptos"/>
              </a:rPr>
              <a:t>Fictional college example. “Selected” means invited; some students may not respond.</a:t>
            </a:r>
          </a:p>
        </p:txBody>
      </p:sp>
    </p:spTree>
    <p:extLst>
      <p:ext uri="{BB962C8B-B14F-4D97-AF65-F5344CB8AC3E}">
        <p14:creationId xmlns:p14="http://schemas.microsoft.com/office/powerpoint/2010/main" val="3281361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aching-30">
            <a:extLst>
              <a:ext uri="{FF2B5EF4-FFF2-40B4-BE49-F238E27FC236}">
                <a16:creationId xmlns:a16="http://schemas.microsoft.com/office/drawing/2014/main" id="{DFF68540-D98E-4938-B72C-712601C1AEFE}"/>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Random selection in every group</a:t>
            </a:r>
          </a:p>
        </p:txBody>
      </p:sp>
      <p:sp>
        <p:nvSpPr>
          <p:cNvPr id="2" name="Teaching-31">
            <a:extLst>
              <a:ext uri="{FF2B5EF4-FFF2-40B4-BE49-F238E27FC236}">
                <a16:creationId xmlns:a16="http://schemas.microsoft.com/office/drawing/2014/main" id="{386A1464-3D40-4739-BE27-FBE1057185D2}"/>
              </a:ext>
            </a:extLst>
          </p:cNvPr>
          <p:cNvSpPr>
            <a:spLocks noGrp="1"/>
          </p:cNvSpPr>
          <p:nvPr/>
        </p:nvSpPr>
        <p:spPr>
          <a:xfrm>
            <a:off x="428625" y="1952625"/>
            <a:ext cx="11296650" cy="8001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A </a:t>
            </a:r>
            <a:r>
              <a:rPr b="1"/>
              <a:t>stratum</a:t>
            </a:r>
            <a:r>
              <a:t> is one group. </a:t>
            </a:r>
            <a:r>
              <a:rPr b="1"/>
              <a:t>Strata</a:t>
            </a:r>
            <a:r>
              <a:t> means several groups.</a:t>
            </a:r>
          </a:p>
          <a:p>
            <a:pPr algn="l">
              <a:defRPr sz="2325" b="0">
                <a:solidFill>
                  <a:srgbClr val="111111"/>
                </a:solidFill>
                <a:latin typeface="Aptos"/>
                <a:ea typeface="Aptos"/>
                <a:cs typeface="Aptos"/>
              </a:defRPr>
            </a:pPr>
            <a:r>
              <a:t>Every student belongs to exactly one group.</a:t>
            </a:r>
          </a:p>
        </p:txBody>
      </p:sp>
      <p:sp>
        <p:nvSpPr>
          <p:cNvPr id="3" name="Teaching-32">
            <a:extLst>
              <a:ext uri="{FF2B5EF4-FFF2-40B4-BE49-F238E27FC236}">
                <a16:creationId xmlns:a16="http://schemas.microsoft.com/office/drawing/2014/main" id="{939BA96D-25BD-4FAF-B2C9-2F31200C5A9A}"/>
              </a:ext>
            </a:extLst>
          </p:cNvPr>
          <p:cNvSpPr>
            <a:spLocks noGrp="1"/>
          </p:cNvSpPr>
          <p:nvPr/>
        </p:nvSpPr>
        <p:spPr>
          <a:xfrm>
            <a:off x="619125" y="2981325"/>
            <a:ext cx="3333750" cy="476250"/>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t>1  Divide the list</a:t>
            </a:r>
          </a:p>
        </p:txBody>
      </p:sp>
      <p:sp>
        <p:nvSpPr>
          <p:cNvPr id="4" name="Teaching-33">
            <a:extLst>
              <a:ext uri="{FF2B5EF4-FFF2-40B4-BE49-F238E27FC236}">
                <a16:creationId xmlns:a16="http://schemas.microsoft.com/office/drawing/2014/main" id="{9DC14FAF-B69B-4C57-90EF-53734AE02E0F}"/>
              </a:ext>
            </a:extLst>
          </p:cNvPr>
          <p:cNvSpPr>
            <a:spLocks noGrp="1"/>
          </p:cNvSpPr>
          <p:nvPr/>
        </p:nvSpPr>
        <p:spPr>
          <a:xfrm>
            <a:off x="4476750" y="2981325"/>
            <a:ext cx="4095750" cy="476250"/>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t>2  Select within each list</a:t>
            </a:r>
          </a:p>
        </p:txBody>
      </p:sp>
      <p:sp>
        <p:nvSpPr>
          <p:cNvPr id="5" name="Teaching-34">
            <a:extLst>
              <a:ext uri="{FF2B5EF4-FFF2-40B4-BE49-F238E27FC236}">
                <a16:creationId xmlns:a16="http://schemas.microsoft.com/office/drawing/2014/main" id="{F594C010-0B2F-4D56-9F8D-D8935BE89B2B}"/>
              </a:ext>
            </a:extLst>
          </p:cNvPr>
          <p:cNvSpPr>
            <a:spLocks noGrp="1"/>
          </p:cNvSpPr>
          <p:nvPr/>
        </p:nvSpPr>
        <p:spPr>
          <a:xfrm>
            <a:off x="9086850" y="2981325"/>
            <a:ext cx="2400300" cy="476250"/>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t>3  Combine</a:t>
            </a:r>
          </a:p>
        </p:txBody>
      </p:sp>
      <p:sp>
        <p:nvSpPr>
          <p:cNvPr id="6" name="Teaching-35">
            <a:extLst>
              <a:ext uri="{FF2B5EF4-FFF2-40B4-BE49-F238E27FC236}">
                <a16:creationId xmlns:a16="http://schemas.microsoft.com/office/drawing/2014/main" id="{452DAC73-C337-4F40-85BB-F0ABFF18545F}"/>
              </a:ext>
            </a:extLst>
          </p:cNvPr>
          <p:cNvSpPr>
            <a:spLocks noGrp="1"/>
          </p:cNvSpPr>
          <p:nvPr/>
        </p:nvSpPr>
        <p:spPr>
          <a:xfrm>
            <a:off x="619125" y="3686175"/>
            <a:ext cx="3114675" cy="790575"/>
          </a:xfrm>
          <a:prstGeom prst="rect">
            <a:avLst/>
          </a:prstGeom>
          <a:solidFill>
            <a:srgbClr val="A6C9E2"/>
          </a:solidFill>
          <a:ln w="9525">
            <a:solidFill>
              <a:srgbClr val="8A959C"/>
            </a:solidFill>
          </a:ln>
        </p:spPr>
        <p:txBody>
          <a:bodyPr/>
          <a:lstStyle/>
          <a:p>
            <a:endParaRPr lang="en-US"/>
          </a:p>
        </p:txBody>
      </p:sp>
      <p:sp>
        <p:nvSpPr>
          <p:cNvPr id="7" name="Teaching-36">
            <a:extLst>
              <a:ext uri="{FF2B5EF4-FFF2-40B4-BE49-F238E27FC236}">
                <a16:creationId xmlns:a16="http://schemas.microsoft.com/office/drawing/2014/main" id="{9C95499C-534A-46D1-AB5E-9E0E9B7DF455}"/>
              </a:ext>
            </a:extLst>
          </p:cNvPr>
          <p:cNvSpPr>
            <a:spLocks noGrp="1"/>
          </p:cNvSpPr>
          <p:nvPr/>
        </p:nvSpPr>
        <p:spPr>
          <a:xfrm>
            <a:off x="714375" y="3781425"/>
            <a:ext cx="2924175" cy="666750"/>
          </a:xfrm>
          <a:prstGeom prst="rect">
            <a:avLst/>
          </a:prstGeom>
          <a:noFill/>
          <a:ln w="0">
            <a:noFill/>
          </a:ln>
        </p:spPr>
        <p:txBody>
          <a:bodyPr wrap="square" lIns="0" tIns="0" rIns="0" bIns="0" anchor="t">
            <a:noAutofit/>
          </a:bodyPr>
          <a:lstStyle/>
          <a:p>
            <a:pPr algn="ctr">
              <a:defRPr sz="2175" b="1">
                <a:solidFill>
                  <a:srgbClr val="111111"/>
                </a:solidFill>
                <a:latin typeface="Aptos"/>
                <a:ea typeface="Aptos"/>
                <a:cs typeface="Aptos"/>
              </a:defRPr>
            </a:pPr>
            <a:r>
              <a:t>Business</a:t>
            </a:r>
          </a:p>
          <a:p>
            <a:pPr algn="ctr">
              <a:defRPr sz="2175" b="1">
                <a:solidFill>
                  <a:srgbClr val="111111"/>
                </a:solidFill>
                <a:latin typeface="Aptos"/>
                <a:ea typeface="Aptos"/>
                <a:cs typeface="Aptos"/>
              </a:defRPr>
            </a:pPr>
            <a:r>
              <a:t>1,200 students</a:t>
            </a:r>
          </a:p>
        </p:txBody>
      </p:sp>
      <p:sp>
        <p:nvSpPr>
          <p:cNvPr id="8" name="Teaching-37">
            <a:extLst>
              <a:ext uri="{FF2B5EF4-FFF2-40B4-BE49-F238E27FC236}">
                <a16:creationId xmlns:a16="http://schemas.microsoft.com/office/drawing/2014/main" id="{46DC5A23-4ACC-4B88-A608-3EE8384A9941}"/>
              </a:ext>
            </a:extLst>
          </p:cNvPr>
          <p:cNvSpPr>
            <a:spLocks noGrp="1"/>
          </p:cNvSpPr>
          <p:nvPr/>
        </p:nvSpPr>
        <p:spPr>
          <a:xfrm>
            <a:off x="619125" y="4695825"/>
            <a:ext cx="3114675" cy="790575"/>
          </a:xfrm>
          <a:prstGeom prst="rect">
            <a:avLst/>
          </a:prstGeom>
          <a:solidFill>
            <a:srgbClr val="FFFFFF"/>
          </a:solidFill>
          <a:ln w="9525">
            <a:solidFill>
              <a:srgbClr val="8A959C"/>
            </a:solidFill>
          </a:ln>
        </p:spPr>
        <p:txBody>
          <a:bodyPr/>
          <a:lstStyle/>
          <a:p>
            <a:endParaRPr lang="en-US"/>
          </a:p>
        </p:txBody>
      </p:sp>
      <p:sp>
        <p:nvSpPr>
          <p:cNvPr id="9" name="Teaching-38">
            <a:extLst>
              <a:ext uri="{FF2B5EF4-FFF2-40B4-BE49-F238E27FC236}">
                <a16:creationId xmlns:a16="http://schemas.microsoft.com/office/drawing/2014/main" id="{DDC4D96F-C9DA-4DD5-849D-F37B8277BE25}"/>
              </a:ext>
            </a:extLst>
          </p:cNvPr>
          <p:cNvSpPr>
            <a:spLocks noGrp="1"/>
          </p:cNvSpPr>
          <p:nvPr/>
        </p:nvSpPr>
        <p:spPr>
          <a:xfrm>
            <a:off x="714375" y="4791075"/>
            <a:ext cx="2924175" cy="666750"/>
          </a:xfrm>
          <a:prstGeom prst="rect">
            <a:avLst/>
          </a:prstGeom>
          <a:noFill/>
          <a:ln w="0">
            <a:noFill/>
          </a:ln>
        </p:spPr>
        <p:txBody>
          <a:bodyPr wrap="square" lIns="0" tIns="0" rIns="0" bIns="0" anchor="t">
            <a:noAutofit/>
          </a:bodyPr>
          <a:lstStyle/>
          <a:p>
            <a:pPr algn="ctr">
              <a:defRPr sz="2175" b="1">
                <a:solidFill>
                  <a:srgbClr val="111111"/>
                </a:solidFill>
                <a:latin typeface="Aptos"/>
                <a:ea typeface="Aptos"/>
                <a:cs typeface="Aptos"/>
              </a:defRPr>
            </a:pPr>
            <a:r>
              <a:t>Engineering</a:t>
            </a:r>
          </a:p>
          <a:p>
            <a:pPr algn="ctr">
              <a:defRPr sz="2175" b="1">
                <a:solidFill>
                  <a:srgbClr val="111111"/>
                </a:solidFill>
                <a:latin typeface="Aptos"/>
                <a:ea typeface="Aptos"/>
                <a:cs typeface="Aptos"/>
              </a:defRPr>
            </a:pPr>
            <a:r>
              <a:t>800 students</a:t>
            </a:r>
          </a:p>
        </p:txBody>
      </p:sp>
      <p:sp>
        <p:nvSpPr>
          <p:cNvPr id="10" name="Teaching-39">
            <a:extLst>
              <a:ext uri="{FF2B5EF4-FFF2-40B4-BE49-F238E27FC236}">
                <a16:creationId xmlns:a16="http://schemas.microsoft.com/office/drawing/2014/main" id="{8A318486-8FA8-40F5-9530-13A9DEC1808C}"/>
              </a:ext>
            </a:extLst>
          </p:cNvPr>
          <p:cNvSpPr>
            <a:spLocks noGrp="1"/>
          </p:cNvSpPr>
          <p:nvPr/>
        </p:nvSpPr>
        <p:spPr>
          <a:xfrm>
            <a:off x="3876675" y="4029075"/>
            <a:ext cx="428625" cy="190500"/>
          </a:xfrm>
          <a:prstGeom prst="rightArrow">
            <a:avLst/>
          </a:prstGeom>
          <a:solidFill>
            <a:srgbClr val="111111"/>
          </a:solidFill>
          <a:ln w="0">
            <a:noFill/>
          </a:ln>
        </p:spPr>
        <p:txBody>
          <a:bodyPr/>
          <a:lstStyle/>
          <a:p>
            <a:endParaRPr lang="en-US"/>
          </a:p>
        </p:txBody>
      </p:sp>
      <p:sp>
        <p:nvSpPr>
          <p:cNvPr id="11" name="Teaching-40">
            <a:extLst>
              <a:ext uri="{FF2B5EF4-FFF2-40B4-BE49-F238E27FC236}">
                <a16:creationId xmlns:a16="http://schemas.microsoft.com/office/drawing/2014/main" id="{216A272C-1FD1-4C9C-B6B2-4705DE20B7BC}"/>
              </a:ext>
            </a:extLst>
          </p:cNvPr>
          <p:cNvSpPr>
            <a:spLocks noGrp="1"/>
          </p:cNvSpPr>
          <p:nvPr/>
        </p:nvSpPr>
        <p:spPr>
          <a:xfrm>
            <a:off x="3876675" y="5038725"/>
            <a:ext cx="428625" cy="190500"/>
          </a:xfrm>
          <a:prstGeom prst="rightArrow">
            <a:avLst/>
          </a:prstGeom>
          <a:solidFill>
            <a:srgbClr val="111111"/>
          </a:solidFill>
          <a:ln w="0">
            <a:noFill/>
          </a:ln>
        </p:spPr>
        <p:txBody>
          <a:bodyPr/>
          <a:lstStyle/>
          <a:p>
            <a:endParaRPr lang="en-US"/>
          </a:p>
        </p:txBody>
      </p:sp>
      <p:sp>
        <p:nvSpPr>
          <p:cNvPr id="12" name="Teaching-41">
            <a:extLst>
              <a:ext uri="{FF2B5EF4-FFF2-40B4-BE49-F238E27FC236}">
                <a16:creationId xmlns:a16="http://schemas.microsoft.com/office/drawing/2014/main" id="{8045E8C9-F4CF-4484-A201-5C7BEF357B0D}"/>
              </a:ext>
            </a:extLst>
          </p:cNvPr>
          <p:cNvSpPr>
            <a:spLocks noGrp="1"/>
          </p:cNvSpPr>
          <p:nvPr/>
        </p:nvSpPr>
        <p:spPr>
          <a:xfrm>
            <a:off x="4524375" y="3686175"/>
            <a:ext cx="3619500" cy="790575"/>
          </a:xfrm>
          <a:prstGeom prst="rect">
            <a:avLst/>
          </a:prstGeom>
          <a:solidFill>
            <a:srgbClr val="A6C9E2"/>
          </a:solidFill>
          <a:ln w="9525">
            <a:solidFill>
              <a:srgbClr val="8A959C"/>
            </a:solidFill>
          </a:ln>
        </p:spPr>
        <p:txBody>
          <a:bodyPr/>
          <a:lstStyle/>
          <a:p>
            <a:endParaRPr lang="en-US"/>
          </a:p>
        </p:txBody>
      </p:sp>
      <p:sp>
        <p:nvSpPr>
          <p:cNvPr id="13" name="Teaching-42">
            <a:extLst>
              <a:ext uri="{FF2B5EF4-FFF2-40B4-BE49-F238E27FC236}">
                <a16:creationId xmlns:a16="http://schemas.microsoft.com/office/drawing/2014/main" id="{E6249BB6-CAAC-4C20-8CBF-CF0AD5D23786}"/>
              </a:ext>
            </a:extLst>
          </p:cNvPr>
          <p:cNvSpPr>
            <a:spLocks noGrp="1"/>
          </p:cNvSpPr>
          <p:nvPr/>
        </p:nvSpPr>
        <p:spPr>
          <a:xfrm>
            <a:off x="4619625" y="3781425"/>
            <a:ext cx="3429000" cy="666750"/>
          </a:xfrm>
          <a:prstGeom prst="rect">
            <a:avLst/>
          </a:prstGeom>
          <a:noFill/>
          <a:ln w="0">
            <a:noFill/>
          </a:ln>
        </p:spPr>
        <p:txBody>
          <a:bodyPr wrap="square" lIns="0" tIns="0" rIns="0" bIns="0" anchor="t">
            <a:noAutofit/>
          </a:bodyPr>
          <a:lstStyle/>
          <a:p>
            <a:pPr algn="ctr">
              <a:defRPr sz="2175" b="1">
                <a:solidFill>
                  <a:srgbClr val="111111"/>
                </a:solidFill>
                <a:latin typeface="Aptos"/>
                <a:ea typeface="Aptos"/>
                <a:cs typeface="Aptos"/>
              </a:defRPr>
            </a:pPr>
            <a:r>
              <a:t>120 random IDs</a:t>
            </a:r>
          </a:p>
          <a:p>
            <a:pPr algn="ctr">
              <a:defRPr sz="2175" b="1">
                <a:solidFill>
                  <a:srgbClr val="111111"/>
                </a:solidFill>
                <a:latin typeface="Aptos"/>
                <a:ea typeface="Aptos"/>
                <a:cs typeface="Aptos"/>
              </a:defRPr>
            </a:pPr>
            <a:r>
              <a:t>from Business</a:t>
            </a:r>
          </a:p>
        </p:txBody>
      </p:sp>
      <p:sp>
        <p:nvSpPr>
          <p:cNvPr id="14" name="Teaching-43">
            <a:extLst>
              <a:ext uri="{FF2B5EF4-FFF2-40B4-BE49-F238E27FC236}">
                <a16:creationId xmlns:a16="http://schemas.microsoft.com/office/drawing/2014/main" id="{69EB6F36-B8E7-44F6-9B8D-931128CA323E}"/>
              </a:ext>
            </a:extLst>
          </p:cNvPr>
          <p:cNvSpPr>
            <a:spLocks noGrp="1"/>
          </p:cNvSpPr>
          <p:nvPr/>
        </p:nvSpPr>
        <p:spPr>
          <a:xfrm>
            <a:off x="4524375" y="4695825"/>
            <a:ext cx="3619500" cy="790575"/>
          </a:xfrm>
          <a:prstGeom prst="rect">
            <a:avLst/>
          </a:prstGeom>
          <a:solidFill>
            <a:srgbClr val="FFFFFF"/>
          </a:solidFill>
          <a:ln w="9525">
            <a:solidFill>
              <a:srgbClr val="8A959C"/>
            </a:solidFill>
          </a:ln>
        </p:spPr>
        <p:txBody>
          <a:bodyPr/>
          <a:lstStyle/>
          <a:p>
            <a:endParaRPr lang="en-US"/>
          </a:p>
        </p:txBody>
      </p:sp>
      <p:sp>
        <p:nvSpPr>
          <p:cNvPr id="15" name="Teaching-44">
            <a:extLst>
              <a:ext uri="{FF2B5EF4-FFF2-40B4-BE49-F238E27FC236}">
                <a16:creationId xmlns:a16="http://schemas.microsoft.com/office/drawing/2014/main" id="{380F32A9-86C4-4D98-9EB5-46142C8F5584}"/>
              </a:ext>
            </a:extLst>
          </p:cNvPr>
          <p:cNvSpPr>
            <a:spLocks noGrp="1"/>
          </p:cNvSpPr>
          <p:nvPr/>
        </p:nvSpPr>
        <p:spPr>
          <a:xfrm>
            <a:off x="4619625" y="4791075"/>
            <a:ext cx="3429000" cy="666750"/>
          </a:xfrm>
          <a:prstGeom prst="rect">
            <a:avLst/>
          </a:prstGeom>
          <a:noFill/>
          <a:ln w="0">
            <a:noFill/>
          </a:ln>
        </p:spPr>
        <p:txBody>
          <a:bodyPr wrap="square" lIns="0" tIns="0" rIns="0" bIns="0" anchor="t">
            <a:noAutofit/>
          </a:bodyPr>
          <a:lstStyle/>
          <a:p>
            <a:pPr algn="ctr">
              <a:defRPr sz="2175" b="1">
                <a:solidFill>
                  <a:srgbClr val="111111"/>
                </a:solidFill>
                <a:latin typeface="Aptos"/>
                <a:ea typeface="Aptos"/>
                <a:cs typeface="Aptos"/>
              </a:defRPr>
            </a:pPr>
            <a:r>
              <a:t>80 random IDs</a:t>
            </a:r>
          </a:p>
          <a:p>
            <a:pPr algn="ctr">
              <a:defRPr sz="2175" b="1">
                <a:solidFill>
                  <a:srgbClr val="111111"/>
                </a:solidFill>
                <a:latin typeface="Aptos"/>
                <a:ea typeface="Aptos"/>
                <a:cs typeface="Aptos"/>
              </a:defRPr>
            </a:pPr>
            <a:r>
              <a:t>from Engineering</a:t>
            </a:r>
          </a:p>
        </p:txBody>
      </p:sp>
      <p:sp>
        <p:nvSpPr>
          <p:cNvPr id="16" name="Teaching-45">
            <a:extLst>
              <a:ext uri="{FF2B5EF4-FFF2-40B4-BE49-F238E27FC236}">
                <a16:creationId xmlns:a16="http://schemas.microsoft.com/office/drawing/2014/main" id="{99C1FE98-8939-472E-A519-3D22D5E9C7AF}"/>
              </a:ext>
            </a:extLst>
          </p:cNvPr>
          <p:cNvSpPr>
            <a:spLocks noGrp="1"/>
          </p:cNvSpPr>
          <p:nvPr/>
        </p:nvSpPr>
        <p:spPr>
          <a:xfrm>
            <a:off x="8334375" y="4533900"/>
            <a:ext cx="542925" cy="190500"/>
          </a:xfrm>
          <a:prstGeom prst="rightArrow">
            <a:avLst/>
          </a:prstGeom>
          <a:solidFill>
            <a:srgbClr val="111111"/>
          </a:solidFill>
          <a:ln w="0">
            <a:noFill/>
          </a:ln>
        </p:spPr>
        <p:txBody>
          <a:bodyPr/>
          <a:lstStyle/>
          <a:p>
            <a:endParaRPr lang="en-US"/>
          </a:p>
        </p:txBody>
      </p:sp>
      <p:sp>
        <p:nvSpPr>
          <p:cNvPr id="17" name="Teaching-46">
            <a:extLst>
              <a:ext uri="{FF2B5EF4-FFF2-40B4-BE49-F238E27FC236}">
                <a16:creationId xmlns:a16="http://schemas.microsoft.com/office/drawing/2014/main" id="{10F97BF6-0F29-4CD4-A75A-FC406D276358}"/>
              </a:ext>
            </a:extLst>
          </p:cNvPr>
          <p:cNvSpPr>
            <a:spLocks noGrp="1"/>
          </p:cNvSpPr>
          <p:nvPr/>
        </p:nvSpPr>
        <p:spPr>
          <a:xfrm>
            <a:off x="9105900" y="4381500"/>
            <a:ext cx="2390775" cy="876300"/>
          </a:xfrm>
          <a:prstGeom prst="rect">
            <a:avLst/>
          </a:prstGeom>
          <a:noFill/>
          <a:ln w="0">
            <a:noFill/>
          </a:ln>
        </p:spPr>
        <p:txBody>
          <a:bodyPr wrap="square" lIns="0" tIns="0" rIns="0" bIns="0" anchor="t">
            <a:noAutofit/>
          </a:bodyPr>
          <a:lstStyle/>
          <a:p>
            <a:pPr algn="ctr">
              <a:defRPr sz="2325" b="0">
                <a:solidFill>
                  <a:srgbClr val="111111"/>
                </a:solidFill>
                <a:latin typeface="Aptos"/>
                <a:ea typeface="Aptos"/>
                <a:cs typeface="Aptos"/>
              </a:defRPr>
            </a:pPr>
            <a:r>
              <a:rPr b="1"/>
              <a:t>200 students</a:t>
            </a:r>
          </a:p>
          <a:p>
            <a:pPr algn="ctr">
              <a:defRPr sz="2325" b="0">
                <a:solidFill>
                  <a:srgbClr val="111111"/>
                </a:solidFill>
                <a:latin typeface="Aptos"/>
                <a:ea typeface="Aptos"/>
                <a:cs typeface="Aptos"/>
              </a:defRPr>
            </a:pPr>
            <a:r>
              <a:t>One sample</a:t>
            </a:r>
          </a:p>
        </p:txBody>
      </p:sp>
      <p:sp>
        <p:nvSpPr>
          <p:cNvPr id="18" name="Teaching-47">
            <a:extLst>
              <a:ext uri="{FF2B5EF4-FFF2-40B4-BE49-F238E27FC236}">
                <a16:creationId xmlns:a16="http://schemas.microsoft.com/office/drawing/2014/main" id="{9F9C166C-B46E-44FF-BBEC-803983D88B46}"/>
              </a:ext>
            </a:extLst>
          </p:cNvPr>
          <p:cNvSpPr>
            <a:spLocks noGrp="1"/>
          </p:cNvSpPr>
          <p:nvPr/>
        </p:nvSpPr>
        <p:spPr>
          <a:xfrm>
            <a:off x="523875" y="6010275"/>
            <a:ext cx="11087100" cy="333375"/>
          </a:xfrm>
          <a:prstGeom prst="rect">
            <a:avLst/>
          </a:prstGeom>
          <a:noFill/>
          <a:ln w="0">
            <a:noFill/>
          </a:ln>
        </p:spPr>
        <p:txBody>
          <a:bodyPr wrap="square" lIns="0" tIns="0" rIns="0" bIns="0" anchor="t">
            <a:noAutofit/>
          </a:bodyPr>
          <a:lstStyle/>
          <a:p>
            <a:pPr algn="l">
              <a:defRPr sz="1725" b="0">
                <a:solidFill>
                  <a:srgbClr val="666666"/>
                </a:solidFill>
                <a:latin typeface="Aptos"/>
                <a:ea typeface="Aptos"/>
                <a:cs typeface="Aptos"/>
              </a:defRPr>
            </a:pPr>
            <a:r>
              <a:t>Each group contributes students, and selection is random within each group.</a:t>
            </a:r>
          </a:p>
        </p:txBody>
      </p:sp>
    </p:spTree>
    <p:extLst>
      <p:ext uri="{BB962C8B-B14F-4D97-AF65-F5344CB8AC3E}">
        <p14:creationId xmlns:p14="http://schemas.microsoft.com/office/powerpoint/2010/main" val="3281361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aching-48">
            <a:extLst>
              <a:ext uri="{FF2B5EF4-FFF2-40B4-BE49-F238E27FC236}">
                <a16:creationId xmlns:a16="http://schemas.microsoft.com/office/drawing/2014/main" id="{03B22A01-15D8-4B69-9246-730916A22088}"/>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same proportions</a:t>
            </a:r>
          </a:p>
        </p:txBody>
      </p:sp>
      <p:sp>
        <p:nvSpPr>
          <p:cNvPr id="2" name="Teaching-49">
            <a:extLst>
              <a:ext uri="{FF2B5EF4-FFF2-40B4-BE49-F238E27FC236}">
                <a16:creationId xmlns:a16="http://schemas.microsoft.com/office/drawing/2014/main" id="{30DACA4B-B968-403C-90FE-F67138ED720C}"/>
              </a:ext>
            </a:extLst>
          </p:cNvPr>
          <p:cNvSpPr>
            <a:spLocks noGrp="1"/>
          </p:cNvSpPr>
          <p:nvPr/>
        </p:nvSpPr>
        <p:spPr>
          <a:xfrm>
            <a:off x="428625" y="1952625"/>
            <a:ext cx="11296650" cy="5905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Proportional stratified sampling keeps each group’s share.</a:t>
            </a:r>
          </a:p>
        </p:txBody>
      </p:sp>
      <p:sp>
        <p:nvSpPr>
          <p:cNvPr id="3" name="Teaching-50">
            <a:extLst>
              <a:ext uri="{FF2B5EF4-FFF2-40B4-BE49-F238E27FC236}">
                <a16:creationId xmlns:a16="http://schemas.microsoft.com/office/drawing/2014/main" id="{F5BBF7D3-CD75-42FB-97D5-E8768829C5C8}"/>
              </a:ext>
            </a:extLst>
          </p:cNvPr>
          <p:cNvSpPr>
            <a:spLocks noGrp="1"/>
          </p:cNvSpPr>
          <p:nvPr/>
        </p:nvSpPr>
        <p:spPr>
          <a:xfrm>
            <a:off x="619125" y="2847975"/>
            <a:ext cx="9525000" cy="4000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Population: </a:t>
            </a:r>
            <a:r>
              <a:rPr b="1"/>
              <a:t>2,000</a:t>
            </a:r>
          </a:p>
        </p:txBody>
      </p:sp>
      <p:sp>
        <p:nvSpPr>
          <p:cNvPr id="4" name="Teaching-51">
            <a:extLst>
              <a:ext uri="{FF2B5EF4-FFF2-40B4-BE49-F238E27FC236}">
                <a16:creationId xmlns:a16="http://schemas.microsoft.com/office/drawing/2014/main" id="{9A898C08-3302-4FC6-A65D-3DD8807B2BA3}"/>
              </a:ext>
            </a:extLst>
          </p:cNvPr>
          <p:cNvSpPr>
            <a:spLocks noGrp="1"/>
          </p:cNvSpPr>
          <p:nvPr/>
        </p:nvSpPr>
        <p:spPr>
          <a:xfrm>
            <a:off x="619125" y="3362325"/>
            <a:ext cx="6486525" cy="800100"/>
          </a:xfrm>
          <a:prstGeom prst="rect">
            <a:avLst/>
          </a:prstGeom>
          <a:solidFill>
            <a:srgbClr val="A6C9E2"/>
          </a:solidFill>
          <a:ln w="9525">
            <a:solidFill>
              <a:srgbClr val="111111"/>
            </a:solidFill>
          </a:ln>
        </p:spPr>
        <p:txBody>
          <a:bodyPr/>
          <a:lstStyle/>
          <a:p>
            <a:endParaRPr lang="en-US"/>
          </a:p>
        </p:txBody>
      </p:sp>
      <p:sp>
        <p:nvSpPr>
          <p:cNvPr id="5" name="Teaching-52">
            <a:extLst>
              <a:ext uri="{FF2B5EF4-FFF2-40B4-BE49-F238E27FC236}">
                <a16:creationId xmlns:a16="http://schemas.microsoft.com/office/drawing/2014/main" id="{ED973299-10A3-40DE-87F8-8E0FF3BA8EFE}"/>
              </a:ext>
            </a:extLst>
          </p:cNvPr>
          <p:cNvSpPr>
            <a:spLocks noGrp="1"/>
          </p:cNvSpPr>
          <p:nvPr/>
        </p:nvSpPr>
        <p:spPr>
          <a:xfrm>
            <a:off x="7105650" y="3362325"/>
            <a:ext cx="4324350" cy="800100"/>
          </a:xfrm>
          <a:prstGeom prst="rect">
            <a:avLst/>
          </a:prstGeom>
          <a:solidFill>
            <a:srgbClr val="FFFFFF"/>
          </a:solidFill>
          <a:ln w="9525">
            <a:solidFill>
              <a:srgbClr val="111111"/>
            </a:solidFill>
          </a:ln>
        </p:spPr>
        <p:txBody>
          <a:bodyPr/>
          <a:lstStyle/>
          <a:p>
            <a:endParaRPr lang="en-US"/>
          </a:p>
        </p:txBody>
      </p:sp>
      <p:sp>
        <p:nvSpPr>
          <p:cNvPr id="6" name="Teaching-53">
            <a:extLst>
              <a:ext uri="{FF2B5EF4-FFF2-40B4-BE49-F238E27FC236}">
                <a16:creationId xmlns:a16="http://schemas.microsoft.com/office/drawing/2014/main" id="{EAADC95B-35AD-442A-B12F-46AAB9AE0317}"/>
              </a:ext>
            </a:extLst>
          </p:cNvPr>
          <p:cNvSpPr>
            <a:spLocks noGrp="1"/>
          </p:cNvSpPr>
          <p:nvPr/>
        </p:nvSpPr>
        <p:spPr>
          <a:xfrm>
            <a:off x="733425" y="3486150"/>
            <a:ext cx="6257925" cy="657225"/>
          </a:xfrm>
          <a:prstGeom prst="rect">
            <a:avLst/>
          </a:prstGeom>
          <a:noFill/>
          <a:ln w="0">
            <a:noFill/>
          </a:ln>
        </p:spPr>
        <p:txBody>
          <a:bodyPr wrap="square" lIns="0" tIns="0" rIns="0" bIns="0" anchor="t">
            <a:noAutofit/>
          </a:bodyPr>
          <a:lstStyle/>
          <a:p>
            <a:pPr algn="ctr">
              <a:defRPr sz="2025" b="1">
                <a:solidFill>
                  <a:srgbClr val="111111"/>
                </a:solidFill>
                <a:latin typeface="Aptos"/>
                <a:ea typeface="Aptos"/>
                <a:cs typeface="Aptos"/>
              </a:defRPr>
            </a:pPr>
            <a:r>
              <a:t>Business 1,200 (60%)</a:t>
            </a:r>
          </a:p>
        </p:txBody>
      </p:sp>
      <p:sp>
        <p:nvSpPr>
          <p:cNvPr id="7" name="Teaching-54">
            <a:extLst>
              <a:ext uri="{FF2B5EF4-FFF2-40B4-BE49-F238E27FC236}">
                <a16:creationId xmlns:a16="http://schemas.microsoft.com/office/drawing/2014/main" id="{B9B3C8FE-3D19-4D27-8A09-F961C49BC6F0}"/>
              </a:ext>
            </a:extLst>
          </p:cNvPr>
          <p:cNvSpPr>
            <a:spLocks noGrp="1"/>
          </p:cNvSpPr>
          <p:nvPr/>
        </p:nvSpPr>
        <p:spPr>
          <a:xfrm>
            <a:off x="7219950" y="3486150"/>
            <a:ext cx="4095750" cy="657225"/>
          </a:xfrm>
          <a:prstGeom prst="rect">
            <a:avLst/>
          </a:prstGeom>
          <a:noFill/>
          <a:ln w="0">
            <a:noFill/>
          </a:ln>
        </p:spPr>
        <p:txBody>
          <a:bodyPr wrap="square" lIns="0" tIns="0" rIns="0" bIns="0" anchor="t">
            <a:noAutofit/>
          </a:bodyPr>
          <a:lstStyle/>
          <a:p>
            <a:pPr algn="ctr">
              <a:defRPr sz="2025" b="1">
                <a:solidFill>
                  <a:srgbClr val="111111"/>
                </a:solidFill>
                <a:latin typeface="Aptos"/>
                <a:ea typeface="Aptos"/>
                <a:cs typeface="Aptos"/>
              </a:defRPr>
            </a:pPr>
            <a:r>
              <a:t>Engineering 800 (40%)</a:t>
            </a:r>
          </a:p>
        </p:txBody>
      </p:sp>
      <p:sp>
        <p:nvSpPr>
          <p:cNvPr id="8" name="Teaching-55">
            <a:extLst>
              <a:ext uri="{FF2B5EF4-FFF2-40B4-BE49-F238E27FC236}">
                <a16:creationId xmlns:a16="http://schemas.microsoft.com/office/drawing/2014/main" id="{AF37C097-4F12-46C2-9098-427CE1F07DE8}"/>
              </a:ext>
            </a:extLst>
          </p:cNvPr>
          <p:cNvSpPr>
            <a:spLocks noGrp="1"/>
          </p:cNvSpPr>
          <p:nvPr/>
        </p:nvSpPr>
        <p:spPr>
          <a:xfrm>
            <a:off x="619125" y="4572000"/>
            <a:ext cx="9525000" cy="4000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Selected sample: </a:t>
            </a:r>
            <a:r>
              <a:rPr b="1"/>
              <a:t>200</a:t>
            </a:r>
          </a:p>
        </p:txBody>
      </p:sp>
      <p:sp>
        <p:nvSpPr>
          <p:cNvPr id="9" name="Teaching-56">
            <a:extLst>
              <a:ext uri="{FF2B5EF4-FFF2-40B4-BE49-F238E27FC236}">
                <a16:creationId xmlns:a16="http://schemas.microsoft.com/office/drawing/2014/main" id="{E1CCC0EE-2C4C-4F28-BF06-97238D2659E9}"/>
              </a:ext>
            </a:extLst>
          </p:cNvPr>
          <p:cNvSpPr>
            <a:spLocks noGrp="1"/>
          </p:cNvSpPr>
          <p:nvPr/>
        </p:nvSpPr>
        <p:spPr>
          <a:xfrm>
            <a:off x="619125" y="5086350"/>
            <a:ext cx="6486525" cy="800100"/>
          </a:xfrm>
          <a:prstGeom prst="rect">
            <a:avLst/>
          </a:prstGeom>
          <a:solidFill>
            <a:srgbClr val="A6C9E2"/>
          </a:solidFill>
          <a:ln w="9525">
            <a:solidFill>
              <a:srgbClr val="111111"/>
            </a:solidFill>
          </a:ln>
        </p:spPr>
        <p:txBody>
          <a:bodyPr/>
          <a:lstStyle/>
          <a:p>
            <a:endParaRPr lang="en-US"/>
          </a:p>
        </p:txBody>
      </p:sp>
      <p:sp>
        <p:nvSpPr>
          <p:cNvPr id="10" name="Teaching-57">
            <a:extLst>
              <a:ext uri="{FF2B5EF4-FFF2-40B4-BE49-F238E27FC236}">
                <a16:creationId xmlns:a16="http://schemas.microsoft.com/office/drawing/2014/main" id="{28A62AB5-FB11-45D1-94CE-6E371BCAB863}"/>
              </a:ext>
            </a:extLst>
          </p:cNvPr>
          <p:cNvSpPr>
            <a:spLocks noGrp="1"/>
          </p:cNvSpPr>
          <p:nvPr/>
        </p:nvSpPr>
        <p:spPr>
          <a:xfrm>
            <a:off x="7105650" y="5086350"/>
            <a:ext cx="4324350" cy="800100"/>
          </a:xfrm>
          <a:prstGeom prst="rect">
            <a:avLst/>
          </a:prstGeom>
          <a:solidFill>
            <a:srgbClr val="FFFFFF"/>
          </a:solidFill>
          <a:ln w="9525">
            <a:solidFill>
              <a:srgbClr val="111111"/>
            </a:solidFill>
          </a:ln>
        </p:spPr>
        <p:txBody>
          <a:bodyPr/>
          <a:lstStyle/>
          <a:p>
            <a:endParaRPr lang="en-US"/>
          </a:p>
        </p:txBody>
      </p:sp>
      <p:sp>
        <p:nvSpPr>
          <p:cNvPr id="11" name="Teaching-58">
            <a:extLst>
              <a:ext uri="{FF2B5EF4-FFF2-40B4-BE49-F238E27FC236}">
                <a16:creationId xmlns:a16="http://schemas.microsoft.com/office/drawing/2014/main" id="{6B54D6E3-DE33-47BB-8B5F-7D5F80DD8C1D}"/>
              </a:ext>
            </a:extLst>
          </p:cNvPr>
          <p:cNvSpPr>
            <a:spLocks noGrp="1"/>
          </p:cNvSpPr>
          <p:nvPr/>
        </p:nvSpPr>
        <p:spPr>
          <a:xfrm>
            <a:off x="733425" y="5210175"/>
            <a:ext cx="6257925" cy="657225"/>
          </a:xfrm>
          <a:prstGeom prst="rect">
            <a:avLst/>
          </a:prstGeom>
          <a:noFill/>
          <a:ln w="0">
            <a:noFill/>
          </a:ln>
        </p:spPr>
        <p:txBody>
          <a:bodyPr wrap="square" lIns="0" tIns="0" rIns="0" bIns="0" anchor="t">
            <a:noAutofit/>
          </a:bodyPr>
          <a:lstStyle/>
          <a:p>
            <a:pPr algn="ctr">
              <a:defRPr sz="2025" b="1">
                <a:solidFill>
                  <a:srgbClr val="111111"/>
                </a:solidFill>
                <a:latin typeface="Aptos"/>
                <a:ea typeface="Aptos"/>
                <a:cs typeface="Aptos"/>
              </a:defRPr>
            </a:pPr>
            <a:r>
              <a:t>Business 120 (60%)</a:t>
            </a:r>
          </a:p>
        </p:txBody>
      </p:sp>
      <p:sp>
        <p:nvSpPr>
          <p:cNvPr id="12" name="Teaching-59">
            <a:extLst>
              <a:ext uri="{FF2B5EF4-FFF2-40B4-BE49-F238E27FC236}">
                <a16:creationId xmlns:a16="http://schemas.microsoft.com/office/drawing/2014/main" id="{DCD4476C-6582-452D-93B5-4A4D8F038465}"/>
              </a:ext>
            </a:extLst>
          </p:cNvPr>
          <p:cNvSpPr>
            <a:spLocks noGrp="1"/>
          </p:cNvSpPr>
          <p:nvPr/>
        </p:nvSpPr>
        <p:spPr>
          <a:xfrm>
            <a:off x="7219950" y="5210175"/>
            <a:ext cx="4095750" cy="657225"/>
          </a:xfrm>
          <a:prstGeom prst="rect">
            <a:avLst/>
          </a:prstGeom>
          <a:noFill/>
          <a:ln w="0">
            <a:noFill/>
          </a:ln>
        </p:spPr>
        <p:txBody>
          <a:bodyPr wrap="square" lIns="0" tIns="0" rIns="0" bIns="0" anchor="t">
            <a:noAutofit/>
          </a:bodyPr>
          <a:lstStyle/>
          <a:p>
            <a:pPr algn="ctr">
              <a:defRPr sz="2025" b="1">
                <a:solidFill>
                  <a:srgbClr val="111111"/>
                </a:solidFill>
                <a:latin typeface="Aptos"/>
                <a:ea typeface="Aptos"/>
                <a:cs typeface="Aptos"/>
              </a:defRPr>
            </a:pPr>
            <a:r>
              <a:t>Engineering 80 (40%)</a:t>
            </a:r>
          </a:p>
        </p:txBody>
      </p:sp>
    </p:spTree>
    <p:extLst>
      <p:ext uri="{BB962C8B-B14F-4D97-AF65-F5344CB8AC3E}">
        <p14:creationId xmlns:p14="http://schemas.microsoft.com/office/powerpoint/2010/main" val="3281361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784" y="1023112"/>
            <a:ext cx="11293475"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Calculate each group’s sample</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84" y="1952371"/>
            <a:ext cx="11293475" cy="742950"/>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Find the group’s share, then apply it to the sample size.</a:t>
            </a:r>
          </a:p>
        </p:txBody>
      </p:sp>
      <p:pic>
        <p:nvPicPr>
          <p:cNvPr id="19" name="Picture 18"/>
          <p:cNvPicPr>
            <a:picLocks noChangeAspect="1"/>
          </p:cNvPicPr>
          <p:nvPr/>
        </p:nvPicPr>
        <p:blipFill>
          <a:blip r:embed="rId3"/>
          <a:stretch/>
        </p:blipFill>
        <p:spPr>
          <a:xfrm>
            <a:off x="619125" y="2880704"/>
            <a:ext cx="10953750" cy="1134691"/>
          </a:xfrm>
          <a:prstGeom prst="rect">
            <a:avLst/>
          </a:prstGeom>
        </p:spPr>
      </p:pic>
      <p:pic>
        <p:nvPicPr>
          <p:cNvPr id="20" name="Picture 19"/>
          <p:cNvPicPr>
            <a:picLocks noChangeAspect="1"/>
          </p:cNvPicPr>
          <p:nvPr/>
        </p:nvPicPr>
        <p:blipFill>
          <a:blip r:embed="rId4"/>
          <a:stretch/>
        </p:blipFill>
        <p:spPr>
          <a:xfrm>
            <a:off x="900370" y="4781550"/>
            <a:ext cx="4390510" cy="1000125"/>
          </a:xfrm>
          <a:prstGeom prst="rect">
            <a:avLst/>
          </a:prstGeom>
        </p:spPr>
      </p:pic>
      <p:sp>
        <p:nvSpPr>
          <p:cNvPr id="7" name="S36-text-4">
            <a:extLst>
              <a:ext uri="{FF2B5EF4-FFF2-40B4-BE49-F238E27FC236}">
                <a16:creationId xmlns:a16="http://schemas.microsoft.com/office/drawing/2014/main" id="{4068CA8C-9753-42B9-83C7-8932A744795F}"/>
              </a:ext>
            </a:extLst>
          </p:cNvPr>
          <p:cNvSpPr>
            <a:spLocks noGrp="1"/>
          </p:cNvSpPr>
          <p:nvPr/>
        </p:nvSpPr>
        <p:spPr>
          <a:xfrm>
            <a:off x="762000" y="4295775"/>
            <a:ext cx="4572000" cy="40005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550">
                <a:solidFill>
                  <a:srgbClr val="111111"/>
                </a:solidFill>
                <a:latin typeface="Aptos"/>
                <a:ea typeface="Aptos"/>
                <a:cs typeface="Aptos"/>
              </a:defRPr>
            </a:pPr>
            <a:r>
              <a:rPr sz="2550" b="1">
                <a:solidFill>
                  <a:srgbClr val="111111"/>
                </a:solidFill>
                <a:latin typeface="Aptos"/>
                <a:ea typeface="Aptos"/>
                <a:cs typeface="Aptos"/>
              </a:rPr>
              <a:t>Business</a:t>
            </a:r>
          </a:p>
        </p:txBody>
      </p:sp>
      <p:sp>
        <p:nvSpPr>
          <p:cNvPr id="11" name="B9-text-1">
            <a:extLst>
              <a:ext uri="{FF2B5EF4-FFF2-40B4-BE49-F238E27FC236}">
                <a16:creationId xmlns:a16="http://schemas.microsoft.com/office/drawing/2014/main" id="{4CE5B0D6-1FC3-4DB9-A5E1-D7043D138F03}"/>
              </a:ext>
            </a:extLst>
          </p:cNvPr>
          <p:cNvSpPr>
            <a:spLocks noGrp="1"/>
          </p:cNvSpPr>
          <p:nvPr/>
        </p:nvSpPr>
        <p:spPr>
          <a:xfrm>
            <a:off x="6572250" y="4295775"/>
            <a:ext cx="4857750" cy="40005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550">
                <a:solidFill>
                  <a:srgbClr val="111111"/>
                </a:solidFill>
                <a:latin typeface="Aptos"/>
                <a:ea typeface="Aptos"/>
                <a:cs typeface="Aptos"/>
              </a:defRPr>
            </a:pPr>
            <a:r>
              <a:rPr sz="2550" b="1">
                <a:solidFill>
                  <a:srgbClr val="111111"/>
                </a:solidFill>
                <a:latin typeface="Aptos"/>
                <a:ea typeface="Aptos"/>
                <a:cs typeface="Aptos"/>
              </a:rPr>
              <a:t>Engineering</a:t>
            </a:r>
          </a:p>
        </p:txBody>
      </p:sp>
      <p:pic>
        <p:nvPicPr>
          <p:cNvPr id="23" name="Picture 22"/>
          <p:cNvPicPr>
            <a:picLocks noChangeAspect="1"/>
          </p:cNvPicPr>
          <p:nvPr/>
        </p:nvPicPr>
        <p:blipFill>
          <a:blip r:embed="rId5"/>
          <a:stretch/>
        </p:blipFill>
        <p:spPr>
          <a:xfrm>
            <a:off x="6698361" y="4781550"/>
            <a:ext cx="4224528" cy="1000125"/>
          </a:xfrm>
          <a:prstGeom prst="rect">
            <a:avLst/>
          </a:prstGeom>
        </p:spPr>
      </p:pic>
      <p:sp>
        <p:nvSpPr>
          <p:cNvPr id="13" name="B9-text-2">
            <a:extLst>
              <a:ext uri="{FF2B5EF4-FFF2-40B4-BE49-F238E27FC236}">
                <a16:creationId xmlns:a16="http://schemas.microsoft.com/office/drawing/2014/main" id="{5A7DF98E-B4F2-4D6C-9AEE-8B8D7F1BFFDA}"/>
              </a:ext>
            </a:extLst>
          </p:cNvPr>
          <p:cNvSpPr>
            <a:spLocks noGrp="1"/>
          </p:cNvSpPr>
          <p:nvPr/>
        </p:nvSpPr>
        <p:spPr>
          <a:xfrm>
            <a:off x="523875" y="5924550"/>
            <a:ext cx="11087100" cy="333375"/>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100">
                <a:solidFill>
                  <a:srgbClr val="111111"/>
                </a:solidFill>
                <a:latin typeface="Aptos"/>
                <a:ea typeface="Aptos"/>
                <a:cs typeface="Aptos"/>
              </a:defRPr>
            </a:pPr>
            <a:r>
              <a:rPr sz="2100" b="0">
                <a:solidFill>
                  <a:srgbClr val="111111"/>
                </a:solidFill>
                <a:latin typeface="Aptos"/>
                <a:ea typeface="Aptos"/>
                <a:cs typeface="Aptos"/>
              </a:rPr>
              <a:t>Check the total: </a:t>
            </a:r>
            <a:r>
              <a:rPr sz="2100" b="1">
                <a:solidFill>
                  <a:srgbClr val="111111"/>
                </a:solidFill>
                <a:latin typeface="Aptos"/>
                <a:ea typeface="Aptos"/>
                <a:cs typeface="Aptos"/>
              </a:rPr>
              <a:t>120 + 80 = 200 students</a:t>
            </a:r>
            <a:r>
              <a:rPr sz="2100" b="0">
                <a:solidFill>
                  <a:srgbClr val="111111"/>
                </a:solidFill>
                <a:latin typeface="Aptos"/>
                <a:ea typeface="Aptos"/>
                <a:cs typeface="Aptos"/>
              </a:rPr>
              <a:t>.</a:t>
            </a:r>
          </a:p>
        </p:txBody>
      </p:sp>
    </p:spTree>
    <p:extLst>
      <p:ext uri="{BB962C8B-B14F-4D97-AF65-F5344CB8AC3E}">
        <p14:creationId xmlns:p14="http://schemas.microsoft.com/office/powerpoint/2010/main" val="3281361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aching-60">
            <a:extLst>
              <a:ext uri="{FF2B5EF4-FFF2-40B4-BE49-F238E27FC236}">
                <a16:creationId xmlns:a16="http://schemas.microsoft.com/office/drawing/2014/main" id="{B4AA6B28-9180-4605-B899-7CF8DA3D2F05}"/>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How the random choice works</a:t>
            </a:r>
          </a:p>
        </p:txBody>
      </p:sp>
      <p:sp>
        <p:nvSpPr>
          <p:cNvPr id="2" name="Teaching-61">
            <a:extLst>
              <a:ext uri="{FF2B5EF4-FFF2-40B4-BE49-F238E27FC236}">
                <a16:creationId xmlns:a16="http://schemas.microsoft.com/office/drawing/2014/main" id="{97CD62BC-4B30-459D-BE68-9EF177F94740}"/>
              </a:ext>
            </a:extLst>
          </p:cNvPr>
          <p:cNvSpPr>
            <a:spLocks noGrp="1"/>
          </p:cNvSpPr>
          <p:nvPr/>
        </p:nvSpPr>
        <p:spPr>
          <a:xfrm>
            <a:off x="428625" y="1952625"/>
            <a:ext cx="11296650" cy="7429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Use a </a:t>
            </a:r>
            <a:r>
              <a:rPr b="1"/>
              <a:t>random-number generator</a:t>
            </a:r>
            <a:r>
              <a:t> with the complete list for each group.</a:t>
            </a:r>
          </a:p>
        </p:txBody>
      </p:sp>
      <p:graphicFrame>
        <p:nvGraphicFramePr>
          <p:cNvPr id="8" name="Table 7"/>
          <p:cNvGraphicFramePr/>
          <p:nvPr/>
        </p:nvGraphicFramePr>
        <p:xfrm>
          <a:off x="619125" y="2952750"/>
          <a:ext cx="10629900" cy="1943100"/>
        </p:xfrm>
        <a:graphic>
          <a:graphicData uri="http://schemas.openxmlformats.org/drawingml/2006/table">
            <a:tbl>
              <a:tblPr/>
              <a:tblGrid>
                <a:gridCol w="5314950">
                  <a:extLst>
                    <a:ext uri="{9D8B030D-6E8A-4147-A177-3AD203B41FA5}">
                      <a16:colId xmlns:a16="http://schemas.microsoft.com/office/drawing/2014/main" val="20000"/>
                    </a:ext>
                  </a:extLst>
                </a:gridCol>
                <a:gridCol w="5314950">
                  <a:extLst>
                    <a:ext uri="{9D8B030D-6E8A-4147-A177-3AD203B41FA5}">
                      <a16:colId xmlns:a16="http://schemas.microsoft.com/office/drawing/2014/main" val="20001"/>
                    </a:ext>
                  </a:extLst>
                </a:gridCol>
              </a:tblGrid>
              <a:tr h="552450">
                <a:tc>
                  <a:txBody>
                    <a:bodyPr/>
                    <a:lstStyle/>
                    <a:p>
                      <a:pPr algn="l"/>
                      <a:r>
                        <a:rPr sz="2175" b="1">
                          <a:solidFill>
                            <a:srgbClr val="FFFFFF"/>
                          </a:solidFill>
                          <a:latin typeface="Aptos"/>
                          <a:ea typeface="Aptos"/>
                          <a:cs typeface="Aptos"/>
                        </a:rPr>
                        <a:t>Business list</a:t>
                      </a:r>
                    </a:p>
                  </a:txBody>
                  <a:tcPr anchor="ctr">
                    <a:solidFill>
                      <a:srgbClr val="D9101B"/>
                    </a:solidFill>
                  </a:tcPr>
                </a:tc>
                <a:tc>
                  <a:txBody>
                    <a:bodyPr/>
                    <a:lstStyle/>
                    <a:p>
                      <a:pPr algn="l"/>
                      <a:r>
                        <a:rPr sz="2175" b="1">
                          <a:solidFill>
                            <a:srgbClr val="FFFFFF"/>
                          </a:solidFill>
                          <a:latin typeface="Aptos"/>
                          <a:ea typeface="Aptos"/>
                          <a:cs typeface="Aptos"/>
                        </a:rPr>
                        <a:t>Engineering list</a:t>
                      </a:r>
                    </a:p>
                  </a:txBody>
                  <a:tcPr anchor="ctr">
                    <a:solidFill>
                      <a:srgbClr val="D9101B"/>
                    </a:solidFill>
                  </a:tcPr>
                </a:tc>
                <a:extLst>
                  <a:ext uri="{0D108BD9-81ED-4DB2-BD59-A6C34878D82A}">
                    <a16:rowId xmlns:a16="http://schemas.microsoft.com/office/drawing/2014/main" val="10000"/>
                  </a:ext>
                </a:extLst>
              </a:tr>
              <a:tr h="695325">
                <a:tc>
                  <a:txBody>
                    <a:bodyPr/>
                    <a:lstStyle/>
                    <a:p>
                      <a:pPr algn="l"/>
                      <a:r>
                        <a:rPr sz="2175" b="0">
                          <a:solidFill>
                            <a:srgbClr val="111111"/>
                          </a:solidFill>
                          <a:latin typeface="Aptos"/>
                          <a:ea typeface="Aptos"/>
                          <a:cs typeface="Aptos"/>
                        </a:rPr>
                        <a:t>Unique IDs 1–1,200</a:t>
                      </a:r>
                    </a:p>
                  </a:txBody>
                  <a:tcPr anchor="ctr">
                    <a:solidFill>
                      <a:srgbClr val="FFFFFF"/>
                    </a:solidFill>
                  </a:tcPr>
                </a:tc>
                <a:tc>
                  <a:txBody>
                    <a:bodyPr/>
                    <a:lstStyle/>
                    <a:p>
                      <a:pPr algn="l"/>
                      <a:r>
                        <a:rPr sz="2175" b="0">
                          <a:solidFill>
                            <a:srgbClr val="111111"/>
                          </a:solidFill>
                          <a:latin typeface="Aptos"/>
                          <a:ea typeface="Aptos"/>
                          <a:cs typeface="Aptos"/>
                        </a:rPr>
                        <a:t>Unique IDs 1–800</a:t>
                      </a:r>
                    </a:p>
                  </a:txBody>
                  <a:tcPr anchor="ctr">
                    <a:solidFill>
                      <a:srgbClr val="FFFFFF"/>
                    </a:solidFill>
                  </a:tcPr>
                </a:tc>
                <a:extLst>
                  <a:ext uri="{0D108BD9-81ED-4DB2-BD59-A6C34878D82A}">
                    <a16:rowId xmlns:a16="http://schemas.microsoft.com/office/drawing/2014/main" val="10001"/>
                  </a:ext>
                </a:extLst>
              </a:tr>
              <a:tr h="695325">
                <a:tc>
                  <a:txBody>
                    <a:bodyPr/>
                    <a:lstStyle/>
                    <a:p>
                      <a:pPr algn="l"/>
                      <a:r>
                        <a:rPr sz="2175" b="0">
                          <a:solidFill>
                            <a:srgbClr val="111111"/>
                          </a:solidFill>
                          <a:latin typeface="Aptos"/>
                          <a:ea typeface="Aptos"/>
                          <a:cs typeface="Aptos"/>
                        </a:rPr>
                        <a:t>Generate 120 distinct IDs</a:t>
                      </a:r>
                    </a:p>
                  </a:txBody>
                  <a:tcPr anchor="ctr">
                    <a:solidFill>
                      <a:srgbClr val="EFF7FD"/>
                    </a:solidFill>
                  </a:tcPr>
                </a:tc>
                <a:tc>
                  <a:txBody>
                    <a:bodyPr/>
                    <a:lstStyle/>
                    <a:p>
                      <a:pPr algn="l"/>
                      <a:r>
                        <a:rPr sz="2175" b="0">
                          <a:solidFill>
                            <a:srgbClr val="111111"/>
                          </a:solidFill>
                          <a:latin typeface="Aptos"/>
                          <a:ea typeface="Aptos"/>
                          <a:cs typeface="Aptos"/>
                        </a:rPr>
                        <a:t>Generate 80 distinct IDs</a:t>
                      </a:r>
                    </a:p>
                  </a:txBody>
                  <a:tcPr anchor="ctr">
                    <a:solidFill>
                      <a:srgbClr val="EFF7FD"/>
                    </a:solidFill>
                  </a:tcPr>
                </a:tc>
                <a:extLst>
                  <a:ext uri="{0D108BD9-81ED-4DB2-BD59-A6C34878D82A}">
                    <a16:rowId xmlns:a16="http://schemas.microsoft.com/office/drawing/2014/main" val="10002"/>
                  </a:ext>
                </a:extLst>
              </a:tr>
            </a:tbl>
          </a:graphicData>
        </a:graphic>
      </p:graphicFrame>
      <p:sp>
        <p:nvSpPr>
          <p:cNvPr id="4" name="Teaching-62">
            <a:extLst>
              <a:ext uri="{FF2B5EF4-FFF2-40B4-BE49-F238E27FC236}">
                <a16:creationId xmlns:a16="http://schemas.microsoft.com/office/drawing/2014/main" id="{2A6483C7-28F7-4BEA-81B9-42139733CBD0}"/>
              </a:ext>
            </a:extLst>
          </p:cNvPr>
          <p:cNvSpPr>
            <a:spLocks noGrp="1"/>
          </p:cNvSpPr>
          <p:nvPr/>
        </p:nvSpPr>
        <p:spPr>
          <a:xfrm>
            <a:off x="619125" y="5181600"/>
            <a:ext cx="10668000" cy="4000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Match each generated ID to its student and send the invitation.</a:t>
            </a:r>
          </a:p>
        </p:txBody>
      </p:sp>
      <p:sp>
        <p:nvSpPr>
          <p:cNvPr id="5" name="Teaching-63">
            <a:extLst>
              <a:ext uri="{FF2B5EF4-FFF2-40B4-BE49-F238E27FC236}">
                <a16:creationId xmlns:a16="http://schemas.microsoft.com/office/drawing/2014/main" id="{E2134310-2065-47BE-A50F-9636CF500B39}"/>
              </a:ext>
            </a:extLst>
          </p:cNvPr>
          <p:cNvSpPr>
            <a:spLocks noGrp="1"/>
          </p:cNvSpPr>
          <p:nvPr/>
        </p:nvSpPr>
        <p:spPr>
          <a:xfrm>
            <a:off x="523875" y="6010275"/>
            <a:ext cx="11087100" cy="333375"/>
          </a:xfrm>
          <a:prstGeom prst="rect">
            <a:avLst/>
          </a:prstGeom>
          <a:noFill/>
          <a:ln w="0">
            <a:noFill/>
          </a:ln>
        </p:spPr>
        <p:txBody>
          <a:bodyPr wrap="square" lIns="0" tIns="0" rIns="0" bIns="0" anchor="t">
            <a:noAutofit/>
          </a:bodyPr>
          <a:lstStyle/>
          <a:p>
            <a:pPr algn="l">
              <a:defRPr sz="1725" b="0">
                <a:solidFill>
                  <a:srgbClr val="666666"/>
                </a:solidFill>
                <a:latin typeface="Aptos"/>
                <a:ea typeface="Aptos"/>
                <a:cs typeface="Aptos"/>
              </a:defRPr>
            </a:pPr>
            <a:r>
              <a:t>Use sampling without replacement. Prevent or reject repeated IDs.</a:t>
            </a:r>
          </a:p>
        </p:txBody>
      </p:sp>
    </p:spTree>
    <p:extLst>
      <p:ext uri="{BB962C8B-B14F-4D97-AF65-F5344CB8AC3E}">
        <p14:creationId xmlns:p14="http://schemas.microsoft.com/office/powerpoint/2010/main" val="3281361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784" y="1023112"/>
            <a:ext cx="11293475"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Must the group samples be equal?</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84" y="1952371"/>
            <a:ext cx="11293475" cy="742950"/>
          </a:xfrm>
        </p:spPr>
        <p:txBody>
          <a:bodyPr wrap="square" lIns="0" tIns="0" rIns="0" bIns="0" anchor="t">
            <a:noAutofit/>
          </a:bodyPr>
          <a:lstStyle/>
          <a:p>
            <a:pPr marL="0" indent="0" algn="l">
              <a:lnSpc>
                <a:spcPct val="106000"/>
              </a:lnSpc>
              <a:spcBef>
                <a:spcPts val="0"/>
              </a:spcBef>
              <a:spcAft>
                <a:spcPts val="0"/>
              </a:spcAft>
              <a:buNone/>
              <a:defRPr sz="2325">
                <a:solidFill>
                  <a:srgbClr val="111111"/>
                </a:solidFill>
                <a:latin typeface="Aptos"/>
                <a:ea typeface="Aptos"/>
                <a:cs typeface="Aptos"/>
              </a:defRPr>
            </a:pPr>
            <a:r>
              <a:rPr sz="2325" b="0">
                <a:solidFill>
                  <a:srgbClr val="111111"/>
                </a:solidFill>
                <a:latin typeface="Aptos"/>
                <a:ea typeface="Aptos"/>
                <a:cs typeface="Aptos"/>
              </a:rPr>
              <a:t>Stratified means random selection from </a:t>
            </a:r>
            <a:r>
              <a:rPr sz="2325" b="1">
                <a:solidFill>
                  <a:srgbClr val="111111"/>
                </a:solidFill>
                <a:latin typeface="Aptos"/>
                <a:ea typeface="Aptos"/>
                <a:cs typeface="Aptos"/>
              </a:rPr>
              <a:t>every group</a:t>
            </a:r>
            <a:r>
              <a:rPr sz="2325" b="0">
                <a:solidFill>
                  <a:srgbClr val="111111"/>
                </a:solidFill>
                <a:latin typeface="Aptos"/>
                <a:ea typeface="Aptos"/>
                <a:cs typeface="Aptos"/>
              </a:rPr>
              <a:t>.</a:t>
            </a:r>
          </a:p>
        </p:txBody>
      </p:sp>
      <p:sp>
        <p:nvSpPr>
          <p:cNvPr id="5" name="S10-text-2">
            <a:extLst>
              <a:ext uri="{FF2B5EF4-FFF2-40B4-BE49-F238E27FC236}">
                <a16:creationId xmlns:a16="http://schemas.microsoft.com/office/drawing/2014/main" id="{2647F900-F99A-4033-B78A-462EAF3AB74C}"/>
              </a:ext>
            </a:extLst>
          </p:cNvPr>
          <p:cNvSpPr>
            <a:spLocks noGrp="1"/>
          </p:cNvSpPr>
          <p:nvPr/>
        </p:nvSpPr>
        <p:spPr>
          <a:xfrm>
            <a:off x="619125" y="5019675"/>
            <a:ext cx="10858500" cy="74295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400">
                <a:solidFill>
                  <a:srgbClr val="111111"/>
                </a:solidFill>
                <a:latin typeface="Aptos"/>
                <a:ea typeface="Aptos"/>
                <a:cs typeface="Aptos"/>
              </a:defRPr>
            </a:pPr>
            <a:r>
              <a:rPr sz="2400" b="1">
                <a:solidFill>
                  <a:srgbClr val="111111"/>
                </a:solidFill>
                <a:latin typeface="Aptos"/>
                <a:ea typeface="Aptos"/>
                <a:cs typeface="Aptos"/>
              </a:rPr>
              <a:t>Both can be stratified samples.</a:t>
            </a:r>
          </a:p>
          <a:p>
            <a:pPr marL="0" indent="0" algn="l">
              <a:lnSpc>
                <a:spcPct val="106000"/>
              </a:lnSpc>
              <a:spcBef>
                <a:spcPts val="0"/>
              </a:spcBef>
              <a:spcAft>
                <a:spcPts val="0"/>
              </a:spcAft>
              <a:buNone/>
              <a:defRPr sz="2400">
                <a:solidFill>
                  <a:srgbClr val="111111"/>
                </a:solidFill>
                <a:latin typeface="Aptos"/>
                <a:ea typeface="Aptos"/>
                <a:cs typeface="Aptos"/>
              </a:defRPr>
            </a:pPr>
            <a:r>
              <a:rPr sz="2400" b="0">
                <a:solidFill>
                  <a:srgbClr val="111111"/>
                </a:solidFill>
                <a:latin typeface="Aptos"/>
                <a:ea typeface="Aptos"/>
                <a:cs typeface="Aptos"/>
              </a:rPr>
              <a:t>Equal numbers may help us compare the programmes.</a:t>
            </a:r>
          </a:p>
        </p:txBody>
      </p:sp>
      <p:graphicFrame>
        <p:nvGraphicFramePr>
          <p:cNvPr id="12" name="Table 11"/>
          <p:cNvGraphicFramePr/>
          <p:nvPr/>
        </p:nvGraphicFramePr>
        <p:xfrm>
          <a:off x="619125" y="2943225"/>
          <a:ext cx="10953750" cy="1828800"/>
        </p:xfrm>
        <a:graphic>
          <a:graphicData uri="http://schemas.openxmlformats.org/drawingml/2006/table">
            <a:tbl>
              <a:tblPr/>
              <a:tblGrid>
                <a:gridCol w="5429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609600">
                <a:tc>
                  <a:txBody>
                    <a:bodyPr/>
                    <a:lstStyle/>
                    <a:p>
                      <a:pPr algn="l">
                        <a:spcBef>
                          <a:spcPts val="0"/>
                        </a:spcBef>
                        <a:spcAft>
                          <a:spcPts val="0"/>
                        </a:spcAft>
                        <a:buNone/>
                      </a:pPr>
                      <a:r>
                        <a:rPr sz="2325" b="1">
                          <a:solidFill>
                            <a:srgbClr val="FFFFFF"/>
                          </a:solidFill>
                          <a:latin typeface="Aptos"/>
                          <a:ea typeface="Aptos"/>
                          <a:cs typeface="Aptos"/>
                        </a:rPr>
                        <a:t>Allocation</a:t>
                      </a:r>
                    </a:p>
                  </a:txBody>
                  <a:tcPr anchor="ctr">
                    <a:solidFill>
                      <a:srgbClr val="D6171D"/>
                    </a:solidFill>
                  </a:tcPr>
                </a:tc>
                <a:tc>
                  <a:txBody>
                    <a:bodyPr/>
                    <a:lstStyle/>
                    <a:p>
                      <a:pPr algn="l">
                        <a:spcBef>
                          <a:spcPts val="0"/>
                        </a:spcBef>
                        <a:spcAft>
                          <a:spcPts val="0"/>
                        </a:spcAft>
                        <a:buNone/>
                      </a:pPr>
                      <a:r>
                        <a:rPr sz="2325" b="1">
                          <a:solidFill>
                            <a:srgbClr val="FFFFFF"/>
                          </a:solidFill>
                          <a:latin typeface="Aptos"/>
                          <a:ea typeface="Aptos"/>
                          <a:cs typeface="Aptos"/>
                        </a:rPr>
                        <a:t>Business</a:t>
                      </a:r>
                    </a:p>
                  </a:txBody>
                  <a:tcPr anchor="ctr">
                    <a:solidFill>
                      <a:srgbClr val="D6171D"/>
                    </a:solidFill>
                  </a:tcPr>
                </a:tc>
                <a:tc>
                  <a:txBody>
                    <a:bodyPr/>
                    <a:lstStyle/>
                    <a:p>
                      <a:pPr algn="l">
                        <a:spcBef>
                          <a:spcPts val="0"/>
                        </a:spcBef>
                        <a:spcAft>
                          <a:spcPts val="0"/>
                        </a:spcAft>
                        <a:buNone/>
                      </a:pPr>
                      <a:r>
                        <a:rPr sz="2325" b="1">
                          <a:solidFill>
                            <a:srgbClr val="FFFFFF"/>
                          </a:solidFill>
                          <a:latin typeface="Aptos"/>
                          <a:ea typeface="Aptos"/>
                          <a:cs typeface="Aptos"/>
                        </a:rPr>
                        <a:t>Engineering</a:t>
                      </a:r>
                    </a:p>
                  </a:txBody>
                  <a:tcPr anchor="ctr">
                    <a:solidFill>
                      <a:srgbClr val="D6171D"/>
                    </a:solidFill>
                  </a:tcPr>
                </a:tc>
                <a:extLst>
                  <a:ext uri="{0D108BD9-81ED-4DB2-BD59-A6C34878D82A}">
                    <a16:rowId xmlns:a16="http://schemas.microsoft.com/office/drawing/2014/main" val="10000"/>
                  </a:ext>
                </a:extLst>
              </a:tr>
              <a:tr h="609600">
                <a:tc>
                  <a:txBody>
                    <a:bodyPr/>
                    <a:lstStyle/>
                    <a:p>
                      <a:pPr algn="l">
                        <a:spcBef>
                          <a:spcPts val="0"/>
                        </a:spcBef>
                        <a:spcAft>
                          <a:spcPts val="0"/>
                        </a:spcAft>
                        <a:buNone/>
                      </a:pPr>
                      <a:r>
                        <a:rPr sz="2325" b="0">
                          <a:solidFill>
                            <a:srgbClr val="111111"/>
                          </a:solidFill>
                          <a:latin typeface="Aptos"/>
                          <a:ea typeface="Aptos"/>
                          <a:cs typeface="Aptos"/>
                        </a:rPr>
                        <a:t>Proportional</a:t>
                      </a:r>
                    </a:p>
                  </a:txBody>
                  <a:tcPr anchor="ctr">
                    <a:solidFill>
                      <a:srgbClr val="FFFFFF"/>
                    </a:solidFill>
                  </a:tcPr>
                </a:tc>
                <a:tc>
                  <a:txBody>
                    <a:bodyPr/>
                    <a:lstStyle/>
                    <a:p>
                      <a:pPr algn="l">
                        <a:spcBef>
                          <a:spcPts val="0"/>
                        </a:spcBef>
                        <a:spcAft>
                          <a:spcPts val="0"/>
                        </a:spcAft>
                        <a:buNone/>
                      </a:pPr>
                      <a:r>
                        <a:rPr sz="2325" b="0">
                          <a:solidFill>
                            <a:srgbClr val="111111"/>
                          </a:solidFill>
                          <a:latin typeface="Aptos"/>
                          <a:ea typeface="Aptos"/>
                          <a:cs typeface="Aptos"/>
                        </a:rPr>
                        <a:t>120</a:t>
                      </a:r>
                    </a:p>
                  </a:txBody>
                  <a:tcPr anchor="ctr">
                    <a:solidFill>
                      <a:srgbClr val="FFFFFF"/>
                    </a:solidFill>
                  </a:tcPr>
                </a:tc>
                <a:tc>
                  <a:txBody>
                    <a:bodyPr/>
                    <a:lstStyle/>
                    <a:p>
                      <a:pPr algn="l">
                        <a:spcBef>
                          <a:spcPts val="0"/>
                        </a:spcBef>
                        <a:spcAft>
                          <a:spcPts val="0"/>
                        </a:spcAft>
                        <a:buNone/>
                      </a:pPr>
                      <a:r>
                        <a:rPr sz="2325" b="0">
                          <a:solidFill>
                            <a:srgbClr val="111111"/>
                          </a:solidFill>
                          <a:latin typeface="Aptos"/>
                          <a:ea typeface="Aptos"/>
                          <a:cs typeface="Aptos"/>
                        </a:rPr>
                        <a:t>80</a:t>
                      </a:r>
                    </a:p>
                  </a:txBody>
                  <a:tcPr anchor="ctr">
                    <a:solidFill>
                      <a:srgbClr val="FFFFFF"/>
                    </a:solidFill>
                  </a:tcPr>
                </a:tc>
                <a:extLst>
                  <a:ext uri="{0D108BD9-81ED-4DB2-BD59-A6C34878D82A}">
                    <a16:rowId xmlns:a16="http://schemas.microsoft.com/office/drawing/2014/main" val="10001"/>
                  </a:ext>
                </a:extLst>
              </a:tr>
              <a:tr h="609600">
                <a:tc>
                  <a:txBody>
                    <a:bodyPr/>
                    <a:lstStyle/>
                    <a:p>
                      <a:pPr algn="l">
                        <a:spcBef>
                          <a:spcPts val="0"/>
                        </a:spcBef>
                        <a:spcAft>
                          <a:spcPts val="0"/>
                        </a:spcAft>
                        <a:buNone/>
                      </a:pPr>
                      <a:r>
                        <a:rPr sz="2325" b="0">
                          <a:solidFill>
                            <a:srgbClr val="111111"/>
                          </a:solidFill>
                          <a:latin typeface="Aptos"/>
                          <a:ea typeface="Aptos"/>
                          <a:cs typeface="Aptos"/>
                        </a:rPr>
                        <a:t>Equal numbers</a:t>
                      </a:r>
                    </a:p>
                  </a:txBody>
                  <a:tcPr anchor="ctr">
                    <a:solidFill>
                      <a:srgbClr val="EFF8FF"/>
                    </a:solidFill>
                  </a:tcPr>
                </a:tc>
                <a:tc>
                  <a:txBody>
                    <a:bodyPr/>
                    <a:lstStyle/>
                    <a:p>
                      <a:pPr algn="l">
                        <a:spcBef>
                          <a:spcPts val="0"/>
                        </a:spcBef>
                        <a:spcAft>
                          <a:spcPts val="0"/>
                        </a:spcAft>
                        <a:buNone/>
                      </a:pPr>
                      <a:r>
                        <a:rPr sz="2325" b="0">
                          <a:solidFill>
                            <a:srgbClr val="111111"/>
                          </a:solidFill>
                          <a:latin typeface="Aptos"/>
                          <a:ea typeface="Aptos"/>
                          <a:cs typeface="Aptos"/>
                        </a:rPr>
                        <a:t>100</a:t>
                      </a:r>
                    </a:p>
                  </a:txBody>
                  <a:tcPr anchor="ctr">
                    <a:solidFill>
                      <a:srgbClr val="EFF8FF"/>
                    </a:solidFill>
                  </a:tcPr>
                </a:tc>
                <a:tc>
                  <a:txBody>
                    <a:bodyPr/>
                    <a:lstStyle/>
                    <a:p>
                      <a:pPr algn="l">
                        <a:spcBef>
                          <a:spcPts val="0"/>
                        </a:spcBef>
                        <a:spcAft>
                          <a:spcPts val="0"/>
                        </a:spcAft>
                        <a:buNone/>
                      </a:pPr>
                      <a:r>
                        <a:rPr sz="2325" b="0">
                          <a:solidFill>
                            <a:srgbClr val="111111"/>
                          </a:solidFill>
                          <a:latin typeface="Aptos"/>
                          <a:ea typeface="Aptos"/>
                          <a:cs typeface="Aptos"/>
                        </a:rPr>
                        <a:t>100</a:t>
                      </a:r>
                    </a:p>
                  </a:txBody>
                  <a:tcPr anchor="ctr">
                    <a:solidFill>
                      <a:srgbClr val="EFF8FF"/>
                    </a:solidFill>
                  </a:tcPr>
                </a:tc>
                <a:extLst>
                  <a:ext uri="{0D108BD9-81ED-4DB2-BD59-A6C34878D82A}">
                    <a16:rowId xmlns:a16="http://schemas.microsoft.com/office/drawing/2014/main" val="10002"/>
                  </a:ext>
                </a:extLst>
              </a:tr>
            </a:tbl>
          </a:graphicData>
        </a:graphic>
      </p:graphicFrame>
      <p:sp>
        <p:nvSpPr>
          <p:cNvPr id="7" name="B11-text-1">
            <a:extLst>
              <a:ext uri="{FF2B5EF4-FFF2-40B4-BE49-F238E27FC236}">
                <a16:creationId xmlns:a16="http://schemas.microsoft.com/office/drawing/2014/main" id="{2A6EC157-9BAE-4FF6-8673-EE829C1167FC}"/>
              </a:ext>
            </a:extLst>
          </p:cNvPr>
          <p:cNvSpPr>
            <a:spLocks noGrp="1"/>
          </p:cNvSpPr>
          <p:nvPr/>
        </p:nvSpPr>
        <p:spPr>
          <a:xfrm>
            <a:off x="523875" y="5915025"/>
            <a:ext cx="11087100" cy="333375"/>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1875">
                <a:solidFill>
                  <a:srgbClr val="111111"/>
                </a:solidFill>
                <a:latin typeface="Aptos"/>
                <a:ea typeface="Aptos"/>
                <a:cs typeface="Aptos"/>
              </a:defRPr>
            </a:pPr>
            <a:r>
              <a:rPr sz="1875" b="0">
                <a:solidFill>
                  <a:srgbClr val="111111"/>
                </a:solidFill>
                <a:latin typeface="Aptos"/>
                <a:ea typeface="Aptos"/>
                <a:cs typeface="Aptos"/>
              </a:rPr>
              <a:t>For an overall college result, account for the programmes’ different population sizes.</a:t>
            </a:r>
          </a:p>
        </p:txBody>
      </p:sp>
    </p:spTree>
    <p:extLst>
      <p:ext uri="{BB962C8B-B14F-4D97-AF65-F5344CB8AC3E}">
        <p14:creationId xmlns:p14="http://schemas.microsoft.com/office/powerpoint/2010/main" val="3281361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aching-64">
            <a:extLst>
              <a:ext uri="{FF2B5EF4-FFF2-40B4-BE49-F238E27FC236}">
                <a16:creationId xmlns:a16="http://schemas.microsoft.com/office/drawing/2014/main" id="{65E0BA6C-8F0B-4F7F-95A6-C2D83C1A1F4D}"/>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B1: A proportional sample</a:t>
            </a:r>
          </a:p>
        </p:txBody>
      </p:sp>
      <p:sp>
        <p:nvSpPr>
          <p:cNvPr id="2" name="Teaching-65">
            <a:extLst>
              <a:ext uri="{FF2B5EF4-FFF2-40B4-BE49-F238E27FC236}">
                <a16:creationId xmlns:a16="http://schemas.microsoft.com/office/drawing/2014/main" id="{4725A0CD-A0B2-43D5-B65A-818DC9A16D33}"/>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66">
            <a:extLst>
              <a:ext uri="{FF2B5EF4-FFF2-40B4-BE49-F238E27FC236}">
                <a16:creationId xmlns:a16="http://schemas.microsoft.com/office/drawing/2014/main" id="{38986216-9F08-451C-B433-46ED8D0D156E}"/>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EXERCISE B1</a:t>
            </a:r>
          </a:p>
        </p:txBody>
      </p:sp>
      <p:sp>
        <p:nvSpPr>
          <p:cNvPr id="4" name="Teaching-67">
            <a:extLst>
              <a:ext uri="{FF2B5EF4-FFF2-40B4-BE49-F238E27FC236}">
                <a16:creationId xmlns:a16="http://schemas.microsoft.com/office/drawing/2014/main" id="{86C986FD-D57A-48DC-81B7-9C33444966E5}"/>
              </a:ext>
            </a:extLst>
          </p:cNvPr>
          <p:cNvSpPr>
            <a:spLocks noGrp="1"/>
          </p:cNvSpPr>
          <p:nvPr/>
        </p:nvSpPr>
        <p:spPr>
          <a:xfrm>
            <a:off x="428625" y="1952625"/>
            <a:ext cx="11296650" cy="5905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A company has </a:t>
            </a:r>
            <a:r>
              <a:rPr b="1"/>
              <a:t>2,478 employees</a:t>
            </a:r>
            <a:r>
              <a:t>. Select </a:t>
            </a:r>
            <a:r>
              <a:rPr b="1"/>
              <a:t>177</a:t>
            </a:r>
            <a:r>
              <a:t> proportionally.</a:t>
            </a:r>
          </a:p>
        </p:txBody>
      </p:sp>
      <p:graphicFrame>
        <p:nvGraphicFramePr>
          <p:cNvPr id="12" name="Table 11"/>
          <p:cNvGraphicFramePr/>
          <p:nvPr/>
        </p:nvGraphicFramePr>
        <p:xfrm>
          <a:off x="619125" y="2952750"/>
          <a:ext cx="4886325" cy="2771775"/>
        </p:xfrm>
        <a:graphic>
          <a:graphicData uri="http://schemas.openxmlformats.org/drawingml/2006/table">
            <a:tbl>
              <a:tblPr/>
              <a:tblGrid>
                <a:gridCol w="3028950">
                  <a:extLst>
                    <a:ext uri="{9D8B030D-6E8A-4147-A177-3AD203B41FA5}">
                      <a16:colId xmlns:a16="http://schemas.microsoft.com/office/drawing/2014/main" val="20000"/>
                    </a:ext>
                  </a:extLst>
                </a:gridCol>
                <a:gridCol w="1857375">
                  <a:extLst>
                    <a:ext uri="{9D8B030D-6E8A-4147-A177-3AD203B41FA5}">
                      <a16:colId xmlns:a16="http://schemas.microsoft.com/office/drawing/2014/main" val="20001"/>
                    </a:ext>
                  </a:extLst>
                </a:gridCol>
              </a:tblGrid>
              <a:tr h="523875">
                <a:tc>
                  <a:txBody>
                    <a:bodyPr/>
                    <a:lstStyle/>
                    <a:p>
                      <a:pPr algn="l"/>
                      <a:r>
                        <a:rPr sz="2175" b="1">
                          <a:solidFill>
                            <a:srgbClr val="FFFFFF"/>
                          </a:solidFill>
                          <a:latin typeface="Aptos"/>
                          <a:ea typeface="Aptos"/>
                          <a:cs typeface="Aptos"/>
                        </a:rPr>
                        <a:t>Department</a:t>
                      </a:r>
                    </a:p>
                  </a:txBody>
                  <a:tcPr anchor="ctr">
                    <a:solidFill>
                      <a:srgbClr val="D9101B"/>
                    </a:solidFill>
                  </a:tcPr>
                </a:tc>
                <a:tc>
                  <a:txBody>
                    <a:bodyPr/>
                    <a:lstStyle/>
                    <a:p>
                      <a:pPr algn="l"/>
                      <a:r>
                        <a:rPr sz="2175" b="1">
                          <a:solidFill>
                            <a:srgbClr val="FFFFFF"/>
                          </a:solidFill>
                          <a:latin typeface="Aptos"/>
                          <a:ea typeface="Aptos"/>
                          <a:cs typeface="Aptos"/>
                        </a:rPr>
                        <a:t>Employees</a:t>
                      </a:r>
                    </a:p>
                  </a:txBody>
                  <a:tcPr anchor="ctr">
                    <a:solidFill>
                      <a:srgbClr val="D9101B"/>
                    </a:solidFill>
                  </a:tcPr>
                </a:tc>
                <a:extLst>
                  <a:ext uri="{0D108BD9-81ED-4DB2-BD59-A6C34878D82A}">
                    <a16:rowId xmlns:a16="http://schemas.microsoft.com/office/drawing/2014/main" val="10000"/>
                  </a:ext>
                </a:extLst>
              </a:tr>
              <a:tr h="561975">
                <a:tc>
                  <a:txBody>
                    <a:bodyPr/>
                    <a:lstStyle/>
                    <a:p>
                      <a:pPr algn="l"/>
                      <a:r>
                        <a:rPr sz="2175" b="0">
                          <a:solidFill>
                            <a:srgbClr val="111111"/>
                          </a:solidFill>
                          <a:latin typeface="Aptos"/>
                          <a:ea typeface="Aptos"/>
                          <a:cs typeface="Aptos"/>
                        </a:rPr>
                        <a:t>Production</a:t>
                      </a:r>
                    </a:p>
                  </a:txBody>
                  <a:tcPr anchor="ctr">
                    <a:solidFill>
                      <a:srgbClr val="FFFFFF"/>
                    </a:solidFill>
                  </a:tcPr>
                </a:tc>
                <a:tc>
                  <a:txBody>
                    <a:bodyPr/>
                    <a:lstStyle/>
                    <a:p>
                      <a:pPr algn="l"/>
                      <a:r>
                        <a:rPr sz="2175" b="0">
                          <a:solidFill>
                            <a:srgbClr val="111111"/>
                          </a:solidFill>
                          <a:latin typeface="Aptos"/>
                          <a:ea typeface="Aptos"/>
                          <a:cs typeface="Aptos"/>
                        </a:rPr>
                        <a:t>1,386</a:t>
                      </a:r>
                    </a:p>
                  </a:txBody>
                  <a:tcPr anchor="ctr">
                    <a:solidFill>
                      <a:srgbClr val="FFFFFF"/>
                    </a:solidFill>
                  </a:tcPr>
                </a:tc>
                <a:extLst>
                  <a:ext uri="{0D108BD9-81ED-4DB2-BD59-A6C34878D82A}">
                    <a16:rowId xmlns:a16="http://schemas.microsoft.com/office/drawing/2014/main" val="10001"/>
                  </a:ext>
                </a:extLst>
              </a:tr>
              <a:tr h="561975">
                <a:tc>
                  <a:txBody>
                    <a:bodyPr/>
                    <a:lstStyle/>
                    <a:p>
                      <a:pPr algn="l"/>
                      <a:r>
                        <a:rPr sz="2175" b="0">
                          <a:solidFill>
                            <a:srgbClr val="111111"/>
                          </a:solidFill>
                          <a:latin typeface="Aptos"/>
                          <a:ea typeface="Aptos"/>
                          <a:cs typeface="Aptos"/>
                        </a:rPr>
                        <a:t>Sales</a:t>
                      </a:r>
                    </a:p>
                  </a:txBody>
                  <a:tcPr anchor="ctr">
                    <a:solidFill>
                      <a:srgbClr val="EFF7FD"/>
                    </a:solidFill>
                  </a:tcPr>
                </a:tc>
                <a:tc>
                  <a:txBody>
                    <a:bodyPr/>
                    <a:lstStyle/>
                    <a:p>
                      <a:pPr algn="l"/>
                      <a:r>
                        <a:rPr sz="2175" b="0">
                          <a:solidFill>
                            <a:srgbClr val="111111"/>
                          </a:solidFill>
                          <a:latin typeface="Aptos"/>
                          <a:ea typeface="Aptos"/>
                          <a:cs typeface="Aptos"/>
                        </a:rPr>
                        <a:t>714</a:t>
                      </a:r>
                    </a:p>
                  </a:txBody>
                  <a:tcPr anchor="ctr">
                    <a:solidFill>
                      <a:srgbClr val="EFF7FD"/>
                    </a:solidFill>
                  </a:tcPr>
                </a:tc>
                <a:extLst>
                  <a:ext uri="{0D108BD9-81ED-4DB2-BD59-A6C34878D82A}">
                    <a16:rowId xmlns:a16="http://schemas.microsoft.com/office/drawing/2014/main" val="10002"/>
                  </a:ext>
                </a:extLst>
              </a:tr>
              <a:tr h="561975">
                <a:tc>
                  <a:txBody>
                    <a:bodyPr/>
                    <a:lstStyle/>
                    <a:p>
                      <a:pPr algn="l"/>
                      <a:r>
                        <a:rPr sz="2175" b="0">
                          <a:solidFill>
                            <a:srgbClr val="111111"/>
                          </a:solidFill>
                          <a:latin typeface="Aptos"/>
                          <a:ea typeface="Aptos"/>
                          <a:cs typeface="Aptos"/>
                        </a:rPr>
                        <a:t>Administration</a:t>
                      </a:r>
                    </a:p>
                  </a:txBody>
                  <a:tcPr anchor="ctr">
                    <a:solidFill>
                      <a:srgbClr val="FFFFFF"/>
                    </a:solidFill>
                  </a:tcPr>
                </a:tc>
                <a:tc>
                  <a:txBody>
                    <a:bodyPr/>
                    <a:lstStyle/>
                    <a:p>
                      <a:pPr algn="l"/>
                      <a:r>
                        <a:rPr sz="2175" b="0">
                          <a:solidFill>
                            <a:srgbClr val="111111"/>
                          </a:solidFill>
                          <a:latin typeface="Aptos"/>
                          <a:ea typeface="Aptos"/>
                          <a:cs typeface="Aptos"/>
                        </a:rPr>
                        <a:t>378</a:t>
                      </a:r>
                    </a:p>
                  </a:txBody>
                  <a:tcPr anchor="ctr">
                    <a:solidFill>
                      <a:srgbClr val="FFFFFF"/>
                    </a:solidFill>
                  </a:tcPr>
                </a:tc>
                <a:extLst>
                  <a:ext uri="{0D108BD9-81ED-4DB2-BD59-A6C34878D82A}">
                    <a16:rowId xmlns:a16="http://schemas.microsoft.com/office/drawing/2014/main" val="10003"/>
                  </a:ext>
                </a:extLst>
              </a:tr>
              <a:tr h="561975">
                <a:tc>
                  <a:txBody>
                    <a:bodyPr/>
                    <a:lstStyle/>
                    <a:p>
                      <a:pPr algn="l"/>
                      <a:r>
                        <a:rPr sz="2175" b="0">
                          <a:solidFill>
                            <a:srgbClr val="111111"/>
                          </a:solidFill>
                          <a:latin typeface="Aptos"/>
                          <a:ea typeface="Aptos"/>
                          <a:cs typeface="Aptos"/>
                        </a:rPr>
                        <a:t>Total</a:t>
                      </a:r>
                    </a:p>
                  </a:txBody>
                  <a:tcPr anchor="ctr">
                    <a:solidFill>
                      <a:srgbClr val="EFF7FD"/>
                    </a:solidFill>
                  </a:tcPr>
                </a:tc>
                <a:tc>
                  <a:txBody>
                    <a:bodyPr/>
                    <a:lstStyle/>
                    <a:p>
                      <a:pPr algn="l"/>
                      <a:r>
                        <a:rPr sz="2175" b="0">
                          <a:solidFill>
                            <a:srgbClr val="111111"/>
                          </a:solidFill>
                          <a:latin typeface="Aptos"/>
                          <a:ea typeface="Aptos"/>
                          <a:cs typeface="Aptos"/>
                        </a:rPr>
                        <a:t>2,478</a:t>
                      </a:r>
                    </a:p>
                  </a:txBody>
                  <a:tcPr anchor="ctr">
                    <a:solidFill>
                      <a:srgbClr val="EFF7FD"/>
                    </a:solidFill>
                  </a:tcPr>
                </a:tc>
                <a:extLst>
                  <a:ext uri="{0D108BD9-81ED-4DB2-BD59-A6C34878D82A}">
                    <a16:rowId xmlns:a16="http://schemas.microsoft.com/office/drawing/2014/main" val="10004"/>
                  </a:ext>
                </a:extLst>
              </a:tr>
            </a:tbl>
          </a:graphicData>
        </a:graphic>
      </p:graphicFrame>
      <p:sp>
        <p:nvSpPr>
          <p:cNvPr id="6" name="Teaching-68">
            <a:extLst>
              <a:ext uri="{FF2B5EF4-FFF2-40B4-BE49-F238E27FC236}">
                <a16:creationId xmlns:a16="http://schemas.microsoft.com/office/drawing/2014/main" id="{1C454B60-D1EF-4CAC-BB72-EF749032907C}"/>
              </a:ext>
            </a:extLst>
          </p:cNvPr>
          <p:cNvSpPr>
            <a:spLocks noGrp="1"/>
          </p:cNvSpPr>
          <p:nvPr/>
        </p:nvSpPr>
        <p:spPr>
          <a:xfrm>
            <a:off x="6191250" y="2952750"/>
            <a:ext cx="5238750" cy="176212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Calculate the allocation to:</a:t>
            </a:r>
          </a:p>
          <a:p>
            <a:pPr algn="l">
              <a:defRPr sz="2325" b="0">
                <a:solidFill>
                  <a:srgbClr val="111111"/>
                </a:solidFill>
                <a:latin typeface="Aptos"/>
                <a:ea typeface="Aptos"/>
                <a:cs typeface="Aptos"/>
              </a:defRPr>
            </a:pPr>
            <a:r>
              <a:rPr b="1"/>
              <a:t>B1.1</a:t>
            </a:r>
            <a:r>
              <a:t>  Production</a:t>
            </a:r>
          </a:p>
          <a:p>
            <a:pPr algn="l">
              <a:defRPr sz="2325" b="0">
                <a:solidFill>
                  <a:srgbClr val="111111"/>
                </a:solidFill>
                <a:latin typeface="Aptos"/>
                <a:ea typeface="Aptos"/>
                <a:cs typeface="Aptos"/>
              </a:defRPr>
            </a:pPr>
            <a:r>
              <a:rPr b="1"/>
              <a:t>B1.2</a:t>
            </a:r>
            <a:r>
              <a:t>  Sales</a:t>
            </a:r>
          </a:p>
          <a:p>
            <a:pPr algn="l">
              <a:defRPr sz="2325" b="0">
                <a:solidFill>
                  <a:srgbClr val="111111"/>
                </a:solidFill>
                <a:latin typeface="Aptos"/>
                <a:ea typeface="Aptos"/>
                <a:cs typeface="Aptos"/>
              </a:defRPr>
            </a:pPr>
            <a:r>
              <a:rPr b="1"/>
              <a:t>B1.3</a:t>
            </a:r>
            <a:r>
              <a:t>  Administration</a:t>
            </a:r>
          </a:p>
        </p:txBody>
      </p:sp>
      <p:sp>
        <p:nvSpPr>
          <p:cNvPr id="7" name="Teaching-69">
            <a:extLst>
              <a:ext uri="{FF2B5EF4-FFF2-40B4-BE49-F238E27FC236}">
                <a16:creationId xmlns:a16="http://schemas.microsoft.com/office/drawing/2014/main" id="{9A4ACC14-7493-4B63-9895-F563E6CC6AA2}"/>
              </a:ext>
            </a:extLst>
          </p:cNvPr>
          <p:cNvSpPr>
            <a:spLocks noGrp="1"/>
          </p:cNvSpPr>
          <p:nvPr/>
        </p:nvSpPr>
        <p:spPr>
          <a:xfrm>
            <a:off x="6191250" y="4829175"/>
            <a:ext cx="5238750" cy="11715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B1.4</a:t>
            </a:r>
            <a:r>
              <a:t>  Describe an exact random</a:t>
            </a:r>
          </a:p>
          <a:p>
            <a:pPr algn="l">
              <a:defRPr sz="2325" b="0">
                <a:solidFill>
                  <a:srgbClr val="111111"/>
                </a:solidFill>
                <a:latin typeface="Aptos"/>
                <a:ea typeface="Aptos"/>
                <a:cs typeface="Aptos"/>
              </a:defRPr>
            </a:pPr>
            <a:r>
              <a:t>selection process within each</a:t>
            </a:r>
          </a:p>
          <a:p>
            <a:pPr algn="l">
              <a:defRPr sz="2325" b="0">
                <a:solidFill>
                  <a:srgbClr val="111111"/>
                </a:solidFill>
                <a:latin typeface="Aptos"/>
                <a:ea typeface="Aptos"/>
                <a:cs typeface="Aptos"/>
              </a:defRPr>
            </a:pPr>
            <a:r>
              <a:t>department.</a:t>
            </a:r>
          </a:p>
        </p:txBody>
      </p:sp>
    </p:spTree>
    <p:extLst>
      <p:ext uri="{BB962C8B-B14F-4D97-AF65-F5344CB8AC3E}">
        <p14:creationId xmlns:p14="http://schemas.microsoft.com/office/powerpoint/2010/main" val="3281361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aching-70">
            <a:extLst>
              <a:ext uri="{FF2B5EF4-FFF2-40B4-BE49-F238E27FC236}">
                <a16:creationId xmlns:a16="http://schemas.microsoft.com/office/drawing/2014/main" id="{CF0A727E-31E6-4C8E-AE84-6C9573C25623}"/>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B1: Allocation and selection</a:t>
            </a:r>
          </a:p>
        </p:txBody>
      </p:sp>
      <p:sp>
        <p:nvSpPr>
          <p:cNvPr id="2" name="Teaching-71">
            <a:extLst>
              <a:ext uri="{FF2B5EF4-FFF2-40B4-BE49-F238E27FC236}">
                <a16:creationId xmlns:a16="http://schemas.microsoft.com/office/drawing/2014/main" id="{D02A9A7E-5C48-44D5-BC82-5F23E5507D95}"/>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72">
            <a:extLst>
              <a:ext uri="{FF2B5EF4-FFF2-40B4-BE49-F238E27FC236}">
                <a16:creationId xmlns:a16="http://schemas.microsoft.com/office/drawing/2014/main" id="{9B89C60B-284B-4C7B-87AC-AE02D910D48E}"/>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EXERCISE B1</a:t>
            </a:r>
          </a:p>
        </p:txBody>
      </p:sp>
      <p:graphicFrame>
        <p:nvGraphicFramePr>
          <p:cNvPr id="9" name="Table 8"/>
          <p:cNvGraphicFramePr/>
          <p:nvPr/>
        </p:nvGraphicFramePr>
        <p:xfrm>
          <a:off x="619125" y="2676525"/>
          <a:ext cx="10715625" cy="2790825"/>
        </p:xfrm>
        <a:graphic>
          <a:graphicData uri="http://schemas.openxmlformats.org/drawingml/2006/table">
            <a:tbl>
              <a:tblPr/>
              <a:tblGrid>
                <a:gridCol w="325755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2124075">
                  <a:extLst>
                    <a:ext uri="{9D8B030D-6E8A-4147-A177-3AD203B41FA5}">
                      <a16:colId xmlns:a16="http://schemas.microsoft.com/office/drawing/2014/main" val="20002"/>
                    </a:ext>
                  </a:extLst>
                </a:gridCol>
              </a:tblGrid>
              <a:tr h="523875">
                <a:tc>
                  <a:txBody>
                    <a:bodyPr/>
                    <a:lstStyle/>
                    <a:p>
                      <a:pPr algn="l"/>
                      <a:r>
                        <a:rPr sz="2175" b="1">
                          <a:solidFill>
                            <a:srgbClr val="FFFFFF"/>
                          </a:solidFill>
                          <a:latin typeface="Aptos"/>
                          <a:ea typeface="Aptos"/>
                          <a:cs typeface="Aptos"/>
                        </a:rPr>
                        <a:t>Department</a:t>
                      </a:r>
                    </a:p>
                  </a:txBody>
                  <a:tcPr anchor="ctr">
                    <a:solidFill>
                      <a:srgbClr val="D9101B"/>
                    </a:solidFill>
                  </a:tcPr>
                </a:tc>
                <a:tc>
                  <a:txBody>
                    <a:bodyPr/>
                    <a:lstStyle/>
                    <a:p>
                      <a:pPr algn="l"/>
                      <a:r>
                        <a:rPr sz="2175" b="1">
                          <a:solidFill>
                            <a:srgbClr val="FFFFFF"/>
                          </a:solidFill>
                          <a:latin typeface="Aptos"/>
                          <a:ea typeface="Aptos"/>
                          <a:cs typeface="Aptos"/>
                        </a:rPr>
                        <a:t>Calculation</a:t>
                      </a:r>
                    </a:p>
                  </a:txBody>
                  <a:tcPr anchor="ctr">
                    <a:solidFill>
                      <a:srgbClr val="D9101B"/>
                    </a:solidFill>
                  </a:tcPr>
                </a:tc>
                <a:tc>
                  <a:txBody>
                    <a:bodyPr/>
                    <a:lstStyle/>
                    <a:p>
                      <a:pPr algn="l"/>
                      <a:r>
                        <a:rPr sz="2175" b="1">
                          <a:solidFill>
                            <a:srgbClr val="FFFFFF"/>
                          </a:solidFill>
                          <a:latin typeface="Aptos"/>
                          <a:ea typeface="Aptos"/>
                          <a:cs typeface="Aptos"/>
                        </a:rPr>
                        <a:t>Selected</a:t>
                      </a:r>
                    </a:p>
                  </a:txBody>
                  <a:tcPr anchor="ctr">
                    <a:solidFill>
                      <a:srgbClr val="D9101B"/>
                    </a:solidFill>
                  </a:tcPr>
                </a:tc>
                <a:extLst>
                  <a:ext uri="{0D108BD9-81ED-4DB2-BD59-A6C34878D82A}">
                    <a16:rowId xmlns:a16="http://schemas.microsoft.com/office/drawing/2014/main" val="10000"/>
                  </a:ext>
                </a:extLst>
              </a:tr>
              <a:tr h="581025">
                <a:tc>
                  <a:txBody>
                    <a:bodyPr/>
                    <a:lstStyle/>
                    <a:p>
                      <a:pPr algn="l"/>
                      <a:r>
                        <a:rPr sz="2175" b="0">
                          <a:solidFill>
                            <a:srgbClr val="111111"/>
                          </a:solidFill>
                          <a:latin typeface="Aptos"/>
                          <a:ea typeface="Aptos"/>
                          <a:cs typeface="Aptos"/>
                        </a:rPr>
                        <a:t>Production</a:t>
                      </a:r>
                    </a:p>
                  </a:txBody>
                  <a:tcPr anchor="ctr">
                    <a:solidFill>
                      <a:srgbClr val="FFFFFF"/>
                    </a:solidFill>
                  </a:tcPr>
                </a:tc>
                <a:tc>
                  <a:txBody>
                    <a:bodyPr/>
                    <a:lstStyle/>
                    <a:p>
                      <a:pPr algn="l"/>
                      <a:r>
                        <a:rPr sz="2175" b="0">
                          <a:solidFill>
                            <a:srgbClr val="111111"/>
                          </a:solidFill>
                          <a:latin typeface="Aptos"/>
                          <a:ea typeface="Aptos"/>
                          <a:cs typeface="Aptos"/>
                        </a:rPr>
                        <a:t>1,386 ÷ 2,478 × 177</a:t>
                      </a:r>
                    </a:p>
                  </a:txBody>
                  <a:tcPr anchor="ctr">
                    <a:solidFill>
                      <a:srgbClr val="FFFFFF"/>
                    </a:solidFill>
                  </a:tcPr>
                </a:tc>
                <a:tc>
                  <a:txBody>
                    <a:bodyPr/>
                    <a:lstStyle/>
                    <a:p>
                      <a:pPr algn="l"/>
                      <a:r>
                        <a:rPr sz="2175" b="0">
                          <a:solidFill>
                            <a:srgbClr val="111111"/>
                          </a:solidFill>
                          <a:latin typeface="Aptos"/>
                          <a:ea typeface="Aptos"/>
                          <a:cs typeface="Aptos"/>
                        </a:rPr>
                        <a:t>99</a:t>
                      </a:r>
                    </a:p>
                  </a:txBody>
                  <a:tcPr anchor="ctr">
                    <a:solidFill>
                      <a:srgbClr val="FFFFFF"/>
                    </a:solidFill>
                  </a:tcPr>
                </a:tc>
                <a:extLst>
                  <a:ext uri="{0D108BD9-81ED-4DB2-BD59-A6C34878D82A}">
                    <a16:rowId xmlns:a16="http://schemas.microsoft.com/office/drawing/2014/main" val="10001"/>
                  </a:ext>
                </a:extLst>
              </a:tr>
              <a:tr h="581025">
                <a:tc>
                  <a:txBody>
                    <a:bodyPr/>
                    <a:lstStyle/>
                    <a:p>
                      <a:pPr algn="l"/>
                      <a:r>
                        <a:rPr sz="2175" b="0">
                          <a:solidFill>
                            <a:srgbClr val="111111"/>
                          </a:solidFill>
                          <a:latin typeface="Aptos"/>
                          <a:ea typeface="Aptos"/>
                          <a:cs typeface="Aptos"/>
                        </a:rPr>
                        <a:t>Sales</a:t>
                      </a:r>
                    </a:p>
                  </a:txBody>
                  <a:tcPr anchor="ctr">
                    <a:solidFill>
                      <a:srgbClr val="EFF7FD"/>
                    </a:solidFill>
                  </a:tcPr>
                </a:tc>
                <a:tc>
                  <a:txBody>
                    <a:bodyPr/>
                    <a:lstStyle/>
                    <a:p>
                      <a:pPr algn="l"/>
                      <a:r>
                        <a:rPr sz="2175" b="0">
                          <a:solidFill>
                            <a:srgbClr val="111111"/>
                          </a:solidFill>
                          <a:latin typeface="Aptos"/>
                          <a:ea typeface="Aptos"/>
                          <a:cs typeface="Aptos"/>
                        </a:rPr>
                        <a:t>714 ÷ 2,478 × 177</a:t>
                      </a:r>
                    </a:p>
                  </a:txBody>
                  <a:tcPr anchor="ctr">
                    <a:solidFill>
                      <a:srgbClr val="EFF7FD"/>
                    </a:solidFill>
                  </a:tcPr>
                </a:tc>
                <a:tc>
                  <a:txBody>
                    <a:bodyPr/>
                    <a:lstStyle/>
                    <a:p>
                      <a:pPr algn="l"/>
                      <a:r>
                        <a:rPr sz="2175" b="0">
                          <a:solidFill>
                            <a:srgbClr val="111111"/>
                          </a:solidFill>
                          <a:latin typeface="Aptos"/>
                          <a:ea typeface="Aptos"/>
                          <a:cs typeface="Aptos"/>
                        </a:rPr>
                        <a:t>51</a:t>
                      </a:r>
                    </a:p>
                  </a:txBody>
                  <a:tcPr anchor="ctr">
                    <a:solidFill>
                      <a:srgbClr val="EFF7FD"/>
                    </a:solidFill>
                  </a:tcPr>
                </a:tc>
                <a:extLst>
                  <a:ext uri="{0D108BD9-81ED-4DB2-BD59-A6C34878D82A}">
                    <a16:rowId xmlns:a16="http://schemas.microsoft.com/office/drawing/2014/main" val="10002"/>
                  </a:ext>
                </a:extLst>
              </a:tr>
              <a:tr h="581025">
                <a:tc>
                  <a:txBody>
                    <a:bodyPr/>
                    <a:lstStyle/>
                    <a:p>
                      <a:pPr algn="l"/>
                      <a:r>
                        <a:rPr sz="2175" b="0">
                          <a:solidFill>
                            <a:srgbClr val="111111"/>
                          </a:solidFill>
                          <a:latin typeface="Aptos"/>
                          <a:ea typeface="Aptos"/>
                          <a:cs typeface="Aptos"/>
                        </a:rPr>
                        <a:t>Administration</a:t>
                      </a:r>
                    </a:p>
                  </a:txBody>
                  <a:tcPr anchor="ctr">
                    <a:solidFill>
                      <a:srgbClr val="FFFFFF"/>
                    </a:solidFill>
                  </a:tcPr>
                </a:tc>
                <a:tc>
                  <a:txBody>
                    <a:bodyPr/>
                    <a:lstStyle/>
                    <a:p>
                      <a:pPr algn="l"/>
                      <a:r>
                        <a:rPr sz="2175" b="0">
                          <a:solidFill>
                            <a:srgbClr val="111111"/>
                          </a:solidFill>
                          <a:latin typeface="Aptos"/>
                          <a:ea typeface="Aptos"/>
                          <a:cs typeface="Aptos"/>
                        </a:rPr>
                        <a:t>378 ÷ 2,478 × 177</a:t>
                      </a:r>
                    </a:p>
                  </a:txBody>
                  <a:tcPr anchor="ctr">
                    <a:solidFill>
                      <a:srgbClr val="FFFFFF"/>
                    </a:solidFill>
                  </a:tcPr>
                </a:tc>
                <a:tc>
                  <a:txBody>
                    <a:bodyPr/>
                    <a:lstStyle/>
                    <a:p>
                      <a:pPr algn="l"/>
                      <a:r>
                        <a:rPr sz="2175" b="0">
                          <a:solidFill>
                            <a:srgbClr val="111111"/>
                          </a:solidFill>
                          <a:latin typeface="Aptos"/>
                          <a:ea typeface="Aptos"/>
                          <a:cs typeface="Aptos"/>
                        </a:rPr>
                        <a:t>27</a:t>
                      </a:r>
                    </a:p>
                  </a:txBody>
                  <a:tcPr anchor="ctr">
                    <a:solidFill>
                      <a:srgbClr val="FFFFFF"/>
                    </a:solidFill>
                  </a:tcPr>
                </a:tc>
                <a:extLst>
                  <a:ext uri="{0D108BD9-81ED-4DB2-BD59-A6C34878D82A}">
                    <a16:rowId xmlns:a16="http://schemas.microsoft.com/office/drawing/2014/main" val="10003"/>
                  </a:ext>
                </a:extLst>
              </a:tr>
              <a:tr h="523875">
                <a:tc>
                  <a:txBody>
                    <a:bodyPr/>
                    <a:lstStyle/>
                    <a:p>
                      <a:pPr algn="l"/>
                      <a:r>
                        <a:rPr sz="2175" b="0">
                          <a:solidFill>
                            <a:srgbClr val="111111"/>
                          </a:solidFill>
                          <a:latin typeface="Aptos"/>
                          <a:ea typeface="Aptos"/>
                          <a:cs typeface="Aptos"/>
                        </a:rPr>
                        <a:t>Check</a:t>
                      </a:r>
                    </a:p>
                  </a:txBody>
                  <a:tcPr anchor="ctr">
                    <a:solidFill>
                      <a:srgbClr val="EFF7FD"/>
                    </a:solidFill>
                  </a:tcPr>
                </a:tc>
                <a:tc>
                  <a:txBody>
                    <a:bodyPr/>
                    <a:lstStyle/>
                    <a:p>
                      <a:pPr algn="l"/>
                      <a:r>
                        <a:rPr sz="2175" b="0">
                          <a:solidFill>
                            <a:srgbClr val="111111"/>
                          </a:solidFill>
                          <a:latin typeface="Aptos"/>
                          <a:ea typeface="Aptos"/>
                          <a:cs typeface="Aptos"/>
                        </a:rPr>
                        <a:t>99 + 51 + 27</a:t>
                      </a:r>
                    </a:p>
                  </a:txBody>
                  <a:tcPr anchor="ctr">
                    <a:solidFill>
                      <a:srgbClr val="EFF7FD"/>
                    </a:solidFill>
                  </a:tcPr>
                </a:tc>
                <a:tc>
                  <a:txBody>
                    <a:bodyPr/>
                    <a:lstStyle/>
                    <a:p>
                      <a:pPr algn="l"/>
                      <a:r>
                        <a:rPr sz="2175" b="0">
                          <a:solidFill>
                            <a:srgbClr val="111111"/>
                          </a:solidFill>
                          <a:latin typeface="Aptos"/>
                          <a:ea typeface="Aptos"/>
                          <a:cs typeface="Aptos"/>
                        </a:rPr>
                        <a:t>177</a:t>
                      </a:r>
                    </a:p>
                  </a:txBody>
                  <a:tcPr anchor="ctr">
                    <a:solidFill>
                      <a:srgbClr val="EFF7FD"/>
                    </a:solidFill>
                  </a:tcPr>
                </a:tc>
                <a:extLst>
                  <a:ext uri="{0D108BD9-81ED-4DB2-BD59-A6C34878D82A}">
                    <a16:rowId xmlns:a16="http://schemas.microsoft.com/office/drawing/2014/main" val="10004"/>
                  </a:ext>
                </a:extLst>
              </a:tr>
            </a:tbl>
          </a:graphicData>
        </a:graphic>
      </p:graphicFrame>
      <p:sp>
        <p:nvSpPr>
          <p:cNvPr id="5" name="Teaching-73">
            <a:extLst>
              <a:ext uri="{FF2B5EF4-FFF2-40B4-BE49-F238E27FC236}">
                <a16:creationId xmlns:a16="http://schemas.microsoft.com/office/drawing/2014/main" id="{10BE4EE3-C5BE-49C9-8320-E9DB161BE559}"/>
              </a:ext>
            </a:extLst>
          </p:cNvPr>
          <p:cNvSpPr>
            <a:spLocks noGrp="1"/>
          </p:cNvSpPr>
          <p:nvPr/>
        </p:nvSpPr>
        <p:spPr>
          <a:xfrm>
            <a:off x="619125" y="5676900"/>
            <a:ext cx="10810875" cy="657225"/>
          </a:xfrm>
          <a:prstGeom prst="rect">
            <a:avLst/>
          </a:prstGeom>
          <a:noFill/>
          <a:ln w="0">
            <a:noFill/>
          </a:ln>
        </p:spPr>
        <p:txBody>
          <a:bodyPr wrap="square" lIns="0" tIns="0" rIns="0" bIns="0" anchor="t">
            <a:noAutofit/>
          </a:bodyPr>
          <a:lstStyle/>
          <a:p>
            <a:pPr algn="l">
              <a:defRPr sz="2100" b="0">
                <a:solidFill>
                  <a:srgbClr val="111111"/>
                </a:solidFill>
                <a:latin typeface="Aptos"/>
                <a:ea typeface="Aptos"/>
                <a:cs typeface="Aptos"/>
              </a:defRPr>
            </a:pPr>
            <a:r>
              <a:rPr b="1"/>
              <a:t>B1.4</a:t>
            </a:r>
            <a:r>
              <a:t>  Number each complete department list. Generate </a:t>
            </a:r>
            <a:r>
              <a:rPr b="1"/>
              <a:t>99, 51 and 27</a:t>
            </a:r>
          </a:p>
          <a:p>
            <a:pPr algn="l">
              <a:defRPr sz="2100" b="0">
                <a:solidFill>
                  <a:srgbClr val="111111"/>
                </a:solidFill>
                <a:latin typeface="Aptos"/>
                <a:ea typeface="Aptos"/>
                <a:cs typeface="Aptos"/>
              </a:defRPr>
            </a:pPr>
            <a:r>
              <a:t>distinct random IDs in the respective ranges. Invite those employees.</a:t>
            </a:r>
          </a:p>
        </p:txBody>
      </p:sp>
    </p:spTree>
    <p:extLst>
      <p:ext uri="{BB962C8B-B14F-4D97-AF65-F5344CB8AC3E}">
        <p14:creationId xmlns:p14="http://schemas.microsoft.com/office/powerpoint/2010/main" val="3281361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aching-74">
            <a:extLst>
              <a:ext uri="{FF2B5EF4-FFF2-40B4-BE49-F238E27FC236}">
                <a16:creationId xmlns:a16="http://schemas.microsoft.com/office/drawing/2014/main" id="{386B878E-DA73-441A-B2B5-4F194F9DB5B1}"/>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B1: The budget changes</a:t>
            </a:r>
          </a:p>
        </p:txBody>
      </p:sp>
      <p:sp>
        <p:nvSpPr>
          <p:cNvPr id="2" name="Teaching-75">
            <a:extLst>
              <a:ext uri="{FF2B5EF4-FFF2-40B4-BE49-F238E27FC236}">
                <a16:creationId xmlns:a16="http://schemas.microsoft.com/office/drawing/2014/main" id="{1B3EF4B1-F60E-40C6-BE26-E27A852ED769}"/>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76">
            <a:extLst>
              <a:ext uri="{FF2B5EF4-FFF2-40B4-BE49-F238E27FC236}">
                <a16:creationId xmlns:a16="http://schemas.microsoft.com/office/drawing/2014/main" id="{52D5EAFB-D555-41EF-A89F-BC91080E9C17}"/>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EXERCISE B1</a:t>
            </a:r>
          </a:p>
        </p:txBody>
      </p:sp>
      <p:sp>
        <p:nvSpPr>
          <p:cNvPr id="4" name="Teaching-77">
            <a:extLst>
              <a:ext uri="{FF2B5EF4-FFF2-40B4-BE49-F238E27FC236}">
                <a16:creationId xmlns:a16="http://schemas.microsoft.com/office/drawing/2014/main" id="{3161BBD0-6DF6-4EDE-9839-DB025EFEC185}"/>
              </a:ext>
            </a:extLst>
          </p:cNvPr>
          <p:cNvSpPr>
            <a:spLocks noGrp="1"/>
          </p:cNvSpPr>
          <p:nvPr/>
        </p:nvSpPr>
        <p:spPr>
          <a:xfrm>
            <a:off x="428625" y="1952625"/>
            <a:ext cx="11296650" cy="5238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The same company can now select only </a:t>
            </a:r>
            <a:r>
              <a:rPr b="1"/>
              <a:t>173 employees</a:t>
            </a:r>
            <a:r>
              <a:t>.</a:t>
            </a:r>
          </a:p>
        </p:txBody>
      </p:sp>
      <p:graphicFrame>
        <p:nvGraphicFramePr>
          <p:cNvPr id="12" name="Table 11"/>
          <p:cNvGraphicFramePr/>
          <p:nvPr/>
        </p:nvGraphicFramePr>
        <p:xfrm>
          <a:off x="619125" y="2838450"/>
          <a:ext cx="10715625" cy="1190625"/>
        </p:xfrm>
        <a:graphic>
          <a:graphicData uri="http://schemas.openxmlformats.org/drawingml/2006/table">
            <a:tbl>
              <a:tblPr/>
              <a:tblGrid>
                <a:gridCol w="3571875">
                  <a:extLst>
                    <a:ext uri="{9D8B030D-6E8A-4147-A177-3AD203B41FA5}">
                      <a16:colId xmlns:a16="http://schemas.microsoft.com/office/drawing/2014/main" val="20000"/>
                    </a:ext>
                  </a:extLst>
                </a:gridCol>
                <a:gridCol w="3571875">
                  <a:extLst>
                    <a:ext uri="{9D8B030D-6E8A-4147-A177-3AD203B41FA5}">
                      <a16:colId xmlns:a16="http://schemas.microsoft.com/office/drawing/2014/main" val="20001"/>
                    </a:ext>
                  </a:extLst>
                </a:gridCol>
                <a:gridCol w="3571875">
                  <a:extLst>
                    <a:ext uri="{9D8B030D-6E8A-4147-A177-3AD203B41FA5}">
                      <a16:colId xmlns:a16="http://schemas.microsoft.com/office/drawing/2014/main" val="20002"/>
                    </a:ext>
                  </a:extLst>
                </a:gridCol>
              </a:tblGrid>
              <a:tr h="542925">
                <a:tc>
                  <a:txBody>
                    <a:bodyPr/>
                    <a:lstStyle/>
                    <a:p>
                      <a:pPr algn="l"/>
                      <a:r>
                        <a:rPr sz="2175" b="1">
                          <a:solidFill>
                            <a:srgbClr val="FFFFFF"/>
                          </a:solidFill>
                          <a:latin typeface="Aptos"/>
                          <a:ea typeface="Aptos"/>
                          <a:cs typeface="Aptos"/>
                        </a:rPr>
                        <a:t>Production</a:t>
                      </a:r>
                    </a:p>
                  </a:txBody>
                  <a:tcPr anchor="ctr">
                    <a:solidFill>
                      <a:srgbClr val="D9101B"/>
                    </a:solidFill>
                  </a:tcPr>
                </a:tc>
                <a:tc>
                  <a:txBody>
                    <a:bodyPr/>
                    <a:lstStyle/>
                    <a:p>
                      <a:pPr algn="l"/>
                      <a:r>
                        <a:rPr sz="2175" b="1">
                          <a:solidFill>
                            <a:srgbClr val="FFFFFF"/>
                          </a:solidFill>
                          <a:latin typeface="Aptos"/>
                          <a:ea typeface="Aptos"/>
                          <a:cs typeface="Aptos"/>
                        </a:rPr>
                        <a:t>Sales</a:t>
                      </a:r>
                    </a:p>
                  </a:txBody>
                  <a:tcPr anchor="ctr">
                    <a:solidFill>
                      <a:srgbClr val="D9101B"/>
                    </a:solidFill>
                  </a:tcPr>
                </a:tc>
                <a:tc>
                  <a:txBody>
                    <a:bodyPr/>
                    <a:lstStyle/>
                    <a:p>
                      <a:pPr algn="l"/>
                      <a:r>
                        <a:rPr sz="2175" b="1">
                          <a:solidFill>
                            <a:srgbClr val="FFFFFF"/>
                          </a:solidFill>
                          <a:latin typeface="Aptos"/>
                          <a:ea typeface="Aptos"/>
                          <a:cs typeface="Aptos"/>
                        </a:rPr>
                        <a:t>Administration</a:t>
                      </a:r>
                    </a:p>
                  </a:txBody>
                  <a:tcPr anchor="ctr">
                    <a:solidFill>
                      <a:srgbClr val="D9101B"/>
                    </a:solidFill>
                  </a:tcPr>
                </a:tc>
                <a:extLst>
                  <a:ext uri="{0D108BD9-81ED-4DB2-BD59-A6C34878D82A}">
                    <a16:rowId xmlns:a16="http://schemas.microsoft.com/office/drawing/2014/main" val="10000"/>
                  </a:ext>
                </a:extLst>
              </a:tr>
              <a:tr h="647700">
                <a:tc>
                  <a:txBody>
                    <a:bodyPr/>
                    <a:lstStyle/>
                    <a:p>
                      <a:pPr algn="l"/>
                      <a:r>
                        <a:rPr sz="2175" b="0">
                          <a:solidFill>
                            <a:srgbClr val="111111"/>
                          </a:solidFill>
                          <a:latin typeface="Aptos"/>
                          <a:ea typeface="Aptos"/>
                          <a:cs typeface="Aptos"/>
                        </a:rPr>
                        <a:t>1,386</a:t>
                      </a:r>
                    </a:p>
                  </a:txBody>
                  <a:tcPr anchor="ctr">
                    <a:solidFill>
                      <a:srgbClr val="FFFFFF"/>
                    </a:solidFill>
                  </a:tcPr>
                </a:tc>
                <a:tc>
                  <a:txBody>
                    <a:bodyPr/>
                    <a:lstStyle/>
                    <a:p>
                      <a:pPr algn="l"/>
                      <a:r>
                        <a:rPr sz="2175" b="0">
                          <a:solidFill>
                            <a:srgbClr val="111111"/>
                          </a:solidFill>
                          <a:latin typeface="Aptos"/>
                          <a:ea typeface="Aptos"/>
                          <a:cs typeface="Aptos"/>
                        </a:rPr>
                        <a:t>714</a:t>
                      </a:r>
                    </a:p>
                  </a:txBody>
                  <a:tcPr anchor="ctr">
                    <a:solidFill>
                      <a:srgbClr val="FFFFFF"/>
                    </a:solidFill>
                  </a:tcPr>
                </a:tc>
                <a:tc>
                  <a:txBody>
                    <a:bodyPr/>
                    <a:lstStyle/>
                    <a:p>
                      <a:pPr algn="l"/>
                      <a:r>
                        <a:rPr sz="2175" b="0">
                          <a:solidFill>
                            <a:srgbClr val="111111"/>
                          </a:solidFill>
                          <a:latin typeface="Aptos"/>
                          <a:ea typeface="Aptos"/>
                          <a:cs typeface="Aptos"/>
                        </a:rPr>
                        <a:t>378</a:t>
                      </a:r>
                    </a:p>
                  </a:txBody>
                  <a:tcPr anchor="ctr">
                    <a:solidFill>
                      <a:srgbClr val="FFFFFF"/>
                    </a:solidFill>
                  </a:tcPr>
                </a:tc>
                <a:extLst>
                  <a:ext uri="{0D108BD9-81ED-4DB2-BD59-A6C34878D82A}">
                    <a16:rowId xmlns:a16="http://schemas.microsoft.com/office/drawing/2014/main" val="10001"/>
                  </a:ext>
                </a:extLst>
              </a:tr>
            </a:tbl>
          </a:graphicData>
        </a:graphic>
      </p:graphicFrame>
      <p:sp>
        <p:nvSpPr>
          <p:cNvPr id="6" name="Teaching-78">
            <a:extLst>
              <a:ext uri="{FF2B5EF4-FFF2-40B4-BE49-F238E27FC236}">
                <a16:creationId xmlns:a16="http://schemas.microsoft.com/office/drawing/2014/main" id="{D3A0A78C-FDCE-4CB6-A6F3-509377D2A84A}"/>
              </a:ext>
            </a:extLst>
          </p:cNvPr>
          <p:cNvSpPr>
            <a:spLocks noGrp="1"/>
          </p:cNvSpPr>
          <p:nvPr/>
        </p:nvSpPr>
        <p:spPr>
          <a:xfrm>
            <a:off x="619125" y="4400550"/>
            <a:ext cx="10810875" cy="7905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B1.5</a:t>
            </a:r>
            <a:r>
              <a:t>  Calculate each exact allocation, then choose whole numbers</a:t>
            </a:r>
          </a:p>
          <a:p>
            <a:pPr algn="l">
              <a:defRPr sz="2325" b="0">
                <a:solidFill>
                  <a:srgbClr val="111111"/>
                </a:solidFill>
                <a:latin typeface="Aptos"/>
                <a:ea typeface="Aptos"/>
                <a:cs typeface="Aptos"/>
              </a:defRPr>
            </a:pPr>
            <a:r>
              <a:t>that keep the total at 173.</a:t>
            </a:r>
          </a:p>
        </p:txBody>
      </p:sp>
      <p:sp>
        <p:nvSpPr>
          <p:cNvPr id="7" name="Teaching-79">
            <a:extLst>
              <a:ext uri="{FF2B5EF4-FFF2-40B4-BE49-F238E27FC236}">
                <a16:creationId xmlns:a16="http://schemas.microsoft.com/office/drawing/2014/main" id="{491A264F-70C3-4993-B735-02C409B01F46}"/>
              </a:ext>
            </a:extLst>
          </p:cNvPr>
          <p:cNvSpPr>
            <a:spLocks noGrp="1"/>
          </p:cNvSpPr>
          <p:nvPr/>
        </p:nvSpPr>
        <p:spPr>
          <a:xfrm>
            <a:off x="619125" y="5372100"/>
            <a:ext cx="10810875" cy="73342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Explain which departments receive the extra places after rounding down.</a:t>
            </a:r>
          </a:p>
        </p:txBody>
      </p:sp>
    </p:spTree>
    <p:extLst>
      <p:ext uri="{BB962C8B-B14F-4D97-AF65-F5344CB8AC3E}">
        <p14:creationId xmlns:p14="http://schemas.microsoft.com/office/powerpoint/2010/main" val="3281361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aching-80">
            <a:extLst>
              <a:ext uri="{FF2B5EF4-FFF2-40B4-BE49-F238E27FC236}">
                <a16:creationId xmlns:a16="http://schemas.microsoft.com/office/drawing/2014/main" id="{0D8EE8D3-D44D-438E-82F1-D640F368CD8A}"/>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B1: Rounding with a fixed total</a:t>
            </a:r>
          </a:p>
        </p:txBody>
      </p:sp>
      <p:sp>
        <p:nvSpPr>
          <p:cNvPr id="2" name="Teaching-81">
            <a:extLst>
              <a:ext uri="{FF2B5EF4-FFF2-40B4-BE49-F238E27FC236}">
                <a16:creationId xmlns:a16="http://schemas.microsoft.com/office/drawing/2014/main" id="{F13ACB6A-501E-4ADD-B533-9330B9B9265E}"/>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82">
            <a:extLst>
              <a:ext uri="{FF2B5EF4-FFF2-40B4-BE49-F238E27FC236}">
                <a16:creationId xmlns:a16="http://schemas.microsoft.com/office/drawing/2014/main" id="{CF96AE12-E256-488A-8B81-099156072A22}"/>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EXERCISE B1</a:t>
            </a:r>
          </a:p>
        </p:txBody>
      </p:sp>
      <p:graphicFrame>
        <p:nvGraphicFramePr>
          <p:cNvPr id="10" name="Table 9"/>
          <p:cNvGraphicFramePr/>
          <p:nvPr/>
        </p:nvGraphicFramePr>
        <p:xfrm>
          <a:off x="619125" y="2238375"/>
          <a:ext cx="10725150" cy="2419350"/>
        </p:xfrm>
        <a:graphic>
          <a:graphicData uri="http://schemas.openxmlformats.org/drawingml/2006/table">
            <a:tbl>
              <a:tblPr/>
              <a:tblGrid>
                <a:gridCol w="3371850">
                  <a:extLst>
                    <a:ext uri="{9D8B030D-6E8A-4147-A177-3AD203B41FA5}">
                      <a16:colId xmlns:a16="http://schemas.microsoft.com/office/drawing/2014/main" val="20000"/>
                    </a:ext>
                  </a:extLst>
                </a:gridCol>
                <a:gridCol w="3838575">
                  <a:extLst>
                    <a:ext uri="{9D8B030D-6E8A-4147-A177-3AD203B41FA5}">
                      <a16:colId xmlns:a16="http://schemas.microsoft.com/office/drawing/2014/main" val="20001"/>
                    </a:ext>
                  </a:extLst>
                </a:gridCol>
                <a:gridCol w="3514725">
                  <a:extLst>
                    <a:ext uri="{9D8B030D-6E8A-4147-A177-3AD203B41FA5}">
                      <a16:colId xmlns:a16="http://schemas.microsoft.com/office/drawing/2014/main" val="20002"/>
                    </a:ext>
                  </a:extLst>
                </a:gridCol>
              </a:tblGrid>
              <a:tr h="533400">
                <a:tc>
                  <a:txBody>
                    <a:bodyPr/>
                    <a:lstStyle/>
                    <a:p>
                      <a:pPr algn="l"/>
                      <a:r>
                        <a:rPr sz="2175" b="1">
                          <a:solidFill>
                            <a:srgbClr val="FFFFFF"/>
                          </a:solidFill>
                          <a:latin typeface="Aptos"/>
                          <a:ea typeface="Aptos"/>
                          <a:cs typeface="Aptos"/>
                        </a:rPr>
                        <a:t>Department</a:t>
                      </a:r>
                    </a:p>
                  </a:txBody>
                  <a:tcPr anchor="ctr">
                    <a:solidFill>
                      <a:srgbClr val="D9101B"/>
                    </a:solidFill>
                  </a:tcPr>
                </a:tc>
                <a:tc>
                  <a:txBody>
                    <a:bodyPr/>
                    <a:lstStyle/>
                    <a:p>
                      <a:pPr algn="l"/>
                      <a:r>
                        <a:rPr sz="2175" b="1">
                          <a:solidFill>
                            <a:srgbClr val="FFFFFF"/>
                          </a:solidFill>
                          <a:latin typeface="Aptos"/>
                          <a:ea typeface="Aptos"/>
                          <a:cs typeface="Aptos"/>
                        </a:rPr>
                        <a:t>Exact allocation</a:t>
                      </a:r>
                    </a:p>
                  </a:txBody>
                  <a:tcPr anchor="ctr">
                    <a:solidFill>
                      <a:srgbClr val="D9101B"/>
                    </a:solidFill>
                  </a:tcPr>
                </a:tc>
                <a:tc>
                  <a:txBody>
                    <a:bodyPr/>
                    <a:lstStyle/>
                    <a:p>
                      <a:pPr algn="l"/>
                      <a:r>
                        <a:rPr sz="2175" b="1">
                          <a:solidFill>
                            <a:srgbClr val="FFFFFF"/>
                          </a:solidFill>
                          <a:latin typeface="Aptos"/>
                          <a:ea typeface="Aptos"/>
                          <a:cs typeface="Aptos"/>
                        </a:rPr>
                        <a:t>Whole number</a:t>
                      </a:r>
                    </a:p>
                  </a:txBody>
                  <a:tcPr anchor="ctr">
                    <a:solidFill>
                      <a:srgbClr val="D9101B"/>
                    </a:solidFill>
                  </a:tcPr>
                </a:tc>
                <a:extLst>
                  <a:ext uri="{0D108BD9-81ED-4DB2-BD59-A6C34878D82A}">
                    <a16:rowId xmlns:a16="http://schemas.microsoft.com/office/drawing/2014/main" val="10000"/>
                  </a:ext>
                </a:extLst>
              </a:tr>
              <a:tr h="628650">
                <a:tc>
                  <a:txBody>
                    <a:bodyPr/>
                    <a:lstStyle/>
                    <a:p>
                      <a:pPr algn="l"/>
                      <a:r>
                        <a:rPr sz="2175" b="0">
                          <a:solidFill>
                            <a:srgbClr val="111111"/>
                          </a:solidFill>
                          <a:latin typeface="Aptos"/>
                          <a:ea typeface="Aptos"/>
                          <a:cs typeface="Aptos"/>
                        </a:rPr>
                        <a:t>Production</a:t>
                      </a:r>
                    </a:p>
                  </a:txBody>
                  <a:tcPr anchor="ctr">
                    <a:solidFill>
                      <a:srgbClr val="FFFFFF"/>
                    </a:solidFill>
                  </a:tcPr>
                </a:tc>
                <a:tc>
                  <a:txBody>
                    <a:bodyPr/>
                    <a:lstStyle/>
                    <a:p>
                      <a:pPr algn="l"/>
                      <a:r>
                        <a:rPr sz="2175" b="0">
                          <a:solidFill>
                            <a:srgbClr val="111111"/>
                          </a:solidFill>
                          <a:latin typeface="Aptos"/>
                          <a:ea typeface="Aptos"/>
                          <a:cs typeface="Aptos"/>
                        </a:rPr>
                        <a:t>96.7627…</a:t>
                      </a:r>
                    </a:p>
                  </a:txBody>
                  <a:tcPr anchor="ctr">
                    <a:solidFill>
                      <a:srgbClr val="FFFFFF"/>
                    </a:solidFill>
                  </a:tcPr>
                </a:tc>
                <a:tc>
                  <a:txBody>
                    <a:bodyPr/>
                    <a:lstStyle/>
                    <a:p>
                      <a:pPr algn="l"/>
                      <a:r>
                        <a:rPr sz="2175" b="0">
                          <a:solidFill>
                            <a:srgbClr val="111111"/>
                          </a:solidFill>
                          <a:latin typeface="Aptos"/>
                          <a:ea typeface="Aptos"/>
                          <a:cs typeface="Aptos"/>
                        </a:rPr>
                        <a:t>97</a:t>
                      </a:r>
                    </a:p>
                  </a:txBody>
                  <a:tcPr anchor="ctr">
                    <a:solidFill>
                      <a:srgbClr val="FFFFFF"/>
                    </a:solidFill>
                  </a:tcPr>
                </a:tc>
                <a:extLst>
                  <a:ext uri="{0D108BD9-81ED-4DB2-BD59-A6C34878D82A}">
                    <a16:rowId xmlns:a16="http://schemas.microsoft.com/office/drawing/2014/main" val="10001"/>
                  </a:ext>
                </a:extLst>
              </a:tr>
              <a:tr h="628650">
                <a:tc>
                  <a:txBody>
                    <a:bodyPr/>
                    <a:lstStyle/>
                    <a:p>
                      <a:pPr algn="l"/>
                      <a:r>
                        <a:rPr sz="2175" b="0">
                          <a:solidFill>
                            <a:srgbClr val="111111"/>
                          </a:solidFill>
                          <a:latin typeface="Aptos"/>
                          <a:ea typeface="Aptos"/>
                          <a:cs typeface="Aptos"/>
                        </a:rPr>
                        <a:t>Sales</a:t>
                      </a:r>
                    </a:p>
                  </a:txBody>
                  <a:tcPr anchor="ctr">
                    <a:solidFill>
                      <a:srgbClr val="EFF7FD"/>
                    </a:solidFill>
                  </a:tcPr>
                </a:tc>
                <a:tc>
                  <a:txBody>
                    <a:bodyPr/>
                    <a:lstStyle/>
                    <a:p>
                      <a:pPr algn="l"/>
                      <a:r>
                        <a:rPr sz="2175" b="0">
                          <a:solidFill>
                            <a:srgbClr val="111111"/>
                          </a:solidFill>
                          <a:latin typeface="Aptos"/>
                          <a:ea typeface="Aptos"/>
                          <a:cs typeface="Aptos"/>
                        </a:rPr>
                        <a:t>49.8475…</a:t>
                      </a:r>
                    </a:p>
                  </a:txBody>
                  <a:tcPr anchor="ctr">
                    <a:solidFill>
                      <a:srgbClr val="EFF7FD"/>
                    </a:solidFill>
                  </a:tcPr>
                </a:tc>
                <a:tc>
                  <a:txBody>
                    <a:bodyPr/>
                    <a:lstStyle/>
                    <a:p>
                      <a:pPr algn="l"/>
                      <a:r>
                        <a:rPr sz="2175" b="0">
                          <a:solidFill>
                            <a:srgbClr val="111111"/>
                          </a:solidFill>
                          <a:latin typeface="Aptos"/>
                          <a:ea typeface="Aptos"/>
                          <a:cs typeface="Aptos"/>
                        </a:rPr>
                        <a:t>50</a:t>
                      </a:r>
                    </a:p>
                  </a:txBody>
                  <a:tcPr anchor="ctr">
                    <a:solidFill>
                      <a:srgbClr val="EFF7FD"/>
                    </a:solidFill>
                  </a:tcPr>
                </a:tc>
                <a:extLst>
                  <a:ext uri="{0D108BD9-81ED-4DB2-BD59-A6C34878D82A}">
                    <a16:rowId xmlns:a16="http://schemas.microsoft.com/office/drawing/2014/main" val="10002"/>
                  </a:ext>
                </a:extLst>
              </a:tr>
              <a:tr h="628650">
                <a:tc>
                  <a:txBody>
                    <a:bodyPr/>
                    <a:lstStyle/>
                    <a:p>
                      <a:pPr algn="l"/>
                      <a:r>
                        <a:rPr sz="2175" b="0">
                          <a:solidFill>
                            <a:srgbClr val="111111"/>
                          </a:solidFill>
                          <a:latin typeface="Aptos"/>
                          <a:ea typeface="Aptos"/>
                          <a:cs typeface="Aptos"/>
                        </a:rPr>
                        <a:t>Administration</a:t>
                      </a:r>
                    </a:p>
                  </a:txBody>
                  <a:tcPr anchor="ctr">
                    <a:solidFill>
                      <a:srgbClr val="FFFFFF"/>
                    </a:solidFill>
                  </a:tcPr>
                </a:tc>
                <a:tc>
                  <a:txBody>
                    <a:bodyPr/>
                    <a:lstStyle/>
                    <a:p>
                      <a:pPr algn="l"/>
                      <a:r>
                        <a:rPr sz="2175" b="0">
                          <a:solidFill>
                            <a:srgbClr val="111111"/>
                          </a:solidFill>
                          <a:latin typeface="Aptos"/>
                          <a:ea typeface="Aptos"/>
                          <a:cs typeface="Aptos"/>
                        </a:rPr>
                        <a:t>26.3898…</a:t>
                      </a:r>
                    </a:p>
                  </a:txBody>
                  <a:tcPr anchor="ctr">
                    <a:solidFill>
                      <a:srgbClr val="FFFFFF"/>
                    </a:solidFill>
                  </a:tcPr>
                </a:tc>
                <a:tc>
                  <a:txBody>
                    <a:bodyPr/>
                    <a:lstStyle/>
                    <a:p>
                      <a:pPr algn="l"/>
                      <a:r>
                        <a:rPr sz="2175" b="0">
                          <a:solidFill>
                            <a:srgbClr val="111111"/>
                          </a:solidFill>
                          <a:latin typeface="Aptos"/>
                          <a:ea typeface="Aptos"/>
                          <a:cs typeface="Aptos"/>
                        </a:rPr>
                        <a:t>26</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Teaching-83">
            <a:extLst>
              <a:ext uri="{FF2B5EF4-FFF2-40B4-BE49-F238E27FC236}">
                <a16:creationId xmlns:a16="http://schemas.microsoft.com/office/drawing/2014/main" id="{059923F6-844E-418F-BC5C-31B76516B4E2}"/>
              </a:ext>
            </a:extLst>
          </p:cNvPr>
          <p:cNvSpPr>
            <a:spLocks noGrp="1"/>
          </p:cNvSpPr>
          <p:nvPr/>
        </p:nvSpPr>
        <p:spPr>
          <a:xfrm>
            <a:off x="619125" y="5038725"/>
            <a:ext cx="10810875" cy="4191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Rounding down gives </a:t>
            </a:r>
            <a:r>
              <a:rPr b="1"/>
              <a:t>96 + 49 + 26 = 171</a:t>
            </a:r>
            <a:r>
              <a:t>. Two places remain.</a:t>
            </a:r>
          </a:p>
        </p:txBody>
      </p:sp>
      <p:sp>
        <p:nvSpPr>
          <p:cNvPr id="6" name="Teaching-84">
            <a:extLst>
              <a:ext uri="{FF2B5EF4-FFF2-40B4-BE49-F238E27FC236}">
                <a16:creationId xmlns:a16="http://schemas.microsoft.com/office/drawing/2014/main" id="{C9A7DD14-E174-4331-847F-5EA571AD0CF0}"/>
              </a:ext>
            </a:extLst>
          </p:cNvPr>
          <p:cNvSpPr>
            <a:spLocks noGrp="1"/>
          </p:cNvSpPr>
          <p:nvPr/>
        </p:nvSpPr>
        <p:spPr>
          <a:xfrm>
            <a:off x="619125" y="5581650"/>
            <a:ext cx="10810875" cy="723900"/>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t>Give them to Sales and Production, the largest decimal remainders.</a:t>
            </a:r>
          </a:p>
          <a:p>
            <a:pPr algn="l">
              <a:defRPr sz="2175" b="0">
                <a:solidFill>
                  <a:srgbClr val="111111"/>
                </a:solidFill>
                <a:latin typeface="Aptos"/>
                <a:ea typeface="Aptos"/>
                <a:cs typeface="Aptos"/>
              </a:defRPr>
            </a:pPr>
            <a:r>
              <a:t>Check: </a:t>
            </a:r>
            <a:r>
              <a:rPr b="1"/>
              <a:t>97 + 50 + 26 = 173</a:t>
            </a:r>
            <a:r>
              <a:t>.</a:t>
            </a:r>
          </a:p>
        </p:txBody>
      </p:sp>
    </p:spTree>
    <p:extLst>
      <p:ext uri="{BB962C8B-B14F-4D97-AF65-F5344CB8AC3E}">
        <p14:creationId xmlns:p14="http://schemas.microsoft.com/office/powerpoint/2010/main" val="3281361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140" y="2154460"/>
            <a:ext cx="5966365" cy="3318891"/>
          </a:xfrm>
        </p:spPr>
        <p:txBody>
          <a:bodyPr wrap="square" lIns="91440" tIns="45720" rIns="91440" bIns="45720" anchor="ctr">
            <a:noAutofit/>
          </a:bodyPr>
          <a:lstStyle/>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Section 2:</a:t>
            </a:r>
          </a:p>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Cluster</a:t>
            </a:r>
          </a:p>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Sampling</a:t>
            </a:r>
          </a:p>
        </p:txBody>
      </p:sp>
    </p:spTree>
    <p:extLst>
      <p:ext uri="{BB962C8B-B14F-4D97-AF65-F5344CB8AC3E}">
        <p14:creationId xmlns:p14="http://schemas.microsoft.com/office/powerpoint/2010/main" val="3281361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eaching-85">
            <a:extLst>
              <a:ext uri="{FF2B5EF4-FFF2-40B4-BE49-F238E27FC236}">
                <a16:creationId xmlns:a16="http://schemas.microsoft.com/office/drawing/2014/main" id="{1241D3E7-CA28-457C-BEA6-3AAF141E6EA6}"/>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Cluster sampling: whole classes</a:t>
            </a:r>
          </a:p>
        </p:txBody>
      </p:sp>
      <p:sp>
        <p:nvSpPr>
          <p:cNvPr id="2" name="Teaching-86">
            <a:extLst>
              <a:ext uri="{FF2B5EF4-FFF2-40B4-BE49-F238E27FC236}">
                <a16:creationId xmlns:a16="http://schemas.microsoft.com/office/drawing/2014/main" id="{59D35366-955C-4BB4-8B8D-BB4CF5E70658}"/>
              </a:ext>
            </a:extLst>
          </p:cNvPr>
          <p:cNvSpPr>
            <a:spLocks noGrp="1"/>
          </p:cNvSpPr>
          <p:nvPr/>
        </p:nvSpPr>
        <p:spPr>
          <a:xfrm>
            <a:off x="428625" y="1952625"/>
            <a:ext cx="11296650" cy="6000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Our demonstration college has </a:t>
            </a:r>
            <a:r>
              <a:rPr b="1"/>
              <a:t>40 classes of 50 students</a:t>
            </a:r>
            <a:r>
              <a:t>.</a:t>
            </a:r>
          </a:p>
        </p:txBody>
      </p:sp>
      <p:sp>
        <p:nvSpPr>
          <p:cNvPr id="3" name="Teaching-87">
            <a:extLst>
              <a:ext uri="{FF2B5EF4-FFF2-40B4-BE49-F238E27FC236}">
                <a16:creationId xmlns:a16="http://schemas.microsoft.com/office/drawing/2014/main" id="{685A2226-3DBF-435D-88E6-A239AA900A13}"/>
              </a:ext>
            </a:extLst>
          </p:cNvPr>
          <p:cNvSpPr>
            <a:spLocks noGrp="1"/>
          </p:cNvSpPr>
          <p:nvPr/>
        </p:nvSpPr>
        <p:spPr>
          <a:xfrm>
            <a:off x="619125" y="2971800"/>
            <a:ext cx="542925" cy="542925"/>
          </a:xfrm>
          <a:prstGeom prst="rect">
            <a:avLst/>
          </a:prstGeom>
          <a:solidFill>
            <a:srgbClr val="FFFFFF"/>
          </a:solidFill>
          <a:ln w="9525">
            <a:solidFill>
              <a:srgbClr val="8A959C"/>
            </a:solidFill>
          </a:ln>
        </p:spPr>
        <p:txBody>
          <a:bodyPr/>
          <a:lstStyle/>
          <a:p>
            <a:endParaRPr lang="en-US"/>
          </a:p>
        </p:txBody>
      </p:sp>
      <p:sp>
        <p:nvSpPr>
          <p:cNvPr id="4" name="Teaching-88">
            <a:extLst>
              <a:ext uri="{FF2B5EF4-FFF2-40B4-BE49-F238E27FC236}">
                <a16:creationId xmlns:a16="http://schemas.microsoft.com/office/drawing/2014/main" id="{12C07DF8-2487-4DF1-8151-E0FB70D10798}"/>
              </a:ext>
            </a:extLst>
          </p:cNvPr>
          <p:cNvSpPr>
            <a:spLocks noGrp="1"/>
          </p:cNvSpPr>
          <p:nvPr/>
        </p:nvSpPr>
        <p:spPr>
          <a:xfrm>
            <a:off x="619125" y="30861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1</a:t>
            </a:r>
          </a:p>
        </p:txBody>
      </p:sp>
      <p:sp>
        <p:nvSpPr>
          <p:cNvPr id="5" name="Teaching-89">
            <a:extLst>
              <a:ext uri="{FF2B5EF4-FFF2-40B4-BE49-F238E27FC236}">
                <a16:creationId xmlns:a16="http://schemas.microsoft.com/office/drawing/2014/main" id="{EF93362E-D1B8-44E5-8A34-4C0546EE5EAB}"/>
              </a:ext>
            </a:extLst>
          </p:cNvPr>
          <p:cNvSpPr>
            <a:spLocks noGrp="1"/>
          </p:cNvSpPr>
          <p:nvPr/>
        </p:nvSpPr>
        <p:spPr>
          <a:xfrm>
            <a:off x="1266825" y="2971800"/>
            <a:ext cx="542925" cy="542925"/>
          </a:xfrm>
          <a:prstGeom prst="rect">
            <a:avLst/>
          </a:prstGeom>
          <a:solidFill>
            <a:srgbClr val="FFFFFF"/>
          </a:solidFill>
          <a:ln w="9525">
            <a:solidFill>
              <a:srgbClr val="8A959C"/>
            </a:solidFill>
          </a:ln>
        </p:spPr>
        <p:txBody>
          <a:bodyPr/>
          <a:lstStyle/>
          <a:p>
            <a:endParaRPr lang="en-US"/>
          </a:p>
        </p:txBody>
      </p:sp>
      <p:sp>
        <p:nvSpPr>
          <p:cNvPr id="6" name="Teaching-90">
            <a:extLst>
              <a:ext uri="{FF2B5EF4-FFF2-40B4-BE49-F238E27FC236}">
                <a16:creationId xmlns:a16="http://schemas.microsoft.com/office/drawing/2014/main" id="{6CB10CD5-32D6-4666-9905-CD45D09F204B}"/>
              </a:ext>
            </a:extLst>
          </p:cNvPr>
          <p:cNvSpPr>
            <a:spLocks noGrp="1"/>
          </p:cNvSpPr>
          <p:nvPr/>
        </p:nvSpPr>
        <p:spPr>
          <a:xfrm>
            <a:off x="1266825" y="30861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2</a:t>
            </a:r>
          </a:p>
        </p:txBody>
      </p:sp>
      <p:sp>
        <p:nvSpPr>
          <p:cNvPr id="7" name="Teaching-91">
            <a:extLst>
              <a:ext uri="{FF2B5EF4-FFF2-40B4-BE49-F238E27FC236}">
                <a16:creationId xmlns:a16="http://schemas.microsoft.com/office/drawing/2014/main" id="{B47B041B-C344-43CF-B2BF-DF22028DD9CC}"/>
              </a:ext>
            </a:extLst>
          </p:cNvPr>
          <p:cNvSpPr>
            <a:spLocks noGrp="1"/>
          </p:cNvSpPr>
          <p:nvPr/>
        </p:nvSpPr>
        <p:spPr>
          <a:xfrm>
            <a:off x="1914525" y="2971800"/>
            <a:ext cx="542925" cy="542925"/>
          </a:xfrm>
          <a:prstGeom prst="rect">
            <a:avLst/>
          </a:prstGeom>
          <a:solidFill>
            <a:srgbClr val="A6C9E2"/>
          </a:solidFill>
          <a:ln w="28575">
            <a:solidFill>
              <a:srgbClr val="244E6A"/>
            </a:solidFill>
          </a:ln>
        </p:spPr>
        <p:txBody>
          <a:bodyPr/>
          <a:lstStyle/>
          <a:p>
            <a:endParaRPr lang="en-US"/>
          </a:p>
        </p:txBody>
      </p:sp>
      <p:sp>
        <p:nvSpPr>
          <p:cNvPr id="8" name="Teaching-92">
            <a:extLst>
              <a:ext uri="{FF2B5EF4-FFF2-40B4-BE49-F238E27FC236}">
                <a16:creationId xmlns:a16="http://schemas.microsoft.com/office/drawing/2014/main" id="{374214B7-91E9-4332-B77B-CFDE5E8916E1}"/>
              </a:ext>
            </a:extLst>
          </p:cNvPr>
          <p:cNvSpPr>
            <a:spLocks noGrp="1"/>
          </p:cNvSpPr>
          <p:nvPr/>
        </p:nvSpPr>
        <p:spPr>
          <a:xfrm>
            <a:off x="1914525" y="3086100"/>
            <a:ext cx="542925" cy="285750"/>
          </a:xfrm>
          <a:prstGeom prst="rect">
            <a:avLst/>
          </a:prstGeom>
          <a:noFill/>
          <a:ln w="0">
            <a:noFill/>
          </a:ln>
        </p:spPr>
        <p:txBody>
          <a:bodyPr wrap="square" lIns="0" tIns="0" rIns="0" bIns="0" anchor="t">
            <a:noAutofit/>
          </a:bodyPr>
          <a:lstStyle/>
          <a:p>
            <a:pPr algn="ctr">
              <a:defRPr sz="1875" b="1">
                <a:solidFill>
                  <a:srgbClr val="111111"/>
                </a:solidFill>
                <a:latin typeface="Aptos"/>
                <a:ea typeface="Aptos"/>
                <a:cs typeface="Aptos"/>
              </a:defRPr>
            </a:pPr>
            <a:r>
              <a:t>3</a:t>
            </a:r>
          </a:p>
        </p:txBody>
      </p:sp>
      <p:sp>
        <p:nvSpPr>
          <p:cNvPr id="9" name="Teaching-93">
            <a:extLst>
              <a:ext uri="{FF2B5EF4-FFF2-40B4-BE49-F238E27FC236}">
                <a16:creationId xmlns:a16="http://schemas.microsoft.com/office/drawing/2014/main" id="{24FB4EC9-14F2-4895-8D53-2E010C90616C}"/>
              </a:ext>
            </a:extLst>
          </p:cNvPr>
          <p:cNvSpPr>
            <a:spLocks noGrp="1"/>
          </p:cNvSpPr>
          <p:nvPr/>
        </p:nvSpPr>
        <p:spPr>
          <a:xfrm>
            <a:off x="2562225" y="2971800"/>
            <a:ext cx="542925" cy="542925"/>
          </a:xfrm>
          <a:prstGeom prst="rect">
            <a:avLst/>
          </a:prstGeom>
          <a:solidFill>
            <a:srgbClr val="FFFFFF"/>
          </a:solidFill>
          <a:ln w="9525">
            <a:solidFill>
              <a:srgbClr val="8A959C"/>
            </a:solidFill>
          </a:ln>
        </p:spPr>
        <p:txBody>
          <a:bodyPr/>
          <a:lstStyle/>
          <a:p>
            <a:endParaRPr lang="en-US"/>
          </a:p>
        </p:txBody>
      </p:sp>
      <p:sp>
        <p:nvSpPr>
          <p:cNvPr id="10" name="Teaching-94">
            <a:extLst>
              <a:ext uri="{FF2B5EF4-FFF2-40B4-BE49-F238E27FC236}">
                <a16:creationId xmlns:a16="http://schemas.microsoft.com/office/drawing/2014/main" id="{6A2CD3BE-3853-46BC-982E-33C87856DEA7}"/>
              </a:ext>
            </a:extLst>
          </p:cNvPr>
          <p:cNvSpPr>
            <a:spLocks noGrp="1"/>
          </p:cNvSpPr>
          <p:nvPr/>
        </p:nvSpPr>
        <p:spPr>
          <a:xfrm>
            <a:off x="2562225" y="30861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4</a:t>
            </a:r>
          </a:p>
        </p:txBody>
      </p:sp>
      <p:sp>
        <p:nvSpPr>
          <p:cNvPr id="11" name="Teaching-95">
            <a:extLst>
              <a:ext uri="{FF2B5EF4-FFF2-40B4-BE49-F238E27FC236}">
                <a16:creationId xmlns:a16="http://schemas.microsoft.com/office/drawing/2014/main" id="{C23A193A-5A3E-4330-A20F-AA4BDD891ADF}"/>
              </a:ext>
            </a:extLst>
          </p:cNvPr>
          <p:cNvSpPr>
            <a:spLocks noGrp="1"/>
          </p:cNvSpPr>
          <p:nvPr/>
        </p:nvSpPr>
        <p:spPr>
          <a:xfrm>
            <a:off x="3209925" y="2971800"/>
            <a:ext cx="542925" cy="542925"/>
          </a:xfrm>
          <a:prstGeom prst="rect">
            <a:avLst/>
          </a:prstGeom>
          <a:solidFill>
            <a:srgbClr val="FFFFFF"/>
          </a:solidFill>
          <a:ln w="9525">
            <a:solidFill>
              <a:srgbClr val="8A959C"/>
            </a:solidFill>
          </a:ln>
        </p:spPr>
        <p:txBody>
          <a:bodyPr/>
          <a:lstStyle/>
          <a:p>
            <a:endParaRPr lang="en-US"/>
          </a:p>
        </p:txBody>
      </p:sp>
      <p:sp>
        <p:nvSpPr>
          <p:cNvPr id="12" name="Teaching-96">
            <a:extLst>
              <a:ext uri="{FF2B5EF4-FFF2-40B4-BE49-F238E27FC236}">
                <a16:creationId xmlns:a16="http://schemas.microsoft.com/office/drawing/2014/main" id="{8E201C82-6DB8-41AF-8CF4-AB175F617728}"/>
              </a:ext>
            </a:extLst>
          </p:cNvPr>
          <p:cNvSpPr>
            <a:spLocks noGrp="1"/>
          </p:cNvSpPr>
          <p:nvPr/>
        </p:nvSpPr>
        <p:spPr>
          <a:xfrm>
            <a:off x="3209925" y="30861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5</a:t>
            </a:r>
          </a:p>
        </p:txBody>
      </p:sp>
      <p:sp>
        <p:nvSpPr>
          <p:cNvPr id="13" name="Teaching-97">
            <a:extLst>
              <a:ext uri="{FF2B5EF4-FFF2-40B4-BE49-F238E27FC236}">
                <a16:creationId xmlns:a16="http://schemas.microsoft.com/office/drawing/2014/main" id="{093F175D-0C3C-4115-8A20-E076CE3F113D}"/>
              </a:ext>
            </a:extLst>
          </p:cNvPr>
          <p:cNvSpPr>
            <a:spLocks noGrp="1"/>
          </p:cNvSpPr>
          <p:nvPr/>
        </p:nvSpPr>
        <p:spPr>
          <a:xfrm>
            <a:off x="3857625" y="2971800"/>
            <a:ext cx="542925" cy="542925"/>
          </a:xfrm>
          <a:prstGeom prst="rect">
            <a:avLst/>
          </a:prstGeom>
          <a:solidFill>
            <a:srgbClr val="FFFFFF"/>
          </a:solidFill>
          <a:ln w="9525">
            <a:solidFill>
              <a:srgbClr val="8A959C"/>
            </a:solidFill>
          </a:ln>
        </p:spPr>
        <p:txBody>
          <a:bodyPr/>
          <a:lstStyle/>
          <a:p>
            <a:endParaRPr lang="en-US"/>
          </a:p>
        </p:txBody>
      </p:sp>
      <p:sp>
        <p:nvSpPr>
          <p:cNvPr id="14" name="Teaching-98">
            <a:extLst>
              <a:ext uri="{FF2B5EF4-FFF2-40B4-BE49-F238E27FC236}">
                <a16:creationId xmlns:a16="http://schemas.microsoft.com/office/drawing/2014/main" id="{77B75374-CA00-4645-AC71-BAC2DD7AAA67}"/>
              </a:ext>
            </a:extLst>
          </p:cNvPr>
          <p:cNvSpPr>
            <a:spLocks noGrp="1"/>
          </p:cNvSpPr>
          <p:nvPr/>
        </p:nvSpPr>
        <p:spPr>
          <a:xfrm>
            <a:off x="3857625" y="30861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6</a:t>
            </a:r>
          </a:p>
        </p:txBody>
      </p:sp>
      <p:sp>
        <p:nvSpPr>
          <p:cNvPr id="15" name="Teaching-99">
            <a:extLst>
              <a:ext uri="{FF2B5EF4-FFF2-40B4-BE49-F238E27FC236}">
                <a16:creationId xmlns:a16="http://schemas.microsoft.com/office/drawing/2014/main" id="{B9750AAA-FF31-47EA-A6AF-96ADCDB97837}"/>
              </a:ext>
            </a:extLst>
          </p:cNvPr>
          <p:cNvSpPr>
            <a:spLocks noGrp="1"/>
          </p:cNvSpPr>
          <p:nvPr/>
        </p:nvSpPr>
        <p:spPr>
          <a:xfrm>
            <a:off x="4505325" y="2971800"/>
            <a:ext cx="542925" cy="542925"/>
          </a:xfrm>
          <a:prstGeom prst="rect">
            <a:avLst/>
          </a:prstGeom>
          <a:solidFill>
            <a:srgbClr val="FFFFFF"/>
          </a:solidFill>
          <a:ln w="9525">
            <a:solidFill>
              <a:srgbClr val="8A959C"/>
            </a:solidFill>
          </a:ln>
        </p:spPr>
        <p:txBody>
          <a:bodyPr/>
          <a:lstStyle/>
          <a:p>
            <a:endParaRPr lang="en-US"/>
          </a:p>
        </p:txBody>
      </p:sp>
      <p:sp>
        <p:nvSpPr>
          <p:cNvPr id="16" name="Teaching-100">
            <a:extLst>
              <a:ext uri="{FF2B5EF4-FFF2-40B4-BE49-F238E27FC236}">
                <a16:creationId xmlns:a16="http://schemas.microsoft.com/office/drawing/2014/main" id="{6FC6E153-37FB-437B-913B-5E4232EDD2EB}"/>
              </a:ext>
            </a:extLst>
          </p:cNvPr>
          <p:cNvSpPr>
            <a:spLocks noGrp="1"/>
          </p:cNvSpPr>
          <p:nvPr/>
        </p:nvSpPr>
        <p:spPr>
          <a:xfrm>
            <a:off x="4505325" y="30861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7</a:t>
            </a:r>
          </a:p>
        </p:txBody>
      </p:sp>
      <p:sp>
        <p:nvSpPr>
          <p:cNvPr id="17" name="Teaching-101">
            <a:extLst>
              <a:ext uri="{FF2B5EF4-FFF2-40B4-BE49-F238E27FC236}">
                <a16:creationId xmlns:a16="http://schemas.microsoft.com/office/drawing/2014/main" id="{045AE4DB-B867-4854-9BE4-6660413172DB}"/>
              </a:ext>
            </a:extLst>
          </p:cNvPr>
          <p:cNvSpPr>
            <a:spLocks noGrp="1"/>
          </p:cNvSpPr>
          <p:nvPr/>
        </p:nvSpPr>
        <p:spPr>
          <a:xfrm>
            <a:off x="5153025" y="2971800"/>
            <a:ext cx="542925" cy="542925"/>
          </a:xfrm>
          <a:prstGeom prst="rect">
            <a:avLst/>
          </a:prstGeom>
          <a:solidFill>
            <a:srgbClr val="FFFFFF"/>
          </a:solidFill>
          <a:ln w="9525">
            <a:solidFill>
              <a:srgbClr val="8A959C"/>
            </a:solidFill>
          </a:ln>
        </p:spPr>
        <p:txBody>
          <a:bodyPr/>
          <a:lstStyle/>
          <a:p>
            <a:endParaRPr lang="en-US"/>
          </a:p>
        </p:txBody>
      </p:sp>
      <p:sp>
        <p:nvSpPr>
          <p:cNvPr id="18" name="Teaching-102">
            <a:extLst>
              <a:ext uri="{FF2B5EF4-FFF2-40B4-BE49-F238E27FC236}">
                <a16:creationId xmlns:a16="http://schemas.microsoft.com/office/drawing/2014/main" id="{1917E5E9-5DC3-4379-86D1-19EC0D2E651D}"/>
              </a:ext>
            </a:extLst>
          </p:cNvPr>
          <p:cNvSpPr>
            <a:spLocks noGrp="1"/>
          </p:cNvSpPr>
          <p:nvPr/>
        </p:nvSpPr>
        <p:spPr>
          <a:xfrm>
            <a:off x="5153025" y="30861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8</a:t>
            </a:r>
          </a:p>
        </p:txBody>
      </p:sp>
      <p:sp>
        <p:nvSpPr>
          <p:cNvPr id="19" name="Teaching-103">
            <a:extLst>
              <a:ext uri="{FF2B5EF4-FFF2-40B4-BE49-F238E27FC236}">
                <a16:creationId xmlns:a16="http://schemas.microsoft.com/office/drawing/2014/main" id="{E5522EEA-AE92-4630-82AB-25C20A488A9F}"/>
              </a:ext>
            </a:extLst>
          </p:cNvPr>
          <p:cNvSpPr>
            <a:spLocks noGrp="1"/>
          </p:cNvSpPr>
          <p:nvPr/>
        </p:nvSpPr>
        <p:spPr>
          <a:xfrm>
            <a:off x="5800725" y="2971800"/>
            <a:ext cx="542925" cy="542925"/>
          </a:xfrm>
          <a:prstGeom prst="rect">
            <a:avLst/>
          </a:prstGeom>
          <a:solidFill>
            <a:srgbClr val="FFFFFF"/>
          </a:solidFill>
          <a:ln w="9525">
            <a:solidFill>
              <a:srgbClr val="8A959C"/>
            </a:solidFill>
          </a:ln>
        </p:spPr>
        <p:txBody>
          <a:bodyPr/>
          <a:lstStyle/>
          <a:p>
            <a:endParaRPr lang="en-US"/>
          </a:p>
        </p:txBody>
      </p:sp>
      <p:sp>
        <p:nvSpPr>
          <p:cNvPr id="20" name="Teaching-104">
            <a:extLst>
              <a:ext uri="{FF2B5EF4-FFF2-40B4-BE49-F238E27FC236}">
                <a16:creationId xmlns:a16="http://schemas.microsoft.com/office/drawing/2014/main" id="{7470A2D0-CB86-40E4-8625-0959D5DFD167}"/>
              </a:ext>
            </a:extLst>
          </p:cNvPr>
          <p:cNvSpPr>
            <a:spLocks noGrp="1"/>
          </p:cNvSpPr>
          <p:nvPr/>
        </p:nvSpPr>
        <p:spPr>
          <a:xfrm>
            <a:off x="5800725" y="30861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9</a:t>
            </a:r>
          </a:p>
        </p:txBody>
      </p:sp>
      <p:sp>
        <p:nvSpPr>
          <p:cNvPr id="21" name="Teaching-105">
            <a:extLst>
              <a:ext uri="{FF2B5EF4-FFF2-40B4-BE49-F238E27FC236}">
                <a16:creationId xmlns:a16="http://schemas.microsoft.com/office/drawing/2014/main" id="{23E6BA1F-05E7-4704-BEEB-D2977E5A663F}"/>
              </a:ext>
            </a:extLst>
          </p:cNvPr>
          <p:cNvSpPr>
            <a:spLocks noGrp="1"/>
          </p:cNvSpPr>
          <p:nvPr/>
        </p:nvSpPr>
        <p:spPr>
          <a:xfrm>
            <a:off x="6448425" y="2971800"/>
            <a:ext cx="542925" cy="542925"/>
          </a:xfrm>
          <a:prstGeom prst="rect">
            <a:avLst/>
          </a:prstGeom>
          <a:solidFill>
            <a:srgbClr val="FFFFFF"/>
          </a:solidFill>
          <a:ln w="9525">
            <a:solidFill>
              <a:srgbClr val="8A959C"/>
            </a:solidFill>
          </a:ln>
        </p:spPr>
        <p:txBody>
          <a:bodyPr/>
          <a:lstStyle/>
          <a:p>
            <a:endParaRPr lang="en-US"/>
          </a:p>
        </p:txBody>
      </p:sp>
      <p:sp>
        <p:nvSpPr>
          <p:cNvPr id="22" name="Teaching-106">
            <a:extLst>
              <a:ext uri="{FF2B5EF4-FFF2-40B4-BE49-F238E27FC236}">
                <a16:creationId xmlns:a16="http://schemas.microsoft.com/office/drawing/2014/main" id="{4E97587E-8DF1-4885-824F-78711655F8DD}"/>
              </a:ext>
            </a:extLst>
          </p:cNvPr>
          <p:cNvSpPr>
            <a:spLocks noGrp="1"/>
          </p:cNvSpPr>
          <p:nvPr/>
        </p:nvSpPr>
        <p:spPr>
          <a:xfrm>
            <a:off x="6448425" y="30861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10</a:t>
            </a:r>
          </a:p>
        </p:txBody>
      </p:sp>
      <p:sp>
        <p:nvSpPr>
          <p:cNvPr id="23" name="Teaching-107">
            <a:extLst>
              <a:ext uri="{FF2B5EF4-FFF2-40B4-BE49-F238E27FC236}">
                <a16:creationId xmlns:a16="http://schemas.microsoft.com/office/drawing/2014/main" id="{E1E830B6-B62B-47C3-BE09-9918D2C400D6}"/>
              </a:ext>
            </a:extLst>
          </p:cNvPr>
          <p:cNvSpPr>
            <a:spLocks noGrp="1"/>
          </p:cNvSpPr>
          <p:nvPr/>
        </p:nvSpPr>
        <p:spPr>
          <a:xfrm>
            <a:off x="619125" y="3619500"/>
            <a:ext cx="542925" cy="542925"/>
          </a:xfrm>
          <a:prstGeom prst="rect">
            <a:avLst/>
          </a:prstGeom>
          <a:solidFill>
            <a:srgbClr val="FFFFFF"/>
          </a:solidFill>
          <a:ln w="9525">
            <a:solidFill>
              <a:srgbClr val="8A959C"/>
            </a:solidFill>
          </a:ln>
        </p:spPr>
        <p:txBody>
          <a:bodyPr/>
          <a:lstStyle/>
          <a:p>
            <a:endParaRPr lang="en-US"/>
          </a:p>
        </p:txBody>
      </p:sp>
      <p:sp>
        <p:nvSpPr>
          <p:cNvPr id="24" name="Teaching-108">
            <a:extLst>
              <a:ext uri="{FF2B5EF4-FFF2-40B4-BE49-F238E27FC236}">
                <a16:creationId xmlns:a16="http://schemas.microsoft.com/office/drawing/2014/main" id="{B0F90E50-693A-483F-85E8-5A8246B0EC1B}"/>
              </a:ext>
            </a:extLst>
          </p:cNvPr>
          <p:cNvSpPr>
            <a:spLocks noGrp="1"/>
          </p:cNvSpPr>
          <p:nvPr/>
        </p:nvSpPr>
        <p:spPr>
          <a:xfrm>
            <a:off x="619125" y="37338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11</a:t>
            </a:r>
          </a:p>
        </p:txBody>
      </p:sp>
      <p:sp>
        <p:nvSpPr>
          <p:cNvPr id="25" name="Teaching-109">
            <a:extLst>
              <a:ext uri="{FF2B5EF4-FFF2-40B4-BE49-F238E27FC236}">
                <a16:creationId xmlns:a16="http://schemas.microsoft.com/office/drawing/2014/main" id="{E75D087B-C87B-4A3B-AA9D-F3E5D0FE1AA0}"/>
              </a:ext>
            </a:extLst>
          </p:cNvPr>
          <p:cNvSpPr>
            <a:spLocks noGrp="1"/>
          </p:cNvSpPr>
          <p:nvPr/>
        </p:nvSpPr>
        <p:spPr>
          <a:xfrm>
            <a:off x="1266825" y="3619500"/>
            <a:ext cx="542925" cy="542925"/>
          </a:xfrm>
          <a:prstGeom prst="rect">
            <a:avLst/>
          </a:prstGeom>
          <a:solidFill>
            <a:srgbClr val="FFFFFF"/>
          </a:solidFill>
          <a:ln w="9525">
            <a:solidFill>
              <a:srgbClr val="8A959C"/>
            </a:solidFill>
          </a:ln>
        </p:spPr>
        <p:txBody>
          <a:bodyPr/>
          <a:lstStyle/>
          <a:p>
            <a:endParaRPr lang="en-US"/>
          </a:p>
        </p:txBody>
      </p:sp>
      <p:sp>
        <p:nvSpPr>
          <p:cNvPr id="26" name="Teaching-110">
            <a:extLst>
              <a:ext uri="{FF2B5EF4-FFF2-40B4-BE49-F238E27FC236}">
                <a16:creationId xmlns:a16="http://schemas.microsoft.com/office/drawing/2014/main" id="{B3014722-7A2E-4D93-895C-A070AB2830C5}"/>
              </a:ext>
            </a:extLst>
          </p:cNvPr>
          <p:cNvSpPr>
            <a:spLocks noGrp="1"/>
          </p:cNvSpPr>
          <p:nvPr/>
        </p:nvSpPr>
        <p:spPr>
          <a:xfrm>
            <a:off x="1266825" y="37338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12</a:t>
            </a:r>
          </a:p>
        </p:txBody>
      </p:sp>
      <p:sp>
        <p:nvSpPr>
          <p:cNvPr id="27" name="Teaching-111">
            <a:extLst>
              <a:ext uri="{FF2B5EF4-FFF2-40B4-BE49-F238E27FC236}">
                <a16:creationId xmlns:a16="http://schemas.microsoft.com/office/drawing/2014/main" id="{5DCF1757-7814-49C6-AE3F-8FAC798964E6}"/>
              </a:ext>
            </a:extLst>
          </p:cNvPr>
          <p:cNvSpPr>
            <a:spLocks noGrp="1"/>
          </p:cNvSpPr>
          <p:nvPr/>
        </p:nvSpPr>
        <p:spPr>
          <a:xfrm>
            <a:off x="1914525" y="3619500"/>
            <a:ext cx="542925" cy="542925"/>
          </a:xfrm>
          <a:prstGeom prst="rect">
            <a:avLst/>
          </a:prstGeom>
          <a:solidFill>
            <a:srgbClr val="FFFFFF"/>
          </a:solidFill>
          <a:ln w="9525">
            <a:solidFill>
              <a:srgbClr val="8A959C"/>
            </a:solidFill>
          </a:ln>
        </p:spPr>
        <p:txBody>
          <a:bodyPr/>
          <a:lstStyle/>
          <a:p>
            <a:endParaRPr lang="en-US"/>
          </a:p>
        </p:txBody>
      </p:sp>
      <p:sp>
        <p:nvSpPr>
          <p:cNvPr id="28" name="Teaching-112">
            <a:extLst>
              <a:ext uri="{FF2B5EF4-FFF2-40B4-BE49-F238E27FC236}">
                <a16:creationId xmlns:a16="http://schemas.microsoft.com/office/drawing/2014/main" id="{83EBF319-FC53-4514-AF13-9CA226A0AD90}"/>
              </a:ext>
            </a:extLst>
          </p:cNvPr>
          <p:cNvSpPr>
            <a:spLocks noGrp="1"/>
          </p:cNvSpPr>
          <p:nvPr/>
        </p:nvSpPr>
        <p:spPr>
          <a:xfrm>
            <a:off x="1914525" y="37338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13</a:t>
            </a:r>
          </a:p>
        </p:txBody>
      </p:sp>
      <p:sp>
        <p:nvSpPr>
          <p:cNvPr id="29" name="Teaching-113">
            <a:extLst>
              <a:ext uri="{FF2B5EF4-FFF2-40B4-BE49-F238E27FC236}">
                <a16:creationId xmlns:a16="http://schemas.microsoft.com/office/drawing/2014/main" id="{75B22A88-0B3F-42F1-A098-3295D6FE7C68}"/>
              </a:ext>
            </a:extLst>
          </p:cNvPr>
          <p:cNvSpPr>
            <a:spLocks noGrp="1"/>
          </p:cNvSpPr>
          <p:nvPr/>
        </p:nvSpPr>
        <p:spPr>
          <a:xfrm>
            <a:off x="2562225" y="3619500"/>
            <a:ext cx="542925" cy="542925"/>
          </a:xfrm>
          <a:prstGeom prst="rect">
            <a:avLst/>
          </a:prstGeom>
          <a:solidFill>
            <a:srgbClr val="A6C9E2"/>
          </a:solidFill>
          <a:ln w="28575">
            <a:solidFill>
              <a:srgbClr val="244E6A"/>
            </a:solidFill>
          </a:ln>
        </p:spPr>
        <p:txBody>
          <a:bodyPr/>
          <a:lstStyle/>
          <a:p>
            <a:endParaRPr lang="en-US"/>
          </a:p>
        </p:txBody>
      </p:sp>
      <p:sp>
        <p:nvSpPr>
          <p:cNvPr id="30" name="Teaching-114">
            <a:extLst>
              <a:ext uri="{FF2B5EF4-FFF2-40B4-BE49-F238E27FC236}">
                <a16:creationId xmlns:a16="http://schemas.microsoft.com/office/drawing/2014/main" id="{844DB93D-CA8D-4265-92A7-2B355253E892}"/>
              </a:ext>
            </a:extLst>
          </p:cNvPr>
          <p:cNvSpPr>
            <a:spLocks noGrp="1"/>
          </p:cNvSpPr>
          <p:nvPr/>
        </p:nvSpPr>
        <p:spPr>
          <a:xfrm>
            <a:off x="2562225" y="3733800"/>
            <a:ext cx="542925" cy="285750"/>
          </a:xfrm>
          <a:prstGeom prst="rect">
            <a:avLst/>
          </a:prstGeom>
          <a:noFill/>
          <a:ln w="0">
            <a:noFill/>
          </a:ln>
        </p:spPr>
        <p:txBody>
          <a:bodyPr wrap="square" lIns="0" tIns="0" rIns="0" bIns="0" anchor="t">
            <a:noAutofit/>
          </a:bodyPr>
          <a:lstStyle/>
          <a:p>
            <a:pPr algn="ctr">
              <a:defRPr sz="1875" b="1">
                <a:solidFill>
                  <a:srgbClr val="111111"/>
                </a:solidFill>
                <a:latin typeface="Aptos"/>
                <a:ea typeface="Aptos"/>
                <a:cs typeface="Aptos"/>
              </a:defRPr>
            </a:pPr>
            <a:r>
              <a:t>14</a:t>
            </a:r>
          </a:p>
        </p:txBody>
      </p:sp>
      <p:sp>
        <p:nvSpPr>
          <p:cNvPr id="31" name="Teaching-115">
            <a:extLst>
              <a:ext uri="{FF2B5EF4-FFF2-40B4-BE49-F238E27FC236}">
                <a16:creationId xmlns:a16="http://schemas.microsoft.com/office/drawing/2014/main" id="{7AA05617-0668-4939-B120-2A83C4168228}"/>
              </a:ext>
            </a:extLst>
          </p:cNvPr>
          <p:cNvSpPr>
            <a:spLocks noGrp="1"/>
          </p:cNvSpPr>
          <p:nvPr/>
        </p:nvSpPr>
        <p:spPr>
          <a:xfrm>
            <a:off x="3209925" y="3619500"/>
            <a:ext cx="542925" cy="542925"/>
          </a:xfrm>
          <a:prstGeom prst="rect">
            <a:avLst/>
          </a:prstGeom>
          <a:solidFill>
            <a:srgbClr val="FFFFFF"/>
          </a:solidFill>
          <a:ln w="9525">
            <a:solidFill>
              <a:srgbClr val="8A959C"/>
            </a:solidFill>
          </a:ln>
        </p:spPr>
        <p:txBody>
          <a:bodyPr/>
          <a:lstStyle/>
          <a:p>
            <a:endParaRPr lang="en-US"/>
          </a:p>
        </p:txBody>
      </p:sp>
      <p:sp>
        <p:nvSpPr>
          <p:cNvPr id="32" name="Teaching-116">
            <a:extLst>
              <a:ext uri="{FF2B5EF4-FFF2-40B4-BE49-F238E27FC236}">
                <a16:creationId xmlns:a16="http://schemas.microsoft.com/office/drawing/2014/main" id="{168EAFCA-3E18-45F4-9D76-822F56538207}"/>
              </a:ext>
            </a:extLst>
          </p:cNvPr>
          <p:cNvSpPr>
            <a:spLocks noGrp="1"/>
          </p:cNvSpPr>
          <p:nvPr/>
        </p:nvSpPr>
        <p:spPr>
          <a:xfrm>
            <a:off x="3209925" y="37338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15</a:t>
            </a:r>
          </a:p>
        </p:txBody>
      </p:sp>
      <p:sp>
        <p:nvSpPr>
          <p:cNvPr id="33" name="Teaching-117">
            <a:extLst>
              <a:ext uri="{FF2B5EF4-FFF2-40B4-BE49-F238E27FC236}">
                <a16:creationId xmlns:a16="http://schemas.microsoft.com/office/drawing/2014/main" id="{FB3FDF42-1E3F-4F29-9250-FD1D985B0A6B}"/>
              </a:ext>
            </a:extLst>
          </p:cNvPr>
          <p:cNvSpPr>
            <a:spLocks noGrp="1"/>
          </p:cNvSpPr>
          <p:nvPr/>
        </p:nvSpPr>
        <p:spPr>
          <a:xfrm>
            <a:off x="3857625" y="3619500"/>
            <a:ext cx="542925" cy="542925"/>
          </a:xfrm>
          <a:prstGeom prst="rect">
            <a:avLst/>
          </a:prstGeom>
          <a:solidFill>
            <a:srgbClr val="FFFFFF"/>
          </a:solidFill>
          <a:ln w="9525">
            <a:solidFill>
              <a:srgbClr val="8A959C"/>
            </a:solidFill>
          </a:ln>
        </p:spPr>
        <p:txBody>
          <a:bodyPr/>
          <a:lstStyle/>
          <a:p>
            <a:endParaRPr lang="en-US"/>
          </a:p>
        </p:txBody>
      </p:sp>
      <p:sp>
        <p:nvSpPr>
          <p:cNvPr id="34" name="Teaching-118">
            <a:extLst>
              <a:ext uri="{FF2B5EF4-FFF2-40B4-BE49-F238E27FC236}">
                <a16:creationId xmlns:a16="http://schemas.microsoft.com/office/drawing/2014/main" id="{064F7F84-1529-46DF-994F-D6DDEA108DA0}"/>
              </a:ext>
            </a:extLst>
          </p:cNvPr>
          <p:cNvSpPr>
            <a:spLocks noGrp="1"/>
          </p:cNvSpPr>
          <p:nvPr/>
        </p:nvSpPr>
        <p:spPr>
          <a:xfrm>
            <a:off x="3857625" y="37338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16</a:t>
            </a:r>
          </a:p>
        </p:txBody>
      </p:sp>
      <p:sp>
        <p:nvSpPr>
          <p:cNvPr id="35" name="Teaching-119">
            <a:extLst>
              <a:ext uri="{FF2B5EF4-FFF2-40B4-BE49-F238E27FC236}">
                <a16:creationId xmlns:a16="http://schemas.microsoft.com/office/drawing/2014/main" id="{F8DFFA0F-6622-4311-A913-3CD272B72717}"/>
              </a:ext>
            </a:extLst>
          </p:cNvPr>
          <p:cNvSpPr>
            <a:spLocks noGrp="1"/>
          </p:cNvSpPr>
          <p:nvPr/>
        </p:nvSpPr>
        <p:spPr>
          <a:xfrm>
            <a:off x="4505325" y="3619500"/>
            <a:ext cx="542925" cy="542925"/>
          </a:xfrm>
          <a:prstGeom prst="rect">
            <a:avLst/>
          </a:prstGeom>
          <a:solidFill>
            <a:srgbClr val="FFFFFF"/>
          </a:solidFill>
          <a:ln w="9525">
            <a:solidFill>
              <a:srgbClr val="8A959C"/>
            </a:solidFill>
          </a:ln>
        </p:spPr>
        <p:txBody>
          <a:bodyPr/>
          <a:lstStyle/>
          <a:p>
            <a:endParaRPr lang="en-US"/>
          </a:p>
        </p:txBody>
      </p:sp>
      <p:sp>
        <p:nvSpPr>
          <p:cNvPr id="36" name="Teaching-120">
            <a:extLst>
              <a:ext uri="{FF2B5EF4-FFF2-40B4-BE49-F238E27FC236}">
                <a16:creationId xmlns:a16="http://schemas.microsoft.com/office/drawing/2014/main" id="{EED0F144-E7AE-4C86-B2EC-C28ABBC7FE5D}"/>
              </a:ext>
            </a:extLst>
          </p:cNvPr>
          <p:cNvSpPr>
            <a:spLocks noGrp="1"/>
          </p:cNvSpPr>
          <p:nvPr/>
        </p:nvSpPr>
        <p:spPr>
          <a:xfrm>
            <a:off x="4505325" y="37338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17</a:t>
            </a:r>
          </a:p>
        </p:txBody>
      </p:sp>
      <p:sp>
        <p:nvSpPr>
          <p:cNvPr id="37" name="Teaching-121">
            <a:extLst>
              <a:ext uri="{FF2B5EF4-FFF2-40B4-BE49-F238E27FC236}">
                <a16:creationId xmlns:a16="http://schemas.microsoft.com/office/drawing/2014/main" id="{D52C2C3A-C678-48F3-BF89-78EBF74AF8C0}"/>
              </a:ext>
            </a:extLst>
          </p:cNvPr>
          <p:cNvSpPr>
            <a:spLocks noGrp="1"/>
          </p:cNvSpPr>
          <p:nvPr/>
        </p:nvSpPr>
        <p:spPr>
          <a:xfrm>
            <a:off x="5153025" y="3619500"/>
            <a:ext cx="542925" cy="542925"/>
          </a:xfrm>
          <a:prstGeom prst="rect">
            <a:avLst/>
          </a:prstGeom>
          <a:solidFill>
            <a:srgbClr val="FFFFFF"/>
          </a:solidFill>
          <a:ln w="9525">
            <a:solidFill>
              <a:srgbClr val="8A959C"/>
            </a:solidFill>
          </a:ln>
        </p:spPr>
        <p:txBody>
          <a:bodyPr/>
          <a:lstStyle/>
          <a:p>
            <a:endParaRPr lang="en-US"/>
          </a:p>
        </p:txBody>
      </p:sp>
      <p:sp>
        <p:nvSpPr>
          <p:cNvPr id="38" name="Teaching-122">
            <a:extLst>
              <a:ext uri="{FF2B5EF4-FFF2-40B4-BE49-F238E27FC236}">
                <a16:creationId xmlns:a16="http://schemas.microsoft.com/office/drawing/2014/main" id="{B221F292-70DB-437B-A912-3192A13DC2AA}"/>
              </a:ext>
            </a:extLst>
          </p:cNvPr>
          <p:cNvSpPr>
            <a:spLocks noGrp="1"/>
          </p:cNvSpPr>
          <p:nvPr/>
        </p:nvSpPr>
        <p:spPr>
          <a:xfrm>
            <a:off x="5153025" y="37338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18</a:t>
            </a:r>
          </a:p>
        </p:txBody>
      </p:sp>
      <p:sp>
        <p:nvSpPr>
          <p:cNvPr id="39" name="Teaching-123">
            <a:extLst>
              <a:ext uri="{FF2B5EF4-FFF2-40B4-BE49-F238E27FC236}">
                <a16:creationId xmlns:a16="http://schemas.microsoft.com/office/drawing/2014/main" id="{16D55296-FC8A-405D-BD71-C9CBB3852CCD}"/>
              </a:ext>
            </a:extLst>
          </p:cNvPr>
          <p:cNvSpPr>
            <a:spLocks noGrp="1"/>
          </p:cNvSpPr>
          <p:nvPr/>
        </p:nvSpPr>
        <p:spPr>
          <a:xfrm>
            <a:off x="5800725" y="3619500"/>
            <a:ext cx="542925" cy="542925"/>
          </a:xfrm>
          <a:prstGeom prst="rect">
            <a:avLst/>
          </a:prstGeom>
          <a:solidFill>
            <a:srgbClr val="FFFFFF"/>
          </a:solidFill>
          <a:ln w="9525">
            <a:solidFill>
              <a:srgbClr val="8A959C"/>
            </a:solidFill>
          </a:ln>
        </p:spPr>
        <p:txBody>
          <a:bodyPr/>
          <a:lstStyle/>
          <a:p>
            <a:endParaRPr lang="en-US"/>
          </a:p>
        </p:txBody>
      </p:sp>
      <p:sp>
        <p:nvSpPr>
          <p:cNvPr id="40" name="Teaching-124">
            <a:extLst>
              <a:ext uri="{FF2B5EF4-FFF2-40B4-BE49-F238E27FC236}">
                <a16:creationId xmlns:a16="http://schemas.microsoft.com/office/drawing/2014/main" id="{403ECDDF-A844-4780-859A-9066C07B975C}"/>
              </a:ext>
            </a:extLst>
          </p:cNvPr>
          <p:cNvSpPr>
            <a:spLocks noGrp="1"/>
          </p:cNvSpPr>
          <p:nvPr/>
        </p:nvSpPr>
        <p:spPr>
          <a:xfrm>
            <a:off x="5800725" y="37338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19</a:t>
            </a:r>
          </a:p>
        </p:txBody>
      </p:sp>
      <p:sp>
        <p:nvSpPr>
          <p:cNvPr id="41" name="Teaching-125">
            <a:extLst>
              <a:ext uri="{FF2B5EF4-FFF2-40B4-BE49-F238E27FC236}">
                <a16:creationId xmlns:a16="http://schemas.microsoft.com/office/drawing/2014/main" id="{A03E55E0-7B48-4BC1-84EF-2ED527A46370}"/>
              </a:ext>
            </a:extLst>
          </p:cNvPr>
          <p:cNvSpPr>
            <a:spLocks noGrp="1"/>
          </p:cNvSpPr>
          <p:nvPr/>
        </p:nvSpPr>
        <p:spPr>
          <a:xfrm>
            <a:off x="6448425" y="3619500"/>
            <a:ext cx="542925" cy="542925"/>
          </a:xfrm>
          <a:prstGeom prst="rect">
            <a:avLst/>
          </a:prstGeom>
          <a:solidFill>
            <a:srgbClr val="FFFFFF"/>
          </a:solidFill>
          <a:ln w="9525">
            <a:solidFill>
              <a:srgbClr val="8A959C"/>
            </a:solidFill>
          </a:ln>
        </p:spPr>
        <p:txBody>
          <a:bodyPr/>
          <a:lstStyle/>
          <a:p>
            <a:endParaRPr lang="en-US"/>
          </a:p>
        </p:txBody>
      </p:sp>
      <p:sp>
        <p:nvSpPr>
          <p:cNvPr id="42" name="Teaching-126">
            <a:extLst>
              <a:ext uri="{FF2B5EF4-FFF2-40B4-BE49-F238E27FC236}">
                <a16:creationId xmlns:a16="http://schemas.microsoft.com/office/drawing/2014/main" id="{F277EED4-7C9C-4411-AF02-AF11A9E5BE09}"/>
              </a:ext>
            </a:extLst>
          </p:cNvPr>
          <p:cNvSpPr>
            <a:spLocks noGrp="1"/>
          </p:cNvSpPr>
          <p:nvPr/>
        </p:nvSpPr>
        <p:spPr>
          <a:xfrm>
            <a:off x="6448425" y="37338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20</a:t>
            </a:r>
          </a:p>
        </p:txBody>
      </p:sp>
      <p:sp>
        <p:nvSpPr>
          <p:cNvPr id="43" name="Teaching-127">
            <a:extLst>
              <a:ext uri="{FF2B5EF4-FFF2-40B4-BE49-F238E27FC236}">
                <a16:creationId xmlns:a16="http://schemas.microsoft.com/office/drawing/2014/main" id="{11B6144D-11E3-45BE-BD99-82531A288DF4}"/>
              </a:ext>
            </a:extLst>
          </p:cNvPr>
          <p:cNvSpPr>
            <a:spLocks noGrp="1"/>
          </p:cNvSpPr>
          <p:nvPr/>
        </p:nvSpPr>
        <p:spPr>
          <a:xfrm>
            <a:off x="619125" y="4267200"/>
            <a:ext cx="542925" cy="542925"/>
          </a:xfrm>
          <a:prstGeom prst="rect">
            <a:avLst/>
          </a:prstGeom>
          <a:solidFill>
            <a:srgbClr val="FFFFFF"/>
          </a:solidFill>
          <a:ln w="9525">
            <a:solidFill>
              <a:srgbClr val="8A959C"/>
            </a:solidFill>
          </a:ln>
        </p:spPr>
        <p:txBody>
          <a:bodyPr/>
          <a:lstStyle/>
          <a:p>
            <a:endParaRPr lang="en-US"/>
          </a:p>
        </p:txBody>
      </p:sp>
      <p:sp>
        <p:nvSpPr>
          <p:cNvPr id="44" name="Teaching-128">
            <a:extLst>
              <a:ext uri="{FF2B5EF4-FFF2-40B4-BE49-F238E27FC236}">
                <a16:creationId xmlns:a16="http://schemas.microsoft.com/office/drawing/2014/main" id="{CA35948C-CA7F-488E-8821-6DB5BE3092F6}"/>
              </a:ext>
            </a:extLst>
          </p:cNvPr>
          <p:cNvSpPr>
            <a:spLocks noGrp="1"/>
          </p:cNvSpPr>
          <p:nvPr/>
        </p:nvSpPr>
        <p:spPr>
          <a:xfrm>
            <a:off x="619125" y="43815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21</a:t>
            </a:r>
          </a:p>
        </p:txBody>
      </p:sp>
      <p:sp>
        <p:nvSpPr>
          <p:cNvPr id="45" name="Teaching-129">
            <a:extLst>
              <a:ext uri="{FF2B5EF4-FFF2-40B4-BE49-F238E27FC236}">
                <a16:creationId xmlns:a16="http://schemas.microsoft.com/office/drawing/2014/main" id="{35F59476-9B29-4C0F-87FF-6F074AB64F69}"/>
              </a:ext>
            </a:extLst>
          </p:cNvPr>
          <p:cNvSpPr>
            <a:spLocks noGrp="1"/>
          </p:cNvSpPr>
          <p:nvPr/>
        </p:nvSpPr>
        <p:spPr>
          <a:xfrm>
            <a:off x="1266825" y="4267200"/>
            <a:ext cx="542925" cy="542925"/>
          </a:xfrm>
          <a:prstGeom prst="rect">
            <a:avLst/>
          </a:prstGeom>
          <a:solidFill>
            <a:srgbClr val="FFFFFF"/>
          </a:solidFill>
          <a:ln w="9525">
            <a:solidFill>
              <a:srgbClr val="8A959C"/>
            </a:solidFill>
          </a:ln>
        </p:spPr>
        <p:txBody>
          <a:bodyPr/>
          <a:lstStyle/>
          <a:p>
            <a:endParaRPr lang="en-US"/>
          </a:p>
        </p:txBody>
      </p:sp>
      <p:sp>
        <p:nvSpPr>
          <p:cNvPr id="46" name="Teaching-130">
            <a:extLst>
              <a:ext uri="{FF2B5EF4-FFF2-40B4-BE49-F238E27FC236}">
                <a16:creationId xmlns:a16="http://schemas.microsoft.com/office/drawing/2014/main" id="{FAC10B9C-972A-4CAD-9567-4D30C331F72E}"/>
              </a:ext>
            </a:extLst>
          </p:cNvPr>
          <p:cNvSpPr>
            <a:spLocks noGrp="1"/>
          </p:cNvSpPr>
          <p:nvPr/>
        </p:nvSpPr>
        <p:spPr>
          <a:xfrm>
            <a:off x="1266825" y="43815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22</a:t>
            </a:r>
          </a:p>
        </p:txBody>
      </p:sp>
      <p:sp>
        <p:nvSpPr>
          <p:cNvPr id="47" name="Teaching-131">
            <a:extLst>
              <a:ext uri="{FF2B5EF4-FFF2-40B4-BE49-F238E27FC236}">
                <a16:creationId xmlns:a16="http://schemas.microsoft.com/office/drawing/2014/main" id="{821BCDB4-9808-46B6-A4B0-999700E3D36B}"/>
              </a:ext>
            </a:extLst>
          </p:cNvPr>
          <p:cNvSpPr>
            <a:spLocks noGrp="1"/>
          </p:cNvSpPr>
          <p:nvPr/>
        </p:nvSpPr>
        <p:spPr>
          <a:xfrm>
            <a:off x="1914525" y="4267200"/>
            <a:ext cx="542925" cy="542925"/>
          </a:xfrm>
          <a:prstGeom prst="rect">
            <a:avLst/>
          </a:prstGeom>
          <a:solidFill>
            <a:srgbClr val="FFFFFF"/>
          </a:solidFill>
          <a:ln w="9525">
            <a:solidFill>
              <a:srgbClr val="8A959C"/>
            </a:solidFill>
          </a:ln>
        </p:spPr>
        <p:txBody>
          <a:bodyPr/>
          <a:lstStyle/>
          <a:p>
            <a:endParaRPr lang="en-US"/>
          </a:p>
        </p:txBody>
      </p:sp>
      <p:sp>
        <p:nvSpPr>
          <p:cNvPr id="48" name="Teaching-132">
            <a:extLst>
              <a:ext uri="{FF2B5EF4-FFF2-40B4-BE49-F238E27FC236}">
                <a16:creationId xmlns:a16="http://schemas.microsoft.com/office/drawing/2014/main" id="{A7FF8734-7886-45B4-9E08-598DE731B2BC}"/>
              </a:ext>
            </a:extLst>
          </p:cNvPr>
          <p:cNvSpPr>
            <a:spLocks noGrp="1"/>
          </p:cNvSpPr>
          <p:nvPr/>
        </p:nvSpPr>
        <p:spPr>
          <a:xfrm>
            <a:off x="1914525" y="43815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23</a:t>
            </a:r>
          </a:p>
        </p:txBody>
      </p:sp>
      <p:sp>
        <p:nvSpPr>
          <p:cNvPr id="49" name="Teaching-133">
            <a:extLst>
              <a:ext uri="{FF2B5EF4-FFF2-40B4-BE49-F238E27FC236}">
                <a16:creationId xmlns:a16="http://schemas.microsoft.com/office/drawing/2014/main" id="{35F2FCC8-202B-4B2D-8557-9A2AB731C5A9}"/>
              </a:ext>
            </a:extLst>
          </p:cNvPr>
          <p:cNvSpPr>
            <a:spLocks noGrp="1"/>
          </p:cNvSpPr>
          <p:nvPr/>
        </p:nvSpPr>
        <p:spPr>
          <a:xfrm>
            <a:off x="2562225" y="4267200"/>
            <a:ext cx="542925" cy="542925"/>
          </a:xfrm>
          <a:prstGeom prst="rect">
            <a:avLst/>
          </a:prstGeom>
          <a:solidFill>
            <a:srgbClr val="FFFFFF"/>
          </a:solidFill>
          <a:ln w="9525">
            <a:solidFill>
              <a:srgbClr val="8A959C"/>
            </a:solidFill>
          </a:ln>
        </p:spPr>
        <p:txBody>
          <a:bodyPr/>
          <a:lstStyle/>
          <a:p>
            <a:endParaRPr lang="en-US"/>
          </a:p>
        </p:txBody>
      </p:sp>
      <p:sp>
        <p:nvSpPr>
          <p:cNvPr id="50" name="Teaching-134">
            <a:extLst>
              <a:ext uri="{FF2B5EF4-FFF2-40B4-BE49-F238E27FC236}">
                <a16:creationId xmlns:a16="http://schemas.microsoft.com/office/drawing/2014/main" id="{B362BA5A-2EB7-46BE-B0FF-9473679C6E5F}"/>
              </a:ext>
            </a:extLst>
          </p:cNvPr>
          <p:cNvSpPr>
            <a:spLocks noGrp="1"/>
          </p:cNvSpPr>
          <p:nvPr/>
        </p:nvSpPr>
        <p:spPr>
          <a:xfrm>
            <a:off x="2562225" y="43815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24</a:t>
            </a:r>
          </a:p>
        </p:txBody>
      </p:sp>
      <p:sp>
        <p:nvSpPr>
          <p:cNvPr id="51" name="Teaching-135">
            <a:extLst>
              <a:ext uri="{FF2B5EF4-FFF2-40B4-BE49-F238E27FC236}">
                <a16:creationId xmlns:a16="http://schemas.microsoft.com/office/drawing/2014/main" id="{D5584F1F-C8C8-43C9-872C-F152591C4FD4}"/>
              </a:ext>
            </a:extLst>
          </p:cNvPr>
          <p:cNvSpPr>
            <a:spLocks noGrp="1"/>
          </p:cNvSpPr>
          <p:nvPr/>
        </p:nvSpPr>
        <p:spPr>
          <a:xfrm>
            <a:off x="3209925" y="4267200"/>
            <a:ext cx="542925" cy="542925"/>
          </a:xfrm>
          <a:prstGeom prst="rect">
            <a:avLst/>
          </a:prstGeom>
          <a:solidFill>
            <a:srgbClr val="FFFFFF"/>
          </a:solidFill>
          <a:ln w="9525">
            <a:solidFill>
              <a:srgbClr val="8A959C"/>
            </a:solidFill>
          </a:ln>
        </p:spPr>
        <p:txBody>
          <a:bodyPr/>
          <a:lstStyle/>
          <a:p>
            <a:endParaRPr lang="en-US"/>
          </a:p>
        </p:txBody>
      </p:sp>
      <p:sp>
        <p:nvSpPr>
          <p:cNvPr id="52" name="Teaching-136">
            <a:extLst>
              <a:ext uri="{FF2B5EF4-FFF2-40B4-BE49-F238E27FC236}">
                <a16:creationId xmlns:a16="http://schemas.microsoft.com/office/drawing/2014/main" id="{3270BD9F-CEEB-4D4B-A581-D6ED8568C794}"/>
              </a:ext>
            </a:extLst>
          </p:cNvPr>
          <p:cNvSpPr>
            <a:spLocks noGrp="1"/>
          </p:cNvSpPr>
          <p:nvPr/>
        </p:nvSpPr>
        <p:spPr>
          <a:xfrm>
            <a:off x="3209925" y="43815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25</a:t>
            </a:r>
          </a:p>
        </p:txBody>
      </p:sp>
      <p:sp>
        <p:nvSpPr>
          <p:cNvPr id="53" name="Teaching-137">
            <a:extLst>
              <a:ext uri="{FF2B5EF4-FFF2-40B4-BE49-F238E27FC236}">
                <a16:creationId xmlns:a16="http://schemas.microsoft.com/office/drawing/2014/main" id="{088F93B6-665E-4B08-ABC1-3FABF2BC19BC}"/>
              </a:ext>
            </a:extLst>
          </p:cNvPr>
          <p:cNvSpPr>
            <a:spLocks noGrp="1"/>
          </p:cNvSpPr>
          <p:nvPr/>
        </p:nvSpPr>
        <p:spPr>
          <a:xfrm>
            <a:off x="3857625" y="4267200"/>
            <a:ext cx="542925" cy="542925"/>
          </a:xfrm>
          <a:prstGeom prst="rect">
            <a:avLst/>
          </a:prstGeom>
          <a:solidFill>
            <a:srgbClr val="FFFFFF"/>
          </a:solidFill>
          <a:ln w="9525">
            <a:solidFill>
              <a:srgbClr val="8A959C"/>
            </a:solidFill>
          </a:ln>
        </p:spPr>
        <p:txBody>
          <a:bodyPr/>
          <a:lstStyle/>
          <a:p>
            <a:endParaRPr lang="en-US"/>
          </a:p>
        </p:txBody>
      </p:sp>
      <p:sp>
        <p:nvSpPr>
          <p:cNvPr id="54" name="Teaching-138">
            <a:extLst>
              <a:ext uri="{FF2B5EF4-FFF2-40B4-BE49-F238E27FC236}">
                <a16:creationId xmlns:a16="http://schemas.microsoft.com/office/drawing/2014/main" id="{CF3CF8C1-A9A4-4BF1-8F0B-F43A5D809875}"/>
              </a:ext>
            </a:extLst>
          </p:cNvPr>
          <p:cNvSpPr>
            <a:spLocks noGrp="1"/>
          </p:cNvSpPr>
          <p:nvPr/>
        </p:nvSpPr>
        <p:spPr>
          <a:xfrm>
            <a:off x="3857625" y="43815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26</a:t>
            </a:r>
          </a:p>
        </p:txBody>
      </p:sp>
      <p:sp>
        <p:nvSpPr>
          <p:cNvPr id="55" name="Teaching-139">
            <a:extLst>
              <a:ext uri="{FF2B5EF4-FFF2-40B4-BE49-F238E27FC236}">
                <a16:creationId xmlns:a16="http://schemas.microsoft.com/office/drawing/2014/main" id="{AE1EAEB7-3328-4A8E-A1E9-F18BB2792014}"/>
              </a:ext>
            </a:extLst>
          </p:cNvPr>
          <p:cNvSpPr>
            <a:spLocks noGrp="1"/>
          </p:cNvSpPr>
          <p:nvPr/>
        </p:nvSpPr>
        <p:spPr>
          <a:xfrm>
            <a:off x="4505325" y="4267200"/>
            <a:ext cx="542925" cy="542925"/>
          </a:xfrm>
          <a:prstGeom prst="rect">
            <a:avLst/>
          </a:prstGeom>
          <a:solidFill>
            <a:srgbClr val="A6C9E2"/>
          </a:solidFill>
          <a:ln w="28575">
            <a:solidFill>
              <a:srgbClr val="244E6A"/>
            </a:solidFill>
          </a:ln>
        </p:spPr>
        <p:txBody>
          <a:bodyPr/>
          <a:lstStyle/>
          <a:p>
            <a:endParaRPr lang="en-US"/>
          </a:p>
        </p:txBody>
      </p:sp>
      <p:sp>
        <p:nvSpPr>
          <p:cNvPr id="56" name="Teaching-140">
            <a:extLst>
              <a:ext uri="{FF2B5EF4-FFF2-40B4-BE49-F238E27FC236}">
                <a16:creationId xmlns:a16="http://schemas.microsoft.com/office/drawing/2014/main" id="{0252CD74-8CE6-4593-AACC-F65966B3C7D7}"/>
              </a:ext>
            </a:extLst>
          </p:cNvPr>
          <p:cNvSpPr>
            <a:spLocks noGrp="1"/>
          </p:cNvSpPr>
          <p:nvPr/>
        </p:nvSpPr>
        <p:spPr>
          <a:xfrm>
            <a:off x="4505325" y="4381500"/>
            <a:ext cx="542925" cy="285750"/>
          </a:xfrm>
          <a:prstGeom prst="rect">
            <a:avLst/>
          </a:prstGeom>
          <a:noFill/>
          <a:ln w="0">
            <a:noFill/>
          </a:ln>
        </p:spPr>
        <p:txBody>
          <a:bodyPr wrap="square" lIns="0" tIns="0" rIns="0" bIns="0" anchor="t">
            <a:noAutofit/>
          </a:bodyPr>
          <a:lstStyle/>
          <a:p>
            <a:pPr algn="ctr">
              <a:defRPr sz="1875" b="1">
                <a:solidFill>
                  <a:srgbClr val="111111"/>
                </a:solidFill>
                <a:latin typeface="Aptos"/>
                <a:ea typeface="Aptos"/>
                <a:cs typeface="Aptos"/>
              </a:defRPr>
            </a:pPr>
            <a:r>
              <a:t>27</a:t>
            </a:r>
          </a:p>
        </p:txBody>
      </p:sp>
      <p:sp>
        <p:nvSpPr>
          <p:cNvPr id="57" name="Teaching-141">
            <a:extLst>
              <a:ext uri="{FF2B5EF4-FFF2-40B4-BE49-F238E27FC236}">
                <a16:creationId xmlns:a16="http://schemas.microsoft.com/office/drawing/2014/main" id="{D5F74DFE-A56D-4145-A055-6E6DCC14A7A9}"/>
              </a:ext>
            </a:extLst>
          </p:cNvPr>
          <p:cNvSpPr>
            <a:spLocks noGrp="1"/>
          </p:cNvSpPr>
          <p:nvPr/>
        </p:nvSpPr>
        <p:spPr>
          <a:xfrm>
            <a:off x="5153025" y="4267200"/>
            <a:ext cx="542925" cy="542925"/>
          </a:xfrm>
          <a:prstGeom prst="rect">
            <a:avLst/>
          </a:prstGeom>
          <a:solidFill>
            <a:srgbClr val="FFFFFF"/>
          </a:solidFill>
          <a:ln w="9525">
            <a:solidFill>
              <a:srgbClr val="8A959C"/>
            </a:solidFill>
          </a:ln>
        </p:spPr>
        <p:txBody>
          <a:bodyPr/>
          <a:lstStyle/>
          <a:p>
            <a:endParaRPr lang="en-US"/>
          </a:p>
        </p:txBody>
      </p:sp>
      <p:sp>
        <p:nvSpPr>
          <p:cNvPr id="58" name="Teaching-142">
            <a:extLst>
              <a:ext uri="{FF2B5EF4-FFF2-40B4-BE49-F238E27FC236}">
                <a16:creationId xmlns:a16="http://schemas.microsoft.com/office/drawing/2014/main" id="{46B8C004-0F0D-40DA-89FC-746364A69C5A}"/>
              </a:ext>
            </a:extLst>
          </p:cNvPr>
          <p:cNvSpPr>
            <a:spLocks noGrp="1"/>
          </p:cNvSpPr>
          <p:nvPr/>
        </p:nvSpPr>
        <p:spPr>
          <a:xfrm>
            <a:off x="5153025" y="43815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28</a:t>
            </a:r>
          </a:p>
        </p:txBody>
      </p:sp>
      <p:sp>
        <p:nvSpPr>
          <p:cNvPr id="59" name="Teaching-143">
            <a:extLst>
              <a:ext uri="{FF2B5EF4-FFF2-40B4-BE49-F238E27FC236}">
                <a16:creationId xmlns:a16="http://schemas.microsoft.com/office/drawing/2014/main" id="{9ED1B8CB-6DAA-4D9B-A866-FF8A699777BE}"/>
              </a:ext>
            </a:extLst>
          </p:cNvPr>
          <p:cNvSpPr>
            <a:spLocks noGrp="1"/>
          </p:cNvSpPr>
          <p:nvPr/>
        </p:nvSpPr>
        <p:spPr>
          <a:xfrm>
            <a:off x="5800725" y="4267200"/>
            <a:ext cx="542925" cy="542925"/>
          </a:xfrm>
          <a:prstGeom prst="rect">
            <a:avLst/>
          </a:prstGeom>
          <a:solidFill>
            <a:srgbClr val="FFFFFF"/>
          </a:solidFill>
          <a:ln w="9525">
            <a:solidFill>
              <a:srgbClr val="8A959C"/>
            </a:solidFill>
          </a:ln>
        </p:spPr>
        <p:txBody>
          <a:bodyPr/>
          <a:lstStyle/>
          <a:p>
            <a:endParaRPr lang="en-US"/>
          </a:p>
        </p:txBody>
      </p:sp>
      <p:sp>
        <p:nvSpPr>
          <p:cNvPr id="60" name="Teaching-144">
            <a:extLst>
              <a:ext uri="{FF2B5EF4-FFF2-40B4-BE49-F238E27FC236}">
                <a16:creationId xmlns:a16="http://schemas.microsoft.com/office/drawing/2014/main" id="{FCC421FC-76C3-4E9A-A6D3-880889071357}"/>
              </a:ext>
            </a:extLst>
          </p:cNvPr>
          <p:cNvSpPr>
            <a:spLocks noGrp="1"/>
          </p:cNvSpPr>
          <p:nvPr/>
        </p:nvSpPr>
        <p:spPr>
          <a:xfrm>
            <a:off x="5800725" y="43815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29</a:t>
            </a:r>
          </a:p>
        </p:txBody>
      </p:sp>
      <p:sp>
        <p:nvSpPr>
          <p:cNvPr id="61" name="Teaching-145">
            <a:extLst>
              <a:ext uri="{FF2B5EF4-FFF2-40B4-BE49-F238E27FC236}">
                <a16:creationId xmlns:a16="http://schemas.microsoft.com/office/drawing/2014/main" id="{AD409E0C-14A5-4E68-AF68-90E2BAA66907}"/>
              </a:ext>
            </a:extLst>
          </p:cNvPr>
          <p:cNvSpPr>
            <a:spLocks noGrp="1"/>
          </p:cNvSpPr>
          <p:nvPr/>
        </p:nvSpPr>
        <p:spPr>
          <a:xfrm>
            <a:off x="6448425" y="4267200"/>
            <a:ext cx="542925" cy="542925"/>
          </a:xfrm>
          <a:prstGeom prst="rect">
            <a:avLst/>
          </a:prstGeom>
          <a:solidFill>
            <a:srgbClr val="FFFFFF"/>
          </a:solidFill>
          <a:ln w="9525">
            <a:solidFill>
              <a:srgbClr val="8A959C"/>
            </a:solidFill>
          </a:ln>
        </p:spPr>
        <p:txBody>
          <a:bodyPr/>
          <a:lstStyle/>
          <a:p>
            <a:endParaRPr lang="en-US"/>
          </a:p>
        </p:txBody>
      </p:sp>
      <p:sp>
        <p:nvSpPr>
          <p:cNvPr id="62" name="Teaching-146">
            <a:extLst>
              <a:ext uri="{FF2B5EF4-FFF2-40B4-BE49-F238E27FC236}">
                <a16:creationId xmlns:a16="http://schemas.microsoft.com/office/drawing/2014/main" id="{9C4D61FE-6757-455B-A5D0-6F2A016DE59D}"/>
              </a:ext>
            </a:extLst>
          </p:cNvPr>
          <p:cNvSpPr>
            <a:spLocks noGrp="1"/>
          </p:cNvSpPr>
          <p:nvPr/>
        </p:nvSpPr>
        <p:spPr>
          <a:xfrm>
            <a:off x="6448425" y="43815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30</a:t>
            </a:r>
          </a:p>
        </p:txBody>
      </p:sp>
      <p:sp>
        <p:nvSpPr>
          <p:cNvPr id="63" name="Teaching-147">
            <a:extLst>
              <a:ext uri="{FF2B5EF4-FFF2-40B4-BE49-F238E27FC236}">
                <a16:creationId xmlns:a16="http://schemas.microsoft.com/office/drawing/2014/main" id="{6745D103-77E9-47D0-AA12-B58F7839C954}"/>
              </a:ext>
            </a:extLst>
          </p:cNvPr>
          <p:cNvSpPr>
            <a:spLocks noGrp="1"/>
          </p:cNvSpPr>
          <p:nvPr/>
        </p:nvSpPr>
        <p:spPr>
          <a:xfrm>
            <a:off x="619125" y="4914900"/>
            <a:ext cx="542925" cy="542925"/>
          </a:xfrm>
          <a:prstGeom prst="rect">
            <a:avLst/>
          </a:prstGeom>
          <a:solidFill>
            <a:srgbClr val="FFFFFF"/>
          </a:solidFill>
          <a:ln w="9525">
            <a:solidFill>
              <a:srgbClr val="8A959C"/>
            </a:solidFill>
          </a:ln>
        </p:spPr>
        <p:txBody>
          <a:bodyPr/>
          <a:lstStyle/>
          <a:p>
            <a:endParaRPr lang="en-US"/>
          </a:p>
        </p:txBody>
      </p:sp>
      <p:sp>
        <p:nvSpPr>
          <p:cNvPr id="64" name="Teaching-148">
            <a:extLst>
              <a:ext uri="{FF2B5EF4-FFF2-40B4-BE49-F238E27FC236}">
                <a16:creationId xmlns:a16="http://schemas.microsoft.com/office/drawing/2014/main" id="{896C4095-3BE9-42AC-902D-D5B46949CD65}"/>
              </a:ext>
            </a:extLst>
          </p:cNvPr>
          <p:cNvSpPr>
            <a:spLocks noGrp="1"/>
          </p:cNvSpPr>
          <p:nvPr/>
        </p:nvSpPr>
        <p:spPr>
          <a:xfrm>
            <a:off x="619125" y="50292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31</a:t>
            </a:r>
          </a:p>
        </p:txBody>
      </p:sp>
      <p:sp>
        <p:nvSpPr>
          <p:cNvPr id="65" name="Teaching-149">
            <a:extLst>
              <a:ext uri="{FF2B5EF4-FFF2-40B4-BE49-F238E27FC236}">
                <a16:creationId xmlns:a16="http://schemas.microsoft.com/office/drawing/2014/main" id="{FBCDAFF6-9AE6-41D8-AA93-519DA5C1FB2B}"/>
              </a:ext>
            </a:extLst>
          </p:cNvPr>
          <p:cNvSpPr>
            <a:spLocks noGrp="1"/>
          </p:cNvSpPr>
          <p:nvPr/>
        </p:nvSpPr>
        <p:spPr>
          <a:xfrm>
            <a:off x="1266825" y="4914900"/>
            <a:ext cx="542925" cy="542925"/>
          </a:xfrm>
          <a:prstGeom prst="rect">
            <a:avLst/>
          </a:prstGeom>
          <a:solidFill>
            <a:srgbClr val="FFFFFF"/>
          </a:solidFill>
          <a:ln w="9525">
            <a:solidFill>
              <a:srgbClr val="8A959C"/>
            </a:solidFill>
          </a:ln>
        </p:spPr>
        <p:txBody>
          <a:bodyPr/>
          <a:lstStyle/>
          <a:p>
            <a:endParaRPr lang="en-US"/>
          </a:p>
        </p:txBody>
      </p:sp>
      <p:sp>
        <p:nvSpPr>
          <p:cNvPr id="66" name="Teaching-150">
            <a:extLst>
              <a:ext uri="{FF2B5EF4-FFF2-40B4-BE49-F238E27FC236}">
                <a16:creationId xmlns:a16="http://schemas.microsoft.com/office/drawing/2014/main" id="{85C7E666-E52E-48DF-955C-1CC5C6AB497B}"/>
              </a:ext>
            </a:extLst>
          </p:cNvPr>
          <p:cNvSpPr>
            <a:spLocks noGrp="1"/>
          </p:cNvSpPr>
          <p:nvPr/>
        </p:nvSpPr>
        <p:spPr>
          <a:xfrm>
            <a:off x="1266825" y="50292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32</a:t>
            </a:r>
          </a:p>
        </p:txBody>
      </p:sp>
      <p:sp>
        <p:nvSpPr>
          <p:cNvPr id="67" name="Teaching-151">
            <a:extLst>
              <a:ext uri="{FF2B5EF4-FFF2-40B4-BE49-F238E27FC236}">
                <a16:creationId xmlns:a16="http://schemas.microsoft.com/office/drawing/2014/main" id="{8BFF247F-3622-49AB-A16C-E3A413A4AA30}"/>
              </a:ext>
            </a:extLst>
          </p:cNvPr>
          <p:cNvSpPr>
            <a:spLocks noGrp="1"/>
          </p:cNvSpPr>
          <p:nvPr/>
        </p:nvSpPr>
        <p:spPr>
          <a:xfrm>
            <a:off x="1914525" y="4914900"/>
            <a:ext cx="542925" cy="542925"/>
          </a:xfrm>
          <a:prstGeom prst="rect">
            <a:avLst/>
          </a:prstGeom>
          <a:solidFill>
            <a:srgbClr val="FFFFFF"/>
          </a:solidFill>
          <a:ln w="9525">
            <a:solidFill>
              <a:srgbClr val="8A959C"/>
            </a:solidFill>
          </a:ln>
        </p:spPr>
        <p:txBody>
          <a:bodyPr/>
          <a:lstStyle/>
          <a:p>
            <a:endParaRPr lang="en-US"/>
          </a:p>
        </p:txBody>
      </p:sp>
      <p:sp>
        <p:nvSpPr>
          <p:cNvPr id="68" name="Teaching-152">
            <a:extLst>
              <a:ext uri="{FF2B5EF4-FFF2-40B4-BE49-F238E27FC236}">
                <a16:creationId xmlns:a16="http://schemas.microsoft.com/office/drawing/2014/main" id="{556716F1-B5C2-437E-83F8-75E65CF9D33C}"/>
              </a:ext>
            </a:extLst>
          </p:cNvPr>
          <p:cNvSpPr>
            <a:spLocks noGrp="1"/>
          </p:cNvSpPr>
          <p:nvPr/>
        </p:nvSpPr>
        <p:spPr>
          <a:xfrm>
            <a:off x="1914525" y="50292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33</a:t>
            </a:r>
          </a:p>
        </p:txBody>
      </p:sp>
      <p:sp>
        <p:nvSpPr>
          <p:cNvPr id="69" name="Teaching-153">
            <a:extLst>
              <a:ext uri="{FF2B5EF4-FFF2-40B4-BE49-F238E27FC236}">
                <a16:creationId xmlns:a16="http://schemas.microsoft.com/office/drawing/2014/main" id="{4DC1A371-F2C4-4F4F-AAD8-1C4DA660AF79}"/>
              </a:ext>
            </a:extLst>
          </p:cNvPr>
          <p:cNvSpPr>
            <a:spLocks noGrp="1"/>
          </p:cNvSpPr>
          <p:nvPr/>
        </p:nvSpPr>
        <p:spPr>
          <a:xfrm>
            <a:off x="2562225" y="4914900"/>
            <a:ext cx="542925" cy="542925"/>
          </a:xfrm>
          <a:prstGeom prst="rect">
            <a:avLst/>
          </a:prstGeom>
          <a:solidFill>
            <a:srgbClr val="FFFFFF"/>
          </a:solidFill>
          <a:ln w="9525">
            <a:solidFill>
              <a:srgbClr val="8A959C"/>
            </a:solidFill>
          </a:ln>
        </p:spPr>
        <p:txBody>
          <a:bodyPr/>
          <a:lstStyle/>
          <a:p>
            <a:endParaRPr lang="en-US"/>
          </a:p>
        </p:txBody>
      </p:sp>
      <p:sp>
        <p:nvSpPr>
          <p:cNvPr id="70" name="Teaching-154">
            <a:extLst>
              <a:ext uri="{FF2B5EF4-FFF2-40B4-BE49-F238E27FC236}">
                <a16:creationId xmlns:a16="http://schemas.microsoft.com/office/drawing/2014/main" id="{1D28F071-8615-4AB9-A6BE-E1455A0AD9D8}"/>
              </a:ext>
            </a:extLst>
          </p:cNvPr>
          <p:cNvSpPr>
            <a:spLocks noGrp="1"/>
          </p:cNvSpPr>
          <p:nvPr/>
        </p:nvSpPr>
        <p:spPr>
          <a:xfrm>
            <a:off x="2562225" y="50292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34</a:t>
            </a:r>
          </a:p>
        </p:txBody>
      </p:sp>
      <p:sp>
        <p:nvSpPr>
          <p:cNvPr id="71" name="Teaching-155">
            <a:extLst>
              <a:ext uri="{FF2B5EF4-FFF2-40B4-BE49-F238E27FC236}">
                <a16:creationId xmlns:a16="http://schemas.microsoft.com/office/drawing/2014/main" id="{0C922741-9382-4DC5-95D9-FC64040FCBF0}"/>
              </a:ext>
            </a:extLst>
          </p:cNvPr>
          <p:cNvSpPr>
            <a:spLocks noGrp="1"/>
          </p:cNvSpPr>
          <p:nvPr/>
        </p:nvSpPr>
        <p:spPr>
          <a:xfrm>
            <a:off x="3209925" y="4914900"/>
            <a:ext cx="542925" cy="542925"/>
          </a:xfrm>
          <a:prstGeom prst="rect">
            <a:avLst/>
          </a:prstGeom>
          <a:solidFill>
            <a:srgbClr val="FFFFFF"/>
          </a:solidFill>
          <a:ln w="9525">
            <a:solidFill>
              <a:srgbClr val="8A959C"/>
            </a:solidFill>
          </a:ln>
        </p:spPr>
        <p:txBody>
          <a:bodyPr/>
          <a:lstStyle/>
          <a:p>
            <a:endParaRPr lang="en-US"/>
          </a:p>
        </p:txBody>
      </p:sp>
      <p:sp>
        <p:nvSpPr>
          <p:cNvPr id="72" name="Teaching-156">
            <a:extLst>
              <a:ext uri="{FF2B5EF4-FFF2-40B4-BE49-F238E27FC236}">
                <a16:creationId xmlns:a16="http://schemas.microsoft.com/office/drawing/2014/main" id="{7899AA7D-323B-4329-95E7-66BE35EA1E57}"/>
              </a:ext>
            </a:extLst>
          </p:cNvPr>
          <p:cNvSpPr>
            <a:spLocks noGrp="1"/>
          </p:cNvSpPr>
          <p:nvPr/>
        </p:nvSpPr>
        <p:spPr>
          <a:xfrm>
            <a:off x="3209925" y="50292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35</a:t>
            </a:r>
          </a:p>
        </p:txBody>
      </p:sp>
      <p:sp>
        <p:nvSpPr>
          <p:cNvPr id="73" name="Teaching-157">
            <a:extLst>
              <a:ext uri="{FF2B5EF4-FFF2-40B4-BE49-F238E27FC236}">
                <a16:creationId xmlns:a16="http://schemas.microsoft.com/office/drawing/2014/main" id="{5F1861C6-CEFE-4968-8B7E-B14E60689F92}"/>
              </a:ext>
            </a:extLst>
          </p:cNvPr>
          <p:cNvSpPr>
            <a:spLocks noGrp="1"/>
          </p:cNvSpPr>
          <p:nvPr/>
        </p:nvSpPr>
        <p:spPr>
          <a:xfrm>
            <a:off x="3857625" y="4914900"/>
            <a:ext cx="542925" cy="542925"/>
          </a:xfrm>
          <a:prstGeom prst="rect">
            <a:avLst/>
          </a:prstGeom>
          <a:solidFill>
            <a:srgbClr val="FFFFFF"/>
          </a:solidFill>
          <a:ln w="9525">
            <a:solidFill>
              <a:srgbClr val="8A959C"/>
            </a:solidFill>
          </a:ln>
        </p:spPr>
        <p:txBody>
          <a:bodyPr/>
          <a:lstStyle/>
          <a:p>
            <a:endParaRPr lang="en-US"/>
          </a:p>
        </p:txBody>
      </p:sp>
      <p:sp>
        <p:nvSpPr>
          <p:cNvPr id="74" name="Teaching-158">
            <a:extLst>
              <a:ext uri="{FF2B5EF4-FFF2-40B4-BE49-F238E27FC236}">
                <a16:creationId xmlns:a16="http://schemas.microsoft.com/office/drawing/2014/main" id="{E8B4D432-ACDC-44F9-9251-4D1B3186E237}"/>
              </a:ext>
            </a:extLst>
          </p:cNvPr>
          <p:cNvSpPr>
            <a:spLocks noGrp="1"/>
          </p:cNvSpPr>
          <p:nvPr/>
        </p:nvSpPr>
        <p:spPr>
          <a:xfrm>
            <a:off x="3857625" y="50292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36</a:t>
            </a:r>
          </a:p>
        </p:txBody>
      </p:sp>
      <p:sp>
        <p:nvSpPr>
          <p:cNvPr id="75" name="Teaching-159">
            <a:extLst>
              <a:ext uri="{FF2B5EF4-FFF2-40B4-BE49-F238E27FC236}">
                <a16:creationId xmlns:a16="http://schemas.microsoft.com/office/drawing/2014/main" id="{ECCC4D30-7227-426B-A1B6-9DE95B204D8F}"/>
              </a:ext>
            </a:extLst>
          </p:cNvPr>
          <p:cNvSpPr>
            <a:spLocks noGrp="1"/>
          </p:cNvSpPr>
          <p:nvPr/>
        </p:nvSpPr>
        <p:spPr>
          <a:xfrm>
            <a:off x="4505325" y="4914900"/>
            <a:ext cx="542925" cy="542925"/>
          </a:xfrm>
          <a:prstGeom prst="rect">
            <a:avLst/>
          </a:prstGeom>
          <a:solidFill>
            <a:srgbClr val="FFFFFF"/>
          </a:solidFill>
          <a:ln w="9525">
            <a:solidFill>
              <a:srgbClr val="8A959C"/>
            </a:solidFill>
          </a:ln>
        </p:spPr>
        <p:txBody>
          <a:bodyPr/>
          <a:lstStyle/>
          <a:p>
            <a:endParaRPr lang="en-US"/>
          </a:p>
        </p:txBody>
      </p:sp>
      <p:sp>
        <p:nvSpPr>
          <p:cNvPr id="76" name="Teaching-160">
            <a:extLst>
              <a:ext uri="{FF2B5EF4-FFF2-40B4-BE49-F238E27FC236}">
                <a16:creationId xmlns:a16="http://schemas.microsoft.com/office/drawing/2014/main" id="{AF4C478D-44AB-4087-AB42-081A8E0EE6CC}"/>
              </a:ext>
            </a:extLst>
          </p:cNvPr>
          <p:cNvSpPr>
            <a:spLocks noGrp="1"/>
          </p:cNvSpPr>
          <p:nvPr/>
        </p:nvSpPr>
        <p:spPr>
          <a:xfrm>
            <a:off x="4505325" y="50292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37</a:t>
            </a:r>
          </a:p>
        </p:txBody>
      </p:sp>
      <p:sp>
        <p:nvSpPr>
          <p:cNvPr id="77" name="Teaching-161">
            <a:extLst>
              <a:ext uri="{FF2B5EF4-FFF2-40B4-BE49-F238E27FC236}">
                <a16:creationId xmlns:a16="http://schemas.microsoft.com/office/drawing/2014/main" id="{BA5E6477-53C8-4942-8801-6C7BCA7FB074}"/>
              </a:ext>
            </a:extLst>
          </p:cNvPr>
          <p:cNvSpPr>
            <a:spLocks noGrp="1"/>
          </p:cNvSpPr>
          <p:nvPr/>
        </p:nvSpPr>
        <p:spPr>
          <a:xfrm>
            <a:off x="5153025" y="4914900"/>
            <a:ext cx="542925" cy="542925"/>
          </a:xfrm>
          <a:prstGeom prst="rect">
            <a:avLst/>
          </a:prstGeom>
          <a:solidFill>
            <a:srgbClr val="A6C9E2"/>
          </a:solidFill>
          <a:ln w="28575">
            <a:solidFill>
              <a:srgbClr val="244E6A"/>
            </a:solidFill>
          </a:ln>
        </p:spPr>
        <p:txBody>
          <a:bodyPr/>
          <a:lstStyle/>
          <a:p>
            <a:endParaRPr lang="en-US"/>
          </a:p>
        </p:txBody>
      </p:sp>
      <p:sp>
        <p:nvSpPr>
          <p:cNvPr id="78" name="Teaching-162">
            <a:extLst>
              <a:ext uri="{FF2B5EF4-FFF2-40B4-BE49-F238E27FC236}">
                <a16:creationId xmlns:a16="http://schemas.microsoft.com/office/drawing/2014/main" id="{3A074FF2-6BD9-49E8-AD17-237770CFFDF8}"/>
              </a:ext>
            </a:extLst>
          </p:cNvPr>
          <p:cNvSpPr>
            <a:spLocks noGrp="1"/>
          </p:cNvSpPr>
          <p:nvPr/>
        </p:nvSpPr>
        <p:spPr>
          <a:xfrm>
            <a:off x="5153025" y="5029200"/>
            <a:ext cx="542925" cy="285750"/>
          </a:xfrm>
          <a:prstGeom prst="rect">
            <a:avLst/>
          </a:prstGeom>
          <a:noFill/>
          <a:ln w="0">
            <a:noFill/>
          </a:ln>
        </p:spPr>
        <p:txBody>
          <a:bodyPr wrap="square" lIns="0" tIns="0" rIns="0" bIns="0" anchor="t">
            <a:noAutofit/>
          </a:bodyPr>
          <a:lstStyle/>
          <a:p>
            <a:pPr algn="ctr">
              <a:defRPr sz="1875" b="1">
                <a:solidFill>
                  <a:srgbClr val="111111"/>
                </a:solidFill>
                <a:latin typeface="Aptos"/>
                <a:ea typeface="Aptos"/>
                <a:cs typeface="Aptos"/>
              </a:defRPr>
            </a:pPr>
            <a:r>
              <a:t>38</a:t>
            </a:r>
          </a:p>
        </p:txBody>
      </p:sp>
      <p:sp>
        <p:nvSpPr>
          <p:cNvPr id="79" name="Teaching-163">
            <a:extLst>
              <a:ext uri="{FF2B5EF4-FFF2-40B4-BE49-F238E27FC236}">
                <a16:creationId xmlns:a16="http://schemas.microsoft.com/office/drawing/2014/main" id="{1FD7142E-2BCC-401E-B3C5-9E13D017D584}"/>
              </a:ext>
            </a:extLst>
          </p:cNvPr>
          <p:cNvSpPr>
            <a:spLocks noGrp="1"/>
          </p:cNvSpPr>
          <p:nvPr/>
        </p:nvSpPr>
        <p:spPr>
          <a:xfrm>
            <a:off x="5800725" y="4914900"/>
            <a:ext cx="542925" cy="542925"/>
          </a:xfrm>
          <a:prstGeom prst="rect">
            <a:avLst/>
          </a:prstGeom>
          <a:solidFill>
            <a:srgbClr val="FFFFFF"/>
          </a:solidFill>
          <a:ln w="9525">
            <a:solidFill>
              <a:srgbClr val="8A959C"/>
            </a:solidFill>
          </a:ln>
        </p:spPr>
        <p:txBody>
          <a:bodyPr/>
          <a:lstStyle/>
          <a:p>
            <a:endParaRPr lang="en-US"/>
          </a:p>
        </p:txBody>
      </p:sp>
      <p:sp>
        <p:nvSpPr>
          <p:cNvPr id="80" name="Teaching-164">
            <a:extLst>
              <a:ext uri="{FF2B5EF4-FFF2-40B4-BE49-F238E27FC236}">
                <a16:creationId xmlns:a16="http://schemas.microsoft.com/office/drawing/2014/main" id="{3D2317C5-EC2B-4B12-B80F-D7012E8E5914}"/>
              </a:ext>
            </a:extLst>
          </p:cNvPr>
          <p:cNvSpPr>
            <a:spLocks noGrp="1"/>
          </p:cNvSpPr>
          <p:nvPr/>
        </p:nvSpPr>
        <p:spPr>
          <a:xfrm>
            <a:off x="5800725" y="50292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39</a:t>
            </a:r>
          </a:p>
        </p:txBody>
      </p:sp>
      <p:sp>
        <p:nvSpPr>
          <p:cNvPr id="81" name="Teaching-165">
            <a:extLst>
              <a:ext uri="{FF2B5EF4-FFF2-40B4-BE49-F238E27FC236}">
                <a16:creationId xmlns:a16="http://schemas.microsoft.com/office/drawing/2014/main" id="{0E1223BE-A3F9-43B2-A2E2-2110782B2181}"/>
              </a:ext>
            </a:extLst>
          </p:cNvPr>
          <p:cNvSpPr>
            <a:spLocks noGrp="1"/>
          </p:cNvSpPr>
          <p:nvPr/>
        </p:nvSpPr>
        <p:spPr>
          <a:xfrm>
            <a:off x="6448425" y="4914900"/>
            <a:ext cx="542925" cy="542925"/>
          </a:xfrm>
          <a:prstGeom prst="rect">
            <a:avLst/>
          </a:prstGeom>
          <a:solidFill>
            <a:srgbClr val="FFFFFF"/>
          </a:solidFill>
          <a:ln w="9525">
            <a:solidFill>
              <a:srgbClr val="8A959C"/>
            </a:solidFill>
          </a:ln>
        </p:spPr>
        <p:txBody>
          <a:bodyPr/>
          <a:lstStyle/>
          <a:p>
            <a:endParaRPr lang="en-US"/>
          </a:p>
        </p:txBody>
      </p:sp>
      <p:sp>
        <p:nvSpPr>
          <p:cNvPr id="82" name="Teaching-166">
            <a:extLst>
              <a:ext uri="{FF2B5EF4-FFF2-40B4-BE49-F238E27FC236}">
                <a16:creationId xmlns:a16="http://schemas.microsoft.com/office/drawing/2014/main" id="{B2D97C7D-30AC-47B8-BBA2-A0725D2D8D65}"/>
              </a:ext>
            </a:extLst>
          </p:cNvPr>
          <p:cNvSpPr>
            <a:spLocks noGrp="1"/>
          </p:cNvSpPr>
          <p:nvPr/>
        </p:nvSpPr>
        <p:spPr>
          <a:xfrm>
            <a:off x="6448425" y="5029200"/>
            <a:ext cx="542925" cy="285750"/>
          </a:xfrm>
          <a:prstGeom prst="rect">
            <a:avLst/>
          </a:prstGeom>
          <a:noFill/>
          <a:ln w="0">
            <a:noFill/>
          </a:ln>
        </p:spPr>
        <p:txBody>
          <a:bodyPr wrap="square" lIns="0" tIns="0" rIns="0" bIns="0" anchor="t">
            <a:noAutofit/>
          </a:bodyPr>
          <a:lstStyle/>
          <a:p>
            <a:pPr algn="ctr">
              <a:defRPr sz="1875" b="0">
                <a:solidFill>
                  <a:srgbClr val="111111"/>
                </a:solidFill>
                <a:latin typeface="Aptos"/>
                <a:ea typeface="Aptos"/>
                <a:cs typeface="Aptos"/>
              </a:defRPr>
            </a:pPr>
            <a:r>
              <a:t>40</a:t>
            </a:r>
          </a:p>
        </p:txBody>
      </p:sp>
      <p:sp>
        <p:nvSpPr>
          <p:cNvPr id="83" name="Teaching-167">
            <a:extLst>
              <a:ext uri="{FF2B5EF4-FFF2-40B4-BE49-F238E27FC236}">
                <a16:creationId xmlns:a16="http://schemas.microsoft.com/office/drawing/2014/main" id="{D6A2B134-6B6F-455C-9659-FB51A08BE56E}"/>
              </a:ext>
            </a:extLst>
          </p:cNvPr>
          <p:cNvSpPr>
            <a:spLocks noGrp="1"/>
          </p:cNvSpPr>
          <p:nvPr/>
        </p:nvSpPr>
        <p:spPr>
          <a:xfrm>
            <a:off x="7524750" y="3019425"/>
            <a:ext cx="4048125" cy="8667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Randomly choose</a:t>
            </a:r>
          </a:p>
          <a:p>
            <a:pPr algn="l">
              <a:defRPr sz="2325" b="0">
                <a:solidFill>
                  <a:srgbClr val="111111"/>
                </a:solidFill>
                <a:latin typeface="Aptos"/>
                <a:ea typeface="Aptos"/>
                <a:cs typeface="Aptos"/>
              </a:defRPr>
            </a:pPr>
            <a:r>
              <a:rPr b="1"/>
              <a:t>4 distinct classes</a:t>
            </a:r>
            <a:r>
              <a:t>.</a:t>
            </a:r>
          </a:p>
        </p:txBody>
      </p:sp>
      <p:sp>
        <p:nvSpPr>
          <p:cNvPr id="84" name="Teaching-168">
            <a:extLst>
              <a:ext uri="{FF2B5EF4-FFF2-40B4-BE49-F238E27FC236}">
                <a16:creationId xmlns:a16="http://schemas.microsoft.com/office/drawing/2014/main" id="{E245C4D8-CD95-4EE0-B6DB-F94F6575C8E8}"/>
              </a:ext>
            </a:extLst>
          </p:cNvPr>
          <p:cNvSpPr>
            <a:spLocks noGrp="1"/>
          </p:cNvSpPr>
          <p:nvPr/>
        </p:nvSpPr>
        <p:spPr>
          <a:xfrm>
            <a:off x="7524750" y="4124325"/>
            <a:ext cx="4048125" cy="8667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Invite </a:t>
            </a:r>
            <a:r>
              <a:rPr b="1"/>
              <a:t>every student</a:t>
            </a:r>
          </a:p>
          <a:p>
            <a:pPr algn="l">
              <a:defRPr sz="2325" b="0">
                <a:solidFill>
                  <a:srgbClr val="111111"/>
                </a:solidFill>
                <a:latin typeface="Aptos"/>
                <a:ea typeface="Aptos"/>
                <a:cs typeface="Aptos"/>
              </a:defRPr>
            </a:pPr>
            <a:r>
              <a:t>in those classes.</a:t>
            </a:r>
          </a:p>
        </p:txBody>
      </p:sp>
      <p:sp>
        <p:nvSpPr>
          <p:cNvPr id="85" name="Teaching-169">
            <a:extLst>
              <a:ext uri="{FF2B5EF4-FFF2-40B4-BE49-F238E27FC236}">
                <a16:creationId xmlns:a16="http://schemas.microsoft.com/office/drawing/2014/main" id="{F989327B-BB08-4720-B6E7-5CE1692999C9}"/>
              </a:ext>
            </a:extLst>
          </p:cNvPr>
          <p:cNvSpPr>
            <a:spLocks noGrp="1"/>
          </p:cNvSpPr>
          <p:nvPr/>
        </p:nvSpPr>
        <p:spPr>
          <a:xfrm>
            <a:off x="7524750" y="5257800"/>
            <a:ext cx="4048125" cy="7048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4 × 50 = 200 students</a:t>
            </a:r>
          </a:p>
        </p:txBody>
      </p:sp>
      <p:sp>
        <p:nvSpPr>
          <p:cNvPr id="86" name="Teaching-170">
            <a:extLst>
              <a:ext uri="{FF2B5EF4-FFF2-40B4-BE49-F238E27FC236}">
                <a16:creationId xmlns:a16="http://schemas.microsoft.com/office/drawing/2014/main" id="{00FAC607-749C-4855-B7E4-87E0C3721D78}"/>
              </a:ext>
            </a:extLst>
          </p:cNvPr>
          <p:cNvSpPr>
            <a:spLocks noGrp="1"/>
          </p:cNvSpPr>
          <p:nvPr/>
        </p:nvSpPr>
        <p:spPr>
          <a:xfrm>
            <a:off x="523875" y="6010275"/>
            <a:ext cx="11087100" cy="333375"/>
          </a:xfrm>
          <a:prstGeom prst="rect">
            <a:avLst/>
          </a:prstGeom>
          <a:noFill/>
          <a:ln w="0">
            <a:noFill/>
          </a:ln>
        </p:spPr>
        <p:txBody>
          <a:bodyPr wrap="square" lIns="0" tIns="0" rIns="0" bIns="0" anchor="t">
            <a:noAutofit/>
          </a:bodyPr>
          <a:lstStyle/>
          <a:p>
            <a:pPr algn="l">
              <a:defRPr sz="1725" b="0">
                <a:solidFill>
                  <a:srgbClr val="666666"/>
                </a:solidFill>
                <a:latin typeface="Aptos"/>
                <a:ea typeface="Aptos"/>
                <a:cs typeface="Aptos"/>
              </a:defRPr>
            </a:pPr>
            <a:r>
              <a:t>One square = one class of 50. Shaded squares are the selected classes.</a:t>
            </a:r>
          </a:p>
        </p:txBody>
      </p:sp>
    </p:spTree>
    <p:extLst>
      <p:ext uri="{BB962C8B-B14F-4D97-AF65-F5344CB8AC3E}">
        <p14:creationId xmlns:p14="http://schemas.microsoft.com/office/powerpoint/2010/main" val="3281361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Teaching-171">
            <a:extLst>
              <a:ext uri="{FF2B5EF4-FFF2-40B4-BE49-F238E27FC236}">
                <a16:creationId xmlns:a16="http://schemas.microsoft.com/office/drawing/2014/main" id="{1749F658-C9BE-49DC-96D6-A314A002174A}"/>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Stratified or cluster?</a:t>
            </a:r>
          </a:p>
        </p:txBody>
      </p:sp>
      <p:sp>
        <p:nvSpPr>
          <p:cNvPr id="2" name="Teaching-172">
            <a:extLst>
              <a:ext uri="{FF2B5EF4-FFF2-40B4-BE49-F238E27FC236}">
                <a16:creationId xmlns:a16="http://schemas.microsoft.com/office/drawing/2014/main" id="{1725ADA1-3634-44EE-96A9-5D5A6CAE80AF}"/>
              </a:ext>
            </a:extLst>
          </p:cNvPr>
          <p:cNvSpPr>
            <a:spLocks noGrp="1"/>
          </p:cNvSpPr>
          <p:nvPr/>
        </p:nvSpPr>
        <p:spPr>
          <a:xfrm>
            <a:off x="428625" y="1952625"/>
            <a:ext cx="11296650" cy="4953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Small illustration: </a:t>
            </a:r>
            <a:r>
              <a:rPr b="1"/>
              <a:t>6 classes of 6 students</a:t>
            </a:r>
            <a:r>
              <a:t>. Each plan selects </a:t>
            </a:r>
            <a:r>
              <a:rPr b="1"/>
              <a:t>12</a:t>
            </a:r>
            <a:r>
              <a:t>.</a:t>
            </a:r>
          </a:p>
        </p:txBody>
      </p:sp>
      <p:sp>
        <p:nvSpPr>
          <p:cNvPr id="3" name="Teaching-173">
            <a:extLst>
              <a:ext uri="{FF2B5EF4-FFF2-40B4-BE49-F238E27FC236}">
                <a16:creationId xmlns:a16="http://schemas.microsoft.com/office/drawing/2014/main" id="{168B3CBE-8C76-4101-B92F-FF4932C951D8}"/>
              </a:ext>
            </a:extLst>
          </p:cNvPr>
          <p:cNvSpPr>
            <a:spLocks noGrp="1"/>
          </p:cNvSpPr>
          <p:nvPr/>
        </p:nvSpPr>
        <p:spPr>
          <a:xfrm>
            <a:off x="428625" y="2381250"/>
            <a:ext cx="11296650" cy="266700"/>
          </a:xfrm>
          <a:prstGeom prst="rect">
            <a:avLst/>
          </a:prstGeom>
          <a:noFill/>
          <a:ln w="0">
            <a:noFill/>
          </a:ln>
        </p:spPr>
        <p:txBody>
          <a:bodyPr wrap="square" lIns="0" tIns="0" rIns="0" bIns="0" anchor="t">
            <a:noAutofit/>
          </a:bodyPr>
          <a:lstStyle/>
          <a:p>
            <a:pPr algn="l">
              <a:defRPr sz="1725" b="0">
                <a:solidFill>
                  <a:srgbClr val="666666"/>
                </a:solidFill>
                <a:latin typeface="Aptos"/>
                <a:ea typeface="Aptos"/>
                <a:cs typeface="Aptos"/>
              </a:defRPr>
            </a:pPr>
            <a:r>
              <a:t>Filled dot = selected student. Open dot = unselected student.</a:t>
            </a:r>
          </a:p>
        </p:txBody>
      </p:sp>
      <p:sp>
        <p:nvSpPr>
          <p:cNvPr id="4" name="Teaching-174">
            <a:extLst>
              <a:ext uri="{FF2B5EF4-FFF2-40B4-BE49-F238E27FC236}">
                <a16:creationId xmlns:a16="http://schemas.microsoft.com/office/drawing/2014/main" id="{96796486-C8AE-42B7-9BE4-8DF3CFC52F7B}"/>
              </a:ext>
            </a:extLst>
          </p:cNvPr>
          <p:cNvSpPr>
            <a:spLocks noGrp="1"/>
          </p:cNvSpPr>
          <p:nvPr/>
        </p:nvSpPr>
        <p:spPr>
          <a:xfrm>
            <a:off x="619125" y="2667000"/>
            <a:ext cx="4953000" cy="428625"/>
          </a:xfrm>
          <a:prstGeom prst="rect">
            <a:avLst/>
          </a:prstGeom>
          <a:noFill/>
          <a:ln w="0">
            <a:noFill/>
          </a:ln>
        </p:spPr>
        <p:txBody>
          <a:bodyPr wrap="square" lIns="0" tIns="0" rIns="0" bIns="0" anchor="t">
            <a:noAutofit/>
          </a:bodyPr>
          <a:lstStyle/>
          <a:p>
            <a:pPr algn="ctr">
              <a:defRPr sz="2325" b="1">
                <a:solidFill>
                  <a:srgbClr val="111111"/>
                </a:solidFill>
                <a:latin typeface="Aptos"/>
                <a:ea typeface="Aptos"/>
                <a:cs typeface="Aptos"/>
              </a:defRPr>
            </a:pPr>
            <a:r>
              <a:t>STRATIFIED</a:t>
            </a:r>
          </a:p>
        </p:txBody>
      </p:sp>
      <p:sp>
        <p:nvSpPr>
          <p:cNvPr id="5" name="Teaching-175">
            <a:extLst>
              <a:ext uri="{FF2B5EF4-FFF2-40B4-BE49-F238E27FC236}">
                <a16:creationId xmlns:a16="http://schemas.microsoft.com/office/drawing/2014/main" id="{184D5132-D210-4A2E-970A-AFF7C27ECF44}"/>
              </a:ext>
            </a:extLst>
          </p:cNvPr>
          <p:cNvSpPr>
            <a:spLocks noGrp="1"/>
          </p:cNvSpPr>
          <p:nvPr/>
        </p:nvSpPr>
        <p:spPr>
          <a:xfrm>
            <a:off x="6667500" y="2667000"/>
            <a:ext cx="4857750" cy="428625"/>
          </a:xfrm>
          <a:prstGeom prst="rect">
            <a:avLst/>
          </a:prstGeom>
          <a:noFill/>
          <a:ln w="0">
            <a:noFill/>
          </a:ln>
        </p:spPr>
        <p:txBody>
          <a:bodyPr wrap="square" lIns="0" tIns="0" rIns="0" bIns="0" anchor="t">
            <a:noAutofit/>
          </a:bodyPr>
          <a:lstStyle/>
          <a:p>
            <a:pPr algn="ctr">
              <a:defRPr sz="2325" b="1">
                <a:solidFill>
                  <a:srgbClr val="111111"/>
                </a:solidFill>
                <a:latin typeface="Aptos"/>
                <a:ea typeface="Aptos"/>
                <a:cs typeface="Aptos"/>
              </a:defRPr>
            </a:pPr>
            <a:r>
              <a:t>CLUSTER</a:t>
            </a:r>
          </a:p>
        </p:txBody>
      </p:sp>
      <p:sp>
        <p:nvSpPr>
          <p:cNvPr id="6" name="Teaching-176">
            <a:extLst>
              <a:ext uri="{FF2B5EF4-FFF2-40B4-BE49-F238E27FC236}">
                <a16:creationId xmlns:a16="http://schemas.microsoft.com/office/drawing/2014/main" id="{89E2B19A-D811-4126-9E97-90499A4ED361}"/>
              </a:ext>
            </a:extLst>
          </p:cNvPr>
          <p:cNvSpPr>
            <a:spLocks noGrp="1"/>
          </p:cNvSpPr>
          <p:nvPr/>
        </p:nvSpPr>
        <p:spPr>
          <a:xfrm>
            <a:off x="619125" y="3181350"/>
            <a:ext cx="1381125" cy="1123950"/>
          </a:xfrm>
          <a:prstGeom prst="rect">
            <a:avLst/>
          </a:prstGeom>
          <a:solidFill>
            <a:srgbClr val="FFFFFF"/>
          </a:solidFill>
          <a:ln w="9525">
            <a:solidFill>
              <a:srgbClr val="8A959C"/>
            </a:solidFill>
          </a:ln>
        </p:spPr>
        <p:txBody>
          <a:bodyPr/>
          <a:lstStyle/>
          <a:p>
            <a:endParaRPr lang="en-US"/>
          </a:p>
        </p:txBody>
      </p:sp>
      <p:sp>
        <p:nvSpPr>
          <p:cNvPr id="7" name="Teaching-177">
            <a:extLst>
              <a:ext uri="{FF2B5EF4-FFF2-40B4-BE49-F238E27FC236}">
                <a16:creationId xmlns:a16="http://schemas.microsoft.com/office/drawing/2014/main" id="{8C81680B-A3B0-433E-AD7B-0A6E429F660C}"/>
              </a:ext>
            </a:extLst>
          </p:cNvPr>
          <p:cNvSpPr>
            <a:spLocks noGrp="1"/>
          </p:cNvSpPr>
          <p:nvPr/>
        </p:nvSpPr>
        <p:spPr>
          <a:xfrm>
            <a:off x="666750" y="3248025"/>
            <a:ext cx="1285875" cy="257175"/>
          </a:xfrm>
          <a:prstGeom prst="rect">
            <a:avLst/>
          </a:prstGeom>
          <a:noFill/>
          <a:ln w="0">
            <a:noFill/>
          </a:ln>
        </p:spPr>
        <p:txBody>
          <a:bodyPr wrap="square" lIns="0" tIns="0" rIns="0" bIns="0" anchor="t">
            <a:noAutofit/>
          </a:bodyPr>
          <a:lstStyle/>
          <a:p>
            <a:pPr algn="ctr">
              <a:defRPr sz="1725" b="1">
                <a:solidFill>
                  <a:srgbClr val="111111"/>
                </a:solidFill>
                <a:latin typeface="Aptos"/>
                <a:ea typeface="Aptos"/>
                <a:cs typeface="Aptos"/>
              </a:defRPr>
            </a:pPr>
            <a:r>
              <a:t>Class 1</a:t>
            </a:r>
          </a:p>
        </p:txBody>
      </p:sp>
      <p:sp>
        <p:nvSpPr>
          <p:cNvPr id="8" name="Teaching-178">
            <a:extLst>
              <a:ext uri="{FF2B5EF4-FFF2-40B4-BE49-F238E27FC236}">
                <a16:creationId xmlns:a16="http://schemas.microsoft.com/office/drawing/2014/main" id="{50B50506-B4CB-45BF-ABC4-F21D57A45E05}"/>
              </a:ext>
            </a:extLst>
          </p:cNvPr>
          <p:cNvSpPr>
            <a:spLocks noGrp="1"/>
          </p:cNvSpPr>
          <p:nvPr/>
        </p:nvSpPr>
        <p:spPr>
          <a:xfrm>
            <a:off x="876300" y="3667125"/>
            <a:ext cx="152400" cy="152400"/>
          </a:xfrm>
          <a:prstGeom prst="ellipse">
            <a:avLst/>
          </a:prstGeom>
          <a:solidFill>
            <a:srgbClr val="244E6A"/>
          </a:solidFill>
          <a:ln w="13335">
            <a:solidFill>
              <a:srgbClr val="244E6A"/>
            </a:solidFill>
          </a:ln>
        </p:spPr>
        <p:txBody>
          <a:bodyPr/>
          <a:lstStyle/>
          <a:p>
            <a:endParaRPr lang="en-US"/>
          </a:p>
        </p:txBody>
      </p:sp>
      <p:sp>
        <p:nvSpPr>
          <p:cNvPr id="9" name="Teaching-179">
            <a:extLst>
              <a:ext uri="{FF2B5EF4-FFF2-40B4-BE49-F238E27FC236}">
                <a16:creationId xmlns:a16="http://schemas.microsoft.com/office/drawing/2014/main" id="{AA539D36-E223-4FB5-B89A-FCC6B5DB7B12}"/>
              </a:ext>
            </a:extLst>
          </p:cNvPr>
          <p:cNvSpPr>
            <a:spLocks noGrp="1"/>
          </p:cNvSpPr>
          <p:nvPr/>
        </p:nvSpPr>
        <p:spPr>
          <a:xfrm>
            <a:off x="1228725" y="3667125"/>
            <a:ext cx="152400" cy="152400"/>
          </a:xfrm>
          <a:prstGeom prst="ellipse">
            <a:avLst/>
          </a:prstGeom>
          <a:solidFill>
            <a:srgbClr val="FFFFFF"/>
          </a:solidFill>
          <a:ln w="13335">
            <a:solidFill>
              <a:srgbClr val="8A959C"/>
            </a:solidFill>
          </a:ln>
        </p:spPr>
        <p:txBody>
          <a:bodyPr/>
          <a:lstStyle/>
          <a:p>
            <a:endParaRPr lang="en-US"/>
          </a:p>
        </p:txBody>
      </p:sp>
      <p:sp>
        <p:nvSpPr>
          <p:cNvPr id="10" name="Teaching-180">
            <a:extLst>
              <a:ext uri="{FF2B5EF4-FFF2-40B4-BE49-F238E27FC236}">
                <a16:creationId xmlns:a16="http://schemas.microsoft.com/office/drawing/2014/main" id="{C8734F3A-67C6-4F1F-9327-26AA3A32D83D}"/>
              </a:ext>
            </a:extLst>
          </p:cNvPr>
          <p:cNvSpPr>
            <a:spLocks noGrp="1"/>
          </p:cNvSpPr>
          <p:nvPr/>
        </p:nvSpPr>
        <p:spPr>
          <a:xfrm>
            <a:off x="1581150" y="3667125"/>
            <a:ext cx="152400" cy="152400"/>
          </a:xfrm>
          <a:prstGeom prst="ellipse">
            <a:avLst/>
          </a:prstGeom>
          <a:solidFill>
            <a:srgbClr val="FFFFFF"/>
          </a:solidFill>
          <a:ln w="13335">
            <a:solidFill>
              <a:srgbClr val="8A959C"/>
            </a:solidFill>
          </a:ln>
        </p:spPr>
        <p:txBody>
          <a:bodyPr/>
          <a:lstStyle/>
          <a:p>
            <a:endParaRPr lang="en-US"/>
          </a:p>
        </p:txBody>
      </p:sp>
      <p:sp>
        <p:nvSpPr>
          <p:cNvPr id="11" name="Teaching-181">
            <a:extLst>
              <a:ext uri="{FF2B5EF4-FFF2-40B4-BE49-F238E27FC236}">
                <a16:creationId xmlns:a16="http://schemas.microsoft.com/office/drawing/2014/main" id="{0B46FC4D-EF84-4D23-8CEE-14A2B2E921D9}"/>
              </a:ext>
            </a:extLst>
          </p:cNvPr>
          <p:cNvSpPr>
            <a:spLocks noGrp="1"/>
          </p:cNvSpPr>
          <p:nvPr/>
        </p:nvSpPr>
        <p:spPr>
          <a:xfrm>
            <a:off x="876300" y="3971925"/>
            <a:ext cx="152400" cy="152400"/>
          </a:xfrm>
          <a:prstGeom prst="ellipse">
            <a:avLst/>
          </a:prstGeom>
          <a:solidFill>
            <a:srgbClr val="FFFFFF"/>
          </a:solidFill>
          <a:ln w="13335">
            <a:solidFill>
              <a:srgbClr val="8A959C"/>
            </a:solidFill>
          </a:ln>
        </p:spPr>
        <p:txBody>
          <a:bodyPr/>
          <a:lstStyle/>
          <a:p>
            <a:endParaRPr lang="en-US"/>
          </a:p>
        </p:txBody>
      </p:sp>
      <p:sp>
        <p:nvSpPr>
          <p:cNvPr id="12" name="Teaching-182">
            <a:extLst>
              <a:ext uri="{FF2B5EF4-FFF2-40B4-BE49-F238E27FC236}">
                <a16:creationId xmlns:a16="http://schemas.microsoft.com/office/drawing/2014/main" id="{91A88086-8C1C-4517-A6EF-60A03DC9E8EA}"/>
              </a:ext>
            </a:extLst>
          </p:cNvPr>
          <p:cNvSpPr>
            <a:spLocks noGrp="1"/>
          </p:cNvSpPr>
          <p:nvPr/>
        </p:nvSpPr>
        <p:spPr>
          <a:xfrm>
            <a:off x="1228725" y="3971925"/>
            <a:ext cx="152400" cy="152400"/>
          </a:xfrm>
          <a:prstGeom prst="ellipse">
            <a:avLst/>
          </a:prstGeom>
          <a:solidFill>
            <a:srgbClr val="244E6A"/>
          </a:solidFill>
          <a:ln w="13335">
            <a:solidFill>
              <a:srgbClr val="244E6A"/>
            </a:solidFill>
          </a:ln>
        </p:spPr>
        <p:txBody>
          <a:bodyPr/>
          <a:lstStyle/>
          <a:p>
            <a:endParaRPr lang="en-US"/>
          </a:p>
        </p:txBody>
      </p:sp>
      <p:sp>
        <p:nvSpPr>
          <p:cNvPr id="13" name="Teaching-183">
            <a:extLst>
              <a:ext uri="{FF2B5EF4-FFF2-40B4-BE49-F238E27FC236}">
                <a16:creationId xmlns:a16="http://schemas.microsoft.com/office/drawing/2014/main" id="{7D0B52D1-9D30-498F-ADC5-71E2BE4A3197}"/>
              </a:ext>
            </a:extLst>
          </p:cNvPr>
          <p:cNvSpPr>
            <a:spLocks noGrp="1"/>
          </p:cNvSpPr>
          <p:nvPr/>
        </p:nvSpPr>
        <p:spPr>
          <a:xfrm>
            <a:off x="1581150" y="3971925"/>
            <a:ext cx="152400" cy="152400"/>
          </a:xfrm>
          <a:prstGeom prst="ellipse">
            <a:avLst/>
          </a:prstGeom>
          <a:solidFill>
            <a:srgbClr val="FFFFFF"/>
          </a:solidFill>
          <a:ln w="13335">
            <a:solidFill>
              <a:srgbClr val="8A959C"/>
            </a:solidFill>
          </a:ln>
        </p:spPr>
        <p:txBody>
          <a:bodyPr/>
          <a:lstStyle/>
          <a:p>
            <a:endParaRPr lang="en-US"/>
          </a:p>
        </p:txBody>
      </p:sp>
      <p:sp>
        <p:nvSpPr>
          <p:cNvPr id="14" name="Teaching-184">
            <a:extLst>
              <a:ext uri="{FF2B5EF4-FFF2-40B4-BE49-F238E27FC236}">
                <a16:creationId xmlns:a16="http://schemas.microsoft.com/office/drawing/2014/main" id="{8338FD73-D377-474F-A6F8-ED483DF0E7C8}"/>
              </a:ext>
            </a:extLst>
          </p:cNvPr>
          <p:cNvSpPr>
            <a:spLocks noGrp="1"/>
          </p:cNvSpPr>
          <p:nvPr/>
        </p:nvSpPr>
        <p:spPr>
          <a:xfrm>
            <a:off x="2190750" y="3181350"/>
            <a:ext cx="1381125" cy="1123950"/>
          </a:xfrm>
          <a:prstGeom prst="rect">
            <a:avLst/>
          </a:prstGeom>
          <a:solidFill>
            <a:srgbClr val="FFFFFF"/>
          </a:solidFill>
          <a:ln w="9525">
            <a:solidFill>
              <a:srgbClr val="8A959C"/>
            </a:solidFill>
          </a:ln>
        </p:spPr>
        <p:txBody>
          <a:bodyPr/>
          <a:lstStyle/>
          <a:p>
            <a:endParaRPr lang="en-US"/>
          </a:p>
        </p:txBody>
      </p:sp>
      <p:sp>
        <p:nvSpPr>
          <p:cNvPr id="15" name="Teaching-185">
            <a:extLst>
              <a:ext uri="{FF2B5EF4-FFF2-40B4-BE49-F238E27FC236}">
                <a16:creationId xmlns:a16="http://schemas.microsoft.com/office/drawing/2014/main" id="{61F657AF-CA17-4648-9BEA-FDB93C884353}"/>
              </a:ext>
            </a:extLst>
          </p:cNvPr>
          <p:cNvSpPr>
            <a:spLocks noGrp="1"/>
          </p:cNvSpPr>
          <p:nvPr/>
        </p:nvSpPr>
        <p:spPr>
          <a:xfrm>
            <a:off x="2238375" y="3248025"/>
            <a:ext cx="1285875" cy="257175"/>
          </a:xfrm>
          <a:prstGeom prst="rect">
            <a:avLst/>
          </a:prstGeom>
          <a:noFill/>
          <a:ln w="0">
            <a:noFill/>
          </a:ln>
        </p:spPr>
        <p:txBody>
          <a:bodyPr wrap="square" lIns="0" tIns="0" rIns="0" bIns="0" anchor="t">
            <a:noAutofit/>
          </a:bodyPr>
          <a:lstStyle/>
          <a:p>
            <a:pPr algn="ctr">
              <a:defRPr sz="1725" b="1">
                <a:solidFill>
                  <a:srgbClr val="111111"/>
                </a:solidFill>
                <a:latin typeface="Aptos"/>
                <a:ea typeface="Aptos"/>
                <a:cs typeface="Aptos"/>
              </a:defRPr>
            </a:pPr>
            <a:r>
              <a:t>Class 2</a:t>
            </a:r>
          </a:p>
        </p:txBody>
      </p:sp>
      <p:sp>
        <p:nvSpPr>
          <p:cNvPr id="16" name="Teaching-186">
            <a:extLst>
              <a:ext uri="{FF2B5EF4-FFF2-40B4-BE49-F238E27FC236}">
                <a16:creationId xmlns:a16="http://schemas.microsoft.com/office/drawing/2014/main" id="{85200989-EDC4-4B1C-92CA-8B83E6BBA190}"/>
              </a:ext>
            </a:extLst>
          </p:cNvPr>
          <p:cNvSpPr>
            <a:spLocks noGrp="1"/>
          </p:cNvSpPr>
          <p:nvPr/>
        </p:nvSpPr>
        <p:spPr>
          <a:xfrm>
            <a:off x="2447925" y="3667125"/>
            <a:ext cx="152400" cy="152400"/>
          </a:xfrm>
          <a:prstGeom prst="ellipse">
            <a:avLst/>
          </a:prstGeom>
          <a:solidFill>
            <a:srgbClr val="FFFFFF"/>
          </a:solidFill>
          <a:ln w="13335">
            <a:solidFill>
              <a:srgbClr val="8A959C"/>
            </a:solidFill>
          </a:ln>
        </p:spPr>
        <p:txBody>
          <a:bodyPr/>
          <a:lstStyle/>
          <a:p>
            <a:endParaRPr lang="en-US"/>
          </a:p>
        </p:txBody>
      </p:sp>
      <p:sp>
        <p:nvSpPr>
          <p:cNvPr id="17" name="Teaching-187">
            <a:extLst>
              <a:ext uri="{FF2B5EF4-FFF2-40B4-BE49-F238E27FC236}">
                <a16:creationId xmlns:a16="http://schemas.microsoft.com/office/drawing/2014/main" id="{8A485B93-FB5A-4D37-B7A8-017FB5EF95C7}"/>
              </a:ext>
            </a:extLst>
          </p:cNvPr>
          <p:cNvSpPr>
            <a:spLocks noGrp="1"/>
          </p:cNvSpPr>
          <p:nvPr/>
        </p:nvSpPr>
        <p:spPr>
          <a:xfrm>
            <a:off x="2800350" y="3667125"/>
            <a:ext cx="152400" cy="152400"/>
          </a:xfrm>
          <a:prstGeom prst="ellipse">
            <a:avLst/>
          </a:prstGeom>
          <a:solidFill>
            <a:srgbClr val="FFFFFF"/>
          </a:solidFill>
          <a:ln w="13335">
            <a:solidFill>
              <a:srgbClr val="8A959C"/>
            </a:solidFill>
          </a:ln>
        </p:spPr>
        <p:txBody>
          <a:bodyPr/>
          <a:lstStyle/>
          <a:p>
            <a:endParaRPr lang="en-US"/>
          </a:p>
        </p:txBody>
      </p:sp>
      <p:sp>
        <p:nvSpPr>
          <p:cNvPr id="18" name="Teaching-188">
            <a:extLst>
              <a:ext uri="{FF2B5EF4-FFF2-40B4-BE49-F238E27FC236}">
                <a16:creationId xmlns:a16="http://schemas.microsoft.com/office/drawing/2014/main" id="{CADC8DCD-B5B1-47D6-B004-CFCBC71B156D}"/>
              </a:ext>
            </a:extLst>
          </p:cNvPr>
          <p:cNvSpPr>
            <a:spLocks noGrp="1"/>
          </p:cNvSpPr>
          <p:nvPr/>
        </p:nvSpPr>
        <p:spPr>
          <a:xfrm>
            <a:off x="3152775" y="3667125"/>
            <a:ext cx="152400" cy="152400"/>
          </a:xfrm>
          <a:prstGeom prst="ellipse">
            <a:avLst/>
          </a:prstGeom>
          <a:solidFill>
            <a:srgbClr val="244E6A"/>
          </a:solidFill>
          <a:ln w="13335">
            <a:solidFill>
              <a:srgbClr val="244E6A"/>
            </a:solidFill>
          </a:ln>
        </p:spPr>
        <p:txBody>
          <a:bodyPr/>
          <a:lstStyle/>
          <a:p>
            <a:endParaRPr lang="en-US"/>
          </a:p>
        </p:txBody>
      </p:sp>
      <p:sp>
        <p:nvSpPr>
          <p:cNvPr id="19" name="Teaching-189">
            <a:extLst>
              <a:ext uri="{FF2B5EF4-FFF2-40B4-BE49-F238E27FC236}">
                <a16:creationId xmlns:a16="http://schemas.microsoft.com/office/drawing/2014/main" id="{ACC6CB7D-D599-4CA9-B57E-EFFDF248A5E4}"/>
              </a:ext>
            </a:extLst>
          </p:cNvPr>
          <p:cNvSpPr>
            <a:spLocks noGrp="1"/>
          </p:cNvSpPr>
          <p:nvPr/>
        </p:nvSpPr>
        <p:spPr>
          <a:xfrm>
            <a:off x="2447925" y="3971925"/>
            <a:ext cx="152400" cy="152400"/>
          </a:xfrm>
          <a:prstGeom prst="ellipse">
            <a:avLst/>
          </a:prstGeom>
          <a:solidFill>
            <a:srgbClr val="244E6A"/>
          </a:solidFill>
          <a:ln w="13335">
            <a:solidFill>
              <a:srgbClr val="244E6A"/>
            </a:solidFill>
          </a:ln>
        </p:spPr>
        <p:txBody>
          <a:bodyPr/>
          <a:lstStyle/>
          <a:p>
            <a:endParaRPr lang="en-US"/>
          </a:p>
        </p:txBody>
      </p:sp>
      <p:sp>
        <p:nvSpPr>
          <p:cNvPr id="20" name="Teaching-190">
            <a:extLst>
              <a:ext uri="{FF2B5EF4-FFF2-40B4-BE49-F238E27FC236}">
                <a16:creationId xmlns:a16="http://schemas.microsoft.com/office/drawing/2014/main" id="{1FD79B9E-7150-4579-8DBC-562F190E46CC}"/>
              </a:ext>
            </a:extLst>
          </p:cNvPr>
          <p:cNvSpPr>
            <a:spLocks noGrp="1"/>
          </p:cNvSpPr>
          <p:nvPr/>
        </p:nvSpPr>
        <p:spPr>
          <a:xfrm>
            <a:off x="2800350" y="3971925"/>
            <a:ext cx="152400" cy="152400"/>
          </a:xfrm>
          <a:prstGeom prst="ellipse">
            <a:avLst/>
          </a:prstGeom>
          <a:solidFill>
            <a:srgbClr val="FFFFFF"/>
          </a:solidFill>
          <a:ln w="13335">
            <a:solidFill>
              <a:srgbClr val="8A959C"/>
            </a:solidFill>
          </a:ln>
        </p:spPr>
        <p:txBody>
          <a:bodyPr/>
          <a:lstStyle/>
          <a:p>
            <a:endParaRPr lang="en-US"/>
          </a:p>
        </p:txBody>
      </p:sp>
      <p:sp>
        <p:nvSpPr>
          <p:cNvPr id="21" name="Teaching-191">
            <a:extLst>
              <a:ext uri="{FF2B5EF4-FFF2-40B4-BE49-F238E27FC236}">
                <a16:creationId xmlns:a16="http://schemas.microsoft.com/office/drawing/2014/main" id="{0ECF89CF-1263-4333-875F-3A03C221A4FC}"/>
              </a:ext>
            </a:extLst>
          </p:cNvPr>
          <p:cNvSpPr>
            <a:spLocks noGrp="1"/>
          </p:cNvSpPr>
          <p:nvPr/>
        </p:nvSpPr>
        <p:spPr>
          <a:xfrm>
            <a:off x="3152775" y="3971925"/>
            <a:ext cx="152400" cy="152400"/>
          </a:xfrm>
          <a:prstGeom prst="ellipse">
            <a:avLst/>
          </a:prstGeom>
          <a:solidFill>
            <a:srgbClr val="FFFFFF"/>
          </a:solidFill>
          <a:ln w="13335">
            <a:solidFill>
              <a:srgbClr val="8A959C"/>
            </a:solidFill>
          </a:ln>
        </p:spPr>
        <p:txBody>
          <a:bodyPr/>
          <a:lstStyle/>
          <a:p>
            <a:endParaRPr lang="en-US"/>
          </a:p>
        </p:txBody>
      </p:sp>
      <p:sp>
        <p:nvSpPr>
          <p:cNvPr id="22" name="Teaching-192">
            <a:extLst>
              <a:ext uri="{FF2B5EF4-FFF2-40B4-BE49-F238E27FC236}">
                <a16:creationId xmlns:a16="http://schemas.microsoft.com/office/drawing/2014/main" id="{6B1406D1-A593-46A6-8FBC-1036FDEB3C62}"/>
              </a:ext>
            </a:extLst>
          </p:cNvPr>
          <p:cNvSpPr>
            <a:spLocks noGrp="1"/>
          </p:cNvSpPr>
          <p:nvPr/>
        </p:nvSpPr>
        <p:spPr>
          <a:xfrm>
            <a:off x="3762375" y="3181350"/>
            <a:ext cx="1381125" cy="1123950"/>
          </a:xfrm>
          <a:prstGeom prst="rect">
            <a:avLst/>
          </a:prstGeom>
          <a:solidFill>
            <a:srgbClr val="FFFFFF"/>
          </a:solidFill>
          <a:ln w="9525">
            <a:solidFill>
              <a:srgbClr val="8A959C"/>
            </a:solidFill>
          </a:ln>
        </p:spPr>
        <p:txBody>
          <a:bodyPr/>
          <a:lstStyle/>
          <a:p>
            <a:endParaRPr lang="en-US"/>
          </a:p>
        </p:txBody>
      </p:sp>
      <p:sp>
        <p:nvSpPr>
          <p:cNvPr id="23" name="Teaching-193">
            <a:extLst>
              <a:ext uri="{FF2B5EF4-FFF2-40B4-BE49-F238E27FC236}">
                <a16:creationId xmlns:a16="http://schemas.microsoft.com/office/drawing/2014/main" id="{1C6B27B9-29AA-48A6-8A51-9C430FEAF42D}"/>
              </a:ext>
            </a:extLst>
          </p:cNvPr>
          <p:cNvSpPr>
            <a:spLocks noGrp="1"/>
          </p:cNvSpPr>
          <p:nvPr/>
        </p:nvSpPr>
        <p:spPr>
          <a:xfrm>
            <a:off x="3810000" y="3248025"/>
            <a:ext cx="1285875" cy="257175"/>
          </a:xfrm>
          <a:prstGeom prst="rect">
            <a:avLst/>
          </a:prstGeom>
          <a:noFill/>
          <a:ln w="0">
            <a:noFill/>
          </a:ln>
        </p:spPr>
        <p:txBody>
          <a:bodyPr wrap="square" lIns="0" tIns="0" rIns="0" bIns="0" anchor="t">
            <a:noAutofit/>
          </a:bodyPr>
          <a:lstStyle/>
          <a:p>
            <a:pPr algn="ctr">
              <a:defRPr sz="1725" b="1">
                <a:solidFill>
                  <a:srgbClr val="111111"/>
                </a:solidFill>
                <a:latin typeface="Aptos"/>
                <a:ea typeface="Aptos"/>
                <a:cs typeface="Aptos"/>
              </a:defRPr>
            </a:pPr>
            <a:r>
              <a:t>Class 3</a:t>
            </a:r>
          </a:p>
        </p:txBody>
      </p:sp>
      <p:sp>
        <p:nvSpPr>
          <p:cNvPr id="24" name="Teaching-194">
            <a:extLst>
              <a:ext uri="{FF2B5EF4-FFF2-40B4-BE49-F238E27FC236}">
                <a16:creationId xmlns:a16="http://schemas.microsoft.com/office/drawing/2014/main" id="{DCCA18FC-5949-46EE-A5F6-C2D3CEEDDEC6}"/>
              </a:ext>
            </a:extLst>
          </p:cNvPr>
          <p:cNvSpPr>
            <a:spLocks noGrp="1"/>
          </p:cNvSpPr>
          <p:nvPr/>
        </p:nvSpPr>
        <p:spPr>
          <a:xfrm>
            <a:off x="4019550" y="3667125"/>
            <a:ext cx="152400" cy="152400"/>
          </a:xfrm>
          <a:prstGeom prst="ellipse">
            <a:avLst/>
          </a:prstGeom>
          <a:solidFill>
            <a:srgbClr val="FFFFFF"/>
          </a:solidFill>
          <a:ln w="13335">
            <a:solidFill>
              <a:srgbClr val="8A959C"/>
            </a:solidFill>
          </a:ln>
        </p:spPr>
        <p:txBody>
          <a:bodyPr/>
          <a:lstStyle/>
          <a:p>
            <a:endParaRPr lang="en-US"/>
          </a:p>
        </p:txBody>
      </p:sp>
      <p:sp>
        <p:nvSpPr>
          <p:cNvPr id="25" name="Teaching-195">
            <a:extLst>
              <a:ext uri="{FF2B5EF4-FFF2-40B4-BE49-F238E27FC236}">
                <a16:creationId xmlns:a16="http://schemas.microsoft.com/office/drawing/2014/main" id="{C8FB7395-CBC1-4C0F-92AE-2120E8D11EAB}"/>
              </a:ext>
            </a:extLst>
          </p:cNvPr>
          <p:cNvSpPr>
            <a:spLocks noGrp="1"/>
          </p:cNvSpPr>
          <p:nvPr/>
        </p:nvSpPr>
        <p:spPr>
          <a:xfrm>
            <a:off x="4371975" y="3667125"/>
            <a:ext cx="152400" cy="152400"/>
          </a:xfrm>
          <a:prstGeom prst="ellipse">
            <a:avLst/>
          </a:prstGeom>
          <a:solidFill>
            <a:srgbClr val="244E6A"/>
          </a:solidFill>
          <a:ln w="13335">
            <a:solidFill>
              <a:srgbClr val="244E6A"/>
            </a:solidFill>
          </a:ln>
        </p:spPr>
        <p:txBody>
          <a:bodyPr/>
          <a:lstStyle/>
          <a:p>
            <a:endParaRPr lang="en-US"/>
          </a:p>
        </p:txBody>
      </p:sp>
      <p:sp>
        <p:nvSpPr>
          <p:cNvPr id="26" name="Teaching-196">
            <a:extLst>
              <a:ext uri="{FF2B5EF4-FFF2-40B4-BE49-F238E27FC236}">
                <a16:creationId xmlns:a16="http://schemas.microsoft.com/office/drawing/2014/main" id="{A65F7080-F9A8-4FED-AF0C-59963C3D9089}"/>
              </a:ext>
            </a:extLst>
          </p:cNvPr>
          <p:cNvSpPr>
            <a:spLocks noGrp="1"/>
          </p:cNvSpPr>
          <p:nvPr/>
        </p:nvSpPr>
        <p:spPr>
          <a:xfrm>
            <a:off x="4724400" y="3667125"/>
            <a:ext cx="152400" cy="152400"/>
          </a:xfrm>
          <a:prstGeom prst="ellipse">
            <a:avLst/>
          </a:prstGeom>
          <a:solidFill>
            <a:srgbClr val="FFFFFF"/>
          </a:solidFill>
          <a:ln w="13335">
            <a:solidFill>
              <a:srgbClr val="8A959C"/>
            </a:solidFill>
          </a:ln>
        </p:spPr>
        <p:txBody>
          <a:bodyPr/>
          <a:lstStyle/>
          <a:p>
            <a:endParaRPr lang="en-US"/>
          </a:p>
        </p:txBody>
      </p:sp>
      <p:sp>
        <p:nvSpPr>
          <p:cNvPr id="27" name="Teaching-197">
            <a:extLst>
              <a:ext uri="{FF2B5EF4-FFF2-40B4-BE49-F238E27FC236}">
                <a16:creationId xmlns:a16="http://schemas.microsoft.com/office/drawing/2014/main" id="{B5F1926A-9D34-4DEC-8F6B-07824DE1CB42}"/>
              </a:ext>
            </a:extLst>
          </p:cNvPr>
          <p:cNvSpPr>
            <a:spLocks noGrp="1"/>
          </p:cNvSpPr>
          <p:nvPr/>
        </p:nvSpPr>
        <p:spPr>
          <a:xfrm>
            <a:off x="4019550" y="3971925"/>
            <a:ext cx="152400" cy="152400"/>
          </a:xfrm>
          <a:prstGeom prst="ellipse">
            <a:avLst/>
          </a:prstGeom>
          <a:solidFill>
            <a:srgbClr val="FFFFFF"/>
          </a:solidFill>
          <a:ln w="13335">
            <a:solidFill>
              <a:srgbClr val="8A959C"/>
            </a:solidFill>
          </a:ln>
        </p:spPr>
        <p:txBody>
          <a:bodyPr/>
          <a:lstStyle/>
          <a:p>
            <a:endParaRPr lang="en-US"/>
          </a:p>
        </p:txBody>
      </p:sp>
      <p:sp>
        <p:nvSpPr>
          <p:cNvPr id="28" name="Teaching-198">
            <a:extLst>
              <a:ext uri="{FF2B5EF4-FFF2-40B4-BE49-F238E27FC236}">
                <a16:creationId xmlns:a16="http://schemas.microsoft.com/office/drawing/2014/main" id="{8FED3140-8AA1-4A6B-818B-6F4EA8C75DEF}"/>
              </a:ext>
            </a:extLst>
          </p:cNvPr>
          <p:cNvSpPr>
            <a:spLocks noGrp="1"/>
          </p:cNvSpPr>
          <p:nvPr/>
        </p:nvSpPr>
        <p:spPr>
          <a:xfrm>
            <a:off x="4371975" y="3971925"/>
            <a:ext cx="152400" cy="152400"/>
          </a:xfrm>
          <a:prstGeom prst="ellipse">
            <a:avLst/>
          </a:prstGeom>
          <a:solidFill>
            <a:srgbClr val="FFFFFF"/>
          </a:solidFill>
          <a:ln w="13335">
            <a:solidFill>
              <a:srgbClr val="8A959C"/>
            </a:solidFill>
          </a:ln>
        </p:spPr>
        <p:txBody>
          <a:bodyPr/>
          <a:lstStyle/>
          <a:p>
            <a:endParaRPr lang="en-US"/>
          </a:p>
        </p:txBody>
      </p:sp>
      <p:sp>
        <p:nvSpPr>
          <p:cNvPr id="29" name="Teaching-199">
            <a:extLst>
              <a:ext uri="{FF2B5EF4-FFF2-40B4-BE49-F238E27FC236}">
                <a16:creationId xmlns:a16="http://schemas.microsoft.com/office/drawing/2014/main" id="{0BC7D5D3-499C-44F3-B007-11C6EF7FCDAA}"/>
              </a:ext>
            </a:extLst>
          </p:cNvPr>
          <p:cNvSpPr>
            <a:spLocks noGrp="1"/>
          </p:cNvSpPr>
          <p:nvPr/>
        </p:nvSpPr>
        <p:spPr>
          <a:xfrm>
            <a:off x="4724400" y="3971925"/>
            <a:ext cx="152400" cy="152400"/>
          </a:xfrm>
          <a:prstGeom prst="ellipse">
            <a:avLst/>
          </a:prstGeom>
          <a:solidFill>
            <a:srgbClr val="244E6A"/>
          </a:solidFill>
          <a:ln w="13335">
            <a:solidFill>
              <a:srgbClr val="244E6A"/>
            </a:solidFill>
          </a:ln>
        </p:spPr>
        <p:txBody>
          <a:bodyPr/>
          <a:lstStyle/>
          <a:p>
            <a:endParaRPr lang="en-US"/>
          </a:p>
        </p:txBody>
      </p:sp>
      <p:sp>
        <p:nvSpPr>
          <p:cNvPr id="30" name="Teaching-200">
            <a:extLst>
              <a:ext uri="{FF2B5EF4-FFF2-40B4-BE49-F238E27FC236}">
                <a16:creationId xmlns:a16="http://schemas.microsoft.com/office/drawing/2014/main" id="{86627DBF-AE2B-4853-84E3-C3F5A12C9B1E}"/>
              </a:ext>
            </a:extLst>
          </p:cNvPr>
          <p:cNvSpPr>
            <a:spLocks noGrp="1"/>
          </p:cNvSpPr>
          <p:nvPr/>
        </p:nvSpPr>
        <p:spPr>
          <a:xfrm>
            <a:off x="619125" y="4476750"/>
            <a:ext cx="1381125" cy="1123950"/>
          </a:xfrm>
          <a:prstGeom prst="rect">
            <a:avLst/>
          </a:prstGeom>
          <a:solidFill>
            <a:srgbClr val="FFFFFF"/>
          </a:solidFill>
          <a:ln w="9525">
            <a:solidFill>
              <a:srgbClr val="8A959C"/>
            </a:solidFill>
          </a:ln>
        </p:spPr>
        <p:txBody>
          <a:bodyPr/>
          <a:lstStyle/>
          <a:p>
            <a:endParaRPr lang="en-US"/>
          </a:p>
        </p:txBody>
      </p:sp>
      <p:sp>
        <p:nvSpPr>
          <p:cNvPr id="31" name="Teaching-201">
            <a:extLst>
              <a:ext uri="{FF2B5EF4-FFF2-40B4-BE49-F238E27FC236}">
                <a16:creationId xmlns:a16="http://schemas.microsoft.com/office/drawing/2014/main" id="{3FD5064A-4317-4F0F-8C31-0D8B16FB2E48}"/>
              </a:ext>
            </a:extLst>
          </p:cNvPr>
          <p:cNvSpPr>
            <a:spLocks noGrp="1"/>
          </p:cNvSpPr>
          <p:nvPr/>
        </p:nvSpPr>
        <p:spPr>
          <a:xfrm>
            <a:off x="666750" y="4543425"/>
            <a:ext cx="1285875" cy="257175"/>
          </a:xfrm>
          <a:prstGeom prst="rect">
            <a:avLst/>
          </a:prstGeom>
          <a:noFill/>
          <a:ln w="0">
            <a:noFill/>
          </a:ln>
        </p:spPr>
        <p:txBody>
          <a:bodyPr wrap="square" lIns="0" tIns="0" rIns="0" bIns="0" anchor="t">
            <a:noAutofit/>
          </a:bodyPr>
          <a:lstStyle/>
          <a:p>
            <a:pPr algn="ctr">
              <a:defRPr sz="1725" b="1">
                <a:solidFill>
                  <a:srgbClr val="111111"/>
                </a:solidFill>
                <a:latin typeface="Aptos"/>
                <a:ea typeface="Aptos"/>
                <a:cs typeface="Aptos"/>
              </a:defRPr>
            </a:pPr>
            <a:r>
              <a:t>Class 4</a:t>
            </a:r>
          </a:p>
        </p:txBody>
      </p:sp>
      <p:sp>
        <p:nvSpPr>
          <p:cNvPr id="32" name="Teaching-202">
            <a:extLst>
              <a:ext uri="{FF2B5EF4-FFF2-40B4-BE49-F238E27FC236}">
                <a16:creationId xmlns:a16="http://schemas.microsoft.com/office/drawing/2014/main" id="{41489E12-C564-4300-B9F4-7937EE1ADEBC}"/>
              </a:ext>
            </a:extLst>
          </p:cNvPr>
          <p:cNvSpPr>
            <a:spLocks noGrp="1"/>
          </p:cNvSpPr>
          <p:nvPr/>
        </p:nvSpPr>
        <p:spPr>
          <a:xfrm>
            <a:off x="876300" y="4962525"/>
            <a:ext cx="152400" cy="152400"/>
          </a:xfrm>
          <a:prstGeom prst="ellipse">
            <a:avLst/>
          </a:prstGeom>
          <a:solidFill>
            <a:srgbClr val="244E6A"/>
          </a:solidFill>
          <a:ln w="13335">
            <a:solidFill>
              <a:srgbClr val="244E6A"/>
            </a:solidFill>
          </a:ln>
        </p:spPr>
        <p:txBody>
          <a:bodyPr/>
          <a:lstStyle/>
          <a:p>
            <a:endParaRPr lang="en-US"/>
          </a:p>
        </p:txBody>
      </p:sp>
      <p:sp>
        <p:nvSpPr>
          <p:cNvPr id="33" name="Teaching-203">
            <a:extLst>
              <a:ext uri="{FF2B5EF4-FFF2-40B4-BE49-F238E27FC236}">
                <a16:creationId xmlns:a16="http://schemas.microsoft.com/office/drawing/2014/main" id="{CA698881-1695-45FB-B0AF-0CDA972ACF33}"/>
              </a:ext>
            </a:extLst>
          </p:cNvPr>
          <p:cNvSpPr>
            <a:spLocks noGrp="1"/>
          </p:cNvSpPr>
          <p:nvPr/>
        </p:nvSpPr>
        <p:spPr>
          <a:xfrm>
            <a:off x="1228725" y="4962525"/>
            <a:ext cx="152400" cy="152400"/>
          </a:xfrm>
          <a:prstGeom prst="ellipse">
            <a:avLst/>
          </a:prstGeom>
          <a:solidFill>
            <a:srgbClr val="FFFFFF"/>
          </a:solidFill>
          <a:ln w="13335">
            <a:solidFill>
              <a:srgbClr val="8A959C"/>
            </a:solidFill>
          </a:ln>
        </p:spPr>
        <p:txBody>
          <a:bodyPr/>
          <a:lstStyle/>
          <a:p>
            <a:endParaRPr lang="en-US"/>
          </a:p>
        </p:txBody>
      </p:sp>
      <p:sp>
        <p:nvSpPr>
          <p:cNvPr id="34" name="Teaching-204">
            <a:extLst>
              <a:ext uri="{FF2B5EF4-FFF2-40B4-BE49-F238E27FC236}">
                <a16:creationId xmlns:a16="http://schemas.microsoft.com/office/drawing/2014/main" id="{C4DF30B3-91B7-407E-9088-5C1E90139A81}"/>
              </a:ext>
            </a:extLst>
          </p:cNvPr>
          <p:cNvSpPr>
            <a:spLocks noGrp="1"/>
          </p:cNvSpPr>
          <p:nvPr/>
        </p:nvSpPr>
        <p:spPr>
          <a:xfrm>
            <a:off x="1581150" y="4962525"/>
            <a:ext cx="152400" cy="152400"/>
          </a:xfrm>
          <a:prstGeom prst="ellipse">
            <a:avLst/>
          </a:prstGeom>
          <a:solidFill>
            <a:srgbClr val="244E6A"/>
          </a:solidFill>
          <a:ln w="13335">
            <a:solidFill>
              <a:srgbClr val="244E6A"/>
            </a:solidFill>
          </a:ln>
        </p:spPr>
        <p:txBody>
          <a:bodyPr/>
          <a:lstStyle/>
          <a:p>
            <a:endParaRPr lang="en-US"/>
          </a:p>
        </p:txBody>
      </p:sp>
      <p:sp>
        <p:nvSpPr>
          <p:cNvPr id="35" name="Teaching-205">
            <a:extLst>
              <a:ext uri="{FF2B5EF4-FFF2-40B4-BE49-F238E27FC236}">
                <a16:creationId xmlns:a16="http://schemas.microsoft.com/office/drawing/2014/main" id="{D5F21F60-C3A7-470F-BC47-F2AB6A50B786}"/>
              </a:ext>
            </a:extLst>
          </p:cNvPr>
          <p:cNvSpPr>
            <a:spLocks noGrp="1"/>
          </p:cNvSpPr>
          <p:nvPr/>
        </p:nvSpPr>
        <p:spPr>
          <a:xfrm>
            <a:off x="876300" y="5267325"/>
            <a:ext cx="152400" cy="152400"/>
          </a:xfrm>
          <a:prstGeom prst="ellipse">
            <a:avLst/>
          </a:prstGeom>
          <a:solidFill>
            <a:srgbClr val="FFFFFF"/>
          </a:solidFill>
          <a:ln w="13335">
            <a:solidFill>
              <a:srgbClr val="8A959C"/>
            </a:solidFill>
          </a:ln>
        </p:spPr>
        <p:txBody>
          <a:bodyPr/>
          <a:lstStyle/>
          <a:p>
            <a:endParaRPr lang="en-US"/>
          </a:p>
        </p:txBody>
      </p:sp>
      <p:sp>
        <p:nvSpPr>
          <p:cNvPr id="36" name="Teaching-206">
            <a:extLst>
              <a:ext uri="{FF2B5EF4-FFF2-40B4-BE49-F238E27FC236}">
                <a16:creationId xmlns:a16="http://schemas.microsoft.com/office/drawing/2014/main" id="{EA721A7C-1866-419D-A3EF-3A2609979CD2}"/>
              </a:ext>
            </a:extLst>
          </p:cNvPr>
          <p:cNvSpPr>
            <a:spLocks noGrp="1"/>
          </p:cNvSpPr>
          <p:nvPr/>
        </p:nvSpPr>
        <p:spPr>
          <a:xfrm>
            <a:off x="1228725" y="5267325"/>
            <a:ext cx="152400" cy="152400"/>
          </a:xfrm>
          <a:prstGeom prst="ellipse">
            <a:avLst/>
          </a:prstGeom>
          <a:solidFill>
            <a:srgbClr val="FFFFFF"/>
          </a:solidFill>
          <a:ln w="13335">
            <a:solidFill>
              <a:srgbClr val="8A959C"/>
            </a:solidFill>
          </a:ln>
        </p:spPr>
        <p:txBody>
          <a:bodyPr/>
          <a:lstStyle/>
          <a:p>
            <a:endParaRPr lang="en-US"/>
          </a:p>
        </p:txBody>
      </p:sp>
      <p:sp>
        <p:nvSpPr>
          <p:cNvPr id="37" name="Teaching-207">
            <a:extLst>
              <a:ext uri="{FF2B5EF4-FFF2-40B4-BE49-F238E27FC236}">
                <a16:creationId xmlns:a16="http://schemas.microsoft.com/office/drawing/2014/main" id="{443C1FB2-14AA-48FA-AC34-54C5B40B4F4B}"/>
              </a:ext>
            </a:extLst>
          </p:cNvPr>
          <p:cNvSpPr>
            <a:spLocks noGrp="1"/>
          </p:cNvSpPr>
          <p:nvPr/>
        </p:nvSpPr>
        <p:spPr>
          <a:xfrm>
            <a:off x="1581150" y="5267325"/>
            <a:ext cx="152400" cy="152400"/>
          </a:xfrm>
          <a:prstGeom prst="ellipse">
            <a:avLst/>
          </a:prstGeom>
          <a:solidFill>
            <a:srgbClr val="FFFFFF"/>
          </a:solidFill>
          <a:ln w="13335">
            <a:solidFill>
              <a:srgbClr val="8A959C"/>
            </a:solidFill>
          </a:ln>
        </p:spPr>
        <p:txBody>
          <a:bodyPr/>
          <a:lstStyle/>
          <a:p>
            <a:endParaRPr lang="en-US"/>
          </a:p>
        </p:txBody>
      </p:sp>
      <p:sp>
        <p:nvSpPr>
          <p:cNvPr id="38" name="Teaching-208">
            <a:extLst>
              <a:ext uri="{FF2B5EF4-FFF2-40B4-BE49-F238E27FC236}">
                <a16:creationId xmlns:a16="http://schemas.microsoft.com/office/drawing/2014/main" id="{B77D92F3-62AF-49DD-8B0A-3F9EED0CBE6B}"/>
              </a:ext>
            </a:extLst>
          </p:cNvPr>
          <p:cNvSpPr>
            <a:spLocks noGrp="1"/>
          </p:cNvSpPr>
          <p:nvPr/>
        </p:nvSpPr>
        <p:spPr>
          <a:xfrm>
            <a:off x="2190750" y="4476750"/>
            <a:ext cx="1381125" cy="1123950"/>
          </a:xfrm>
          <a:prstGeom prst="rect">
            <a:avLst/>
          </a:prstGeom>
          <a:solidFill>
            <a:srgbClr val="FFFFFF"/>
          </a:solidFill>
          <a:ln w="9525">
            <a:solidFill>
              <a:srgbClr val="8A959C"/>
            </a:solidFill>
          </a:ln>
        </p:spPr>
        <p:txBody>
          <a:bodyPr/>
          <a:lstStyle/>
          <a:p>
            <a:endParaRPr lang="en-US"/>
          </a:p>
        </p:txBody>
      </p:sp>
      <p:sp>
        <p:nvSpPr>
          <p:cNvPr id="39" name="Teaching-209">
            <a:extLst>
              <a:ext uri="{FF2B5EF4-FFF2-40B4-BE49-F238E27FC236}">
                <a16:creationId xmlns:a16="http://schemas.microsoft.com/office/drawing/2014/main" id="{9178ED18-E199-443F-A053-84642EF4CC40}"/>
              </a:ext>
            </a:extLst>
          </p:cNvPr>
          <p:cNvSpPr>
            <a:spLocks noGrp="1"/>
          </p:cNvSpPr>
          <p:nvPr/>
        </p:nvSpPr>
        <p:spPr>
          <a:xfrm>
            <a:off x="2238375" y="4543425"/>
            <a:ext cx="1285875" cy="257175"/>
          </a:xfrm>
          <a:prstGeom prst="rect">
            <a:avLst/>
          </a:prstGeom>
          <a:noFill/>
          <a:ln w="0">
            <a:noFill/>
          </a:ln>
        </p:spPr>
        <p:txBody>
          <a:bodyPr wrap="square" lIns="0" tIns="0" rIns="0" bIns="0" anchor="t">
            <a:noAutofit/>
          </a:bodyPr>
          <a:lstStyle/>
          <a:p>
            <a:pPr algn="ctr">
              <a:defRPr sz="1725" b="1">
                <a:solidFill>
                  <a:srgbClr val="111111"/>
                </a:solidFill>
                <a:latin typeface="Aptos"/>
                <a:ea typeface="Aptos"/>
                <a:cs typeface="Aptos"/>
              </a:defRPr>
            </a:pPr>
            <a:r>
              <a:t>Class 5</a:t>
            </a:r>
          </a:p>
        </p:txBody>
      </p:sp>
      <p:sp>
        <p:nvSpPr>
          <p:cNvPr id="40" name="Teaching-210">
            <a:extLst>
              <a:ext uri="{FF2B5EF4-FFF2-40B4-BE49-F238E27FC236}">
                <a16:creationId xmlns:a16="http://schemas.microsoft.com/office/drawing/2014/main" id="{EB14783E-BDF9-48D7-95D4-34F9149E8712}"/>
              </a:ext>
            </a:extLst>
          </p:cNvPr>
          <p:cNvSpPr>
            <a:spLocks noGrp="1"/>
          </p:cNvSpPr>
          <p:nvPr/>
        </p:nvSpPr>
        <p:spPr>
          <a:xfrm>
            <a:off x="2447925" y="4962525"/>
            <a:ext cx="152400" cy="152400"/>
          </a:xfrm>
          <a:prstGeom prst="ellipse">
            <a:avLst/>
          </a:prstGeom>
          <a:solidFill>
            <a:srgbClr val="FFFFFF"/>
          </a:solidFill>
          <a:ln w="13335">
            <a:solidFill>
              <a:srgbClr val="8A959C"/>
            </a:solidFill>
          </a:ln>
        </p:spPr>
        <p:txBody>
          <a:bodyPr/>
          <a:lstStyle/>
          <a:p>
            <a:endParaRPr lang="en-US"/>
          </a:p>
        </p:txBody>
      </p:sp>
      <p:sp>
        <p:nvSpPr>
          <p:cNvPr id="41" name="Teaching-211">
            <a:extLst>
              <a:ext uri="{FF2B5EF4-FFF2-40B4-BE49-F238E27FC236}">
                <a16:creationId xmlns:a16="http://schemas.microsoft.com/office/drawing/2014/main" id="{DD48485F-DFF2-4C92-AFA0-44DA69377B8A}"/>
              </a:ext>
            </a:extLst>
          </p:cNvPr>
          <p:cNvSpPr>
            <a:spLocks noGrp="1"/>
          </p:cNvSpPr>
          <p:nvPr/>
        </p:nvSpPr>
        <p:spPr>
          <a:xfrm>
            <a:off x="2800350" y="4962525"/>
            <a:ext cx="152400" cy="152400"/>
          </a:xfrm>
          <a:prstGeom prst="ellipse">
            <a:avLst/>
          </a:prstGeom>
          <a:solidFill>
            <a:srgbClr val="FFFFFF"/>
          </a:solidFill>
          <a:ln w="13335">
            <a:solidFill>
              <a:srgbClr val="8A959C"/>
            </a:solidFill>
          </a:ln>
        </p:spPr>
        <p:txBody>
          <a:bodyPr/>
          <a:lstStyle/>
          <a:p>
            <a:endParaRPr lang="en-US"/>
          </a:p>
        </p:txBody>
      </p:sp>
      <p:sp>
        <p:nvSpPr>
          <p:cNvPr id="42" name="Teaching-212">
            <a:extLst>
              <a:ext uri="{FF2B5EF4-FFF2-40B4-BE49-F238E27FC236}">
                <a16:creationId xmlns:a16="http://schemas.microsoft.com/office/drawing/2014/main" id="{DD0D1B8F-4815-418F-B1FF-26B1E8451CD8}"/>
              </a:ext>
            </a:extLst>
          </p:cNvPr>
          <p:cNvSpPr>
            <a:spLocks noGrp="1"/>
          </p:cNvSpPr>
          <p:nvPr/>
        </p:nvSpPr>
        <p:spPr>
          <a:xfrm>
            <a:off x="3152775" y="4962525"/>
            <a:ext cx="152400" cy="152400"/>
          </a:xfrm>
          <a:prstGeom prst="ellipse">
            <a:avLst/>
          </a:prstGeom>
          <a:solidFill>
            <a:srgbClr val="FFFFFF"/>
          </a:solidFill>
          <a:ln w="13335">
            <a:solidFill>
              <a:srgbClr val="8A959C"/>
            </a:solidFill>
          </a:ln>
        </p:spPr>
        <p:txBody>
          <a:bodyPr/>
          <a:lstStyle/>
          <a:p>
            <a:endParaRPr lang="en-US"/>
          </a:p>
        </p:txBody>
      </p:sp>
      <p:sp>
        <p:nvSpPr>
          <p:cNvPr id="43" name="Teaching-213">
            <a:extLst>
              <a:ext uri="{FF2B5EF4-FFF2-40B4-BE49-F238E27FC236}">
                <a16:creationId xmlns:a16="http://schemas.microsoft.com/office/drawing/2014/main" id="{54726B7F-E40A-4D99-BF8D-4E698855378C}"/>
              </a:ext>
            </a:extLst>
          </p:cNvPr>
          <p:cNvSpPr>
            <a:spLocks noGrp="1"/>
          </p:cNvSpPr>
          <p:nvPr/>
        </p:nvSpPr>
        <p:spPr>
          <a:xfrm>
            <a:off x="2447925" y="5267325"/>
            <a:ext cx="152400" cy="152400"/>
          </a:xfrm>
          <a:prstGeom prst="ellipse">
            <a:avLst/>
          </a:prstGeom>
          <a:solidFill>
            <a:srgbClr val="244E6A"/>
          </a:solidFill>
          <a:ln w="13335">
            <a:solidFill>
              <a:srgbClr val="244E6A"/>
            </a:solidFill>
          </a:ln>
        </p:spPr>
        <p:txBody>
          <a:bodyPr/>
          <a:lstStyle/>
          <a:p>
            <a:endParaRPr lang="en-US"/>
          </a:p>
        </p:txBody>
      </p:sp>
      <p:sp>
        <p:nvSpPr>
          <p:cNvPr id="44" name="Teaching-214">
            <a:extLst>
              <a:ext uri="{FF2B5EF4-FFF2-40B4-BE49-F238E27FC236}">
                <a16:creationId xmlns:a16="http://schemas.microsoft.com/office/drawing/2014/main" id="{000956CA-9FC0-46AA-B988-F2BFF1BFB164}"/>
              </a:ext>
            </a:extLst>
          </p:cNvPr>
          <p:cNvSpPr>
            <a:spLocks noGrp="1"/>
          </p:cNvSpPr>
          <p:nvPr/>
        </p:nvSpPr>
        <p:spPr>
          <a:xfrm>
            <a:off x="2800350" y="5267325"/>
            <a:ext cx="152400" cy="152400"/>
          </a:xfrm>
          <a:prstGeom prst="ellipse">
            <a:avLst/>
          </a:prstGeom>
          <a:solidFill>
            <a:srgbClr val="FFFFFF"/>
          </a:solidFill>
          <a:ln w="13335">
            <a:solidFill>
              <a:srgbClr val="8A959C"/>
            </a:solidFill>
          </a:ln>
        </p:spPr>
        <p:txBody>
          <a:bodyPr/>
          <a:lstStyle/>
          <a:p>
            <a:endParaRPr lang="en-US"/>
          </a:p>
        </p:txBody>
      </p:sp>
      <p:sp>
        <p:nvSpPr>
          <p:cNvPr id="45" name="Teaching-215">
            <a:extLst>
              <a:ext uri="{FF2B5EF4-FFF2-40B4-BE49-F238E27FC236}">
                <a16:creationId xmlns:a16="http://schemas.microsoft.com/office/drawing/2014/main" id="{465E72D0-D984-4A52-8B78-99316F78BBEE}"/>
              </a:ext>
            </a:extLst>
          </p:cNvPr>
          <p:cNvSpPr>
            <a:spLocks noGrp="1"/>
          </p:cNvSpPr>
          <p:nvPr/>
        </p:nvSpPr>
        <p:spPr>
          <a:xfrm>
            <a:off x="3152775" y="5267325"/>
            <a:ext cx="152400" cy="152400"/>
          </a:xfrm>
          <a:prstGeom prst="ellipse">
            <a:avLst/>
          </a:prstGeom>
          <a:solidFill>
            <a:srgbClr val="244E6A"/>
          </a:solidFill>
          <a:ln w="13335">
            <a:solidFill>
              <a:srgbClr val="244E6A"/>
            </a:solidFill>
          </a:ln>
        </p:spPr>
        <p:txBody>
          <a:bodyPr/>
          <a:lstStyle/>
          <a:p>
            <a:endParaRPr lang="en-US"/>
          </a:p>
        </p:txBody>
      </p:sp>
      <p:sp>
        <p:nvSpPr>
          <p:cNvPr id="46" name="Teaching-216">
            <a:extLst>
              <a:ext uri="{FF2B5EF4-FFF2-40B4-BE49-F238E27FC236}">
                <a16:creationId xmlns:a16="http://schemas.microsoft.com/office/drawing/2014/main" id="{30EAA8F8-4263-40B2-83F7-550BB53EBAD9}"/>
              </a:ext>
            </a:extLst>
          </p:cNvPr>
          <p:cNvSpPr>
            <a:spLocks noGrp="1"/>
          </p:cNvSpPr>
          <p:nvPr/>
        </p:nvSpPr>
        <p:spPr>
          <a:xfrm>
            <a:off x="3762375" y="4476750"/>
            <a:ext cx="1381125" cy="1123950"/>
          </a:xfrm>
          <a:prstGeom prst="rect">
            <a:avLst/>
          </a:prstGeom>
          <a:solidFill>
            <a:srgbClr val="FFFFFF"/>
          </a:solidFill>
          <a:ln w="9525">
            <a:solidFill>
              <a:srgbClr val="8A959C"/>
            </a:solidFill>
          </a:ln>
        </p:spPr>
        <p:txBody>
          <a:bodyPr/>
          <a:lstStyle/>
          <a:p>
            <a:endParaRPr lang="en-US"/>
          </a:p>
        </p:txBody>
      </p:sp>
      <p:sp>
        <p:nvSpPr>
          <p:cNvPr id="47" name="Teaching-217">
            <a:extLst>
              <a:ext uri="{FF2B5EF4-FFF2-40B4-BE49-F238E27FC236}">
                <a16:creationId xmlns:a16="http://schemas.microsoft.com/office/drawing/2014/main" id="{11665AA1-4E32-4173-B90F-53D9046509F4}"/>
              </a:ext>
            </a:extLst>
          </p:cNvPr>
          <p:cNvSpPr>
            <a:spLocks noGrp="1"/>
          </p:cNvSpPr>
          <p:nvPr/>
        </p:nvSpPr>
        <p:spPr>
          <a:xfrm>
            <a:off x="3810000" y="4543425"/>
            <a:ext cx="1285875" cy="257175"/>
          </a:xfrm>
          <a:prstGeom prst="rect">
            <a:avLst/>
          </a:prstGeom>
          <a:noFill/>
          <a:ln w="0">
            <a:noFill/>
          </a:ln>
        </p:spPr>
        <p:txBody>
          <a:bodyPr wrap="square" lIns="0" tIns="0" rIns="0" bIns="0" anchor="t">
            <a:noAutofit/>
          </a:bodyPr>
          <a:lstStyle/>
          <a:p>
            <a:pPr algn="ctr">
              <a:defRPr sz="1725" b="1">
                <a:solidFill>
                  <a:srgbClr val="111111"/>
                </a:solidFill>
                <a:latin typeface="Aptos"/>
                <a:ea typeface="Aptos"/>
                <a:cs typeface="Aptos"/>
              </a:defRPr>
            </a:pPr>
            <a:r>
              <a:t>Class 6</a:t>
            </a:r>
          </a:p>
        </p:txBody>
      </p:sp>
      <p:sp>
        <p:nvSpPr>
          <p:cNvPr id="48" name="Teaching-218">
            <a:extLst>
              <a:ext uri="{FF2B5EF4-FFF2-40B4-BE49-F238E27FC236}">
                <a16:creationId xmlns:a16="http://schemas.microsoft.com/office/drawing/2014/main" id="{E30EB782-A92F-43C9-AAA8-646995229303}"/>
              </a:ext>
            </a:extLst>
          </p:cNvPr>
          <p:cNvSpPr>
            <a:spLocks noGrp="1"/>
          </p:cNvSpPr>
          <p:nvPr/>
        </p:nvSpPr>
        <p:spPr>
          <a:xfrm>
            <a:off x="4019550" y="4962525"/>
            <a:ext cx="152400" cy="152400"/>
          </a:xfrm>
          <a:prstGeom prst="ellipse">
            <a:avLst/>
          </a:prstGeom>
          <a:solidFill>
            <a:srgbClr val="FFFFFF"/>
          </a:solidFill>
          <a:ln w="13335">
            <a:solidFill>
              <a:srgbClr val="8A959C"/>
            </a:solidFill>
          </a:ln>
        </p:spPr>
        <p:txBody>
          <a:bodyPr/>
          <a:lstStyle/>
          <a:p>
            <a:endParaRPr lang="en-US"/>
          </a:p>
        </p:txBody>
      </p:sp>
      <p:sp>
        <p:nvSpPr>
          <p:cNvPr id="49" name="Teaching-219">
            <a:extLst>
              <a:ext uri="{FF2B5EF4-FFF2-40B4-BE49-F238E27FC236}">
                <a16:creationId xmlns:a16="http://schemas.microsoft.com/office/drawing/2014/main" id="{2BF9DA05-46A1-4F0E-B7B2-6FFCAD9F18DE}"/>
              </a:ext>
            </a:extLst>
          </p:cNvPr>
          <p:cNvSpPr>
            <a:spLocks noGrp="1"/>
          </p:cNvSpPr>
          <p:nvPr/>
        </p:nvSpPr>
        <p:spPr>
          <a:xfrm>
            <a:off x="4371975" y="4962525"/>
            <a:ext cx="152400" cy="152400"/>
          </a:xfrm>
          <a:prstGeom prst="ellipse">
            <a:avLst/>
          </a:prstGeom>
          <a:solidFill>
            <a:srgbClr val="244E6A"/>
          </a:solidFill>
          <a:ln w="13335">
            <a:solidFill>
              <a:srgbClr val="244E6A"/>
            </a:solidFill>
          </a:ln>
        </p:spPr>
        <p:txBody>
          <a:bodyPr/>
          <a:lstStyle/>
          <a:p>
            <a:endParaRPr lang="en-US"/>
          </a:p>
        </p:txBody>
      </p:sp>
      <p:sp>
        <p:nvSpPr>
          <p:cNvPr id="50" name="Teaching-220">
            <a:extLst>
              <a:ext uri="{FF2B5EF4-FFF2-40B4-BE49-F238E27FC236}">
                <a16:creationId xmlns:a16="http://schemas.microsoft.com/office/drawing/2014/main" id="{31E93910-590F-435A-ABB5-C0EC888F0001}"/>
              </a:ext>
            </a:extLst>
          </p:cNvPr>
          <p:cNvSpPr>
            <a:spLocks noGrp="1"/>
          </p:cNvSpPr>
          <p:nvPr/>
        </p:nvSpPr>
        <p:spPr>
          <a:xfrm>
            <a:off x="4724400" y="4962525"/>
            <a:ext cx="152400" cy="152400"/>
          </a:xfrm>
          <a:prstGeom prst="ellipse">
            <a:avLst/>
          </a:prstGeom>
          <a:solidFill>
            <a:srgbClr val="244E6A"/>
          </a:solidFill>
          <a:ln w="13335">
            <a:solidFill>
              <a:srgbClr val="244E6A"/>
            </a:solidFill>
          </a:ln>
        </p:spPr>
        <p:txBody>
          <a:bodyPr/>
          <a:lstStyle/>
          <a:p>
            <a:endParaRPr lang="en-US"/>
          </a:p>
        </p:txBody>
      </p:sp>
      <p:sp>
        <p:nvSpPr>
          <p:cNvPr id="51" name="Teaching-221">
            <a:extLst>
              <a:ext uri="{FF2B5EF4-FFF2-40B4-BE49-F238E27FC236}">
                <a16:creationId xmlns:a16="http://schemas.microsoft.com/office/drawing/2014/main" id="{FE005E7F-1CBB-4DD7-AC1C-9F80FBB43AF5}"/>
              </a:ext>
            </a:extLst>
          </p:cNvPr>
          <p:cNvSpPr>
            <a:spLocks noGrp="1"/>
          </p:cNvSpPr>
          <p:nvPr/>
        </p:nvSpPr>
        <p:spPr>
          <a:xfrm>
            <a:off x="4019550" y="5267325"/>
            <a:ext cx="152400" cy="152400"/>
          </a:xfrm>
          <a:prstGeom prst="ellipse">
            <a:avLst/>
          </a:prstGeom>
          <a:solidFill>
            <a:srgbClr val="FFFFFF"/>
          </a:solidFill>
          <a:ln w="13335">
            <a:solidFill>
              <a:srgbClr val="8A959C"/>
            </a:solidFill>
          </a:ln>
        </p:spPr>
        <p:txBody>
          <a:bodyPr/>
          <a:lstStyle/>
          <a:p>
            <a:endParaRPr lang="en-US"/>
          </a:p>
        </p:txBody>
      </p:sp>
      <p:sp>
        <p:nvSpPr>
          <p:cNvPr id="52" name="Teaching-222">
            <a:extLst>
              <a:ext uri="{FF2B5EF4-FFF2-40B4-BE49-F238E27FC236}">
                <a16:creationId xmlns:a16="http://schemas.microsoft.com/office/drawing/2014/main" id="{6567E0F0-0721-4E03-B43E-A22125534136}"/>
              </a:ext>
            </a:extLst>
          </p:cNvPr>
          <p:cNvSpPr>
            <a:spLocks noGrp="1"/>
          </p:cNvSpPr>
          <p:nvPr/>
        </p:nvSpPr>
        <p:spPr>
          <a:xfrm>
            <a:off x="4371975" y="5267325"/>
            <a:ext cx="152400" cy="152400"/>
          </a:xfrm>
          <a:prstGeom prst="ellipse">
            <a:avLst/>
          </a:prstGeom>
          <a:solidFill>
            <a:srgbClr val="FFFFFF"/>
          </a:solidFill>
          <a:ln w="13335">
            <a:solidFill>
              <a:srgbClr val="8A959C"/>
            </a:solidFill>
          </a:ln>
        </p:spPr>
        <p:txBody>
          <a:bodyPr/>
          <a:lstStyle/>
          <a:p>
            <a:endParaRPr lang="en-US"/>
          </a:p>
        </p:txBody>
      </p:sp>
      <p:sp>
        <p:nvSpPr>
          <p:cNvPr id="53" name="Teaching-223">
            <a:extLst>
              <a:ext uri="{FF2B5EF4-FFF2-40B4-BE49-F238E27FC236}">
                <a16:creationId xmlns:a16="http://schemas.microsoft.com/office/drawing/2014/main" id="{DC4DFAE2-C956-4133-BD4A-767F4F5564DA}"/>
              </a:ext>
            </a:extLst>
          </p:cNvPr>
          <p:cNvSpPr>
            <a:spLocks noGrp="1"/>
          </p:cNvSpPr>
          <p:nvPr/>
        </p:nvSpPr>
        <p:spPr>
          <a:xfrm>
            <a:off x="4724400" y="5267325"/>
            <a:ext cx="152400" cy="152400"/>
          </a:xfrm>
          <a:prstGeom prst="ellipse">
            <a:avLst/>
          </a:prstGeom>
          <a:solidFill>
            <a:srgbClr val="FFFFFF"/>
          </a:solidFill>
          <a:ln w="13335">
            <a:solidFill>
              <a:srgbClr val="8A959C"/>
            </a:solidFill>
          </a:ln>
        </p:spPr>
        <p:txBody>
          <a:bodyPr/>
          <a:lstStyle/>
          <a:p>
            <a:endParaRPr lang="en-US"/>
          </a:p>
        </p:txBody>
      </p:sp>
      <p:sp>
        <p:nvSpPr>
          <p:cNvPr id="54" name="Teaching-224">
            <a:extLst>
              <a:ext uri="{FF2B5EF4-FFF2-40B4-BE49-F238E27FC236}">
                <a16:creationId xmlns:a16="http://schemas.microsoft.com/office/drawing/2014/main" id="{6D36F066-BDAF-437A-97E7-415EA1FDA125}"/>
              </a:ext>
            </a:extLst>
          </p:cNvPr>
          <p:cNvSpPr>
            <a:spLocks noGrp="1"/>
          </p:cNvSpPr>
          <p:nvPr/>
        </p:nvSpPr>
        <p:spPr>
          <a:xfrm>
            <a:off x="6667500" y="3181350"/>
            <a:ext cx="1381125" cy="1123950"/>
          </a:xfrm>
          <a:prstGeom prst="rect">
            <a:avLst/>
          </a:prstGeom>
          <a:solidFill>
            <a:srgbClr val="FFFFFF"/>
          </a:solidFill>
          <a:ln w="9525">
            <a:solidFill>
              <a:srgbClr val="8A959C"/>
            </a:solidFill>
          </a:ln>
        </p:spPr>
        <p:txBody>
          <a:bodyPr/>
          <a:lstStyle/>
          <a:p>
            <a:endParaRPr lang="en-US"/>
          </a:p>
        </p:txBody>
      </p:sp>
      <p:sp>
        <p:nvSpPr>
          <p:cNvPr id="55" name="Teaching-225">
            <a:extLst>
              <a:ext uri="{FF2B5EF4-FFF2-40B4-BE49-F238E27FC236}">
                <a16:creationId xmlns:a16="http://schemas.microsoft.com/office/drawing/2014/main" id="{C6EB2F5D-D2B9-4FFB-8BCE-FDD39CA7284A}"/>
              </a:ext>
            </a:extLst>
          </p:cNvPr>
          <p:cNvSpPr>
            <a:spLocks noGrp="1"/>
          </p:cNvSpPr>
          <p:nvPr/>
        </p:nvSpPr>
        <p:spPr>
          <a:xfrm>
            <a:off x="6715125" y="3248025"/>
            <a:ext cx="1285875" cy="257175"/>
          </a:xfrm>
          <a:prstGeom prst="rect">
            <a:avLst/>
          </a:prstGeom>
          <a:noFill/>
          <a:ln w="0">
            <a:noFill/>
          </a:ln>
        </p:spPr>
        <p:txBody>
          <a:bodyPr wrap="square" lIns="0" tIns="0" rIns="0" bIns="0" anchor="t">
            <a:noAutofit/>
          </a:bodyPr>
          <a:lstStyle/>
          <a:p>
            <a:pPr algn="ctr">
              <a:defRPr sz="1725" b="1">
                <a:solidFill>
                  <a:srgbClr val="111111"/>
                </a:solidFill>
                <a:latin typeface="Aptos"/>
                <a:ea typeface="Aptos"/>
                <a:cs typeface="Aptos"/>
              </a:defRPr>
            </a:pPr>
            <a:r>
              <a:t>Class 1</a:t>
            </a:r>
          </a:p>
        </p:txBody>
      </p:sp>
      <p:sp>
        <p:nvSpPr>
          <p:cNvPr id="56" name="Teaching-226">
            <a:extLst>
              <a:ext uri="{FF2B5EF4-FFF2-40B4-BE49-F238E27FC236}">
                <a16:creationId xmlns:a16="http://schemas.microsoft.com/office/drawing/2014/main" id="{7C334BE6-61A7-48F0-89B8-2C7CB1DE5388}"/>
              </a:ext>
            </a:extLst>
          </p:cNvPr>
          <p:cNvSpPr>
            <a:spLocks noGrp="1"/>
          </p:cNvSpPr>
          <p:nvPr/>
        </p:nvSpPr>
        <p:spPr>
          <a:xfrm>
            <a:off x="6924675" y="3667125"/>
            <a:ext cx="152400" cy="152400"/>
          </a:xfrm>
          <a:prstGeom prst="ellipse">
            <a:avLst/>
          </a:prstGeom>
          <a:solidFill>
            <a:srgbClr val="FFFFFF"/>
          </a:solidFill>
          <a:ln w="13335">
            <a:solidFill>
              <a:srgbClr val="8A959C"/>
            </a:solidFill>
          </a:ln>
        </p:spPr>
        <p:txBody>
          <a:bodyPr/>
          <a:lstStyle/>
          <a:p>
            <a:endParaRPr lang="en-US"/>
          </a:p>
        </p:txBody>
      </p:sp>
      <p:sp>
        <p:nvSpPr>
          <p:cNvPr id="57" name="Teaching-227">
            <a:extLst>
              <a:ext uri="{FF2B5EF4-FFF2-40B4-BE49-F238E27FC236}">
                <a16:creationId xmlns:a16="http://schemas.microsoft.com/office/drawing/2014/main" id="{52B9CC1A-A972-4A05-B7E1-63B4A706FEEA}"/>
              </a:ext>
            </a:extLst>
          </p:cNvPr>
          <p:cNvSpPr>
            <a:spLocks noGrp="1"/>
          </p:cNvSpPr>
          <p:nvPr/>
        </p:nvSpPr>
        <p:spPr>
          <a:xfrm>
            <a:off x="7277100" y="3667125"/>
            <a:ext cx="152400" cy="152400"/>
          </a:xfrm>
          <a:prstGeom prst="ellipse">
            <a:avLst/>
          </a:prstGeom>
          <a:solidFill>
            <a:srgbClr val="FFFFFF"/>
          </a:solidFill>
          <a:ln w="13335">
            <a:solidFill>
              <a:srgbClr val="8A959C"/>
            </a:solidFill>
          </a:ln>
        </p:spPr>
        <p:txBody>
          <a:bodyPr/>
          <a:lstStyle/>
          <a:p>
            <a:endParaRPr lang="en-US"/>
          </a:p>
        </p:txBody>
      </p:sp>
      <p:sp>
        <p:nvSpPr>
          <p:cNvPr id="58" name="Teaching-228">
            <a:extLst>
              <a:ext uri="{FF2B5EF4-FFF2-40B4-BE49-F238E27FC236}">
                <a16:creationId xmlns:a16="http://schemas.microsoft.com/office/drawing/2014/main" id="{DDB0AE0F-04F5-4671-869A-EB623F231EFB}"/>
              </a:ext>
            </a:extLst>
          </p:cNvPr>
          <p:cNvSpPr>
            <a:spLocks noGrp="1"/>
          </p:cNvSpPr>
          <p:nvPr/>
        </p:nvSpPr>
        <p:spPr>
          <a:xfrm>
            <a:off x="7629525" y="3667125"/>
            <a:ext cx="152400" cy="152400"/>
          </a:xfrm>
          <a:prstGeom prst="ellipse">
            <a:avLst/>
          </a:prstGeom>
          <a:solidFill>
            <a:srgbClr val="FFFFFF"/>
          </a:solidFill>
          <a:ln w="13335">
            <a:solidFill>
              <a:srgbClr val="8A959C"/>
            </a:solidFill>
          </a:ln>
        </p:spPr>
        <p:txBody>
          <a:bodyPr/>
          <a:lstStyle/>
          <a:p>
            <a:endParaRPr lang="en-US"/>
          </a:p>
        </p:txBody>
      </p:sp>
      <p:sp>
        <p:nvSpPr>
          <p:cNvPr id="59" name="Teaching-229">
            <a:extLst>
              <a:ext uri="{FF2B5EF4-FFF2-40B4-BE49-F238E27FC236}">
                <a16:creationId xmlns:a16="http://schemas.microsoft.com/office/drawing/2014/main" id="{0ADECA92-CEAC-480B-ACF1-E254E6E14BD6}"/>
              </a:ext>
            </a:extLst>
          </p:cNvPr>
          <p:cNvSpPr>
            <a:spLocks noGrp="1"/>
          </p:cNvSpPr>
          <p:nvPr/>
        </p:nvSpPr>
        <p:spPr>
          <a:xfrm>
            <a:off x="6924675" y="3971925"/>
            <a:ext cx="152400" cy="152400"/>
          </a:xfrm>
          <a:prstGeom prst="ellipse">
            <a:avLst/>
          </a:prstGeom>
          <a:solidFill>
            <a:srgbClr val="FFFFFF"/>
          </a:solidFill>
          <a:ln w="13335">
            <a:solidFill>
              <a:srgbClr val="8A959C"/>
            </a:solidFill>
          </a:ln>
        </p:spPr>
        <p:txBody>
          <a:bodyPr/>
          <a:lstStyle/>
          <a:p>
            <a:endParaRPr lang="en-US"/>
          </a:p>
        </p:txBody>
      </p:sp>
      <p:sp>
        <p:nvSpPr>
          <p:cNvPr id="60" name="Teaching-230">
            <a:extLst>
              <a:ext uri="{FF2B5EF4-FFF2-40B4-BE49-F238E27FC236}">
                <a16:creationId xmlns:a16="http://schemas.microsoft.com/office/drawing/2014/main" id="{1931070D-E34E-423D-9CEF-5F4BF4864386}"/>
              </a:ext>
            </a:extLst>
          </p:cNvPr>
          <p:cNvSpPr>
            <a:spLocks noGrp="1"/>
          </p:cNvSpPr>
          <p:nvPr/>
        </p:nvSpPr>
        <p:spPr>
          <a:xfrm>
            <a:off x="7277100" y="3971925"/>
            <a:ext cx="152400" cy="152400"/>
          </a:xfrm>
          <a:prstGeom prst="ellipse">
            <a:avLst/>
          </a:prstGeom>
          <a:solidFill>
            <a:srgbClr val="FFFFFF"/>
          </a:solidFill>
          <a:ln w="13335">
            <a:solidFill>
              <a:srgbClr val="8A959C"/>
            </a:solidFill>
          </a:ln>
        </p:spPr>
        <p:txBody>
          <a:bodyPr/>
          <a:lstStyle/>
          <a:p>
            <a:endParaRPr lang="en-US"/>
          </a:p>
        </p:txBody>
      </p:sp>
      <p:sp>
        <p:nvSpPr>
          <p:cNvPr id="61" name="Teaching-231">
            <a:extLst>
              <a:ext uri="{FF2B5EF4-FFF2-40B4-BE49-F238E27FC236}">
                <a16:creationId xmlns:a16="http://schemas.microsoft.com/office/drawing/2014/main" id="{4CD68B35-E57A-44DC-A216-8D7DDE5B5D9B}"/>
              </a:ext>
            </a:extLst>
          </p:cNvPr>
          <p:cNvSpPr>
            <a:spLocks noGrp="1"/>
          </p:cNvSpPr>
          <p:nvPr/>
        </p:nvSpPr>
        <p:spPr>
          <a:xfrm>
            <a:off x="7629525" y="3971925"/>
            <a:ext cx="152400" cy="152400"/>
          </a:xfrm>
          <a:prstGeom prst="ellipse">
            <a:avLst/>
          </a:prstGeom>
          <a:solidFill>
            <a:srgbClr val="FFFFFF"/>
          </a:solidFill>
          <a:ln w="13335">
            <a:solidFill>
              <a:srgbClr val="8A959C"/>
            </a:solidFill>
          </a:ln>
        </p:spPr>
        <p:txBody>
          <a:bodyPr/>
          <a:lstStyle/>
          <a:p>
            <a:endParaRPr lang="en-US"/>
          </a:p>
        </p:txBody>
      </p:sp>
      <p:sp>
        <p:nvSpPr>
          <p:cNvPr id="62" name="Teaching-232">
            <a:extLst>
              <a:ext uri="{FF2B5EF4-FFF2-40B4-BE49-F238E27FC236}">
                <a16:creationId xmlns:a16="http://schemas.microsoft.com/office/drawing/2014/main" id="{4EA94DEE-19F7-4AEB-9653-C906B5AB6B9E}"/>
              </a:ext>
            </a:extLst>
          </p:cNvPr>
          <p:cNvSpPr>
            <a:spLocks noGrp="1"/>
          </p:cNvSpPr>
          <p:nvPr/>
        </p:nvSpPr>
        <p:spPr>
          <a:xfrm>
            <a:off x="8239125" y="3181350"/>
            <a:ext cx="1381125" cy="1123950"/>
          </a:xfrm>
          <a:prstGeom prst="rect">
            <a:avLst/>
          </a:prstGeom>
          <a:solidFill>
            <a:srgbClr val="EFF7FD"/>
          </a:solidFill>
          <a:ln w="28575">
            <a:solidFill>
              <a:srgbClr val="244E6A"/>
            </a:solidFill>
          </a:ln>
        </p:spPr>
        <p:txBody>
          <a:bodyPr/>
          <a:lstStyle/>
          <a:p>
            <a:endParaRPr lang="en-US"/>
          </a:p>
        </p:txBody>
      </p:sp>
      <p:sp>
        <p:nvSpPr>
          <p:cNvPr id="63" name="Teaching-233">
            <a:extLst>
              <a:ext uri="{FF2B5EF4-FFF2-40B4-BE49-F238E27FC236}">
                <a16:creationId xmlns:a16="http://schemas.microsoft.com/office/drawing/2014/main" id="{9B1BE1E0-2081-4C48-B49F-4EA87657F04A}"/>
              </a:ext>
            </a:extLst>
          </p:cNvPr>
          <p:cNvSpPr>
            <a:spLocks noGrp="1"/>
          </p:cNvSpPr>
          <p:nvPr/>
        </p:nvSpPr>
        <p:spPr>
          <a:xfrm>
            <a:off x="8286750" y="3248025"/>
            <a:ext cx="1285875" cy="257175"/>
          </a:xfrm>
          <a:prstGeom prst="rect">
            <a:avLst/>
          </a:prstGeom>
          <a:noFill/>
          <a:ln w="0">
            <a:noFill/>
          </a:ln>
        </p:spPr>
        <p:txBody>
          <a:bodyPr wrap="square" lIns="0" tIns="0" rIns="0" bIns="0" anchor="t">
            <a:noAutofit/>
          </a:bodyPr>
          <a:lstStyle/>
          <a:p>
            <a:pPr algn="ctr">
              <a:defRPr sz="1725" b="1">
                <a:solidFill>
                  <a:srgbClr val="111111"/>
                </a:solidFill>
                <a:latin typeface="Aptos"/>
                <a:ea typeface="Aptos"/>
                <a:cs typeface="Aptos"/>
              </a:defRPr>
            </a:pPr>
            <a:r>
              <a:t>Class 2</a:t>
            </a:r>
          </a:p>
        </p:txBody>
      </p:sp>
      <p:sp>
        <p:nvSpPr>
          <p:cNvPr id="64" name="Teaching-234">
            <a:extLst>
              <a:ext uri="{FF2B5EF4-FFF2-40B4-BE49-F238E27FC236}">
                <a16:creationId xmlns:a16="http://schemas.microsoft.com/office/drawing/2014/main" id="{59D1BBB9-EAFE-421A-ABCB-F4B04CB6E364}"/>
              </a:ext>
            </a:extLst>
          </p:cNvPr>
          <p:cNvSpPr>
            <a:spLocks noGrp="1"/>
          </p:cNvSpPr>
          <p:nvPr/>
        </p:nvSpPr>
        <p:spPr>
          <a:xfrm>
            <a:off x="8496300" y="3667125"/>
            <a:ext cx="152400" cy="152400"/>
          </a:xfrm>
          <a:prstGeom prst="ellipse">
            <a:avLst/>
          </a:prstGeom>
          <a:solidFill>
            <a:srgbClr val="244E6A"/>
          </a:solidFill>
          <a:ln w="13335">
            <a:solidFill>
              <a:srgbClr val="244E6A"/>
            </a:solidFill>
          </a:ln>
        </p:spPr>
        <p:txBody>
          <a:bodyPr/>
          <a:lstStyle/>
          <a:p>
            <a:endParaRPr lang="en-US"/>
          </a:p>
        </p:txBody>
      </p:sp>
      <p:sp>
        <p:nvSpPr>
          <p:cNvPr id="65" name="Teaching-235">
            <a:extLst>
              <a:ext uri="{FF2B5EF4-FFF2-40B4-BE49-F238E27FC236}">
                <a16:creationId xmlns:a16="http://schemas.microsoft.com/office/drawing/2014/main" id="{F240F71A-D6F0-4D9D-9BCB-9F152A5E0CD5}"/>
              </a:ext>
            </a:extLst>
          </p:cNvPr>
          <p:cNvSpPr>
            <a:spLocks noGrp="1"/>
          </p:cNvSpPr>
          <p:nvPr/>
        </p:nvSpPr>
        <p:spPr>
          <a:xfrm>
            <a:off x="8848725" y="3667125"/>
            <a:ext cx="152400" cy="152400"/>
          </a:xfrm>
          <a:prstGeom prst="ellipse">
            <a:avLst/>
          </a:prstGeom>
          <a:solidFill>
            <a:srgbClr val="244E6A"/>
          </a:solidFill>
          <a:ln w="13335">
            <a:solidFill>
              <a:srgbClr val="244E6A"/>
            </a:solidFill>
          </a:ln>
        </p:spPr>
        <p:txBody>
          <a:bodyPr/>
          <a:lstStyle/>
          <a:p>
            <a:endParaRPr lang="en-US"/>
          </a:p>
        </p:txBody>
      </p:sp>
      <p:sp>
        <p:nvSpPr>
          <p:cNvPr id="66" name="Teaching-236">
            <a:extLst>
              <a:ext uri="{FF2B5EF4-FFF2-40B4-BE49-F238E27FC236}">
                <a16:creationId xmlns:a16="http://schemas.microsoft.com/office/drawing/2014/main" id="{E1190895-3AF2-4A37-826B-EE78B0F5750F}"/>
              </a:ext>
            </a:extLst>
          </p:cNvPr>
          <p:cNvSpPr>
            <a:spLocks noGrp="1"/>
          </p:cNvSpPr>
          <p:nvPr/>
        </p:nvSpPr>
        <p:spPr>
          <a:xfrm>
            <a:off x="9201150" y="3667125"/>
            <a:ext cx="152400" cy="152400"/>
          </a:xfrm>
          <a:prstGeom prst="ellipse">
            <a:avLst/>
          </a:prstGeom>
          <a:solidFill>
            <a:srgbClr val="244E6A"/>
          </a:solidFill>
          <a:ln w="13335">
            <a:solidFill>
              <a:srgbClr val="244E6A"/>
            </a:solidFill>
          </a:ln>
        </p:spPr>
        <p:txBody>
          <a:bodyPr/>
          <a:lstStyle/>
          <a:p>
            <a:endParaRPr lang="en-US"/>
          </a:p>
        </p:txBody>
      </p:sp>
      <p:sp>
        <p:nvSpPr>
          <p:cNvPr id="67" name="Teaching-237">
            <a:extLst>
              <a:ext uri="{FF2B5EF4-FFF2-40B4-BE49-F238E27FC236}">
                <a16:creationId xmlns:a16="http://schemas.microsoft.com/office/drawing/2014/main" id="{4980DC94-BE2D-433C-BC60-790B1528B608}"/>
              </a:ext>
            </a:extLst>
          </p:cNvPr>
          <p:cNvSpPr>
            <a:spLocks noGrp="1"/>
          </p:cNvSpPr>
          <p:nvPr/>
        </p:nvSpPr>
        <p:spPr>
          <a:xfrm>
            <a:off x="8496300" y="3971925"/>
            <a:ext cx="152400" cy="152400"/>
          </a:xfrm>
          <a:prstGeom prst="ellipse">
            <a:avLst/>
          </a:prstGeom>
          <a:solidFill>
            <a:srgbClr val="244E6A"/>
          </a:solidFill>
          <a:ln w="13335">
            <a:solidFill>
              <a:srgbClr val="244E6A"/>
            </a:solidFill>
          </a:ln>
        </p:spPr>
        <p:txBody>
          <a:bodyPr/>
          <a:lstStyle/>
          <a:p>
            <a:endParaRPr lang="en-US"/>
          </a:p>
        </p:txBody>
      </p:sp>
      <p:sp>
        <p:nvSpPr>
          <p:cNvPr id="68" name="Teaching-238">
            <a:extLst>
              <a:ext uri="{FF2B5EF4-FFF2-40B4-BE49-F238E27FC236}">
                <a16:creationId xmlns:a16="http://schemas.microsoft.com/office/drawing/2014/main" id="{C013D045-F797-4663-B5E4-FACA5F9CEAAF}"/>
              </a:ext>
            </a:extLst>
          </p:cNvPr>
          <p:cNvSpPr>
            <a:spLocks noGrp="1"/>
          </p:cNvSpPr>
          <p:nvPr/>
        </p:nvSpPr>
        <p:spPr>
          <a:xfrm>
            <a:off x="8848725" y="3971925"/>
            <a:ext cx="152400" cy="152400"/>
          </a:xfrm>
          <a:prstGeom prst="ellipse">
            <a:avLst/>
          </a:prstGeom>
          <a:solidFill>
            <a:srgbClr val="244E6A"/>
          </a:solidFill>
          <a:ln w="13335">
            <a:solidFill>
              <a:srgbClr val="244E6A"/>
            </a:solidFill>
          </a:ln>
        </p:spPr>
        <p:txBody>
          <a:bodyPr/>
          <a:lstStyle/>
          <a:p>
            <a:endParaRPr lang="en-US"/>
          </a:p>
        </p:txBody>
      </p:sp>
      <p:sp>
        <p:nvSpPr>
          <p:cNvPr id="69" name="Teaching-239">
            <a:extLst>
              <a:ext uri="{FF2B5EF4-FFF2-40B4-BE49-F238E27FC236}">
                <a16:creationId xmlns:a16="http://schemas.microsoft.com/office/drawing/2014/main" id="{709A8B24-7B94-4CA9-87C2-CED07E3BBBF8}"/>
              </a:ext>
            </a:extLst>
          </p:cNvPr>
          <p:cNvSpPr>
            <a:spLocks noGrp="1"/>
          </p:cNvSpPr>
          <p:nvPr/>
        </p:nvSpPr>
        <p:spPr>
          <a:xfrm>
            <a:off x="9201150" y="3971925"/>
            <a:ext cx="152400" cy="152400"/>
          </a:xfrm>
          <a:prstGeom prst="ellipse">
            <a:avLst/>
          </a:prstGeom>
          <a:solidFill>
            <a:srgbClr val="244E6A"/>
          </a:solidFill>
          <a:ln w="13335">
            <a:solidFill>
              <a:srgbClr val="244E6A"/>
            </a:solidFill>
          </a:ln>
        </p:spPr>
        <p:txBody>
          <a:bodyPr/>
          <a:lstStyle/>
          <a:p>
            <a:endParaRPr lang="en-US"/>
          </a:p>
        </p:txBody>
      </p:sp>
      <p:sp>
        <p:nvSpPr>
          <p:cNvPr id="70" name="Teaching-240">
            <a:extLst>
              <a:ext uri="{FF2B5EF4-FFF2-40B4-BE49-F238E27FC236}">
                <a16:creationId xmlns:a16="http://schemas.microsoft.com/office/drawing/2014/main" id="{8C6C99EA-B354-45F7-9F5B-BC255022E445}"/>
              </a:ext>
            </a:extLst>
          </p:cNvPr>
          <p:cNvSpPr>
            <a:spLocks noGrp="1"/>
          </p:cNvSpPr>
          <p:nvPr/>
        </p:nvSpPr>
        <p:spPr>
          <a:xfrm>
            <a:off x="9810750" y="3181350"/>
            <a:ext cx="1381125" cy="1123950"/>
          </a:xfrm>
          <a:prstGeom prst="rect">
            <a:avLst/>
          </a:prstGeom>
          <a:solidFill>
            <a:srgbClr val="FFFFFF"/>
          </a:solidFill>
          <a:ln w="9525">
            <a:solidFill>
              <a:srgbClr val="8A959C"/>
            </a:solidFill>
          </a:ln>
        </p:spPr>
        <p:txBody>
          <a:bodyPr/>
          <a:lstStyle/>
          <a:p>
            <a:endParaRPr lang="en-US"/>
          </a:p>
        </p:txBody>
      </p:sp>
      <p:sp>
        <p:nvSpPr>
          <p:cNvPr id="71" name="Teaching-241">
            <a:extLst>
              <a:ext uri="{FF2B5EF4-FFF2-40B4-BE49-F238E27FC236}">
                <a16:creationId xmlns:a16="http://schemas.microsoft.com/office/drawing/2014/main" id="{B204118C-2837-480A-88EF-EC7E1B202DA7}"/>
              </a:ext>
            </a:extLst>
          </p:cNvPr>
          <p:cNvSpPr>
            <a:spLocks noGrp="1"/>
          </p:cNvSpPr>
          <p:nvPr/>
        </p:nvSpPr>
        <p:spPr>
          <a:xfrm>
            <a:off x="9858375" y="3248025"/>
            <a:ext cx="1285875" cy="257175"/>
          </a:xfrm>
          <a:prstGeom prst="rect">
            <a:avLst/>
          </a:prstGeom>
          <a:noFill/>
          <a:ln w="0">
            <a:noFill/>
          </a:ln>
        </p:spPr>
        <p:txBody>
          <a:bodyPr wrap="square" lIns="0" tIns="0" rIns="0" bIns="0" anchor="t">
            <a:noAutofit/>
          </a:bodyPr>
          <a:lstStyle/>
          <a:p>
            <a:pPr algn="ctr">
              <a:defRPr sz="1725" b="1">
                <a:solidFill>
                  <a:srgbClr val="111111"/>
                </a:solidFill>
                <a:latin typeface="Aptos"/>
                <a:ea typeface="Aptos"/>
                <a:cs typeface="Aptos"/>
              </a:defRPr>
            </a:pPr>
            <a:r>
              <a:t>Class 3</a:t>
            </a:r>
          </a:p>
        </p:txBody>
      </p:sp>
      <p:sp>
        <p:nvSpPr>
          <p:cNvPr id="72" name="Teaching-242">
            <a:extLst>
              <a:ext uri="{FF2B5EF4-FFF2-40B4-BE49-F238E27FC236}">
                <a16:creationId xmlns:a16="http://schemas.microsoft.com/office/drawing/2014/main" id="{0766D498-76DF-45AC-894C-C849274266BE}"/>
              </a:ext>
            </a:extLst>
          </p:cNvPr>
          <p:cNvSpPr>
            <a:spLocks noGrp="1"/>
          </p:cNvSpPr>
          <p:nvPr/>
        </p:nvSpPr>
        <p:spPr>
          <a:xfrm>
            <a:off x="10067925" y="3667125"/>
            <a:ext cx="152400" cy="152400"/>
          </a:xfrm>
          <a:prstGeom prst="ellipse">
            <a:avLst/>
          </a:prstGeom>
          <a:solidFill>
            <a:srgbClr val="FFFFFF"/>
          </a:solidFill>
          <a:ln w="13335">
            <a:solidFill>
              <a:srgbClr val="8A959C"/>
            </a:solidFill>
          </a:ln>
        </p:spPr>
        <p:txBody>
          <a:bodyPr/>
          <a:lstStyle/>
          <a:p>
            <a:endParaRPr lang="en-US"/>
          </a:p>
        </p:txBody>
      </p:sp>
      <p:sp>
        <p:nvSpPr>
          <p:cNvPr id="73" name="Teaching-243">
            <a:extLst>
              <a:ext uri="{FF2B5EF4-FFF2-40B4-BE49-F238E27FC236}">
                <a16:creationId xmlns:a16="http://schemas.microsoft.com/office/drawing/2014/main" id="{FF56FC33-96A7-479B-8D78-443E87FDB536}"/>
              </a:ext>
            </a:extLst>
          </p:cNvPr>
          <p:cNvSpPr>
            <a:spLocks noGrp="1"/>
          </p:cNvSpPr>
          <p:nvPr/>
        </p:nvSpPr>
        <p:spPr>
          <a:xfrm>
            <a:off x="10420350" y="3667125"/>
            <a:ext cx="152400" cy="152400"/>
          </a:xfrm>
          <a:prstGeom prst="ellipse">
            <a:avLst/>
          </a:prstGeom>
          <a:solidFill>
            <a:srgbClr val="FFFFFF"/>
          </a:solidFill>
          <a:ln w="13335">
            <a:solidFill>
              <a:srgbClr val="8A959C"/>
            </a:solidFill>
          </a:ln>
        </p:spPr>
        <p:txBody>
          <a:bodyPr/>
          <a:lstStyle/>
          <a:p>
            <a:endParaRPr lang="en-US"/>
          </a:p>
        </p:txBody>
      </p:sp>
      <p:sp>
        <p:nvSpPr>
          <p:cNvPr id="74" name="Teaching-244">
            <a:extLst>
              <a:ext uri="{FF2B5EF4-FFF2-40B4-BE49-F238E27FC236}">
                <a16:creationId xmlns:a16="http://schemas.microsoft.com/office/drawing/2014/main" id="{B53FF7E1-C0EC-4C24-A7FD-F45CDFBBC916}"/>
              </a:ext>
            </a:extLst>
          </p:cNvPr>
          <p:cNvSpPr>
            <a:spLocks noGrp="1"/>
          </p:cNvSpPr>
          <p:nvPr/>
        </p:nvSpPr>
        <p:spPr>
          <a:xfrm>
            <a:off x="10772775" y="3667125"/>
            <a:ext cx="152400" cy="152400"/>
          </a:xfrm>
          <a:prstGeom prst="ellipse">
            <a:avLst/>
          </a:prstGeom>
          <a:solidFill>
            <a:srgbClr val="FFFFFF"/>
          </a:solidFill>
          <a:ln w="13335">
            <a:solidFill>
              <a:srgbClr val="8A959C"/>
            </a:solidFill>
          </a:ln>
        </p:spPr>
        <p:txBody>
          <a:bodyPr/>
          <a:lstStyle/>
          <a:p>
            <a:endParaRPr lang="en-US"/>
          </a:p>
        </p:txBody>
      </p:sp>
      <p:sp>
        <p:nvSpPr>
          <p:cNvPr id="75" name="Teaching-245">
            <a:extLst>
              <a:ext uri="{FF2B5EF4-FFF2-40B4-BE49-F238E27FC236}">
                <a16:creationId xmlns:a16="http://schemas.microsoft.com/office/drawing/2014/main" id="{987DA07E-BEA8-47C1-91C4-D8931FD4B5C9}"/>
              </a:ext>
            </a:extLst>
          </p:cNvPr>
          <p:cNvSpPr>
            <a:spLocks noGrp="1"/>
          </p:cNvSpPr>
          <p:nvPr/>
        </p:nvSpPr>
        <p:spPr>
          <a:xfrm>
            <a:off x="10067925" y="3971925"/>
            <a:ext cx="152400" cy="152400"/>
          </a:xfrm>
          <a:prstGeom prst="ellipse">
            <a:avLst/>
          </a:prstGeom>
          <a:solidFill>
            <a:srgbClr val="FFFFFF"/>
          </a:solidFill>
          <a:ln w="13335">
            <a:solidFill>
              <a:srgbClr val="8A959C"/>
            </a:solidFill>
          </a:ln>
        </p:spPr>
        <p:txBody>
          <a:bodyPr/>
          <a:lstStyle/>
          <a:p>
            <a:endParaRPr lang="en-US"/>
          </a:p>
        </p:txBody>
      </p:sp>
      <p:sp>
        <p:nvSpPr>
          <p:cNvPr id="76" name="Teaching-246">
            <a:extLst>
              <a:ext uri="{FF2B5EF4-FFF2-40B4-BE49-F238E27FC236}">
                <a16:creationId xmlns:a16="http://schemas.microsoft.com/office/drawing/2014/main" id="{81E33DCA-F327-40FE-976E-35C8F92D1010}"/>
              </a:ext>
            </a:extLst>
          </p:cNvPr>
          <p:cNvSpPr>
            <a:spLocks noGrp="1"/>
          </p:cNvSpPr>
          <p:nvPr/>
        </p:nvSpPr>
        <p:spPr>
          <a:xfrm>
            <a:off x="10420350" y="3971925"/>
            <a:ext cx="152400" cy="152400"/>
          </a:xfrm>
          <a:prstGeom prst="ellipse">
            <a:avLst/>
          </a:prstGeom>
          <a:solidFill>
            <a:srgbClr val="FFFFFF"/>
          </a:solidFill>
          <a:ln w="13335">
            <a:solidFill>
              <a:srgbClr val="8A959C"/>
            </a:solidFill>
          </a:ln>
        </p:spPr>
        <p:txBody>
          <a:bodyPr/>
          <a:lstStyle/>
          <a:p>
            <a:endParaRPr lang="en-US"/>
          </a:p>
        </p:txBody>
      </p:sp>
      <p:sp>
        <p:nvSpPr>
          <p:cNvPr id="77" name="Teaching-247">
            <a:extLst>
              <a:ext uri="{FF2B5EF4-FFF2-40B4-BE49-F238E27FC236}">
                <a16:creationId xmlns:a16="http://schemas.microsoft.com/office/drawing/2014/main" id="{F20EC7CF-7770-4462-B295-86909773AED6}"/>
              </a:ext>
            </a:extLst>
          </p:cNvPr>
          <p:cNvSpPr>
            <a:spLocks noGrp="1"/>
          </p:cNvSpPr>
          <p:nvPr/>
        </p:nvSpPr>
        <p:spPr>
          <a:xfrm>
            <a:off x="10772775" y="3971925"/>
            <a:ext cx="152400" cy="152400"/>
          </a:xfrm>
          <a:prstGeom prst="ellipse">
            <a:avLst/>
          </a:prstGeom>
          <a:solidFill>
            <a:srgbClr val="FFFFFF"/>
          </a:solidFill>
          <a:ln w="13335">
            <a:solidFill>
              <a:srgbClr val="8A959C"/>
            </a:solidFill>
          </a:ln>
        </p:spPr>
        <p:txBody>
          <a:bodyPr/>
          <a:lstStyle/>
          <a:p>
            <a:endParaRPr lang="en-US"/>
          </a:p>
        </p:txBody>
      </p:sp>
      <p:sp>
        <p:nvSpPr>
          <p:cNvPr id="78" name="Teaching-248">
            <a:extLst>
              <a:ext uri="{FF2B5EF4-FFF2-40B4-BE49-F238E27FC236}">
                <a16:creationId xmlns:a16="http://schemas.microsoft.com/office/drawing/2014/main" id="{57445C1E-13FE-4997-91DF-C429A88C5D3B}"/>
              </a:ext>
            </a:extLst>
          </p:cNvPr>
          <p:cNvSpPr>
            <a:spLocks noGrp="1"/>
          </p:cNvSpPr>
          <p:nvPr/>
        </p:nvSpPr>
        <p:spPr>
          <a:xfrm>
            <a:off x="6667500" y="4476750"/>
            <a:ext cx="1381125" cy="1123950"/>
          </a:xfrm>
          <a:prstGeom prst="rect">
            <a:avLst/>
          </a:prstGeom>
          <a:solidFill>
            <a:srgbClr val="FFFFFF"/>
          </a:solidFill>
          <a:ln w="9525">
            <a:solidFill>
              <a:srgbClr val="8A959C"/>
            </a:solidFill>
          </a:ln>
        </p:spPr>
        <p:txBody>
          <a:bodyPr/>
          <a:lstStyle/>
          <a:p>
            <a:endParaRPr lang="en-US"/>
          </a:p>
        </p:txBody>
      </p:sp>
      <p:sp>
        <p:nvSpPr>
          <p:cNvPr id="79" name="Teaching-249">
            <a:extLst>
              <a:ext uri="{FF2B5EF4-FFF2-40B4-BE49-F238E27FC236}">
                <a16:creationId xmlns:a16="http://schemas.microsoft.com/office/drawing/2014/main" id="{90DD237E-B916-40F7-952C-067A18F0F9D4}"/>
              </a:ext>
            </a:extLst>
          </p:cNvPr>
          <p:cNvSpPr>
            <a:spLocks noGrp="1"/>
          </p:cNvSpPr>
          <p:nvPr/>
        </p:nvSpPr>
        <p:spPr>
          <a:xfrm>
            <a:off x="6715125" y="4543425"/>
            <a:ext cx="1285875" cy="257175"/>
          </a:xfrm>
          <a:prstGeom prst="rect">
            <a:avLst/>
          </a:prstGeom>
          <a:noFill/>
          <a:ln w="0">
            <a:noFill/>
          </a:ln>
        </p:spPr>
        <p:txBody>
          <a:bodyPr wrap="square" lIns="0" tIns="0" rIns="0" bIns="0" anchor="t">
            <a:noAutofit/>
          </a:bodyPr>
          <a:lstStyle/>
          <a:p>
            <a:pPr algn="ctr">
              <a:defRPr sz="1725" b="1">
                <a:solidFill>
                  <a:srgbClr val="111111"/>
                </a:solidFill>
                <a:latin typeface="Aptos"/>
                <a:ea typeface="Aptos"/>
                <a:cs typeface="Aptos"/>
              </a:defRPr>
            </a:pPr>
            <a:r>
              <a:t>Class 4</a:t>
            </a:r>
          </a:p>
        </p:txBody>
      </p:sp>
      <p:sp>
        <p:nvSpPr>
          <p:cNvPr id="80" name="Teaching-250">
            <a:extLst>
              <a:ext uri="{FF2B5EF4-FFF2-40B4-BE49-F238E27FC236}">
                <a16:creationId xmlns:a16="http://schemas.microsoft.com/office/drawing/2014/main" id="{813C0B2B-A27F-40AD-9D45-53FEBE62F6EA}"/>
              </a:ext>
            </a:extLst>
          </p:cNvPr>
          <p:cNvSpPr>
            <a:spLocks noGrp="1"/>
          </p:cNvSpPr>
          <p:nvPr/>
        </p:nvSpPr>
        <p:spPr>
          <a:xfrm>
            <a:off x="6924675" y="4962525"/>
            <a:ext cx="152400" cy="152400"/>
          </a:xfrm>
          <a:prstGeom prst="ellipse">
            <a:avLst/>
          </a:prstGeom>
          <a:solidFill>
            <a:srgbClr val="FFFFFF"/>
          </a:solidFill>
          <a:ln w="13335">
            <a:solidFill>
              <a:srgbClr val="8A959C"/>
            </a:solidFill>
          </a:ln>
        </p:spPr>
        <p:txBody>
          <a:bodyPr/>
          <a:lstStyle/>
          <a:p>
            <a:endParaRPr lang="en-US"/>
          </a:p>
        </p:txBody>
      </p:sp>
      <p:sp>
        <p:nvSpPr>
          <p:cNvPr id="81" name="Teaching-251">
            <a:extLst>
              <a:ext uri="{FF2B5EF4-FFF2-40B4-BE49-F238E27FC236}">
                <a16:creationId xmlns:a16="http://schemas.microsoft.com/office/drawing/2014/main" id="{34DE488E-6AF4-4B80-B837-A2E011826746}"/>
              </a:ext>
            </a:extLst>
          </p:cNvPr>
          <p:cNvSpPr>
            <a:spLocks noGrp="1"/>
          </p:cNvSpPr>
          <p:nvPr/>
        </p:nvSpPr>
        <p:spPr>
          <a:xfrm>
            <a:off x="7277100" y="4962525"/>
            <a:ext cx="152400" cy="152400"/>
          </a:xfrm>
          <a:prstGeom prst="ellipse">
            <a:avLst/>
          </a:prstGeom>
          <a:solidFill>
            <a:srgbClr val="FFFFFF"/>
          </a:solidFill>
          <a:ln w="13335">
            <a:solidFill>
              <a:srgbClr val="8A959C"/>
            </a:solidFill>
          </a:ln>
        </p:spPr>
        <p:txBody>
          <a:bodyPr/>
          <a:lstStyle/>
          <a:p>
            <a:endParaRPr lang="en-US"/>
          </a:p>
        </p:txBody>
      </p:sp>
      <p:sp>
        <p:nvSpPr>
          <p:cNvPr id="82" name="Teaching-252">
            <a:extLst>
              <a:ext uri="{FF2B5EF4-FFF2-40B4-BE49-F238E27FC236}">
                <a16:creationId xmlns:a16="http://schemas.microsoft.com/office/drawing/2014/main" id="{C4E9F90C-223A-44C1-BDFE-11C726D4080E}"/>
              </a:ext>
            </a:extLst>
          </p:cNvPr>
          <p:cNvSpPr>
            <a:spLocks noGrp="1"/>
          </p:cNvSpPr>
          <p:nvPr/>
        </p:nvSpPr>
        <p:spPr>
          <a:xfrm>
            <a:off x="7629525" y="4962525"/>
            <a:ext cx="152400" cy="152400"/>
          </a:xfrm>
          <a:prstGeom prst="ellipse">
            <a:avLst/>
          </a:prstGeom>
          <a:solidFill>
            <a:srgbClr val="FFFFFF"/>
          </a:solidFill>
          <a:ln w="13335">
            <a:solidFill>
              <a:srgbClr val="8A959C"/>
            </a:solidFill>
          </a:ln>
        </p:spPr>
        <p:txBody>
          <a:bodyPr/>
          <a:lstStyle/>
          <a:p>
            <a:endParaRPr lang="en-US"/>
          </a:p>
        </p:txBody>
      </p:sp>
      <p:sp>
        <p:nvSpPr>
          <p:cNvPr id="83" name="Teaching-253">
            <a:extLst>
              <a:ext uri="{FF2B5EF4-FFF2-40B4-BE49-F238E27FC236}">
                <a16:creationId xmlns:a16="http://schemas.microsoft.com/office/drawing/2014/main" id="{D83029FA-DB98-45E3-91C9-4A273098588B}"/>
              </a:ext>
            </a:extLst>
          </p:cNvPr>
          <p:cNvSpPr>
            <a:spLocks noGrp="1"/>
          </p:cNvSpPr>
          <p:nvPr/>
        </p:nvSpPr>
        <p:spPr>
          <a:xfrm>
            <a:off x="6924675" y="5267325"/>
            <a:ext cx="152400" cy="152400"/>
          </a:xfrm>
          <a:prstGeom prst="ellipse">
            <a:avLst/>
          </a:prstGeom>
          <a:solidFill>
            <a:srgbClr val="FFFFFF"/>
          </a:solidFill>
          <a:ln w="13335">
            <a:solidFill>
              <a:srgbClr val="8A959C"/>
            </a:solidFill>
          </a:ln>
        </p:spPr>
        <p:txBody>
          <a:bodyPr/>
          <a:lstStyle/>
          <a:p>
            <a:endParaRPr lang="en-US"/>
          </a:p>
        </p:txBody>
      </p:sp>
      <p:sp>
        <p:nvSpPr>
          <p:cNvPr id="84" name="Teaching-254">
            <a:extLst>
              <a:ext uri="{FF2B5EF4-FFF2-40B4-BE49-F238E27FC236}">
                <a16:creationId xmlns:a16="http://schemas.microsoft.com/office/drawing/2014/main" id="{65737ACF-BE92-464A-9FDB-7CC50008D2FA}"/>
              </a:ext>
            </a:extLst>
          </p:cNvPr>
          <p:cNvSpPr>
            <a:spLocks noGrp="1"/>
          </p:cNvSpPr>
          <p:nvPr/>
        </p:nvSpPr>
        <p:spPr>
          <a:xfrm>
            <a:off x="7277100" y="5267325"/>
            <a:ext cx="152400" cy="152400"/>
          </a:xfrm>
          <a:prstGeom prst="ellipse">
            <a:avLst/>
          </a:prstGeom>
          <a:solidFill>
            <a:srgbClr val="FFFFFF"/>
          </a:solidFill>
          <a:ln w="13335">
            <a:solidFill>
              <a:srgbClr val="8A959C"/>
            </a:solidFill>
          </a:ln>
        </p:spPr>
        <p:txBody>
          <a:bodyPr/>
          <a:lstStyle/>
          <a:p>
            <a:endParaRPr lang="en-US"/>
          </a:p>
        </p:txBody>
      </p:sp>
      <p:sp>
        <p:nvSpPr>
          <p:cNvPr id="85" name="Teaching-255">
            <a:extLst>
              <a:ext uri="{FF2B5EF4-FFF2-40B4-BE49-F238E27FC236}">
                <a16:creationId xmlns:a16="http://schemas.microsoft.com/office/drawing/2014/main" id="{4D1D0AE3-A6DB-41A5-B094-C63CBADFD7B9}"/>
              </a:ext>
            </a:extLst>
          </p:cNvPr>
          <p:cNvSpPr>
            <a:spLocks noGrp="1"/>
          </p:cNvSpPr>
          <p:nvPr/>
        </p:nvSpPr>
        <p:spPr>
          <a:xfrm>
            <a:off x="7629525" y="5267325"/>
            <a:ext cx="152400" cy="152400"/>
          </a:xfrm>
          <a:prstGeom prst="ellipse">
            <a:avLst/>
          </a:prstGeom>
          <a:solidFill>
            <a:srgbClr val="FFFFFF"/>
          </a:solidFill>
          <a:ln w="13335">
            <a:solidFill>
              <a:srgbClr val="8A959C"/>
            </a:solidFill>
          </a:ln>
        </p:spPr>
        <p:txBody>
          <a:bodyPr/>
          <a:lstStyle/>
          <a:p>
            <a:endParaRPr lang="en-US"/>
          </a:p>
        </p:txBody>
      </p:sp>
      <p:sp>
        <p:nvSpPr>
          <p:cNvPr id="86" name="Teaching-256">
            <a:extLst>
              <a:ext uri="{FF2B5EF4-FFF2-40B4-BE49-F238E27FC236}">
                <a16:creationId xmlns:a16="http://schemas.microsoft.com/office/drawing/2014/main" id="{528F8B2F-DC16-4AC8-ACDF-BB148E8952D7}"/>
              </a:ext>
            </a:extLst>
          </p:cNvPr>
          <p:cNvSpPr>
            <a:spLocks noGrp="1"/>
          </p:cNvSpPr>
          <p:nvPr/>
        </p:nvSpPr>
        <p:spPr>
          <a:xfrm>
            <a:off x="8239125" y="4476750"/>
            <a:ext cx="1381125" cy="1123950"/>
          </a:xfrm>
          <a:prstGeom prst="rect">
            <a:avLst/>
          </a:prstGeom>
          <a:solidFill>
            <a:srgbClr val="EFF7FD"/>
          </a:solidFill>
          <a:ln w="28575">
            <a:solidFill>
              <a:srgbClr val="244E6A"/>
            </a:solidFill>
          </a:ln>
        </p:spPr>
        <p:txBody>
          <a:bodyPr/>
          <a:lstStyle/>
          <a:p>
            <a:endParaRPr lang="en-US"/>
          </a:p>
        </p:txBody>
      </p:sp>
      <p:sp>
        <p:nvSpPr>
          <p:cNvPr id="87" name="Teaching-257">
            <a:extLst>
              <a:ext uri="{FF2B5EF4-FFF2-40B4-BE49-F238E27FC236}">
                <a16:creationId xmlns:a16="http://schemas.microsoft.com/office/drawing/2014/main" id="{7210A7B1-284D-4CB1-828B-A3308EDAC6F3}"/>
              </a:ext>
            </a:extLst>
          </p:cNvPr>
          <p:cNvSpPr>
            <a:spLocks noGrp="1"/>
          </p:cNvSpPr>
          <p:nvPr/>
        </p:nvSpPr>
        <p:spPr>
          <a:xfrm>
            <a:off x="8286750" y="4543425"/>
            <a:ext cx="1285875" cy="257175"/>
          </a:xfrm>
          <a:prstGeom prst="rect">
            <a:avLst/>
          </a:prstGeom>
          <a:noFill/>
          <a:ln w="0">
            <a:noFill/>
          </a:ln>
        </p:spPr>
        <p:txBody>
          <a:bodyPr wrap="square" lIns="0" tIns="0" rIns="0" bIns="0" anchor="t">
            <a:noAutofit/>
          </a:bodyPr>
          <a:lstStyle/>
          <a:p>
            <a:pPr algn="ctr">
              <a:defRPr sz="1725" b="1">
                <a:solidFill>
                  <a:srgbClr val="111111"/>
                </a:solidFill>
                <a:latin typeface="Aptos"/>
                <a:ea typeface="Aptos"/>
                <a:cs typeface="Aptos"/>
              </a:defRPr>
            </a:pPr>
            <a:r>
              <a:t>Class 5</a:t>
            </a:r>
          </a:p>
        </p:txBody>
      </p:sp>
      <p:sp>
        <p:nvSpPr>
          <p:cNvPr id="88" name="Teaching-258">
            <a:extLst>
              <a:ext uri="{FF2B5EF4-FFF2-40B4-BE49-F238E27FC236}">
                <a16:creationId xmlns:a16="http://schemas.microsoft.com/office/drawing/2014/main" id="{D82017F5-2DA0-4EE0-8263-2043B94D6B31}"/>
              </a:ext>
            </a:extLst>
          </p:cNvPr>
          <p:cNvSpPr>
            <a:spLocks noGrp="1"/>
          </p:cNvSpPr>
          <p:nvPr/>
        </p:nvSpPr>
        <p:spPr>
          <a:xfrm>
            <a:off x="8496300" y="4962525"/>
            <a:ext cx="152400" cy="152400"/>
          </a:xfrm>
          <a:prstGeom prst="ellipse">
            <a:avLst/>
          </a:prstGeom>
          <a:solidFill>
            <a:srgbClr val="244E6A"/>
          </a:solidFill>
          <a:ln w="13335">
            <a:solidFill>
              <a:srgbClr val="244E6A"/>
            </a:solidFill>
          </a:ln>
        </p:spPr>
        <p:txBody>
          <a:bodyPr/>
          <a:lstStyle/>
          <a:p>
            <a:endParaRPr lang="en-US"/>
          </a:p>
        </p:txBody>
      </p:sp>
      <p:sp>
        <p:nvSpPr>
          <p:cNvPr id="89" name="Teaching-259">
            <a:extLst>
              <a:ext uri="{FF2B5EF4-FFF2-40B4-BE49-F238E27FC236}">
                <a16:creationId xmlns:a16="http://schemas.microsoft.com/office/drawing/2014/main" id="{503F1AA0-64D3-4019-88EC-928E38252925}"/>
              </a:ext>
            </a:extLst>
          </p:cNvPr>
          <p:cNvSpPr>
            <a:spLocks noGrp="1"/>
          </p:cNvSpPr>
          <p:nvPr/>
        </p:nvSpPr>
        <p:spPr>
          <a:xfrm>
            <a:off x="8848725" y="4962525"/>
            <a:ext cx="152400" cy="152400"/>
          </a:xfrm>
          <a:prstGeom prst="ellipse">
            <a:avLst/>
          </a:prstGeom>
          <a:solidFill>
            <a:srgbClr val="244E6A"/>
          </a:solidFill>
          <a:ln w="13335">
            <a:solidFill>
              <a:srgbClr val="244E6A"/>
            </a:solidFill>
          </a:ln>
        </p:spPr>
        <p:txBody>
          <a:bodyPr/>
          <a:lstStyle/>
          <a:p>
            <a:endParaRPr lang="en-US"/>
          </a:p>
        </p:txBody>
      </p:sp>
      <p:sp>
        <p:nvSpPr>
          <p:cNvPr id="90" name="Teaching-260">
            <a:extLst>
              <a:ext uri="{FF2B5EF4-FFF2-40B4-BE49-F238E27FC236}">
                <a16:creationId xmlns:a16="http://schemas.microsoft.com/office/drawing/2014/main" id="{C44E8B72-173E-42DE-ACBB-4578097D8629}"/>
              </a:ext>
            </a:extLst>
          </p:cNvPr>
          <p:cNvSpPr>
            <a:spLocks noGrp="1"/>
          </p:cNvSpPr>
          <p:nvPr/>
        </p:nvSpPr>
        <p:spPr>
          <a:xfrm>
            <a:off x="9201150" y="4962525"/>
            <a:ext cx="152400" cy="152400"/>
          </a:xfrm>
          <a:prstGeom prst="ellipse">
            <a:avLst/>
          </a:prstGeom>
          <a:solidFill>
            <a:srgbClr val="244E6A"/>
          </a:solidFill>
          <a:ln w="13335">
            <a:solidFill>
              <a:srgbClr val="244E6A"/>
            </a:solidFill>
          </a:ln>
        </p:spPr>
        <p:txBody>
          <a:bodyPr/>
          <a:lstStyle/>
          <a:p>
            <a:endParaRPr lang="en-US"/>
          </a:p>
        </p:txBody>
      </p:sp>
      <p:sp>
        <p:nvSpPr>
          <p:cNvPr id="91" name="Teaching-261">
            <a:extLst>
              <a:ext uri="{FF2B5EF4-FFF2-40B4-BE49-F238E27FC236}">
                <a16:creationId xmlns:a16="http://schemas.microsoft.com/office/drawing/2014/main" id="{CFEDB07B-BBB5-4F89-8E7C-EF3680683791}"/>
              </a:ext>
            </a:extLst>
          </p:cNvPr>
          <p:cNvSpPr>
            <a:spLocks noGrp="1"/>
          </p:cNvSpPr>
          <p:nvPr/>
        </p:nvSpPr>
        <p:spPr>
          <a:xfrm>
            <a:off x="8496300" y="5267325"/>
            <a:ext cx="152400" cy="152400"/>
          </a:xfrm>
          <a:prstGeom prst="ellipse">
            <a:avLst/>
          </a:prstGeom>
          <a:solidFill>
            <a:srgbClr val="244E6A"/>
          </a:solidFill>
          <a:ln w="13335">
            <a:solidFill>
              <a:srgbClr val="244E6A"/>
            </a:solidFill>
          </a:ln>
        </p:spPr>
        <p:txBody>
          <a:bodyPr/>
          <a:lstStyle/>
          <a:p>
            <a:endParaRPr lang="en-US"/>
          </a:p>
        </p:txBody>
      </p:sp>
      <p:sp>
        <p:nvSpPr>
          <p:cNvPr id="92" name="Teaching-262">
            <a:extLst>
              <a:ext uri="{FF2B5EF4-FFF2-40B4-BE49-F238E27FC236}">
                <a16:creationId xmlns:a16="http://schemas.microsoft.com/office/drawing/2014/main" id="{FA10B284-1955-402E-9E8A-628615525DC1}"/>
              </a:ext>
            </a:extLst>
          </p:cNvPr>
          <p:cNvSpPr>
            <a:spLocks noGrp="1"/>
          </p:cNvSpPr>
          <p:nvPr/>
        </p:nvSpPr>
        <p:spPr>
          <a:xfrm>
            <a:off x="8848725" y="5267325"/>
            <a:ext cx="152400" cy="152400"/>
          </a:xfrm>
          <a:prstGeom prst="ellipse">
            <a:avLst/>
          </a:prstGeom>
          <a:solidFill>
            <a:srgbClr val="244E6A"/>
          </a:solidFill>
          <a:ln w="13335">
            <a:solidFill>
              <a:srgbClr val="244E6A"/>
            </a:solidFill>
          </a:ln>
        </p:spPr>
        <p:txBody>
          <a:bodyPr/>
          <a:lstStyle/>
          <a:p>
            <a:endParaRPr lang="en-US"/>
          </a:p>
        </p:txBody>
      </p:sp>
      <p:sp>
        <p:nvSpPr>
          <p:cNvPr id="93" name="Teaching-263">
            <a:extLst>
              <a:ext uri="{FF2B5EF4-FFF2-40B4-BE49-F238E27FC236}">
                <a16:creationId xmlns:a16="http://schemas.microsoft.com/office/drawing/2014/main" id="{DA73441B-58AF-431F-B9D4-FD4C9EFC8226}"/>
              </a:ext>
            </a:extLst>
          </p:cNvPr>
          <p:cNvSpPr>
            <a:spLocks noGrp="1"/>
          </p:cNvSpPr>
          <p:nvPr/>
        </p:nvSpPr>
        <p:spPr>
          <a:xfrm>
            <a:off x="9201150" y="5267325"/>
            <a:ext cx="152400" cy="152400"/>
          </a:xfrm>
          <a:prstGeom prst="ellipse">
            <a:avLst/>
          </a:prstGeom>
          <a:solidFill>
            <a:srgbClr val="244E6A"/>
          </a:solidFill>
          <a:ln w="13335">
            <a:solidFill>
              <a:srgbClr val="244E6A"/>
            </a:solidFill>
          </a:ln>
        </p:spPr>
        <p:txBody>
          <a:bodyPr/>
          <a:lstStyle/>
          <a:p>
            <a:endParaRPr lang="en-US"/>
          </a:p>
        </p:txBody>
      </p:sp>
      <p:sp>
        <p:nvSpPr>
          <p:cNvPr id="94" name="Teaching-264">
            <a:extLst>
              <a:ext uri="{FF2B5EF4-FFF2-40B4-BE49-F238E27FC236}">
                <a16:creationId xmlns:a16="http://schemas.microsoft.com/office/drawing/2014/main" id="{C5335912-AD48-44D0-B1DC-6B9FC74DFD58}"/>
              </a:ext>
            </a:extLst>
          </p:cNvPr>
          <p:cNvSpPr>
            <a:spLocks noGrp="1"/>
          </p:cNvSpPr>
          <p:nvPr/>
        </p:nvSpPr>
        <p:spPr>
          <a:xfrm>
            <a:off x="9810750" y="4476750"/>
            <a:ext cx="1381125" cy="1123950"/>
          </a:xfrm>
          <a:prstGeom prst="rect">
            <a:avLst/>
          </a:prstGeom>
          <a:solidFill>
            <a:srgbClr val="FFFFFF"/>
          </a:solidFill>
          <a:ln w="9525">
            <a:solidFill>
              <a:srgbClr val="8A959C"/>
            </a:solidFill>
          </a:ln>
        </p:spPr>
        <p:txBody>
          <a:bodyPr/>
          <a:lstStyle/>
          <a:p>
            <a:endParaRPr lang="en-US"/>
          </a:p>
        </p:txBody>
      </p:sp>
      <p:sp>
        <p:nvSpPr>
          <p:cNvPr id="95" name="Teaching-265">
            <a:extLst>
              <a:ext uri="{FF2B5EF4-FFF2-40B4-BE49-F238E27FC236}">
                <a16:creationId xmlns:a16="http://schemas.microsoft.com/office/drawing/2014/main" id="{D8EFBA5F-8F28-4A57-90A6-036DEF6E29C7}"/>
              </a:ext>
            </a:extLst>
          </p:cNvPr>
          <p:cNvSpPr>
            <a:spLocks noGrp="1"/>
          </p:cNvSpPr>
          <p:nvPr/>
        </p:nvSpPr>
        <p:spPr>
          <a:xfrm>
            <a:off x="9858375" y="4543425"/>
            <a:ext cx="1285875" cy="257175"/>
          </a:xfrm>
          <a:prstGeom prst="rect">
            <a:avLst/>
          </a:prstGeom>
          <a:noFill/>
          <a:ln w="0">
            <a:noFill/>
          </a:ln>
        </p:spPr>
        <p:txBody>
          <a:bodyPr wrap="square" lIns="0" tIns="0" rIns="0" bIns="0" anchor="t">
            <a:noAutofit/>
          </a:bodyPr>
          <a:lstStyle/>
          <a:p>
            <a:pPr algn="ctr">
              <a:defRPr sz="1725" b="1">
                <a:solidFill>
                  <a:srgbClr val="111111"/>
                </a:solidFill>
                <a:latin typeface="Aptos"/>
                <a:ea typeface="Aptos"/>
                <a:cs typeface="Aptos"/>
              </a:defRPr>
            </a:pPr>
            <a:r>
              <a:t>Class 6</a:t>
            </a:r>
          </a:p>
        </p:txBody>
      </p:sp>
      <p:sp>
        <p:nvSpPr>
          <p:cNvPr id="96" name="Teaching-266">
            <a:extLst>
              <a:ext uri="{FF2B5EF4-FFF2-40B4-BE49-F238E27FC236}">
                <a16:creationId xmlns:a16="http://schemas.microsoft.com/office/drawing/2014/main" id="{01BAAFC1-B67B-4B11-8184-D067206F967C}"/>
              </a:ext>
            </a:extLst>
          </p:cNvPr>
          <p:cNvSpPr>
            <a:spLocks noGrp="1"/>
          </p:cNvSpPr>
          <p:nvPr/>
        </p:nvSpPr>
        <p:spPr>
          <a:xfrm>
            <a:off x="10067925" y="4962525"/>
            <a:ext cx="152400" cy="152400"/>
          </a:xfrm>
          <a:prstGeom prst="ellipse">
            <a:avLst/>
          </a:prstGeom>
          <a:solidFill>
            <a:srgbClr val="FFFFFF"/>
          </a:solidFill>
          <a:ln w="13335">
            <a:solidFill>
              <a:srgbClr val="8A959C"/>
            </a:solidFill>
          </a:ln>
        </p:spPr>
        <p:txBody>
          <a:bodyPr/>
          <a:lstStyle/>
          <a:p>
            <a:endParaRPr lang="en-US"/>
          </a:p>
        </p:txBody>
      </p:sp>
      <p:sp>
        <p:nvSpPr>
          <p:cNvPr id="97" name="Teaching-267">
            <a:extLst>
              <a:ext uri="{FF2B5EF4-FFF2-40B4-BE49-F238E27FC236}">
                <a16:creationId xmlns:a16="http://schemas.microsoft.com/office/drawing/2014/main" id="{246FCBFC-D4ED-46F9-B3A9-7D55BD1FCAC4}"/>
              </a:ext>
            </a:extLst>
          </p:cNvPr>
          <p:cNvSpPr>
            <a:spLocks noGrp="1"/>
          </p:cNvSpPr>
          <p:nvPr/>
        </p:nvSpPr>
        <p:spPr>
          <a:xfrm>
            <a:off x="10420350" y="4962525"/>
            <a:ext cx="152400" cy="152400"/>
          </a:xfrm>
          <a:prstGeom prst="ellipse">
            <a:avLst/>
          </a:prstGeom>
          <a:solidFill>
            <a:srgbClr val="FFFFFF"/>
          </a:solidFill>
          <a:ln w="13335">
            <a:solidFill>
              <a:srgbClr val="8A959C"/>
            </a:solidFill>
          </a:ln>
        </p:spPr>
        <p:txBody>
          <a:bodyPr/>
          <a:lstStyle/>
          <a:p>
            <a:endParaRPr lang="en-US"/>
          </a:p>
        </p:txBody>
      </p:sp>
      <p:sp>
        <p:nvSpPr>
          <p:cNvPr id="98" name="Teaching-268">
            <a:extLst>
              <a:ext uri="{FF2B5EF4-FFF2-40B4-BE49-F238E27FC236}">
                <a16:creationId xmlns:a16="http://schemas.microsoft.com/office/drawing/2014/main" id="{8C3C2B6C-F9F9-47F4-B314-8C94CFC02816}"/>
              </a:ext>
            </a:extLst>
          </p:cNvPr>
          <p:cNvSpPr>
            <a:spLocks noGrp="1"/>
          </p:cNvSpPr>
          <p:nvPr/>
        </p:nvSpPr>
        <p:spPr>
          <a:xfrm>
            <a:off x="10772775" y="4962525"/>
            <a:ext cx="152400" cy="152400"/>
          </a:xfrm>
          <a:prstGeom prst="ellipse">
            <a:avLst/>
          </a:prstGeom>
          <a:solidFill>
            <a:srgbClr val="FFFFFF"/>
          </a:solidFill>
          <a:ln w="13335">
            <a:solidFill>
              <a:srgbClr val="8A959C"/>
            </a:solidFill>
          </a:ln>
        </p:spPr>
        <p:txBody>
          <a:bodyPr/>
          <a:lstStyle/>
          <a:p>
            <a:endParaRPr lang="en-US"/>
          </a:p>
        </p:txBody>
      </p:sp>
      <p:sp>
        <p:nvSpPr>
          <p:cNvPr id="99" name="Teaching-269">
            <a:extLst>
              <a:ext uri="{FF2B5EF4-FFF2-40B4-BE49-F238E27FC236}">
                <a16:creationId xmlns:a16="http://schemas.microsoft.com/office/drawing/2014/main" id="{97E01402-963E-459F-860C-9025A72AC4EA}"/>
              </a:ext>
            </a:extLst>
          </p:cNvPr>
          <p:cNvSpPr>
            <a:spLocks noGrp="1"/>
          </p:cNvSpPr>
          <p:nvPr/>
        </p:nvSpPr>
        <p:spPr>
          <a:xfrm>
            <a:off x="10067925" y="5267325"/>
            <a:ext cx="152400" cy="152400"/>
          </a:xfrm>
          <a:prstGeom prst="ellipse">
            <a:avLst/>
          </a:prstGeom>
          <a:solidFill>
            <a:srgbClr val="FFFFFF"/>
          </a:solidFill>
          <a:ln w="13335">
            <a:solidFill>
              <a:srgbClr val="8A959C"/>
            </a:solidFill>
          </a:ln>
        </p:spPr>
        <p:txBody>
          <a:bodyPr/>
          <a:lstStyle/>
          <a:p>
            <a:endParaRPr lang="en-US"/>
          </a:p>
        </p:txBody>
      </p:sp>
      <p:sp>
        <p:nvSpPr>
          <p:cNvPr id="100" name="Teaching-270">
            <a:extLst>
              <a:ext uri="{FF2B5EF4-FFF2-40B4-BE49-F238E27FC236}">
                <a16:creationId xmlns:a16="http://schemas.microsoft.com/office/drawing/2014/main" id="{ACD6CDD6-9192-49BB-B29C-3CC7730DE0F6}"/>
              </a:ext>
            </a:extLst>
          </p:cNvPr>
          <p:cNvSpPr>
            <a:spLocks noGrp="1"/>
          </p:cNvSpPr>
          <p:nvPr/>
        </p:nvSpPr>
        <p:spPr>
          <a:xfrm>
            <a:off x="10420350" y="5267325"/>
            <a:ext cx="152400" cy="152400"/>
          </a:xfrm>
          <a:prstGeom prst="ellipse">
            <a:avLst/>
          </a:prstGeom>
          <a:solidFill>
            <a:srgbClr val="FFFFFF"/>
          </a:solidFill>
          <a:ln w="13335">
            <a:solidFill>
              <a:srgbClr val="8A959C"/>
            </a:solidFill>
          </a:ln>
        </p:spPr>
        <p:txBody>
          <a:bodyPr/>
          <a:lstStyle/>
          <a:p>
            <a:endParaRPr lang="en-US"/>
          </a:p>
        </p:txBody>
      </p:sp>
      <p:sp>
        <p:nvSpPr>
          <p:cNvPr id="101" name="Teaching-271">
            <a:extLst>
              <a:ext uri="{FF2B5EF4-FFF2-40B4-BE49-F238E27FC236}">
                <a16:creationId xmlns:a16="http://schemas.microsoft.com/office/drawing/2014/main" id="{7D6726EC-3A45-410F-BBA7-64742FE6DAB5}"/>
              </a:ext>
            </a:extLst>
          </p:cNvPr>
          <p:cNvSpPr>
            <a:spLocks noGrp="1"/>
          </p:cNvSpPr>
          <p:nvPr/>
        </p:nvSpPr>
        <p:spPr>
          <a:xfrm>
            <a:off x="10772775" y="5267325"/>
            <a:ext cx="152400" cy="152400"/>
          </a:xfrm>
          <a:prstGeom prst="ellipse">
            <a:avLst/>
          </a:prstGeom>
          <a:solidFill>
            <a:srgbClr val="FFFFFF"/>
          </a:solidFill>
          <a:ln w="13335">
            <a:solidFill>
              <a:srgbClr val="8A959C"/>
            </a:solidFill>
          </a:ln>
        </p:spPr>
        <p:txBody>
          <a:bodyPr/>
          <a:lstStyle/>
          <a:p>
            <a:endParaRPr lang="en-US"/>
          </a:p>
        </p:txBody>
      </p:sp>
      <p:sp>
        <p:nvSpPr>
          <p:cNvPr id="102" name="Teaching-272">
            <a:extLst>
              <a:ext uri="{FF2B5EF4-FFF2-40B4-BE49-F238E27FC236}">
                <a16:creationId xmlns:a16="http://schemas.microsoft.com/office/drawing/2014/main" id="{D63B8209-9845-44B7-876E-AF1F9F3E523B}"/>
              </a:ext>
            </a:extLst>
          </p:cNvPr>
          <p:cNvSpPr>
            <a:spLocks noGrp="1"/>
          </p:cNvSpPr>
          <p:nvPr/>
        </p:nvSpPr>
        <p:spPr>
          <a:xfrm>
            <a:off x="619125" y="5829300"/>
            <a:ext cx="5143500" cy="438150"/>
          </a:xfrm>
          <a:prstGeom prst="rect">
            <a:avLst/>
          </a:prstGeom>
          <a:noFill/>
          <a:ln w="0">
            <a:noFill/>
          </a:ln>
        </p:spPr>
        <p:txBody>
          <a:bodyPr wrap="square" lIns="0" tIns="0" rIns="0" bIns="0" anchor="t">
            <a:noAutofit/>
          </a:bodyPr>
          <a:lstStyle/>
          <a:p>
            <a:pPr algn="l">
              <a:defRPr sz="1950" b="1">
                <a:solidFill>
                  <a:srgbClr val="111111"/>
                </a:solidFill>
                <a:latin typeface="Aptos"/>
                <a:ea typeface="Aptos"/>
                <a:cs typeface="Aptos"/>
              </a:defRPr>
            </a:pPr>
            <a:r>
              <a:t>Randomly select 2 from every class.</a:t>
            </a:r>
          </a:p>
        </p:txBody>
      </p:sp>
      <p:sp>
        <p:nvSpPr>
          <p:cNvPr id="103" name="Teaching-273">
            <a:extLst>
              <a:ext uri="{FF2B5EF4-FFF2-40B4-BE49-F238E27FC236}">
                <a16:creationId xmlns:a16="http://schemas.microsoft.com/office/drawing/2014/main" id="{042A02F5-3FCF-4B35-9C17-34F0E6D34663}"/>
              </a:ext>
            </a:extLst>
          </p:cNvPr>
          <p:cNvSpPr>
            <a:spLocks noGrp="1"/>
          </p:cNvSpPr>
          <p:nvPr/>
        </p:nvSpPr>
        <p:spPr>
          <a:xfrm>
            <a:off x="6667500" y="5829300"/>
            <a:ext cx="5143500" cy="438150"/>
          </a:xfrm>
          <a:prstGeom prst="rect">
            <a:avLst/>
          </a:prstGeom>
          <a:noFill/>
          <a:ln w="0">
            <a:noFill/>
          </a:ln>
        </p:spPr>
        <p:txBody>
          <a:bodyPr wrap="square" lIns="0" tIns="0" rIns="0" bIns="0" anchor="t">
            <a:noAutofit/>
          </a:bodyPr>
          <a:lstStyle/>
          <a:p>
            <a:pPr algn="l">
              <a:defRPr sz="1950" b="1">
                <a:solidFill>
                  <a:srgbClr val="111111"/>
                </a:solidFill>
                <a:latin typeface="Aptos"/>
                <a:ea typeface="Aptos"/>
                <a:cs typeface="Aptos"/>
              </a:defRPr>
            </a:pPr>
            <a:r>
              <a:t>Randomly select 2 whole classes.</a:t>
            </a:r>
          </a:p>
        </p:txBody>
      </p:sp>
    </p:spTree>
    <p:extLst>
      <p:ext uri="{BB962C8B-B14F-4D97-AF65-F5344CB8AC3E}">
        <p14:creationId xmlns:p14="http://schemas.microsoft.com/office/powerpoint/2010/main" val="3281361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aching-274">
            <a:extLst>
              <a:ext uri="{FF2B5EF4-FFF2-40B4-BE49-F238E27FC236}">
                <a16:creationId xmlns:a16="http://schemas.microsoft.com/office/drawing/2014/main" id="{3E2F1A77-4904-4CD5-9B7A-098E62361B76}"/>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Why choose clusters?</a:t>
            </a:r>
          </a:p>
        </p:txBody>
      </p:sp>
      <p:sp>
        <p:nvSpPr>
          <p:cNvPr id="2" name="Teaching-275">
            <a:extLst>
              <a:ext uri="{FF2B5EF4-FFF2-40B4-BE49-F238E27FC236}">
                <a16:creationId xmlns:a16="http://schemas.microsoft.com/office/drawing/2014/main" id="{290D17B4-32C3-4840-81DA-3CFF983003F6}"/>
              </a:ext>
            </a:extLst>
          </p:cNvPr>
          <p:cNvSpPr>
            <a:spLocks noGrp="1"/>
          </p:cNvSpPr>
          <p:nvPr/>
        </p:nvSpPr>
        <p:spPr>
          <a:xfrm>
            <a:off x="428625" y="1952625"/>
            <a:ext cx="11296650" cy="61912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A whole class is a group that researchers can visit together.</a:t>
            </a:r>
          </a:p>
        </p:txBody>
      </p:sp>
      <p:pic>
        <p:nvPicPr>
          <p:cNvPr id="9" name="Picture 8"/>
          <p:cNvPicPr>
            <a:picLocks noChangeAspect="1"/>
          </p:cNvPicPr>
          <p:nvPr/>
        </p:nvPicPr>
        <p:blipFill>
          <a:blip r:embed="rId3"/>
          <a:srcRect t="10521" b="10521"/>
          <a:stretch>
            <a:fillRect/>
          </a:stretch>
        </p:blipFill>
        <p:spPr>
          <a:xfrm>
            <a:off x="619125" y="2857500"/>
            <a:ext cx="5114925" cy="3028950"/>
          </a:xfrm>
          <a:prstGeom prst="rect">
            <a:avLst/>
          </a:prstGeom>
        </p:spPr>
      </p:pic>
      <p:sp>
        <p:nvSpPr>
          <p:cNvPr id="4" name="Teaching-276">
            <a:extLst>
              <a:ext uri="{FF2B5EF4-FFF2-40B4-BE49-F238E27FC236}">
                <a16:creationId xmlns:a16="http://schemas.microsoft.com/office/drawing/2014/main" id="{3A076C2D-77B0-4AB9-A1EA-9FA2FAC2BA29}"/>
              </a:ext>
            </a:extLst>
          </p:cNvPr>
          <p:cNvSpPr>
            <a:spLocks noGrp="1"/>
          </p:cNvSpPr>
          <p:nvPr/>
        </p:nvSpPr>
        <p:spPr>
          <a:xfrm>
            <a:off x="6191250" y="2886075"/>
            <a:ext cx="5314950" cy="1209675"/>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rPr b="1" dirty="0"/>
              <a:t>Fewer locations</a:t>
            </a:r>
          </a:p>
          <a:p>
            <a:pPr algn="l">
              <a:defRPr sz="2250" b="0">
                <a:solidFill>
                  <a:srgbClr val="111111"/>
                </a:solidFill>
                <a:latin typeface="Aptos"/>
                <a:ea typeface="Aptos"/>
                <a:cs typeface="Aptos"/>
              </a:defRPr>
            </a:pPr>
            <a:r>
              <a:rPr dirty="0"/>
              <a:t>Visiting a few whole classes can</a:t>
            </a:r>
          </a:p>
          <a:p>
            <a:pPr algn="l">
              <a:defRPr sz="2250" b="0">
                <a:solidFill>
                  <a:srgbClr val="111111"/>
                </a:solidFill>
                <a:latin typeface="Aptos"/>
                <a:ea typeface="Aptos"/>
                <a:cs typeface="Aptos"/>
              </a:defRPr>
            </a:pPr>
            <a:r>
              <a:rPr dirty="0"/>
              <a:t>reduce travel and setup costs.</a:t>
            </a:r>
          </a:p>
        </p:txBody>
      </p:sp>
      <p:sp>
        <p:nvSpPr>
          <p:cNvPr id="5" name="Teaching-277">
            <a:extLst>
              <a:ext uri="{FF2B5EF4-FFF2-40B4-BE49-F238E27FC236}">
                <a16:creationId xmlns:a16="http://schemas.microsoft.com/office/drawing/2014/main" id="{17717F0F-B1A4-49BC-AF7D-D91A15E3B6C2}"/>
              </a:ext>
            </a:extLst>
          </p:cNvPr>
          <p:cNvSpPr>
            <a:spLocks noGrp="1"/>
          </p:cNvSpPr>
          <p:nvPr/>
        </p:nvSpPr>
        <p:spPr>
          <a:xfrm>
            <a:off x="6191250" y="4305300"/>
            <a:ext cx="5314950" cy="1571625"/>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rPr b="1" dirty="0"/>
              <a:t>Less variety within a class</a:t>
            </a:r>
          </a:p>
          <a:p>
            <a:pPr marL="342900" indent="-342900" algn="l">
              <a:buFont typeface="Arial" panose="020B0604020202020204" pitchFamily="34" charset="0"/>
              <a:buChar char="•"/>
              <a:defRPr sz="2250" b="0">
                <a:solidFill>
                  <a:srgbClr val="111111"/>
                </a:solidFill>
                <a:latin typeface="Aptos"/>
                <a:ea typeface="Aptos"/>
                <a:cs typeface="Aptos"/>
              </a:defRPr>
            </a:pPr>
            <a:r>
              <a:rPr dirty="0"/>
              <a:t>Classmates may share views.</a:t>
            </a:r>
          </a:p>
          <a:p>
            <a:pPr marL="342900" indent="-342900" algn="l">
              <a:buFont typeface="Arial" panose="020B0604020202020204" pitchFamily="34" charset="0"/>
              <a:buChar char="•"/>
              <a:defRPr sz="2250" b="0">
                <a:solidFill>
                  <a:srgbClr val="111111"/>
                </a:solidFill>
                <a:latin typeface="Aptos"/>
                <a:ea typeface="Aptos"/>
                <a:cs typeface="Aptos"/>
              </a:defRPr>
            </a:pPr>
            <a:r>
              <a:rPr dirty="0"/>
              <a:t>A few similar classes can give</a:t>
            </a:r>
          </a:p>
          <a:p>
            <a:pPr marL="346075" indent="-58738" algn="l">
              <a:defRPr sz="2250" b="0">
                <a:solidFill>
                  <a:srgbClr val="111111"/>
                </a:solidFill>
                <a:latin typeface="Aptos"/>
                <a:ea typeface="Aptos"/>
                <a:cs typeface="Aptos"/>
              </a:defRPr>
            </a:pPr>
            <a:r>
              <a:rPr dirty="0"/>
              <a:t>more variable estimates.</a:t>
            </a:r>
            <a:endParaRPr lang="en-US" dirty="0"/>
          </a:p>
        </p:txBody>
      </p:sp>
      <p:sp>
        <p:nvSpPr>
          <p:cNvPr id="6" name="Teaching-278">
            <a:extLst>
              <a:ext uri="{FF2B5EF4-FFF2-40B4-BE49-F238E27FC236}">
                <a16:creationId xmlns:a16="http://schemas.microsoft.com/office/drawing/2014/main" id="{E9FB28BB-1C1D-490B-9B67-1EC48C0CACF4}"/>
              </a:ext>
            </a:extLst>
          </p:cNvPr>
          <p:cNvSpPr>
            <a:spLocks noGrp="1"/>
          </p:cNvSpPr>
          <p:nvPr/>
        </p:nvSpPr>
        <p:spPr>
          <a:xfrm>
            <a:off x="523875" y="6010275"/>
            <a:ext cx="11087100" cy="333375"/>
          </a:xfrm>
          <a:prstGeom prst="rect">
            <a:avLst/>
          </a:prstGeom>
          <a:noFill/>
          <a:ln w="0">
            <a:noFill/>
          </a:ln>
        </p:spPr>
        <p:txBody>
          <a:bodyPr wrap="square" lIns="0" tIns="0" rIns="0" bIns="0" anchor="t">
            <a:noAutofit/>
          </a:bodyPr>
          <a:lstStyle/>
          <a:p>
            <a:pPr algn="l">
              <a:defRPr sz="1725" b="0">
                <a:solidFill>
                  <a:srgbClr val="666666"/>
                </a:solidFill>
                <a:latin typeface="Aptos"/>
                <a:ea typeface="Aptos"/>
                <a:cs typeface="Aptos"/>
              </a:defRPr>
            </a:pPr>
            <a:r>
              <a:t>Random cluster selection can be unbiased while still having lower precision.</a:t>
            </a:r>
          </a:p>
        </p:txBody>
      </p:sp>
    </p:spTree>
    <p:extLst>
      <p:ext uri="{BB962C8B-B14F-4D97-AF65-F5344CB8AC3E}">
        <p14:creationId xmlns:p14="http://schemas.microsoft.com/office/powerpoint/2010/main" val="3281361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aching-279">
            <a:extLst>
              <a:ext uri="{FF2B5EF4-FFF2-40B4-BE49-F238E27FC236}">
                <a16:creationId xmlns:a16="http://schemas.microsoft.com/office/drawing/2014/main" id="{D384518D-700E-4DA1-AC45-B34A391B8ACD}"/>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B2: Three selection plans</a:t>
            </a:r>
          </a:p>
        </p:txBody>
      </p:sp>
      <p:sp>
        <p:nvSpPr>
          <p:cNvPr id="2" name="Teaching-280">
            <a:extLst>
              <a:ext uri="{FF2B5EF4-FFF2-40B4-BE49-F238E27FC236}">
                <a16:creationId xmlns:a16="http://schemas.microsoft.com/office/drawing/2014/main" id="{A33C6646-6C86-49E0-866B-C285BD0CB33E}"/>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281">
            <a:extLst>
              <a:ext uri="{FF2B5EF4-FFF2-40B4-BE49-F238E27FC236}">
                <a16:creationId xmlns:a16="http://schemas.microsoft.com/office/drawing/2014/main" id="{48BE184F-3149-42B5-84CC-F19E88DF487E}"/>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EXERCISE B2</a:t>
            </a:r>
          </a:p>
        </p:txBody>
      </p:sp>
      <p:sp>
        <p:nvSpPr>
          <p:cNvPr id="4" name="Teaching-282">
            <a:extLst>
              <a:ext uri="{FF2B5EF4-FFF2-40B4-BE49-F238E27FC236}">
                <a16:creationId xmlns:a16="http://schemas.microsoft.com/office/drawing/2014/main" id="{F9E8F7DE-CB9F-4AA3-874B-7F24CC8029D0}"/>
              </a:ext>
            </a:extLst>
          </p:cNvPr>
          <p:cNvSpPr>
            <a:spLocks noGrp="1"/>
          </p:cNvSpPr>
          <p:nvPr/>
        </p:nvSpPr>
        <p:spPr>
          <a:xfrm>
            <a:off x="428625" y="1952625"/>
            <a:ext cx="11296650" cy="8286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A different college has </a:t>
            </a:r>
            <a:r>
              <a:rPr b="1"/>
              <a:t>54 classes of 42 students</a:t>
            </a:r>
            <a:r>
              <a:t>. Each student</a:t>
            </a:r>
          </a:p>
          <a:p>
            <a:pPr algn="l">
              <a:defRPr sz="2325" b="0">
                <a:solidFill>
                  <a:srgbClr val="111111"/>
                </a:solidFill>
                <a:latin typeface="Aptos"/>
                <a:ea typeface="Aptos"/>
                <a:cs typeface="Aptos"/>
              </a:defRPr>
            </a:pPr>
            <a:r>
              <a:t>belongs to one class. Complete lists are available.</a:t>
            </a:r>
          </a:p>
        </p:txBody>
      </p:sp>
      <p:graphicFrame>
        <p:nvGraphicFramePr>
          <p:cNvPr id="11" name="Table 10"/>
          <p:cNvGraphicFramePr/>
          <p:nvPr/>
        </p:nvGraphicFramePr>
        <p:xfrm>
          <a:off x="619125" y="3105150"/>
          <a:ext cx="10810875" cy="2743200"/>
        </p:xfrm>
        <a:graphic>
          <a:graphicData uri="http://schemas.openxmlformats.org/drawingml/2006/table">
            <a:tbl>
              <a:tblPr/>
              <a:tblGrid>
                <a:gridCol w="1619250">
                  <a:extLst>
                    <a:ext uri="{9D8B030D-6E8A-4147-A177-3AD203B41FA5}">
                      <a16:colId xmlns:a16="http://schemas.microsoft.com/office/drawing/2014/main" val="20000"/>
                    </a:ext>
                  </a:extLst>
                </a:gridCol>
                <a:gridCol w="9191625">
                  <a:extLst>
                    <a:ext uri="{9D8B030D-6E8A-4147-A177-3AD203B41FA5}">
                      <a16:colId xmlns:a16="http://schemas.microsoft.com/office/drawing/2014/main" val="20001"/>
                    </a:ext>
                  </a:extLst>
                </a:gridCol>
              </a:tblGrid>
              <a:tr h="542925">
                <a:tc>
                  <a:txBody>
                    <a:bodyPr/>
                    <a:lstStyle/>
                    <a:p>
                      <a:pPr algn="l"/>
                      <a:r>
                        <a:rPr sz="2100" b="1">
                          <a:solidFill>
                            <a:srgbClr val="FFFFFF"/>
                          </a:solidFill>
                          <a:latin typeface="Aptos"/>
                          <a:ea typeface="Aptos"/>
                          <a:cs typeface="Aptos"/>
                        </a:rPr>
                        <a:t>Plan</a:t>
                      </a:r>
                    </a:p>
                  </a:txBody>
                  <a:tcPr anchor="ctr">
                    <a:solidFill>
                      <a:srgbClr val="D9101B"/>
                    </a:solidFill>
                  </a:tcPr>
                </a:tc>
                <a:tc>
                  <a:txBody>
                    <a:bodyPr/>
                    <a:lstStyle/>
                    <a:p>
                      <a:pPr algn="l"/>
                      <a:r>
                        <a:rPr sz="2100" b="1">
                          <a:solidFill>
                            <a:srgbClr val="FFFFFF"/>
                          </a:solidFill>
                          <a:latin typeface="Aptos"/>
                          <a:ea typeface="Aptos"/>
                          <a:cs typeface="Aptos"/>
                        </a:rPr>
                        <a:t>Selection process</a:t>
                      </a:r>
                    </a:p>
                  </a:txBody>
                  <a:tcPr anchor="ctr">
                    <a:solidFill>
                      <a:srgbClr val="D9101B"/>
                    </a:solidFill>
                  </a:tcPr>
                </a:tc>
                <a:extLst>
                  <a:ext uri="{0D108BD9-81ED-4DB2-BD59-A6C34878D82A}">
                    <a16:rowId xmlns:a16="http://schemas.microsoft.com/office/drawing/2014/main" val="10000"/>
                  </a:ext>
                </a:extLst>
              </a:tr>
              <a:tr h="733425">
                <a:tc>
                  <a:txBody>
                    <a:bodyPr/>
                    <a:lstStyle/>
                    <a:p>
                      <a:pPr algn="l"/>
                      <a:r>
                        <a:rPr sz="2100" b="0">
                          <a:solidFill>
                            <a:srgbClr val="111111"/>
                          </a:solidFill>
                          <a:latin typeface="Aptos"/>
                          <a:ea typeface="Aptos"/>
                          <a:cs typeface="Aptos"/>
                        </a:rPr>
                        <a:t>B2.1</a:t>
                      </a:r>
                    </a:p>
                  </a:txBody>
                  <a:tcPr anchor="ctr">
                    <a:solidFill>
                      <a:srgbClr val="FFFFFF"/>
                    </a:solidFill>
                  </a:tcPr>
                </a:tc>
                <a:tc>
                  <a:txBody>
                    <a:bodyPr/>
                    <a:lstStyle/>
                    <a:p>
                      <a:pPr algn="l"/>
                      <a:r>
                        <a:rPr sz="2100" b="0">
                          <a:solidFill>
                            <a:srgbClr val="111111"/>
                          </a:solidFill>
                          <a:latin typeface="Aptos"/>
                          <a:ea typeface="Aptos"/>
                          <a:cs typeface="Aptos"/>
                        </a:rPr>
                        <a:t>Randomly choose 7 distinct students from every class.</a:t>
                      </a:r>
                    </a:p>
                  </a:txBody>
                  <a:tcPr anchor="ctr">
                    <a:solidFill>
                      <a:srgbClr val="FFFFFF"/>
                    </a:solidFill>
                  </a:tcPr>
                </a:tc>
                <a:extLst>
                  <a:ext uri="{0D108BD9-81ED-4DB2-BD59-A6C34878D82A}">
                    <a16:rowId xmlns:a16="http://schemas.microsoft.com/office/drawing/2014/main" val="10001"/>
                  </a:ext>
                </a:extLst>
              </a:tr>
              <a:tr h="733425">
                <a:tc>
                  <a:txBody>
                    <a:bodyPr/>
                    <a:lstStyle/>
                    <a:p>
                      <a:pPr algn="l"/>
                      <a:r>
                        <a:rPr sz="2100" b="0">
                          <a:solidFill>
                            <a:srgbClr val="111111"/>
                          </a:solidFill>
                          <a:latin typeface="Aptos"/>
                          <a:ea typeface="Aptos"/>
                          <a:cs typeface="Aptos"/>
                        </a:rPr>
                        <a:t>B2.2</a:t>
                      </a:r>
                    </a:p>
                  </a:txBody>
                  <a:tcPr anchor="ctr">
                    <a:solidFill>
                      <a:srgbClr val="EFF7FD"/>
                    </a:solidFill>
                  </a:tcPr>
                </a:tc>
                <a:tc>
                  <a:txBody>
                    <a:bodyPr/>
                    <a:lstStyle/>
                    <a:p>
                      <a:pPr algn="l"/>
                      <a:r>
                        <a:rPr sz="2100" b="0">
                          <a:solidFill>
                            <a:srgbClr val="111111"/>
                          </a:solidFill>
                          <a:latin typeface="Aptos"/>
                          <a:ea typeface="Aptos"/>
                          <a:cs typeface="Aptos"/>
                        </a:rPr>
                        <a:t>Randomly choose 9 distinct classes and invite everyone.</a:t>
                      </a:r>
                    </a:p>
                  </a:txBody>
                  <a:tcPr anchor="ctr">
                    <a:solidFill>
                      <a:srgbClr val="EFF7FD"/>
                    </a:solidFill>
                  </a:tcPr>
                </a:tc>
                <a:extLst>
                  <a:ext uri="{0D108BD9-81ED-4DB2-BD59-A6C34878D82A}">
                    <a16:rowId xmlns:a16="http://schemas.microsoft.com/office/drawing/2014/main" val="10002"/>
                  </a:ext>
                </a:extLst>
              </a:tr>
              <a:tr h="733425">
                <a:tc>
                  <a:txBody>
                    <a:bodyPr/>
                    <a:lstStyle/>
                    <a:p>
                      <a:pPr algn="l"/>
                      <a:r>
                        <a:rPr sz="2100" b="0">
                          <a:solidFill>
                            <a:srgbClr val="111111"/>
                          </a:solidFill>
                          <a:latin typeface="Aptos"/>
                          <a:ea typeface="Aptos"/>
                          <a:cs typeface="Aptos"/>
                        </a:rPr>
                        <a:t>B2.3</a:t>
                      </a:r>
                    </a:p>
                  </a:txBody>
                  <a:tcPr anchor="ctr">
                    <a:solidFill>
                      <a:srgbClr val="FFFFFF"/>
                    </a:solidFill>
                  </a:tcPr>
                </a:tc>
                <a:tc>
                  <a:txBody>
                    <a:bodyPr/>
                    <a:lstStyle/>
                    <a:p>
                      <a:pPr algn="l"/>
                      <a:r>
                        <a:rPr sz="2100" b="0">
                          <a:solidFill>
                            <a:srgbClr val="111111"/>
                          </a:solidFill>
                          <a:latin typeface="Aptos"/>
                          <a:ea typeface="Aptos"/>
                          <a:cs typeface="Aptos"/>
                        </a:rPr>
                        <a:t>Randomly choose 378 distinct IDs from the college list.</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6" name="Teaching-283">
            <a:extLst>
              <a:ext uri="{FF2B5EF4-FFF2-40B4-BE49-F238E27FC236}">
                <a16:creationId xmlns:a16="http://schemas.microsoft.com/office/drawing/2014/main" id="{7B1B8A95-D0D9-4E64-8745-CEF2C5901CC5}"/>
              </a:ext>
            </a:extLst>
          </p:cNvPr>
          <p:cNvSpPr>
            <a:spLocks noGrp="1"/>
          </p:cNvSpPr>
          <p:nvPr/>
        </p:nvSpPr>
        <p:spPr>
          <a:xfrm>
            <a:off x="523875" y="6010275"/>
            <a:ext cx="11087100" cy="333375"/>
          </a:xfrm>
          <a:prstGeom prst="rect">
            <a:avLst/>
          </a:prstGeom>
          <a:noFill/>
          <a:ln w="0">
            <a:noFill/>
          </a:ln>
        </p:spPr>
        <p:txBody>
          <a:bodyPr wrap="square" lIns="0" tIns="0" rIns="0" bIns="0" anchor="t">
            <a:noAutofit/>
          </a:bodyPr>
          <a:lstStyle/>
          <a:p>
            <a:pPr algn="l">
              <a:defRPr sz="1725" b="0">
                <a:solidFill>
                  <a:srgbClr val="666666"/>
                </a:solidFill>
                <a:latin typeface="Aptos"/>
                <a:ea typeface="Aptos"/>
                <a:cs typeface="Aptos"/>
              </a:defRPr>
            </a:pPr>
            <a:r>
              <a:t>For each plan: name the method, find the sample size and explain your classification.</a:t>
            </a:r>
          </a:p>
        </p:txBody>
      </p:sp>
    </p:spTree>
    <p:extLst>
      <p:ext uri="{BB962C8B-B14F-4D97-AF65-F5344CB8AC3E}">
        <p14:creationId xmlns:p14="http://schemas.microsoft.com/office/powerpoint/2010/main" val="3281361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aching-284">
            <a:extLst>
              <a:ext uri="{FF2B5EF4-FFF2-40B4-BE49-F238E27FC236}">
                <a16:creationId xmlns:a16="http://schemas.microsoft.com/office/drawing/2014/main" id="{4FBF1A87-4153-49EB-8B0A-6DD2BAA41885}"/>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B2: The process identifies it</a:t>
            </a:r>
          </a:p>
        </p:txBody>
      </p:sp>
      <p:sp>
        <p:nvSpPr>
          <p:cNvPr id="2" name="Teaching-285">
            <a:extLst>
              <a:ext uri="{FF2B5EF4-FFF2-40B4-BE49-F238E27FC236}">
                <a16:creationId xmlns:a16="http://schemas.microsoft.com/office/drawing/2014/main" id="{CDE42F86-2C20-47FF-9767-E88CBC118F56}"/>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286">
            <a:extLst>
              <a:ext uri="{FF2B5EF4-FFF2-40B4-BE49-F238E27FC236}">
                <a16:creationId xmlns:a16="http://schemas.microsoft.com/office/drawing/2014/main" id="{B4415FE3-CB03-4485-927F-1616038782E0}"/>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EXERCISE B2</a:t>
            </a:r>
          </a:p>
        </p:txBody>
      </p:sp>
      <p:graphicFrame>
        <p:nvGraphicFramePr>
          <p:cNvPr id="9" name="Table 8"/>
          <p:cNvGraphicFramePr/>
          <p:nvPr/>
        </p:nvGraphicFramePr>
        <p:xfrm>
          <a:off x="619125" y="2590800"/>
          <a:ext cx="10715625" cy="3409950"/>
        </p:xfrm>
        <a:graphic>
          <a:graphicData uri="http://schemas.openxmlformats.org/drawingml/2006/table">
            <a:tbl>
              <a:tblPr/>
              <a:tblGrid>
                <a:gridCol w="1447800">
                  <a:extLst>
                    <a:ext uri="{9D8B030D-6E8A-4147-A177-3AD203B41FA5}">
                      <a16:colId xmlns:a16="http://schemas.microsoft.com/office/drawing/2014/main" val="20000"/>
                    </a:ext>
                  </a:extLst>
                </a:gridCol>
                <a:gridCol w="240982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4191000">
                  <a:extLst>
                    <a:ext uri="{9D8B030D-6E8A-4147-A177-3AD203B41FA5}">
                      <a16:colId xmlns:a16="http://schemas.microsoft.com/office/drawing/2014/main" val="20003"/>
                    </a:ext>
                  </a:extLst>
                </a:gridCol>
              </a:tblGrid>
              <a:tr h="552450">
                <a:tc>
                  <a:txBody>
                    <a:bodyPr/>
                    <a:lstStyle/>
                    <a:p>
                      <a:pPr algn="l"/>
                      <a:r>
                        <a:rPr sz="2100" b="1">
                          <a:solidFill>
                            <a:srgbClr val="FFFFFF"/>
                          </a:solidFill>
                          <a:latin typeface="Aptos"/>
                          <a:ea typeface="Aptos"/>
                          <a:cs typeface="Aptos"/>
                        </a:rPr>
                        <a:t>Plan</a:t>
                      </a:r>
                    </a:p>
                  </a:txBody>
                  <a:tcPr anchor="ctr">
                    <a:solidFill>
                      <a:srgbClr val="D9101B"/>
                    </a:solidFill>
                  </a:tcPr>
                </a:tc>
                <a:tc>
                  <a:txBody>
                    <a:bodyPr/>
                    <a:lstStyle/>
                    <a:p>
                      <a:pPr algn="l"/>
                      <a:r>
                        <a:rPr sz="2100" b="1">
                          <a:solidFill>
                            <a:srgbClr val="FFFFFF"/>
                          </a:solidFill>
                          <a:latin typeface="Aptos"/>
                          <a:ea typeface="Aptos"/>
                          <a:cs typeface="Aptos"/>
                        </a:rPr>
                        <a:t>Method</a:t>
                      </a:r>
                    </a:p>
                  </a:txBody>
                  <a:tcPr anchor="ctr">
                    <a:solidFill>
                      <a:srgbClr val="D9101B"/>
                    </a:solidFill>
                  </a:tcPr>
                </a:tc>
                <a:tc>
                  <a:txBody>
                    <a:bodyPr/>
                    <a:lstStyle/>
                    <a:p>
                      <a:pPr algn="l"/>
                      <a:r>
                        <a:rPr sz="2100" b="1">
                          <a:solidFill>
                            <a:srgbClr val="FFFFFF"/>
                          </a:solidFill>
                          <a:latin typeface="Aptos"/>
                          <a:ea typeface="Aptos"/>
                          <a:cs typeface="Aptos"/>
                        </a:rPr>
                        <a:t>Number selected</a:t>
                      </a:r>
                    </a:p>
                  </a:txBody>
                  <a:tcPr anchor="ctr">
                    <a:solidFill>
                      <a:srgbClr val="D9101B"/>
                    </a:solidFill>
                  </a:tcPr>
                </a:tc>
                <a:tc>
                  <a:txBody>
                    <a:bodyPr/>
                    <a:lstStyle/>
                    <a:p>
                      <a:pPr algn="l"/>
                      <a:r>
                        <a:rPr sz="2100" b="1">
                          <a:solidFill>
                            <a:srgbClr val="FFFFFF"/>
                          </a:solidFill>
                          <a:latin typeface="Aptos"/>
                          <a:ea typeface="Aptos"/>
                          <a:cs typeface="Aptos"/>
                        </a:rPr>
                        <a:t>Why?</a:t>
                      </a:r>
                    </a:p>
                  </a:txBody>
                  <a:tcPr anchor="ctr">
                    <a:solidFill>
                      <a:srgbClr val="D9101B"/>
                    </a:solidFill>
                  </a:tcPr>
                </a:tc>
                <a:extLst>
                  <a:ext uri="{0D108BD9-81ED-4DB2-BD59-A6C34878D82A}">
                    <a16:rowId xmlns:a16="http://schemas.microsoft.com/office/drawing/2014/main" val="10000"/>
                  </a:ext>
                </a:extLst>
              </a:tr>
              <a:tr h="952500">
                <a:tc>
                  <a:txBody>
                    <a:bodyPr/>
                    <a:lstStyle/>
                    <a:p>
                      <a:pPr algn="l"/>
                      <a:r>
                        <a:rPr sz="2100" b="0">
                          <a:solidFill>
                            <a:srgbClr val="111111"/>
                          </a:solidFill>
                          <a:latin typeface="Aptos"/>
                          <a:ea typeface="Aptos"/>
                          <a:cs typeface="Aptos"/>
                        </a:rPr>
                        <a:t>B2.1</a:t>
                      </a:r>
                    </a:p>
                  </a:txBody>
                  <a:tcPr anchor="ctr">
                    <a:solidFill>
                      <a:srgbClr val="FFFFFF"/>
                    </a:solidFill>
                  </a:tcPr>
                </a:tc>
                <a:tc>
                  <a:txBody>
                    <a:bodyPr/>
                    <a:lstStyle/>
                    <a:p>
                      <a:pPr algn="l"/>
                      <a:r>
                        <a:rPr sz="2100" b="0">
                          <a:solidFill>
                            <a:srgbClr val="111111"/>
                          </a:solidFill>
                          <a:latin typeface="Aptos"/>
                          <a:ea typeface="Aptos"/>
                          <a:cs typeface="Aptos"/>
                        </a:rPr>
                        <a:t>Stratified</a:t>
                      </a:r>
                    </a:p>
                  </a:txBody>
                  <a:tcPr anchor="ctr">
                    <a:solidFill>
                      <a:srgbClr val="FFFFFF"/>
                    </a:solidFill>
                  </a:tcPr>
                </a:tc>
                <a:tc>
                  <a:txBody>
                    <a:bodyPr/>
                    <a:lstStyle/>
                    <a:p>
                      <a:pPr algn="l"/>
                      <a:r>
                        <a:rPr sz="2100" b="0">
                          <a:solidFill>
                            <a:srgbClr val="111111"/>
                          </a:solidFill>
                          <a:latin typeface="Aptos"/>
                          <a:ea typeface="Aptos"/>
                          <a:cs typeface="Aptos"/>
                        </a:rPr>
                        <a:t>54 × 7 = 378</a:t>
                      </a:r>
                    </a:p>
                  </a:txBody>
                  <a:tcPr anchor="ctr">
                    <a:solidFill>
                      <a:srgbClr val="FFFFFF"/>
                    </a:solidFill>
                  </a:tcPr>
                </a:tc>
                <a:tc>
                  <a:txBody>
                    <a:bodyPr/>
                    <a:lstStyle/>
                    <a:p>
                      <a:pPr algn="l"/>
                      <a:r>
                        <a:rPr sz="2100" b="0">
                          <a:solidFill>
                            <a:srgbClr val="111111"/>
                          </a:solidFill>
                          <a:latin typeface="Aptos"/>
                          <a:ea typeface="Aptos"/>
                          <a:cs typeface="Aptos"/>
                        </a:rPr>
                        <a:t>Some students from every class</a:t>
                      </a:r>
                    </a:p>
                  </a:txBody>
                  <a:tcPr anchor="ctr">
                    <a:solidFill>
                      <a:srgbClr val="FFFFFF"/>
                    </a:solidFill>
                  </a:tcPr>
                </a:tc>
                <a:extLst>
                  <a:ext uri="{0D108BD9-81ED-4DB2-BD59-A6C34878D82A}">
                    <a16:rowId xmlns:a16="http://schemas.microsoft.com/office/drawing/2014/main" val="10001"/>
                  </a:ext>
                </a:extLst>
              </a:tr>
              <a:tr h="952500">
                <a:tc>
                  <a:txBody>
                    <a:bodyPr/>
                    <a:lstStyle/>
                    <a:p>
                      <a:pPr algn="l"/>
                      <a:r>
                        <a:rPr sz="2100" b="0">
                          <a:solidFill>
                            <a:srgbClr val="111111"/>
                          </a:solidFill>
                          <a:latin typeface="Aptos"/>
                          <a:ea typeface="Aptos"/>
                          <a:cs typeface="Aptos"/>
                        </a:rPr>
                        <a:t>B2.2</a:t>
                      </a:r>
                    </a:p>
                  </a:txBody>
                  <a:tcPr anchor="ctr">
                    <a:solidFill>
                      <a:srgbClr val="EFF7FD"/>
                    </a:solidFill>
                  </a:tcPr>
                </a:tc>
                <a:tc>
                  <a:txBody>
                    <a:bodyPr/>
                    <a:lstStyle/>
                    <a:p>
                      <a:pPr algn="l"/>
                      <a:r>
                        <a:rPr sz="2100" b="0">
                          <a:solidFill>
                            <a:srgbClr val="111111"/>
                          </a:solidFill>
                          <a:latin typeface="Aptos"/>
                          <a:ea typeface="Aptos"/>
                          <a:cs typeface="Aptos"/>
                        </a:rPr>
                        <a:t>Cluster</a:t>
                      </a:r>
                    </a:p>
                  </a:txBody>
                  <a:tcPr anchor="ctr">
                    <a:solidFill>
                      <a:srgbClr val="EFF7FD"/>
                    </a:solidFill>
                  </a:tcPr>
                </a:tc>
                <a:tc>
                  <a:txBody>
                    <a:bodyPr/>
                    <a:lstStyle/>
                    <a:p>
                      <a:pPr algn="l"/>
                      <a:r>
                        <a:rPr sz="2100" b="0">
                          <a:solidFill>
                            <a:srgbClr val="111111"/>
                          </a:solidFill>
                          <a:latin typeface="Aptos"/>
                          <a:ea typeface="Aptos"/>
                          <a:cs typeface="Aptos"/>
                        </a:rPr>
                        <a:t>9 × 42 = 378</a:t>
                      </a:r>
                    </a:p>
                  </a:txBody>
                  <a:tcPr anchor="ctr">
                    <a:solidFill>
                      <a:srgbClr val="EFF7FD"/>
                    </a:solidFill>
                  </a:tcPr>
                </a:tc>
                <a:tc>
                  <a:txBody>
                    <a:bodyPr/>
                    <a:lstStyle/>
                    <a:p>
                      <a:pPr algn="l"/>
                      <a:r>
                        <a:rPr sz="2100" b="0">
                          <a:solidFill>
                            <a:srgbClr val="111111"/>
                          </a:solidFill>
                          <a:latin typeface="Aptos"/>
                          <a:ea typeface="Aptos"/>
                          <a:cs typeface="Aptos"/>
                        </a:rPr>
                        <a:t>Everyone in selected classes</a:t>
                      </a:r>
                    </a:p>
                  </a:txBody>
                  <a:tcPr anchor="ctr">
                    <a:solidFill>
                      <a:srgbClr val="EFF7FD"/>
                    </a:solidFill>
                  </a:tcPr>
                </a:tc>
                <a:extLst>
                  <a:ext uri="{0D108BD9-81ED-4DB2-BD59-A6C34878D82A}">
                    <a16:rowId xmlns:a16="http://schemas.microsoft.com/office/drawing/2014/main" val="10002"/>
                  </a:ext>
                </a:extLst>
              </a:tr>
              <a:tr h="952500">
                <a:tc>
                  <a:txBody>
                    <a:bodyPr/>
                    <a:lstStyle/>
                    <a:p>
                      <a:pPr algn="l"/>
                      <a:r>
                        <a:rPr sz="2100" b="0">
                          <a:solidFill>
                            <a:srgbClr val="111111"/>
                          </a:solidFill>
                          <a:latin typeface="Aptos"/>
                          <a:ea typeface="Aptos"/>
                          <a:cs typeface="Aptos"/>
                        </a:rPr>
                        <a:t>B2.3</a:t>
                      </a:r>
                    </a:p>
                  </a:txBody>
                  <a:tcPr anchor="ctr">
                    <a:solidFill>
                      <a:srgbClr val="FFFFFF"/>
                    </a:solidFill>
                  </a:tcPr>
                </a:tc>
                <a:tc>
                  <a:txBody>
                    <a:bodyPr/>
                    <a:lstStyle/>
                    <a:p>
                      <a:pPr algn="l"/>
                      <a:r>
                        <a:rPr sz="2100" b="0">
                          <a:solidFill>
                            <a:srgbClr val="111111"/>
                          </a:solidFill>
                          <a:latin typeface="Aptos"/>
                          <a:ea typeface="Aptos"/>
                          <a:cs typeface="Aptos"/>
                        </a:rPr>
                        <a:t>Simple random</a:t>
                      </a:r>
                    </a:p>
                  </a:txBody>
                  <a:tcPr anchor="ctr">
                    <a:solidFill>
                      <a:srgbClr val="FFFFFF"/>
                    </a:solidFill>
                  </a:tcPr>
                </a:tc>
                <a:tc>
                  <a:txBody>
                    <a:bodyPr/>
                    <a:lstStyle/>
                    <a:p>
                      <a:pPr algn="l"/>
                      <a:r>
                        <a:rPr sz="2100" b="0">
                          <a:solidFill>
                            <a:srgbClr val="111111"/>
                          </a:solidFill>
                          <a:latin typeface="Aptos"/>
                          <a:ea typeface="Aptos"/>
                          <a:cs typeface="Aptos"/>
                        </a:rPr>
                        <a:t>378</a:t>
                      </a:r>
                    </a:p>
                  </a:txBody>
                  <a:tcPr anchor="ctr">
                    <a:solidFill>
                      <a:srgbClr val="FFFFFF"/>
                    </a:solidFill>
                  </a:tcPr>
                </a:tc>
                <a:tc>
                  <a:txBody>
                    <a:bodyPr/>
                    <a:lstStyle/>
                    <a:p>
                      <a:pPr algn="l"/>
                      <a:r>
                        <a:rPr sz="2100" b="0">
                          <a:solidFill>
                            <a:srgbClr val="111111"/>
                          </a:solidFill>
                          <a:latin typeface="Aptos"/>
                          <a:ea typeface="Aptos"/>
                          <a:cs typeface="Aptos"/>
                        </a:rPr>
                        <a:t>Individual IDs from the full list</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Teaching-287">
            <a:extLst>
              <a:ext uri="{FF2B5EF4-FFF2-40B4-BE49-F238E27FC236}">
                <a16:creationId xmlns:a16="http://schemas.microsoft.com/office/drawing/2014/main" id="{264A4FA1-31C7-463A-BFDB-9C6F651AF5FD}"/>
              </a:ext>
            </a:extLst>
          </p:cNvPr>
          <p:cNvSpPr>
            <a:spLocks noGrp="1"/>
          </p:cNvSpPr>
          <p:nvPr/>
        </p:nvSpPr>
        <p:spPr>
          <a:xfrm>
            <a:off x="523875" y="6010275"/>
            <a:ext cx="11087100" cy="333375"/>
          </a:xfrm>
          <a:prstGeom prst="rect">
            <a:avLst/>
          </a:prstGeom>
          <a:noFill/>
          <a:ln w="0">
            <a:noFill/>
          </a:ln>
        </p:spPr>
        <p:txBody>
          <a:bodyPr wrap="square" lIns="0" tIns="0" rIns="0" bIns="0" anchor="t">
            <a:noAutofit/>
          </a:bodyPr>
          <a:lstStyle/>
          <a:p>
            <a:pPr algn="l">
              <a:defRPr sz="1725" b="0">
                <a:solidFill>
                  <a:srgbClr val="666666"/>
                </a:solidFill>
                <a:latin typeface="Aptos"/>
                <a:ea typeface="Aptos"/>
                <a:cs typeface="Aptos"/>
              </a:defRPr>
            </a:pPr>
            <a:r>
              <a:t>A sample size alone cannot identify the sampling method.</a:t>
            </a:r>
          </a:p>
        </p:txBody>
      </p:sp>
    </p:spTree>
    <p:extLst>
      <p:ext uri="{BB962C8B-B14F-4D97-AF65-F5344CB8AC3E}">
        <p14:creationId xmlns:p14="http://schemas.microsoft.com/office/powerpoint/2010/main" val="3281361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aching-288">
            <a:extLst>
              <a:ext uri="{FF2B5EF4-FFF2-40B4-BE49-F238E27FC236}">
                <a16:creationId xmlns:a16="http://schemas.microsoft.com/office/drawing/2014/main" id="{A57E933F-7227-4650-BF18-C25A97CB8BC3}"/>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B2: Is the selection valid?</a:t>
            </a:r>
          </a:p>
        </p:txBody>
      </p:sp>
      <p:sp>
        <p:nvSpPr>
          <p:cNvPr id="2" name="Teaching-289">
            <a:extLst>
              <a:ext uri="{FF2B5EF4-FFF2-40B4-BE49-F238E27FC236}">
                <a16:creationId xmlns:a16="http://schemas.microsoft.com/office/drawing/2014/main" id="{0F86081D-6BDE-4DF0-9A4E-9EDC8B5EFE5A}"/>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290">
            <a:extLst>
              <a:ext uri="{FF2B5EF4-FFF2-40B4-BE49-F238E27FC236}">
                <a16:creationId xmlns:a16="http://schemas.microsoft.com/office/drawing/2014/main" id="{88A8F9EC-BC3A-4546-83C9-2F8A7CDB3CA6}"/>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EXERCISE B2</a:t>
            </a:r>
          </a:p>
        </p:txBody>
      </p:sp>
      <p:sp>
        <p:nvSpPr>
          <p:cNvPr id="4" name="Teaching-291">
            <a:extLst>
              <a:ext uri="{FF2B5EF4-FFF2-40B4-BE49-F238E27FC236}">
                <a16:creationId xmlns:a16="http://schemas.microsoft.com/office/drawing/2014/main" id="{3CA68880-5399-4F93-9690-487E70C39B19}"/>
              </a:ext>
            </a:extLst>
          </p:cNvPr>
          <p:cNvSpPr>
            <a:spLocks noGrp="1"/>
          </p:cNvSpPr>
          <p:nvPr/>
        </p:nvSpPr>
        <p:spPr>
          <a:xfrm>
            <a:off x="428625" y="1952625"/>
            <a:ext cx="11296650" cy="5905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Use the same </a:t>
            </a:r>
            <a:r>
              <a:rPr b="1"/>
              <a:t>54 classes of 42 students</a:t>
            </a:r>
            <a:r>
              <a:t>.</a:t>
            </a:r>
          </a:p>
        </p:txBody>
      </p:sp>
      <p:sp>
        <p:nvSpPr>
          <p:cNvPr id="5" name="Teaching-292">
            <a:extLst>
              <a:ext uri="{FF2B5EF4-FFF2-40B4-BE49-F238E27FC236}">
                <a16:creationId xmlns:a16="http://schemas.microsoft.com/office/drawing/2014/main" id="{A255F528-4168-4357-8255-FA8854249055}"/>
              </a:ext>
            </a:extLst>
          </p:cNvPr>
          <p:cNvSpPr>
            <a:spLocks noGrp="1"/>
          </p:cNvSpPr>
          <p:nvPr/>
        </p:nvSpPr>
        <p:spPr>
          <a:xfrm>
            <a:off x="619125" y="3048000"/>
            <a:ext cx="10763250" cy="723900"/>
          </a:xfrm>
          <a:prstGeom prst="rect">
            <a:avLst/>
          </a:prstGeom>
          <a:noFill/>
          <a:ln w="0">
            <a:noFill/>
          </a:ln>
        </p:spPr>
        <p:txBody>
          <a:bodyPr wrap="square" lIns="0" tIns="0" rIns="0" bIns="0" anchor="t">
            <a:noAutofit/>
          </a:bodyPr>
          <a:lstStyle/>
          <a:p>
            <a:pPr algn="l">
              <a:defRPr sz="2475" b="0">
                <a:solidFill>
                  <a:srgbClr val="111111"/>
                </a:solidFill>
                <a:latin typeface="Aptos"/>
                <a:ea typeface="Aptos"/>
                <a:cs typeface="Aptos"/>
              </a:defRPr>
            </a:pPr>
            <a:r>
              <a:rPr b="1"/>
              <a:t>B2.4</a:t>
            </a:r>
            <a:r>
              <a:t>  Take the first 7 names from every class register.</a:t>
            </a:r>
          </a:p>
        </p:txBody>
      </p:sp>
      <p:sp>
        <p:nvSpPr>
          <p:cNvPr id="6" name="Teaching-293">
            <a:extLst>
              <a:ext uri="{FF2B5EF4-FFF2-40B4-BE49-F238E27FC236}">
                <a16:creationId xmlns:a16="http://schemas.microsoft.com/office/drawing/2014/main" id="{5492C395-B2B9-457F-96E6-E40408567EFF}"/>
              </a:ext>
            </a:extLst>
          </p:cNvPr>
          <p:cNvSpPr>
            <a:spLocks noGrp="1"/>
          </p:cNvSpPr>
          <p:nvPr/>
        </p:nvSpPr>
        <p:spPr>
          <a:xfrm>
            <a:off x="619125" y="4010025"/>
            <a:ext cx="10763250" cy="866775"/>
          </a:xfrm>
          <a:prstGeom prst="rect">
            <a:avLst/>
          </a:prstGeom>
          <a:noFill/>
          <a:ln w="0">
            <a:noFill/>
          </a:ln>
        </p:spPr>
        <p:txBody>
          <a:bodyPr wrap="square" lIns="0" tIns="0" rIns="0" bIns="0" anchor="t">
            <a:noAutofit/>
          </a:bodyPr>
          <a:lstStyle/>
          <a:p>
            <a:pPr algn="l">
              <a:defRPr sz="2475" b="0">
                <a:solidFill>
                  <a:srgbClr val="111111"/>
                </a:solidFill>
                <a:latin typeface="Aptos"/>
                <a:ea typeface="Aptos"/>
                <a:cs typeface="Aptos"/>
              </a:defRPr>
            </a:pPr>
            <a:r>
              <a:rPr b="1"/>
              <a:t>B2.5</a:t>
            </a:r>
            <a:r>
              <a:t>  Visit the 9 classrooms nearest the staff office</a:t>
            </a:r>
          </a:p>
          <a:p>
            <a:pPr algn="l">
              <a:defRPr sz="2475" b="0">
                <a:solidFill>
                  <a:srgbClr val="111111"/>
                </a:solidFill>
                <a:latin typeface="Aptos"/>
                <a:ea typeface="Aptos"/>
                <a:cs typeface="Aptos"/>
              </a:defRPr>
            </a:pPr>
            <a:r>
              <a:t>and invite everyone in them.</a:t>
            </a:r>
          </a:p>
        </p:txBody>
      </p:sp>
      <p:sp>
        <p:nvSpPr>
          <p:cNvPr id="7" name="Teaching-294">
            <a:extLst>
              <a:ext uri="{FF2B5EF4-FFF2-40B4-BE49-F238E27FC236}">
                <a16:creationId xmlns:a16="http://schemas.microsoft.com/office/drawing/2014/main" id="{F4FC681E-BD0D-49D7-85C1-51F58AB95D8E}"/>
              </a:ext>
            </a:extLst>
          </p:cNvPr>
          <p:cNvSpPr>
            <a:spLocks noGrp="1"/>
          </p:cNvSpPr>
          <p:nvPr/>
        </p:nvSpPr>
        <p:spPr>
          <a:xfrm>
            <a:off x="619125" y="5181600"/>
            <a:ext cx="10763250" cy="0"/>
          </a:xfrm>
          <a:prstGeom prst="line">
            <a:avLst/>
          </a:prstGeom>
          <a:noFill/>
          <a:ln w="9525">
            <a:solidFill>
              <a:srgbClr val="8A959C"/>
            </a:solidFill>
          </a:ln>
        </p:spPr>
        <p:txBody>
          <a:bodyPr/>
          <a:lstStyle/>
          <a:p>
            <a:endParaRPr lang="en-US"/>
          </a:p>
        </p:txBody>
      </p:sp>
      <p:sp>
        <p:nvSpPr>
          <p:cNvPr id="8" name="Teaching-295">
            <a:extLst>
              <a:ext uri="{FF2B5EF4-FFF2-40B4-BE49-F238E27FC236}">
                <a16:creationId xmlns:a16="http://schemas.microsoft.com/office/drawing/2014/main" id="{A4D880B3-B415-489A-8915-36FE4F052525}"/>
              </a:ext>
            </a:extLst>
          </p:cNvPr>
          <p:cNvSpPr>
            <a:spLocks noGrp="1"/>
          </p:cNvSpPr>
          <p:nvPr/>
        </p:nvSpPr>
        <p:spPr>
          <a:xfrm>
            <a:off x="619125" y="5486400"/>
            <a:ext cx="10763250" cy="790575"/>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t>For each plan: identify the fault, explain who is favoured,</a:t>
            </a:r>
          </a:p>
          <a:p>
            <a:pPr algn="l">
              <a:defRPr sz="2325" b="1">
                <a:solidFill>
                  <a:srgbClr val="111111"/>
                </a:solidFill>
                <a:latin typeface="Aptos"/>
                <a:ea typeface="Aptos"/>
                <a:cs typeface="Aptos"/>
              </a:defRPr>
            </a:pPr>
            <a:r>
              <a:t>and give a precise repair.</a:t>
            </a:r>
          </a:p>
        </p:txBody>
      </p:sp>
    </p:spTree>
    <p:extLst>
      <p:ext uri="{BB962C8B-B14F-4D97-AF65-F5344CB8AC3E}">
        <p14:creationId xmlns:p14="http://schemas.microsoft.com/office/powerpoint/2010/main" val="3281361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aching-296">
            <a:extLst>
              <a:ext uri="{FF2B5EF4-FFF2-40B4-BE49-F238E27FC236}">
                <a16:creationId xmlns:a16="http://schemas.microsoft.com/office/drawing/2014/main" id="{585D2FB5-91D6-4A27-B0DD-75E678FDD3AE}"/>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B2: Repairs to the process</a:t>
            </a:r>
          </a:p>
        </p:txBody>
      </p:sp>
      <p:sp>
        <p:nvSpPr>
          <p:cNvPr id="2" name="Teaching-297">
            <a:extLst>
              <a:ext uri="{FF2B5EF4-FFF2-40B4-BE49-F238E27FC236}">
                <a16:creationId xmlns:a16="http://schemas.microsoft.com/office/drawing/2014/main" id="{42538E88-549A-4880-AB05-910C9AF5D6DF}"/>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298">
            <a:extLst>
              <a:ext uri="{FF2B5EF4-FFF2-40B4-BE49-F238E27FC236}">
                <a16:creationId xmlns:a16="http://schemas.microsoft.com/office/drawing/2014/main" id="{1182A4EE-24E5-4F07-9B03-3B056DADB994}"/>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EXERCISE B2</a:t>
            </a:r>
          </a:p>
        </p:txBody>
      </p:sp>
      <p:graphicFrame>
        <p:nvGraphicFramePr>
          <p:cNvPr id="9" name="Table 8"/>
          <p:cNvGraphicFramePr/>
          <p:nvPr/>
        </p:nvGraphicFramePr>
        <p:xfrm>
          <a:off x="619125" y="2238375"/>
          <a:ext cx="10715625" cy="3190875"/>
        </p:xfrm>
        <a:graphic>
          <a:graphicData uri="http://schemas.openxmlformats.org/drawingml/2006/table">
            <a:tbl>
              <a:tblPr/>
              <a:tblGrid>
                <a:gridCol w="142875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714875">
                  <a:extLst>
                    <a:ext uri="{9D8B030D-6E8A-4147-A177-3AD203B41FA5}">
                      <a16:colId xmlns:a16="http://schemas.microsoft.com/office/drawing/2014/main" val="20002"/>
                    </a:ext>
                  </a:extLst>
                </a:gridCol>
              </a:tblGrid>
              <a:tr h="523875">
                <a:tc>
                  <a:txBody>
                    <a:bodyPr/>
                    <a:lstStyle/>
                    <a:p>
                      <a:pPr algn="l"/>
                      <a:r>
                        <a:rPr sz="2100" b="1">
                          <a:solidFill>
                            <a:srgbClr val="FFFFFF"/>
                          </a:solidFill>
                          <a:latin typeface="Aptos"/>
                          <a:ea typeface="Aptos"/>
                          <a:cs typeface="Aptos"/>
                        </a:rPr>
                        <a:t>Plan</a:t>
                      </a:r>
                    </a:p>
                  </a:txBody>
                  <a:tcPr anchor="ctr">
                    <a:solidFill>
                      <a:srgbClr val="D9101B"/>
                    </a:solidFill>
                  </a:tcPr>
                </a:tc>
                <a:tc>
                  <a:txBody>
                    <a:bodyPr/>
                    <a:lstStyle/>
                    <a:p>
                      <a:pPr algn="l"/>
                      <a:r>
                        <a:rPr sz="2100" b="1">
                          <a:solidFill>
                            <a:srgbClr val="FFFFFF"/>
                          </a:solidFill>
                          <a:latin typeface="Aptos"/>
                          <a:ea typeface="Aptos"/>
                          <a:cs typeface="Aptos"/>
                        </a:rPr>
                        <a:t>Problem and possible effect</a:t>
                      </a:r>
                    </a:p>
                  </a:txBody>
                  <a:tcPr anchor="ctr">
                    <a:solidFill>
                      <a:srgbClr val="D9101B"/>
                    </a:solidFill>
                  </a:tcPr>
                </a:tc>
                <a:tc>
                  <a:txBody>
                    <a:bodyPr/>
                    <a:lstStyle/>
                    <a:p>
                      <a:pPr algn="l"/>
                      <a:r>
                        <a:rPr sz="2100" b="1">
                          <a:solidFill>
                            <a:srgbClr val="FFFFFF"/>
                          </a:solidFill>
                          <a:latin typeface="Aptos"/>
                          <a:ea typeface="Aptos"/>
                          <a:cs typeface="Aptos"/>
                        </a:rPr>
                        <a:t>Repair</a:t>
                      </a:r>
                    </a:p>
                  </a:txBody>
                  <a:tcPr anchor="ctr">
                    <a:solidFill>
                      <a:srgbClr val="D9101B"/>
                    </a:solidFill>
                  </a:tcPr>
                </a:tc>
                <a:extLst>
                  <a:ext uri="{0D108BD9-81ED-4DB2-BD59-A6C34878D82A}">
                    <a16:rowId xmlns:a16="http://schemas.microsoft.com/office/drawing/2014/main" val="10000"/>
                  </a:ext>
                </a:extLst>
              </a:tr>
              <a:tr h="1333500">
                <a:tc>
                  <a:txBody>
                    <a:bodyPr/>
                    <a:lstStyle/>
                    <a:p>
                      <a:pPr algn="l"/>
                      <a:r>
                        <a:rPr sz="2100" b="0">
                          <a:solidFill>
                            <a:srgbClr val="111111"/>
                          </a:solidFill>
                          <a:latin typeface="Aptos"/>
                          <a:ea typeface="Aptos"/>
                          <a:cs typeface="Aptos"/>
                        </a:rPr>
                        <a:t>B2.4</a:t>
                      </a:r>
                    </a:p>
                  </a:txBody>
                  <a:tcPr anchor="ctr">
                    <a:solidFill>
                      <a:srgbClr val="FFFFFF"/>
                    </a:solidFill>
                  </a:tcPr>
                </a:tc>
                <a:tc>
                  <a:txBody>
                    <a:bodyPr/>
                    <a:lstStyle/>
                    <a:p>
                      <a:pPr algn="l"/>
                      <a:r>
                        <a:rPr sz="2100" b="0">
                          <a:solidFill>
                            <a:srgbClr val="111111"/>
                          </a:solidFill>
                          <a:latin typeface="Aptos"/>
                          <a:ea typeface="Aptos"/>
                          <a:cs typeface="Aptos"/>
                        </a:rPr>
                        <a:t>Early entries always get selected. Later entries have no chance.</a:t>
                      </a:r>
                    </a:p>
                  </a:txBody>
                  <a:tcPr anchor="ctr">
                    <a:solidFill>
                      <a:srgbClr val="FFFFFF"/>
                    </a:solidFill>
                  </a:tcPr>
                </a:tc>
                <a:tc>
                  <a:txBody>
                    <a:bodyPr/>
                    <a:lstStyle/>
                    <a:p>
                      <a:pPr algn="l"/>
                      <a:r>
                        <a:rPr sz="2100" b="0">
                          <a:solidFill>
                            <a:srgbClr val="111111"/>
                          </a:solidFill>
                          <a:latin typeface="Aptos"/>
                          <a:ea typeface="Aptos"/>
                          <a:cs typeface="Aptos"/>
                        </a:rPr>
                        <a:t>Generate 7 distinct random IDs within each complete class list.</a:t>
                      </a:r>
                    </a:p>
                  </a:txBody>
                  <a:tcPr anchor="ctr">
                    <a:solidFill>
                      <a:srgbClr val="FFFFFF"/>
                    </a:solidFill>
                  </a:tcPr>
                </a:tc>
                <a:extLst>
                  <a:ext uri="{0D108BD9-81ED-4DB2-BD59-A6C34878D82A}">
                    <a16:rowId xmlns:a16="http://schemas.microsoft.com/office/drawing/2014/main" val="10001"/>
                  </a:ext>
                </a:extLst>
              </a:tr>
              <a:tr h="1333500">
                <a:tc>
                  <a:txBody>
                    <a:bodyPr/>
                    <a:lstStyle/>
                    <a:p>
                      <a:pPr algn="l"/>
                      <a:r>
                        <a:rPr sz="2100" b="0">
                          <a:solidFill>
                            <a:srgbClr val="111111"/>
                          </a:solidFill>
                          <a:latin typeface="Aptos"/>
                          <a:ea typeface="Aptos"/>
                          <a:cs typeface="Aptos"/>
                        </a:rPr>
                        <a:t>B2.5</a:t>
                      </a:r>
                    </a:p>
                  </a:txBody>
                  <a:tcPr anchor="ctr">
                    <a:solidFill>
                      <a:srgbClr val="EFF7FD"/>
                    </a:solidFill>
                  </a:tcPr>
                </a:tc>
                <a:tc>
                  <a:txBody>
                    <a:bodyPr/>
                    <a:lstStyle/>
                    <a:p>
                      <a:pPr algn="l"/>
                      <a:r>
                        <a:rPr sz="2100" b="0">
                          <a:solidFill>
                            <a:srgbClr val="111111"/>
                          </a:solidFill>
                          <a:latin typeface="Aptos"/>
                          <a:ea typeface="Aptos"/>
                          <a:cs typeface="Aptos"/>
                        </a:rPr>
                        <a:t>Nearby classes always get selected. Other locations have no chance.</a:t>
                      </a:r>
                    </a:p>
                  </a:txBody>
                  <a:tcPr anchor="ctr">
                    <a:solidFill>
                      <a:srgbClr val="EFF7FD"/>
                    </a:solidFill>
                  </a:tcPr>
                </a:tc>
                <a:tc>
                  <a:txBody>
                    <a:bodyPr/>
                    <a:lstStyle/>
                    <a:p>
                      <a:pPr algn="l"/>
                      <a:r>
                        <a:rPr sz="2100" b="0">
                          <a:solidFill>
                            <a:srgbClr val="111111"/>
                          </a:solidFill>
                          <a:latin typeface="Aptos"/>
                          <a:ea typeface="Aptos"/>
                          <a:cs typeface="Aptos"/>
                        </a:rPr>
                        <a:t>Generate 9 distinct random class IDs from all 54 classes.</a:t>
                      </a:r>
                    </a:p>
                  </a:txBody>
                  <a:tcPr anchor="ctr">
                    <a:solidFill>
                      <a:srgbClr val="EFF7FD"/>
                    </a:solidFill>
                  </a:tcPr>
                </a:tc>
                <a:extLst>
                  <a:ext uri="{0D108BD9-81ED-4DB2-BD59-A6C34878D82A}">
                    <a16:rowId xmlns:a16="http://schemas.microsoft.com/office/drawing/2014/main" val="10002"/>
                  </a:ext>
                </a:extLst>
              </a:tr>
            </a:tbl>
          </a:graphicData>
        </a:graphic>
      </p:graphicFrame>
      <p:sp>
        <p:nvSpPr>
          <p:cNvPr id="5" name="Teaching-299">
            <a:extLst>
              <a:ext uri="{FF2B5EF4-FFF2-40B4-BE49-F238E27FC236}">
                <a16:creationId xmlns:a16="http://schemas.microsoft.com/office/drawing/2014/main" id="{D7952596-5CD9-42C1-A6C2-73BC1AF854BD}"/>
              </a:ext>
            </a:extLst>
          </p:cNvPr>
          <p:cNvSpPr>
            <a:spLocks noGrp="1"/>
          </p:cNvSpPr>
          <p:nvPr/>
        </p:nvSpPr>
        <p:spPr>
          <a:xfrm>
            <a:off x="619125" y="5600700"/>
            <a:ext cx="10763250" cy="733425"/>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t>The selection rules exclude people systematically.</a:t>
            </a:r>
          </a:p>
          <a:p>
            <a:pPr algn="l">
              <a:defRPr sz="2175" b="0">
                <a:solidFill>
                  <a:srgbClr val="111111"/>
                </a:solidFill>
                <a:latin typeface="Aptos"/>
                <a:ea typeface="Aptos"/>
                <a:cs typeface="Aptos"/>
              </a:defRPr>
            </a:pPr>
            <a:r>
              <a:t>The direction of any resulting opinion bias is not given.</a:t>
            </a:r>
          </a:p>
        </p:txBody>
      </p:sp>
    </p:spTree>
    <p:extLst>
      <p:ext uri="{BB962C8B-B14F-4D97-AF65-F5344CB8AC3E}">
        <p14:creationId xmlns:p14="http://schemas.microsoft.com/office/powerpoint/2010/main" val="32813612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140" y="2154460"/>
            <a:ext cx="5966365" cy="3318891"/>
          </a:xfrm>
        </p:spPr>
        <p:txBody>
          <a:bodyPr wrap="square" lIns="91440" tIns="45720" rIns="91440" bIns="45720" anchor="ctr">
            <a:noAutofit/>
          </a:bodyPr>
          <a:lstStyle/>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Section 3:</a:t>
            </a:r>
          </a:p>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Sampling Variation</a:t>
            </a:r>
          </a:p>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and Bias</a:t>
            </a:r>
          </a:p>
        </p:txBody>
      </p:sp>
    </p:spTree>
    <p:extLst>
      <p:ext uri="{BB962C8B-B14F-4D97-AF65-F5344CB8AC3E}">
        <p14:creationId xmlns:p14="http://schemas.microsoft.com/office/powerpoint/2010/main" val="3281361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aching-300">
            <a:extLst>
              <a:ext uri="{FF2B5EF4-FFF2-40B4-BE49-F238E27FC236}">
                <a16:creationId xmlns:a16="http://schemas.microsoft.com/office/drawing/2014/main" id="{497D7935-40DB-409B-BFC6-89AA58D2B48D}"/>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Different samples, different results</a:t>
            </a:r>
          </a:p>
        </p:txBody>
      </p:sp>
      <p:sp>
        <p:nvSpPr>
          <p:cNvPr id="2" name="Teaching-301">
            <a:extLst>
              <a:ext uri="{FF2B5EF4-FFF2-40B4-BE49-F238E27FC236}">
                <a16:creationId xmlns:a16="http://schemas.microsoft.com/office/drawing/2014/main" id="{861EA698-5CC1-409A-82FB-78D55A84366F}"/>
              </a:ext>
            </a:extLst>
          </p:cNvPr>
          <p:cNvSpPr>
            <a:spLocks noGrp="1"/>
          </p:cNvSpPr>
          <p:nvPr/>
        </p:nvSpPr>
        <p:spPr>
          <a:xfrm>
            <a:off x="428625" y="1952625"/>
            <a:ext cx="11296650" cy="7429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Three valid random samples estimate support for longer library hours.</a:t>
            </a:r>
          </a:p>
        </p:txBody>
      </p:sp>
      <p:sp>
        <p:nvSpPr>
          <p:cNvPr id="3" name="Teaching-302">
            <a:extLst>
              <a:ext uri="{FF2B5EF4-FFF2-40B4-BE49-F238E27FC236}">
                <a16:creationId xmlns:a16="http://schemas.microsoft.com/office/drawing/2014/main" id="{1FD83572-D14A-44A7-8751-747D33B9D7A6}"/>
              </a:ext>
            </a:extLst>
          </p:cNvPr>
          <p:cNvSpPr>
            <a:spLocks noGrp="1"/>
          </p:cNvSpPr>
          <p:nvPr/>
        </p:nvSpPr>
        <p:spPr>
          <a:xfrm>
            <a:off x="952500" y="3238500"/>
            <a:ext cx="2857500" cy="447675"/>
          </a:xfrm>
          <a:prstGeom prst="rect">
            <a:avLst/>
          </a:prstGeom>
          <a:noFill/>
          <a:ln w="0">
            <a:noFill/>
          </a:ln>
        </p:spPr>
        <p:txBody>
          <a:bodyPr wrap="square" lIns="0" tIns="0" rIns="0" bIns="0" anchor="t">
            <a:noAutofit/>
          </a:bodyPr>
          <a:lstStyle/>
          <a:p>
            <a:pPr algn="ctr">
              <a:defRPr sz="2400" b="1">
                <a:solidFill>
                  <a:srgbClr val="111111"/>
                </a:solidFill>
                <a:latin typeface="Aptos"/>
                <a:ea typeface="Aptos"/>
                <a:cs typeface="Aptos"/>
              </a:defRPr>
            </a:pPr>
            <a:r>
              <a:t>Sample 1</a:t>
            </a:r>
          </a:p>
        </p:txBody>
      </p:sp>
      <p:sp>
        <p:nvSpPr>
          <p:cNvPr id="4" name="Teaching-303">
            <a:extLst>
              <a:ext uri="{FF2B5EF4-FFF2-40B4-BE49-F238E27FC236}">
                <a16:creationId xmlns:a16="http://schemas.microsoft.com/office/drawing/2014/main" id="{056AE3E4-4DDC-428F-A0CC-DDD9240641D4}"/>
              </a:ext>
            </a:extLst>
          </p:cNvPr>
          <p:cNvSpPr>
            <a:spLocks noGrp="1"/>
          </p:cNvSpPr>
          <p:nvPr/>
        </p:nvSpPr>
        <p:spPr>
          <a:xfrm>
            <a:off x="952500" y="3876675"/>
            <a:ext cx="2857500" cy="1019175"/>
          </a:xfrm>
          <a:prstGeom prst="rect">
            <a:avLst/>
          </a:prstGeom>
          <a:noFill/>
          <a:ln w="0">
            <a:noFill/>
          </a:ln>
        </p:spPr>
        <p:txBody>
          <a:bodyPr wrap="square" lIns="0" tIns="0" rIns="0" bIns="0" anchor="t">
            <a:noAutofit/>
          </a:bodyPr>
          <a:lstStyle/>
          <a:p>
            <a:pPr algn="ctr">
              <a:defRPr sz="5250" b="1">
                <a:solidFill>
                  <a:srgbClr val="244E6A"/>
                </a:solidFill>
                <a:latin typeface="Aptos"/>
                <a:ea typeface="Aptos"/>
                <a:cs typeface="Aptos"/>
              </a:defRPr>
            </a:pPr>
            <a:r>
              <a:t>58%</a:t>
            </a:r>
          </a:p>
        </p:txBody>
      </p:sp>
      <p:sp>
        <p:nvSpPr>
          <p:cNvPr id="5" name="Teaching-304">
            <a:extLst>
              <a:ext uri="{FF2B5EF4-FFF2-40B4-BE49-F238E27FC236}">
                <a16:creationId xmlns:a16="http://schemas.microsoft.com/office/drawing/2014/main" id="{15DC8583-F43C-437E-961B-9D7E7A6EC8D0}"/>
              </a:ext>
            </a:extLst>
          </p:cNvPr>
          <p:cNvSpPr>
            <a:spLocks noGrp="1"/>
          </p:cNvSpPr>
          <p:nvPr/>
        </p:nvSpPr>
        <p:spPr>
          <a:xfrm>
            <a:off x="4857750" y="3238500"/>
            <a:ext cx="2857500" cy="447675"/>
          </a:xfrm>
          <a:prstGeom prst="rect">
            <a:avLst/>
          </a:prstGeom>
          <a:noFill/>
          <a:ln w="0">
            <a:noFill/>
          </a:ln>
        </p:spPr>
        <p:txBody>
          <a:bodyPr wrap="square" lIns="0" tIns="0" rIns="0" bIns="0" anchor="t">
            <a:noAutofit/>
          </a:bodyPr>
          <a:lstStyle/>
          <a:p>
            <a:pPr algn="ctr">
              <a:defRPr sz="2400" b="1">
                <a:solidFill>
                  <a:srgbClr val="111111"/>
                </a:solidFill>
                <a:latin typeface="Aptos"/>
                <a:ea typeface="Aptos"/>
                <a:cs typeface="Aptos"/>
              </a:defRPr>
            </a:pPr>
            <a:r>
              <a:t>Sample 2</a:t>
            </a:r>
          </a:p>
        </p:txBody>
      </p:sp>
      <p:sp>
        <p:nvSpPr>
          <p:cNvPr id="6" name="Teaching-305">
            <a:extLst>
              <a:ext uri="{FF2B5EF4-FFF2-40B4-BE49-F238E27FC236}">
                <a16:creationId xmlns:a16="http://schemas.microsoft.com/office/drawing/2014/main" id="{BE35454C-8C13-463E-9613-968CDE8B2050}"/>
              </a:ext>
            </a:extLst>
          </p:cNvPr>
          <p:cNvSpPr>
            <a:spLocks noGrp="1"/>
          </p:cNvSpPr>
          <p:nvPr/>
        </p:nvSpPr>
        <p:spPr>
          <a:xfrm>
            <a:off x="4857750" y="3876675"/>
            <a:ext cx="2857500" cy="1019175"/>
          </a:xfrm>
          <a:prstGeom prst="rect">
            <a:avLst/>
          </a:prstGeom>
          <a:noFill/>
          <a:ln w="0">
            <a:noFill/>
          </a:ln>
        </p:spPr>
        <p:txBody>
          <a:bodyPr wrap="square" lIns="0" tIns="0" rIns="0" bIns="0" anchor="t">
            <a:noAutofit/>
          </a:bodyPr>
          <a:lstStyle/>
          <a:p>
            <a:pPr algn="ctr">
              <a:defRPr sz="5250" b="1">
                <a:solidFill>
                  <a:srgbClr val="244E6A"/>
                </a:solidFill>
                <a:latin typeface="Aptos"/>
                <a:ea typeface="Aptos"/>
                <a:cs typeface="Aptos"/>
              </a:defRPr>
            </a:pPr>
            <a:r>
              <a:t>63%</a:t>
            </a:r>
          </a:p>
        </p:txBody>
      </p:sp>
      <p:sp>
        <p:nvSpPr>
          <p:cNvPr id="7" name="Teaching-306">
            <a:extLst>
              <a:ext uri="{FF2B5EF4-FFF2-40B4-BE49-F238E27FC236}">
                <a16:creationId xmlns:a16="http://schemas.microsoft.com/office/drawing/2014/main" id="{97E8B93C-E30C-48A3-8DAF-4B6207E579F0}"/>
              </a:ext>
            </a:extLst>
          </p:cNvPr>
          <p:cNvSpPr>
            <a:spLocks noGrp="1"/>
          </p:cNvSpPr>
          <p:nvPr/>
        </p:nvSpPr>
        <p:spPr>
          <a:xfrm>
            <a:off x="8763000" y="3238500"/>
            <a:ext cx="2857500" cy="447675"/>
          </a:xfrm>
          <a:prstGeom prst="rect">
            <a:avLst/>
          </a:prstGeom>
          <a:noFill/>
          <a:ln w="0">
            <a:noFill/>
          </a:ln>
        </p:spPr>
        <p:txBody>
          <a:bodyPr wrap="square" lIns="0" tIns="0" rIns="0" bIns="0" anchor="t">
            <a:noAutofit/>
          </a:bodyPr>
          <a:lstStyle/>
          <a:p>
            <a:pPr algn="ctr">
              <a:defRPr sz="2400" b="1">
                <a:solidFill>
                  <a:srgbClr val="111111"/>
                </a:solidFill>
                <a:latin typeface="Aptos"/>
                <a:ea typeface="Aptos"/>
                <a:cs typeface="Aptos"/>
              </a:defRPr>
            </a:pPr>
            <a:r>
              <a:t>Sample 3</a:t>
            </a:r>
          </a:p>
        </p:txBody>
      </p:sp>
      <p:sp>
        <p:nvSpPr>
          <p:cNvPr id="8" name="Teaching-307">
            <a:extLst>
              <a:ext uri="{FF2B5EF4-FFF2-40B4-BE49-F238E27FC236}">
                <a16:creationId xmlns:a16="http://schemas.microsoft.com/office/drawing/2014/main" id="{5E7EFB99-414F-4256-88E0-0CF15C596172}"/>
              </a:ext>
            </a:extLst>
          </p:cNvPr>
          <p:cNvSpPr>
            <a:spLocks noGrp="1"/>
          </p:cNvSpPr>
          <p:nvPr/>
        </p:nvSpPr>
        <p:spPr>
          <a:xfrm>
            <a:off x="8763000" y="3876675"/>
            <a:ext cx="2857500" cy="1019175"/>
          </a:xfrm>
          <a:prstGeom prst="rect">
            <a:avLst/>
          </a:prstGeom>
          <a:noFill/>
          <a:ln w="0">
            <a:noFill/>
          </a:ln>
        </p:spPr>
        <p:txBody>
          <a:bodyPr wrap="square" lIns="0" tIns="0" rIns="0" bIns="0" anchor="t">
            <a:noAutofit/>
          </a:bodyPr>
          <a:lstStyle/>
          <a:p>
            <a:pPr algn="ctr">
              <a:defRPr sz="5250" b="1">
                <a:solidFill>
                  <a:srgbClr val="244E6A"/>
                </a:solidFill>
                <a:latin typeface="Aptos"/>
                <a:ea typeface="Aptos"/>
                <a:cs typeface="Aptos"/>
              </a:defRPr>
            </a:pPr>
            <a:r>
              <a:t>60%</a:t>
            </a:r>
          </a:p>
        </p:txBody>
      </p:sp>
      <p:sp>
        <p:nvSpPr>
          <p:cNvPr id="9" name="Teaching-308">
            <a:extLst>
              <a:ext uri="{FF2B5EF4-FFF2-40B4-BE49-F238E27FC236}">
                <a16:creationId xmlns:a16="http://schemas.microsoft.com/office/drawing/2014/main" id="{2820AEBB-89B2-4DA3-8B50-3C46204600D2}"/>
              </a:ext>
            </a:extLst>
          </p:cNvPr>
          <p:cNvSpPr>
            <a:spLocks noGrp="1"/>
          </p:cNvSpPr>
          <p:nvPr/>
        </p:nvSpPr>
        <p:spPr>
          <a:xfrm>
            <a:off x="619125" y="5295900"/>
            <a:ext cx="10763250" cy="8382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Sampling variation:</a:t>
            </a:r>
            <a:r>
              <a:t> estimates change because different people</a:t>
            </a:r>
          </a:p>
          <a:p>
            <a:pPr algn="l">
              <a:defRPr sz="2325" b="0">
                <a:solidFill>
                  <a:srgbClr val="111111"/>
                </a:solidFill>
                <a:latin typeface="Aptos"/>
                <a:ea typeface="Aptos"/>
                <a:cs typeface="Aptos"/>
              </a:defRPr>
            </a:pPr>
            <a:r>
              <a:t>enter the samples.</a:t>
            </a:r>
          </a:p>
        </p:txBody>
      </p:sp>
      <p:sp>
        <p:nvSpPr>
          <p:cNvPr id="10" name="Teaching-309">
            <a:extLst>
              <a:ext uri="{FF2B5EF4-FFF2-40B4-BE49-F238E27FC236}">
                <a16:creationId xmlns:a16="http://schemas.microsoft.com/office/drawing/2014/main" id="{73DCAAEE-51E9-42AE-97D1-61B927523859}"/>
              </a:ext>
            </a:extLst>
          </p:cNvPr>
          <p:cNvSpPr>
            <a:spLocks noGrp="1"/>
          </p:cNvSpPr>
          <p:nvPr/>
        </p:nvSpPr>
        <p:spPr>
          <a:xfrm>
            <a:off x="523875" y="6010275"/>
            <a:ext cx="11087100" cy="333375"/>
          </a:xfrm>
          <a:prstGeom prst="rect">
            <a:avLst/>
          </a:prstGeom>
          <a:noFill/>
          <a:ln w="0">
            <a:noFill/>
          </a:ln>
        </p:spPr>
        <p:txBody>
          <a:bodyPr wrap="square" lIns="0" tIns="0" rIns="0" bIns="0" anchor="t">
            <a:noAutofit/>
          </a:bodyPr>
          <a:lstStyle/>
          <a:p>
            <a:pPr algn="l">
              <a:defRPr sz="1725" b="0">
                <a:solidFill>
                  <a:srgbClr val="666666"/>
                </a:solidFill>
                <a:latin typeface="Aptos"/>
                <a:ea typeface="Aptos"/>
                <a:cs typeface="Aptos"/>
              </a:defRPr>
            </a:pPr>
            <a:r>
              <a:t>Sampling error is the difference between a sample estimate and the population value.</a:t>
            </a:r>
          </a:p>
        </p:txBody>
      </p:sp>
    </p:spTree>
    <p:extLst>
      <p:ext uri="{BB962C8B-B14F-4D97-AF65-F5344CB8AC3E}">
        <p14:creationId xmlns:p14="http://schemas.microsoft.com/office/powerpoint/2010/main" val="32813612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aching-310">
            <a:extLst>
              <a:ext uri="{FF2B5EF4-FFF2-40B4-BE49-F238E27FC236}">
                <a16:creationId xmlns:a16="http://schemas.microsoft.com/office/drawing/2014/main" id="{60F5D323-3CC0-47EB-83F2-CE0E047D43EC}"/>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Chance variation and bias</a:t>
            </a:r>
          </a:p>
        </p:txBody>
      </p:sp>
      <p:sp>
        <p:nvSpPr>
          <p:cNvPr id="2" name="Teaching-311">
            <a:extLst>
              <a:ext uri="{FF2B5EF4-FFF2-40B4-BE49-F238E27FC236}">
                <a16:creationId xmlns:a16="http://schemas.microsoft.com/office/drawing/2014/main" id="{698C0A29-93C3-45BC-AE10-C2456027468E}"/>
              </a:ext>
            </a:extLst>
          </p:cNvPr>
          <p:cNvSpPr>
            <a:spLocks noGrp="1"/>
          </p:cNvSpPr>
          <p:nvPr/>
        </p:nvSpPr>
        <p:spPr>
          <a:xfrm>
            <a:off x="428625" y="1952625"/>
            <a:ext cx="11296650" cy="5143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Imagine repeating each sampling process many times.</a:t>
            </a:r>
          </a:p>
        </p:txBody>
      </p:sp>
      <p:sp>
        <p:nvSpPr>
          <p:cNvPr id="3" name="Teaching-312">
            <a:extLst>
              <a:ext uri="{FF2B5EF4-FFF2-40B4-BE49-F238E27FC236}">
                <a16:creationId xmlns:a16="http://schemas.microsoft.com/office/drawing/2014/main" id="{923F3D62-8453-44F1-85A6-1F21B8F52924}"/>
              </a:ext>
            </a:extLst>
          </p:cNvPr>
          <p:cNvSpPr>
            <a:spLocks noGrp="1"/>
          </p:cNvSpPr>
          <p:nvPr/>
        </p:nvSpPr>
        <p:spPr>
          <a:xfrm>
            <a:off x="7143750" y="3095625"/>
            <a:ext cx="0" cy="2228850"/>
          </a:xfrm>
          <a:prstGeom prst="line">
            <a:avLst/>
          </a:prstGeom>
          <a:noFill/>
          <a:ln w="19050">
            <a:solidFill>
              <a:srgbClr val="D9101B"/>
            </a:solidFill>
          </a:ln>
        </p:spPr>
        <p:txBody>
          <a:bodyPr/>
          <a:lstStyle/>
          <a:p>
            <a:endParaRPr lang="en-US"/>
          </a:p>
        </p:txBody>
      </p:sp>
      <p:sp>
        <p:nvSpPr>
          <p:cNvPr id="4" name="Teaching-313">
            <a:extLst>
              <a:ext uri="{FF2B5EF4-FFF2-40B4-BE49-F238E27FC236}">
                <a16:creationId xmlns:a16="http://schemas.microsoft.com/office/drawing/2014/main" id="{D798263E-9864-4402-A9F6-EAF6E6F8A62B}"/>
              </a:ext>
            </a:extLst>
          </p:cNvPr>
          <p:cNvSpPr>
            <a:spLocks noGrp="1"/>
          </p:cNvSpPr>
          <p:nvPr/>
        </p:nvSpPr>
        <p:spPr>
          <a:xfrm>
            <a:off x="5572125" y="2743200"/>
            <a:ext cx="3238500" cy="323850"/>
          </a:xfrm>
          <a:prstGeom prst="rect">
            <a:avLst/>
          </a:prstGeom>
          <a:noFill/>
          <a:ln w="0">
            <a:noFill/>
          </a:ln>
        </p:spPr>
        <p:txBody>
          <a:bodyPr wrap="square" lIns="0" tIns="0" rIns="0" bIns="0" anchor="t">
            <a:noAutofit/>
          </a:bodyPr>
          <a:lstStyle/>
          <a:p>
            <a:pPr algn="ctr">
              <a:defRPr sz="1875" b="1">
                <a:solidFill>
                  <a:srgbClr val="D9101B"/>
                </a:solidFill>
                <a:latin typeface="Aptos"/>
                <a:ea typeface="Aptos"/>
                <a:cs typeface="Aptos"/>
              </a:defRPr>
            </a:pPr>
            <a:r>
              <a:t>Population value = 60%</a:t>
            </a:r>
          </a:p>
        </p:txBody>
      </p:sp>
      <p:sp>
        <p:nvSpPr>
          <p:cNvPr id="5" name="Teaching-314">
            <a:extLst>
              <a:ext uri="{FF2B5EF4-FFF2-40B4-BE49-F238E27FC236}">
                <a16:creationId xmlns:a16="http://schemas.microsoft.com/office/drawing/2014/main" id="{3F0AB744-5152-4B5A-B8C0-FC1799A0252C}"/>
              </a:ext>
            </a:extLst>
          </p:cNvPr>
          <p:cNvSpPr>
            <a:spLocks noGrp="1"/>
          </p:cNvSpPr>
          <p:nvPr/>
        </p:nvSpPr>
        <p:spPr>
          <a:xfrm>
            <a:off x="571500" y="3267075"/>
            <a:ext cx="2857500" cy="390525"/>
          </a:xfrm>
          <a:prstGeom prst="rect">
            <a:avLst/>
          </a:prstGeom>
          <a:noFill/>
          <a:ln w="0">
            <a:noFill/>
          </a:ln>
        </p:spPr>
        <p:txBody>
          <a:bodyPr wrap="square" lIns="0" tIns="0" rIns="0" bIns="0" anchor="t">
            <a:noAutofit/>
          </a:bodyPr>
          <a:lstStyle/>
          <a:p>
            <a:pPr algn="l">
              <a:defRPr sz="2025" b="1">
                <a:solidFill>
                  <a:srgbClr val="111111"/>
                </a:solidFill>
                <a:latin typeface="Aptos"/>
                <a:ea typeface="Aptos"/>
                <a:cs typeface="Aptos"/>
              </a:defRPr>
            </a:pPr>
            <a:r>
              <a:t>A  Narrow spread</a:t>
            </a:r>
          </a:p>
        </p:txBody>
      </p:sp>
      <p:sp>
        <p:nvSpPr>
          <p:cNvPr id="6" name="Teaching-315">
            <a:extLst>
              <a:ext uri="{FF2B5EF4-FFF2-40B4-BE49-F238E27FC236}">
                <a16:creationId xmlns:a16="http://schemas.microsoft.com/office/drawing/2014/main" id="{4C7BB6B0-4211-408C-92BE-CE5983828A50}"/>
              </a:ext>
            </a:extLst>
          </p:cNvPr>
          <p:cNvSpPr>
            <a:spLocks noGrp="1"/>
          </p:cNvSpPr>
          <p:nvPr/>
        </p:nvSpPr>
        <p:spPr>
          <a:xfrm>
            <a:off x="3619500" y="3581400"/>
            <a:ext cx="7048500" cy="0"/>
          </a:xfrm>
          <a:prstGeom prst="line">
            <a:avLst/>
          </a:prstGeom>
          <a:noFill/>
          <a:ln w="9525">
            <a:solidFill>
              <a:srgbClr val="8A959C"/>
            </a:solidFill>
          </a:ln>
        </p:spPr>
        <p:txBody>
          <a:bodyPr/>
          <a:lstStyle/>
          <a:p>
            <a:endParaRPr lang="en-US"/>
          </a:p>
        </p:txBody>
      </p:sp>
      <p:sp>
        <p:nvSpPr>
          <p:cNvPr id="7" name="Teaching-316">
            <a:extLst>
              <a:ext uri="{FF2B5EF4-FFF2-40B4-BE49-F238E27FC236}">
                <a16:creationId xmlns:a16="http://schemas.microsoft.com/office/drawing/2014/main" id="{18D8B173-8628-4765-B231-E39B13459F0B}"/>
              </a:ext>
            </a:extLst>
          </p:cNvPr>
          <p:cNvSpPr>
            <a:spLocks noGrp="1"/>
          </p:cNvSpPr>
          <p:nvPr/>
        </p:nvSpPr>
        <p:spPr>
          <a:xfrm>
            <a:off x="6734175" y="3371850"/>
            <a:ext cx="114300" cy="114300"/>
          </a:xfrm>
          <a:prstGeom prst="ellipse">
            <a:avLst/>
          </a:prstGeom>
          <a:solidFill>
            <a:srgbClr val="244E6A"/>
          </a:solidFill>
          <a:ln w="13335">
            <a:solidFill>
              <a:srgbClr val="244E6A"/>
            </a:solidFill>
          </a:ln>
        </p:spPr>
        <p:txBody>
          <a:bodyPr/>
          <a:lstStyle/>
          <a:p>
            <a:endParaRPr lang="en-US"/>
          </a:p>
        </p:txBody>
      </p:sp>
      <p:sp>
        <p:nvSpPr>
          <p:cNvPr id="8" name="Teaching-317">
            <a:extLst>
              <a:ext uri="{FF2B5EF4-FFF2-40B4-BE49-F238E27FC236}">
                <a16:creationId xmlns:a16="http://schemas.microsoft.com/office/drawing/2014/main" id="{EA2D1CED-E274-458A-8E42-26142DF082C8}"/>
              </a:ext>
            </a:extLst>
          </p:cNvPr>
          <p:cNvSpPr>
            <a:spLocks noGrp="1"/>
          </p:cNvSpPr>
          <p:nvPr/>
        </p:nvSpPr>
        <p:spPr>
          <a:xfrm>
            <a:off x="6910388" y="3371850"/>
            <a:ext cx="114300" cy="114300"/>
          </a:xfrm>
          <a:prstGeom prst="ellipse">
            <a:avLst/>
          </a:prstGeom>
          <a:solidFill>
            <a:srgbClr val="244E6A"/>
          </a:solidFill>
          <a:ln w="13335">
            <a:solidFill>
              <a:srgbClr val="244E6A"/>
            </a:solidFill>
          </a:ln>
        </p:spPr>
        <p:txBody>
          <a:bodyPr/>
          <a:lstStyle/>
          <a:p>
            <a:endParaRPr lang="en-US"/>
          </a:p>
        </p:txBody>
      </p:sp>
      <p:sp>
        <p:nvSpPr>
          <p:cNvPr id="9" name="Teaching-318">
            <a:extLst>
              <a:ext uri="{FF2B5EF4-FFF2-40B4-BE49-F238E27FC236}">
                <a16:creationId xmlns:a16="http://schemas.microsoft.com/office/drawing/2014/main" id="{42B46BB1-0E68-4321-9E16-12723E97BCFB}"/>
              </a:ext>
            </a:extLst>
          </p:cNvPr>
          <p:cNvSpPr>
            <a:spLocks noGrp="1"/>
          </p:cNvSpPr>
          <p:nvPr/>
        </p:nvSpPr>
        <p:spPr>
          <a:xfrm>
            <a:off x="7086600" y="3371850"/>
            <a:ext cx="114300" cy="114300"/>
          </a:xfrm>
          <a:prstGeom prst="ellipse">
            <a:avLst/>
          </a:prstGeom>
          <a:solidFill>
            <a:srgbClr val="244E6A"/>
          </a:solidFill>
          <a:ln w="13335">
            <a:solidFill>
              <a:srgbClr val="244E6A"/>
            </a:solidFill>
          </a:ln>
        </p:spPr>
        <p:txBody>
          <a:bodyPr/>
          <a:lstStyle/>
          <a:p>
            <a:endParaRPr lang="en-US"/>
          </a:p>
        </p:txBody>
      </p:sp>
      <p:sp>
        <p:nvSpPr>
          <p:cNvPr id="10" name="Teaching-319">
            <a:extLst>
              <a:ext uri="{FF2B5EF4-FFF2-40B4-BE49-F238E27FC236}">
                <a16:creationId xmlns:a16="http://schemas.microsoft.com/office/drawing/2014/main" id="{4BD9FA2F-4CCC-4CD5-9FF6-48686120F3C0}"/>
              </a:ext>
            </a:extLst>
          </p:cNvPr>
          <p:cNvSpPr>
            <a:spLocks noGrp="1"/>
          </p:cNvSpPr>
          <p:nvPr/>
        </p:nvSpPr>
        <p:spPr>
          <a:xfrm>
            <a:off x="7262813" y="3371850"/>
            <a:ext cx="114300" cy="114300"/>
          </a:xfrm>
          <a:prstGeom prst="ellipse">
            <a:avLst/>
          </a:prstGeom>
          <a:solidFill>
            <a:srgbClr val="244E6A"/>
          </a:solidFill>
          <a:ln w="13335">
            <a:solidFill>
              <a:srgbClr val="244E6A"/>
            </a:solidFill>
          </a:ln>
        </p:spPr>
        <p:txBody>
          <a:bodyPr/>
          <a:lstStyle/>
          <a:p>
            <a:endParaRPr lang="en-US"/>
          </a:p>
        </p:txBody>
      </p:sp>
      <p:sp>
        <p:nvSpPr>
          <p:cNvPr id="11" name="Teaching-320">
            <a:extLst>
              <a:ext uri="{FF2B5EF4-FFF2-40B4-BE49-F238E27FC236}">
                <a16:creationId xmlns:a16="http://schemas.microsoft.com/office/drawing/2014/main" id="{FE8AC22B-B8B0-4FA9-9404-FB269F031E12}"/>
              </a:ext>
            </a:extLst>
          </p:cNvPr>
          <p:cNvSpPr>
            <a:spLocks noGrp="1"/>
          </p:cNvSpPr>
          <p:nvPr/>
        </p:nvSpPr>
        <p:spPr>
          <a:xfrm>
            <a:off x="7439025" y="3371850"/>
            <a:ext cx="114300" cy="114300"/>
          </a:xfrm>
          <a:prstGeom prst="ellipse">
            <a:avLst/>
          </a:prstGeom>
          <a:solidFill>
            <a:srgbClr val="244E6A"/>
          </a:solidFill>
          <a:ln w="13335">
            <a:solidFill>
              <a:srgbClr val="244E6A"/>
            </a:solidFill>
          </a:ln>
        </p:spPr>
        <p:txBody>
          <a:bodyPr/>
          <a:lstStyle/>
          <a:p>
            <a:endParaRPr lang="en-US"/>
          </a:p>
        </p:txBody>
      </p:sp>
      <p:sp>
        <p:nvSpPr>
          <p:cNvPr id="12" name="Teaching-321">
            <a:extLst>
              <a:ext uri="{FF2B5EF4-FFF2-40B4-BE49-F238E27FC236}">
                <a16:creationId xmlns:a16="http://schemas.microsoft.com/office/drawing/2014/main" id="{5C6D1E41-0961-46A7-9FA5-41958854DD71}"/>
              </a:ext>
            </a:extLst>
          </p:cNvPr>
          <p:cNvSpPr>
            <a:spLocks noGrp="1"/>
          </p:cNvSpPr>
          <p:nvPr/>
        </p:nvSpPr>
        <p:spPr>
          <a:xfrm>
            <a:off x="571500" y="4048125"/>
            <a:ext cx="2857500" cy="390525"/>
          </a:xfrm>
          <a:prstGeom prst="rect">
            <a:avLst/>
          </a:prstGeom>
          <a:noFill/>
          <a:ln w="0">
            <a:noFill/>
          </a:ln>
        </p:spPr>
        <p:txBody>
          <a:bodyPr wrap="square" lIns="0" tIns="0" rIns="0" bIns="0" anchor="t">
            <a:noAutofit/>
          </a:bodyPr>
          <a:lstStyle/>
          <a:p>
            <a:pPr algn="l">
              <a:defRPr sz="2025" b="1">
                <a:solidFill>
                  <a:srgbClr val="111111"/>
                </a:solidFill>
                <a:latin typeface="Aptos"/>
                <a:ea typeface="Aptos"/>
                <a:cs typeface="Aptos"/>
              </a:defRPr>
            </a:pPr>
            <a:r>
              <a:t>B  Wide spread</a:t>
            </a:r>
          </a:p>
        </p:txBody>
      </p:sp>
      <p:sp>
        <p:nvSpPr>
          <p:cNvPr id="13" name="Teaching-322">
            <a:extLst>
              <a:ext uri="{FF2B5EF4-FFF2-40B4-BE49-F238E27FC236}">
                <a16:creationId xmlns:a16="http://schemas.microsoft.com/office/drawing/2014/main" id="{3F6395A2-8481-4B45-87F6-3F98B96A458B}"/>
              </a:ext>
            </a:extLst>
          </p:cNvPr>
          <p:cNvSpPr>
            <a:spLocks noGrp="1"/>
          </p:cNvSpPr>
          <p:nvPr/>
        </p:nvSpPr>
        <p:spPr>
          <a:xfrm>
            <a:off x="3619500" y="4362450"/>
            <a:ext cx="7048500" cy="0"/>
          </a:xfrm>
          <a:prstGeom prst="line">
            <a:avLst/>
          </a:prstGeom>
          <a:noFill/>
          <a:ln w="9525">
            <a:solidFill>
              <a:srgbClr val="8A959C"/>
            </a:solidFill>
          </a:ln>
        </p:spPr>
        <p:txBody>
          <a:bodyPr/>
          <a:lstStyle/>
          <a:p>
            <a:endParaRPr lang="en-US"/>
          </a:p>
        </p:txBody>
      </p:sp>
      <p:sp>
        <p:nvSpPr>
          <p:cNvPr id="14" name="Teaching-323">
            <a:extLst>
              <a:ext uri="{FF2B5EF4-FFF2-40B4-BE49-F238E27FC236}">
                <a16:creationId xmlns:a16="http://schemas.microsoft.com/office/drawing/2014/main" id="{FF70BFEE-3073-4A2E-A06E-BE7674D7694D}"/>
              </a:ext>
            </a:extLst>
          </p:cNvPr>
          <p:cNvSpPr>
            <a:spLocks noGrp="1"/>
          </p:cNvSpPr>
          <p:nvPr/>
        </p:nvSpPr>
        <p:spPr>
          <a:xfrm>
            <a:off x="4972050" y="4152900"/>
            <a:ext cx="114300" cy="114300"/>
          </a:xfrm>
          <a:prstGeom prst="ellipse">
            <a:avLst/>
          </a:prstGeom>
          <a:solidFill>
            <a:srgbClr val="244E6A"/>
          </a:solidFill>
          <a:ln w="13335">
            <a:solidFill>
              <a:srgbClr val="244E6A"/>
            </a:solidFill>
          </a:ln>
        </p:spPr>
        <p:txBody>
          <a:bodyPr/>
          <a:lstStyle/>
          <a:p>
            <a:endParaRPr lang="en-US"/>
          </a:p>
        </p:txBody>
      </p:sp>
      <p:sp>
        <p:nvSpPr>
          <p:cNvPr id="15" name="Teaching-324">
            <a:extLst>
              <a:ext uri="{FF2B5EF4-FFF2-40B4-BE49-F238E27FC236}">
                <a16:creationId xmlns:a16="http://schemas.microsoft.com/office/drawing/2014/main" id="{34C4B595-4E6D-44DE-A6A9-317C5ACE1800}"/>
              </a:ext>
            </a:extLst>
          </p:cNvPr>
          <p:cNvSpPr>
            <a:spLocks noGrp="1"/>
          </p:cNvSpPr>
          <p:nvPr/>
        </p:nvSpPr>
        <p:spPr>
          <a:xfrm>
            <a:off x="6029325" y="4152900"/>
            <a:ext cx="114300" cy="114300"/>
          </a:xfrm>
          <a:prstGeom prst="ellipse">
            <a:avLst/>
          </a:prstGeom>
          <a:solidFill>
            <a:srgbClr val="244E6A"/>
          </a:solidFill>
          <a:ln w="13335">
            <a:solidFill>
              <a:srgbClr val="244E6A"/>
            </a:solidFill>
          </a:ln>
        </p:spPr>
        <p:txBody>
          <a:bodyPr/>
          <a:lstStyle/>
          <a:p>
            <a:endParaRPr lang="en-US"/>
          </a:p>
        </p:txBody>
      </p:sp>
      <p:sp>
        <p:nvSpPr>
          <p:cNvPr id="16" name="Teaching-325">
            <a:extLst>
              <a:ext uri="{FF2B5EF4-FFF2-40B4-BE49-F238E27FC236}">
                <a16:creationId xmlns:a16="http://schemas.microsoft.com/office/drawing/2014/main" id="{6209373A-7C0F-4A1C-AB4C-17E216C5A022}"/>
              </a:ext>
            </a:extLst>
          </p:cNvPr>
          <p:cNvSpPr>
            <a:spLocks noGrp="1"/>
          </p:cNvSpPr>
          <p:nvPr/>
        </p:nvSpPr>
        <p:spPr>
          <a:xfrm>
            <a:off x="7086600" y="4152900"/>
            <a:ext cx="114300" cy="114300"/>
          </a:xfrm>
          <a:prstGeom prst="ellipse">
            <a:avLst/>
          </a:prstGeom>
          <a:solidFill>
            <a:srgbClr val="244E6A"/>
          </a:solidFill>
          <a:ln w="13335">
            <a:solidFill>
              <a:srgbClr val="244E6A"/>
            </a:solidFill>
          </a:ln>
        </p:spPr>
        <p:txBody>
          <a:bodyPr/>
          <a:lstStyle/>
          <a:p>
            <a:endParaRPr lang="en-US"/>
          </a:p>
        </p:txBody>
      </p:sp>
      <p:sp>
        <p:nvSpPr>
          <p:cNvPr id="17" name="Teaching-326">
            <a:extLst>
              <a:ext uri="{FF2B5EF4-FFF2-40B4-BE49-F238E27FC236}">
                <a16:creationId xmlns:a16="http://schemas.microsoft.com/office/drawing/2014/main" id="{3F864B99-9CCB-4889-826E-E3A27FE7EB9E}"/>
              </a:ext>
            </a:extLst>
          </p:cNvPr>
          <p:cNvSpPr>
            <a:spLocks noGrp="1"/>
          </p:cNvSpPr>
          <p:nvPr/>
        </p:nvSpPr>
        <p:spPr>
          <a:xfrm>
            <a:off x="8143875" y="4152900"/>
            <a:ext cx="114300" cy="114300"/>
          </a:xfrm>
          <a:prstGeom prst="ellipse">
            <a:avLst/>
          </a:prstGeom>
          <a:solidFill>
            <a:srgbClr val="244E6A"/>
          </a:solidFill>
          <a:ln w="13335">
            <a:solidFill>
              <a:srgbClr val="244E6A"/>
            </a:solidFill>
          </a:ln>
        </p:spPr>
        <p:txBody>
          <a:bodyPr/>
          <a:lstStyle/>
          <a:p>
            <a:endParaRPr lang="en-US"/>
          </a:p>
        </p:txBody>
      </p:sp>
      <p:sp>
        <p:nvSpPr>
          <p:cNvPr id="18" name="Teaching-327">
            <a:extLst>
              <a:ext uri="{FF2B5EF4-FFF2-40B4-BE49-F238E27FC236}">
                <a16:creationId xmlns:a16="http://schemas.microsoft.com/office/drawing/2014/main" id="{7ADD65CA-A75D-46B1-B211-1AB4FEA789FC}"/>
              </a:ext>
            </a:extLst>
          </p:cNvPr>
          <p:cNvSpPr>
            <a:spLocks noGrp="1"/>
          </p:cNvSpPr>
          <p:nvPr/>
        </p:nvSpPr>
        <p:spPr>
          <a:xfrm>
            <a:off x="9201150" y="4152900"/>
            <a:ext cx="114300" cy="114300"/>
          </a:xfrm>
          <a:prstGeom prst="ellipse">
            <a:avLst/>
          </a:prstGeom>
          <a:solidFill>
            <a:srgbClr val="244E6A"/>
          </a:solidFill>
          <a:ln w="13335">
            <a:solidFill>
              <a:srgbClr val="244E6A"/>
            </a:solidFill>
          </a:ln>
        </p:spPr>
        <p:txBody>
          <a:bodyPr/>
          <a:lstStyle/>
          <a:p>
            <a:endParaRPr lang="en-US"/>
          </a:p>
        </p:txBody>
      </p:sp>
      <p:sp>
        <p:nvSpPr>
          <p:cNvPr id="19" name="Teaching-328">
            <a:extLst>
              <a:ext uri="{FF2B5EF4-FFF2-40B4-BE49-F238E27FC236}">
                <a16:creationId xmlns:a16="http://schemas.microsoft.com/office/drawing/2014/main" id="{993D1780-3B21-47E9-9CB5-4A781D37E1C3}"/>
              </a:ext>
            </a:extLst>
          </p:cNvPr>
          <p:cNvSpPr>
            <a:spLocks noGrp="1"/>
          </p:cNvSpPr>
          <p:nvPr/>
        </p:nvSpPr>
        <p:spPr>
          <a:xfrm>
            <a:off x="571500" y="4829175"/>
            <a:ext cx="2857500" cy="390525"/>
          </a:xfrm>
          <a:prstGeom prst="rect">
            <a:avLst/>
          </a:prstGeom>
          <a:noFill/>
          <a:ln w="0">
            <a:noFill/>
          </a:ln>
        </p:spPr>
        <p:txBody>
          <a:bodyPr wrap="square" lIns="0" tIns="0" rIns="0" bIns="0" anchor="t">
            <a:noAutofit/>
          </a:bodyPr>
          <a:lstStyle/>
          <a:p>
            <a:pPr algn="l">
              <a:defRPr sz="2025" b="1">
                <a:solidFill>
                  <a:srgbClr val="111111"/>
                </a:solidFill>
                <a:latin typeface="Aptos"/>
                <a:ea typeface="Aptos"/>
                <a:cs typeface="Aptos"/>
              </a:defRPr>
            </a:pPr>
            <a:r>
              <a:t>C  Shifted results</a:t>
            </a:r>
          </a:p>
        </p:txBody>
      </p:sp>
      <p:sp>
        <p:nvSpPr>
          <p:cNvPr id="20" name="Teaching-329">
            <a:extLst>
              <a:ext uri="{FF2B5EF4-FFF2-40B4-BE49-F238E27FC236}">
                <a16:creationId xmlns:a16="http://schemas.microsoft.com/office/drawing/2014/main" id="{B8B1799D-19C9-4387-A026-A09B5F42DC7B}"/>
              </a:ext>
            </a:extLst>
          </p:cNvPr>
          <p:cNvSpPr>
            <a:spLocks noGrp="1"/>
          </p:cNvSpPr>
          <p:nvPr/>
        </p:nvSpPr>
        <p:spPr>
          <a:xfrm>
            <a:off x="3619500" y="5143500"/>
            <a:ext cx="7048500" cy="0"/>
          </a:xfrm>
          <a:prstGeom prst="line">
            <a:avLst/>
          </a:prstGeom>
          <a:noFill/>
          <a:ln w="9525">
            <a:solidFill>
              <a:srgbClr val="8A959C"/>
            </a:solidFill>
          </a:ln>
        </p:spPr>
        <p:txBody>
          <a:bodyPr/>
          <a:lstStyle/>
          <a:p>
            <a:endParaRPr lang="en-US"/>
          </a:p>
        </p:txBody>
      </p:sp>
      <p:sp>
        <p:nvSpPr>
          <p:cNvPr id="21" name="Teaching-330">
            <a:extLst>
              <a:ext uri="{FF2B5EF4-FFF2-40B4-BE49-F238E27FC236}">
                <a16:creationId xmlns:a16="http://schemas.microsoft.com/office/drawing/2014/main" id="{3057E7AA-117F-4235-B182-0F636A757D09}"/>
              </a:ext>
            </a:extLst>
          </p:cNvPr>
          <p:cNvSpPr>
            <a:spLocks noGrp="1"/>
          </p:cNvSpPr>
          <p:nvPr/>
        </p:nvSpPr>
        <p:spPr>
          <a:xfrm>
            <a:off x="8848725" y="4933950"/>
            <a:ext cx="114300" cy="114300"/>
          </a:xfrm>
          <a:prstGeom prst="ellipse">
            <a:avLst/>
          </a:prstGeom>
          <a:solidFill>
            <a:srgbClr val="D9101B"/>
          </a:solidFill>
          <a:ln w="13335">
            <a:solidFill>
              <a:srgbClr val="D9101B"/>
            </a:solidFill>
          </a:ln>
        </p:spPr>
        <p:txBody>
          <a:bodyPr/>
          <a:lstStyle/>
          <a:p>
            <a:endParaRPr lang="en-US"/>
          </a:p>
        </p:txBody>
      </p:sp>
      <p:sp>
        <p:nvSpPr>
          <p:cNvPr id="22" name="Teaching-331">
            <a:extLst>
              <a:ext uri="{FF2B5EF4-FFF2-40B4-BE49-F238E27FC236}">
                <a16:creationId xmlns:a16="http://schemas.microsoft.com/office/drawing/2014/main" id="{CD3ABCE9-841A-4E89-96D3-57D9F8A345DE}"/>
              </a:ext>
            </a:extLst>
          </p:cNvPr>
          <p:cNvSpPr>
            <a:spLocks noGrp="1"/>
          </p:cNvSpPr>
          <p:nvPr/>
        </p:nvSpPr>
        <p:spPr>
          <a:xfrm>
            <a:off x="9024938" y="4933950"/>
            <a:ext cx="114300" cy="114300"/>
          </a:xfrm>
          <a:prstGeom prst="ellipse">
            <a:avLst/>
          </a:prstGeom>
          <a:solidFill>
            <a:srgbClr val="D9101B"/>
          </a:solidFill>
          <a:ln w="13335">
            <a:solidFill>
              <a:srgbClr val="D9101B"/>
            </a:solidFill>
          </a:ln>
        </p:spPr>
        <p:txBody>
          <a:bodyPr/>
          <a:lstStyle/>
          <a:p>
            <a:endParaRPr lang="en-US"/>
          </a:p>
        </p:txBody>
      </p:sp>
      <p:sp>
        <p:nvSpPr>
          <p:cNvPr id="23" name="Teaching-332">
            <a:extLst>
              <a:ext uri="{FF2B5EF4-FFF2-40B4-BE49-F238E27FC236}">
                <a16:creationId xmlns:a16="http://schemas.microsoft.com/office/drawing/2014/main" id="{DF007DA7-D1A5-47B3-856C-6D8CCBB40A08}"/>
              </a:ext>
            </a:extLst>
          </p:cNvPr>
          <p:cNvSpPr>
            <a:spLocks noGrp="1"/>
          </p:cNvSpPr>
          <p:nvPr/>
        </p:nvSpPr>
        <p:spPr>
          <a:xfrm>
            <a:off x="9201150" y="4933950"/>
            <a:ext cx="114300" cy="114300"/>
          </a:xfrm>
          <a:prstGeom prst="ellipse">
            <a:avLst/>
          </a:prstGeom>
          <a:solidFill>
            <a:srgbClr val="D9101B"/>
          </a:solidFill>
          <a:ln w="13335">
            <a:solidFill>
              <a:srgbClr val="D9101B"/>
            </a:solidFill>
          </a:ln>
        </p:spPr>
        <p:txBody>
          <a:bodyPr/>
          <a:lstStyle/>
          <a:p>
            <a:endParaRPr lang="en-US"/>
          </a:p>
        </p:txBody>
      </p:sp>
      <p:sp>
        <p:nvSpPr>
          <p:cNvPr id="24" name="Teaching-333">
            <a:extLst>
              <a:ext uri="{FF2B5EF4-FFF2-40B4-BE49-F238E27FC236}">
                <a16:creationId xmlns:a16="http://schemas.microsoft.com/office/drawing/2014/main" id="{6F9EF5C4-221E-4FE4-B67B-1715ED55A131}"/>
              </a:ext>
            </a:extLst>
          </p:cNvPr>
          <p:cNvSpPr>
            <a:spLocks noGrp="1"/>
          </p:cNvSpPr>
          <p:nvPr/>
        </p:nvSpPr>
        <p:spPr>
          <a:xfrm>
            <a:off x="9377363" y="4933950"/>
            <a:ext cx="114300" cy="114300"/>
          </a:xfrm>
          <a:prstGeom prst="ellipse">
            <a:avLst/>
          </a:prstGeom>
          <a:solidFill>
            <a:srgbClr val="D9101B"/>
          </a:solidFill>
          <a:ln w="13335">
            <a:solidFill>
              <a:srgbClr val="D9101B"/>
            </a:solidFill>
          </a:ln>
        </p:spPr>
        <p:txBody>
          <a:bodyPr/>
          <a:lstStyle/>
          <a:p>
            <a:endParaRPr lang="en-US"/>
          </a:p>
        </p:txBody>
      </p:sp>
      <p:sp>
        <p:nvSpPr>
          <p:cNvPr id="25" name="Teaching-334">
            <a:extLst>
              <a:ext uri="{FF2B5EF4-FFF2-40B4-BE49-F238E27FC236}">
                <a16:creationId xmlns:a16="http://schemas.microsoft.com/office/drawing/2014/main" id="{62E6BBC2-58CA-452E-9F14-983A2200931B}"/>
              </a:ext>
            </a:extLst>
          </p:cNvPr>
          <p:cNvSpPr>
            <a:spLocks noGrp="1"/>
          </p:cNvSpPr>
          <p:nvPr/>
        </p:nvSpPr>
        <p:spPr>
          <a:xfrm>
            <a:off x="9553575" y="4933950"/>
            <a:ext cx="114300" cy="114300"/>
          </a:xfrm>
          <a:prstGeom prst="ellipse">
            <a:avLst/>
          </a:prstGeom>
          <a:solidFill>
            <a:srgbClr val="D9101B"/>
          </a:solidFill>
          <a:ln w="13335">
            <a:solidFill>
              <a:srgbClr val="D9101B"/>
            </a:solidFill>
          </a:ln>
        </p:spPr>
        <p:txBody>
          <a:bodyPr/>
          <a:lstStyle/>
          <a:p>
            <a:endParaRPr lang="en-US"/>
          </a:p>
        </p:txBody>
      </p:sp>
      <p:sp>
        <p:nvSpPr>
          <p:cNvPr id="26" name="Teaching-335">
            <a:extLst>
              <a:ext uri="{FF2B5EF4-FFF2-40B4-BE49-F238E27FC236}">
                <a16:creationId xmlns:a16="http://schemas.microsoft.com/office/drawing/2014/main" id="{3E167E38-6F72-41A3-8071-C3CAF2B93BD5}"/>
              </a:ext>
            </a:extLst>
          </p:cNvPr>
          <p:cNvSpPr>
            <a:spLocks noGrp="1"/>
          </p:cNvSpPr>
          <p:nvPr/>
        </p:nvSpPr>
        <p:spPr>
          <a:xfrm>
            <a:off x="3286125" y="5276850"/>
            <a:ext cx="666750" cy="285750"/>
          </a:xfrm>
          <a:prstGeom prst="rect">
            <a:avLst/>
          </a:prstGeom>
          <a:noFill/>
          <a:ln w="0">
            <a:noFill/>
          </a:ln>
        </p:spPr>
        <p:txBody>
          <a:bodyPr wrap="square" lIns="0" tIns="0" rIns="0" bIns="0" anchor="t">
            <a:noAutofit/>
          </a:bodyPr>
          <a:lstStyle/>
          <a:p>
            <a:pPr algn="ctr">
              <a:defRPr sz="1725" b="0">
                <a:solidFill>
                  <a:srgbClr val="111111"/>
                </a:solidFill>
                <a:latin typeface="Aptos"/>
                <a:ea typeface="Aptos"/>
                <a:cs typeface="Aptos"/>
              </a:defRPr>
            </a:pPr>
            <a:r>
              <a:t>40%</a:t>
            </a:r>
          </a:p>
        </p:txBody>
      </p:sp>
      <p:sp>
        <p:nvSpPr>
          <p:cNvPr id="27" name="Teaching-336">
            <a:extLst>
              <a:ext uri="{FF2B5EF4-FFF2-40B4-BE49-F238E27FC236}">
                <a16:creationId xmlns:a16="http://schemas.microsoft.com/office/drawing/2014/main" id="{53B237B6-773C-4A1C-B04C-FBABFD2D753A}"/>
              </a:ext>
            </a:extLst>
          </p:cNvPr>
          <p:cNvSpPr>
            <a:spLocks noGrp="1"/>
          </p:cNvSpPr>
          <p:nvPr/>
        </p:nvSpPr>
        <p:spPr>
          <a:xfrm>
            <a:off x="5048250" y="5276850"/>
            <a:ext cx="666750" cy="285750"/>
          </a:xfrm>
          <a:prstGeom prst="rect">
            <a:avLst/>
          </a:prstGeom>
          <a:noFill/>
          <a:ln w="0">
            <a:noFill/>
          </a:ln>
        </p:spPr>
        <p:txBody>
          <a:bodyPr wrap="square" lIns="0" tIns="0" rIns="0" bIns="0" anchor="t">
            <a:noAutofit/>
          </a:bodyPr>
          <a:lstStyle/>
          <a:p>
            <a:pPr algn="ctr">
              <a:defRPr sz="1725" b="0">
                <a:solidFill>
                  <a:srgbClr val="111111"/>
                </a:solidFill>
                <a:latin typeface="Aptos"/>
                <a:ea typeface="Aptos"/>
                <a:cs typeface="Aptos"/>
              </a:defRPr>
            </a:pPr>
            <a:r>
              <a:t>50%</a:t>
            </a:r>
          </a:p>
        </p:txBody>
      </p:sp>
      <p:sp>
        <p:nvSpPr>
          <p:cNvPr id="28" name="Teaching-337">
            <a:extLst>
              <a:ext uri="{FF2B5EF4-FFF2-40B4-BE49-F238E27FC236}">
                <a16:creationId xmlns:a16="http://schemas.microsoft.com/office/drawing/2014/main" id="{AEFEA198-BE65-4D84-8D54-26D8DE54BE59}"/>
              </a:ext>
            </a:extLst>
          </p:cNvPr>
          <p:cNvSpPr>
            <a:spLocks noGrp="1"/>
          </p:cNvSpPr>
          <p:nvPr/>
        </p:nvSpPr>
        <p:spPr>
          <a:xfrm>
            <a:off x="6810375" y="5276850"/>
            <a:ext cx="666750" cy="285750"/>
          </a:xfrm>
          <a:prstGeom prst="rect">
            <a:avLst/>
          </a:prstGeom>
          <a:noFill/>
          <a:ln w="0">
            <a:noFill/>
          </a:ln>
        </p:spPr>
        <p:txBody>
          <a:bodyPr wrap="square" lIns="0" tIns="0" rIns="0" bIns="0" anchor="t">
            <a:noAutofit/>
          </a:bodyPr>
          <a:lstStyle/>
          <a:p>
            <a:pPr algn="ctr">
              <a:defRPr sz="1725" b="0">
                <a:solidFill>
                  <a:srgbClr val="111111"/>
                </a:solidFill>
                <a:latin typeface="Aptos"/>
                <a:ea typeface="Aptos"/>
                <a:cs typeface="Aptos"/>
              </a:defRPr>
            </a:pPr>
            <a:r>
              <a:t>60%</a:t>
            </a:r>
          </a:p>
        </p:txBody>
      </p:sp>
      <p:sp>
        <p:nvSpPr>
          <p:cNvPr id="29" name="Teaching-338">
            <a:extLst>
              <a:ext uri="{FF2B5EF4-FFF2-40B4-BE49-F238E27FC236}">
                <a16:creationId xmlns:a16="http://schemas.microsoft.com/office/drawing/2014/main" id="{805167B0-FBA5-4CAE-B095-7747D7520744}"/>
              </a:ext>
            </a:extLst>
          </p:cNvPr>
          <p:cNvSpPr>
            <a:spLocks noGrp="1"/>
          </p:cNvSpPr>
          <p:nvPr/>
        </p:nvSpPr>
        <p:spPr>
          <a:xfrm>
            <a:off x="8572500" y="5276850"/>
            <a:ext cx="666750" cy="285750"/>
          </a:xfrm>
          <a:prstGeom prst="rect">
            <a:avLst/>
          </a:prstGeom>
          <a:noFill/>
          <a:ln w="0">
            <a:noFill/>
          </a:ln>
        </p:spPr>
        <p:txBody>
          <a:bodyPr wrap="square" lIns="0" tIns="0" rIns="0" bIns="0" anchor="t">
            <a:noAutofit/>
          </a:bodyPr>
          <a:lstStyle/>
          <a:p>
            <a:pPr algn="ctr">
              <a:defRPr sz="1725" b="0">
                <a:solidFill>
                  <a:srgbClr val="111111"/>
                </a:solidFill>
                <a:latin typeface="Aptos"/>
                <a:ea typeface="Aptos"/>
                <a:cs typeface="Aptos"/>
              </a:defRPr>
            </a:pPr>
            <a:r>
              <a:t>70%</a:t>
            </a:r>
          </a:p>
        </p:txBody>
      </p:sp>
      <p:sp>
        <p:nvSpPr>
          <p:cNvPr id="30" name="Teaching-339">
            <a:extLst>
              <a:ext uri="{FF2B5EF4-FFF2-40B4-BE49-F238E27FC236}">
                <a16:creationId xmlns:a16="http://schemas.microsoft.com/office/drawing/2014/main" id="{F1346734-E23C-49A1-ABD4-DD87FE2775F7}"/>
              </a:ext>
            </a:extLst>
          </p:cNvPr>
          <p:cNvSpPr>
            <a:spLocks noGrp="1"/>
          </p:cNvSpPr>
          <p:nvPr/>
        </p:nvSpPr>
        <p:spPr>
          <a:xfrm>
            <a:off x="10334625" y="5276850"/>
            <a:ext cx="666750" cy="285750"/>
          </a:xfrm>
          <a:prstGeom prst="rect">
            <a:avLst/>
          </a:prstGeom>
          <a:noFill/>
          <a:ln w="0">
            <a:noFill/>
          </a:ln>
        </p:spPr>
        <p:txBody>
          <a:bodyPr wrap="square" lIns="0" tIns="0" rIns="0" bIns="0" anchor="t">
            <a:noAutofit/>
          </a:bodyPr>
          <a:lstStyle/>
          <a:p>
            <a:pPr algn="ctr">
              <a:defRPr sz="1725" b="0">
                <a:solidFill>
                  <a:srgbClr val="111111"/>
                </a:solidFill>
                <a:latin typeface="Aptos"/>
                <a:ea typeface="Aptos"/>
                <a:cs typeface="Aptos"/>
              </a:defRPr>
            </a:pPr>
            <a:r>
              <a:t>80%</a:t>
            </a:r>
          </a:p>
        </p:txBody>
      </p:sp>
      <p:sp>
        <p:nvSpPr>
          <p:cNvPr id="31" name="Teaching-340">
            <a:extLst>
              <a:ext uri="{FF2B5EF4-FFF2-40B4-BE49-F238E27FC236}">
                <a16:creationId xmlns:a16="http://schemas.microsoft.com/office/drawing/2014/main" id="{E852FA5A-2761-4C73-ADCE-AAEB5C014BF3}"/>
              </a:ext>
            </a:extLst>
          </p:cNvPr>
          <p:cNvSpPr>
            <a:spLocks noGrp="1"/>
          </p:cNvSpPr>
          <p:nvPr/>
        </p:nvSpPr>
        <p:spPr>
          <a:xfrm>
            <a:off x="523875" y="5657850"/>
            <a:ext cx="11049000" cy="285750"/>
          </a:xfrm>
          <a:prstGeom prst="rect">
            <a:avLst/>
          </a:prstGeom>
          <a:noFill/>
          <a:ln w="0">
            <a:noFill/>
          </a:ln>
        </p:spPr>
        <p:txBody>
          <a:bodyPr wrap="square" lIns="0" tIns="0" rIns="0" bIns="0" anchor="t">
            <a:noAutofit/>
          </a:bodyPr>
          <a:lstStyle/>
          <a:p>
            <a:pPr algn="l">
              <a:defRPr sz="1725" b="0">
                <a:solidFill>
                  <a:srgbClr val="666666"/>
                </a:solidFill>
                <a:latin typeface="Aptos"/>
                <a:ea typeface="Aptos"/>
                <a:cs typeface="Aptos"/>
              </a:defRPr>
            </a:pPr>
            <a:r>
              <a:t>Each dot is an estimate from one sample.</a:t>
            </a:r>
          </a:p>
        </p:txBody>
      </p:sp>
      <p:sp>
        <p:nvSpPr>
          <p:cNvPr id="32" name="Teaching-341">
            <a:extLst>
              <a:ext uri="{FF2B5EF4-FFF2-40B4-BE49-F238E27FC236}">
                <a16:creationId xmlns:a16="http://schemas.microsoft.com/office/drawing/2014/main" id="{71A4F83B-DC92-4355-8D25-667DF53EF390}"/>
              </a:ext>
            </a:extLst>
          </p:cNvPr>
          <p:cNvSpPr>
            <a:spLocks noGrp="1"/>
          </p:cNvSpPr>
          <p:nvPr/>
        </p:nvSpPr>
        <p:spPr>
          <a:xfrm>
            <a:off x="523875" y="6010275"/>
            <a:ext cx="11087100" cy="333375"/>
          </a:xfrm>
          <a:prstGeom prst="rect">
            <a:avLst/>
          </a:prstGeom>
          <a:noFill/>
          <a:ln w="0">
            <a:noFill/>
          </a:ln>
        </p:spPr>
        <p:txBody>
          <a:bodyPr wrap="square" lIns="0" tIns="0" rIns="0" bIns="0" anchor="t">
            <a:noAutofit/>
          </a:bodyPr>
          <a:lstStyle/>
          <a:p>
            <a:pPr algn="l">
              <a:defRPr sz="1725" b="0">
                <a:solidFill>
                  <a:srgbClr val="666666"/>
                </a:solidFill>
                <a:latin typeface="Aptos"/>
                <a:ea typeface="Aptos"/>
                <a:cs typeface="Aptos"/>
              </a:defRPr>
            </a:pPr>
            <a:r>
              <a:t>A and B centre near the truth. C illustrates a process that tends to overestimate.</a:t>
            </a:r>
          </a:p>
        </p:txBody>
      </p:sp>
    </p:spTree>
    <p:extLst>
      <p:ext uri="{BB962C8B-B14F-4D97-AF65-F5344CB8AC3E}">
        <p14:creationId xmlns:p14="http://schemas.microsoft.com/office/powerpoint/2010/main" val="32813612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aching-342">
            <a:extLst>
              <a:ext uri="{FF2B5EF4-FFF2-40B4-BE49-F238E27FC236}">
                <a16:creationId xmlns:a16="http://schemas.microsoft.com/office/drawing/2014/main" id="{CA577015-1FF9-4344-AF98-E0E47991088C}"/>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Selection bias: who gets left out?</a:t>
            </a:r>
          </a:p>
        </p:txBody>
      </p:sp>
      <p:sp>
        <p:nvSpPr>
          <p:cNvPr id="2" name="Teaching-343">
            <a:extLst>
              <a:ext uri="{FF2B5EF4-FFF2-40B4-BE49-F238E27FC236}">
                <a16:creationId xmlns:a16="http://schemas.microsoft.com/office/drawing/2014/main" id="{D678AE34-2F13-487A-8CA0-69063D792ED3}"/>
              </a:ext>
            </a:extLst>
          </p:cNvPr>
          <p:cNvSpPr>
            <a:spLocks noGrp="1"/>
          </p:cNvSpPr>
          <p:nvPr/>
        </p:nvSpPr>
        <p:spPr>
          <a:xfrm>
            <a:off x="428625" y="1952625"/>
            <a:ext cx="11296650" cy="7143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A survey about library hours recruits only people inside the library.</a:t>
            </a:r>
          </a:p>
        </p:txBody>
      </p:sp>
      <p:pic>
        <p:nvPicPr>
          <p:cNvPr id="8" name="Picture 7"/>
          <p:cNvPicPr>
            <a:picLocks noChangeAspect="1"/>
          </p:cNvPicPr>
          <p:nvPr/>
        </p:nvPicPr>
        <p:blipFill>
          <a:blip r:embed="rId3"/>
          <a:srcRect t="12378" b="12378"/>
          <a:stretch>
            <a:fillRect/>
          </a:stretch>
        </p:blipFill>
        <p:spPr>
          <a:xfrm>
            <a:off x="619125" y="2952750"/>
            <a:ext cx="5848350" cy="2933700"/>
          </a:xfrm>
          <a:prstGeom prst="rect">
            <a:avLst/>
          </a:prstGeom>
        </p:spPr>
      </p:pic>
      <p:sp>
        <p:nvSpPr>
          <p:cNvPr id="4" name="Teaching-344">
            <a:extLst>
              <a:ext uri="{FF2B5EF4-FFF2-40B4-BE49-F238E27FC236}">
                <a16:creationId xmlns:a16="http://schemas.microsoft.com/office/drawing/2014/main" id="{8E5310E5-C7BB-4C00-BE4D-180415B7310B}"/>
              </a:ext>
            </a:extLst>
          </p:cNvPr>
          <p:cNvSpPr>
            <a:spLocks noGrp="1"/>
          </p:cNvSpPr>
          <p:nvPr/>
        </p:nvSpPr>
        <p:spPr>
          <a:xfrm>
            <a:off x="6953250" y="3038475"/>
            <a:ext cx="4562475" cy="1590675"/>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rPr b="1"/>
              <a:t>Who is missing?</a:t>
            </a:r>
          </a:p>
          <a:p>
            <a:pPr algn="l">
              <a:defRPr sz="2250" b="0">
                <a:solidFill>
                  <a:srgbClr val="111111"/>
                </a:solidFill>
                <a:latin typeface="Aptos"/>
                <a:ea typeface="Aptos"/>
                <a:cs typeface="Aptos"/>
              </a:defRPr>
            </a:pPr>
            <a:r>
              <a:t>Students who seldom use the</a:t>
            </a:r>
          </a:p>
          <a:p>
            <a:pPr algn="l">
              <a:defRPr sz="2250" b="0">
                <a:solidFill>
                  <a:srgbClr val="111111"/>
                </a:solidFill>
                <a:latin typeface="Aptos"/>
                <a:ea typeface="Aptos"/>
                <a:cs typeface="Aptos"/>
              </a:defRPr>
            </a:pPr>
            <a:r>
              <a:t>library, including those who</a:t>
            </a:r>
          </a:p>
          <a:p>
            <a:pPr algn="l">
              <a:defRPr sz="2250" b="0">
                <a:solidFill>
                  <a:srgbClr val="111111"/>
                </a:solidFill>
                <a:latin typeface="Aptos"/>
                <a:ea typeface="Aptos"/>
                <a:cs typeface="Aptos"/>
              </a:defRPr>
            </a:pPr>
            <a:r>
              <a:t>cannot attend its current hours.</a:t>
            </a:r>
          </a:p>
        </p:txBody>
      </p:sp>
      <p:sp>
        <p:nvSpPr>
          <p:cNvPr id="5" name="Teaching-345">
            <a:extLst>
              <a:ext uri="{FF2B5EF4-FFF2-40B4-BE49-F238E27FC236}">
                <a16:creationId xmlns:a16="http://schemas.microsoft.com/office/drawing/2014/main" id="{FB9652D6-B03E-4DF8-A7B4-E910CA91C413}"/>
              </a:ext>
            </a:extLst>
          </p:cNvPr>
          <p:cNvSpPr>
            <a:spLocks noGrp="1"/>
          </p:cNvSpPr>
          <p:nvPr/>
        </p:nvSpPr>
        <p:spPr>
          <a:xfrm>
            <a:off x="6953250" y="4933950"/>
            <a:ext cx="4562475" cy="1114425"/>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t>Their views may differ.</a:t>
            </a:r>
          </a:p>
          <a:p>
            <a:pPr algn="l">
              <a:defRPr sz="2250" b="0">
                <a:solidFill>
                  <a:srgbClr val="111111"/>
                </a:solidFill>
                <a:latin typeface="Aptos"/>
                <a:ea typeface="Aptos"/>
                <a:cs typeface="Aptos"/>
              </a:defRPr>
            </a:pPr>
            <a:r>
              <a:t>Sample from the complete</a:t>
            </a:r>
          </a:p>
          <a:p>
            <a:pPr algn="l">
              <a:defRPr sz="2250" b="0">
                <a:solidFill>
                  <a:srgbClr val="111111"/>
                </a:solidFill>
                <a:latin typeface="Aptos"/>
                <a:ea typeface="Aptos"/>
                <a:cs typeface="Aptos"/>
              </a:defRPr>
            </a:pPr>
            <a:r>
              <a:t>college register.</a:t>
            </a:r>
          </a:p>
        </p:txBody>
      </p:sp>
    </p:spTree>
    <p:extLst>
      <p:ext uri="{BB962C8B-B14F-4D97-AF65-F5344CB8AC3E}">
        <p14:creationId xmlns:p14="http://schemas.microsoft.com/office/powerpoint/2010/main" val="32813612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aching-346">
            <a:extLst>
              <a:ext uri="{FF2B5EF4-FFF2-40B4-BE49-F238E27FC236}">
                <a16:creationId xmlns:a16="http://schemas.microsoft.com/office/drawing/2014/main" id="{02880C73-8F20-4EB5-84E2-D1E3B3879294}"/>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Nonresponse: selected but missing</a:t>
            </a:r>
          </a:p>
        </p:txBody>
      </p:sp>
      <p:sp>
        <p:nvSpPr>
          <p:cNvPr id="2" name="Teaching-347">
            <a:extLst>
              <a:ext uri="{FF2B5EF4-FFF2-40B4-BE49-F238E27FC236}">
                <a16:creationId xmlns:a16="http://schemas.microsoft.com/office/drawing/2014/main" id="{B1BD14A8-A711-4C3F-B588-6A57FB4826CC}"/>
              </a:ext>
            </a:extLst>
          </p:cNvPr>
          <p:cNvSpPr>
            <a:spLocks noGrp="1"/>
          </p:cNvSpPr>
          <p:nvPr/>
        </p:nvSpPr>
        <p:spPr>
          <a:xfrm>
            <a:off x="428625" y="1952625"/>
            <a:ext cx="11296650" cy="61912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A random sample of </a:t>
            </a:r>
            <a:r>
              <a:rPr b="1"/>
              <a:t>200</a:t>
            </a:r>
            <a:r>
              <a:t> students receives an invitation.</a:t>
            </a:r>
          </a:p>
        </p:txBody>
      </p:sp>
      <p:sp>
        <p:nvSpPr>
          <p:cNvPr id="3" name="Teaching-348">
            <a:extLst>
              <a:ext uri="{FF2B5EF4-FFF2-40B4-BE49-F238E27FC236}">
                <a16:creationId xmlns:a16="http://schemas.microsoft.com/office/drawing/2014/main" id="{4FED698D-031E-44E1-A653-CCA85515140E}"/>
              </a:ext>
            </a:extLst>
          </p:cNvPr>
          <p:cNvSpPr>
            <a:spLocks noGrp="1"/>
          </p:cNvSpPr>
          <p:nvPr/>
        </p:nvSpPr>
        <p:spPr>
          <a:xfrm>
            <a:off x="619125" y="3181350"/>
            <a:ext cx="3243263" cy="1047750"/>
          </a:xfrm>
          <a:prstGeom prst="rect">
            <a:avLst/>
          </a:prstGeom>
          <a:solidFill>
            <a:srgbClr val="A6C9E2"/>
          </a:solidFill>
          <a:ln w="9525">
            <a:solidFill>
              <a:srgbClr val="111111"/>
            </a:solidFill>
          </a:ln>
        </p:spPr>
        <p:txBody>
          <a:bodyPr/>
          <a:lstStyle/>
          <a:p>
            <a:endParaRPr lang="en-US"/>
          </a:p>
        </p:txBody>
      </p:sp>
      <p:sp>
        <p:nvSpPr>
          <p:cNvPr id="4" name="Teaching-349">
            <a:extLst>
              <a:ext uri="{FF2B5EF4-FFF2-40B4-BE49-F238E27FC236}">
                <a16:creationId xmlns:a16="http://schemas.microsoft.com/office/drawing/2014/main" id="{E694C3FC-C44A-4A66-AE17-B057C5B8F986}"/>
              </a:ext>
            </a:extLst>
          </p:cNvPr>
          <p:cNvSpPr>
            <a:spLocks noGrp="1"/>
          </p:cNvSpPr>
          <p:nvPr/>
        </p:nvSpPr>
        <p:spPr>
          <a:xfrm>
            <a:off x="3862388" y="3181350"/>
            <a:ext cx="7567613" cy="1047750"/>
          </a:xfrm>
          <a:prstGeom prst="rect">
            <a:avLst/>
          </a:prstGeom>
          <a:solidFill>
            <a:srgbClr val="FFFFFF"/>
          </a:solidFill>
          <a:ln w="9525">
            <a:solidFill>
              <a:srgbClr val="111111"/>
            </a:solidFill>
          </a:ln>
        </p:spPr>
        <p:txBody>
          <a:bodyPr/>
          <a:lstStyle/>
          <a:p>
            <a:endParaRPr lang="en-US"/>
          </a:p>
        </p:txBody>
      </p:sp>
      <p:sp>
        <p:nvSpPr>
          <p:cNvPr id="5" name="Teaching-350">
            <a:extLst>
              <a:ext uri="{FF2B5EF4-FFF2-40B4-BE49-F238E27FC236}">
                <a16:creationId xmlns:a16="http://schemas.microsoft.com/office/drawing/2014/main" id="{C9DBA842-3EC7-4E17-A6CD-8CF471E1B68F}"/>
              </a:ext>
            </a:extLst>
          </p:cNvPr>
          <p:cNvSpPr>
            <a:spLocks noGrp="1"/>
          </p:cNvSpPr>
          <p:nvPr/>
        </p:nvSpPr>
        <p:spPr>
          <a:xfrm>
            <a:off x="733425" y="3305175"/>
            <a:ext cx="3014663" cy="904875"/>
          </a:xfrm>
          <a:prstGeom prst="rect">
            <a:avLst/>
          </a:prstGeom>
          <a:noFill/>
          <a:ln w="0">
            <a:noFill/>
          </a:ln>
        </p:spPr>
        <p:txBody>
          <a:bodyPr wrap="square" lIns="0" tIns="0" rIns="0" bIns="0" anchor="t">
            <a:noAutofit/>
          </a:bodyPr>
          <a:lstStyle/>
          <a:p>
            <a:pPr algn="ctr">
              <a:defRPr sz="2025" b="1">
                <a:solidFill>
                  <a:srgbClr val="111111"/>
                </a:solidFill>
                <a:latin typeface="Aptos"/>
                <a:ea typeface="Aptos"/>
                <a:cs typeface="Aptos"/>
              </a:defRPr>
            </a:pPr>
            <a:r>
              <a:t>60 reply</a:t>
            </a:r>
          </a:p>
        </p:txBody>
      </p:sp>
      <p:sp>
        <p:nvSpPr>
          <p:cNvPr id="6" name="Teaching-351">
            <a:extLst>
              <a:ext uri="{FF2B5EF4-FFF2-40B4-BE49-F238E27FC236}">
                <a16:creationId xmlns:a16="http://schemas.microsoft.com/office/drawing/2014/main" id="{2EEEF583-5EE6-4526-B483-36F201F8AEB3}"/>
              </a:ext>
            </a:extLst>
          </p:cNvPr>
          <p:cNvSpPr>
            <a:spLocks noGrp="1"/>
          </p:cNvSpPr>
          <p:nvPr/>
        </p:nvSpPr>
        <p:spPr>
          <a:xfrm>
            <a:off x="3976688" y="3305175"/>
            <a:ext cx="7339013" cy="904875"/>
          </a:xfrm>
          <a:prstGeom prst="rect">
            <a:avLst/>
          </a:prstGeom>
          <a:noFill/>
          <a:ln w="0">
            <a:noFill/>
          </a:ln>
        </p:spPr>
        <p:txBody>
          <a:bodyPr wrap="square" lIns="0" tIns="0" rIns="0" bIns="0" anchor="t">
            <a:noAutofit/>
          </a:bodyPr>
          <a:lstStyle/>
          <a:p>
            <a:pPr algn="ctr">
              <a:defRPr sz="2025" b="1">
                <a:solidFill>
                  <a:srgbClr val="111111"/>
                </a:solidFill>
                <a:latin typeface="Aptos"/>
                <a:ea typeface="Aptos"/>
                <a:cs typeface="Aptos"/>
              </a:defRPr>
            </a:pPr>
            <a:r>
              <a:t>140 do not reply</a:t>
            </a:r>
          </a:p>
        </p:txBody>
      </p:sp>
      <p:sp>
        <p:nvSpPr>
          <p:cNvPr id="7" name="Teaching-352">
            <a:extLst>
              <a:ext uri="{FF2B5EF4-FFF2-40B4-BE49-F238E27FC236}">
                <a16:creationId xmlns:a16="http://schemas.microsoft.com/office/drawing/2014/main" id="{16DA1E5B-FED6-4E0E-963A-3F3B146603E0}"/>
              </a:ext>
            </a:extLst>
          </p:cNvPr>
          <p:cNvSpPr>
            <a:spLocks noGrp="1"/>
          </p:cNvSpPr>
          <p:nvPr/>
        </p:nvSpPr>
        <p:spPr>
          <a:xfrm>
            <a:off x="619125" y="4676775"/>
            <a:ext cx="10810875" cy="800100"/>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rPr dirty="0"/>
              <a:t>Nonresponse bias can occur when respondents and nonrespondents</a:t>
            </a:r>
          </a:p>
          <a:p>
            <a:pPr algn="l">
              <a:defRPr sz="2325" b="1">
                <a:solidFill>
                  <a:srgbClr val="111111"/>
                </a:solidFill>
                <a:latin typeface="Aptos"/>
                <a:ea typeface="Aptos"/>
                <a:cs typeface="Aptos"/>
              </a:defRPr>
            </a:pPr>
            <a:r>
              <a:rPr dirty="0"/>
              <a:t>differ in ways relevant to the survey.</a:t>
            </a:r>
          </a:p>
        </p:txBody>
      </p:sp>
      <p:sp>
        <p:nvSpPr>
          <p:cNvPr id="8" name="Teaching-353">
            <a:extLst>
              <a:ext uri="{FF2B5EF4-FFF2-40B4-BE49-F238E27FC236}">
                <a16:creationId xmlns:a16="http://schemas.microsoft.com/office/drawing/2014/main" id="{1F6776F5-2588-4C47-9A30-A16293192E61}"/>
              </a:ext>
            </a:extLst>
          </p:cNvPr>
          <p:cNvSpPr>
            <a:spLocks noGrp="1"/>
          </p:cNvSpPr>
          <p:nvPr/>
        </p:nvSpPr>
        <p:spPr>
          <a:xfrm>
            <a:off x="523875" y="6010275"/>
            <a:ext cx="11087100" cy="333375"/>
          </a:xfrm>
          <a:prstGeom prst="rect">
            <a:avLst/>
          </a:prstGeom>
          <a:noFill/>
          <a:ln w="0">
            <a:noFill/>
          </a:ln>
        </p:spPr>
        <p:txBody>
          <a:bodyPr wrap="square" lIns="0" tIns="0" rIns="0" bIns="0" anchor="t">
            <a:noAutofit/>
          </a:bodyPr>
          <a:lstStyle/>
          <a:p>
            <a:pPr algn="l">
              <a:defRPr sz="1725" b="0">
                <a:solidFill>
                  <a:srgbClr val="666666"/>
                </a:solidFill>
                <a:latin typeface="Aptos"/>
                <a:ea typeface="Aptos"/>
                <a:cs typeface="Aptos"/>
              </a:defRPr>
            </a:pPr>
            <a:r>
              <a:t>A low response rate raises concern. It does not, by itself, prove bias.</a:t>
            </a:r>
          </a:p>
        </p:txBody>
      </p:sp>
    </p:spTree>
    <p:extLst>
      <p:ext uri="{BB962C8B-B14F-4D97-AF65-F5344CB8AC3E}">
        <p14:creationId xmlns:p14="http://schemas.microsoft.com/office/powerpoint/2010/main" val="32813612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aching-354">
            <a:extLst>
              <a:ext uri="{FF2B5EF4-FFF2-40B4-BE49-F238E27FC236}">
                <a16:creationId xmlns:a16="http://schemas.microsoft.com/office/drawing/2014/main" id="{E472ACF4-B9C9-4F28-A404-2E589AC49C9C}"/>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B3: Which denominator?</a:t>
            </a:r>
          </a:p>
        </p:txBody>
      </p:sp>
      <p:sp>
        <p:nvSpPr>
          <p:cNvPr id="2" name="Teaching-355">
            <a:extLst>
              <a:ext uri="{FF2B5EF4-FFF2-40B4-BE49-F238E27FC236}">
                <a16:creationId xmlns:a16="http://schemas.microsoft.com/office/drawing/2014/main" id="{1BBF783E-36E6-457E-BA89-0E759347687A}"/>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356">
            <a:extLst>
              <a:ext uri="{FF2B5EF4-FFF2-40B4-BE49-F238E27FC236}">
                <a16:creationId xmlns:a16="http://schemas.microsoft.com/office/drawing/2014/main" id="{C3FDCC94-A1EB-4E01-971B-741B3334EDF9}"/>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EXERCISE B3</a:t>
            </a:r>
          </a:p>
        </p:txBody>
      </p:sp>
      <p:sp>
        <p:nvSpPr>
          <p:cNvPr id="4" name="Teaching-357">
            <a:extLst>
              <a:ext uri="{FF2B5EF4-FFF2-40B4-BE49-F238E27FC236}">
                <a16:creationId xmlns:a16="http://schemas.microsoft.com/office/drawing/2014/main" id="{1FEF1527-C6E5-4268-91C0-F61BC06843E9}"/>
              </a:ext>
            </a:extLst>
          </p:cNvPr>
          <p:cNvSpPr>
            <a:spLocks noGrp="1"/>
          </p:cNvSpPr>
          <p:nvPr/>
        </p:nvSpPr>
        <p:spPr>
          <a:xfrm>
            <a:off x="428625" y="1952625"/>
            <a:ext cx="11296650" cy="8001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A college randomly invites </a:t>
            </a:r>
            <a:r>
              <a:rPr b="1"/>
              <a:t>263 students</a:t>
            </a:r>
            <a:r>
              <a:t>. Of these, </a:t>
            </a:r>
            <a:r>
              <a:rPr b="1"/>
              <a:t>157 reply</a:t>
            </a:r>
          </a:p>
          <a:p>
            <a:pPr algn="l">
              <a:defRPr sz="2325" b="0">
                <a:solidFill>
                  <a:srgbClr val="111111"/>
                </a:solidFill>
                <a:latin typeface="Aptos"/>
                <a:ea typeface="Aptos"/>
                <a:cs typeface="Aptos"/>
              </a:defRPr>
            </a:pPr>
            <a:r>
              <a:t>and </a:t>
            </a:r>
            <a:r>
              <a:rPr b="1"/>
              <a:t>112 respondents support</a:t>
            </a:r>
            <a:r>
              <a:t> longer library hours.</a:t>
            </a:r>
          </a:p>
        </p:txBody>
      </p:sp>
      <p:sp>
        <p:nvSpPr>
          <p:cNvPr id="5" name="Teaching-358">
            <a:extLst>
              <a:ext uri="{FF2B5EF4-FFF2-40B4-BE49-F238E27FC236}">
                <a16:creationId xmlns:a16="http://schemas.microsoft.com/office/drawing/2014/main" id="{241184BA-02A9-4D48-980B-E6A500EEC55E}"/>
              </a:ext>
            </a:extLst>
          </p:cNvPr>
          <p:cNvSpPr>
            <a:spLocks noGrp="1"/>
          </p:cNvSpPr>
          <p:nvPr/>
        </p:nvSpPr>
        <p:spPr>
          <a:xfrm>
            <a:off x="619125" y="3124200"/>
            <a:ext cx="3190875" cy="914400"/>
          </a:xfrm>
          <a:prstGeom prst="rect">
            <a:avLst/>
          </a:prstGeom>
          <a:noFill/>
          <a:ln w="0">
            <a:noFill/>
          </a:ln>
        </p:spPr>
        <p:txBody>
          <a:bodyPr wrap="square" lIns="0" tIns="0" rIns="0" bIns="0" anchor="t">
            <a:noAutofit/>
          </a:bodyPr>
          <a:lstStyle/>
          <a:p>
            <a:pPr algn="ctr">
              <a:defRPr sz="2775" b="1">
                <a:solidFill>
                  <a:srgbClr val="111111"/>
                </a:solidFill>
                <a:latin typeface="Aptos"/>
                <a:ea typeface="Aptos"/>
                <a:cs typeface="Aptos"/>
              </a:defRPr>
            </a:pPr>
            <a:r>
              <a:t>263</a:t>
            </a:r>
          </a:p>
          <a:p>
            <a:pPr algn="ctr">
              <a:defRPr sz="2775" b="1">
                <a:solidFill>
                  <a:srgbClr val="111111"/>
                </a:solidFill>
                <a:latin typeface="Aptos"/>
                <a:ea typeface="Aptos"/>
                <a:cs typeface="Aptos"/>
              </a:defRPr>
            </a:pPr>
            <a:r>
              <a:t>invited</a:t>
            </a:r>
          </a:p>
        </p:txBody>
      </p:sp>
      <p:sp>
        <p:nvSpPr>
          <p:cNvPr id="6" name="Teaching-359">
            <a:extLst>
              <a:ext uri="{FF2B5EF4-FFF2-40B4-BE49-F238E27FC236}">
                <a16:creationId xmlns:a16="http://schemas.microsoft.com/office/drawing/2014/main" id="{3FA8172E-D4EA-4101-9D4E-2C8A494C486D}"/>
              </a:ext>
            </a:extLst>
          </p:cNvPr>
          <p:cNvSpPr>
            <a:spLocks noGrp="1"/>
          </p:cNvSpPr>
          <p:nvPr/>
        </p:nvSpPr>
        <p:spPr>
          <a:xfrm>
            <a:off x="3800475" y="3448050"/>
            <a:ext cx="457200" cy="190500"/>
          </a:xfrm>
          <a:prstGeom prst="rightArrow">
            <a:avLst/>
          </a:prstGeom>
          <a:solidFill>
            <a:srgbClr val="111111"/>
          </a:solidFill>
          <a:ln w="0">
            <a:noFill/>
          </a:ln>
        </p:spPr>
        <p:txBody>
          <a:bodyPr/>
          <a:lstStyle/>
          <a:p>
            <a:endParaRPr lang="en-US"/>
          </a:p>
        </p:txBody>
      </p:sp>
      <p:sp>
        <p:nvSpPr>
          <p:cNvPr id="7" name="Teaching-360">
            <a:extLst>
              <a:ext uri="{FF2B5EF4-FFF2-40B4-BE49-F238E27FC236}">
                <a16:creationId xmlns:a16="http://schemas.microsoft.com/office/drawing/2014/main" id="{4F7D7D0A-E87C-47BF-871E-7C564FD50C2D}"/>
              </a:ext>
            </a:extLst>
          </p:cNvPr>
          <p:cNvSpPr>
            <a:spLocks noGrp="1"/>
          </p:cNvSpPr>
          <p:nvPr/>
        </p:nvSpPr>
        <p:spPr>
          <a:xfrm>
            <a:off x="4429125" y="3124200"/>
            <a:ext cx="3190875" cy="914400"/>
          </a:xfrm>
          <a:prstGeom prst="rect">
            <a:avLst/>
          </a:prstGeom>
          <a:noFill/>
          <a:ln w="0">
            <a:noFill/>
          </a:ln>
        </p:spPr>
        <p:txBody>
          <a:bodyPr wrap="square" lIns="0" tIns="0" rIns="0" bIns="0" anchor="t">
            <a:noAutofit/>
          </a:bodyPr>
          <a:lstStyle/>
          <a:p>
            <a:pPr algn="ctr">
              <a:defRPr sz="2775" b="1">
                <a:solidFill>
                  <a:srgbClr val="111111"/>
                </a:solidFill>
                <a:latin typeface="Aptos"/>
                <a:ea typeface="Aptos"/>
                <a:cs typeface="Aptos"/>
              </a:defRPr>
            </a:pPr>
            <a:r>
              <a:t>157</a:t>
            </a:r>
          </a:p>
          <a:p>
            <a:pPr algn="ctr">
              <a:defRPr sz="2775" b="1">
                <a:solidFill>
                  <a:srgbClr val="111111"/>
                </a:solidFill>
                <a:latin typeface="Aptos"/>
                <a:ea typeface="Aptos"/>
                <a:cs typeface="Aptos"/>
              </a:defRPr>
            </a:pPr>
            <a:r>
              <a:t>replied</a:t>
            </a:r>
          </a:p>
        </p:txBody>
      </p:sp>
      <p:sp>
        <p:nvSpPr>
          <p:cNvPr id="8" name="Teaching-361">
            <a:extLst>
              <a:ext uri="{FF2B5EF4-FFF2-40B4-BE49-F238E27FC236}">
                <a16:creationId xmlns:a16="http://schemas.microsoft.com/office/drawing/2014/main" id="{8BDEBCF0-F88D-48DB-9C9F-9FB3747243D4}"/>
              </a:ext>
            </a:extLst>
          </p:cNvPr>
          <p:cNvSpPr>
            <a:spLocks noGrp="1"/>
          </p:cNvSpPr>
          <p:nvPr/>
        </p:nvSpPr>
        <p:spPr>
          <a:xfrm>
            <a:off x="7610475" y="3448050"/>
            <a:ext cx="457200" cy="190500"/>
          </a:xfrm>
          <a:prstGeom prst="rightArrow">
            <a:avLst/>
          </a:prstGeom>
          <a:solidFill>
            <a:srgbClr val="111111"/>
          </a:solidFill>
          <a:ln w="0">
            <a:noFill/>
          </a:ln>
        </p:spPr>
        <p:txBody>
          <a:bodyPr/>
          <a:lstStyle/>
          <a:p>
            <a:endParaRPr lang="en-US"/>
          </a:p>
        </p:txBody>
      </p:sp>
      <p:sp>
        <p:nvSpPr>
          <p:cNvPr id="9" name="Teaching-362">
            <a:extLst>
              <a:ext uri="{FF2B5EF4-FFF2-40B4-BE49-F238E27FC236}">
                <a16:creationId xmlns:a16="http://schemas.microsoft.com/office/drawing/2014/main" id="{E2B1F545-1D5A-4C6F-B5FE-B9FE3E31CDF0}"/>
              </a:ext>
            </a:extLst>
          </p:cNvPr>
          <p:cNvSpPr>
            <a:spLocks noGrp="1"/>
          </p:cNvSpPr>
          <p:nvPr/>
        </p:nvSpPr>
        <p:spPr>
          <a:xfrm>
            <a:off x="8239125" y="3124200"/>
            <a:ext cx="3190875" cy="914400"/>
          </a:xfrm>
          <a:prstGeom prst="rect">
            <a:avLst/>
          </a:prstGeom>
          <a:noFill/>
          <a:ln w="0">
            <a:noFill/>
          </a:ln>
        </p:spPr>
        <p:txBody>
          <a:bodyPr wrap="square" lIns="0" tIns="0" rIns="0" bIns="0" anchor="t">
            <a:noAutofit/>
          </a:bodyPr>
          <a:lstStyle/>
          <a:p>
            <a:pPr algn="ctr">
              <a:defRPr sz="2775" b="1">
                <a:solidFill>
                  <a:srgbClr val="111111"/>
                </a:solidFill>
                <a:latin typeface="Aptos"/>
                <a:ea typeface="Aptos"/>
                <a:cs typeface="Aptos"/>
              </a:defRPr>
            </a:pPr>
            <a:r>
              <a:t>112</a:t>
            </a:r>
          </a:p>
          <a:p>
            <a:pPr algn="ctr">
              <a:defRPr sz="2775" b="1">
                <a:solidFill>
                  <a:srgbClr val="111111"/>
                </a:solidFill>
                <a:latin typeface="Aptos"/>
                <a:ea typeface="Aptos"/>
                <a:cs typeface="Aptos"/>
              </a:defRPr>
            </a:pPr>
            <a:r>
              <a:t>supported</a:t>
            </a:r>
          </a:p>
        </p:txBody>
      </p:sp>
      <p:sp>
        <p:nvSpPr>
          <p:cNvPr id="10" name="Teaching-363">
            <a:extLst>
              <a:ext uri="{FF2B5EF4-FFF2-40B4-BE49-F238E27FC236}">
                <a16:creationId xmlns:a16="http://schemas.microsoft.com/office/drawing/2014/main" id="{DDF8052E-91F4-41C0-9A57-C6157960BB56}"/>
              </a:ext>
            </a:extLst>
          </p:cNvPr>
          <p:cNvSpPr>
            <a:spLocks noGrp="1"/>
          </p:cNvSpPr>
          <p:nvPr/>
        </p:nvSpPr>
        <p:spPr>
          <a:xfrm>
            <a:off x="619125" y="4371975"/>
            <a:ext cx="10763250" cy="42862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B3.1</a:t>
            </a:r>
            <a:r>
              <a:t>  Calculate the response rate.</a:t>
            </a:r>
          </a:p>
        </p:txBody>
      </p:sp>
      <p:sp>
        <p:nvSpPr>
          <p:cNvPr id="11" name="Teaching-364">
            <a:extLst>
              <a:ext uri="{FF2B5EF4-FFF2-40B4-BE49-F238E27FC236}">
                <a16:creationId xmlns:a16="http://schemas.microsoft.com/office/drawing/2014/main" id="{8A7897F2-6F16-4131-9EAA-F896F14EF1FA}"/>
              </a:ext>
            </a:extLst>
          </p:cNvPr>
          <p:cNvSpPr>
            <a:spLocks noGrp="1"/>
          </p:cNvSpPr>
          <p:nvPr/>
        </p:nvSpPr>
        <p:spPr>
          <a:xfrm>
            <a:off x="619125" y="4895850"/>
            <a:ext cx="10763250" cy="42862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B3.2</a:t>
            </a:r>
            <a:r>
              <a:t>  Calculate support among respondents.</a:t>
            </a:r>
          </a:p>
        </p:txBody>
      </p:sp>
      <p:sp>
        <p:nvSpPr>
          <p:cNvPr id="12" name="Teaching-365">
            <a:extLst>
              <a:ext uri="{FF2B5EF4-FFF2-40B4-BE49-F238E27FC236}">
                <a16:creationId xmlns:a16="http://schemas.microsoft.com/office/drawing/2014/main" id="{AE83D6DD-8838-498B-98DA-1A57A5037CBB}"/>
              </a:ext>
            </a:extLst>
          </p:cNvPr>
          <p:cNvSpPr>
            <a:spLocks noGrp="1"/>
          </p:cNvSpPr>
          <p:nvPr/>
        </p:nvSpPr>
        <p:spPr>
          <a:xfrm>
            <a:off x="619125" y="5419725"/>
            <a:ext cx="10763250" cy="7905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B3.3</a:t>
            </a:r>
            <a:r>
              <a:t>  Can we claim the same support across the college?</a:t>
            </a:r>
          </a:p>
          <a:p>
            <a:pPr algn="l">
              <a:defRPr sz="2325" b="0">
                <a:solidFill>
                  <a:srgbClr val="111111"/>
                </a:solidFill>
                <a:latin typeface="Aptos"/>
                <a:ea typeface="Aptos"/>
                <a:cs typeface="Aptos"/>
              </a:defRPr>
            </a:pPr>
            <a:r>
              <a:t>Explain exactly when nonresponse could distort this result.</a:t>
            </a:r>
          </a:p>
        </p:txBody>
      </p:sp>
    </p:spTree>
    <p:extLst>
      <p:ext uri="{BB962C8B-B14F-4D97-AF65-F5344CB8AC3E}">
        <p14:creationId xmlns:p14="http://schemas.microsoft.com/office/powerpoint/2010/main" val="32813612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aching-366">
            <a:extLst>
              <a:ext uri="{FF2B5EF4-FFF2-40B4-BE49-F238E27FC236}">
                <a16:creationId xmlns:a16="http://schemas.microsoft.com/office/drawing/2014/main" id="{B7C67550-6D33-4C69-B33A-42618944B031}"/>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B3: Rates and conclusions</a:t>
            </a:r>
          </a:p>
        </p:txBody>
      </p:sp>
      <p:sp>
        <p:nvSpPr>
          <p:cNvPr id="2" name="Teaching-367">
            <a:extLst>
              <a:ext uri="{FF2B5EF4-FFF2-40B4-BE49-F238E27FC236}">
                <a16:creationId xmlns:a16="http://schemas.microsoft.com/office/drawing/2014/main" id="{82CCCF62-269E-456E-AB1E-E43637ACBBDB}"/>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368">
            <a:extLst>
              <a:ext uri="{FF2B5EF4-FFF2-40B4-BE49-F238E27FC236}">
                <a16:creationId xmlns:a16="http://schemas.microsoft.com/office/drawing/2014/main" id="{8999E06D-FAA8-407E-AE2D-29DE37963E88}"/>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EXERCISE B3</a:t>
            </a:r>
          </a:p>
        </p:txBody>
      </p:sp>
      <p:sp>
        <p:nvSpPr>
          <p:cNvPr id="4" name="Teaching-369">
            <a:extLst>
              <a:ext uri="{FF2B5EF4-FFF2-40B4-BE49-F238E27FC236}">
                <a16:creationId xmlns:a16="http://schemas.microsoft.com/office/drawing/2014/main" id="{8AD42F4E-018B-4644-B082-94ABE2A97510}"/>
              </a:ext>
            </a:extLst>
          </p:cNvPr>
          <p:cNvSpPr>
            <a:spLocks noGrp="1"/>
          </p:cNvSpPr>
          <p:nvPr/>
        </p:nvSpPr>
        <p:spPr>
          <a:xfrm>
            <a:off x="619125" y="2724150"/>
            <a:ext cx="5334000" cy="4095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dirty="0"/>
              <a:t>B3.1  Response rate</a:t>
            </a:r>
          </a:p>
        </p:txBody>
      </p:sp>
      <p:sp>
        <p:nvSpPr>
          <p:cNvPr id="5" name="Teaching-370">
            <a:extLst>
              <a:ext uri="{FF2B5EF4-FFF2-40B4-BE49-F238E27FC236}">
                <a16:creationId xmlns:a16="http://schemas.microsoft.com/office/drawing/2014/main" id="{6ADDE60F-8F2E-406B-96C7-A9A4389AF990}"/>
              </a:ext>
            </a:extLst>
          </p:cNvPr>
          <p:cNvSpPr>
            <a:spLocks noGrp="1"/>
          </p:cNvSpPr>
          <p:nvPr/>
        </p:nvSpPr>
        <p:spPr>
          <a:xfrm>
            <a:off x="619125" y="3562350"/>
            <a:ext cx="5429250" cy="581025"/>
          </a:xfrm>
          <a:prstGeom prst="rect">
            <a:avLst/>
          </a:prstGeom>
          <a:noFill/>
          <a:ln w="0">
            <a:noFill/>
          </a:ln>
        </p:spPr>
        <p:txBody>
          <a:bodyPr wrap="square" lIns="0" tIns="0" rIns="0" bIns="0" anchor="t">
            <a:noAutofit/>
          </a:bodyPr>
          <a:lstStyle/>
          <a:p>
            <a:pPr algn="l">
              <a:defRPr sz="2775" b="0">
                <a:solidFill>
                  <a:srgbClr val="111111"/>
                </a:solidFill>
                <a:latin typeface="Aptos"/>
                <a:ea typeface="Aptos"/>
                <a:cs typeface="Aptos"/>
              </a:defRPr>
            </a:pPr>
            <a:r>
              <a:rPr dirty="0"/>
              <a:t>157 ÷ 263 × 100 ≈ </a:t>
            </a:r>
            <a:r>
              <a:rPr b="1" dirty="0"/>
              <a:t>59.70%</a:t>
            </a:r>
          </a:p>
        </p:txBody>
      </p:sp>
      <p:sp>
        <p:nvSpPr>
          <p:cNvPr id="6" name="Teaching-371">
            <a:extLst>
              <a:ext uri="{FF2B5EF4-FFF2-40B4-BE49-F238E27FC236}">
                <a16:creationId xmlns:a16="http://schemas.microsoft.com/office/drawing/2014/main" id="{BE9E3187-8B1F-4D3D-9AAB-5388BE27FA9E}"/>
              </a:ext>
            </a:extLst>
          </p:cNvPr>
          <p:cNvSpPr>
            <a:spLocks noGrp="1"/>
          </p:cNvSpPr>
          <p:nvPr/>
        </p:nvSpPr>
        <p:spPr>
          <a:xfrm>
            <a:off x="6572250" y="2724150"/>
            <a:ext cx="5010150" cy="7239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B3.2  Support among</a:t>
            </a:r>
          </a:p>
          <a:p>
            <a:pPr algn="l">
              <a:defRPr sz="2325" b="0">
                <a:solidFill>
                  <a:srgbClr val="111111"/>
                </a:solidFill>
                <a:latin typeface="Aptos"/>
                <a:ea typeface="Aptos"/>
                <a:cs typeface="Aptos"/>
              </a:defRPr>
            </a:pPr>
            <a:r>
              <a:rPr b="1"/>
              <a:t>respondents</a:t>
            </a:r>
          </a:p>
        </p:txBody>
      </p:sp>
      <p:sp>
        <p:nvSpPr>
          <p:cNvPr id="7" name="Teaching-372">
            <a:extLst>
              <a:ext uri="{FF2B5EF4-FFF2-40B4-BE49-F238E27FC236}">
                <a16:creationId xmlns:a16="http://schemas.microsoft.com/office/drawing/2014/main" id="{574676A9-CD6B-4288-8C45-8B6E9CA778F6}"/>
              </a:ext>
            </a:extLst>
          </p:cNvPr>
          <p:cNvSpPr>
            <a:spLocks noGrp="1"/>
          </p:cNvSpPr>
          <p:nvPr/>
        </p:nvSpPr>
        <p:spPr>
          <a:xfrm>
            <a:off x="6572250" y="3562350"/>
            <a:ext cx="5010150" cy="581025"/>
          </a:xfrm>
          <a:prstGeom prst="rect">
            <a:avLst/>
          </a:prstGeom>
          <a:noFill/>
          <a:ln w="0">
            <a:noFill/>
          </a:ln>
        </p:spPr>
        <p:txBody>
          <a:bodyPr wrap="square" lIns="0" tIns="0" rIns="0" bIns="0" anchor="t">
            <a:noAutofit/>
          </a:bodyPr>
          <a:lstStyle/>
          <a:p>
            <a:pPr algn="l">
              <a:defRPr sz="2625" b="0">
                <a:solidFill>
                  <a:srgbClr val="111111"/>
                </a:solidFill>
                <a:latin typeface="Aptos"/>
                <a:ea typeface="Aptos"/>
                <a:cs typeface="Aptos"/>
              </a:defRPr>
            </a:pPr>
            <a:r>
              <a:t>112 ÷ 157 × 100 ≈ </a:t>
            </a:r>
            <a:r>
              <a:rPr b="1"/>
              <a:t>71.34%</a:t>
            </a:r>
          </a:p>
        </p:txBody>
      </p:sp>
      <p:sp>
        <p:nvSpPr>
          <p:cNvPr id="8" name="Teaching-373">
            <a:extLst>
              <a:ext uri="{FF2B5EF4-FFF2-40B4-BE49-F238E27FC236}">
                <a16:creationId xmlns:a16="http://schemas.microsoft.com/office/drawing/2014/main" id="{E33E28DB-2E30-408C-BE13-FC81EAEB2676}"/>
              </a:ext>
            </a:extLst>
          </p:cNvPr>
          <p:cNvSpPr>
            <a:spLocks noGrp="1"/>
          </p:cNvSpPr>
          <p:nvPr/>
        </p:nvSpPr>
        <p:spPr>
          <a:xfrm>
            <a:off x="619125" y="4514850"/>
            <a:ext cx="10810875" cy="0"/>
          </a:xfrm>
          <a:prstGeom prst="line">
            <a:avLst/>
          </a:prstGeom>
          <a:noFill/>
          <a:ln w="9525">
            <a:solidFill>
              <a:srgbClr val="8A959C"/>
            </a:solidFill>
          </a:ln>
        </p:spPr>
        <p:txBody>
          <a:bodyPr/>
          <a:lstStyle/>
          <a:p>
            <a:endParaRPr lang="en-US"/>
          </a:p>
        </p:txBody>
      </p:sp>
      <p:sp>
        <p:nvSpPr>
          <p:cNvPr id="9" name="Teaching-374">
            <a:extLst>
              <a:ext uri="{FF2B5EF4-FFF2-40B4-BE49-F238E27FC236}">
                <a16:creationId xmlns:a16="http://schemas.microsoft.com/office/drawing/2014/main" id="{9EA1FCDD-B4A6-47B2-8586-A3915AFDACA0}"/>
              </a:ext>
            </a:extLst>
          </p:cNvPr>
          <p:cNvSpPr>
            <a:spLocks noGrp="1"/>
          </p:cNvSpPr>
          <p:nvPr/>
        </p:nvSpPr>
        <p:spPr>
          <a:xfrm>
            <a:off x="619125" y="4895850"/>
            <a:ext cx="10810875" cy="12954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B3.3</a:t>
            </a:r>
            <a:r>
              <a:t>  We know the respondents’ percentage. To judge the college</a:t>
            </a:r>
          </a:p>
          <a:p>
            <a:pPr algn="l">
              <a:defRPr sz="2325" b="0">
                <a:solidFill>
                  <a:srgbClr val="111111"/>
                </a:solidFill>
                <a:latin typeface="Aptos"/>
                <a:ea typeface="Aptos"/>
                <a:cs typeface="Aptos"/>
              </a:defRPr>
            </a:pPr>
            <a:r>
              <a:t>estimate, investigate whether the </a:t>
            </a:r>
            <a:r>
              <a:rPr b="1"/>
              <a:t>106 nonrespondents</a:t>
            </a:r>
            <a:r>
              <a:t> have</a:t>
            </a:r>
          </a:p>
          <a:p>
            <a:pPr algn="l">
              <a:defRPr sz="2325" b="0">
                <a:solidFill>
                  <a:srgbClr val="111111"/>
                </a:solidFill>
                <a:latin typeface="Aptos"/>
                <a:ea typeface="Aptos"/>
                <a:cs typeface="Aptos"/>
              </a:defRPr>
            </a:pPr>
            <a:r>
              <a:t>different views about longer hours.</a:t>
            </a:r>
          </a:p>
        </p:txBody>
      </p:sp>
    </p:spTree>
    <p:extLst>
      <p:ext uri="{BB962C8B-B14F-4D97-AF65-F5344CB8AC3E}">
        <p14:creationId xmlns:p14="http://schemas.microsoft.com/office/powerpoint/2010/main" val="32813612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aching-346">
            <a:extLst>
              <a:ext uri="{FF2B5EF4-FFF2-40B4-BE49-F238E27FC236}">
                <a16:creationId xmlns:a16="http://schemas.microsoft.com/office/drawing/2014/main" id="{02880C73-8F20-4EB5-84E2-D1E3B3879294}"/>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Nonresponse bias</a:t>
            </a:r>
          </a:p>
        </p:txBody>
      </p:sp>
      <p:sp>
        <p:nvSpPr>
          <p:cNvPr id="10" name="survey-question">
            <a:extLst>
              <a:ext uri="{FF2B5EF4-FFF2-40B4-BE49-F238E27FC236}">
                <a16:creationId xmlns:a16="http://schemas.microsoft.com/office/drawing/2014/main" id="{6E983DD9-627C-4BC5-A7D9-322374F1CBE9}"/>
              </a:ext>
            </a:extLst>
          </p:cNvPr>
          <p:cNvSpPr>
            <a:spLocks noGrp="1"/>
          </p:cNvSpPr>
          <p:nvPr/>
        </p:nvSpPr>
        <p:spPr>
          <a:xfrm>
            <a:off x="428625" y="1952625"/>
            <a:ext cx="11296650" cy="457200"/>
          </a:xfrm>
          <a:prstGeom prst="rect">
            <a:avLst/>
          </a:prstGeom>
          <a:noFill/>
          <a:ln w="0">
            <a:noFill/>
          </a:ln>
        </p:spPr>
        <p:txBody>
          <a:bodyPr lIns="0" tIns="0" rIns="0" bIns="0">
            <a:noAutofit/>
          </a:bodyPr>
          <a:lstStyle/>
          <a:p>
            <a:pPr>
              <a:defRPr sz="2325" b="0">
                <a:solidFill>
                  <a:srgbClr val="111111"/>
                </a:solidFill>
                <a:latin typeface="Aptos"/>
                <a:ea typeface="Aptos"/>
                <a:cs typeface="Aptos"/>
              </a:defRPr>
            </a:pPr>
            <a:r>
              <a:rPr sz="2325" b="0">
                <a:solidFill>
                  <a:srgbClr val="111111"/>
                </a:solidFill>
                <a:latin typeface="Aptos"/>
                <a:ea typeface="Aptos"/>
                <a:cs typeface="Aptos"/>
              </a:rPr>
              <a:t>Randomly invite 200 students: “Should the library stay open later?”</a:t>
            </a:r>
          </a:p>
        </p:txBody>
      </p:sp>
      <p:graphicFrame>
        <p:nvGraphicFramePr>
          <p:cNvPr id="21" name="Table 20"/>
          <p:cNvGraphicFramePr/>
          <p:nvPr/>
        </p:nvGraphicFramePr>
        <p:xfrm>
          <a:off x="619125" y="2667000"/>
          <a:ext cx="6667500" cy="1752600"/>
        </p:xfrm>
        <a:graphic>
          <a:graphicData uri="http://schemas.openxmlformats.org/drawingml/2006/table">
            <a:tbl>
              <a:tblPr/>
              <a:tblGrid>
                <a:gridCol w="3143250">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gridCol w="1952625">
                  <a:extLst>
                    <a:ext uri="{9D8B030D-6E8A-4147-A177-3AD203B41FA5}">
                      <a16:colId xmlns:a16="http://schemas.microsoft.com/office/drawing/2014/main" val="20002"/>
                    </a:ext>
                  </a:extLst>
                </a:gridCol>
              </a:tblGrid>
              <a:tr h="438150">
                <a:tc>
                  <a:txBody>
                    <a:bodyPr/>
                    <a:lstStyle/>
                    <a:p>
                      <a:pPr algn="l"/>
                      <a:r>
                        <a:rPr sz="2025" b="1">
                          <a:solidFill>
                            <a:srgbClr val="FFFFFF"/>
                          </a:solidFill>
                          <a:latin typeface="Aptos"/>
                          <a:ea typeface="Aptos"/>
                          <a:cs typeface="Aptos"/>
                        </a:rPr>
                        <a:t>Group</a:t>
                      </a:r>
                    </a:p>
                  </a:txBody>
                  <a:tcPr marL="114300" marR="114300" marT="57150" marB="57150" anchor="ctr">
                    <a:solidFill>
                      <a:srgbClr val="D6171D"/>
                    </a:solidFill>
                  </a:tcPr>
                </a:tc>
                <a:tc>
                  <a:txBody>
                    <a:bodyPr/>
                    <a:lstStyle/>
                    <a:p>
                      <a:pPr algn="ctr"/>
                      <a:r>
                        <a:rPr sz="2025" b="1">
                          <a:solidFill>
                            <a:srgbClr val="FFFFFF"/>
                          </a:solidFill>
                          <a:latin typeface="Aptos"/>
                          <a:ea typeface="Aptos"/>
                          <a:cs typeface="Aptos"/>
                        </a:rPr>
                        <a:t>Students</a:t>
                      </a:r>
                    </a:p>
                  </a:txBody>
                  <a:tcPr marL="114300" marR="114300" marT="57150" marB="57150" anchor="ctr">
                    <a:solidFill>
                      <a:srgbClr val="D6171D"/>
                    </a:solidFill>
                  </a:tcPr>
                </a:tc>
                <a:tc>
                  <a:txBody>
                    <a:bodyPr/>
                    <a:lstStyle/>
                    <a:p>
                      <a:pPr algn="ctr"/>
                      <a:r>
                        <a:rPr sz="2025" b="1">
                          <a:solidFill>
                            <a:srgbClr val="FFFFFF"/>
                          </a:solidFill>
                          <a:latin typeface="Aptos"/>
                          <a:ea typeface="Aptos"/>
                          <a:cs typeface="Aptos"/>
                        </a:rPr>
                        <a:t>Support</a:t>
                      </a:r>
                    </a:p>
                  </a:txBody>
                  <a:tcPr marL="114300" marR="114300" marT="57150" marB="57150" anchor="ctr">
                    <a:solidFill>
                      <a:srgbClr val="D6171D"/>
                    </a:solidFill>
                  </a:tcPr>
                </a:tc>
                <a:extLst>
                  <a:ext uri="{0D108BD9-81ED-4DB2-BD59-A6C34878D82A}">
                    <a16:rowId xmlns:a16="http://schemas.microsoft.com/office/drawing/2014/main" val="10000"/>
                  </a:ext>
                </a:extLst>
              </a:tr>
              <a:tr h="438150">
                <a:tc>
                  <a:txBody>
                    <a:bodyPr/>
                    <a:lstStyle/>
                    <a:p>
                      <a:pPr algn="l"/>
                      <a:r>
                        <a:rPr sz="2025" b="0">
                          <a:solidFill>
                            <a:srgbClr val="111111"/>
                          </a:solidFill>
                          <a:latin typeface="Aptos"/>
                          <a:ea typeface="Aptos"/>
                          <a:cs typeface="Aptos"/>
                        </a:rPr>
                        <a:t>Reply</a:t>
                      </a:r>
                    </a:p>
                  </a:txBody>
                  <a:tcPr marL="114300" marR="114300" marT="57150" marB="57150" anchor="ctr">
                    <a:solidFill>
                      <a:srgbClr val="FFFFFF"/>
                    </a:solidFill>
                  </a:tcPr>
                </a:tc>
                <a:tc>
                  <a:txBody>
                    <a:bodyPr/>
                    <a:lstStyle/>
                    <a:p>
                      <a:pPr algn="ctr"/>
                      <a:r>
                        <a:rPr sz="2025" b="0">
                          <a:solidFill>
                            <a:srgbClr val="111111"/>
                          </a:solidFill>
                          <a:latin typeface="Aptos"/>
                          <a:ea typeface="Aptos"/>
                          <a:cs typeface="Aptos"/>
                        </a:rPr>
                        <a:t>60</a:t>
                      </a:r>
                    </a:p>
                  </a:txBody>
                  <a:tcPr marL="114300" marR="114300" marT="57150" marB="57150" anchor="ctr">
                    <a:solidFill>
                      <a:srgbClr val="FFFFFF"/>
                    </a:solidFill>
                  </a:tcPr>
                </a:tc>
                <a:tc>
                  <a:txBody>
                    <a:bodyPr/>
                    <a:lstStyle/>
                    <a:p>
                      <a:pPr algn="ctr"/>
                      <a:r>
                        <a:rPr sz="2025" b="0">
                          <a:solidFill>
                            <a:srgbClr val="111111"/>
                          </a:solidFill>
                          <a:latin typeface="Aptos"/>
                          <a:ea typeface="Aptos"/>
                          <a:cs typeface="Aptos"/>
                        </a:rPr>
                        <a:t>48</a:t>
                      </a:r>
                    </a:p>
                  </a:txBody>
                  <a:tcPr marL="114300" marR="114300" marT="57150" marB="57150" anchor="ctr">
                    <a:solidFill>
                      <a:srgbClr val="FFFFFF"/>
                    </a:solidFill>
                  </a:tcPr>
                </a:tc>
                <a:extLst>
                  <a:ext uri="{0D108BD9-81ED-4DB2-BD59-A6C34878D82A}">
                    <a16:rowId xmlns:a16="http://schemas.microsoft.com/office/drawing/2014/main" val="10001"/>
                  </a:ext>
                </a:extLst>
              </a:tr>
              <a:tr h="438150">
                <a:tc>
                  <a:txBody>
                    <a:bodyPr/>
                    <a:lstStyle/>
                    <a:p>
                      <a:pPr algn="l"/>
                      <a:r>
                        <a:rPr sz="2025" b="0">
                          <a:solidFill>
                            <a:srgbClr val="111111"/>
                          </a:solidFill>
                          <a:latin typeface="Aptos"/>
                          <a:ea typeface="Aptos"/>
                          <a:cs typeface="Aptos"/>
                        </a:rPr>
                        <a:t>Do not reply*</a:t>
                      </a:r>
                    </a:p>
                  </a:txBody>
                  <a:tcPr marL="114300" marR="114300" marT="57150" marB="57150" anchor="ctr">
                    <a:solidFill>
                      <a:srgbClr val="FFFFFF"/>
                    </a:solidFill>
                  </a:tcPr>
                </a:tc>
                <a:tc>
                  <a:txBody>
                    <a:bodyPr/>
                    <a:lstStyle/>
                    <a:p>
                      <a:pPr algn="ctr"/>
                      <a:r>
                        <a:rPr sz="2025" b="0">
                          <a:solidFill>
                            <a:srgbClr val="111111"/>
                          </a:solidFill>
                          <a:latin typeface="Aptos"/>
                          <a:ea typeface="Aptos"/>
                          <a:cs typeface="Aptos"/>
                        </a:rPr>
                        <a:t>140</a:t>
                      </a:r>
                    </a:p>
                  </a:txBody>
                  <a:tcPr marL="114300" marR="114300" marT="57150" marB="57150" anchor="ctr">
                    <a:solidFill>
                      <a:srgbClr val="FFFFFF"/>
                    </a:solidFill>
                  </a:tcPr>
                </a:tc>
                <a:tc>
                  <a:txBody>
                    <a:bodyPr/>
                    <a:lstStyle/>
                    <a:p>
                      <a:pPr algn="ctr"/>
                      <a:r>
                        <a:rPr sz="2025" b="0">
                          <a:solidFill>
                            <a:srgbClr val="111111"/>
                          </a:solidFill>
                          <a:latin typeface="Aptos"/>
                          <a:ea typeface="Aptos"/>
                          <a:cs typeface="Aptos"/>
                        </a:rPr>
                        <a:t>42</a:t>
                      </a:r>
                    </a:p>
                  </a:txBody>
                  <a:tcPr marL="114300" marR="114300" marT="57150" marB="57150" anchor="ctr">
                    <a:solidFill>
                      <a:srgbClr val="FFFFFF"/>
                    </a:solidFill>
                  </a:tcPr>
                </a:tc>
                <a:extLst>
                  <a:ext uri="{0D108BD9-81ED-4DB2-BD59-A6C34878D82A}">
                    <a16:rowId xmlns:a16="http://schemas.microsoft.com/office/drawing/2014/main" val="10002"/>
                  </a:ext>
                </a:extLst>
              </a:tr>
              <a:tr h="438150">
                <a:tc>
                  <a:txBody>
                    <a:bodyPr/>
                    <a:lstStyle/>
                    <a:p>
                      <a:pPr algn="l"/>
                      <a:r>
                        <a:rPr sz="2025" b="1">
                          <a:solidFill>
                            <a:srgbClr val="111111"/>
                          </a:solidFill>
                          <a:latin typeface="Aptos"/>
                          <a:ea typeface="Aptos"/>
                          <a:cs typeface="Aptos"/>
                        </a:rPr>
                        <a:t>All invitees</a:t>
                      </a:r>
                    </a:p>
                  </a:txBody>
                  <a:tcPr marL="114300" marR="114300" marT="57150" marB="57150" anchor="ctr">
                    <a:solidFill>
                      <a:srgbClr val="EFF7FD"/>
                    </a:solidFill>
                  </a:tcPr>
                </a:tc>
                <a:tc>
                  <a:txBody>
                    <a:bodyPr/>
                    <a:lstStyle/>
                    <a:p>
                      <a:pPr algn="ctr"/>
                      <a:r>
                        <a:rPr sz="2025" b="1">
                          <a:solidFill>
                            <a:srgbClr val="111111"/>
                          </a:solidFill>
                          <a:latin typeface="Aptos"/>
                          <a:ea typeface="Aptos"/>
                          <a:cs typeface="Aptos"/>
                        </a:rPr>
                        <a:t>200</a:t>
                      </a:r>
                    </a:p>
                  </a:txBody>
                  <a:tcPr marL="114300" marR="114300" marT="57150" marB="57150" anchor="ctr">
                    <a:solidFill>
                      <a:srgbClr val="EFF7FD"/>
                    </a:solidFill>
                  </a:tcPr>
                </a:tc>
                <a:tc>
                  <a:txBody>
                    <a:bodyPr/>
                    <a:lstStyle/>
                    <a:p>
                      <a:pPr algn="ctr"/>
                      <a:r>
                        <a:rPr sz="2025" b="1">
                          <a:solidFill>
                            <a:srgbClr val="111111"/>
                          </a:solidFill>
                          <a:latin typeface="Aptos"/>
                          <a:ea typeface="Aptos"/>
                          <a:cs typeface="Aptos"/>
                        </a:rPr>
                        <a:t>90</a:t>
                      </a:r>
                    </a:p>
                  </a:txBody>
                  <a:tcPr marL="114300" marR="114300" marT="57150" marB="57150" anchor="ctr">
                    <a:solidFill>
                      <a:srgbClr val="EFF7FD"/>
                    </a:solidFill>
                  </a:tcPr>
                </a:tc>
                <a:extLst>
                  <a:ext uri="{0D108BD9-81ED-4DB2-BD59-A6C34878D82A}">
                    <a16:rowId xmlns:a16="http://schemas.microsoft.com/office/drawing/2014/main" val="10003"/>
                  </a:ext>
                </a:extLst>
              </a:tr>
            </a:tbl>
          </a:graphicData>
        </a:graphic>
      </p:graphicFrame>
      <p:sp>
        <p:nvSpPr>
          <p:cNvPr id="12" name="replies-label">
            <a:extLst>
              <a:ext uri="{FF2B5EF4-FFF2-40B4-BE49-F238E27FC236}">
                <a16:creationId xmlns:a16="http://schemas.microsoft.com/office/drawing/2014/main" id="{93E4693C-50B3-4D09-9E90-749F2453986E}"/>
              </a:ext>
            </a:extLst>
          </p:cNvPr>
          <p:cNvSpPr>
            <a:spLocks noGrp="1"/>
          </p:cNvSpPr>
          <p:nvPr/>
        </p:nvSpPr>
        <p:spPr>
          <a:xfrm>
            <a:off x="7762875" y="2676525"/>
            <a:ext cx="3619500" cy="361950"/>
          </a:xfrm>
          <a:prstGeom prst="rect">
            <a:avLst/>
          </a:prstGeom>
          <a:noFill/>
          <a:ln w="0">
            <a:noFill/>
          </a:ln>
        </p:spPr>
        <p:txBody>
          <a:bodyPr lIns="0" tIns="0" rIns="0" bIns="0">
            <a:noAutofit/>
          </a:bodyPr>
          <a:lstStyle/>
          <a:p>
            <a:pPr>
              <a:defRPr sz="2025" b="1">
                <a:solidFill>
                  <a:srgbClr val="111111"/>
                </a:solidFill>
                <a:latin typeface="Aptos"/>
                <a:ea typeface="Aptos"/>
                <a:cs typeface="Aptos"/>
              </a:defRPr>
            </a:pPr>
            <a:r>
              <a:rPr sz="2025" b="1">
                <a:solidFill>
                  <a:srgbClr val="111111"/>
                </a:solidFill>
                <a:latin typeface="Aptos"/>
                <a:ea typeface="Aptos"/>
                <a:cs typeface="Aptos"/>
              </a:rPr>
              <a:t>Replies only</a:t>
            </a:r>
          </a:p>
        </p:txBody>
      </p:sp>
      <p:sp>
        <p:nvSpPr>
          <p:cNvPr id="13" name="replies-result">
            <a:extLst>
              <a:ext uri="{FF2B5EF4-FFF2-40B4-BE49-F238E27FC236}">
                <a16:creationId xmlns:a16="http://schemas.microsoft.com/office/drawing/2014/main" id="{CFC4EB11-039C-40BF-B72D-45DD4A2EA284}"/>
              </a:ext>
            </a:extLst>
          </p:cNvPr>
          <p:cNvSpPr>
            <a:spLocks noGrp="1"/>
          </p:cNvSpPr>
          <p:nvPr/>
        </p:nvSpPr>
        <p:spPr>
          <a:xfrm>
            <a:off x="7762875" y="3067050"/>
            <a:ext cx="3714750" cy="495300"/>
          </a:xfrm>
          <a:prstGeom prst="rect">
            <a:avLst/>
          </a:prstGeom>
          <a:noFill/>
          <a:ln w="0">
            <a:noFill/>
          </a:ln>
        </p:spPr>
        <p:txBody>
          <a:bodyPr lIns="0" tIns="0" rIns="0" bIns="0">
            <a:noAutofit/>
          </a:bodyPr>
          <a:lstStyle/>
          <a:p>
            <a:pPr>
              <a:defRPr sz="2925" b="1">
                <a:solidFill>
                  <a:srgbClr val="111111"/>
                </a:solidFill>
                <a:latin typeface="Aptos"/>
                <a:ea typeface="Aptos"/>
                <a:cs typeface="Aptos"/>
              </a:defRPr>
            </a:pPr>
            <a:r>
              <a:rPr sz="2925" b="1">
                <a:solidFill>
                  <a:srgbClr val="111111"/>
                </a:solidFill>
                <a:latin typeface="Aptos"/>
                <a:ea typeface="Aptos"/>
                <a:cs typeface="Aptos"/>
              </a:rPr>
              <a:t>48 ÷ 60 = 80%</a:t>
            </a:r>
          </a:p>
        </p:txBody>
      </p:sp>
      <p:sp>
        <p:nvSpPr>
          <p:cNvPr id="14" name="invitees-label">
            <a:extLst>
              <a:ext uri="{FF2B5EF4-FFF2-40B4-BE49-F238E27FC236}">
                <a16:creationId xmlns:a16="http://schemas.microsoft.com/office/drawing/2014/main" id="{B907A5DC-7541-4F1D-BB86-F61F14AC0F55}"/>
              </a:ext>
            </a:extLst>
          </p:cNvPr>
          <p:cNvSpPr>
            <a:spLocks noGrp="1"/>
          </p:cNvSpPr>
          <p:nvPr/>
        </p:nvSpPr>
        <p:spPr>
          <a:xfrm>
            <a:off x="7762875" y="3676650"/>
            <a:ext cx="3714750" cy="361950"/>
          </a:xfrm>
          <a:prstGeom prst="rect">
            <a:avLst/>
          </a:prstGeom>
          <a:noFill/>
          <a:ln w="0">
            <a:noFill/>
          </a:ln>
        </p:spPr>
        <p:txBody>
          <a:bodyPr lIns="0" tIns="0" rIns="0" bIns="0">
            <a:noAutofit/>
          </a:bodyPr>
          <a:lstStyle/>
          <a:p>
            <a:pPr>
              <a:defRPr sz="2025" b="1">
                <a:solidFill>
                  <a:srgbClr val="111111"/>
                </a:solidFill>
                <a:latin typeface="Aptos"/>
                <a:ea typeface="Aptos"/>
                <a:cs typeface="Aptos"/>
              </a:defRPr>
            </a:pPr>
            <a:r>
              <a:rPr sz="2025" b="1">
                <a:solidFill>
                  <a:srgbClr val="111111"/>
                </a:solidFill>
                <a:latin typeface="Aptos"/>
                <a:ea typeface="Aptos"/>
                <a:cs typeface="Aptos"/>
              </a:rPr>
              <a:t>All 200 invitees</a:t>
            </a:r>
          </a:p>
        </p:txBody>
      </p:sp>
      <p:sp>
        <p:nvSpPr>
          <p:cNvPr id="15" name="invitees-result">
            <a:extLst>
              <a:ext uri="{FF2B5EF4-FFF2-40B4-BE49-F238E27FC236}">
                <a16:creationId xmlns:a16="http://schemas.microsoft.com/office/drawing/2014/main" id="{8C41BE4C-7557-445E-B344-C64380541871}"/>
              </a:ext>
            </a:extLst>
          </p:cNvPr>
          <p:cNvSpPr>
            <a:spLocks noGrp="1"/>
          </p:cNvSpPr>
          <p:nvPr/>
        </p:nvSpPr>
        <p:spPr>
          <a:xfrm>
            <a:off x="7762875" y="4067175"/>
            <a:ext cx="3714750" cy="495300"/>
          </a:xfrm>
          <a:prstGeom prst="rect">
            <a:avLst/>
          </a:prstGeom>
          <a:noFill/>
          <a:ln w="0">
            <a:noFill/>
          </a:ln>
        </p:spPr>
        <p:txBody>
          <a:bodyPr lIns="0" tIns="0" rIns="0" bIns="0">
            <a:noAutofit/>
          </a:bodyPr>
          <a:lstStyle/>
          <a:p>
            <a:pPr>
              <a:defRPr sz="2925" b="1">
                <a:solidFill>
                  <a:srgbClr val="111111"/>
                </a:solidFill>
                <a:latin typeface="Aptos"/>
                <a:ea typeface="Aptos"/>
                <a:cs typeface="Aptos"/>
              </a:defRPr>
            </a:pPr>
            <a:r>
              <a:rPr sz="2925" b="1">
                <a:solidFill>
                  <a:srgbClr val="111111"/>
                </a:solidFill>
                <a:latin typeface="Aptos"/>
                <a:ea typeface="Aptos"/>
                <a:cs typeface="Aptos"/>
              </a:rPr>
              <a:t>90 ÷ 200 = 45%</a:t>
            </a:r>
          </a:p>
        </p:txBody>
      </p:sp>
      <p:sp>
        <p:nvSpPr>
          <p:cNvPr id="16" name="hypothetical-disclosure">
            <a:extLst>
              <a:ext uri="{FF2B5EF4-FFF2-40B4-BE49-F238E27FC236}">
                <a16:creationId xmlns:a16="http://schemas.microsoft.com/office/drawing/2014/main" id="{7B84CAA4-48F4-4A37-97C9-AC38A0C7FA98}"/>
              </a:ext>
            </a:extLst>
          </p:cNvPr>
          <p:cNvSpPr>
            <a:spLocks noGrp="1"/>
          </p:cNvSpPr>
          <p:nvPr/>
        </p:nvSpPr>
        <p:spPr>
          <a:xfrm>
            <a:off x="619125" y="4552950"/>
            <a:ext cx="6781800" cy="590550"/>
          </a:xfrm>
          <a:prstGeom prst="rect">
            <a:avLst/>
          </a:prstGeom>
          <a:noFill/>
          <a:ln w="0">
            <a:noFill/>
          </a:ln>
        </p:spPr>
        <p:txBody>
          <a:bodyPr lIns="0" tIns="0" rIns="0" bIns="0">
            <a:noAutofit/>
          </a:bodyPr>
          <a:lstStyle/>
          <a:p>
            <a:pPr>
              <a:defRPr sz="1725" b="0">
                <a:solidFill>
                  <a:srgbClr val="666666"/>
                </a:solidFill>
                <a:latin typeface="Aptos"/>
                <a:ea typeface="Aptos"/>
                <a:cs typeface="Aptos"/>
              </a:defRPr>
            </a:pPr>
            <a:r>
              <a:rPr sz="1725" b="0">
                <a:solidFill>
                  <a:srgbClr val="666666"/>
                </a:solidFill>
                <a:latin typeface="Aptos"/>
                <a:ea typeface="Aptos"/>
                <a:cs typeface="Aptos"/>
              </a:rPr>
              <a:t>*Suppose 42 would support it. In real surveys,</a:t>
            </a:r>
          </a:p>
          <a:p>
            <a:pPr>
              <a:defRPr sz="1725" b="0">
                <a:solidFill>
                  <a:srgbClr val="666666"/>
                </a:solidFill>
                <a:latin typeface="Aptos"/>
                <a:ea typeface="Aptos"/>
                <a:cs typeface="Aptos"/>
              </a:defRPr>
            </a:pPr>
            <a:r>
              <a:rPr sz="1725" b="0">
                <a:solidFill>
                  <a:srgbClr val="666666"/>
                </a:solidFill>
                <a:latin typeface="Aptos"/>
                <a:ea typeface="Aptos"/>
                <a:cs typeface="Aptos"/>
              </a:rPr>
              <a:t>the missing answers are unknown.</a:t>
            </a:r>
          </a:p>
        </p:txBody>
      </p:sp>
      <p:sp>
        <p:nvSpPr>
          <p:cNvPr id="17" name="mechanism">
            <a:extLst>
              <a:ext uri="{FF2B5EF4-FFF2-40B4-BE49-F238E27FC236}">
                <a16:creationId xmlns:a16="http://schemas.microsoft.com/office/drawing/2014/main" id="{E4982AF8-0098-4F41-882C-CE7BDFE93784}"/>
              </a:ext>
            </a:extLst>
          </p:cNvPr>
          <p:cNvSpPr>
            <a:spLocks noGrp="1"/>
          </p:cNvSpPr>
          <p:nvPr/>
        </p:nvSpPr>
        <p:spPr>
          <a:xfrm>
            <a:off x="619125" y="5257800"/>
            <a:ext cx="10810875" cy="704850"/>
          </a:xfrm>
          <a:prstGeom prst="rect">
            <a:avLst/>
          </a:prstGeom>
          <a:noFill/>
          <a:ln w="0">
            <a:noFill/>
          </a:ln>
        </p:spPr>
        <p:txBody>
          <a:bodyPr lIns="0" tIns="0" rIns="0" bIns="0">
            <a:noAutofit/>
          </a:bodyPr>
          <a:lstStyle/>
          <a:p>
            <a:pPr>
              <a:defRPr sz="2250" b="1">
                <a:solidFill>
                  <a:srgbClr val="111111"/>
                </a:solidFill>
                <a:latin typeface="Aptos"/>
                <a:ea typeface="Aptos"/>
                <a:cs typeface="Aptos"/>
              </a:defRPr>
            </a:pPr>
            <a:r>
              <a:rPr sz="2250" b="1">
                <a:solidFill>
                  <a:srgbClr val="111111"/>
                </a:solidFill>
                <a:latin typeface="Aptos"/>
                <a:ea typeface="Aptos"/>
                <a:cs typeface="Aptos"/>
              </a:rPr>
              <a:t>If supporters are more likely to reply, support looks too high.</a:t>
            </a:r>
          </a:p>
          <a:p>
            <a:pPr>
              <a:defRPr sz="2250" b="1">
                <a:solidFill>
                  <a:srgbClr val="111111"/>
                </a:solidFill>
                <a:latin typeface="Aptos"/>
                <a:ea typeface="Aptos"/>
                <a:cs typeface="Aptos"/>
              </a:defRPr>
            </a:pPr>
            <a:r>
              <a:rPr sz="2250" b="1">
                <a:solidFill>
                  <a:srgbClr val="111111"/>
                </a:solidFill>
                <a:latin typeface="Aptos"/>
                <a:ea typeface="Aptos"/>
                <a:cs typeface="Aptos"/>
              </a:rPr>
              <a:t>This is nonresponse bias.</a:t>
            </a:r>
          </a:p>
        </p:txBody>
      </p:sp>
      <p:sp>
        <p:nvSpPr>
          <p:cNvPr id="18" name="response-rate-caution">
            <a:extLst>
              <a:ext uri="{FF2B5EF4-FFF2-40B4-BE49-F238E27FC236}">
                <a16:creationId xmlns:a16="http://schemas.microsoft.com/office/drawing/2014/main" id="{7B7EAB99-D489-42A2-BE76-1F82FF0E26B1}"/>
              </a:ext>
            </a:extLst>
          </p:cNvPr>
          <p:cNvSpPr>
            <a:spLocks noGrp="1"/>
          </p:cNvSpPr>
          <p:nvPr/>
        </p:nvSpPr>
        <p:spPr>
          <a:xfrm>
            <a:off x="523875" y="6038850"/>
            <a:ext cx="11087100" cy="304800"/>
          </a:xfrm>
          <a:prstGeom prst="rect">
            <a:avLst/>
          </a:prstGeom>
          <a:noFill/>
          <a:ln w="0">
            <a:noFill/>
          </a:ln>
        </p:spPr>
        <p:txBody>
          <a:bodyPr lIns="0" tIns="0" rIns="0" bIns="0">
            <a:noAutofit/>
          </a:bodyPr>
          <a:lstStyle/>
          <a:p>
            <a:pPr>
              <a:defRPr sz="1725" b="0">
                <a:solidFill>
                  <a:srgbClr val="666666"/>
                </a:solidFill>
                <a:latin typeface="Aptos"/>
                <a:ea typeface="Aptos"/>
                <a:cs typeface="Aptos"/>
              </a:defRPr>
            </a:pPr>
            <a:r>
              <a:rPr sz="1725" b="0">
                <a:solidFill>
                  <a:srgbClr val="666666"/>
                </a:solidFill>
                <a:latin typeface="Aptos"/>
                <a:ea typeface="Aptos"/>
                <a:cs typeface="Aptos"/>
              </a:rPr>
              <a:t>A low response rate alone does not prove bias.</a:t>
            </a:r>
          </a:p>
        </p:txBody>
      </p:sp>
    </p:spTree>
    <p:extLst>
      <p:ext uri="{BB962C8B-B14F-4D97-AF65-F5344CB8AC3E}">
        <p14:creationId xmlns:p14="http://schemas.microsoft.com/office/powerpoint/2010/main" val="39969294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aching-375">
            <a:extLst>
              <a:ext uri="{FF2B5EF4-FFF2-40B4-BE49-F238E27FC236}">
                <a16:creationId xmlns:a16="http://schemas.microsoft.com/office/drawing/2014/main" id="{1D320F7B-C460-4AA3-A5A5-6484FB0F403D}"/>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Question wording can change answers</a:t>
            </a:r>
          </a:p>
        </p:txBody>
      </p:sp>
      <p:sp>
        <p:nvSpPr>
          <p:cNvPr id="2" name="Teaching-376">
            <a:extLst>
              <a:ext uri="{FF2B5EF4-FFF2-40B4-BE49-F238E27FC236}">
                <a16:creationId xmlns:a16="http://schemas.microsoft.com/office/drawing/2014/main" id="{C8944124-F75D-428C-BCD0-69B479ACD876}"/>
              </a:ext>
            </a:extLst>
          </p:cNvPr>
          <p:cNvSpPr>
            <a:spLocks noGrp="1"/>
          </p:cNvSpPr>
          <p:nvPr/>
        </p:nvSpPr>
        <p:spPr>
          <a:xfrm>
            <a:off x="619125" y="2524125"/>
            <a:ext cx="5191125" cy="428625"/>
          </a:xfrm>
          <a:prstGeom prst="rect">
            <a:avLst/>
          </a:prstGeom>
          <a:noFill/>
          <a:ln w="0">
            <a:noFill/>
          </a:ln>
        </p:spPr>
        <p:txBody>
          <a:bodyPr wrap="square" lIns="0" tIns="0" rIns="0" bIns="0" anchor="t">
            <a:noAutofit/>
          </a:bodyPr>
          <a:lstStyle/>
          <a:p>
            <a:pPr algn="l">
              <a:defRPr sz="2400" b="0">
                <a:solidFill>
                  <a:srgbClr val="111111"/>
                </a:solidFill>
                <a:latin typeface="Aptos"/>
                <a:ea typeface="Aptos"/>
                <a:cs typeface="Aptos"/>
              </a:defRPr>
            </a:pPr>
            <a:r>
              <a:rPr b="1"/>
              <a:t>Leading question</a:t>
            </a:r>
          </a:p>
        </p:txBody>
      </p:sp>
      <p:sp>
        <p:nvSpPr>
          <p:cNvPr id="3" name="Teaching-377">
            <a:extLst>
              <a:ext uri="{FF2B5EF4-FFF2-40B4-BE49-F238E27FC236}">
                <a16:creationId xmlns:a16="http://schemas.microsoft.com/office/drawing/2014/main" id="{668CF5BD-488C-45A2-834B-D634C3FB2468}"/>
              </a:ext>
            </a:extLst>
          </p:cNvPr>
          <p:cNvSpPr>
            <a:spLocks noGrp="1"/>
          </p:cNvSpPr>
          <p:nvPr/>
        </p:nvSpPr>
        <p:spPr>
          <a:xfrm>
            <a:off x="619125" y="3171825"/>
            <a:ext cx="5191125" cy="1409700"/>
          </a:xfrm>
          <a:prstGeom prst="rect">
            <a:avLst/>
          </a:prstGeom>
          <a:noFill/>
          <a:ln w="0">
            <a:noFill/>
          </a:ln>
        </p:spPr>
        <p:txBody>
          <a:bodyPr wrap="square" lIns="0" tIns="0" rIns="0" bIns="0" anchor="t">
            <a:noAutofit/>
          </a:bodyPr>
          <a:lstStyle/>
          <a:p>
            <a:pPr algn="l">
              <a:defRPr sz="2475" b="0">
                <a:solidFill>
                  <a:srgbClr val="111111"/>
                </a:solidFill>
                <a:latin typeface="Aptos"/>
                <a:ea typeface="Aptos"/>
                <a:cs typeface="Aptos"/>
              </a:defRPr>
            </a:pPr>
            <a:r>
              <a:rPr dirty="0"/>
              <a:t>“</a:t>
            </a:r>
            <a:r>
              <a:rPr b="1" dirty="0">
                <a:solidFill>
                  <a:srgbClr val="FF0000"/>
                </a:solidFill>
              </a:rPr>
              <a:t>Don’t you agree</a:t>
            </a:r>
            <a:r>
              <a:rPr dirty="0">
                <a:solidFill>
                  <a:srgbClr val="FF0000"/>
                </a:solidFill>
              </a:rPr>
              <a:t> </a:t>
            </a:r>
            <a:r>
              <a:rPr dirty="0"/>
              <a:t>that extending</a:t>
            </a:r>
          </a:p>
          <a:p>
            <a:pPr algn="l">
              <a:defRPr sz="2475" b="0">
                <a:solidFill>
                  <a:srgbClr val="111111"/>
                </a:solidFill>
                <a:latin typeface="Aptos"/>
                <a:ea typeface="Aptos"/>
                <a:cs typeface="Aptos"/>
              </a:defRPr>
            </a:pPr>
            <a:r>
              <a:rPr dirty="0"/>
              <a:t>library hours would be a </a:t>
            </a:r>
            <a:r>
              <a:rPr b="1" dirty="0">
                <a:solidFill>
                  <a:srgbClr val="FF0000"/>
                </a:solidFill>
              </a:rPr>
              <a:t>great</a:t>
            </a:r>
          </a:p>
          <a:p>
            <a:pPr algn="l">
              <a:defRPr sz="2475" b="0">
                <a:solidFill>
                  <a:srgbClr val="111111"/>
                </a:solidFill>
                <a:latin typeface="Aptos"/>
                <a:ea typeface="Aptos"/>
                <a:cs typeface="Aptos"/>
              </a:defRPr>
            </a:pPr>
            <a:r>
              <a:rPr b="1" dirty="0">
                <a:solidFill>
                  <a:srgbClr val="FF0000"/>
                </a:solidFill>
              </a:rPr>
              <a:t>improvement</a:t>
            </a:r>
            <a:r>
              <a:rPr dirty="0">
                <a:solidFill>
                  <a:srgbClr val="FF0000"/>
                </a:solidFill>
              </a:rPr>
              <a:t>?”</a:t>
            </a:r>
          </a:p>
        </p:txBody>
      </p:sp>
      <p:sp>
        <p:nvSpPr>
          <p:cNvPr id="4" name="Teaching-378">
            <a:extLst>
              <a:ext uri="{FF2B5EF4-FFF2-40B4-BE49-F238E27FC236}">
                <a16:creationId xmlns:a16="http://schemas.microsoft.com/office/drawing/2014/main" id="{9D068369-4551-495C-9C4A-EA2B7A52B67D}"/>
              </a:ext>
            </a:extLst>
          </p:cNvPr>
          <p:cNvSpPr>
            <a:spLocks noGrp="1"/>
          </p:cNvSpPr>
          <p:nvPr/>
        </p:nvSpPr>
        <p:spPr>
          <a:xfrm>
            <a:off x="6667500" y="2524125"/>
            <a:ext cx="4857750" cy="428625"/>
          </a:xfrm>
          <a:prstGeom prst="rect">
            <a:avLst/>
          </a:prstGeom>
          <a:noFill/>
          <a:ln w="0">
            <a:noFill/>
          </a:ln>
        </p:spPr>
        <p:txBody>
          <a:bodyPr wrap="square" lIns="0" tIns="0" rIns="0" bIns="0" anchor="t">
            <a:noAutofit/>
          </a:bodyPr>
          <a:lstStyle/>
          <a:p>
            <a:pPr algn="l">
              <a:defRPr sz="2400" b="0">
                <a:solidFill>
                  <a:srgbClr val="111111"/>
                </a:solidFill>
                <a:latin typeface="Aptos"/>
                <a:ea typeface="Aptos"/>
                <a:cs typeface="Aptos"/>
              </a:defRPr>
            </a:pPr>
            <a:r>
              <a:rPr b="1"/>
              <a:t>Neutral question</a:t>
            </a:r>
          </a:p>
        </p:txBody>
      </p:sp>
      <p:sp>
        <p:nvSpPr>
          <p:cNvPr id="5" name="Teaching-379">
            <a:extLst>
              <a:ext uri="{FF2B5EF4-FFF2-40B4-BE49-F238E27FC236}">
                <a16:creationId xmlns:a16="http://schemas.microsoft.com/office/drawing/2014/main" id="{3121C4D2-BD0E-478C-BADC-151632160CBD}"/>
              </a:ext>
            </a:extLst>
          </p:cNvPr>
          <p:cNvSpPr>
            <a:spLocks noGrp="1"/>
          </p:cNvSpPr>
          <p:nvPr/>
        </p:nvSpPr>
        <p:spPr>
          <a:xfrm>
            <a:off x="6667500" y="3171825"/>
            <a:ext cx="4857750" cy="1085850"/>
          </a:xfrm>
          <a:prstGeom prst="rect">
            <a:avLst/>
          </a:prstGeom>
          <a:noFill/>
          <a:ln w="0">
            <a:noFill/>
          </a:ln>
        </p:spPr>
        <p:txBody>
          <a:bodyPr wrap="square" lIns="0" tIns="0" rIns="0" bIns="0" anchor="t">
            <a:noAutofit/>
          </a:bodyPr>
          <a:lstStyle/>
          <a:p>
            <a:pPr algn="l">
              <a:defRPr sz="2475" b="0">
                <a:solidFill>
                  <a:srgbClr val="111111"/>
                </a:solidFill>
                <a:latin typeface="Aptos"/>
                <a:ea typeface="Aptos"/>
                <a:cs typeface="Aptos"/>
              </a:defRPr>
            </a:pPr>
            <a:r>
              <a:t>“Would you support extending</a:t>
            </a:r>
          </a:p>
          <a:p>
            <a:pPr algn="l">
              <a:defRPr sz="2475" b="0">
                <a:solidFill>
                  <a:srgbClr val="111111"/>
                </a:solidFill>
                <a:latin typeface="Aptos"/>
                <a:ea typeface="Aptos"/>
                <a:cs typeface="Aptos"/>
              </a:defRPr>
            </a:pPr>
            <a:r>
              <a:t>the library’s opening hours?”</a:t>
            </a:r>
          </a:p>
        </p:txBody>
      </p:sp>
      <p:sp>
        <p:nvSpPr>
          <p:cNvPr id="6" name="Teaching-380">
            <a:extLst>
              <a:ext uri="{FF2B5EF4-FFF2-40B4-BE49-F238E27FC236}">
                <a16:creationId xmlns:a16="http://schemas.microsoft.com/office/drawing/2014/main" id="{C017CE6F-8412-4068-BCCE-DEA0C482C938}"/>
              </a:ext>
            </a:extLst>
          </p:cNvPr>
          <p:cNvSpPr>
            <a:spLocks noGrp="1"/>
          </p:cNvSpPr>
          <p:nvPr/>
        </p:nvSpPr>
        <p:spPr>
          <a:xfrm>
            <a:off x="6667500" y="4762500"/>
            <a:ext cx="4857750" cy="485775"/>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t>Support / Oppose / Unsure</a:t>
            </a:r>
          </a:p>
        </p:txBody>
      </p:sp>
      <p:sp>
        <p:nvSpPr>
          <p:cNvPr id="7" name="Teaching-381">
            <a:extLst>
              <a:ext uri="{FF2B5EF4-FFF2-40B4-BE49-F238E27FC236}">
                <a16:creationId xmlns:a16="http://schemas.microsoft.com/office/drawing/2014/main" id="{6DF1582A-405D-4B14-A916-06AAAF161BF4}"/>
              </a:ext>
            </a:extLst>
          </p:cNvPr>
          <p:cNvSpPr>
            <a:spLocks noGrp="1"/>
          </p:cNvSpPr>
          <p:nvPr/>
        </p:nvSpPr>
        <p:spPr>
          <a:xfrm>
            <a:off x="523875" y="6010275"/>
            <a:ext cx="11087100" cy="333375"/>
          </a:xfrm>
          <a:prstGeom prst="rect">
            <a:avLst/>
          </a:prstGeom>
          <a:noFill/>
          <a:ln w="0">
            <a:noFill/>
          </a:ln>
        </p:spPr>
        <p:txBody>
          <a:bodyPr wrap="square" lIns="0" tIns="0" rIns="0" bIns="0" anchor="t">
            <a:noAutofit/>
          </a:bodyPr>
          <a:lstStyle/>
          <a:p>
            <a:pPr algn="l">
              <a:defRPr sz="1725" b="0">
                <a:solidFill>
                  <a:srgbClr val="666666"/>
                </a:solidFill>
                <a:latin typeface="Aptos"/>
                <a:ea typeface="Aptos"/>
                <a:cs typeface="Aptos"/>
              </a:defRPr>
            </a:pPr>
            <a:r>
              <a:t>Privacy and the interviewer’s presence can also affect what people report.</a:t>
            </a:r>
          </a:p>
        </p:txBody>
      </p:sp>
    </p:spTree>
    <p:extLst>
      <p:ext uri="{BB962C8B-B14F-4D97-AF65-F5344CB8AC3E}">
        <p14:creationId xmlns:p14="http://schemas.microsoft.com/office/powerpoint/2010/main" val="32813612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aching-382">
            <a:extLst>
              <a:ext uri="{FF2B5EF4-FFF2-40B4-BE49-F238E27FC236}">
                <a16:creationId xmlns:a16="http://schemas.microsoft.com/office/drawing/2014/main" id="{D2408E08-F1CA-494E-B68E-85361F9E8007}"/>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Measurement error: the scale</a:t>
            </a:r>
          </a:p>
        </p:txBody>
      </p:sp>
      <p:sp>
        <p:nvSpPr>
          <p:cNvPr id="2" name="Teaching-383">
            <a:extLst>
              <a:ext uri="{FF2B5EF4-FFF2-40B4-BE49-F238E27FC236}">
                <a16:creationId xmlns:a16="http://schemas.microsoft.com/office/drawing/2014/main" id="{A945BBE2-A17D-430B-9477-6CDC7C01BEB0}"/>
              </a:ext>
            </a:extLst>
          </p:cNvPr>
          <p:cNvSpPr>
            <a:spLocks noGrp="1"/>
          </p:cNvSpPr>
          <p:nvPr/>
        </p:nvSpPr>
        <p:spPr>
          <a:xfrm>
            <a:off x="428625" y="1952625"/>
            <a:ext cx="11296650" cy="61912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Imagine a scale that records </a:t>
            </a:r>
            <a:r>
              <a:rPr b="1"/>
              <a:t>every mass 20 g too high</a:t>
            </a:r>
            <a:r>
              <a:t>.</a:t>
            </a:r>
          </a:p>
        </p:txBody>
      </p:sp>
      <p:pic>
        <p:nvPicPr>
          <p:cNvPr id="8" name="Picture 7"/>
          <p:cNvPicPr>
            <a:picLocks noChangeAspect="1"/>
          </p:cNvPicPr>
          <p:nvPr/>
        </p:nvPicPr>
        <p:blipFill>
          <a:blip r:embed="rId3"/>
          <a:srcRect t="4857" b="4857"/>
          <a:stretch>
            <a:fillRect/>
          </a:stretch>
        </p:blipFill>
        <p:spPr>
          <a:xfrm>
            <a:off x="619125" y="2914650"/>
            <a:ext cx="3333750" cy="3009900"/>
          </a:xfrm>
          <a:prstGeom prst="rect">
            <a:avLst/>
          </a:prstGeom>
        </p:spPr>
      </p:pic>
      <p:graphicFrame>
        <p:nvGraphicFramePr>
          <p:cNvPr id="9" name="Table 8"/>
          <p:cNvGraphicFramePr/>
          <p:nvPr/>
        </p:nvGraphicFramePr>
        <p:xfrm>
          <a:off x="4572000" y="2952750"/>
          <a:ext cx="6724650" cy="2124075"/>
        </p:xfrm>
        <a:graphic>
          <a:graphicData uri="http://schemas.openxmlformats.org/drawingml/2006/table">
            <a:tbl>
              <a:tblPr/>
              <a:tblGrid>
                <a:gridCol w="3362325">
                  <a:extLst>
                    <a:ext uri="{9D8B030D-6E8A-4147-A177-3AD203B41FA5}">
                      <a16:colId xmlns:a16="http://schemas.microsoft.com/office/drawing/2014/main" val="20000"/>
                    </a:ext>
                  </a:extLst>
                </a:gridCol>
                <a:gridCol w="3362325">
                  <a:extLst>
                    <a:ext uri="{9D8B030D-6E8A-4147-A177-3AD203B41FA5}">
                      <a16:colId xmlns:a16="http://schemas.microsoft.com/office/drawing/2014/main" val="20001"/>
                    </a:ext>
                  </a:extLst>
                </a:gridCol>
              </a:tblGrid>
              <a:tr h="523875">
                <a:tc>
                  <a:txBody>
                    <a:bodyPr/>
                    <a:lstStyle/>
                    <a:p>
                      <a:pPr algn="l"/>
                      <a:r>
                        <a:rPr sz="2175" b="1">
                          <a:solidFill>
                            <a:srgbClr val="FFFFFF"/>
                          </a:solidFill>
                          <a:latin typeface="Aptos"/>
                          <a:ea typeface="Aptos"/>
                          <a:cs typeface="Aptos"/>
                        </a:rPr>
                        <a:t>Actual mass</a:t>
                      </a:r>
                    </a:p>
                  </a:txBody>
                  <a:tcPr anchor="ctr">
                    <a:solidFill>
                      <a:srgbClr val="D9101B"/>
                    </a:solidFill>
                  </a:tcPr>
                </a:tc>
                <a:tc>
                  <a:txBody>
                    <a:bodyPr/>
                    <a:lstStyle/>
                    <a:p>
                      <a:pPr algn="l"/>
                      <a:r>
                        <a:rPr sz="2175" b="1">
                          <a:solidFill>
                            <a:srgbClr val="FFFFFF"/>
                          </a:solidFill>
                          <a:latin typeface="Aptos"/>
                          <a:ea typeface="Aptos"/>
                          <a:cs typeface="Aptos"/>
                        </a:rPr>
                        <a:t>Recorded mass</a:t>
                      </a:r>
                    </a:p>
                  </a:txBody>
                  <a:tcPr anchor="ctr">
                    <a:solidFill>
                      <a:srgbClr val="D9101B"/>
                    </a:solidFill>
                  </a:tcPr>
                </a:tc>
                <a:extLst>
                  <a:ext uri="{0D108BD9-81ED-4DB2-BD59-A6C34878D82A}">
                    <a16:rowId xmlns:a16="http://schemas.microsoft.com/office/drawing/2014/main" val="10000"/>
                  </a:ext>
                </a:extLst>
              </a:tr>
              <a:tr h="533400">
                <a:tc>
                  <a:txBody>
                    <a:bodyPr/>
                    <a:lstStyle/>
                    <a:p>
                      <a:pPr algn="l"/>
                      <a:r>
                        <a:rPr sz="2175" b="0">
                          <a:solidFill>
                            <a:srgbClr val="111111"/>
                          </a:solidFill>
                          <a:latin typeface="Aptos"/>
                          <a:ea typeface="Aptos"/>
                          <a:cs typeface="Aptos"/>
                        </a:rPr>
                        <a:t>100 g</a:t>
                      </a:r>
                    </a:p>
                  </a:txBody>
                  <a:tcPr anchor="ctr">
                    <a:solidFill>
                      <a:srgbClr val="FFFFFF"/>
                    </a:solidFill>
                  </a:tcPr>
                </a:tc>
                <a:tc>
                  <a:txBody>
                    <a:bodyPr/>
                    <a:lstStyle/>
                    <a:p>
                      <a:pPr algn="l"/>
                      <a:r>
                        <a:rPr sz="2175" b="0">
                          <a:solidFill>
                            <a:srgbClr val="111111"/>
                          </a:solidFill>
                          <a:latin typeface="Aptos"/>
                          <a:ea typeface="Aptos"/>
                          <a:cs typeface="Aptos"/>
                        </a:rPr>
                        <a:t>120 g</a:t>
                      </a:r>
                    </a:p>
                  </a:txBody>
                  <a:tcPr anchor="ctr">
                    <a:solidFill>
                      <a:srgbClr val="FFFFFF"/>
                    </a:solidFill>
                  </a:tcPr>
                </a:tc>
                <a:extLst>
                  <a:ext uri="{0D108BD9-81ED-4DB2-BD59-A6C34878D82A}">
                    <a16:rowId xmlns:a16="http://schemas.microsoft.com/office/drawing/2014/main" val="10001"/>
                  </a:ext>
                </a:extLst>
              </a:tr>
              <a:tr h="533400">
                <a:tc>
                  <a:txBody>
                    <a:bodyPr/>
                    <a:lstStyle/>
                    <a:p>
                      <a:pPr algn="l"/>
                      <a:r>
                        <a:rPr sz="2175" b="0">
                          <a:solidFill>
                            <a:srgbClr val="111111"/>
                          </a:solidFill>
                          <a:latin typeface="Aptos"/>
                          <a:ea typeface="Aptos"/>
                          <a:cs typeface="Aptos"/>
                        </a:rPr>
                        <a:t>250 g</a:t>
                      </a:r>
                    </a:p>
                  </a:txBody>
                  <a:tcPr anchor="ctr">
                    <a:solidFill>
                      <a:srgbClr val="EFF7FD"/>
                    </a:solidFill>
                  </a:tcPr>
                </a:tc>
                <a:tc>
                  <a:txBody>
                    <a:bodyPr/>
                    <a:lstStyle/>
                    <a:p>
                      <a:pPr algn="l"/>
                      <a:r>
                        <a:rPr sz="2175" b="0">
                          <a:solidFill>
                            <a:srgbClr val="111111"/>
                          </a:solidFill>
                          <a:latin typeface="Aptos"/>
                          <a:ea typeface="Aptos"/>
                          <a:cs typeface="Aptos"/>
                        </a:rPr>
                        <a:t>270 g</a:t>
                      </a:r>
                    </a:p>
                  </a:txBody>
                  <a:tcPr anchor="ctr">
                    <a:solidFill>
                      <a:srgbClr val="EFF7FD"/>
                    </a:solidFill>
                  </a:tcPr>
                </a:tc>
                <a:extLst>
                  <a:ext uri="{0D108BD9-81ED-4DB2-BD59-A6C34878D82A}">
                    <a16:rowId xmlns:a16="http://schemas.microsoft.com/office/drawing/2014/main" val="10002"/>
                  </a:ext>
                </a:extLst>
              </a:tr>
              <a:tr h="533400">
                <a:tc>
                  <a:txBody>
                    <a:bodyPr/>
                    <a:lstStyle/>
                    <a:p>
                      <a:pPr algn="l"/>
                      <a:r>
                        <a:rPr sz="2175" b="0">
                          <a:solidFill>
                            <a:srgbClr val="111111"/>
                          </a:solidFill>
                          <a:latin typeface="Aptos"/>
                          <a:ea typeface="Aptos"/>
                          <a:cs typeface="Aptos"/>
                        </a:rPr>
                        <a:t>400 g</a:t>
                      </a:r>
                    </a:p>
                  </a:txBody>
                  <a:tcPr anchor="ctr">
                    <a:solidFill>
                      <a:srgbClr val="FFFFFF"/>
                    </a:solidFill>
                  </a:tcPr>
                </a:tc>
                <a:tc>
                  <a:txBody>
                    <a:bodyPr/>
                    <a:lstStyle/>
                    <a:p>
                      <a:pPr algn="l"/>
                      <a:r>
                        <a:rPr sz="2175" b="0">
                          <a:solidFill>
                            <a:srgbClr val="111111"/>
                          </a:solidFill>
                          <a:latin typeface="Aptos"/>
                          <a:ea typeface="Aptos"/>
                          <a:cs typeface="Aptos"/>
                        </a:rPr>
                        <a:t>420 g</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Teaching-384">
            <a:extLst>
              <a:ext uri="{FF2B5EF4-FFF2-40B4-BE49-F238E27FC236}">
                <a16:creationId xmlns:a16="http://schemas.microsoft.com/office/drawing/2014/main" id="{3D553290-82F2-4AE2-9955-A5DC4525BDC2}"/>
              </a:ext>
            </a:extLst>
          </p:cNvPr>
          <p:cNvSpPr>
            <a:spLocks noGrp="1"/>
          </p:cNvSpPr>
          <p:nvPr/>
        </p:nvSpPr>
        <p:spPr>
          <a:xfrm>
            <a:off x="4572000" y="5305425"/>
            <a:ext cx="6858000" cy="847725"/>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t>More measurements keep the same +20 g error.</a:t>
            </a:r>
          </a:p>
          <a:p>
            <a:pPr algn="l">
              <a:defRPr sz="2175" b="1">
                <a:solidFill>
                  <a:srgbClr val="111111"/>
                </a:solidFill>
                <a:latin typeface="Aptos"/>
                <a:ea typeface="Aptos"/>
                <a:cs typeface="Aptos"/>
              </a:defRPr>
            </a:pPr>
            <a:r>
              <a:t>Check zero and calibrate the equipment.</a:t>
            </a:r>
          </a:p>
        </p:txBody>
      </p:sp>
    </p:spTree>
    <p:extLst>
      <p:ext uri="{BB962C8B-B14F-4D97-AF65-F5344CB8AC3E}">
        <p14:creationId xmlns:p14="http://schemas.microsoft.com/office/powerpoint/2010/main" val="32813612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aching-385">
            <a:extLst>
              <a:ext uri="{FF2B5EF4-FFF2-40B4-BE49-F238E27FC236}">
                <a16:creationId xmlns:a16="http://schemas.microsoft.com/office/drawing/2014/main" id="{7B5FEA7B-CC76-4F88-A2E8-E60EF95236BF}"/>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B3: Diagnose and repair</a:t>
            </a:r>
          </a:p>
        </p:txBody>
      </p:sp>
      <p:sp>
        <p:nvSpPr>
          <p:cNvPr id="2" name="Teaching-386">
            <a:extLst>
              <a:ext uri="{FF2B5EF4-FFF2-40B4-BE49-F238E27FC236}">
                <a16:creationId xmlns:a16="http://schemas.microsoft.com/office/drawing/2014/main" id="{4E52D942-204C-4C5E-A8CF-B82A8100D065}"/>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387">
            <a:extLst>
              <a:ext uri="{FF2B5EF4-FFF2-40B4-BE49-F238E27FC236}">
                <a16:creationId xmlns:a16="http://schemas.microsoft.com/office/drawing/2014/main" id="{B9CEE3A4-A916-4024-A17C-F76DD6CC0D20}"/>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EXERCISE B3</a:t>
            </a:r>
          </a:p>
        </p:txBody>
      </p:sp>
      <p:sp>
        <p:nvSpPr>
          <p:cNvPr id="4" name="Teaching-388">
            <a:extLst>
              <a:ext uri="{FF2B5EF4-FFF2-40B4-BE49-F238E27FC236}">
                <a16:creationId xmlns:a16="http://schemas.microsoft.com/office/drawing/2014/main" id="{791DFC1C-1F63-48B2-B224-5CDDEA0FD438}"/>
              </a:ext>
            </a:extLst>
          </p:cNvPr>
          <p:cNvSpPr>
            <a:spLocks noGrp="1"/>
          </p:cNvSpPr>
          <p:nvPr/>
        </p:nvSpPr>
        <p:spPr>
          <a:xfrm>
            <a:off x="428625" y="1952625"/>
            <a:ext cx="11296650" cy="7143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For each case, identify the main issue, its possible effect and a repair.</a:t>
            </a:r>
          </a:p>
        </p:txBody>
      </p:sp>
      <p:graphicFrame>
        <p:nvGraphicFramePr>
          <p:cNvPr id="10" name="Table 9"/>
          <p:cNvGraphicFramePr/>
          <p:nvPr/>
        </p:nvGraphicFramePr>
        <p:xfrm>
          <a:off x="619125" y="2667000"/>
          <a:ext cx="10715625" cy="3629025"/>
        </p:xfrm>
        <a:graphic>
          <a:graphicData uri="http://schemas.openxmlformats.org/drawingml/2006/table">
            <a:tbl>
              <a:tblPr/>
              <a:tblGrid>
                <a:gridCol w="1476375">
                  <a:extLst>
                    <a:ext uri="{9D8B030D-6E8A-4147-A177-3AD203B41FA5}">
                      <a16:colId xmlns:a16="http://schemas.microsoft.com/office/drawing/2014/main" val="20000"/>
                    </a:ext>
                  </a:extLst>
                </a:gridCol>
                <a:gridCol w="9239250">
                  <a:extLst>
                    <a:ext uri="{9D8B030D-6E8A-4147-A177-3AD203B41FA5}">
                      <a16:colId xmlns:a16="http://schemas.microsoft.com/office/drawing/2014/main" val="20001"/>
                    </a:ext>
                  </a:extLst>
                </a:gridCol>
              </a:tblGrid>
              <a:tr h="457200">
                <a:tc>
                  <a:txBody>
                    <a:bodyPr/>
                    <a:lstStyle/>
                    <a:p>
                      <a:pPr algn="l"/>
                      <a:r>
                        <a:rPr sz="2025" b="1">
                          <a:solidFill>
                            <a:srgbClr val="FFFFFF"/>
                          </a:solidFill>
                          <a:latin typeface="Aptos"/>
                          <a:ea typeface="Aptos"/>
                          <a:cs typeface="Aptos"/>
                        </a:rPr>
                        <a:t>Case</a:t>
                      </a:r>
                    </a:p>
                  </a:txBody>
                  <a:tcPr anchor="ctr">
                    <a:solidFill>
                      <a:srgbClr val="D9101B"/>
                    </a:solidFill>
                  </a:tcPr>
                </a:tc>
                <a:tc>
                  <a:txBody>
                    <a:bodyPr/>
                    <a:lstStyle/>
                    <a:p>
                      <a:pPr algn="l"/>
                      <a:r>
                        <a:rPr sz="2025" b="1">
                          <a:solidFill>
                            <a:srgbClr val="FFFFFF"/>
                          </a:solidFill>
                          <a:latin typeface="Aptos"/>
                          <a:ea typeface="Aptos"/>
                          <a:cs typeface="Aptos"/>
                        </a:rPr>
                        <a:t>What happened?</a:t>
                      </a:r>
                    </a:p>
                  </a:txBody>
                  <a:tcPr anchor="ctr">
                    <a:solidFill>
                      <a:srgbClr val="D9101B"/>
                    </a:solidFill>
                  </a:tcPr>
                </a:tc>
                <a:extLst>
                  <a:ext uri="{0D108BD9-81ED-4DB2-BD59-A6C34878D82A}">
                    <a16:rowId xmlns:a16="http://schemas.microsoft.com/office/drawing/2014/main" val="10000"/>
                  </a:ext>
                </a:extLst>
              </a:tr>
              <a:tr h="542925">
                <a:tc>
                  <a:txBody>
                    <a:bodyPr/>
                    <a:lstStyle/>
                    <a:p>
                      <a:pPr algn="l"/>
                      <a:r>
                        <a:rPr sz="2025" b="0">
                          <a:solidFill>
                            <a:srgbClr val="111111"/>
                          </a:solidFill>
                          <a:latin typeface="Aptos"/>
                          <a:ea typeface="Aptos"/>
                          <a:cs typeface="Aptos"/>
                        </a:rPr>
                        <a:t>B3.4</a:t>
                      </a:r>
                    </a:p>
                  </a:txBody>
                  <a:tcPr anchor="ctr">
                    <a:solidFill>
                      <a:srgbClr val="FFFFFF"/>
                    </a:solidFill>
                  </a:tcPr>
                </a:tc>
                <a:tc>
                  <a:txBody>
                    <a:bodyPr/>
                    <a:lstStyle/>
                    <a:p>
                      <a:pPr algn="l"/>
                      <a:r>
                        <a:rPr sz="2025" b="0">
                          <a:solidFill>
                            <a:srgbClr val="111111"/>
                          </a:solidFill>
                          <a:latin typeface="Aptos"/>
                          <a:ea typeface="Aptos"/>
                          <a:cs typeface="Aptos"/>
                        </a:rPr>
                        <a:t>Survey evening-transport needs only in 9 a.m. classes.</a:t>
                      </a:r>
                    </a:p>
                  </a:txBody>
                  <a:tcPr anchor="ctr">
                    <a:solidFill>
                      <a:srgbClr val="FFFFFF"/>
                    </a:solidFill>
                  </a:tcPr>
                </a:tc>
                <a:extLst>
                  <a:ext uri="{0D108BD9-81ED-4DB2-BD59-A6C34878D82A}">
                    <a16:rowId xmlns:a16="http://schemas.microsoft.com/office/drawing/2014/main" val="10001"/>
                  </a:ext>
                </a:extLst>
              </a:tr>
              <a:tr h="714375">
                <a:tc>
                  <a:txBody>
                    <a:bodyPr/>
                    <a:lstStyle/>
                    <a:p>
                      <a:pPr algn="l"/>
                      <a:r>
                        <a:rPr sz="2025" b="0">
                          <a:solidFill>
                            <a:srgbClr val="111111"/>
                          </a:solidFill>
                          <a:latin typeface="Aptos"/>
                          <a:ea typeface="Aptos"/>
                          <a:cs typeface="Aptos"/>
                        </a:rPr>
                        <a:t>B3.5</a:t>
                      </a:r>
                    </a:p>
                  </a:txBody>
                  <a:tcPr anchor="ctr">
                    <a:solidFill>
                      <a:srgbClr val="EFF7FD"/>
                    </a:solidFill>
                  </a:tcPr>
                </a:tc>
                <a:tc>
                  <a:txBody>
                    <a:bodyPr/>
                    <a:lstStyle/>
                    <a:p>
                      <a:pPr algn="l"/>
                      <a:r>
                        <a:rPr sz="2025" b="0">
                          <a:solidFill>
                            <a:srgbClr val="111111"/>
                          </a:solidFill>
                          <a:latin typeface="Aptos"/>
                          <a:ea typeface="Aptos"/>
                          <a:cs typeface="Aptos"/>
                        </a:rPr>
                        <a:t>In a random staff survey, dissatisfied employees are twice as likely to reply.</a:t>
                      </a:r>
                    </a:p>
                  </a:txBody>
                  <a:tcPr anchor="ctr">
                    <a:solidFill>
                      <a:srgbClr val="EFF7FD"/>
                    </a:solidFill>
                  </a:tcPr>
                </a:tc>
                <a:extLst>
                  <a:ext uri="{0D108BD9-81ED-4DB2-BD59-A6C34878D82A}">
                    <a16:rowId xmlns:a16="http://schemas.microsoft.com/office/drawing/2014/main" val="10002"/>
                  </a:ext>
                </a:extLst>
              </a:tr>
              <a:tr h="714375">
                <a:tc>
                  <a:txBody>
                    <a:bodyPr/>
                    <a:lstStyle/>
                    <a:p>
                      <a:pPr algn="l"/>
                      <a:r>
                        <a:rPr sz="2025" b="0">
                          <a:solidFill>
                            <a:srgbClr val="111111"/>
                          </a:solidFill>
                          <a:latin typeface="Aptos"/>
                          <a:ea typeface="Aptos"/>
                          <a:cs typeface="Aptos"/>
                        </a:rPr>
                        <a:t>B3.6</a:t>
                      </a:r>
                    </a:p>
                  </a:txBody>
                  <a:tcPr anchor="ctr">
                    <a:solidFill>
                      <a:srgbClr val="FFFFFF"/>
                    </a:solidFill>
                  </a:tcPr>
                </a:tc>
                <a:tc>
                  <a:txBody>
                    <a:bodyPr/>
                    <a:lstStyle/>
                    <a:p>
                      <a:pPr algn="l"/>
                      <a:r>
                        <a:rPr sz="2025" b="0">
                          <a:solidFill>
                            <a:srgbClr val="111111"/>
                          </a:solidFill>
                          <a:latin typeface="Aptos"/>
                          <a:ea typeface="Aptos"/>
                          <a:cs typeface="Aptos"/>
                        </a:rPr>
                        <a:t>A tutor asks named students: “Our feedback system is excellent, isn’t it?”</a:t>
                      </a:r>
                    </a:p>
                  </a:txBody>
                  <a:tcPr anchor="ctr">
                    <a:solidFill>
                      <a:srgbClr val="FFFFFF"/>
                    </a:solidFill>
                  </a:tcPr>
                </a:tc>
                <a:extLst>
                  <a:ext uri="{0D108BD9-81ED-4DB2-BD59-A6C34878D82A}">
                    <a16:rowId xmlns:a16="http://schemas.microsoft.com/office/drawing/2014/main" val="10003"/>
                  </a:ext>
                </a:extLst>
              </a:tr>
              <a:tr h="542925">
                <a:tc>
                  <a:txBody>
                    <a:bodyPr/>
                    <a:lstStyle/>
                    <a:p>
                      <a:pPr algn="l"/>
                      <a:r>
                        <a:rPr sz="2025" b="0">
                          <a:solidFill>
                            <a:srgbClr val="111111"/>
                          </a:solidFill>
                          <a:latin typeface="Aptos"/>
                          <a:ea typeface="Aptos"/>
                          <a:cs typeface="Aptos"/>
                        </a:rPr>
                        <a:t>B3.7</a:t>
                      </a:r>
                    </a:p>
                  </a:txBody>
                  <a:tcPr anchor="ctr">
                    <a:solidFill>
                      <a:srgbClr val="EFF7FD"/>
                    </a:solidFill>
                  </a:tcPr>
                </a:tc>
                <a:tc>
                  <a:txBody>
                    <a:bodyPr/>
                    <a:lstStyle/>
                    <a:p>
                      <a:pPr algn="l"/>
                      <a:r>
                        <a:rPr sz="2025" b="0">
                          <a:solidFill>
                            <a:srgbClr val="111111"/>
                          </a:solidFill>
                          <a:latin typeface="Aptos"/>
                          <a:ea typeface="Aptos"/>
                          <a:cs typeface="Aptos"/>
                        </a:rPr>
                        <a:t>A laboratory balance overstates every reading by 0.18 g.</a:t>
                      </a:r>
                    </a:p>
                  </a:txBody>
                  <a:tcPr anchor="ctr">
                    <a:solidFill>
                      <a:srgbClr val="EFF7FD"/>
                    </a:solidFill>
                  </a:tcPr>
                </a:tc>
                <a:extLst>
                  <a:ext uri="{0D108BD9-81ED-4DB2-BD59-A6C34878D82A}">
                    <a16:rowId xmlns:a16="http://schemas.microsoft.com/office/drawing/2014/main" val="10004"/>
                  </a:ext>
                </a:extLst>
              </a:tr>
              <a:tr h="657225">
                <a:tc>
                  <a:txBody>
                    <a:bodyPr/>
                    <a:lstStyle/>
                    <a:p>
                      <a:pPr algn="l"/>
                      <a:r>
                        <a:rPr sz="2025" b="0">
                          <a:solidFill>
                            <a:srgbClr val="111111"/>
                          </a:solidFill>
                          <a:latin typeface="Aptos"/>
                          <a:ea typeface="Aptos"/>
                          <a:cs typeface="Aptos"/>
                        </a:rPr>
                        <a:t>B3.8</a:t>
                      </a:r>
                    </a:p>
                  </a:txBody>
                  <a:tcPr anchor="ctr">
                    <a:solidFill>
                      <a:srgbClr val="FFFFFF"/>
                    </a:solidFill>
                  </a:tcPr>
                </a:tc>
                <a:tc>
                  <a:txBody>
                    <a:bodyPr/>
                    <a:lstStyle/>
                    <a:p>
                      <a:pPr algn="l"/>
                      <a:r>
                        <a:rPr sz="2025" b="0">
                          <a:solidFill>
                            <a:srgbClr val="111111"/>
                          </a:solidFill>
                          <a:latin typeface="Aptos"/>
                          <a:ea typeface="Aptos"/>
                          <a:cs typeface="Aptos"/>
                        </a:rPr>
                        <a:t>Two valid random samples estimate travel time at 27.4 and 29.1 minutes.</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813612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aching-389">
            <a:extLst>
              <a:ext uri="{FF2B5EF4-FFF2-40B4-BE49-F238E27FC236}">
                <a16:creationId xmlns:a16="http://schemas.microsoft.com/office/drawing/2014/main" id="{B6C92D16-6B96-4F40-B0E0-7D4E18CEA9CA}"/>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B3: Problems and repairs</a:t>
            </a:r>
          </a:p>
        </p:txBody>
      </p:sp>
      <p:sp>
        <p:nvSpPr>
          <p:cNvPr id="2" name="Teaching-390">
            <a:extLst>
              <a:ext uri="{FF2B5EF4-FFF2-40B4-BE49-F238E27FC236}">
                <a16:creationId xmlns:a16="http://schemas.microsoft.com/office/drawing/2014/main" id="{78219B95-4F1D-4FF6-AC50-FF4AEDDD7DD3}"/>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391">
            <a:extLst>
              <a:ext uri="{FF2B5EF4-FFF2-40B4-BE49-F238E27FC236}">
                <a16:creationId xmlns:a16="http://schemas.microsoft.com/office/drawing/2014/main" id="{3F5622CD-6982-4FAF-98DB-0882BEDAADFC}"/>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EXERCISE B3</a:t>
            </a:r>
          </a:p>
        </p:txBody>
      </p:sp>
      <p:graphicFrame>
        <p:nvGraphicFramePr>
          <p:cNvPr id="8" name="Table 7"/>
          <p:cNvGraphicFramePr/>
          <p:nvPr/>
        </p:nvGraphicFramePr>
        <p:xfrm>
          <a:off x="523875" y="2057400"/>
          <a:ext cx="11287125" cy="4229100"/>
        </p:xfrm>
        <a:graphic>
          <a:graphicData uri="http://schemas.openxmlformats.org/drawingml/2006/table">
            <a:tbl>
              <a:tblPr/>
              <a:tblGrid>
                <a:gridCol w="3028950">
                  <a:extLst>
                    <a:ext uri="{9D8B030D-6E8A-4147-A177-3AD203B41FA5}">
                      <a16:colId xmlns:a16="http://schemas.microsoft.com/office/drawing/2014/main" val="20000"/>
                    </a:ext>
                  </a:extLst>
                </a:gridCol>
                <a:gridCol w="3486150">
                  <a:extLst>
                    <a:ext uri="{9D8B030D-6E8A-4147-A177-3AD203B41FA5}">
                      <a16:colId xmlns:a16="http://schemas.microsoft.com/office/drawing/2014/main" val="20001"/>
                    </a:ext>
                  </a:extLst>
                </a:gridCol>
                <a:gridCol w="4772025">
                  <a:extLst>
                    <a:ext uri="{9D8B030D-6E8A-4147-A177-3AD203B41FA5}">
                      <a16:colId xmlns:a16="http://schemas.microsoft.com/office/drawing/2014/main" val="20002"/>
                    </a:ext>
                  </a:extLst>
                </a:gridCol>
              </a:tblGrid>
              <a:tr h="495300">
                <a:tc>
                  <a:txBody>
                    <a:bodyPr/>
                    <a:lstStyle/>
                    <a:p>
                      <a:pPr algn="l"/>
                      <a:r>
                        <a:rPr sz="1913" b="1">
                          <a:solidFill>
                            <a:srgbClr val="FFFFFF"/>
                          </a:solidFill>
                          <a:latin typeface="Aptos"/>
                          <a:ea typeface="Aptos"/>
                          <a:cs typeface="Aptos"/>
                        </a:rPr>
                        <a:t>Case / main issue</a:t>
                      </a:r>
                    </a:p>
                  </a:txBody>
                  <a:tcPr anchor="ctr">
                    <a:solidFill>
                      <a:srgbClr val="D9101B"/>
                    </a:solidFill>
                  </a:tcPr>
                </a:tc>
                <a:tc>
                  <a:txBody>
                    <a:bodyPr/>
                    <a:lstStyle/>
                    <a:p>
                      <a:pPr algn="l"/>
                      <a:r>
                        <a:rPr sz="1913" b="1">
                          <a:solidFill>
                            <a:srgbClr val="FFFFFF"/>
                          </a:solidFill>
                          <a:latin typeface="Aptos"/>
                          <a:ea typeface="Aptos"/>
                          <a:cs typeface="Aptos"/>
                        </a:rPr>
                        <a:t>Effect</a:t>
                      </a:r>
                    </a:p>
                  </a:txBody>
                  <a:tcPr anchor="ctr">
                    <a:solidFill>
                      <a:srgbClr val="D9101B"/>
                    </a:solidFill>
                  </a:tcPr>
                </a:tc>
                <a:tc>
                  <a:txBody>
                    <a:bodyPr/>
                    <a:lstStyle/>
                    <a:p>
                      <a:pPr algn="l"/>
                      <a:r>
                        <a:rPr sz="1913" b="1">
                          <a:solidFill>
                            <a:srgbClr val="FFFFFF"/>
                          </a:solidFill>
                          <a:latin typeface="Aptos"/>
                          <a:ea typeface="Aptos"/>
                          <a:cs typeface="Aptos"/>
                        </a:rPr>
                        <a:t>Appropriate response</a:t>
                      </a:r>
                    </a:p>
                  </a:txBody>
                  <a:tcPr anchor="ctr">
                    <a:solidFill>
                      <a:srgbClr val="D9101B"/>
                    </a:solidFill>
                  </a:tcPr>
                </a:tc>
                <a:extLst>
                  <a:ext uri="{0D108BD9-81ED-4DB2-BD59-A6C34878D82A}">
                    <a16:rowId xmlns:a16="http://schemas.microsoft.com/office/drawing/2014/main" val="10000"/>
                  </a:ext>
                </a:extLst>
              </a:tr>
              <a:tr h="723900">
                <a:tc>
                  <a:txBody>
                    <a:bodyPr/>
                    <a:lstStyle/>
                    <a:p>
                      <a:pPr algn="l"/>
                      <a:r>
                        <a:rPr sz="1913" b="0">
                          <a:solidFill>
                            <a:srgbClr val="111111"/>
                          </a:solidFill>
                          <a:latin typeface="Aptos"/>
                          <a:ea typeface="Aptos"/>
                          <a:cs typeface="Aptos"/>
                        </a:rPr>
                        <a:t>B3.4  Selection bias</a:t>
                      </a:r>
                    </a:p>
                  </a:txBody>
                  <a:tcPr anchor="ctr">
                    <a:solidFill>
                      <a:srgbClr val="FFFFFF"/>
                    </a:solidFill>
                  </a:tcPr>
                </a:tc>
                <a:tc>
                  <a:txBody>
                    <a:bodyPr/>
                    <a:lstStyle/>
                    <a:p>
                      <a:pPr algn="l"/>
                      <a:r>
                        <a:rPr sz="1913" b="0">
                          <a:solidFill>
                            <a:srgbClr val="111111"/>
                          </a:solidFill>
                          <a:latin typeface="Aptos"/>
                          <a:ea typeface="Aptos"/>
                          <a:cs typeface="Aptos"/>
                        </a:rPr>
                        <a:t>Students outside 9 a.m. classes are excluded.</a:t>
                      </a:r>
                    </a:p>
                  </a:txBody>
                  <a:tcPr anchor="ctr">
                    <a:solidFill>
                      <a:srgbClr val="FFFFFF"/>
                    </a:solidFill>
                  </a:tcPr>
                </a:tc>
                <a:tc>
                  <a:txBody>
                    <a:bodyPr/>
                    <a:lstStyle/>
                    <a:p>
                      <a:pPr algn="l"/>
                      <a:r>
                        <a:rPr sz="1913" b="0">
                          <a:solidFill>
                            <a:srgbClr val="111111"/>
                          </a:solidFill>
                          <a:latin typeface="Aptos"/>
                          <a:ea typeface="Aptos"/>
                          <a:cs typeface="Aptos"/>
                        </a:rPr>
                        <a:t>Sample from the full student list.</a:t>
                      </a:r>
                    </a:p>
                  </a:txBody>
                  <a:tcPr anchor="ctr">
                    <a:solidFill>
                      <a:srgbClr val="FFFFFF"/>
                    </a:solidFill>
                  </a:tcPr>
                </a:tc>
                <a:extLst>
                  <a:ext uri="{0D108BD9-81ED-4DB2-BD59-A6C34878D82A}">
                    <a16:rowId xmlns:a16="http://schemas.microsoft.com/office/drawing/2014/main" val="10001"/>
                  </a:ext>
                </a:extLst>
              </a:tr>
              <a:tr h="723900">
                <a:tc>
                  <a:txBody>
                    <a:bodyPr/>
                    <a:lstStyle/>
                    <a:p>
                      <a:pPr algn="l"/>
                      <a:r>
                        <a:rPr sz="1913" b="0">
                          <a:solidFill>
                            <a:srgbClr val="111111"/>
                          </a:solidFill>
                          <a:latin typeface="Aptos"/>
                          <a:ea typeface="Aptos"/>
                          <a:cs typeface="Aptos"/>
                        </a:rPr>
                        <a:t>B3.5  Nonresponse bias</a:t>
                      </a:r>
                    </a:p>
                  </a:txBody>
                  <a:tcPr anchor="ctr">
                    <a:solidFill>
                      <a:srgbClr val="EFF7FD"/>
                    </a:solidFill>
                  </a:tcPr>
                </a:tc>
                <a:tc>
                  <a:txBody>
                    <a:bodyPr/>
                    <a:lstStyle/>
                    <a:p>
                      <a:pPr algn="l"/>
                      <a:r>
                        <a:rPr sz="1913" b="0">
                          <a:solidFill>
                            <a:srgbClr val="111111"/>
                          </a:solidFill>
                          <a:latin typeface="Aptos"/>
                          <a:ea typeface="Aptos"/>
                          <a:cs typeface="Aptos"/>
                        </a:rPr>
                        <a:t>Dissatisfaction may be overstated.</a:t>
                      </a:r>
                    </a:p>
                  </a:txBody>
                  <a:tcPr anchor="ctr">
                    <a:solidFill>
                      <a:srgbClr val="EFF7FD"/>
                    </a:solidFill>
                  </a:tcPr>
                </a:tc>
                <a:tc>
                  <a:txBody>
                    <a:bodyPr/>
                    <a:lstStyle/>
                    <a:p>
                      <a:pPr algn="l"/>
                      <a:r>
                        <a:rPr sz="1913" b="0">
                          <a:solidFill>
                            <a:srgbClr val="111111"/>
                          </a:solidFill>
                          <a:latin typeface="Aptos"/>
                          <a:ea typeface="Aptos"/>
                          <a:cs typeface="Aptos"/>
                        </a:rPr>
                        <a:t>Reminders and accessible ways to reply.</a:t>
                      </a:r>
                    </a:p>
                  </a:txBody>
                  <a:tcPr anchor="ctr">
                    <a:solidFill>
                      <a:srgbClr val="EFF7FD"/>
                    </a:solidFill>
                  </a:tcPr>
                </a:tc>
                <a:extLst>
                  <a:ext uri="{0D108BD9-81ED-4DB2-BD59-A6C34878D82A}">
                    <a16:rowId xmlns:a16="http://schemas.microsoft.com/office/drawing/2014/main" val="10002"/>
                  </a:ext>
                </a:extLst>
              </a:tr>
              <a:tr h="838200">
                <a:tc>
                  <a:txBody>
                    <a:bodyPr/>
                    <a:lstStyle/>
                    <a:p>
                      <a:pPr algn="l"/>
                      <a:r>
                        <a:rPr sz="1913" b="0">
                          <a:solidFill>
                            <a:srgbClr val="111111"/>
                          </a:solidFill>
                          <a:latin typeface="Aptos"/>
                          <a:ea typeface="Aptos"/>
                          <a:cs typeface="Aptos"/>
                        </a:rPr>
                        <a:t>B3.6  Response bias</a:t>
                      </a:r>
                    </a:p>
                  </a:txBody>
                  <a:tcPr anchor="ctr">
                    <a:solidFill>
                      <a:srgbClr val="FFFFFF"/>
                    </a:solidFill>
                  </a:tcPr>
                </a:tc>
                <a:tc>
                  <a:txBody>
                    <a:bodyPr/>
                    <a:lstStyle/>
                    <a:p>
                      <a:pPr algn="l"/>
                      <a:r>
                        <a:rPr sz="1913" b="0">
                          <a:solidFill>
                            <a:srgbClr val="111111"/>
                          </a:solidFill>
                          <a:latin typeface="Aptos"/>
                          <a:ea typeface="Aptos"/>
                          <a:cs typeface="Aptos"/>
                        </a:rPr>
                        <a:t>Pressure to praise the system.</a:t>
                      </a:r>
                    </a:p>
                  </a:txBody>
                  <a:tcPr anchor="ctr">
                    <a:solidFill>
                      <a:srgbClr val="FFFFFF"/>
                    </a:solidFill>
                  </a:tcPr>
                </a:tc>
                <a:tc>
                  <a:txBody>
                    <a:bodyPr/>
                    <a:lstStyle/>
                    <a:p>
                      <a:pPr algn="l"/>
                      <a:r>
                        <a:rPr sz="1913" b="0">
                          <a:solidFill>
                            <a:srgbClr val="111111"/>
                          </a:solidFill>
                          <a:latin typeface="Aptos"/>
                          <a:ea typeface="Aptos"/>
                          <a:cs typeface="Aptos"/>
                        </a:rPr>
                        <a:t>Ask privately: “How do you rate the feedback system?”</a:t>
                      </a:r>
                    </a:p>
                  </a:txBody>
                  <a:tcPr anchor="ctr">
                    <a:solidFill>
                      <a:srgbClr val="FFFFFF"/>
                    </a:solidFill>
                  </a:tcPr>
                </a:tc>
                <a:extLst>
                  <a:ext uri="{0D108BD9-81ED-4DB2-BD59-A6C34878D82A}">
                    <a16:rowId xmlns:a16="http://schemas.microsoft.com/office/drawing/2014/main" val="10003"/>
                  </a:ext>
                </a:extLst>
              </a:tr>
              <a:tr h="723900">
                <a:tc>
                  <a:txBody>
                    <a:bodyPr/>
                    <a:lstStyle/>
                    <a:p>
                      <a:pPr algn="l"/>
                      <a:r>
                        <a:rPr sz="1913" b="0">
                          <a:solidFill>
                            <a:srgbClr val="111111"/>
                          </a:solidFill>
                          <a:latin typeface="Aptos"/>
                          <a:ea typeface="Aptos"/>
                          <a:cs typeface="Aptos"/>
                        </a:rPr>
                        <a:t>B3.7  Measurement error</a:t>
                      </a:r>
                    </a:p>
                  </a:txBody>
                  <a:tcPr anchor="ctr">
                    <a:solidFill>
                      <a:srgbClr val="EFF7FD"/>
                    </a:solidFill>
                  </a:tcPr>
                </a:tc>
                <a:tc>
                  <a:txBody>
                    <a:bodyPr/>
                    <a:lstStyle/>
                    <a:p>
                      <a:pPr algn="l"/>
                      <a:r>
                        <a:rPr sz="1913" b="0">
                          <a:solidFill>
                            <a:srgbClr val="111111"/>
                          </a:solidFill>
                          <a:latin typeface="Aptos"/>
                          <a:ea typeface="Aptos"/>
                          <a:cs typeface="Aptos"/>
                        </a:rPr>
                        <a:t>Each reading is 0.18 g too high.</a:t>
                      </a:r>
                    </a:p>
                  </a:txBody>
                  <a:tcPr anchor="ctr">
                    <a:solidFill>
                      <a:srgbClr val="EFF7FD"/>
                    </a:solidFill>
                  </a:tcPr>
                </a:tc>
                <a:tc>
                  <a:txBody>
                    <a:bodyPr/>
                    <a:lstStyle/>
                    <a:p>
                      <a:pPr algn="l"/>
                      <a:r>
                        <a:rPr sz="1913" b="0">
                          <a:solidFill>
                            <a:srgbClr val="111111"/>
                          </a:solidFill>
                          <a:latin typeface="Aptos"/>
                          <a:ea typeface="Aptos"/>
                          <a:cs typeface="Aptos"/>
                        </a:rPr>
                        <a:t>Check zero and calibrate.</a:t>
                      </a:r>
                    </a:p>
                  </a:txBody>
                  <a:tcPr anchor="ctr">
                    <a:solidFill>
                      <a:srgbClr val="EFF7FD"/>
                    </a:solidFill>
                  </a:tcPr>
                </a:tc>
                <a:extLst>
                  <a:ext uri="{0D108BD9-81ED-4DB2-BD59-A6C34878D82A}">
                    <a16:rowId xmlns:a16="http://schemas.microsoft.com/office/drawing/2014/main" val="10004"/>
                  </a:ext>
                </a:extLst>
              </a:tr>
              <a:tr h="723900">
                <a:tc>
                  <a:txBody>
                    <a:bodyPr/>
                    <a:lstStyle/>
                    <a:p>
                      <a:pPr algn="l"/>
                      <a:r>
                        <a:rPr sz="1913" b="0">
                          <a:solidFill>
                            <a:srgbClr val="111111"/>
                          </a:solidFill>
                          <a:latin typeface="Aptos"/>
                          <a:ea typeface="Aptos"/>
                          <a:cs typeface="Aptos"/>
                        </a:rPr>
                        <a:t>B3.8  Sampling variation</a:t>
                      </a:r>
                    </a:p>
                  </a:txBody>
                  <a:tcPr anchor="ctr">
                    <a:solidFill>
                      <a:srgbClr val="FFFFFF"/>
                    </a:solidFill>
                  </a:tcPr>
                </a:tc>
                <a:tc>
                  <a:txBody>
                    <a:bodyPr/>
                    <a:lstStyle/>
                    <a:p>
                      <a:pPr algn="l"/>
                      <a:r>
                        <a:rPr sz="1913" b="0">
                          <a:solidFill>
                            <a:srgbClr val="111111"/>
                          </a:solidFill>
                          <a:latin typeface="Aptos"/>
                          <a:ea typeface="Aptos"/>
                          <a:cs typeface="Aptos"/>
                        </a:rPr>
                        <a:t>Different people give different estimates.</a:t>
                      </a:r>
                    </a:p>
                  </a:txBody>
                  <a:tcPr anchor="ctr">
                    <a:solidFill>
                      <a:srgbClr val="FFFFFF"/>
                    </a:solidFill>
                  </a:tcPr>
                </a:tc>
                <a:tc>
                  <a:txBody>
                    <a:bodyPr/>
                    <a:lstStyle/>
                    <a:p>
                      <a:pPr algn="l"/>
                      <a:r>
                        <a:rPr sz="1913" b="0">
                          <a:solidFill>
                            <a:srgbClr val="111111"/>
                          </a:solidFill>
                          <a:latin typeface="Aptos"/>
                          <a:ea typeface="Aptos"/>
                          <a:cs typeface="Aptos"/>
                        </a:rPr>
                        <a:t>No fault established. Random variation is expected.</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813612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aching-392">
            <a:extLst>
              <a:ext uri="{FF2B5EF4-FFF2-40B4-BE49-F238E27FC236}">
                <a16:creationId xmlns:a16="http://schemas.microsoft.com/office/drawing/2014/main" id="{B1400683-403E-4A1C-884B-92B80C990315}"/>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Does a larger sample fix bias?</a:t>
            </a:r>
          </a:p>
        </p:txBody>
      </p:sp>
      <p:sp>
        <p:nvSpPr>
          <p:cNvPr id="2" name="Teaching-393">
            <a:extLst>
              <a:ext uri="{FF2B5EF4-FFF2-40B4-BE49-F238E27FC236}">
                <a16:creationId xmlns:a16="http://schemas.microsoft.com/office/drawing/2014/main" id="{065B9697-CFF3-4A66-A8D4-E8A6F9B7C4CD}"/>
              </a:ext>
            </a:extLst>
          </p:cNvPr>
          <p:cNvSpPr>
            <a:spLocks noGrp="1"/>
          </p:cNvSpPr>
          <p:nvPr/>
        </p:nvSpPr>
        <p:spPr>
          <a:xfrm>
            <a:off x="428625" y="1952625"/>
            <a:ext cx="11296650" cy="6096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Which invitation process gives both programmes a chance?</a:t>
            </a:r>
          </a:p>
        </p:txBody>
      </p:sp>
      <p:sp>
        <p:nvSpPr>
          <p:cNvPr id="3" name="Teaching-394">
            <a:extLst>
              <a:ext uri="{FF2B5EF4-FFF2-40B4-BE49-F238E27FC236}">
                <a16:creationId xmlns:a16="http://schemas.microsoft.com/office/drawing/2014/main" id="{A6768D45-23E5-44C4-A79B-19494A0AAA44}"/>
              </a:ext>
            </a:extLst>
          </p:cNvPr>
          <p:cNvSpPr>
            <a:spLocks noGrp="1"/>
          </p:cNvSpPr>
          <p:nvPr/>
        </p:nvSpPr>
        <p:spPr>
          <a:xfrm>
            <a:off x="619125" y="2809875"/>
            <a:ext cx="5124450" cy="42862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PLAN A: 1,000 invitees</a:t>
            </a:r>
          </a:p>
        </p:txBody>
      </p:sp>
      <p:sp>
        <p:nvSpPr>
          <p:cNvPr id="4" name="Teaching-395">
            <a:extLst>
              <a:ext uri="{FF2B5EF4-FFF2-40B4-BE49-F238E27FC236}">
                <a16:creationId xmlns:a16="http://schemas.microsoft.com/office/drawing/2014/main" id="{C92F6E12-7F77-4E0E-9815-C15872DC266B}"/>
              </a:ext>
            </a:extLst>
          </p:cNvPr>
          <p:cNvSpPr>
            <a:spLocks noGrp="1"/>
          </p:cNvSpPr>
          <p:nvPr/>
        </p:nvSpPr>
        <p:spPr>
          <a:xfrm>
            <a:off x="6524625" y="2809875"/>
            <a:ext cx="4953000" cy="42862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PLAN B: 200 invitees</a:t>
            </a:r>
          </a:p>
        </p:txBody>
      </p:sp>
      <p:sp>
        <p:nvSpPr>
          <p:cNvPr id="5" name="Teaching-396">
            <a:extLst>
              <a:ext uri="{FF2B5EF4-FFF2-40B4-BE49-F238E27FC236}">
                <a16:creationId xmlns:a16="http://schemas.microsoft.com/office/drawing/2014/main" id="{C9C0DA68-00BD-4AE3-A408-D659C683180B}"/>
              </a:ext>
            </a:extLst>
          </p:cNvPr>
          <p:cNvSpPr>
            <a:spLocks noGrp="1"/>
          </p:cNvSpPr>
          <p:nvPr/>
        </p:nvSpPr>
        <p:spPr>
          <a:xfrm>
            <a:off x="619125" y="3438525"/>
            <a:ext cx="2238375" cy="1438275"/>
          </a:xfrm>
          <a:prstGeom prst="rect">
            <a:avLst/>
          </a:prstGeom>
          <a:solidFill>
            <a:srgbClr val="EFF7FD"/>
          </a:solidFill>
          <a:ln w="9525">
            <a:solidFill>
              <a:srgbClr val="8A959C"/>
            </a:solidFill>
          </a:ln>
        </p:spPr>
        <p:txBody>
          <a:bodyPr/>
          <a:lstStyle/>
          <a:p>
            <a:endParaRPr lang="en-US"/>
          </a:p>
        </p:txBody>
      </p:sp>
      <p:sp>
        <p:nvSpPr>
          <p:cNvPr id="6" name="Teaching-397">
            <a:extLst>
              <a:ext uri="{FF2B5EF4-FFF2-40B4-BE49-F238E27FC236}">
                <a16:creationId xmlns:a16="http://schemas.microsoft.com/office/drawing/2014/main" id="{A84D08B7-2F6C-40C9-A05F-D17733A96A05}"/>
              </a:ext>
            </a:extLst>
          </p:cNvPr>
          <p:cNvSpPr>
            <a:spLocks noGrp="1"/>
          </p:cNvSpPr>
          <p:nvPr/>
        </p:nvSpPr>
        <p:spPr>
          <a:xfrm>
            <a:off x="3095625" y="3438525"/>
            <a:ext cx="2238375" cy="1438275"/>
          </a:xfrm>
          <a:prstGeom prst="rect">
            <a:avLst/>
          </a:prstGeom>
          <a:solidFill>
            <a:srgbClr val="FFFFFF"/>
          </a:solidFill>
          <a:ln w="9525">
            <a:solidFill>
              <a:srgbClr val="8A959C"/>
            </a:solidFill>
          </a:ln>
        </p:spPr>
        <p:txBody>
          <a:bodyPr/>
          <a:lstStyle/>
          <a:p>
            <a:endParaRPr lang="en-US"/>
          </a:p>
        </p:txBody>
      </p:sp>
      <p:sp>
        <p:nvSpPr>
          <p:cNvPr id="7" name="Teaching-398">
            <a:extLst>
              <a:ext uri="{FF2B5EF4-FFF2-40B4-BE49-F238E27FC236}">
                <a16:creationId xmlns:a16="http://schemas.microsoft.com/office/drawing/2014/main" id="{9505A8A7-5A4F-4827-9EBB-66175BFFB6E4}"/>
              </a:ext>
            </a:extLst>
          </p:cNvPr>
          <p:cNvSpPr>
            <a:spLocks noGrp="1"/>
          </p:cNvSpPr>
          <p:nvPr/>
        </p:nvSpPr>
        <p:spPr>
          <a:xfrm>
            <a:off x="714375" y="3571875"/>
            <a:ext cx="2047875" cy="352425"/>
          </a:xfrm>
          <a:prstGeom prst="rect">
            <a:avLst/>
          </a:prstGeom>
          <a:noFill/>
          <a:ln w="0">
            <a:noFill/>
          </a:ln>
        </p:spPr>
        <p:txBody>
          <a:bodyPr wrap="square" lIns="0" tIns="0" rIns="0" bIns="0" anchor="t">
            <a:noAutofit/>
          </a:bodyPr>
          <a:lstStyle/>
          <a:p>
            <a:pPr algn="ctr">
              <a:defRPr sz="2175" b="1">
                <a:solidFill>
                  <a:srgbClr val="111111"/>
                </a:solidFill>
                <a:latin typeface="Aptos"/>
                <a:ea typeface="Aptos"/>
                <a:cs typeface="Aptos"/>
              </a:defRPr>
            </a:pPr>
            <a:r>
              <a:t>Business</a:t>
            </a:r>
          </a:p>
        </p:txBody>
      </p:sp>
      <p:sp>
        <p:nvSpPr>
          <p:cNvPr id="8" name="Teaching-399">
            <a:extLst>
              <a:ext uri="{FF2B5EF4-FFF2-40B4-BE49-F238E27FC236}">
                <a16:creationId xmlns:a16="http://schemas.microsoft.com/office/drawing/2014/main" id="{612AABBA-F7B4-411D-9C18-904CE576C39A}"/>
              </a:ext>
            </a:extLst>
          </p:cNvPr>
          <p:cNvSpPr>
            <a:spLocks noGrp="1"/>
          </p:cNvSpPr>
          <p:nvPr/>
        </p:nvSpPr>
        <p:spPr>
          <a:xfrm>
            <a:off x="3190875" y="3571875"/>
            <a:ext cx="2047875" cy="352425"/>
          </a:xfrm>
          <a:prstGeom prst="rect">
            <a:avLst/>
          </a:prstGeom>
          <a:noFill/>
          <a:ln w="0">
            <a:noFill/>
          </a:ln>
        </p:spPr>
        <p:txBody>
          <a:bodyPr wrap="square" lIns="0" tIns="0" rIns="0" bIns="0" anchor="t">
            <a:noAutofit/>
          </a:bodyPr>
          <a:lstStyle/>
          <a:p>
            <a:pPr algn="ctr">
              <a:defRPr sz="2175" b="1">
                <a:solidFill>
                  <a:srgbClr val="111111"/>
                </a:solidFill>
                <a:latin typeface="Aptos"/>
                <a:ea typeface="Aptos"/>
                <a:cs typeface="Aptos"/>
              </a:defRPr>
            </a:pPr>
            <a:r>
              <a:t>Engineering</a:t>
            </a:r>
          </a:p>
        </p:txBody>
      </p:sp>
      <p:sp>
        <p:nvSpPr>
          <p:cNvPr id="9" name="Teaching-400">
            <a:extLst>
              <a:ext uri="{FF2B5EF4-FFF2-40B4-BE49-F238E27FC236}">
                <a16:creationId xmlns:a16="http://schemas.microsoft.com/office/drawing/2014/main" id="{8AADBF97-1BFE-4BB6-8158-1DC24EDE33CF}"/>
              </a:ext>
            </a:extLst>
          </p:cNvPr>
          <p:cNvSpPr>
            <a:spLocks noGrp="1"/>
          </p:cNvSpPr>
          <p:nvPr/>
        </p:nvSpPr>
        <p:spPr>
          <a:xfrm>
            <a:off x="6524625" y="3438525"/>
            <a:ext cx="2238375" cy="1438275"/>
          </a:xfrm>
          <a:prstGeom prst="rect">
            <a:avLst/>
          </a:prstGeom>
          <a:solidFill>
            <a:srgbClr val="EFF7FD"/>
          </a:solidFill>
          <a:ln w="9525">
            <a:solidFill>
              <a:srgbClr val="8A959C"/>
            </a:solidFill>
          </a:ln>
        </p:spPr>
        <p:txBody>
          <a:bodyPr/>
          <a:lstStyle/>
          <a:p>
            <a:endParaRPr lang="en-US"/>
          </a:p>
        </p:txBody>
      </p:sp>
      <p:sp>
        <p:nvSpPr>
          <p:cNvPr id="10" name="Teaching-401">
            <a:extLst>
              <a:ext uri="{FF2B5EF4-FFF2-40B4-BE49-F238E27FC236}">
                <a16:creationId xmlns:a16="http://schemas.microsoft.com/office/drawing/2014/main" id="{641EDB53-02ED-4703-9FF6-7131CE278CB4}"/>
              </a:ext>
            </a:extLst>
          </p:cNvPr>
          <p:cNvSpPr>
            <a:spLocks noGrp="1"/>
          </p:cNvSpPr>
          <p:nvPr/>
        </p:nvSpPr>
        <p:spPr>
          <a:xfrm>
            <a:off x="9001125" y="3438525"/>
            <a:ext cx="2238375" cy="1438275"/>
          </a:xfrm>
          <a:prstGeom prst="rect">
            <a:avLst/>
          </a:prstGeom>
          <a:solidFill>
            <a:srgbClr val="FFFFFF"/>
          </a:solidFill>
          <a:ln w="9525">
            <a:solidFill>
              <a:srgbClr val="8A959C"/>
            </a:solidFill>
          </a:ln>
        </p:spPr>
        <p:txBody>
          <a:bodyPr/>
          <a:lstStyle/>
          <a:p>
            <a:endParaRPr lang="en-US"/>
          </a:p>
        </p:txBody>
      </p:sp>
      <p:sp>
        <p:nvSpPr>
          <p:cNvPr id="11" name="Teaching-402">
            <a:extLst>
              <a:ext uri="{FF2B5EF4-FFF2-40B4-BE49-F238E27FC236}">
                <a16:creationId xmlns:a16="http://schemas.microsoft.com/office/drawing/2014/main" id="{33C3E37D-36BC-4980-96D6-65DD4DD41327}"/>
              </a:ext>
            </a:extLst>
          </p:cNvPr>
          <p:cNvSpPr>
            <a:spLocks noGrp="1"/>
          </p:cNvSpPr>
          <p:nvPr/>
        </p:nvSpPr>
        <p:spPr>
          <a:xfrm>
            <a:off x="6619875" y="3571875"/>
            <a:ext cx="2047875" cy="352425"/>
          </a:xfrm>
          <a:prstGeom prst="rect">
            <a:avLst/>
          </a:prstGeom>
          <a:noFill/>
          <a:ln w="0">
            <a:noFill/>
          </a:ln>
        </p:spPr>
        <p:txBody>
          <a:bodyPr wrap="square" lIns="0" tIns="0" rIns="0" bIns="0" anchor="t">
            <a:noAutofit/>
          </a:bodyPr>
          <a:lstStyle/>
          <a:p>
            <a:pPr algn="ctr">
              <a:defRPr sz="2175" b="1">
                <a:solidFill>
                  <a:srgbClr val="111111"/>
                </a:solidFill>
                <a:latin typeface="Aptos"/>
                <a:ea typeface="Aptos"/>
                <a:cs typeface="Aptos"/>
              </a:defRPr>
            </a:pPr>
            <a:r>
              <a:t>Business</a:t>
            </a:r>
          </a:p>
        </p:txBody>
      </p:sp>
      <p:sp>
        <p:nvSpPr>
          <p:cNvPr id="12" name="Teaching-403">
            <a:extLst>
              <a:ext uri="{FF2B5EF4-FFF2-40B4-BE49-F238E27FC236}">
                <a16:creationId xmlns:a16="http://schemas.microsoft.com/office/drawing/2014/main" id="{4F22CB48-EC63-4DC8-97FE-AA17C664C716}"/>
              </a:ext>
            </a:extLst>
          </p:cNvPr>
          <p:cNvSpPr>
            <a:spLocks noGrp="1"/>
          </p:cNvSpPr>
          <p:nvPr/>
        </p:nvSpPr>
        <p:spPr>
          <a:xfrm>
            <a:off x="9096375" y="3571875"/>
            <a:ext cx="2047875" cy="352425"/>
          </a:xfrm>
          <a:prstGeom prst="rect">
            <a:avLst/>
          </a:prstGeom>
          <a:noFill/>
          <a:ln w="0">
            <a:noFill/>
          </a:ln>
        </p:spPr>
        <p:txBody>
          <a:bodyPr wrap="square" lIns="0" tIns="0" rIns="0" bIns="0" anchor="t">
            <a:noAutofit/>
          </a:bodyPr>
          <a:lstStyle/>
          <a:p>
            <a:pPr algn="ctr">
              <a:defRPr sz="2175" b="1">
                <a:solidFill>
                  <a:srgbClr val="111111"/>
                </a:solidFill>
                <a:latin typeface="Aptos"/>
                <a:ea typeface="Aptos"/>
                <a:cs typeface="Aptos"/>
              </a:defRPr>
            </a:pPr>
            <a:r>
              <a:t>Engineering</a:t>
            </a:r>
          </a:p>
        </p:txBody>
      </p:sp>
      <p:sp>
        <p:nvSpPr>
          <p:cNvPr id="13" name="Teaching-404">
            <a:extLst>
              <a:ext uri="{FF2B5EF4-FFF2-40B4-BE49-F238E27FC236}">
                <a16:creationId xmlns:a16="http://schemas.microsoft.com/office/drawing/2014/main" id="{BA52B18A-34A3-4631-B3B7-A46B618B7A79}"/>
              </a:ext>
            </a:extLst>
          </p:cNvPr>
          <p:cNvSpPr>
            <a:spLocks noGrp="1"/>
          </p:cNvSpPr>
          <p:nvPr/>
        </p:nvSpPr>
        <p:spPr>
          <a:xfrm>
            <a:off x="733425" y="4191000"/>
            <a:ext cx="2009775" cy="476250"/>
          </a:xfrm>
          <a:prstGeom prst="rect">
            <a:avLst/>
          </a:prstGeom>
          <a:noFill/>
          <a:ln w="0">
            <a:noFill/>
          </a:ln>
        </p:spPr>
        <p:txBody>
          <a:bodyPr wrap="square" lIns="0" tIns="0" rIns="0" bIns="0" anchor="t">
            <a:noAutofit/>
          </a:bodyPr>
          <a:lstStyle/>
          <a:p>
            <a:pPr algn="ctr">
              <a:defRPr sz="1950" b="1">
                <a:solidFill>
                  <a:srgbClr val="244E6A"/>
                </a:solidFill>
                <a:latin typeface="Aptos"/>
                <a:ea typeface="Aptos"/>
                <a:cs typeface="Aptos"/>
              </a:defRPr>
            </a:pPr>
            <a:r>
              <a:t>1,000 selected</a:t>
            </a:r>
          </a:p>
        </p:txBody>
      </p:sp>
      <p:sp>
        <p:nvSpPr>
          <p:cNvPr id="14" name="Teaching-405">
            <a:extLst>
              <a:ext uri="{FF2B5EF4-FFF2-40B4-BE49-F238E27FC236}">
                <a16:creationId xmlns:a16="http://schemas.microsoft.com/office/drawing/2014/main" id="{53A131AD-0BB3-494D-BB6F-7C65726D4F54}"/>
              </a:ext>
            </a:extLst>
          </p:cNvPr>
          <p:cNvSpPr>
            <a:spLocks noGrp="1"/>
          </p:cNvSpPr>
          <p:nvPr/>
        </p:nvSpPr>
        <p:spPr>
          <a:xfrm>
            <a:off x="3209925" y="4191000"/>
            <a:ext cx="2009775" cy="476250"/>
          </a:xfrm>
          <a:prstGeom prst="rect">
            <a:avLst/>
          </a:prstGeom>
          <a:noFill/>
          <a:ln w="0">
            <a:noFill/>
          </a:ln>
        </p:spPr>
        <p:txBody>
          <a:bodyPr wrap="square" lIns="0" tIns="0" rIns="0" bIns="0" anchor="t">
            <a:noAutofit/>
          </a:bodyPr>
          <a:lstStyle/>
          <a:p>
            <a:pPr algn="ctr">
              <a:defRPr sz="1950" b="1">
                <a:solidFill>
                  <a:srgbClr val="D9101B"/>
                </a:solidFill>
                <a:latin typeface="Aptos"/>
                <a:ea typeface="Aptos"/>
                <a:cs typeface="Aptos"/>
              </a:defRPr>
            </a:pPr>
            <a:r>
              <a:t>Excluded</a:t>
            </a:r>
          </a:p>
        </p:txBody>
      </p:sp>
      <p:sp>
        <p:nvSpPr>
          <p:cNvPr id="15" name="Teaching-406">
            <a:extLst>
              <a:ext uri="{FF2B5EF4-FFF2-40B4-BE49-F238E27FC236}">
                <a16:creationId xmlns:a16="http://schemas.microsoft.com/office/drawing/2014/main" id="{43295422-81E6-4BF6-B88B-2C19D5DBCED8}"/>
              </a:ext>
            </a:extLst>
          </p:cNvPr>
          <p:cNvSpPr>
            <a:spLocks noGrp="1"/>
          </p:cNvSpPr>
          <p:nvPr/>
        </p:nvSpPr>
        <p:spPr>
          <a:xfrm>
            <a:off x="6638925" y="4114800"/>
            <a:ext cx="2009775" cy="352425"/>
          </a:xfrm>
          <a:prstGeom prst="rect">
            <a:avLst/>
          </a:prstGeom>
          <a:noFill/>
          <a:ln w="0">
            <a:noFill/>
          </a:ln>
        </p:spPr>
        <p:txBody>
          <a:bodyPr wrap="square" lIns="0" tIns="0" rIns="0" bIns="0" anchor="t">
            <a:noAutofit/>
          </a:bodyPr>
          <a:lstStyle/>
          <a:p>
            <a:pPr algn="ctr">
              <a:defRPr sz="1875" b="1">
                <a:solidFill>
                  <a:srgbClr val="244E6A"/>
                </a:solidFill>
                <a:latin typeface="Aptos"/>
                <a:ea typeface="Aptos"/>
                <a:cs typeface="Aptos"/>
              </a:defRPr>
            </a:pPr>
            <a:r>
              <a:t>Random choice</a:t>
            </a:r>
          </a:p>
        </p:txBody>
      </p:sp>
      <p:sp>
        <p:nvSpPr>
          <p:cNvPr id="16" name="Teaching-407">
            <a:extLst>
              <a:ext uri="{FF2B5EF4-FFF2-40B4-BE49-F238E27FC236}">
                <a16:creationId xmlns:a16="http://schemas.microsoft.com/office/drawing/2014/main" id="{024237CE-6CAD-46E0-AD9B-BBC254746767}"/>
              </a:ext>
            </a:extLst>
          </p:cNvPr>
          <p:cNvSpPr>
            <a:spLocks noGrp="1"/>
          </p:cNvSpPr>
          <p:nvPr/>
        </p:nvSpPr>
        <p:spPr>
          <a:xfrm>
            <a:off x="9115425" y="4114800"/>
            <a:ext cx="2009775" cy="352425"/>
          </a:xfrm>
          <a:prstGeom prst="rect">
            <a:avLst/>
          </a:prstGeom>
          <a:noFill/>
          <a:ln w="0">
            <a:noFill/>
          </a:ln>
        </p:spPr>
        <p:txBody>
          <a:bodyPr wrap="square" lIns="0" tIns="0" rIns="0" bIns="0" anchor="t">
            <a:noAutofit/>
          </a:bodyPr>
          <a:lstStyle/>
          <a:p>
            <a:pPr algn="ctr">
              <a:defRPr sz="1875" b="1">
                <a:solidFill>
                  <a:srgbClr val="244E6A"/>
                </a:solidFill>
                <a:latin typeface="Aptos"/>
                <a:ea typeface="Aptos"/>
                <a:cs typeface="Aptos"/>
              </a:defRPr>
            </a:pPr>
            <a:r>
              <a:t>Random choice</a:t>
            </a:r>
          </a:p>
        </p:txBody>
      </p:sp>
      <p:sp>
        <p:nvSpPr>
          <p:cNvPr id="17" name="Teaching-408">
            <a:extLst>
              <a:ext uri="{FF2B5EF4-FFF2-40B4-BE49-F238E27FC236}">
                <a16:creationId xmlns:a16="http://schemas.microsoft.com/office/drawing/2014/main" id="{FC286736-1E12-4C98-8D8E-13A95E0321A0}"/>
              </a:ext>
            </a:extLst>
          </p:cNvPr>
          <p:cNvSpPr>
            <a:spLocks noGrp="1"/>
          </p:cNvSpPr>
          <p:nvPr/>
        </p:nvSpPr>
        <p:spPr>
          <a:xfrm>
            <a:off x="7639050" y="4886325"/>
            <a:ext cx="0" cy="209550"/>
          </a:xfrm>
          <a:prstGeom prst="line">
            <a:avLst/>
          </a:prstGeom>
          <a:noFill/>
          <a:ln w="19050">
            <a:solidFill>
              <a:srgbClr val="244E6A"/>
            </a:solidFill>
          </a:ln>
        </p:spPr>
        <p:txBody>
          <a:bodyPr/>
          <a:lstStyle/>
          <a:p>
            <a:endParaRPr lang="en-US"/>
          </a:p>
        </p:txBody>
      </p:sp>
      <p:sp>
        <p:nvSpPr>
          <p:cNvPr id="18" name="Teaching-409">
            <a:extLst>
              <a:ext uri="{FF2B5EF4-FFF2-40B4-BE49-F238E27FC236}">
                <a16:creationId xmlns:a16="http://schemas.microsoft.com/office/drawing/2014/main" id="{EC377941-7DF7-4618-A316-DEB37ED87FB2}"/>
              </a:ext>
            </a:extLst>
          </p:cNvPr>
          <p:cNvSpPr>
            <a:spLocks noGrp="1"/>
          </p:cNvSpPr>
          <p:nvPr/>
        </p:nvSpPr>
        <p:spPr>
          <a:xfrm>
            <a:off x="10115550" y="4886325"/>
            <a:ext cx="0" cy="209550"/>
          </a:xfrm>
          <a:prstGeom prst="line">
            <a:avLst/>
          </a:prstGeom>
          <a:noFill/>
          <a:ln w="19050">
            <a:solidFill>
              <a:srgbClr val="244E6A"/>
            </a:solidFill>
          </a:ln>
        </p:spPr>
        <p:txBody>
          <a:bodyPr/>
          <a:lstStyle/>
          <a:p>
            <a:endParaRPr lang="en-US"/>
          </a:p>
        </p:txBody>
      </p:sp>
      <p:sp>
        <p:nvSpPr>
          <p:cNvPr id="19" name="Teaching-410">
            <a:extLst>
              <a:ext uri="{FF2B5EF4-FFF2-40B4-BE49-F238E27FC236}">
                <a16:creationId xmlns:a16="http://schemas.microsoft.com/office/drawing/2014/main" id="{8B6B9016-CC5B-4213-80BC-15D269AC17D7}"/>
              </a:ext>
            </a:extLst>
          </p:cNvPr>
          <p:cNvSpPr>
            <a:spLocks noGrp="1"/>
          </p:cNvSpPr>
          <p:nvPr/>
        </p:nvSpPr>
        <p:spPr>
          <a:xfrm>
            <a:off x="7639050" y="5095875"/>
            <a:ext cx="2476500" cy="0"/>
          </a:xfrm>
          <a:prstGeom prst="line">
            <a:avLst/>
          </a:prstGeom>
          <a:noFill/>
          <a:ln w="19050">
            <a:solidFill>
              <a:srgbClr val="244E6A"/>
            </a:solidFill>
          </a:ln>
        </p:spPr>
        <p:txBody>
          <a:bodyPr/>
          <a:lstStyle/>
          <a:p>
            <a:endParaRPr lang="en-US"/>
          </a:p>
        </p:txBody>
      </p:sp>
      <p:sp>
        <p:nvSpPr>
          <p:cNvPr id="20" name="Teaching-411">
            <a:extLst>
              <a:ext uri="{FF2B5EF4-FFF2-40B4-BE49-F238E27FC236}">
                <a16:creationId xmlns:a16="http://schemas.microsoft.com/office/drawing/2014/main" id="{C91F0A36-8C01-4CB6-8BC5-E77BB9D7AB40}"/>
              </a:ext>
            </a:extLst>
          </p:cNvPr>
          <p:cNvSpPr>
            <a:spLocks noGrp="1"/>
          </p:cNvSpPr>
          <p:nvPr/>
        </p:nvSpPr>
        <p:spPr>
          <a:xfrm>
            <a:off x="6524625" y="5257800"/>
            <a:ext cx="4953000" cy="381000"/>
          </a:xfrm>
          <a:prstGeom prst="rect">
            <a:avLst/>
          </a:prstGeom>
          <a:noFill/>
          <a:ln w="0">
            <a:noFill/>
          </a:ln>
        </p:spPr>
        <p:txBody>
          <a:bodyPr wrap="square" lIns="0" tIns="0" rIns="0" bIns="0" anchor="t">
            <a:noAutofit/>
          </a:bodyPr>
          <a:lstStyle/>
          <a:p>
            <a:pPr algn="ctr">
              <a:defRPr sz="2025" b="1">
                <a:solidFill>
                  <a:srgbClr val="111111"/>
                </a:solidFill>
                <a:latin typeface="Aptos"/>
                <a:ea typeface="Aptos"/>
                <a:cs typeface="Aptos"/>
              </a:defRPr>
            </a:pPr>
            <a:r>
              <a:t>200 selected across both lists</a:t>
            </a:r>
          </a:p>
        </p:txBody>
      </p:sp>
      <p:sp>
        <p:nvSpPr>
          <p:cNvPr id="21" name="Teaching-412">
            <a:extLst>
              <a:ext uri="{FF2B5EF4-FFF2-40B4-BE49-F238E27FC236}">
                <a16:creationId xmlns:a16="http://schemas.microsoft.com/office/drawing/2014/main" id="{95367271-9E61-4A61-B0DE-2F8F122A5128}"/>
              </a:ext>
            </a:extLst>
          </p:cNvPr>
          <p:cNvSpPr>
            <a:spLocks noGrp="1"/>
          </p:cNvSpPr>
          <p:nvPr/>
        </p:nvSpPr>
        <p:spPr>
          <a:xfrm>
            <a:off x="619125" y="5191125"/>
            <a:ext cx="4953000" cy="790575"/>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t>More invitees, but one</a:t>
            </a:r>
          </a:p>
          <a:p>
            <a:pPr algn="l">
              <a:defRPr sz="2175" b="0">
                <a:solidFill>
                  <a:srgbClr val="111111"/>
                </a:solidFill>
                <a:latin typeface="Aptos"/>
                <a:ea typeface="Aptos"/>
                <a:cs typeface="Aptos"/>
              </a:defRPr>
            </a:pPr>
            <a:r>
              <a:t>programme has no chance.</a:t>
            </a:r>
          </a:p>
        </p:txBody>
      </p:sp>
      <p:sp>
        <p:nvSpPr>
          <p:cNvPr id="22" name="Teaching-413">
            <a:extLst>
              <a:ext uri="{FF2B5EF4-FFF2-40B4-BE49-F238E27FC236}">
                <a16:creationId xmlns:a16="http://schemas.microsoft.com/office/drawing/2014/main" id="{F30C4D1D-813C-4F4A-9E73-1E9B176F14DD}"/>
              </a:ext>
            </a:extLst>
          </p:cNvPr>
          <p:cNvSpPr>
            <a:spLocks noGrp="1"/>
          </p:cNvSpPr>
          <p:nvPr/>
        </p:nvSpPr>
        <p:spPr>
          <a:xfrm>
            <a:off x="523875" y="6010275"/>
            <a:ext cx="11087100" cy="333375"/>
          </a:xfrm>
          <a:prstGeom prst="rect">
            <a:avLst/>
          </a:prstGeom>
          <a:noFill/>
          <a:ln w="0">
            <a:noFill/>
          </a:ln>
        </p:spPr>
        <p:txBody>
          <a:bodyPr wrap="square" lIns="0" tIns="0" rIns="0" bIns="0" anchor="t">
            <a:noAutofit/>
          </a:bodyPr>
          <a:lstStyle/>
          <a:p>
            <a:pPr algn="l">
              <a:defRPr sz="1725" b="0">
                <a:solidFill>
                  <a:srgbClr val="666666"/>
                </a:solidFill>
                <a:latin typeface="Aptos"/>
                <a:ea typeface="Aptos"/>
                <a:cs typeface="Aptos"/>
              </a:defRPr>
            </a:pPr>
            <a:r>
              <a:t>Sample size cannot repair systematic exclusion. Boxes show groups, not their sizes.</a:t>
            </a:r>
          </a:p>
        </p:txBody>
      </p:sp>
    </p:spTree>
    <p:extLst>
      <p:ext uri="{BB962C8B-B14F-4D97-AF65-F5344CB8AC3E}">
        <p14:creationId xmlns:p14="http://schemas.microsoft.com/office/powerpoint/2010/main" val="32813612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140" y="2154460"/>
            <a:ext cx="5966365" cy="3318891"/>
          </a:xfrm>
        </p:spPr>
        <p:txBody>
          <a:bodyPr wrap="square" lIns="91440" tIns="45720" rIns="91440" bIns="45720" anchor="ctr">
            <a:noAutofit/>
          </a:bodyPr>
          <a:lstStyle/>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Section 4:</a:t>
            </a:r>
          </a:p>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Choosing and</a:t>
            </a:r>
          </a:p>
          <a:p>
            <a:pPr algn="l">
              <a:lnSpc>
                <a:spcPct val="90000"/>
              </a:lnSpc>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Evaluating</a:t>
            </a:r>
          </a:p>
        </p:txBody>
      </p:sp>
    </p:spTree>
    <p:extLst>
      <p:ext uri="{BB962C8B-B14F-4D97-AF65-F5344CB8AC3E}">
        <p14:creationId xmlns:p14="http://schemas.microsoft.com/office/powerpoint/2010/main" val="32813612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aching-414">
            <a:extLst>
              <a:ext uri="{FF2B5EF4-FFF2-40B4-BE49-F238E27FC236}">
                <a16:creationId xmlns:a16="http://schemas.microsoft.com/office/drawing/2014/main" id="{0842E2FF-7869-4B2E-8AF8-016B1B9AB9F2}"/>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Four sampling methods</a:t>
            </a:r>
          </a:p>
        </p:txBody>
      </p:sp>
      <p:sp>
        <p:nvSpPr>
          <p:cNvPr id="2" name="Teaching-415">
            <a:extLst>
              <a:ext uri="{FF2B5EF4-FFF2-40B4-BE49-F238E27FC236}">
                <a16:creationId xmlns:a16="http://schemas.microsoft.com/office/drawing/2014/main" id="{CCA95E97-6A91-4914-9D72-F7BED1580799}"/>
              </a:ext>
            </a:extLst>
          </p:cNvPr>
          <p:cNvSpPr>
            <a:spLocks noGrp="1"/>
          </p:cNvSpPr>
          <p:nvPr/>
        </p:nvSpPr>
        <p:spPr>
          <a:xfrm>
            <a:off x="428625" y="1952625"/>
            <a:ext cx="11296650" cy="638175"/>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t>Each illustration selects </a:t>
            </a:r>
            <a:r>
              <a:rPr b="1"/>
              <a:t>4 of 12 people</a:t>
            </a:r>
            <a:r>
              <a:t>. Filled dots show the sample.</a:t>
            </a:r>
          </a:p>
        </p:txBody>
      </p:sp>
      <p:sp>
        <p:nvSpPr>
          <p:cNvPr id="3" name="Teaching-416">
            <a:extLst>
              <a:ext uri="{FF2B5EF4-FFF2-40B4-BE49-F238E27FC236}">
                <a16:creationId xmlns:a16="http://schemas.microsoft.com/office/drawing/2014/main" id="{C3B218D5-3583-447D-B065-0D4AB6F3606A}"/>
              </a:ext>
            </a:extLst>
          </p:cNvPr>
          <p:cNvSpPr>
            <a:spLocks noGrp="1"/>
          </p:cNvSpPr>
          <p:nvPr/>
        </p:nvSpPr>
        <p:spPr>
          <a:xfrm>
            <a:off x="619125" y="2733675"/>
            <a:ext cx="5048250" cy="409575"/>
          </a:xfrm>
          <a:prstGeom prst="rect">
            <a:avLst/>
          </a:prstGeom>
          <a:noFill/>
          <a:ln w="0">
            <a:noFill/>
          </a:ln>
        </p:spPr>
        <p:txBody>
          <a:bodyPr wrap="square" lIns="0" tIns="0" rIns="0" bIns="0" anchor="t">
            <a:noAutofit/>
          </a:bodyPr>
          <a:lstStyle/>
          <a:p>
            <a:pPr algn="l">
              <a:defRPr sz="2250" b="1">
                <a:solidFill>
                  <a:srgbClr val="111111"/>
                </a:solidFill>
                <a:latin typeface="Aptos"/>
                <a:ea typeface="Aptos"/>
                <a:cs typeface="Aptos"/>
              </a:defRPr>
            </a:pPr>
            <a:r>
              <a:t>SIMPLE RANDOM</a:t>
            </a:r>
          </a:p>
        </p:txBody>
      </p:sp>
      <p:sp>
        <p:nvSpPr>
          <p:cNvPr id="4" name="Teaching-417">
            <a:extLst>
              <a:ext uri="{FF2B5EF4-FFF2-40B4-BE49-F238E27FC236}">
                <a16:creationId xmlns:a16="http://schemas.microsoft.com/office/drawing/2014/main" id="{AC4832D3-EABD-4432-9F94-211A24DB90BA}"/>
              </a:ext>
            </a:extLst>
          </p:cNvPr>
          <p:cNvSpPr>
            <a:spLocks noGrp="1"/>
          </p:cNvSpPr>
          <p:nvPr/>
        </p:nvSpPr>
        <p:spPr>
          <a:xfrm>
            <a:off x="723900" y="3267075"/>
            <a:ext cx="152400" cy="152400"/>
          </a:xfrm>
          <a:prstGeom prst="ellipse">
            <a:avLst/>
          </a:prstGeom>
          <a:solidFill>
            <a:srgbClr val="244E6A"/>
          </a:solidFill>
          <a:ln w="13335">
            <a:solidFill>
              <a:srgbClr val="244E6A"/>
            </a:solidFill>
          </a:ln>
        </p:spPr>
        <p:txBody>
          <a:bodyPr/>
          <a:lstStyle/>
          <a:p>
            <a:endParaRPr lang="en-US"/>
          </a:p>
        </p:txBody>
      </p:sp>
      <p:sp>
        <p:nvSpPr>
          <p:cNvPr id="5" name="Teaching-418">
            <a:extLst>
              <a:ext uri="{FF2B5EF4-FFF2-40B4-BE49-F238E27FC236}">
                <a16:creationId xmlns:a16="http://schemas.microsoft.com/office/drawing/2014/main" id="{04CC749E-2B77-46A9-91BF-5F4668738BF0}"/>
              </a:ext>
            </a:extLst>
          </p:cNvPr>
          <p:cNvSpPr>
            <a:spLocks noGrp="1"/>
          </p:cNvSpPr>
          <p:nvPr/>
        </p:nvSpPr>
        <p:spPr>
          <a:xfrm>
            <a:off x="638175"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1</a:t>
            </a:r>
          </a:p>
        </p:txBody>
      </p:sp>
      <p:sp>
        <p:nvSpPr>
          <p:cNvPr id="6" name="Teaching-419">
            <a:extLst>
              <a:ext uri="{FF2B5EF4-FFF2-40B4-BE49-F238E27FC236}">
                <a16:creationId xmlns:a16="http://schemas.microsoft.com/office/drawing/2014/main" id="{65FDD52C-84B5-48D3-AF8C-91AF734A32E1}"/>
              </a:ext>
            </a:extLst>
          </p:cNvPr>
          <p:cNvSpPr>
            <a:spLocks noGrp="1"/>
          </p:cNvSpPr>
          <p:nvPr/>
        </p:nvSpPr>
        <p:spPr>
          <a:xfrm>
            <a:off x="1095375" y="3267075"/>
            <a:ext cx="152400" cy="152400"/>
          </a:xfrm>
          <a:prstGeom prst="ellipse">
            <a:avLst/>
          </a:prstGeom>
          <a:solidFill>
            <a:srgbClr val="FFFFFF"/>
          </a:solidFill>
          <a:ln w="13335">
            <a:solidFill>
              <a:srgbClr val="8A959C"/>
            </a:solidFill>
          </a:ln>
        </p:spPr>
        <p:txBody>
          <a:bodyPr/>
          <a:lstStyle/>
          <a:p>
            <a:endParaRPr lang="en-US"/>
          </a:p>
        </p:txBody>
      </p:sp>
      <p:sp>
        <p:nvSpPr>
          <p:cNvPr id="7" name="Teaching-420">
            <a:extLst>
              <a:ext uri="{FF2B5EF4-FFF2-40B4-BE49-F238E27FC236}">
                <a16:creationId xmlns:a16="http://schemas.microsoft.com/office/drawing/2014/main" id="{F6481D6D-AF71-48B7-9575-93E576D5C4D9}"/>
              </a:ext>
            </a:extLst>
          </p:cNvPr>
          <p:cNvSpPr>
            <a:spLocks noGrp="1"/>
          </p:cNvSpPr>
          <p:nvPr/>
        </p:nvSpPr>
        <p:spPr>
          <a:xfrm>
            <a:off x="1009650"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2</a:t>
            </a:r>
          </a:p>
        </p:txBody>
      </p:sp>
      <p:sp>
        <p:nvSpPr>
          <p:cNvPr id="8" name="Teaching-421">
            <a:extLst>
              <a:ext uri="{FF2B5EF4-FFF2-40B4-BE49-F238E27FC236}">
                <a16:creationId xmlns:a16="http://schemas.microsoft.com/office/drawing/2014/main" id="{A108C46C-225A-452C-A9E7-F61D2480EF48}"/>
              </a:ext>
            </a:extLst>
          </p:cNvPr>
          <p:cNvSpPr>
            <a:spLocks noGrp="1"/>
          </p:cNvSpPr>
          <p:nvPr/>
        </p:nvSpPr>
        <p:spPr>
          <a:xfrm>
            <a:off x="1466850" y="3267075"/>
            <a:ext cx="152400" cy="152400"/>
          </a:xfrm>
          <a:prstGeom prst="ellipse">
            <a:avLst/>
          </a:prstGeom>
          <a:solidFill>
            <a:srgbClr val="FFFFFF"/>
          </a:solidFill>
          <a:ln w="13335">
            <a:solidFill>
              <a:srgbClr val="8A959C"/>
            </a:solidFill>
          </a:ln>
        </p:spPr>
        <p:txBody>
          <a:bodyPr/>
          <a:lstStyle/>
          <a:p>
            <a:endParaRPr lang="en-US"/>
          </a:p>
        </p:txBody>
      </p:sp>
      <p:sp>
        <p:nvSpPr>
          <p:cNvPr id="9" name="Teaching-422">
            <a:extLst>
              <a:ext uri="{FF2B5EF4-FFF2-40B4-BE49-F238E27FC236}">
                <a16:creationId xmlns:a16="http://schemas.microsoft.com/office/drawing/2014/main" id="{5C6F0DED-B36C-498E-A6DF-FF397B3F696F}"/>
              </a:ext>
            </a:extLst>
          </p:cNvPr>
          <p:cNvSpPr>
            <a:spLocks noGrp="1"/>
          </p:cNvSpPr>
          <p:nvPr/>
        </p:nvSpPr>
        <p:spPr>
          <a:xfrm>
            <a:off x="1381125"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3</a:t>
            </a:r>
          </a:p>
        </p:txBody>
      </p:sp>
      <p:sp>
        <p:nvSpPr>
          <p:cNvPr id="10" name="Teaching-423">
            <a:extLst>
              <a:ext uri="{FF2B5EF4-FFF2-40B4-BE49-F238E27FC236}">
                <a16:creationId xmlns:a16="http://schemas.microsoft.com/office/drawing/2014/main" id="{7C4306F5-99B5-4313-B981-62D57BC5422E}"/>
              </a:ext>
            </a:extLst>
          </p:cNvPr>
          <p:cNvSpPr>
            <a:spLocks noGrp="1"/>
          </p:cNvSpPr>
          <p:nvPr/>
        </p:nvSpPr>
        <p:spPr>
          <a:xfrm>
            <a:off x="1838325" y="3267075"/>
            <a:ext cx="152400" cy="152400"/>
          </a:xfrm>
          <a:prstGeom prst="ellipse">
            <a:avLst/>
          </a:prstGeom>
          <a:solidFill>
            <a:srgbClr val="FFFFFF"/>
          </a:solidFill>
          <a:ln w="13335">
            <a:solidFill>
              <a:srgbClr val="8A959C"/>
            </a:solidFill>
          </a:ln>
        </p:spPr>
        <p:txBody>
          <a:bodyPr/>
          <a:lstStyle/>
          <a:p>
            <a:endParaRPr lang="en-US"/>
          </a:p>
        </p:txBody>
      </p:sp>
      <p:sp>
        <p:nvSpPr>
          <p:cNvPr id="11" name="Teaching-424">
            <a:extLst>
              <a:ext uri="{FF2B5EF4-FFF2-40B4-BE49-F238E27FC236}">
                <a16:creationId xmlns:a16="http://schemas.microsoft.com/office/drawing/2014/main" id="{7407A7AE-0C0E-448A-B3CD-2179EAF2CFB7}"/>
              </a:ext>
            </a:extLst>
          </p:cNvPr>
          <p:cNvSpPr>
            <a:spLocks noGrp="1"/>
          </p:cNvSpPr>
          <p:nvPr/>
        </p:nvSpPr>
        <p:spPr>
          <a:xfrm>
            <a:off x="1752600"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4</a:t>
            </a:r>
          </a:p>
        </p:txBody>
      </p:sp>
      <p:sp>
        <p:nvSpPr>
          <p:cNvPr id="12" name="Teaching-425">
            <a:extLst>
              <a:ext uri="{FF2B5EF4-FFF2-40B4-BE49-F238E27FC236}">
                <a16:creationId xmlns:a16="http://schemas.microsoft.com/office/drawing/2014/main" id="{44316DA5-04D2-4BF2-94E6-AE99723F1D5F}"/>
              </a:ext>
            </a:extLst>
          </p:cNvPr>
          <p:cNvSpPr>
            <a:spLocks noGrp="1"/>
          </p:cNvSpPr>
          <p:nvPr/>
        </p:nvSpPr>
        <p:spPr>
          <a:xfrm>
            <a:off x="2209800" y="3267075"/>
            <a:ext cx="152400" cy="152400"/>
          </a:xfrm>
          <a:prstGeom prst="ellipse">
            <a:avLst/>
          </a:prstGeom>
          <a:solidFill>
            <a:srgbClr val="244E6A"/>
          </a:solidFill>
          <a:ln w="13335">
            <a:solidFill>
              <a:srgbClr val="244E6A"/>
            </a:solidFill>
          </a:ln>
        </p:spPr>
        <p:txBody>
          <a:bodyPr/>
          <a:lstStyle/>
          <a:p>
            <a:endParaRPr lang="en-US"/>
          </a:p>
        </p:txBody>
      </p:sp>
      <p:sp>
        <p:nvSpPr>
          <p:cNvPr id="13" name="Teaching-426">
            <a:extLst>
              <a:ext uri="{FF2B5EF4-FFF2-40B4-BE49-F238E27FC236}">
                <a16:creationId xmlns:a16="http://schemas.microsoft.com/office/drawing/2014/main" id="{887A756A-45A4-462C-B46C-6E64C3C9D5AA}"/>
              </a:ext>
            </a:extLst>
          </p:cNvPr>
          <p:cNvSpPr>
            <a:spLocks noGrp="1"/>
          </p:cNvSpPr>
          <p:nvPr/>
        </p:nvSpPr>
        <p:spPr>
          <a:xfrm>
            <a:off x="2124075"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5</a:t>
            </a:r>
          </a:p>
        </p:txBody>
      </p:sp>
      <p:sp>
        <p:nvSpPr>
          <p:cNvPr id="14" name="Teaching-427">
            <a:extLst>
              <a:ext uri="{FF2B5EF4-FFF2-40B4-BE49-F238E27FC236}">
                <a16:creationId xmlns:a16="http://schemas.microsoft.com/office/drawing/2014/main" id="{DA1C1CEC-DD39-4A93-A5ED-31D478EEFFCF}"/>
              </a:ext>
            </a:extLst>
          </p:cNvPr>
          <p:cNvSpPr>
            <a:spLocks noGrp="1"/>
          </p:cNvSpPr>
          <p:nvPr/>
        </p:nvSpPr>
        <p:spPr>
          <a:xfrm>
            <a:off x="2581275" y="3267075"/>
            <a:ext cx="152400" cy="152400"/>
          </a:xfrm>
          <a:prstGeom prst="ellipse">
            <a:avLst/>
          </a:prstGeom>
          <a:solidFill>
            <a:srgbClr val="FFFFFF"/>
          </a:solidFill>
          <a:ln w="13335">
            <a:solidFill>
              <a:srgbClr val="8A959C"/>
            </a:solidFill>
          </a:ln>
        </p:spPr>
        <p:txBody>
          <a:bodyPr/>
          <a:lstStyle/>
          <a:p>
            <a:endParaRPr lang="en-US"/>
          </a:p>
        </p:txBody>
      </p:sp>
      <p:sp>
        <p:nvSpPr>
          <p:cNvPr id="15" name="Teaching-428">
            <a:extLst>
              <a:ext uri="{FF2B5EF4-FFF2-40B4-BE49-F238E27FC236}">
                <a16:creationId xmlns:a16="http://schemas.microsoft.com/office/drawing/2014/main" id="{38E12830-AB18-42ED-95A5-59706F24E88F}"/>
              </a:ext>
            </a:extLst>
          </p:cNvPr>
          <p:cNvSpPr>
            <a:spLocks noGrp="1"/>
          </p:cNvSpPr>
          <p:nvPr/>
        </p:nvSpPr>
        <p:spPr>
          <a:xfrm>
            <a:off x="2495550"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6</a:t>
            </a:r>
          </a:p>
        </p:txBody>
      </p:sp>
      <p:sp>
        <p:nvSpPr>
          <p:cNvPr id="16" name="Teaching-429">
            <a:extLst>
              <a:ext uri="{FF2B5EF4-FFF2-40B4-BE49-F238E27FC236}">
                <a16:creationId xmlns:a16="http://schemas.microsoft.com/office/drawing/2014/main" id="{DBE502C0-DB4F-45F4-AECE-50695A49CCD4}"/>
              </a:ext>
            </a:extLst>
          </p:cNvPr>
          <p:cNvSpPr>
            <a:spLocks noGrp="1"/>
          </p:cNvSpPr>
          <p:nvPr/>
        </p:nvSpPr>
        <p:spPr>
          <a:xfrm>
            <a:off x="2952750" y="3267075"/>
            <a:ext cx="152400" cy="152400"/>
          </a:xfrm>
          <a:prstGeom prst="ellipse">
            <a:avLst/>
          </a:prstGeom>
          <a:solidFill>
            <a:srgbClr val="FFFFFF"/>
          </a:solidFill>
          <a:ln w="13335">
            <a:solidFill>
              <a:srgbClr val="8A959C"/>
            </a:solidFill>
          </a:ln>
        </p:spPr>
        <p:txBody>
          <a:bodyPr/>
          <a:lstStyle/>
          <a:p>
            <a:endParaRPr lang="en-US"/>
          </a:p>
        </p:txBody>
      </p:sp>
      <p:sp>
        <p:nvSpPr>
          <p:cNvPr id="17" name="Teaching-430">
            <a:extLst>
              <a:ext uri="{FF2B5EF4-FFF2-40B4-BE49-F238E27FC236}">
                <a16:creationId xmlns:a16="http://schemas.microsoft.com/office/drawing/2014/main" id="{A2DD9B40-A1C6-4DD9-8227-244AE93D1310}"/>
              </a:ext>
            </a:extLst>
          </p:cNvPr>
          <p:cNvSpPr>
            <a:spLocks noGrp="1"/>
          </p:cNvSpPr>
          <p:nvPr/>
        </p:nvSpPr>
        <p:spPr>
          <a:xfrm>
            <a:off x="2867025"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7</a:t>
            </a:r>
          </a:p>
        </p:txBody>
      </p:sp>
      <p:sp>
        <p:nvSpPr>
          <p:cNvPr id="18" name="Teaching-431">
            <a:extLst>
              <a:ext uri="{FF2B5EF4-FFF2-40B4-BE49-F238E27FC236}">
                <a16:creationId xmlns:a16="http://schemas.microsoft.com/office/drawing/2014/main" id="{D627F86C-D65B-4C19-A07E-BA88DD3E462E}"/>
              </a:ext>
            </a:extLst>
          </p:cNvPr>
          <p:cNvSpPr>
            <a:spLocks noGrp="1"/>
          </p:cNvSpPr>
          <p:nvPr/>
        </p:nvSpPr>
        <p:spPr>
          <a:xfrm>
            <a:off x="3324225" y="3267075"/>
            <a:ext cx="152400" cy="152400"/>
          </a:xfrm>
          <a:prstGeom prst="ellipse">
            <a:avLst/>
          </a:prstGeom>
          <a:solidFill>
            <a:srgbClr val="244E6A"/>
          </a:solidFill>
          <a:ln w="13335">
            <a:solidFill>
              <a:srgbClr val="244E6A"/>
            </a:solidFill>
          </a:ln>
        </p:spPr>
        <p:txBody>
          <a:bodyPr/>
          <a:lstStyle/>
          <a:p>
            <a:endParaRPr lang="en-US"/>
          </a:p>
        </p:txBody>
      </p:sp>
      <p:sp>
        <p:nvSpPr>
          <p:cNvPr id="19" name="Teaching-432">
            <a:extLst>
              <a:ext uri="{FF2B5EF4-FFF2-40B4-BE49-F238E27FC236}">
                <a16:creationId xmlns:a16="http://schemas.microsoft.com/office/drawing/2014/main" id="{CEA333FC-1A1A-465F-8B55-955B379FF6A7}"/>
              </a:ext>
            </a:extLst>
          </p:cNvPr>
          <p:cNvSpPr>
            <a:spLocks noGrp="1"/>
          </p:cNvSpPr>
          <p:nvPr/>
        </p:nvSpPr>
        <p:spPr>
          <a:xfrm>
            <a:off x="3238500"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8</a:t>
            </a:r>
          </a:p>
        </p:txBody>
      </p:sp>
      <p:sp>
        <p:nvSpPr>
          <p:cNvPr id="20" name="Teaching-433">
            <a:extLst>
              <a:ext uri="{FF2B5EF4-FFF2-40B4-BE49-F238E27FC236}">
                <a16:creationId xmlns:a16="http://schemas.microsoft.com/office/drawing/2014/main" id="{8E583A33-290B-46DC-B672-708EB72D5BF8}"/>
              </a:ext>
            </a:extLst>
          </p:cNvPr>
          <p:cNvSpPr>
            <a:spLocks noGrp="1"/>
          </p:cNvSpPr>
          <p:nvPr/>
        </p:nvSpPr>
        <p:spPr>
          <a:xfrm>
            <a:off x="3695700" y="3267075"/>
            <a:ext cx="152400" cy="152400"/>
          </a:xfrm>
          <a:prstGeom prst="ellipse">
            <a:avLst/>
          </a:prstGeom>
          <a:solidFill>
            <a:srgbClr val="FFFFFF"/>
          </a:solidFill>
          <a:ln w="13335">
            <a:solidFill>
              <a:srgbClr val="8A959C"/>
            </a:solidFill>
          </a:ln>
        </p:spPr>
        <p:txBody>
          <a:bodyPr/>
          <a:lstStyle/>
          <a:p>
            <a:endParaRPr lang="en-US"/>
          </a:p>
        </p:txBody>
      </p:sp>
      <p:sp>
        <p:nvSpPr>
          <p:cNvPr id="21" name="Teaching-434">
            <a:extLst>
              <a:ext uri="{FF2B5EF4-FFF2-40B4-BE49-F238E27FC236}">
                <a16:creationId xmlns:a16="http://schemas.microsoft.com/office/drawing/2014/main" id="{C0AE2850-5C05-40C2-B9E8-E7B178EAA49A}"/>
              </a:ext>
            </a:extLst>
          </p:cNvPr>
          <p:cNvSpPr>
            <a:spLocks noGrp="1"/>
          </p:cNvSpPr>
          <p:nvPr/>
        </p:nvSpPr>
        <p:spPr>
          <a:xfrm>
            <a:off x="3609975"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9</a:t>
            </a:r>
          </a:p>
        </p:txBody>
      </p:sp>
      <p:sp>
        <p:nvSpPr>
          <p:cNvPr id="22" name="Teaching-435">
            <a:extLst>
              <a:ext uri="{FF2B5EF4-FFF2-40B4-BE49-F238E27FC236}">
                <a16:creationId xmlns:a16="http://schemas.microsoft.com/office/drawing/2014/main" id="{C8FD5E10-4C7F-48E4-802B-A802BA3B86A0}"/>
              </a:ext>
            </a:extLst>
          </p:cNvPr>
          <p:cNvSpPr>
            <a:spLocks noGrp="1"/>
          </p:cNvSpPr>
          <p:nvPr/>
        </p:nvSpPr>
        <p:spPr>
          <a:xfrm>
            <a:off x="4067175" y="3267075"/>
            <a:ext cx="152400" cy="152400"/>
          </a:xfrm>
          <a:prstGeom prst="ellipse">
            <a:avLst/>
          </a:prstGeom>
          <a:solidFill>
            <a:srgbClr val="FFFFFF"/>
          </a:solidFill>
          <a:ln w="13335">
            <a:solidFill>
              <a:srgbClr val="8A959C"/>
            </a:solidFill>
          </a:ln>
        </p:spPr>
        <p:txBody>
          <a:bodyPr/>
          <a:lstStyle/>
          <a:p>
            <a:endParaRPr lang="en-US"/>
          </a:p>
        </p:txBody>
      </p:sp>
      <p:sp>
        <p:nvSpPr>
          <p:cNvPr id="23" name="Teaching-436">
            <a:extLst>
              <a:ext uri="{FF2B5EF4-FFF2-40B4-BE49-F238E27FC236}">
                <a16:creationId xmlns:a16="http://schemas.microsoft.com/office/drawing/2014/main" id="{AA220E2D-9C2D-4862-A3B8-335FB39EF30F}"/>
              </a:ext>
            </a:extLst>
          </p:cNvPr>
          <p:cNvSpPr>
            <a:spLocks noGrp="1"/>
          </p:cNvSpPr>
          <p:nvPr/>
        </p:nvSpPr>
        <p:spPr>
          <a:xfrm>
            <a:off x="3981450"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10</a:t>
            </a:r>
          </a:p>
        </p:txBody>
      </p:sp>
      <p:sp>
        <p:nvSpPr>
          <p:cNvPr id="24" name="Teaching-437">
            <a:extLst>
              <a:ext uri="{FF2B5EF4-FFF2-40B4-BE49-F238E27FC236}">
                <a16:creationId xmlns:a16="http://schemas.microsoft.com/office/drawing/2014/main" id="{AD27CC5A-1768-4732-B8D5-BB2AEC0F4579}"/>
              </a:ext>
            </a:extLst>
          </p:cNvPr>
          <p:cNvSpPr>
            <a:spLocks noGrp="1"/>
          </p:cNvSpPr>
          <p:nvPr/>
        </p:nvSpPr>
        <p:spPr>
          <a:xfrm>
            <a:off x="4438650" y="3267075"/>
            <a:ext cx="152400" cy="152400"/>
          </a:xfrm>
          <a:prstGeom prst="ellipse">
            <a:avLst/>
          </a:prstGeom>
          <a:solidFill>
            <a:srgbClr val="FFFFFF"/>
          </a:solidFill>
          <a:ln w="13335">
            <a:solidFill>
              <a:srgbClr val="8A959C"/>
            </a:solidFill>
          </a:ln>
        </p:spPr>
        <p:txBody>
          <a:bodyPr/>
          <a:lstStyle/>
          <a:p>
            <a:endParaRPr lang="en-US"/>
          </a:p>
        </p:txBody>
      </p:sp>
      <p:sp>
        <p:nvSpPr>
          <p:cNvPr id="25" name="Teaching-438">
            <a:extLst>
              <a:ext uri="{FF2B5EF4-FFF2-40B4-BE49-F238E27FC236}">
                <a16:creationId xmlns:a16="http://schemas.microsoft.com/office/drawing/2014/main" id="{0CE5AC1A-94C3-459F-9EBA-7AB12B8731C7}"/>
              </a:ext>
            </a:extLst>
          </p:cNvPr>
          <p:cNvSpPr>
            <a:spLocks noGrp="1"/>
          </p:cNvSpPr>
          <p:nvPr/>
        </p:nvSpPr>
        <p:spPr>
          <a:xfrm>
            <a:off x="4352925"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11</a:t>
            </a:r>
          </a:p>
        </p:txBody>
      </p:sp>
      <p:sp>
        <p:nvSpPr>
          <p:cNvPr id="26" name="Teaching-439">
            <a:extLst>
              <a:ext uri="{FF2B5EF4-FFF2-40B4-BE49-F238E27FC236}">
                <a16:creationId xmlns:a16="http://schemas.microsoft.com/office/drawing/2014/main" id="{38893281-E831-4C64-9FDA-B0AF170F4322}"/>
              </a:ext>
            </a:extLst>
          </p:cNvPr>
          <p:cNvSpPr>
            <a:spLocks noGrp="1"/>
          </p:cNvSpPr>
          <p:nvPr/>
        </p:nvSpPr>
        <p:spPr>
          <a:xfrm>
            <a:off x="4810125" y="3267075"/>
            <a:ext cx="152400" cy="152400"/>
          </a:xfrm>
          <a:prstGeom prst="ellipse">
            <a:avLst/>
          </a:prstGeom>
          <a:solidFill>
            <a:srgbClr val="244E6A"/>
          </a:solidFill>
          <a:ln w="13335">
            <a:solidFill>
              <a:srgbClr val="244E6A"/>
            </a:solidFill>
          </a:ln>
        </p:spPr>
        <p:txBody>
          <a:bodyPr/>
          <a:lstStyle/>
          <a:p>
            <a:endParaRPr lang="en-US"/>
          </a:p>
        </p:txBody>
      </p:sp>
      <p:sp>
        <p:nvSpPr>
          <p:cNvPr id="27" name="Teaching-440">
            <a:extLst>
              <a:ext uri="{FF2B5EF4-FFF2-40B4-BE49-F238E27FC236}">
                <a16:creationId xmlns:a16="http://schemas.microsoft.com/office/drawing/2014/main" id="{D253920D-A756-40AC-A10B-1F597E2B5921}"/>
              </a:ext>
            </a:extLst>
          </p:cNvPr>
          <p:cNvSpPr>
            <a:spLocks noGrp="1"/>
          </p:cNvSpPr>
          <p:nvPr/>
        </p:nvSpPr>
        <p:spPr>
          <a:xfrm>
            <a:off x="4724400"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12</a:t>
            </a:r>
          </a:p>
        </p:txBody>
      </p:sp>
      <p:sp>
        <p:nvSpPr>
          <p:cNvPr id="28" name="Teaching-441">
            <a:extLst>
              <a:ext uri="{FF2B5EF4-FFF2-40B4-BE49-F238E27FC236}">
                <a16:creationId xmlns:a16="http://schemas.microsoft.com/office/drawing/2014/main" id="{7235EB31-A113-4008-9B9E-069E585A4FCE}"/>
              </a:ext>
            </a:extLst>
          </p:cNvPr>
          <p:cNvSpPr>
            <a:spLocks noGrp="1"/>
          </p:cNvSpPr>
          <p:nvPr/>
        </p:nvSpPr>
        <p:spPr>
          <a:xfrm>
            <a:off x="619125" y="3857625"/>
            <a:ext cx="5095875" cy="361950"/>
          </a:xfrm>
          <a:prstGeom prst="rect">
            <a:avLst/>
          </a:prstGeom>
          <a:noFill/>
          <a:ln w="0">
            <a:noFill/>
          </a:ln>
        </p:spPr>
        <p:txBody>
          <a:bodyPr wrap="square" lIns="0" tIns="0" rIns="0" bIns="0" anchor="t">
            <a:noAutofit/>
          </a:bodyPr>
          <a:lstStyle/>
          <a:p>
            <a:pPr algn="l">
              <a:defRPr sz="1875" b="0">
                <a:solidFill>
                  <a:srgbClr val="111111"/>
                </a:solidFill>
                <a:latin typeface="Aptos"/>
                <a:ea typeface="Aptos"/>
                <a:cs typeface="Aptos"/>
              </a:defRPr>
            </a:pPr>
            <a:r>
              <a:t>4 distinct IDs from the complete list.</a:t>
            </a:r>
          </a:p>
        </p:txBody>
      </p:sp>
      <p:sp>
        <p:nvSpPr>
          <p:cNvPr id="29" name="Teaching-442">
            <a:extLst>
              <a:ext uri="{FF2B5EF4-FFF2-40B4-BE49-F238E27FC236}">
                <a16:creationId xmlns:a16="http://schemas.microsoft.com/office/drawing/2014/main" id="{2FC890B7-BF18-43C3-B11A-D03B0FD07206}"/>
              </a:ext>
            </a:extLst>
          </p:cNvPr>
          <p:cNvSpPr>
            <a:spLocks noGrp="1"/>
          </p:cNvSpPr>
          <p:nvPr/>
        </p:nvSpPr>
        <p:spPr>
          <a:xfrm>
            <a:off x="6619875" y="2733675"/>
            <a:ext cx="5048250" cy="409575"/>
          </a:xfrm>
          <a:prstGeom prst="rect">
            <a:avLst/>
          </a:prstGeom>
          <a:noFill/>
          <a:ln w="0">
            <a:noFill/>
          </a:ln>
        </p:spPr>
        <p:txBody>
          <a:bodyPr wrap="square" lIns="0" tIns="0" rIns="0" bIns="0" anchor="t">
            <a:noAutofit/>
          </a:bodyPr>
          <a:lstStyle/>
          <a:p>
            <a:pPr algn="l">
              <a:defRPr sz="2250" b="1">
                <a:solidFill>
                  <a:srgbClr val="111111"/>
                </a:solidFill>
                <a:latin typeface="Aptos"/>
                <a:ea typeface="Aptos"/>
                <a:cs typeface="Aptos"/>
              </a:defRPr>
            </a:pPr>
            <a:r>
              <a:t>SYSTEMATIC</a:t>
            </a:r>
          </a:p>
        </p:txBody>
      </p:sp>
      <p:sp>
        <p:nvSpPr>
          <p:cNvPr id="30" name="Teaching-443">
            <a:extLst>
              <a:ext uri="{FF2B5EF4-FFF2-40B4-BE49-F238E27FC236}">
                <a16:creationId xmlns:a16="http://schemas.microsoft.com/office/drawing/2014/main" id="{94CB0A06-9955-45EB-A24B-4DE9E4CDB769}"/>
              </a:ext>
            </a:extLst>
          </p:cNvPr>
          <p:cNvSpPr>
            <a:spLocks noGrp="1"/>
          </p:cNvSpPr>
          <p:nvPr/>
        </p:nvSpPr>
        <p:spPr>
          <a:xfrm>
            <a:off x="6705600" y="3267075"/>
            <a:ext cx="152400" cy="152400"/>
          </a:xfrm>
          <a:prstGeom prst="ellipse">
            <a:avLst/>
          </a:prstGeom>
          <a:solidFill>
            <a:srgbClr val="FFFFFF"/>
          </a:solidFill>
          <a:ln w="13335">
            <a:solidFill>
              <a:srgbClr val="8A959C"/>
            </a:solidFill>
          </a:ln>
        </p:spPr>
        <p:txBody>
          <a:bodyPr/>
          <a:lstStyle/>
          <a:p>
            <a:endParaRPr lang="en-US"/>
          </a:p>
        </p:txBody>
      </p:sp>
      <p:sp>
        <p:nvSpPr>
          <p:cNvPr id="31" name="Teaching-444">
            <a:extLst>
              <a:ext uri="{FF2B5EF4-FFF2-40B4-BE49-F238E27FC236}">
                <a16:creationId xmlns:a16="http://schemas.microsoft.com/office/drawing/2014/main" id="{903E484A-CB1F-4721-B135-5272A90368C5}"/>
              </a:ext>
            </a:extLst>
          </p:cNvPr>
          <p:cNvSpPr>
            <a:spLocks noGrp="1"/>
          </p:cNvSpPr>
          <p:nvPr/>
        </p:nvSpPr>
        <p:spPr>
          <a:xfrm>
            <a:off x="6619875"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1</a:t>
            </a:r>
          </a:p>
        </p:txBody>
      </p:sp>
      <p:sp>
        <p:nvSpPr>
          <p:cNvPr id="32" name="Teaching-445">
            <a:extLst>
              <a:ext uri="{FF2B5EF4-FFF2-40B4-BE49-F238E27FC236}">
                <a16:creationId xmlns:a16="http://schemas.microsoft.com/office/drawing/2014/main" id="{2121D155-8FE7-42FE-9387-45A69CFEBD51}"/>
              </a:ext>
            </a:extLst>
          </p:cNvPr>
          <p:cNvSpPr>
            <a:spLocks noGrp="1"/>
          </p:cNvSpPr>
          <p:nvPr/>
        </p:nvSpPr>
        <p:spPr>
          <a:xfrm>
            <a:off x="7077075" y="3267075"/>
            <a:ext cx="152400" cy="152400"/>
          </a:xfrm>
          <a:prstGeom prst="ellipse">
            <a:avLst/>
          </a:prstGeom>
          <a:solidFill>
            <a:srgbClr val="244E6A"/>
          </a:solidFill>
          <a:ln w="13335">
            <a:solidFill>
              <a:srgbClr val="244E6A"/>
            </a:solidFill>
          </a:ln>
        </p:spPr>
        <p:txBody>
          <a:bodyPr/>
          <a:lstStyle/>
          <a:p>
            <a:endParaRPr lang="en-US"/>
          </a:p>
        </p:txBody>
      </p:sp>
      <p:sp>
        <p:nvSpPr>
          <p:cNvPr id="33" name="Teaching-446">
            <a:extLst>
              <a:ext uri="{FF2B5EF4-FFF2-40B4-BE49-F238E27FC236}">
                <a16:creationId xmlns:a16="http://schemas.microsoft.com/office/drawing/2014/main" id="{5B9DA951-1402-4C65-983A-9AF8C241CE39}"/>
              </a:ext>
            </a:extLst>
          </p:cNvPr>
          <p:cNvSpPr>
            <a:spLocks noGrp="1"/>
          </p:cNvSpPr>
          <p:nvPr/>
        </p:nvSpPr>
        <p:spPr>
          <a:xfrm>
            <a:off x="6991350"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2</a:t>
            </a:r>
          </a:p>
        </p:txBody>
      </p:sp>
      <p:sp>
        <p:nvSpPr>
          <p:cNvPr id="34" name="Teaching-447">
            <a:extLst>
              <a:ext uri="{FF2B5EF4-FFF2-40B4-BE49-F238E27FC236}">
                <a16:creationId xmlns:a16="http://schemas.microsoft.com/office/drawing/2014/main" id="{A340C168-EE84-4D22-BBA7-06A6784D51C9}"/>
              </a:ext>
            </a:extLst>
          </p:cNvPr>
          <p:cNvSpPr>
            <a:spLocks noGrp="1"/>
          </p:cNvSpPr>
          <p:nvPr/>
        </p:nvSpPr>
        <p:spPr>
          <a:xfrm>
            <a:off x="7448550" y="3267075"/>
            <a:ext cx="152400" cy="152400"/>
          </a:xfrm>
          <a:prstGeom prst="ellipse">
            <a:avLst/>
          </a:prstGeom>
          <a:solidFill>
            <a:srgbClr val="FFFFFF"/>
          </a:solidFill>
          <a:ln w="13335">
            <a:solidFill>
              <a:srgbClr val="8A959C"/>
            </a:solidFill>
          </a:ln>
        </p:spPr>
        <p:txBody>
          <a:bodyPr/>
          <a:lstStyle/>
          <a:p>
            <a:endParaRPr lang="en-US"/>
          </a:p>
        </p:txBody>
      </p:sp>
      <p:sp>
        <p:nvSpPr>
          <p:cNvPr id="35" name="Teaching-448">
            <a:extLst>
              <a:ext uri="{FF2B5EF4-FFF2-40B4-BE49-F238E27FC236}">
                <a16:creationId xmlns:a16="http://schemas.microsoft.com/office/drawing/2014/main" id="{C699920C-0156-4336-A6DD-793BF8D10750}"/>
              </a:ext>
            </a:extLst>
          </p:cNvPr>
          <p:cNvSpPr>
            <a:spLocks noGrp="1"/>
          </p:cNvSpPr>
          <p:nvPr/>
        </p:nvSpPr>
        <p:spPr>
          <a:xfrm>
            <a:off x="7362825"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3</a:t>
            </a:r>
          </a:p>
        </p:txBody>
      </p:sp>
      <p:sp>
        <p:nvSpPr>
          <p:cNvPr id="36" name="Teaching-449">
            <a:extLst>
              <a:ext uri="{FF2B5EF4-FFF2-40B4-BE49-F238E27FC236}">
                <a16:creationId xmlns:a16="http://schemas.microsoft.com/office/drawing/2014/main" id="{06646E5C-EFFB-4920-A645-E36AC36FCD9F}"/>
              </a:ext>
            </a:extLst>
          </p:cNvPr>
          <p:cNvSpPr>
            <a:spLocks noGrp="1"/>
          </p:cNvSpPr>
          <p:nvPr/>
        </p:nvSpPr>
        <p:spPr>
          <a:xfrm>
            <a:off x="7820025" y="3267075"/>
            <a:ext cx="152400" cy="152400"/>
          </a:xfrm>
          <a:prstGeom prst="ellipse">
            <a:avLst/>
          </a:prstGeom>
          <a:solidFill>
            <a:srgbClr val="FFFFFF"/>
          </a:solidFill>
          <a:ln w="13335">
            <a:solidFill>
              <a:srgbClr val="8A959C"/>
            </a:solidFill>
          </a:ln>
        </p:spPr>
        <p:txBody>
          <a:bodyPr/>
          <a:lstStyle/>
          <a:p>
            <a:endParaRPr lang="en-US"/>
          </a:p>
        </p:txBody>
      </p:sp>
      <p:sp>
        <p:nvSpPr>
          <p:cNvPr id="37" name="Teaching-450">
            <a:extLst>
              <a:ext uri="{FF2B5EF4-FFF2-40B4-BE49-F238E27FC236}">
                <a16:creationId xmlns:a16="http://schemas.microsoft.com/office/drawing/2014/main" id="{C4248CD3-44CD-43D9-B224-A5AE7EA0CB30}"/>
              </a:ext>
            </a:extLst>
          </p:cNvPr>
          <p:cNvSpPr>
            <a:spLocks noGrp="1"/>
          </p:cNvSpPr>
          <p:nvPr/>
        </p:nvSpPr>
        <p:spPr>
          <a:xfrm>
            <a:off x="7734300"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4</a:t>
            </a:r>
          </a:p>
        </p:txBody>
      </p:sp>
      <p:sp>
        <p:nvSpPr>
          <p:cNvPr id="38" name="Teaching-451">
            <a:extLst>
              <a:ext uri="{FF2B5EF4-FFF2-40B4-BE49-F238E27FC236}">
                <a16:creationId xmlns:a16="http://schemas.microsoft.com/office/drawing/2014/main" id="{BD88F998-2EE6-4277-A28B-CB437FEB2CBC}"/>
              </a:ext>
            </a:extLst>
          </p:cNvPr>
          <p:cNvSpPr>
            <a:spLocks noGrp="1"/>
          </p:cNvSpPr>
          <p:nvPr/>
        </p:nvSpPr>
        <p:spPr>
          <a:xfrm>
            <a:off x="8191500" y="3267075"/>
            <a:ext cx="152400" cy="152400"/>
          </a:xfrm>
          <a:prstGeom prst="ellipse">
            <a:avLst/>
          </a:prstGeom>
          <a:solidFill>
            <a:srgbClr val="244E6A"/>
          </a:solidFill>
          <a:ln w="13335">
            <a:solidFill>
              <a:srgbClr val="244E6A"/>
            </a:solidFill>
          </a:ln>
        </p:spPr>
        <p:txBody>
          <a:bodyPr/>
          <a:lstStyle/>
          <a:p>
            <a:endParaRPr lang="en-US"/>
          </a:p>
        </p:txBody>
      </p:sp>
      <p:sp>
        <p:nvSpPr>
          <p:cNvPr id="39" name="Teaching-452">
            <a:extLst>
              <a:ext uri="{FF2B5EF4-FFF2-40B4-BE49-F238E27FC236}">
                <a16:creationId xmlns:a16="http://schemas.microsoft.com/office/drawing/2014/main" id="{A77405EF-E349-4C42-9602-7FD03A1D8CA8}"/>
              </a:ext>
            </a:extLst>
          </p:cNvPr>
          <p:cNvSpPr>
            <a:spLocks noGrp="1"/>
          </p:cNvSpPr>
          <p:nvPr/>
        </p:nvSpPr>
        <p:spPr>
          <a:xfrm>
            <a:off x="8105775"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5</a:t>
            </a:r>
          </a:p>
        </p:txBody>
      </p:sp>
      <p:sp>
        <p:nvSpPr>
          <p:cNvPr id="40" name="Teaching-453">
            <a:extLst>
              <a:ext uri="{FF2B5EF4-FFF2-40B4-BE49-F238E27FC236}">
                <a16:creationId xmlns:a16="http://schemas.microsoft.com/office/drawing/2014/main" id="{A03EACC8-6835-49C3-82C0-62800A8B3CA8}"/>
              </a:ext>
            </a:extLst>
          </p:cNvPr>
          <p:cNvSpPr>
            <a:spLocks noGrp="1"/>
          </p:cNvSpPr>
          <p:nvPr/>
        </p:nvSpPr>
        <p:spPr>
          <a:xfrm>
            <a:off x="8562975" y="3267075"/>
            <a:ext cx="152400" cy="152400"/>
          </a:xfrm>
          <a:prstGeom prst="ellipse">
            <a:avLst/>
          </a:prstGeom>
          <a:solidFill>
            <a:srgbClr val="FFFFFF"/>
          </a:solidFill>
          <a:ln w="13335">
            <a:solidFill>
              <a:srgbClr val="8A959C"/>
            </a:solidFill>
          </a:ln>
        </p:spPr>
        <p:txBody>
          <a:bodyPr/>
          <a:lstStyle/>
          <a:p>
            <a:endParaRPr lang="en-US"/>
          </a:p>
        </p:txBody>
      </p:sp>
      <p:sp>
        <p:nvSpPr>
          <p:cNvPr id="41" name="Teaching-454">
            <a:extLst>
              <a:ext uri="{FF2B5EF4-FFF2-40B4-BE49-F238E27FC236}">
                <a16:creationId xmlns:a16="http://schemas.microsoft.com/office/drawing/2014/main" id="{2B6D6448-86E9-4A0F-90D6-B054296229F3}"/>
              </a:ext>
            </a:extLst>
          </p:cNvPr>
          <p:cNvSpPr>
            <a:spLocks noGrp="1"/>
          </p:cNvSpPr>
          <p:nvPr/>
        </p:nvSpPr>
        <p:spPr>
          <a:xfrm>
            <a:off x="8477250"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6</a:t>
            </a:r>
          </a:p>
        </p:txBody>
      </p:sp>
      <p:sp>
        <p:nvSpPr>
          <p:cNvPr id="42" name="Teaching-455">
            <a:extLst>
              <a:ext uri="{FF2B5EF4-FFF2-40B4-BE49-F238E27FC236}">
                <a16:creationId xmlns:a16="http://schemas.microsoft.com/office/drawing/2014/main" id="{3C166722-9993-47B0-970C-62C24424F626}"/>
              </a:ext>
            </a:extLst>
          </p:cNvPr>
          <p:cNvSpPr>
            <a:spLocks noGrp="1"/>
          </p:cNvSpPr>
          <p:nvPr/>
        </p:nvSpPr>
        <p:spPr>
          <a:xfrm>
            <a:off x="8934450" y="3267075"/>
            <a:ext cx="152400" cy="152400"/>
          </a:xfrm>
          <a:prstGeom prst="ellipse">
            <a:avLst/>
          </a:prstGeom>
          <a:solidFill>
            <a:srgbClr val="FFFFFF"/>
          </a:solidFill>
          <a:ln w="13335">
            <a:solidFill>
              <a:srgbClr val="8A959C"/>
            </a:solidFill>
          </a:ln>
        </p:spPr>
        <p:txBody>
          <a:bodyPr/>
          <a:lstStyle/>
          <a:p>
            <a:endParaRPr lang="en-US"/>
          </a:p>
        </p:txBody>
      </p:sp>
      <p:sp>
        <p:nvSpPr>
          <p:cNvPr id="43" name="Teaching-456">
            <a:extLst>
              <a:ext uri="{FF2B5EF4-FFF2-40B4-BE49-F238E27FC236}">
                <a16:creationId xmlns:a16="http://schemas.microsoft.com/office/drawing/2014/main" id="{D4450BB9-AE55-4226-BE6E-5597C67E7D6B}"/>
              </a:ext>
            </a:extLst>
          </p:cNvPr>
          <p:cNvSpPr>
            <a:spLocks noGrp="1"/>
          </p:cNvSpPr>
          <p:nvPr/>
        </p:nvSpPr>
        <p:spPr>
          <a:xfrm>
            <a:off x="8848725"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7</a:t>
            </a:r>
          </a:p>
        </p:txBody>
      </p:sp>
      <p:sp>
        <p:nvSpPr>
          <p:cNvPr id="44" name="Teaching-457">
            <a:extLst>
              <a:ext uri="{FF2B5EF4-FFF2-40B4-BE49-F238E27FC236}">
                <a16:creationId xmlns:a16="http://schemas.microsoft.com/office/drawing/2014/main" id="{4026EE96-B992-45A5-9AEE-ACAF91E267D3}"/>
              </a:ext>
            </a:extLst>
          </p:cNvPr>
          <p:cNvSpPr>
            <a:spLocks noGrp="1"/>
          </p:cNvSpPr>
          <p:nvPr/>
        </p:nvSpPr>
        <p:spPr>
          <a:xfrm>
            <a:off x="9305925" y="3267075"/>
            <a:ext cx="152400" cy="152400"/>
          </a:xfrm>
          <a:prstGeom prst="ellipse">
            <a:avLst/>
          </a:prstGeom>
          <a:solidFill>
            <a:srgbClr val="244E6A"/>
          </a:solidFill>
          <a:ln w="13335">
            <a:solidFill>
              <a:srgbClr val="244E6A"/>
            </a:solidFill>
          </a:ln>
        </p:spPr>
        <p:txBody>
          <a:bodyPr/>
          <a:lstStyle/>
          <a:p>
            <a:endParaRPr lang="en-US"/>
          </a:p>
        </p:txBody>
      </p:sp>
      <p:sp>
        <p:nvSpPr>
          <p:cNvPr id="45" name="Teaching-458">
            <a:extLst>
              <a:ext uri="{FF2B5EF4-FFF2-40B4-BE49-F238E27FC236}">
                <a16:creationId xmlns:a16="http://schemas.microsoft.com/office/drawing/2014/main" id="{0BEA30E9-EFD7-48A7-AA4D-FDD77B522496}"/>
              </a:ext>
            </a:extLst>
          </p:cNvPr>
          <p:cNvSpPr>
            <a:spLocks noGrp="1"/>
          </p:cNvSpPr>
          <p:nvPr/>
        </p:nvSpPr>
        <p:spPr>
          <a:xfrm>
            <a:off x="9220200"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8</a:t>
            </a:r>
          </a:p>
        </p:txBody>
      </p:sp>
      <p:sp>
        <p:nvSpPr>
          <p:cNvPr id="46" name="Teaching-459">
            <a:extLst>
              <a:ext uri="{FF2B5EF4-FFF2-40B4-BE49-F238E27FC236}">
                <a16:creationId xmlns:a16="http://schemas.microsoft.com/office/drawing/2014/main" id="{6B06078A-4059-489C-AC02-1D9037E8DB50}"/>
              </a:ext>
            </a:extLst>
          </p:cNvPr>
          <p:cNvSpPr>
            <a:spLocks noGrp="1"/>
          </p:cNvSpPr>
          <p:nvPr/>
        </p:nvSpPr>
        <p:spPr>
          <a:xfrm>
            <a:off x="9677400" y="3267075"/>
            <a:ext cx="152400" cy="152400"/>
          </a:xfrm>
          <a:prstGeom prst="ellipse">
            <a:avLst/>
          </a:prstGeom>
          <a:solidFill>
            <a:srgbClr val="FFFFFF"/>
          </a:solidFill>
          <a:ln w="13335">
            <a:solidFill>
              <a:srgbClr val="8A959C"/>
            </a:solidFill>
          </a:ln>
        </p:spPr>
        <p:txBody>
          <a:bodyPr/>
          <a:lstStyle/>
          <a:p>
            <a:endParaRPr lang="en-US"/>
          </a:p>
        </p:txBody>
      </p:sp>
      <p:sp>
        <p:nvSpPr>
          <p:cNvPr id="47" name="Teaching-460">
            <a:extLst>
              <a:ext uri="{FF2B5EF4-FFF2-40B4-BE49-F238E27FC236}">
                <a16:creationId xmlns:a16="http://schemas.microsoft.com/office/drawing/2014/main" id="{0AB7873D-1122-4880-ABC6-C8953C91E19D}"/>
              </a:ext>
            </a:extLst>
          </p:cNvPr>
          <p:cNvSpPr>
            <a:spLocks noGrp="1"/>
          </p:cNvSpPr>
          <p:nvPr/>
        </p:nvSpPr>
        <p:spPr>
          <a:xfrm>
            <a:off x="9591675"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9</a:t>
            </a:r>
          </a:p>
        </p:txBody>
      </p:sp>
      <p:sp>
        <p:nvSpPr>
          <p:cNvPr id="48" name="Teaching-461">
            <a:extLst>
              <a:ext uri="{FF2B5EF4-FFF2-40B4-BE49-F238E27FC236}">
                <a16:creationId xmlns:a16="http://schemas.microsoft.com/office/drawing/2014/main" id="{34E029C4-12F6-4B33-9EC7-900EF1CDC651}"/>
              </a:ext>
            </a:extLst>
          </p:cNvPr>
          <p:cNvSpPr>
            <a:spLocks noGrp="1"/>
          </p:cNvSpPr>
          <p:nvPr/>
        </p:nvSpPr>
        <p:spPr>
          <a:xfrm>
            <a:off x="10048875" y="3267075"/>
            <a:ext cx="152400" cy="152400"/>
          </a:xfrm>
          <a:prstGeom prst="ellipse">
            <a:avLst/>
          </a:prstGeom>
          <a:solidFill>
            <a:srgbClr val="FFFFFF"/>
          </a:solidFill>
          <a:ln w="13335">
            <a:solidFill>
              <a:srgbClr val="8A959C"/>
            </a:solidFill>
          </a:ln>
        </p:spPr>
        <p:txBody>
          <a:bodyPr/>
          <a:lstStyle/>
          <a:p>
            <a:endParaRPr lang="en-US"/>
          </a:p>
        </p:txBody>
      </p:sp>
      <p:sp>
        <p:nvSpPr>
          <p:cNvPr id="49" name="Teaching-462">
            <a:extLst>
              <a:ext uri="{FF2B5EF4-FFF2-40B4-BE49-F238E27FC236}">
                <a16:creationId xmlns:a16="http://schemas.microsoft.com/office/drawing/2014/main" id="{FFB2B1CE-B7E5-459B-B35C-673EFF4FC0C1}"/>
              </a:ext>
            </a:extLst>
          </p:cNvPr>
          <p:cNvSpPr>
            <a:spLocks noGrp="1"/>
          </p:cNvSpPr>
          <p:nvPr/>
        </p:nvSpPr>
        <p:spPr>
          <a:xfrm>
            <a:off x="9963150"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10</a:t>
            </a:r>
          </a:p>
        </p:txBody>
      </p:sp>
      <p:sp>
        <p:nvSpPr>
          <p:cNvPr id="50" name="Teaching-463">
            <a:extLst>
              <a:ext uri="{FF2B5EF4-FFF2-40B4-BE49-F238E27FC236}">
                <a16:creationId xmlns:a16="http://schemas.microsoft.com/office/drawing/2014/main" id="{FAF28350-AD63-454A-87AB-A876EA26512D}"/>
              </a:ext>
            </a:extLst>
          </p:cNvPr>
          <p:cNvSpPr>
            <a:spLocks noGrp="1"/>
          </p:cNvSpPr>
          <p:nvPr/>
        </p:nvSpPr>
        <p:spPr>
          <a:xfrm>
            <a:off x="10420350" y="3267075"/>
            <a:ext cx="152400" cy="152400"/>
          </a:xfrm>
          <a:prstGeom prst="ellipse">
            <a:avLst/>
          </a:prstGeom>
          <a:solidFill>
            <a:srgbClr val="244E6A"/>
          </a:solidFill>
          <a:ln w="13335">
            <a:solidFill>
              <a:srgbClr val="244E6A"/>
            </a:solidFill>
          </a:ln>
        </p:spPr>
        <p:txBody>
          <a:bodyPr/>
          <a:lstStyle/>
          <a:p>
            <a:endParaRPr lang="en-US"/>
          </a:p>
        </p:txBody>
      </p:sp>
      <p:sp>
        <p:nvSpPr>
          <p:cNvPr id="51" name="Teaching-464">
            <a:extLst>
              <a:ext uri="{FF2B5EF4-FFF2-40B4-BE49-F238E27FC236}">
                <a16:creationId xmlns:a16="http://schemas.microsoft.com/office/drawing/2014/main" id="{7D242653-6714-4C98-88B0-94633BA5F9B8}"/>
              </a:ext>
            </a:extLst>
          </p:cNvPr>
          <p:cNvSpPr>
            <a:spLocks noGrp="1"/>
          </p:cNvSpPr>
          <p:nvPr/>
        </p:nvSpPr>
        <p:spPr>
          <a:xfrm>
            <a:off x="10334625"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11</a:t>
            </a:r>
          </a:p>
        </p:txBody>
      </p:sp>
      <p:sp>
        <p:nvSpPr>
          <p:cNvPr id="52" name="Teaching-465">
            <a:extLst>
              <a:ext uri="{FF2B5EF4-FFF2-40B4-BE49-F238E27FC236}">
                <a16:creationId xmlns:a16="http://schemas.microsoft.com/office/drawing/2014/main" id="{F026B819-312E-40CE-A778-E49DC8D93F95}"/>
              </a:ext>
            </a:extLst>
          </p:cNvPr>
          <p:cNvSpPr>
            <a:spLocks noGrp="1"/>
          </p:cNvSpPr>
          <p:nvPr/>
        </p:nvSpPr>
        <p:spPr>
          <a:xfrm>
            <a:off x="10791825" y="3267075"/>
            <a:ext cx="152400" cy="152400"/>
          </a:xfrm>
          <a:prstGeom prst="ellipse">
            <a:avLst/>
          </a:prstGeom>
          <a:solidFill>
            <a:srgbClr val="FFFFFF"/>
          </a:solidFill>
          <a:ln w="13335">
            <a:solidFill>
              <a:srgbClr val="8A959C"/>
            </a:solidFill>
          </a:ln>
        </p:spPr>
        <p:txBody>
          <a:bodyPr/>
          <a:lstStyle/>
          <a:p>
            <a:endParaRPr lang="en-US"/>
          </a:p>
        </p:txBody>
      </p:sp>
      <p:sp>
        <p:nvSpPr>
          <p:cNvPr id="53" name="Teaching-466">
            <a:extLst>
              <a:ext uri="{FF2B5EF4-FFF2-40B4-BE49-F238E27FC236}">
                <a16:creationId xmlns:a16="http://schemas.microsoft.com/office/drawing/2014/main" id="{9196725F-21D6-479E-87A7-31D9C0CD3C5B}"/>
              </a:ext>
            </a:extLst>
          </p:cNvPr>
          <p:cNvSpPr>
            <a:spLocks noGrp="1"/>
          </p:cNvSpPr>
          <p:nvPr/>
        </p:nvSpPr>
        <p:spPr>
          <a:xfrm>
            <a:off x="10706100" y="3524250"/>
            <a:ext cx="323850" cy="257175"/>
          </a:xfrm>
          <a:prstGeom prst="rect">
            <a:avLst/>
          </a:prstGeom>
          <a:noFill/>
          <a:ln w="0">
            <a:noFill/>
          </a:ln>
        </p:spPr>
        <p:txBody>
          <a:bodyPr wrap="square" lIns="0" tIns="0" rIns="0" bIns="0" anchor="t">
            <a:noAutofit/>
          </a:bodyPr>
          <a:lstStyle/>
          <a:p>
            <a:pPr algn="ctr">
              <a:defRPr sz="1500" b="0">
                <a:solidFill>
                  <a:srgbClr val="111111"/>
                </a:solidFill>
                <a:latin typeface="Aptos"/>
                <a:ea typeface="Aptos"/>
                <a:cs typeface="Aptos"/>
              </a:defRPr>
            </a:pPr>
            <a:r>
              <a:t>12</a:t>
            </a:r>
          </a:p>
        </p:txBody>
      </p:sp>
      <p:sp>
        <p:nvSpPr>
          <p:cNvPr id="54" name="Teaching-467">
            <a:extLst>
              <a:ext uri="{FF2B5EF4-FFF2-40B4-BE49-F238E27FC236}">
                <a16:creationId xmlns:a16="http://schemas.microsoft.com/office/drawing/2014/main" id="{8C7B5720-DB9E-4A54-A6BF-10A35A9FA376}"/>
              </a:ext>
            </a:extLst>
          </p:cNvPr>
          <p:cNvSpPr>
            <a:spLocks noGrp="1"/>
          </p:cNvSpPr>
          <p:nvPr/>
        </p:nvSpPr>
        <p:spPr>
          <a:xfrm>
            <a:off x="6619875" y="3857625"/>
            <a:ext cx="5143500" cy="361950"/>
          </a:xfrm>
          <a:prstGeom prst="rect">
            <a:avLst/>
          </a:prstGeom>
          <a:noFill/>
          <a:ln w="0">
            <a:noFill/>
          </a:ln>
        </p:spPr>
        <p:txBody>
          <a:bodyPr wrap="square" lIns="0" tIns="0" rIns="0" bIns="0" anchor="t">
            <a:noAutofit/>
          </a:bodyPr>
          <a:lstStyle/>
          <a:p>
            <a:pPr algn="l">
              <a:defRPr sz="1875" b="0">
                <a:solidFill>
                  <a:srgbClr val="111111"/>
                </a:solidFill>
                <a:latin typeface="Aptos"/>
                <a:ea typeface="Aptos"/>
                <a:cs typeface="Aptos"/>
              </a:defRPr>
            </a:pPr>
            <a:r>
              <a:t>Random start 2, then every 3rd person.</a:t>
            </a:r>
          </a:p>
        </p:txBody>
      </p:sp>
      <p:sp>
        <p:nvSpPr>
          <p:cNvPr id="55" name="Teaching-468">
            <a:extLst>
              <a:ext uri="{FF2B5EF4-FFF2-40B4-BE49-F238E27FC236}">
                <a16:creationId xmlns:a16="http://schemas.microsoft.com/office/drawing/2014/main" id="{D62AD043-FA1E-47FA-9B1D-EEE74EA2F252}"/>
              </a:ext>
            </a:extLst>
          </p:cNvPr>
          <p:cNvSpPr>
            <a:spLocks noGrp="1"/>
          </p:cNvSpPr>
          <p:nvPr/>
        </p:nvSpPr>
        <p:spPr>
          <a:xfrm>
            <a:off x="619125" y="4362450"/>
            <a:ext cx="10858500" cy="0"/>
          </a:xfrm>
          <a:prstGeom prst="line">
            <a:avLst/>
          </a:prstGeom>
          <a:noFill/>
          <a:ln w="9525">
            <a:solidFill>
              <a:srgbClr val="8A959C"/>
            </a:solidFill>
          </a:ln>
        </p:spPr>
        <p:txBody>
          <a:bodyPr/>
          <a:lstStyle/>
          <a:p>
            <a:endParaRPr lang="en-US"/>
          </a:p>
        </p:txBody>
      </p:sp>
      <p:sp>
        <p:nvSpPr>
          <p:cNvPr id="56" name="Teaching-469">
            <a:extLst>
              <a:ext uri="{FF2B5EF4-FFF2-40B4-BE49-F238E27FC236}">
                <a16:creationId xmlns:a16="http://schemas.microsoft.com/office/drawing/2014/main" id="{41567716-A10A-4140-83F1-8B659D27DBC7}"/>
              </a:ext>
            </a:extLst>
          </p:cNvPr>
          <p:cNvSpPr>
            <a:spLocks noGrp="1"/>
          </p:cNvSpPr>
          <p:nvPr/>
        </p:nvSpPr>
        <p:spPr>
          <a:xfrm>
            <a:off x="619125" y="4591050"/>
            <a:ext cx="5048250" cy="400050"/>
          </a:xfrm>
          <a:prstGeom prst="rect">
            <a:avLst/>
          </a:prstGeom>
          <a:noFill/>
          <a:ln w="0">
            <a:noFill/>
          </a:ln>
        </p:spPr>
        <p:txBody>
          <a:bodyPr wrap="square" lIns="0" tIns="0" rIns="0" bIns="0" anchor="t">
            <a:noAutofit/>
          </a:bodyPr>
          <a:lstStyle/>
          <a:p>
            <a:pPr algn="l">
              <a:defRPr sz="2250" b="1">
                <a:solidFill>
                  <a:srgbClr val="111111"/>
                </a:solidFill>
                <a:latin typeface="Aptos"/>
                <a:ea typeface="Aptos"/>
                <a:cs typeface="Aptos"/>
              </a:defRPr>
            </a:pPr>
            <a:r>
              <a:t>STRATIFIED</a:t>
            </a:r>
          </a:p>
        </p:txBody>
      </p:sp>
      <p:sp>
        <p:nvSpPr>
          <p:cNvPr id="57" name="Teaching-470">
            <a:extLst>
              <a:ext uri="{FF2B5EF4-FFF2-40B4-BE49-F238E27FC236}">
                <a16:creationId xmlns:a16="http://schemas.microsoft.com/office/drawing/2014/main" id="{1EFBC90C-DD9A-4B94-B9B7-4CD15AB2EACA}"/>
              </a:ext>
            </a:extLst>
          </p:cNvPr>
          <p:cNvSpPr>
            <a:spLocks noGrp="1"/>
          </p:cNvSpPr>
          <p:nvPr/>
        </p:nvSpPr>
        <p:spPr>
          <a:xfrm>
            <a:off x="619125" y="5095875"/>
            <a:ext cx="2152650" cy="542925"/>
          </a:xfrm>
          <a:prstGeom prst="rect">
            <a:avLst/>
          </a:prstGeom>
          <a:solidFill>
            <a:srgbClr val="FFFFFF"/>
          </a:solidFill>
          <a:ln w="9525">
            <a:solidFill>
              <a:srgbClr val="8A959C"/>
            </a:solidFill>
          </a:ln>
        </p:spPr>
        <p:txBody>
          <a:bodyPr/>
          <a:lstStyle/>
          <a:p>
            <a:endParaRPr lang="en-US"/>
          </a:p>
        </p:txBody>
      </p:sp>
      <p:sp>
        <p:nvSpPr>
          <p:cNvPr id="58" name="Teaching-471">
            <a:extLst>
              <a:ext uri="{FF2B5EF4-FFF2-40B4-BE49-F238E27FC236}">
                <a16:creationId xmlns:a16="http://schemas.microsoft.com/office/drawing/2014/main" id="{B68C54D0-B0AB-4F7A-9D5C-1FCCCDD63052}"/>
              </a:ext>
            </a:extLst>
          </p:cNvPr>
          <p:cNvSpPr>
            <a:spLocks noGrp="1"/>
          </p:cNvSpPr>
          <p:nvPr/>
        </p:nvSpPr>
        <p:spPr>
          <a:xfrm>
            <a:off x="771525" y="5295900"/>
            <a:ext cx="133350" cy="133350"/>
          </a:xfrm>
          <a:prstGeom prst="ellipse">
            <a:avLst/>
          </a:prstGeom>
          <a:solidFill>
            <a:srgbClr val="244E6A"/>
          </a:solidFill>
          <a:ln w="13335">
            <a:solidFill>
              <a:srgbClr val="244E6A"/>
            </a:solidFill>
          </a:ln>
        </p:spPr>
        <p:txBody>
          <a:bodyPr/>
          <a:lstStyle/>
          <a:p>
            <a:endParaRPr lang="en-US"/>
          </a:p>
        </p:txBody>
      </p:sp>
      <p:sp>
        <p:nvSpPr>
          <p:cNvPr id="59" name="Teaching-472">
            <a:extLst>
              <a:ext uri="{FF2B5EF4-FFF2-40B4-BE49-F238E27FC236}">
                <a16:creationId xmlns:a16="http://schemas.microsoft.com/office/drawing/2014/main" id="{5BFB96C4-8778-48F2-BDB2-943C93563BB2}"/>
              </a:ext>
            </a:extLst>
          </p:cNvPr>
          <p:cNvSpPr>
            <a:spLocks noGrp="1"/>
          </p:cNvSpPr>
          <p:nvPr/>
        </p:nvSpPr>
        <p:spPr>
          <a:xfrm>
            <a:off x="1114425" y="5295900"/>
            <a:ext cx="133350" cy="133350"/>
          </a:xfrm>
          <a:prstGeom prst="ellipse">
            <a:avLst/>
          </a:prstGeom>
          <a:solidFill>
            <a:srgbClr val="FFFFFF"/>
          </a:solidFill>
          <a:ln w="13335">
            <a:solidFill>
              <a:srgbClr val="8A959C"/>
            </a:solidFill>
          </a:ln>
        </p:spPr>
        <p:txBody>
          <a:bodyPr/>
          <a:lstStyle/>
          <a:p>
            <a:endParaRPr lang="en-US"/>
          </a:p>
        </p:txBody>
      </p:sp>
      <p:sp>
        <p:nvSpPr>
          <p:cNvPr id="60" name="Teaching-473">
            <a:extLst>
              <a:ext uri="{FF2B5EF4-FFF2-40B4-BE49-F238E27FC236}">
                <a16:creationId xmlns:a16="http://schemas.microsoft.com/office/drawing/2014/main" id="{CFDAB313-CE2E-4CF8-BA57-88A58525E424}"/>
              </a:ext>
            </a:extLst>
          </p:cNvPr>
          <p:cNvSpPr>
            <a:spLocks noGrp="1"/>
          </p:cNvSpPr>
          <p:nvPr/>
        </p:nvSpPr>
        <p:spPr>
          <a:xfrm>
            <a:off x="1457325" y="5295900"/>
            <a:ext cx="133350" cy="133350"/>
          </a:xfrm>
          <a:prstGeom prst="ellipse">
            <a:avLst/>
          </a:prstGeom>
          <a:solidFill>
            <a:srgbClr val="FFFFFF"/>
          </a:solidFill>
          <a:ln w="13335">
            <a:solidFill>
              <a:srgbClr val="8A959C"/>
            </a:solidFill>
          </a:ln>
        </p:spPr>
        <p:txBody>
          <a:bodyPr/>
          <a:lstStyle/>
          <a:p>
            <a:endParaRPr lang="en-US"/>
          </a:p>
        </p:txBody>
      </p:sp>
      <p:sp>
        <p:nvSpPr>
          <p:cNvPr id="61" name="Teaching-474">
            <a:extLst>
              <a:ext uri="{FF2B5EF4-FFF2-40B4-BE49-F238E27FC236}">
                <a16:creationId xmlns:a16="http://schemas.microsoft.com/office/drawing/2014/main" id="{8031AE61-5537-46E7-81D2-D262ED99A4B0}"/>
              </a:ext>
            </a:extLst>
          </p:cNvPr>
          <p:cNvSpPr>
            <a:spLocks noGrp="1"/>
          </p:cNvSpPr>
          <p:nvPr/>
        </p:nvSpPr>
        <p:spPr>
          <a:xfrm>
            <a:off x="1800225" y="5295900"/>
            <a:ext cx="133350" cy="133350"/>
          </a:xfrm>
          <a:prstGeom prst="ellipse">
            <a:avLst/>
          </a:prstGeom>
          <a:solidFill>
            <a:srgbClr val="FFFFFF"/>
          </a:solidFill>
          <a:ln w="13335">
            <a:solidFill>
              <a:srgbClr val="8A959C"/>
            </a:solidFill>
          </a:ln>
        </p:spPr>
        <p:txBody>
          <a:bodyPr/>
          <a:lstStyle/>
          <a:p>
            <a:endParaRPr lang="en-US"/>
          </a:p>
        </p:txBody>
      </p:sp>
      <p:sp>
        <p:nvSpPr>
          <p:cNvPr id="62" name="Teaching-475">
            <a:extLst>
              <a:ext uri="{FF2B5EF4-FFF2-40B4-BE49-F238E27FC236}">
                <a16:creationId xmlns:a16="http://schemas.microsoft.com/office/drawing/2014/main" id="{CE9BFA67-A131-40A2-8647-A78F0B17B60E}"/>
              </a:ext>
            </a:extLst>
          </p:cNvPr>
          <p:cNvSpPr>
            <a:spLocks noGrp="1"/>
          </p:cNvSpPr>
          <p:nvPr/>
        </p:nvSpPr>
        <p:spPr>
          <a:xfrm>
            <a:off x="2143125" y="5295900"/>
            <a:ext cx="133350" cy="133350"/>
          </a:xfrm>
          <a:prstGeom prst="ellipse">
            <a:avLst/>
          </a:prstGeom>
          <a:solidFill>
            <a:srgbClr val="244E6A"/>
          </a:solidFill>
          <a:ln w="13335">
            <a:solidFill>
              <a:srgbClr val="244E6A"/>
            </a:solidFill>
          </a:ln>
        </p:spPr>
        <p:txBody>
          <a:bodyPr/>
          <a:lstStyle/>
          <a:p>
            <a:endParaRPr lang="en-US"/>
          </a:p>
        </p:txBody>
      </p:sp>
      <p:sp>
        <p:nvSpPr>
          <p:cNvPr id="63" name="Teaching-476">
            <a:extLst>
              <a:ext uri="{FF2B5EF4-FFF2-40B4-BE49-F238E27FC236}">
                <a16:creationId xmlns:a16="http://schemas.microsoft.com/office/drawing/2014/main" id="{3E839512-67FA-498A-BFEC-4578A5687C64}"/>
              </a:ext>
            </a:extLst>
          </p:cNvPr>
          <p:cNvSpPr>
            <a:spLocks noGrp="1"/>
          </p:cNvSpPr>
          <p:nvPr/>
        </p:nvSpPr>
        <p:spPr>
          <a:xfrm>
            <a:off x="2486025" y="5295900"/>
            <a:ext cx="133350" cy="133350"/>
          </a:xfrm>
          <a:prstGeom prst="ellipse">
            <a:avLst/>
          </a:prstGeom>
          <a:solidFill>
            <a:srgbClr val="FFFFFF"/>
          </a:solidFill>
          <a:ln w="13335">
            <a:solidFill>
              <a:srgbClr val="8A959C"/>
            </a:solidFill>
          </a:ln>
        </p:spPr>
        <p:txBody>
          <a:bodyPr/>
          <a:lstStyle/>
          <a:p>
            <a:endParaRPr lang="en-US"/>
          </a:p>
        </p:txBody>
      </p:sp>
      <p:sp>
        <p:nvSpPr>
          <p:cNvPr id="64" name="Teaching-477">
            <a:extLst>
              <a:ext uri="{FF2B5EF4-FFF2-40B4-BE49-F238E27FC236}">
                <a16:creationId xmlns:a16="http://schemas.microsoft.com/office/drawing/2014/main" id="{0CF58243-8666-41BB-A280-C41EAF9EF607}"/>
              </a:ext>
            </a:extLst>
          </p:cNvPr>
          <p:cNvSpPr>
            <a:spLocks noGrp="1"/>
          </p:cNvSpPr>
          <p:nvPr/>
        </p:nvSpPr>
        <p:spPr>
          <a:xfrm>
            <a:off x="3028950" y="5095875"/>
            <a:ext cx="2152650" cy="542925"/>
          </a:xfrm>
          <a:prstGeom prst="rect">
            <a:avLst/>
          </a:prstGeom>
          <a:solidFill>
            <a:srgbClr val="FFFFFF"/>
          </a:solidFill>
          <a:ln w="9525">
            <a:solidFill>
              <a:srgbClr val="8A959C"/>
            </a:solidFill>
          </a:ln>
        </p:spPr>
        <p:txBody>
          <a:bodyPr/>
          <a:lstStyle/>
          <a:p>
            <a:endParaRPr lang="en-US"/>
          </a:p>
        </p:txBody>
      </p:sp>
      <p:sp>
        <p:nvSpPr>
          <p:cNvPr id="65" name="Teaching-478">
            <a:extLst>
              <a:ext uri="{FF2B5EF4-FFF2-40B4-BE49-F238E27FC236}">
                <a16:creationId xmlns:a16="http://schemas.microsoft.com/office/drawing/2014/main" id="{2F3F9203-670B-4A24-9733-4C0D350E2144}"/>
              </a:ext>
            </a:extLst>
          </p:cNvPr>
          <p:cNvSpPr>
            <a:spLocks noGrp="1"/>
          </p:cNvSpPr>
          <p:nvPr/>
        </p:nvSpPr>
        <p:spPr>
          <a:xfrm>
            <a:off x="3181350" y="5295900"/>
            <a:ext cx="133350" cy="133350"/>
          </a:xfrm>
          <a:prstGeom prst="ellipse">
            <a:avLst/>
          </a:prstGeom>
          <a:solidFill>
            <a:srgbClr val="FFFFFF"/>
          </a:solidFill>
          <a:ln w="13335">
            <a:solidFill>
              <a:srgbClr val="8A959C"/>
            </a:solidFill>
          </a:ln>
        </p:spPr>
        <p:txBody>
          <a:bodyPr/>
          <a:lstStyle/>
          <a:p>
            <a:endParaRPr lang="en-US"/>
          </a:p>
        </p:txBody>
      </p:sp>
      <p:sp>
        <p:nvSpPr>
          <p:cNvPr id="66" name="Teaching-479">
            <a:extLst>
              <a:ext uri="{FF2B5EF4-FFF2-40B4-BE49-F238E27FC236}">
                <a16:creationId xmlns:a16="http://schemas.microsoft.com/office/drawing/2014/main" id="{EA99856C-881E-44DE-A4FB-F9305218CB4B}"/>
              </a:ext>
            </a:extLst>
          </p:cNvPr>
          <p:cNvSpPr>
            <a:spLocks noGrp="1"/>
          </p:cNvSpPr>
          <p:nvPr/>
        </p:nvSpPr>
        <p:spPr>
          <a:xfrm>
            <a:off x="3524250" y="5295900"/>
            <a:ext cx="133350" cy="133350"/>
          </a:xfrm>
          <a:prstGeom prst="ellipse">
            <a:avLst/>
          </a:prstGeom>
          <a:solidFill>
            <a:srgbClr val="FFFFFF"/>
          </a:solidFill>
          <a:ln w="13335">
            <a:solidFill>
              <a:srgbClr val="8A959C"/>
            </a:solidFill>
          </a:ln>
        </p:spPr>
        <p:txBody>
          <a:bodyPr/>
          <a:lstStyle/>
          <a:p>
            <a:endParaRPr lang="en-US"/>
          </a:p>
        </p:txBody>
      </p:sp>
      <p:sp>
        <p:nvSpPr>
          <p:cNvPr id="67" name="Teaching-480">
            <a:extLst>
              <a:ext uri="{FF2B5EF4-FFF2-40B4-BE49-F238E27FC236}">
                <a16:creationId xmlns:a16="http://schemas.microsoft.com/office/drawing/2014/main" id="{CC2D0B76-9859-4A1F-A658-E30692D9624E}"/>
              </a:ext>
            </a:extLst>
          </p:cNvPr>
          <p:cNvSpPr>
            <a:spLocks noGrp="1"/>
          </p:cNvSpPr>
          <p:nvPr/>
        </p:nvSpPr>
        <p:spPr>
          <a:xfrm>
            <a:off x="3867150" y="5295900"/>
            <a:ext cx="133350" cy="133350"/>
          </a:xfrm>
          <a:prstGeom prst="ellipse">
            <a:avLst/>
          </a:prstGeom>
          <a:solidFill>
            <a:srgbClr val="244E6A"/>
          </a:solidFill>
          <a:ln w="13335">
            <a:solidFill>
              <a:srgbClr val="244E6A"/>
            </a:solidFill>
          </a:ln>
        </p:spPr>
        <p:txBody>
          <a:bodyPr/>
          <a:lstStyle/>
          <a:p>
            <a:endParaRPr lang="en-US"/>
          </a:p>
        </p:txBody>
      </p:sp>
      <p:sp>
        <p:nvSpPr>
          <p:cNvPr id="68" name="Teaching-481">
            <a:extLst>
              <a:ext uri="{FF2B5EF4-FFF2-40B4-BE49-F238E27FC236}">
                <a16:creationId xmlns:a16="http://schemas.microsoft.com/office/drawing/2014/main" id="{0C29F563-B257-41EC-AA9A-755D380CA042}"/>
              </a:ext>
            </a:extLst>
          </p:cNvPr>
          <p:cNvSpPr>
            <a:spLocks noGrp="1"/>
          </p:cNvSpPr>
          <p:nvPr/>
        </p:nvSpPr>
        <p:spPr>
          <a:xfrm>
            <a:off x="4210050" y="5295900"/>
            <a:ext cx="133350" cy="133350"/>
          </a:xfrm>
          <a:prstGeom prst="ellipse">
            <a:avLst/>
          </a:prstGeom>
          <a:solidFill>
            <a:srgbClr val="FFFFFF"/>
          </a:solidFill>
          <a:ln w="13335">
            <a:solidFill>
              <a:srgbClr val="8A959C"/>
            </a:solidFill>
          </a:ln>
        </p:spPr>
        <p:txBody>
          <a:bodyPr/>
          <a:lstStyle/>
          <a:p>
            <a:endParaRPr lang="en-US"/>
          </a:p>
        </p:txBody>
      </p:sp>
      <p:sp>
        <p:nvSpPr>
          <p:cNvPr id="69" name="Teaching-482">
            <a:extLst>
              <a:ext uri="{FF2B5EF4-FFF2-40B4-BE49-F238E27FC236}">
                <a16:creationId xmlns:a16="http://schemas.microsoft.com/office/drawing/2014/main" id="{492CFD93-37DF-4B12-8446-20D16244A6F4}"/>
              </a:ext>
            </a:extLst>
          </p:cNvPr>
          <p:cNvSpPr>
            <a:spLocks noGrp="1"/>
          </p:cNvSpPr>
          <p:nvPr/>
        </p:nvSpPr>
        <p:spPr>
          <a:xfrm>
            <a:off x="4552950" y="5295900"/>
            <a:ext cx="133350" cy="133350"/>
          </a:xfrm>
          <a:prstGeom prst="ellipse">
            <a:avLst/>
          </a:prstGeom>
          <a:solidFill>
            <a:srgbClr val="FFFFFF"/>
          </a:solidFill>
          <a:ln w="13335">
            <a:solidFill>
              <a:srgbClr val="8A959C"/>
            </a:solidFill>
          </a:ln>
        </p:spPr>
        <p:txBody>
          <a:bodyPr/>
          <a:lstStyle/>
          <a:p>
            <a:endParaRPr lang="en-US"/>
          </a:p>
        </p:txBody>
      </p:sp>
      <p:sp>
        <p:nvSpPr>
          <p:cNvPr id="70" name="Teaching-483">
            <a:extLst>
              <a:ext uri="{FF2B5EF4-FFF2-40B4-BE49-F238E27FC236}">
                <a16:creationId xmlns:a16="http://schemas.microsoft.com/office/drawing/2014/main" id="{F5529E51-A86C-499F-A95D-4E29FB674E46}"/>
              </a:ext>
            </a:extLst>
          </p:cNvPr>
          <p:cNvSpPr>
            <a:spLocks noGrp="1"/>
          </p:cNvSpPr>
          <p:nvPr/>
        </p:nvSpPr>
        <p:spPr>
          <a:xfrm>
            <a:off x="4895850" y="5295900"/>
            <a:ext cx="133350" cy="133350"/>
          </a:xfrm>
          <a:prstGeom prst="ellipse">
            <a:avLst/>
          </a:prstGeom>
          <a:solidFill>
            <a:srgbClr val="244E6A"/>
          </a:solidFill>
          <a:ln w="13335">
            <a:solidFill>
              <a:srgbClr val="244E6A"/>
            </a:solidFill>
          </a:ln>
        </p:spPr>
        <p:txBody>
          <a:bodyPr/>
          <a:lstStyle/>
          <a:p>
            <a:endParaRPr lang="en-US"/>
          </a:p>
        </p:txBody>
      </p:sp>
      <p:sp>
        <p:nvSpPr>
          <p:cNvPr id="71" name="Teaching-484">
            <a:extLst>
              <a:ext uri="{FF2B5EF4-FFF2-40B4-BE49-F238E27FC236}">
                <a16:creationId xmlns:a16="http://schemas.microsoft.com/office/drawing/2014/main" id="{755DFF51-20DF-46CA-9D15-9E8455CC296E}"/>
              </a:ext>
            </a:extLst>
          </p:cNvPr>
          <p:cNvSpPr>
            <a:spLocks noGrp="1"/>
          </p:cNvSpPr>
          <p:nvPr/>
        </p:nvSpPr>
        <p:spPr>
          <a:xfrm>
            <a:off x="619125" y="5810250"/>
            <a:ext cx="5191125" cy="361950"/>
          </a:xfrm>
          <a:prstGeom prst="rect">
            <a:avLst/>
          </a:prstGeom>
          <a:noFill/>
          <a:ln w="0">
            <a:noFill/>
          </a:ln>
        </p:spPr>
        <p:txBody>
          <a:bodyPr wrap="square" lIns="0" tIns="0" rIns="0" bIns="0" anchor="t">
            <a:noAutofit/>
          </a:bodyPr>
          <a:lstStyle/>
          <a:p>
            <a:pPr algn="l">
              <a:defRPr sz="1875" b="0">
                <a:solidFill>
                  <a:srgbClr val="111111"/>
                </a:solidFill>
                <a:latin typeface="Aptos"/>
                <a:ea typeface="Aptos"/>
                <a:cs typeface="Aptos"/>
              </a:defRPr>
            </a:pPr>
            <a:r>
              <a:t>2 random IDs from each of 2 groups.</a:t>
            </a:r>
          </a:p>
        </p:txBody>
      </p:sp>
      <p:sp>
        <p:nvSpPr>
          <p:cNvPr id="72" name="Teaching-485">
            <a:extLst>
              <a:ext uri="{FF2B5EF4-FFF2-40B4-BE49-F238E27FC236}">
                <a16:creationId xmlns:a16="http://schemas.microsoft.com/office/drawing/2014/main" id="{B19726E5-AB8D-4D44-860D-5C99F0E1342B}"/>
              </a:ext>
            </a:extLst>
          </p:cNvPr>
          <p:cNvSpPr>
            <a:spLocks noGrp="1"/>
          </p:cNvSpPr>
          <p:nvPr/>
        </p:nvSpPr>
        <p:spPr>
          <a:xfrm>
            <a:off x="6619875" y="4591050"/>
            <a:ext cx="5048250" cy="400050"/>
          </a:xfrm>
          <a:prstGeom prst="rect">
            <a:avLst/>
          </a:prstGeom>
          <a:noFill/>
          <a:ln w="0">
            <a:noFill/>
          </a:ln>
        </p:spPr>
        <p:txBody>
          <a:bodyPr wrap="square" lIns="0" tIns="0" rIns="0" bIns="0" anchor="t">
            <a:noAutofit/>
          </a:bodyPr>
          <a:lstStyle/>
          <a:p>
            <a:pPr algn="l">
              <a:defRPr sz="2250" b="1">
                <a:solidFill>
                  <a:srgbClr val="111111"/>
                </a:solidFill>
                <a:latin typeface="Aptos"/>
                <a:ea typeface="Aptos"/>
                <a:cs typeface="Aptos"/>
              </a:defRPr>
            </a:pPr>
            <a:r>
              <a:t>CLUSTER</a:t>
            </a:r>
          </a:p>
        </p:txBody>
      </p:sp>
      <p:sp>
        <p:nvSpPr>
          <p:cNvPr id="73" name="Teaching-486">
            <a:extLst>
              <a:ext uri="{FF2B5EF4-FFF2-40B4-BE49-F238E27FC236}">
                <a16:creationId xmlns:a16="http://schemas.microsoft.com/office/drawing/2014/main" id="{AE89038B-4D3C-4111-9FC4-71AEA5431F4D}"/>
              </a:ext>
            </a:extLst>
          </p:cNvPr>
          <p:cNvSpPr>
            <a:spLocks noGrp="1"/>
          </p:cNvSpPr>
          <p:nvPr/>
        </p:nvSpPr>
        <p:spPr>
          <a:xfrm>
            <a:off x="6619875" y="5095875"/>
            <a:ext cx="1438275" cy="542925"/>
          </a:xfrm>
          <a:prstGeom prst="rect">
            <a:avLst/>
          </a:prstGeom>
          <a:solidFill>
            <a:srgbClr val="FFFFFF"/>
          </a:solidFill>
          <a:ln w="9525">
            <a:solidFill>
              <a:srgbClr val="8A959C"/>
            </a:solidFill>
          </a:ln>
        </p:spPr>
        <p:txBody>
          <a:bodyPr/>
          <a:lstStyle/>
          <a:p>
            <a:endParaRPr lang="en-US"/>
          </a:p>
        </p:txBody>
      </p:sp>
      <p:sp>
        <p:nvSpPr>
          <p:cNvPr id="74" name="Teaching-487">
            <a:extLst>
              <a:ext uri="{FF2B5EF4-FFF2-40B4-BE49-F238E27FC236}">
                <a16:creationId xmlns:a16="http://schemas.microsoft.com/office/drawing/2014/main" id="{94134CE1-A821-4298-A2CE-5E11E96B775B}"/>
              </a:ext>
            </a:extLst>
          </p:cNvPr>
          <p:cNvSpPr>
            <a:spLocks noGrp="1"/>
          </p:cNvSpPr>
          <p:nvPr/>
        </p:nvSpPr>
        <p:spPr>
          <a:xfrm>
            <a:off x="6753225" y="5295900"/>
            <a:ext cx="133350" cy="133350"/>
          </a:xfrm>
          <a:prstGeom prst="ellipse">
            <a:avLst/>
          </a:prstGeom>
          <a:solidFill>
            <a:srgbClr val="FFFFFF"/>
          </a:solidFill>
          <a:ln w="13335">
            <a:solidFill>
              <a:srgbClr val="8A959C"/>
            </a:solidFill>
          </a:ln>
        </p:spPr>
        <p:txBody>
          <a:bodyPr/>
          <a:lstStyle/>
          <a:p>
            <a:endParaRPr lang="en-US"/>
          </a:p>
        </p:txBody>
      </p:sp>
      <p:sp>
        <p:nvSpPr>
          <p:cNvPr id="75" name="Teaching-488">
            <a:extLst>
              <a:ext uri="{FF2B5EF4-FFF2-40B4-BE49-F238E27FC236}">
                <a16:creationId xmlns:a16="http://schemas.microsoft.com/office/drawing/2014/main" id="{5A34E0CF-F703-44D2-AED8-B7260AD0301B}"/>
              </a:ext>
            </a:extLst>
          </p:cNvPr>
          <p:cNvSpPr>
            <a:spLocks noGrp="1"/>
          </p:cNvSpPr>
          <p:nvPr/>
        </p:nvSpPr>
        <p:spPr>
          <a:xfrm>
            <a:off x="7096125" y="5295900"/>
            <a:ext cx="133350" cy="133350"/>
          </a:xfrm>
          <a:prstGeom prst="ellipse">
            <a:avLst/>
          </a:prstGeom>
          <a:solidFill>
            <a:srgbClr val="FFFFFF"/>
          </a:solidFill>
          <a:ln w="13335">
            <a:solidFill>
              <a:srgbClr val="8A959C"/>
            </a:solidFill>
          </a:ln>
        </p:spPr>
        <p:txBody>
          <a:bodyPr/>
          <a:lstStyle/>
          <a:p>
            <a:endParaRPr lang="en-US"/>
          </a:p>
        </p:txBody>
      </p:sp>
      <p:sp>
        <p:nvSpPr>
          <p:cNvPr id="76" name="Teaching-489">
            <a:extLst>
              <a:ext uri="{FF2B5EF4-FFF2-40B4-BE49-F238E27FC236}">
                <a16:creationId xmlns:a16="http://schemas.microsoft.com/office/drawing/2014/main" id="{3C4C12D9-24DE-48BD-B3C8-32F3EC271C44}"/>
              </a:ext>
            </a:extLst>
          </p:cNvPr>
          <p:cNvSpPr>
            <a:spLocks noGrp="1"/>
          </p:cNvSpPr>
          <p:nvPr/>
        </p:nvSpPr>
        <p:spPr>
          <a:xfrm>
            <a:off x="7439025" y="5295900"/>
            <a:ext cx="133350" cy="133350"/>
          </a:xfrm>
          <a:prstGeom prst="ellipse">
            <a:avLst/>
          </a:prstGeom>
          <a:solidFill>
            <a:srgbClr val="FFFFFF"/>
          </a:solidFill>
          <a:ln w="13335">
            <a:solidFill>
              <a:srgbClr val="8A959C"/>
            </a:solidFill>
          </a:ln>
        </p:spPr>
        <p:txBody>
          <a:bodyPr/>
          <a:lstStyle/>
          <a:p>
            <a:endParaRPr lang="en-US"/>
          </a:p>
        </p:txBody>
      </p:sp>
      <p:sp>
        <p:nvSpPr>
          <p:cNvPr id="77" name="Teaching-490">
            <a:extLst>
              <a:ext uri="{FF2B5EF4-FFF2-40B4-BE49-F238E27FC236}">
                <a16:creationId xmlns:a16="http://schemas.microsoft.com/office/drawing/2014/main" id="{DB942E36-F5F8-424C-96F9-F1A0A0912434}"/>
              </a:ext>
            </a:extLst>
          </p:cNvPr>
          <p:cNvSpPr>
            <a:spLocks noGrp="1"/>
          </p:cNvSpPr>
          <p:nvPr/>
        </p:nvSpPr>
        <p:spPr>
          <a:xfrm>
            <a:off x="7781925" y="5295900"/>
            <a:ext cx="133350" cy="133350"/>
          </a:xfrm>
          <a:prstGeom prst="ellipse">
            <a:avLst/>
          </a:prstGeom>
          <a:solidFill>
            <a:srgbClr val="FFFFFF"/>
          </a:solidFill>
          <a:ln w="13335">
            <a:solidFill>
              <a:srgbClr val="8A959C"/>
            </a:solidFill>
          </a:ln>
        </p:spPr>
        <p:txBody>
          <a:bodyPr/>
          <a:lstStyle/>
          <a:p>
            <a:endParaRPr lang="en-US"/>
          </a:p>
        </p:txBody>
      </p:sp>
      <p:sp>
        <p:nvSpPr>
          <p:cNvPr id="78" name="Teaching-491">
            <a:extLst>
              <a:ext uri="{FF2B5EF4-FFF2-40B4-BE49-F238E27FC236}">
                <a16:creationId xmlns:a16="http://schemas.microsoft.com/office/drawing/2014/main" id="{8AAA59EA-E4B0-4397-AB9B-B2775C8DBBA2}"/>
              </a:ext>
            </a:extLst>
          </p:cNvPr>
          <p:cNvSpPr>
            <a:spLocks noGrp="1"/>
          </p:cNvSpPr>
          <p:nvPr/>
        </p:nvSpPr>
        <p:spPr>
          <a:xfrm>
            <a:off x="8229600" y="5095875"/>
            <a:ext cx="1438275" cy="542925"/>
          </a:xfrm>
          <a:prstGeom prst="rect">
            <a:avLst/>
          </a:prstGeom>
          <a:solidFill>
            <a:srgbClr val="EFF7FD"/>
          </a:solidFill>
          <a:ln w="19050">
            <a:solidFill>
              <a:srgbClr val="244E6A"/>
            </a:solidFill>
          </a:ln>
        </p:spPr>
        <p:txBody>
          <a:bodyPr/>
          <a:lstStyle/>
          <a:p>
            <a:endParaRPr lang="en-US"/>
          </a:p>
        </p:txBody>
      </p:sp>
      <p:sp>
        <p:nvSpPr>
          <p:cNvPr id="79" name="Teaching-492">
            <a:extLst>
              <a:ext uri="{FF2B5EF4-FFF2-40B4-BE49-F238E27FC236}">
                <a16:creationId xmlns:a16="http://schemas.microsoft.com/office/drawing/2014/main" id="{C61FF2DF-1EBB-4976-AD15-2EB57005643F}"/>
              </a:ext>
            </a:extLst>
          </p:cNvPr>
          <p:cNvSpPr>
            <a:spLocks noGrp="1"/>
          </p:cNvSpPr>
          <p:nvPr/>
        </p:nvSpPr>
        <p:spPr>
          <a:xfrm>
            <a:off x="8362950" y="5295900"/>
            <a:ext cx="133350" cy="133350"/>
          </a:xfrm>
          <a:prstGeom prst="ellipse">
            <a:avLst/>
          </a:prstGeom>
          <a:solidFill>
            <a:srgbClr val="244E6A"/>
          </a:solidFill>
          <a:ln w="13335">
            <a:solidFill>
              <a:srgbClr val="244E6A"/>
            </a:solidFill>
          </a:ln>
        </p:spPr>
        <p:txBody>
          <a:bodyPr/>
          <a:lstStyle/>
          <a:p>
            <a:endParaRPr lang="en-US"/>
          </a:p>
        </p:txBody>
      </p:sp>
      <p:sp>
        <p:nvSpPr>
          <p:cNvPr id="80" name="Teaching-493">
            <a:extLst>
              <a:ext uri="{FF2B5EF4-FFF2-40B4-BE49-F238E27FC236}">
                <a16:creationId xmlns:a16="http://schemas.microsoft.com/office/drawing/2014/main" id="{14D8458F-1EAA-469B-BB2F-4DBBF18BED39}"/>
              </a:ext>
            </a:extLst>
          </p:cNvPr>
          <p:cNvSpPr>
            <a:spLocks noGrp="1"/>
          </p:cNvSpPr>
          <p:nvPr/>
        </p:nvSpPr>
        <p:spPr>
          <a:xfrm>
            <a:off x="8705850" y="5295900"/>
            <a:ext cx="133350" cy="133350"/>
          </a:xfrm>
          <a:prstGeom prst="ellipse">
            <a:avLst/>
          </a:prstGeom>
          <a:solidFill>
            <a:srgbClr val="244E6A"/>
          </a:solidFill>
          <a:ln w="13335">
            <a:solidFill>
              <a:srgbClr val="244E6A"/>
            </a:solidFill>
          </a:ln>
        </p:spPr>
        <p:txBody>
          <a:bodyPr/>
          <a:lstStyle/>
          <a:p>
            <a:endParaRPr lang="en-US"/>
          </a:p>
        </p:txBody>
      </p:sp>
      <p:sp>
        <p:nvSpPr>
          <p:cNvPr id="81" name="Teaching-494">
            <a:extLst>
              <a:ext uri="{FF2B5EF4-FFF2-40B4-BE49-F238E27FC236}">
                <a16:creationId xmlns:a16="http://schemas.microsoft.com/office/drawing/2014/main" id="{D4D2DBD0-4587-40E1-8F77-E61BAB39B724}"/>
              </a:ext>
            </a:extLst>
          </p:cNvPr>
          <p:cNvSpPr>
            <a:spLocks noGrp="1"/>
          </p:cNvSpPr>
          <p:nvPr/>
        </p:nvSpPr>
        <p:spPr>
          <a:xfrm>
            <a:off x="9048750" y="5295900"/>
            <a:ext cx="133350" cy="133350"/>
          </a:xfrm>
          <a:prstGeom prst="ellipse">
            <a:avLst/>
          </a:prstGeom>
          <a:solidFill>
            <a:srgbClr val="244E6A"/>
          </a:solidFill>
          <a:ln w="13335">
            <a:solidFill>
              <a:srgbClr val="244E6A"/>
            </a:solidFill>
          </a:ln>
        </p:spPr>
        <p:txBody>
          <a:bodyPr/>
          <a:lstStyle/>
          <a:p>
            <a:endParaRPr lang="en-US"/>
          </a:p>
        </p:txBody>
      </p:sp>
      <p:sp>
        <p:nvSpPr>
          <p:cNvPr id="82" name="Teaching-495">
            <a:extLst>
              <a:ext uri="{FF2B5EF4-FFF2-40B4-BE49-F238E27FC236}">
                <a16:creationId xmlns:a16="http://schemas.microsoft.com/office/drawing/2014/main" id="{E6CB6AF9-AFF6-4F1A-A9F6-20E1107A806E}"/>
              </a:ext>
            </a:extLst>
          </p:cNvPr>
          <p:cNvSpPr>
            <a:spLocks noGrp="1"/>
          </p:cNvSpPr>
          <p:nvPr/>
        </p:nvSpPr>
        <p:spPr>
          <a:xfrm>
            <a:off x="9391650" y="5295900"/>
            <a:ext cx="133350" cy="133350"/>
          </a:xfrm>
          <a:prstGeom prst="ellipse">
            <a:avLst/>
          </a:prstGeom>
          <a:solidFill>
            <a:srgbClr val="244E6A"/>
          </a:solidFill>
          <a:ln w="13335">
            <a:solidFill>
              <a:srgbClr val="244E6A"/>
            </a:solidFill>
          </a:ln>
        </p:spPr>
        <p:txBody>
          <a:bodyPr/>
          <a:lstStyle/>
          <a:p>
            <a:endParaRPr lang="en-US"/>
          </a:p>
        </p:txBody>
      </p:sp>
      <p:sp>
        <p:nvSpPr>
          <p:cNvPr id="83" name="Teaching-496">
            <a:extLst>
              <a:ext uri="{FF2B5EF4-FFF2-40B4-BE49-F238E27FC236}">
                <a16:creationId xmlns:a16="http://schemas.microsoft.com/office/drawing/2014/main" id="{0A3E1EB0-E097-4D73-AD08-7D716781164F}"/>
              </a:ext>
            </a:extLst>
          </p:cNvPr>
          <p:cNvSpPr>
            <a:spLocks noGrp="1"/>
          </p:cNvSpPr>
          <p:nvPr/>
        </p:nvSpPr>
        <p:spPr>
          <a:xfrm>
            <a:off x="9839325" y="5095875"/>
            <a:ext cx="1438275" cy="542925"/>
          </a:xfrm>
          <a:prstGeom prst="rect">
            <a:avLst/>
          </a:prstGeom>
          <a:solidFill>
            <a:srgbClr val="FFFFFF"/>
          </a:solidFill>
          <a:ln w="9525">
            <a:solidFill>
              <a:srgbClr val="8A959C"/>
            </a:solidFill>
          </a:ln>
        </p:spPr>
        <p:txBody>
          <a:bodyPr/>
          <a:lstStyle/>
          <a:p>
            <a:endParaRPr lang="en-US"/>
          </a:p>
        </p:txBody>
      </p:sp>
      <p:sp>
        <p:nvSpPr>
          <p:cNvPr id="84" name="Teaching-497">
            <a:extLst>
              <a:ext uri="{FF2B5EF4-FFF2-40B4-BE49-F238E27FC236}">
                <a16:creationId xmlns:a16="http://schemas.microsoft.com/office/drawing/2014/main" id="{06F989F2-1297-4BD3-8C0D-899B3D88216B}"/>
              </a:ext>
            </a:extLst>
          </p:cNvPr>
          <p:cNvSpPr>
            <a:spLocks noGrp="1"/>
          </p:cNvSpPr>
          <p:nvPr/>
        </p:nvSpPr>
        <p:spPr>
          <a:xfrm>
            <a:off x="9972675" y="5295900"/>
            <a:ext cx="133350" cy="133350"/>
          </a:xfrm>
          <a:prstGeom prst="ellipse">
            <a:avLst/>
          </a:prstGeom>
          <a:solidFill>
            <a:srgbClr val="FFFFFF"/>
          </a:solidFill>
          <a:ln w="13335">
            <a:solidFill>
              <a:srgbClr val="8A959C"/>
            </a:solidFill>
          </a:ln>
        </p:spPr>
        <p:txBody>
          <a:bodyPr/>
          <a:lstStyle/>
          <a:p>
            <a:endParaRPr lang="en-US"/>
          </a:p>
        </p:txBody>
      </p:sp>
      <p:sp>
        <p:nvSpPr>
          <p:cNvPr id="85" name="Teaching-498">
            <a:extLst>
              <a:ext uri="{FF2B5EF4-FFF2-40B4-BE49-F238E27FC236}">
                <a16:creationId xmlns:a16="http://schemas.microsoft.com/office/drawing/2014/main" id="{C47544E1-6E00-4F4F-9423-7408632DE906}"/>
              </a:ext>
            </a:extLst>
          </p:cNvPr>
          <p:cNvSpPr>
            <a:spLocks noGrp="1"/>
          </p:cNvSpPr>
          <p:nvPr/>
        </p:nvSpPr>
        <p:spPr>
          <a:xfrm>
            <a:off x="10315575" y="5295900"/>
            <a:ext cx="133350" cy="133350"/>
          </a:xfrm>
          <a:prstGeom prst="ellipse">
            <a:avLst/>
          </a:prstGeom>
          <a:solidFill>
            <a:srgbClr val="FFFFFF"/>
          </a:solidFill>
          <a:ln w="13335">
            <a:solidFill>
              <a:srgbClr val="8A959C"/>
            </a:solidFill>
          </a:ln>
        </p:spPr>
        <p:txBody>
          <a:bodyPr/>
          <a:lstStyle/>
          <a:p>
            <a:endParaRPr lang="en-US"/>
          </a:p>
        </p:txBody>
      </p:sp>
      <p:sp>
        <p:nvSpPr>
          <p:cNvPr id="86" name="Teaching-499">
            <a:extLst>
              <a:ext uri="{FF2B5EF4-FFF2-40B4-BE49-F238E27FC236}">
                <a16:creationId xmlns:a16="http://schemas.microsoft.com/office/drawing/2014/main" id="{344ECEEB-032A-4B59-8915-8186FBB841CD}"/>
              </a:ext>
            </a:extLst>
          </p:cNvPr>
          <p:cNvSpPr>
            <a:spLocks noGrp="1"/>
          </p:cNvSpPr>
          <p:nvPr/>
        </p:nvSpPr>
        <p:spPr>
          <a:xfrm>
            <a:off x="10658475" y="5295900"/>
            <a:ext cx="133350" cy="133350"/>
          </a:xfrm>
          <a:prstGeom prst="ellipse">
            <a:avLst/>
          </a:prstGeom>
          <a:solidFill>
            <a:srgbClr val="FFFFFF"/>
          </a:solidFill>
          <a:ln w="13335">
            <a:solidFill>
              <a:srgbClr val="8A959C"/>
            </a:solidFill>
          </a:ln>
        </p:spPr>
        <p:txBody>
          <a:bodyPr/>
          <a:lstStyle/>
          <a:p>
            <a:endParaRPr lang="en-US"/>
          </a:p>
        </p:txBody>
      </p:sp>
      <p:sp>
        <p:nvSpPr>
          <p:cNvPr id="87" name="Teaching-500">
            <a:extLst>
              <a:ext uri="{FF2B5EF4-FFF2-40B4-BE49-F238E27FC236}">
                <a16:creationId xmlns:a16="http://schemas.microsoft.com/office/drawing/2014/main" id="{290AC17E-219C-4459-88DE-C66194D65F42}"/>
              </a:ext>
            </a:extLst>
          </p:cNvPr>
          <p:cNvSpPr>
            <a:spLocks noGrp="1"/>
          </p:cNvSpPr>
          <p:nvPr/>
        </p:nvSpPr>
        <p:spPr>
          <a:xfrm>
            <a:off x="11001375" y="5295900"/>
            <a:ext cx="133350" cy="133350"/>
          </a:xfrm>
          <a:prstGeom prst="ellipse">
            <a:avLst/>
          </a:prstGeom>
          <a:solidFill>
            <a:srgbClr val="FFFFFF"/>
          </a:solidFill>
          <a:ln w="13335">
            <a:solidFill>
              <a:srgbClr val="8A959C"/>
            </a:solidFill>
          </a:ln>
        </p:spPr>
        <p:txBody>
          <a:bodyPr/>
          <a:lstStyle/>
          <a:p>
            <a:endParaRPr lang="en-US"/>
          </a:p>
        </p:txBody>
      </p:sp>
      <p:sp>
        <p:nvSpPr>
          <p:cNvPr id="88" name="Teaching-501">
            <a:extLst>
              <a:ext uri="{FF2B5EF4-FFF2-40B4-BE49-F238E27FC236}">
                <a16:creationId xmlns:a16="http://schemas.microsoft.com/office/drawing/2014/main" id="{0C5B33F3-8FF1-4E3B-9177-95C210D6A28E}"/>
              </a:ext>
            </a:extLst>
          </p:cNvPr>
          <p:cNvSpPr>
            <a:spLocks noGrp="1"/>
          </p:cNvSpPr>
          <p:nvPr/>
        </p:nvSpPr>
        <p:spPr>
          <a:xfrm>
            <a:off x="6619875" y="5810250"/>
            <a:ext cx="5143500" cy="361950"/>
          </a:xfrm>
          <a:prstGeom prst="rect">
            <a:avLst/>
          </a:prstGeom>
          <a:noFill/>
          <a:ln w="0">
            <a:noFill/>
          </a:ln>
        </p:spPr>
        <p:txBody>
          <a:bodyPr wrap="square" lIns="0" tIns="0" rIns="0" bIns="0" anchor="t">
            <a:noAutofit/>
          </a:bodyPr>
          <a:lstStyle/>
          <a:p>
            <a:pPr algn="l">
              <a:defRPr sz="1875" b="0">
                <a:solidFill>
                  <a:srgbClr val="111111"/>
                </a:solidFill>
                <a:latin typeface="Aptos"/>
                <a:ea typeface="Aptos"/>
                <a:cs typeface="Aptos"/>
              </a:defRPr>
            </a:pPr>
            <a:r>
              <a:t>1 random group, then all 4 members.</a:t>
            </a:r>
          </a:p>
        </p:txBody>
      </p:sp>
    </p:spTree>
    <p:extLst>
      <p:ext uri="{BB962C8B-B14F-4D97-AF65-F5344CB8AC3E}">
        <p14:creationId xmlns:p14="http://schemas.microsoft.com/office/powerpoint/2010/main" val="32813612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aching-502">
            <a:extLst>
              <a:ext uri="{FF2B5EF4-FFF2-40B4-BE49-F238E27FC236}">
                <a16:creationId xmlns:a16="http://schemas.microsoft.com/office/drawing/2014/main" id="{F783902F-233D-40DC-8C12-2F4C4427F75C}"/>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Strengths and limitations</a:t>
            </a:r>
          </a:p>
        </p:txBody>
      </p:sp>
      <p:graphicFrame>
        <p:nvGraphicFramePr>
          <p:cNvPr id="5" name="Table 4"/>
          <p:cNvGraphicFramePr/>
          <p:nvPr/>
        </p:nvGraphicFramePr>
        <p:xfrm>
          <a:off x="619125" y="2143125"/>
          <a:ext cx="10715625" cy="3762375"/>
        </p:xfrm>
        <a:graphic>
          <a:graphicData uri="http://schemas.openxmlformats.org/drawingml/2006/table">
            <a:tbl>
              <a:tblPr/>
              <a:tblGrid>
                <a:gridCol w="2305050">
                  <a:extLst>
                    <a:ext uri="{9D8B030D-6E8A-4147-A177-3AD203B41FA5}">
                      <a16:colId xmlns:a16="http://schemas.microsoft.com/office/drawing/2014/main" val="20000"/>
                    </a:ext>
                  </a:extLst>
                </a:gridCol>
                <a:gridCol w="4029075">
                  <a:extLst>
                    <a:ext uri="{9D8B030D-6E8A-4147-A177-3AD203B41FA5}">
                      <a16:colId xmlns:a16="http://schemas.microsoft.com/office/drawing/2014/main" val="20001"/>
                    </a:ext>
                  </a:extLst>
                </a:gridCol>
                <a:gridCol w="4381500">
                  <a:extLst>
                    <a:ext uri="{9D8B030D-6E8A-4147-A177-3AD203B41FA5}">
                      <a16:colId xmlns:a16="http://schemas.microsoft.com/office/drawing/2014/main" val="20002"/>
                    </a:ext>
                  </a:extLst>
                </a:gridCol>
              </a:tblGrid>
              <a:tr h="552450">
                <a:tc>
                  <a:txBody>
                    <a:bodyPr/>
                    <a:lstStyle/>
                    <a:p>
                      <a:pPr algn="l"/>
                      <a:r>
                        <a:rPr sz="2063" b="1">
                          <a:solidFill>
                            <a:srgbClr val="FFFFFF"/>
                          </a:solidFill>
                          <a:latin typeface="Aptos"/>
                          <a:ea typeface="Aptos"/>
                          <a:cs typeface="Aptos"/>
                        </a:rPr>
                        <a:t>Method</a:t>
                      </a:r>
                    </a:p>
                  </a:txBody>
                  <a:tcPr anchor="ctr">
                    <a:solidFill>
                      <a:srgbClr val="D9101B"/>
                    </a:solidFill>
                  </a:tcPr>
                </a:tc>
                <a:tc>
                  <a:txBody>
                    <a:bodyPr/>
                    <a:lstStyle/>
                    <a:p>
                      <a:pPr algn="l"/>
                      <a:r>
                        <a:rPr sz="2063" b="1">
                          <a:solidFill>
                            <a:srgbClr val="FFFFFF"/>
                          </a:solidFill>
                          <a:latin typeface="Aptos"/>
                          <a:ea typeface="Aptos"/>
                          <a:cs typeface="Aptos"/>
                        </a:rPr>
                        <a:t>Useful feature</a:t>
                      </a:r>
                    </a:p>
                  </a:txBody>
                  <a:tcPr anchor="ctr">
                    <a:solidFill>
                      <a:srgbClr val="D9101B"/>
                    </a:solidFill>
                  </a:tcPr>
                </a:tc>
                <a:tc>
                  <a:txBody>
                    <a:bodyPr/>
                    <a:lstStyle/>
                    <a:p>
                      <a:pPr algn="l"/>
                      <a:r>
                        <a:rPr sz="2063" b="1">
                          <a:solidFill>
                            <a:srgbClr val="FFFFFF"/>
                          </a:solidFill>
                          <a:latin typeface="Aptos"/>
                          <a:ea typeface="Aptos"/>
                          <a:cs typeface="Aptos"/>
                        </a:rPr>
                        <a:t>Point to consider</a:t>
                      </a:r>
                    </a:p>
                  </a:txBody>
                  <a:tcPr anchor="ctr">
                    <a:solidFill>
                      <a:srgbClr val="D9101B"/>
                    </a:solidFill>
                  </a:tcPr>
                </a:tc>
                <a:extLst>
                  <a:ext uri="{0D108BD9-81ED-4DB2-BD59-A6C34878D82A}">
                    <a16:rowId xmlns:a16="http://schemas.microsoft.com/office/drawing/2014/main" val="10000"/>
                  </a:ext>
                </a:extLst>
              </a:tr>
              <a:tr h="742950">
                <a:tc>
                  <a:txBody>
                    <a:bodyPr/>
                    <a:lstStyle/>
                    <a:p>
                      <a:pPr algn="l"/>
                      <a:r>
                        <a:rPr sz="2063" b="0">
                          <a:solidFill>
                            <a:srgbClr val="111111"/>
                          </a:solidFill>
                          <a:latin typeface="Aptos"/>
                          <a:ea typeface="Aptos"/>
                          <a:cs typeface="Aptos"/>
                        </a:rPr>
                        <a:t>Simple random</a:t>
                      </a:r>
                    </a:p>
                  </a:txBody>
                  <a:tcPr anchor="ctr">
                    <a:solidFill>
                      <a:srgbClr val="FFFFFF"/>
                    </a:solidFill>
                  </a:tcPr>
                </a:tc>
                <a:tc>
                  <a:txBody>
                    <a:bodyPr/>
                    <a:lstStyle/>
                    <a:p>
                      <a:pPr algn="l"/>
                      <a:r>
                        <a:rPr sz="2063" b="0">
                          <a:solidFill>
                            <a:srgbClr val="111111"/>
                          </a:solidFill>
                          <a:latin typeface="Aptos"/>
                          <a:ea typeface="Aptos"/>
                          <a:cs typeface="Aptos"/>
                        </a:rPr>
                        <a:t>Clear random choice of individuals</a:t>
                      </a:r>
                    </a:p>
                  </a:txBody>
                  <a:tcPr anchor="ctr">
                    <a:solidFill>
                      <a:srgbClr val="FFFFFF"/>
                    </a:solidFill>
                  </a:tcPr>
                </a:tc>
                <a:tc>
                  <a:txBody>
                    <a:bodyPr/>
                    <a:lstStyle/>
                    <a:p>
                      <a:pPr algn="l"/>
                      <a:r>
                        <a:rPr sz="2063" b="0">
                          <a:solidFill>
                            <a:srgbClr val="111111"/>
                          </a:solidFill>
                          <a:latin typeface="Aptos"/>
                          <a:ea typeface="Aptos"/>
                          <a:cs typeface="Aptos"/>
                        </a:rPr>
                        <a:t>Needs a complete individual list</a:t>
                      </a:r>
                    </a:p>
                  </a:txBody>
                  <a:tcPr anchor="ctr">
                    <a:solidFill>
                      <a:srgbClr val="FFFFFF"/>
                    </a:solidFill>
                  </a:tcPr>
                </a:tc>
                <a:extLst>
                  <a:ext uri="{0D108BD9-81ED-4DB2-BD59-A6C34878D82A}">
                    <a16:rowId xmlns:a16="http://schemas.microsoft.com/office/drawing/2014/main" val="10001"/>
                  </a:ext>
                </a:extLst>
              </a:tr>
              <a:tr h="847725">
                <a:tc>
                  <a:txBody>
                    <a:bodyPr/>
                    <a:lstStyle/>
                    <a:p>
                      <a:pPr algn="l"/>
                      <a:r>
                        <a:rPr sz="2063" b="0">
                          <a:solidFill>
                            <a:srgbClr val="111111"/>
                          </a:solidFill>
                          <a:latin typeface="Aptos"/>
                          <a:ea typeface="Aptos"/>
                          <a:cs typeface="Aptos"/>
                        </a:rPr>
                        <a:t>Systematic</a:t>
                      </a:r>
                    </a:p>
                  </a:txBody>
                  <a:tcPr anchor="ctr">
                    <a:solidFill>
                      <a:srgbClr val="EFF7FD"/>
                    </a:solidFill>
                  </a:tcPr>
                </a:tc>
                <a:tc>
                  <a:txBody>
                    <a:bodyPr/>
                    <a:lstStyle/>
                    <a:p>
                      <a:pPr algn="l"/>
                      <a:r>
                        <a:rPr sz="2063" b="0">
                          <a:solidFill>
                            <a:srgbClr val="111111"/>
                          </a:solidFill>
                          <a:latin typeface="Aptos"/>
                          <a:ea typeface="Aptos"/>
                          <a:cs typeface="Aptos"/>
                        </a:rPr>
                        <a:t>Straightforward selection sequence</a:t>
                      </a:r>
                    </a:p>
                  </a:txBody>
                  <a:tcPr anchor="ctr">
                    <a:solidFill>
                      <a:srgbClr val="EFF7FD"/>
                    </a:solidFill>
                  </a:tcPr>
                </a:tc>
                <a:tc>
                  <a:txBody>
                    <a:bodyPr/>
                    <a:lstStyle/>
                    <a:p>
                      <a:pPr algn="l"/>
                      <a:r>
                        <a:rPr sz="2063" b="0">
                          <a:solidFill>
                            <a:srgbClr val="111111"/>
                          </a:solidFill>
                          <a:latin typeface="Aptos"/>
                          <a:ea typeface="Aptos"/>
                          <a:cs typeface="Aptos"/>
                        </a:rPr>
                        <a:t>List patterns may align with the interval</a:t>
                      </a:r>
                    </a:p>
                  </a:txBody>
                  <a:tcPr anchor="ctr">
                    <a:solidFill>
                      <a:srgbClr val="EFF7FD"/>
                    </a:solidFill>
                  </a:tcPr>
                </a:tc>
                <a:extLst>
                  <a:ext uri="{0D108BD9-81ED-4DB2-BD59-A6C34878D82A}">
                    <a16:rowId xmlns:a16="http://schemas.microsoft.com/office/drawing/2014/main" val="10002"/>
                  </a:ext>
                </a:extLst>
              </a:tr>
              <a:tr h="762000">
                <a:tc>
                  <a:txBody>
                    <a:bodyPr/>
                    <a:lstStyle/>
                    <a:p>
                      <a:pPr algn="l"/>
                      <a:r>
                        <a:rPr sz="2063" b="0">
                          <a:solidFill>
                            <a:srgbClr val="111111"/>
                          </a:solidFill>
                          <a:latin typeface="Aptos"/>
                          <a:ea typeface="Aptos"/>
                          <a:cs typeface="Aptos"/>
                        </a:rPr>
                        <a:t>Stratified</a:t>
                      </a:r>
                    </a:p>
                  </a:txBody>
                  <a:tcPr anchor="ctr">
                    <a:solidFill>
                      <a:srgbClr val="FFFFFF"/>
                    </a:solidFill>
                  </a:tcPr>
                </a:tc>
                <a:tc>
                  <a:txBody>
                    <a:bodyPr/>
                    <a:lstStyle/>
                    <a:p>
                      <a:pPr algn="l"/>
                      <a:r>
                        <a:rPr sz="2063" b="0">
                          <a:solidFill>
                            <a:srgbClr val="111111"/>
                          </a:solidFill>
                          <a:latin typeface="Aptos"/>
                          <a:ea typeface="Aptos"/>
                          <a:cs typeface="Aptos"/>
                        </a:rPr>
                        <a:t>Includes every defined group</a:t>
                      </a:r>
                    </a:p>
                  </a:txBody>
                  <a:tcPr anchor="ctr">
                    <a:solidFill>
                      <a:srgbClr val="FFFFFF"/>
                    </a:solidFill>
                  </a:tcPr>
                </a:tc>
                <a:tc>
                  <a:txBody>
                    <a:bodyPr/>
                    <a:lstStyle/>
                    <a:p>
                      <a:pPr algn="l"/>
                      <a:r>
                        <a:rPr sz="2063" b="0">
                          <a:solidFill>
                            <a:srgbClr val="111111"/>
                          </a:solidFill>
                          <a:latin typeface="Aptos"/>
                          <a:ea typeface="Aptos"/>
                          <a:cs typeface="Aptos"/>
                        </a:rPr>
                        <a:t>Needs correct group lists and allocation</a:t>
                      </a:r>
                    </a:p>
                  </a:txBody>
                  <a:tcPr anchor="ctr">
                    <a:solidFill>
                      <a:srgbClr val="FFFFFF"/>
                    </a:solidFill>
                  </a:tcPr>
                </a:tc>
                <a:extLst>
                  <a:ext uri="{0D108BD9-81ED-4DB2-BD59-A6C34878D82A}">
                    <a16:rowId xmlns:a16="http://schemas.microsoft.com/office/drawing/2014/main" val="10003"/>
                  </a:ext>
                </a:extLst>
              </a:tr>
              <a:tr h="857250">
                <a:tc>
                  <a:txBody>
                    <a:bodyPr/>
                    <a:lstStyle/>
                    <a:p>
                      <a:pPr algn="l"/>
                      <a:r>
                        <a:rPr sz="2063" b="0">
                          <a:solidFill>
                            <a:srgbClr val="111111"/>
                          </a:solidFill>
                          <a:latin typeface="Aptos"/>
                          <a:ea typeface="Aptos"/>
                          <a:cs typeface="Aptos"/>
                        </a:rPr>
                        <a:t>Cluster</a:t>
                      </a:r>
                    </a:p>
                  </a:txBody>
                  <a:tcPr anchor="ctr">
                    <a:solidFill>
                      <a:srgbClr val="EFF7FD"/>
                    </a:solidFill>
                  </a:tcPr>
                </a:tc>
                <a:tc>
                  <a:txBody>
                    <a:bodyPr/>
                    <a:lstStyle/>
                    <a:p>
                      <a:pPr algn="l"/>
                      <a:r>
                        <a:rPr sz="2063" b="0">
                          <a:solidFill>
                            <a:srgbClr val="111111"/>
                          </a:solidFill>
                          <a:latin typeface="Aptos"/>
                          <a:ea typeface="Aptos"/>
                          <a:cs typeface="Aptos"/>
                        </a:rPr>
                        <a:t>Fewer locations to visit</a:t>
                      </a:r>
                    </a:p>
                  </a:txBody>
                  <a:tcPr anchor="ctr">
                    <a:solidFill>
                      <a:srgbClr val="EFF7FD"/>
                    </a:solidFill>
                  </a:tcPr>
                </a:tc>
                <a:tc>
                  <a:txBody>
                    <a:bodyPr/>
                    <a:lstStyle/>
                    <a:p>
                      <a:pPr algn="l"/>
                      <a:r>
                        <a:rPr sz="2063" b="0">
                          <a:solidFill>
                            <a:srgbClr val="111111"/>
                          </a:solidFill>
                          <a:latin typeface="Aptos"/>
                          <a:ea typeface="Aptos"/>
                          <a:cs typeface="Aptos"/>
                        </a:rPr>
                        <a:t>Similar people in a few groups may increase variation</a:t>
                      </a:r>
                    </a:p>
                  </a:txBody>
                  <a:tcPr anchor="ctr">
                    <a:solidFill>
                      <a:srgbClr val="EFF7FD"/>
                    </a:solidFill>
                  </a:tcPr>
                </a:tc>
                <a:extLst>
                  <a:ext uri="{0D108BD9-81ED-4DB2-BD59-A6C34878D82A}">
                    <a16:rowId xmlns:a16="http://schemas.microsoft.com/office/drawing/2014/main" val="10004"/>
                  </a:ext>
                </a:extLst>
              </a:tr>
            </a:tbl>
          </a:graphicData>
        </a:graphic>
      </p:graphicFrame>
      <p:sp>
        <p:nvSpPr>
          <p:cNvPr id="3" name="Teaching-503">
            <a:extLst>
              <a:ext uri="{FF2B5EF4-FFF2-40B4-BE49-F238E27FC236}">
                <a16:creationId xmlns:a16="http://schemas.microsoft.com/office/drawing/2014/main" id="{D312192D-A160-443D-B74F-D7259903E6A2}"/>
              </a:ext>
            </a:extLst>
          </p:cNvPr>
          <p:cNvSpPr>
            <a:spLocks noGrp="1"/>
          </p:cNvSpPr>
          <p:nvPr/>
        </p:nvSpPr>
        <p:spPr>
          <a:xfrm>
            <a:off x="523875" y="6010275"/>
            <a:ext cx="11087100" cy="333375"/>
          </a:xfrm>
          <a:prstGeom prst="rect">
            <a:avLst/>
          </a:prstGeom>
          <a:noFill/>
          <a:ln w="0">
            <a:noFill/>
          </a:ln>
        </p:spPr>
        <p:txBody>
          <a:bodyPr wrap="square" lIns="0" tIns="0" rIns="0" bIns="0" anchor="t">
            <a:noAutofit/>
          </a:bodyPr>
          <a:lstStyle/>
          <a:p>
            <a:pPr algn="l">
              <a:defRPr sz="1725" b="0">
                <a:solidFill>
                  <a:srgbClr val="666666"/>
                </a:solidFill>
                <a:latin typeface="Aptos"/>
                <a:ea typeface="Aptos"/>
                <a:cs typeface="Aptos"/>
              </a:defRPr>
            </a:pPr>
            <a:r>
              <a:t>Compare methods for the actual study. No method is best for every situation.</a:t>
            </a:r>
          </a:p>
        </p:txBody>
      </p:sp>
    </p:spTree>
    <p:extLst>
      <p:ext uri="{BB962C8B-B14F-4D97-AF65-F5344CB8AC3E}">
        <p14:creationId xmlns:p14="http://schemas.microsoft.com/office/powerpoint/2010/main" val="32813612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aching-504">
            <a:extLst>
              <a:ext uri="{FF2B5EF4-FFF2-40B4-BE49-F238E27FC236}">
                <a16:creationId xmlns:a16="http://schemas.microsoft.com/office/drawing/2014/main" id="{50FBFA54-0381-428C-9CF9-F34F08F00621}"/>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B4: Accuracy and precision</a:t>
            </a:r>
          </a:p>
        </p:txBody>
      </p:sp>
      <p:sp>
        <p:nvSpPr>
          <p:cNvPr id="2" name="Teaching-505">
            <a:extLst>
              <a:ext uri="{FF2B5EF4-FFF2-40B4-BE49-F238E27FC236}">
                <a16:creationId xmlns:a16="http://schemas.microsoft.com/office/drawing/2014/main" id="{ABB090AB-A766-4A4E-8F14-D6E78C789E29}"/>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506">
            <a:extLst>
              <a:ext uri="{FF2B5EF4-FFF2-40B4-BE49-F238E27FC236}">
                <a16:creationId xmlns:a16="http://schemas.microsoft.com/office/drawing/2014/main" id="{8405515D-17FA-4F7B-B01A-E5BF995873ED}"/>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EXERCISE B4</a:t>
            </a:r>
          </a:p>
        </p:txBody>
      </p:sp>
      <p:sp>
        <p:nvSpPr>
          <p:cNvPr id="4" name="Teaching-507">
            <a:extLst>
              <a:ext uri="{FF2B5EF4-FFF2-40B4-BE49-F238E27FC236}">
                <a16:creationId xmlns:a16="http://schemas.microsoft.com/office/drawing/2014/main" id="{E823ACDB-3436-4417-AE16-98E49632E96D}"/>
              </a:ext>
            </a:extLst>
          </p:cNvPr>
          <p:cNvSpPr>
            <a:spLocks noGrp="1"/>
          </p:cNvSpPr>
          <p:nvPr/>
        </p:nvSpPr>
        <p:spPr>
          <a:xfrm>
            <a:off x="428625" y="1924050"/>
            <a:ext cx="11296650" cy="438150"/>
          </a:xfrm>
          <a:prstGeom prst="rect">
            <a:avLst/>
          </a:prstGeom>
          <a:noFill/>
          <a:ln w="0">
            <a:noFill/>
          </a:ln>
        </p:spPr>
        <p:txBody>
          <a:bodyPr wrap="square" lIns="0" tIns="0" rIns="0" bIns="0" anchor="t">
            <a:noAutofit/>
          </a:bodyPr>
          <a:lstStyle/>
          <a:p>
            <a:pPr algn="l">
              <a:defRPr sz="2100" b="0">
                <a:solidFill>
                  <a:srgbClr val="111111"/>
                </a:solidFill>
                <a:latin typeface="Aptos"/>
                <a:ea typeface="Aptos"/>
                <a:cs typeface="Aptos"/>
              </a:defRPr>
            </a:pPr>
            <a:r>
              <a:rPr b="1"/>
              <a:t>Accuracy:</a:t>
            </a:r>
            <a:r>
              <a:t> closeness to the truth. </a:t>
            </a:r>
            <a:r>
              <a:rPr b="1"/>
              <a:t>Precision:</a:t>
            </a:r>
            <a:r>
              <a:t> consistency across samples.</a:t>
            </a:r>
          </a:p>
        </p:txBody>
      </p:sp>
      <p:sp>
        <p:nvSpPr>
          <p:cNvPr id="5" name="Teaching-508">
            <a:extLst>
              <a:ext uri="{FF2B5EF4-FFF2-40B4-BE49-F238E27FC236}">
                <a16:creationId xmlns:a16="http://schemas.microsoft.com/office/drawing/2014/main" id="{7A1408EE-4359-415A-9C11-5C71DFB29433}"/>
              </a:ext>
            </a:extLst>
          </p:cNvPr>
          <p:cNvSpPr>
            <a:spLocks noGrp="1"/>
          </p:cNvSpPr>
          <p:nvPr/>
        </p:nvSpPr>
        <p:spPr>
          <a:xfrm>
            <a:off x="428625" y="2438400"/>
            <a:ext cx="11296650" cy="742950"/>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b="1"/>
              <a:t>B4.1</a:t>
            </a:r>
            <a:r>
              <a:t>  Which processes are precise? Which centre near the truth?</a:t>
            </a:r>
          </a:p>
          <a:p>
            <a:pPr algn="l">
              <a:defRPr sz="2175" b="0">
                <a:solidFill>
                  <a:srgbClr val="111111"/>
                </a:solidFill>
                <a:latin typeface="Aptos"/>
                <a:ea typeface="Aptos"/>
                <a:cs typeface="Aptos"/>
              </a:defRPr>
            </a:pPr>
            <a:r>
              <a:t>Explain why consistency alone is not enough.</a:t>
            </a:r>
          </a:p>
        </p:txBody>
      </p:sp>
      <p:sp>
        <p:nvSpPr>
          <p:cNvPr id="6" name="Teaching-509">
            <a:extLst>
              <a:ext uri="{FF2B5EF4-FFF2-40B4-BE49-F238E27FC236}">
                <a16:creationId xmlns:a16="http://schemas.microsoft.com/office/drawing/2014/main" id="{71488479-A0EE-4BC9-9923-CDE7D53FA750}"/>
              </a:ext>
            </a:extLst>
          </p:cNvPr>
          <p:cNvSpPr>
            <a:spLocks noGrp="1"/>
          </p:cNvSpPr>
          <p:nvPr/>
        </p:nvSpPr>
        <p:spPr>
          <a:xfrm>
            <a:off x="6438900" y="3590925"/>
            <a:ext cx="0" cy="2000250"/>
          </a:xfrm>
          <a:prstGeom prst="line">
            <a:avLst/>
          </a:prstGeom>
          <a:noFill/>
          <a:ln w="19050">
            <a:solidFill>
              <a:srgbClr val="D9101B"/>
            </a:solidFill>
          </a:ln>
        </p:spPr>
        <p:txBody>
          <a:bodyPr/>
          <a:lstStyle/>
          <a:p>
            <a:endParaRPr lang="en-US"/>
          </a:p>
        </p:txBody>
      </p:sp>
      <p:sp>
        <p:nvSpPr>
          <p:cNvPr id="7" name="Teaching-510">
            <a:extLst>
              <a:ext uri="{FF2B5EF4-FFF2-40B4-BE49-F238E27FC236}">
                <a16:creationId xmlns:a16="http://schemas.microsoft.com/office/drawing/2014/main" id="{F9B125E7-282A-4948-B8DF-5CAFECEB70DA}"/>
              </a:ext>
            </a:extLst>
          </p:cNvPr>
          <p:cNvSpPr>
            <a:spLocks noGrp="1"/>
          </p:cNvSpPr>
          <p:nvPr/>
        </p:nvSpPr>
        <p:spPr>
          <a:xfrm>
            <a:off x="4867275" y="3238500"/>
            <a:ext cx="3238500" cy="323850"/>
          </a:xfrm>
          <a:prstGeom prst="rect">
            <a:avLst/>
          </a:prstGeom>
          <a:noFill/>
          <a:ln w="0">
            <a:noFill/>
          </a:ln>
        </p:spPr>
        <p:txBody>
          <a:bodyPr wrap="square" lIns="0" tIns="0" rIns="0" bIns="0" anchor="t">
            <a:noAutofit/>
          </a:bodyPr>
          <a:lstStyle/>
          <a:p>
            <a:pPr algn="ctr">
              <a:defRPr sz="1875" b="1">
                <a:solidFill>
                  <a:srgbClr val="D9101B"/>
                </a:solidFill>
                <a:latin typeface="Aptos"/>
                <a:ea typeface="Aptos"/>
                <a:cs typeface="Aptos"/>
              </a:defRPr>
            </a:pPr>
            <a:r>
              <a:t>Population value = 46%</a:t>
            </a:r>
          </a:p>
        </p:txBody>
      </p:sp>
      <p:sp>
        <p:nvSpPr>
          <p:cNvPr id="8" name="Teaching-511">
            <a:extLst>
              <a:ext uri="{FF2B5EF4-FFF2-40B4-BE49-F238E27FC236}">
                <a16:creationId xmlns:a16="http://schemas.microsoft.com/office/drawing/2014/main" id="{86B0AC77-153A-4FA8-ABF2-2AAB6FF892A1}"/>
              </a:ext>
            </a:extLst>
          </p:cNvPr>
          <p:cNvSpPr>
            <a:spLocks noGrp="1"/>
          </p:cNvSpPr>
          <p:nvPr/>
        </p:nvSpPr>
        <p:spPr>
          <a:xfrm>
            <a:off x="571500" y="3762375"/>
            <a:ext cx="2857500" cy="390525"/>
          </a:xfrm>
          <a:prstGeom prst="rect">
            <a:avLst/>
          </a:prstGeom>
          <a:noFill/>
          <a:ln w="0">
            <a:noFill/>
          </a:ln>
        </p:spPr>
        <p:txBody>
          <a:bodyPr wrap="square" lIns="0" tIns="0" rIns="0" bIns="0" anchor="t">
            <a:noAutofit/>
          </a:bodyPr>
          <a:lstStyle/>
          <a:p>
            <a:pPr algn="l">
              <a:defRPr sz="2025" b="1">
                <a:solidFill>
                  <a:srgbClr val="111111"/>
                </a:solidFill>
                <a:latin typeface="Aptos"/>
                <a:ea typeface="Aptos"/>
                <a:cs typeface="Aptos"/>
              </a:defRPr>
            </a:pPr>
            <a:r>
              <a:t>A</a:t>
            </a:r>
          </a:p>
        </p:txBody>
      </p:sp>
      <p:sp>
        <p:nvSpPr>
          <p:cNvPr id="9" name="Teaching-512">
            <a:extLst>
              <a:ext uri="{FF2B5EF4-FFF2-40B4-BE49-F238E27FC236}">
                <a16:creationId xmlns:a16="http://schemas.microsoft.com/office/drawing/2014/main" id="{312A4A03-8B98-4FC6-BD1F-D843901B0252}"/>
              </a:ext>
            </a:extLst>
          </p:cNvPr>
          <p:cNvSpPr>
            <a:spLocks noGrp="1"/>
          </p:cNvSpPr>
          <p:nvPr/>
        </p:nvSpPr>
        <p:spPr>
          <a:xfrm>
            <a:off x="3619500" y="4076700"/>
            <a:ext cx="7048500" cy="0"/>
          </a:xfrm>
          <a:prstGeom prst="line">
            <a:avLst/>
          </a:prstGeom>
          <a:noFill/>
          <a:ln w="9525">
            <a:solidFill>
              <a:srgbClr val="8A959C"/>
            </a:solidFill>
          </a:ln>
        </p:spPr>
        <p:txBody>
          <a:bodyPr/>
          <a:lstStyle/>
          <a:p>
            <a:endParaRPr lang="en-US"/>
          </a:p>
        </p:txBody>
      </p:sp>
      <p:sp>
        <p:nvSpPr>
          <p:cNvPr id="10" name="Teaching-513">
            <a:extLst>
              <a:ext uri="{FF2B5EF4-FFF2-40B4-BE49-F238E27FC236}">
                <a16:creationId xmlns:a16="http://schemas.microsoft.com/office/drawing/2014/main" id="{CA78E2EB-574A-45C3-845D-5C69C5A3A582}"/>
              </a:ext>
            </a:extLst>
          </p:cNvPr>
          <p:cNvSpPr>
            <a:spLocks noGrp="1"/>
          </p:cNvSpPr>
          <p:nvPr/>
        </p:nvSpPr>
        <p:spPr>
          <a:xfrm>
            <a:off x="8672513" y="3867150"/>
            <a:ext cx="114300" cy="114300"/>
          </a:xfrm>
          <a:prstGeom prst="ellipse">
            <a:avLst/>
          </a:prstGeom>
          <a:solidFill>
            <a:srgbClr val="244E6A"/>
          </a:solidFill>
          <a:ln w="13335">
            <a:solidFill>
              <a:srgbClr val="244E6A"/>
            </a:solidFill>
          </a:ln>
        </p:spPr>
        <p:txBody>
          <a:bodyPr/>
          <a:lstStyle/>
          <a:p>
            <a:endParaRPr lang="en-US"/>
          </a:p>
        </p:txBody>
      </p:sp>
      <p:sp>
        <p:nvSpPr>
          <p:cNvPr id="11" name="Teaching-514">
            <a:extLst>
              <a:ext uri="{FF2B5EF4-FFF2-40B4-BE49-F238E27FC236}">
                <a16:creationId xmlns:a16="http://schemas.microsoft.com/office/drawing/2014/main" id="{3FE85C85-36CE-46A5-BFCE-85E4C99F8A68}"/>
              </a:ext>
            </a:extLst>
          </p:cNvPr>
          <p:cNvSpPr>
            <a:spLocks noGrp="1"/>
          </p:cNvSpPr>
          <p:nvPr/>
        </p:nvSpPr>
        <p:spPr>
          <a:xfrm>
            <a:off x="8848725" y="3867150"/>
            <a:ext cx="114300" cy="114300"/>
          </a:xfrm>
          <a:prstGeom prst="ellipse">
            <a:avLst/>
          </a:prstGeom>
          <a:solidFill>
            <a:srgbClr val="244E6A"/>
          </a:solidFill>
          <a:ln w="13335">
            <a:solidFill>
              <a:srgbClr val="244E6A"/>
            </a:solidFill>
          </a:ln>
        </p:spPr>
        <p:txBody>
          <a:bodyPr/>
          <a:lstStyle/>
          <a:p>
            <a:endParaRPr lang="en-US"/>
          </a:p>
        </p:txBody>
      </p:sp>
      <p:sp>
        <p:nvSpPr>
          <p:cNvPr id="12" name="Teaching-515">
            <a:extLst>
              <a:ext uri="{FF2B5EF4-FFF2-40B4-BE49-F238E27FC236}">
                <a16:creationId xmlns:a16="http://schemas.microsoft.com/office/drawing/2014/main" id="{75AB4261-8C35-45AF-9815-C01AB3F04888}"/>
              </a:ext>
            </a:extLst>
          </p:cNvPr>
          <p:cNvSpPr>
            <a:spLocks noGrp="1"/>
          </p:cNvSpPr>
          <p:nvPr/>
        </p:nvSpPr>
        <p:spPr>
          <a:xfrm>
            <a:off x="9024938" y="3867150"/>
            <a:ext cx="114300" cy="114300"/>
          </a:xfrm>
          <a:prstGeom prst="ellipse">
            <a:avLst/>
          </a:prstGeom>
          <a:solidFill>
            <a:srgbClr val="244E6A"/>
          </a:solidFill>
          <a:ln w="13335">
            <a:solidFill>
              <a:srgbClr val="244E6A"/>
            </a:solidFill>
          </a:ln>
        </p:spPr>
        <p:txBody>
          <a:bodyPr/>
          <a:lstStyle/>
          <a:p>
            <a:endParaRPr lang="en-US"/>
          </a:p>
        </p:txBody>
      </p:sp>
      <p:sp>
        <p:nvSpPr>
          <p:cNvPr id="13" name="Teaching-516">
            <a:extLst>
              <a:ext uri="{FF2B5EF4-FFF2-40B4-BE49-F238E27FC236}">
                <a16:creationId xmlns:a16="http://schemas.microsoft.com/office/drawing/2014/main" id="{14F45E25-9058-4962-9FC9-6456CD6979C7}"/>
              </a:ext>
            </a:extLst>
          </p:cNvPr>
          <p:cNvSpPr>
            <a:spLocks noGrp="1"/>
          </p:cNvSpPr>
          <p:nvPr/>
        </p:nvSpPr>
        <p:spPr>
          <a:xfrm>
            <a:off x="9201150" y="3867150"/>
            <a:ext cx="114300" cy="114300"/>
          </a:xfrm>
          <a:prstGeom prst="ellipse">
            <a:avLst/>
          </a:prstGeom>
          <a:solidFill>
            <a:srgbClr val="244E6A"/>
          </a:solidFill>
          <a:ln w="13335">
            <a:solidFill>
              <a:srgbClr val="244E6A"/>
            </a:solidFill>
          </a:ln>
        </p:spPr>
        <p:txBody>
          <a:bodyPr/>
          <a:lstStyle/>
          <a:p>
            <a:endParaRPr lang="en-US"/>
          </a:p>
        </p:txBody>
      </p:sp>
      <p:sp>
        <p:nvSpPr>
          <p:cNvPr id="14" name="Teaching-517">
            <a:extLst>
              <a:ext uri="{FF2B5EF4-FFF2-40B4-BE49-F238E27FC236}">
                <a16:creationId xmlns:a16="http://schemas.microsoft.com/office/drawing/2014/main" id="{7E92CF94-84D9-4F8D-B76E-117E04B66767}"/>
              </a:ext>
            </a:extLst>
          </p:cNvPr>
          <p:cNvSpPr>
            <a:spLocks noGrp="1"/>
          </p:cNvSpPr>
          <p:nvPr/>
        </p:nvSpPr>
        <p:spPr>
          <a:xfrm>
            <a:off x="9377363" y="3867150"/>
            <a:ext cx="114300" cy="114300"/>
          </a:xfrm>
          <a:prstGeom prst="ellipse">
            <a:avLst/>
          </a:prstGeom>
          <a:solidFill>
            <a:srgbClr val="244E6A"/>
          </a:solidFill>
          <a:ln w="13335">
            <a:solidFill>
              <a:srgbClr val="244E6A"/>
            </a:solidFill>
          </a:ln>
        </p:spPr>
        <p:txBody>
          <a:bodyPr/>
          <a:lstStyle/>
          <a:p>
            <a:endParaRPr lang="en-US"/>
          </a:p>
        </p:txBody>
      </p:sp>
      <p:sp>
        <p:nvSpPr>
          <p:cNvPr id="15" name="Teaching-518">
            <a:extLst>
              <a:ext uri="{FF2B5EF4-FFF2-40B4-BE49-F238E27FC236}">
                <a16:creationId xmlns:a16="http://schemas.microsoft.com/office/drawing/2014/main" id="{D07ADC7A-84C1-4038-92D2-9801B6982070}"/>
              </a:ext>
            </a:extLst>
          </p:cNvPr>
          <p:cNvSpPr>
            <a:spLocks noGrp="1"/>
          </p:cNvSpPr>
          <p:nvPr/>
        </p:nvSpPr>
        <p:spPr>
          <a:xfrm>
            <a:off x="571500" y="4429125"/>
            <a:ext cx="2857500" cy="390525"/>
          </a:xfrm>
          <a:prstGeom prst="rect">
            <a:avLst/>
          </a:prstGeom>
          <a:noFill/>
          <a:ln w="0">
            <a:noFill/>
          </a:ln>
        </p:spPr>
        <p:txBody>
          <a:bodyPr wrap="square" lIns="0" tIns="0" rIns="0" bIns="0" anchor="t">
            <a:noAutofit/>
          </a:bodyPr>
          <a:lstStyle/>
          <a:p>
            <a:pPr algn="l">
              <a:defRPr sz="2025" b="1">
                <a:solidFill>
                  <a:srgbClr val="111111"/>
                </a:solidFill>
                <a:latin typeface="Aptos"/>
                <a:ea typeface="Aptos"/>
                <a:cs typeface="Aptos"/>
              </a:defRPr>
            </a:pPr>
            <a:r>
              <a:t>B</a:t>
            </a:r>
          </a:p>
        </p:txBody>
      </p:sp>
      <p:sp>
        <p:nvSpPr>
          <p:cNvPr id="16" name="Teaching-519">
            <a:extLst>
              <a:ext uri="{FF2B5EF4-FFF2-40B4-BE49-F238E27FC236}">
                <a16:creationId xmlns:a16="http://schemas.microsoft.com/office/drawing/2014/main" id="{B4E41864-23F3-4C39-922B-6A22A26C13C9}"/>
              </a:ext>
            </a:extLst>
          </p:cNvPr>
          <p:cNvSpPr>
            <a:spLocks noGrp="1"/>
          </p:cNvSpPr>
          <p:nvPr/>
        </p:nvSpPr>
        <p:spPr>
          <a:xfrm>
            <a:off x="3619500" y="4743450"/>
            <a:ext cx="7048500" cy="0"/>
          </a:xfrm>
          <a:prstGeom prst="line">
            <a:avLst/>
          </a:prstGeom>
          <a:noFill/>
          <a:ln w="9525">
            <a:solidFill>
              <a:srgbClr val="8A959C"/>
            </a:solidFill>
          </a:ln>
        </p:spPr>
        <p:txBody>
          <a:bodyPr/>
          <a:lstStyle/>
          <a:p>
            <a:endParaRPr lang="en-US"/>
          </a:p>
        </p:txBody>
      </p:sp>
      <p:sp>
        <p:nvSpPr>
          <p:cNvPr id="17" name="Teaching-520">
            <a:extLst>
              <a:ext uri="{FF2B5EF4-FFF2-40B4-BE49-F238E27FC236}">
                <a16:creationId xmlns:a16="http://schemas.microsoft.com/office/drawing/2014/main" id="{5F6C8009-C5EC-48FB-A5CC-05D81A1FB52E}"/>
              </a:ext>
            </a:extLst>
          </p:cNvPr>
          <p:cNvSpPr>
            <a:spLocks noGrp="1"/>
          </p:cNvSpPr>
          <p:nvPr/>
        </p:nvSpPr>
        <p:spPr>
          <a:xfrm>
            <a:off x="4795838" y="4533900"/>
            <a:ext cx="114300" cy="114300"/>
          </a:xfrm>
          <a:prstGeom prst="ellipse">
            <a:avLst/>
          </a:prstGeom>
          <a:solidFill>
            <a:srgbClr val="244E6A"/>
          </a:solidFill>
          <a:ln w="13335">
            <a:solidFill>
              <a:srgbClr val="244E6A"/>
            </a:solidFill>
          </a:ln>
        </p:spPr>
        <p:txBody>
          <a:bodyPr/>
          <a:lstStyle/>
          <a:p>
            <a:endParaRPr lang="en-US"/>
          </a:p>
        </p:txBody>
      </p:sp>
      <p:sp>
        <p:nvSpPr>
          <p:cNvPr id="18" name="Teaching-521">
            <a:extLst>
              <a:ext uri="{FF2B5EF4-FFF2-40B4-BE49-F238E27FC236}">
                <a16:creationId xmlns:a16="http://schemas.microsoft.com/office/drawing/2014/main" id="{934CA045-0919-487A-A509-F3314C6E98B0}"/>
              </a:ext>
            </a:extLst>
          </p:cNvPr>
          <p:cNvSpPr>
            <a:spLocks noGrp="1"/>
          </p:cNvSpPr>
          <p:nvPr/>
        </p:nvSpPr>
        <p:spPr>
          <a:xfrm>
            <a:off x="5500688" y="4533900"/>
            <a:ext cx="114300" cy="114300"/>
          </a:xfrm>
          <a:prstGeom prst="ellipse">
            <a:avLst/>
          </a:prstGeom>
          <a:solidFill>
            <a:srgbClr val="244E6A"/>
          </a:solidFill>
          <a:ln w="13335">
            <a:solidFill>
              <a:srgbClr val="244E6A"/>
            </a:solidFill>
          </a:ln>
        </p:spPr>
        <p:txBody>
          <a:bodyPr/>
          <a:lstStyle/>
          <a:p>
            <a:endParaRPr lang="en-US"/>
          </a:p>
        </p:txBody>
      </p:sp>
      <p:sp>
        <p:nvSpPr>
          <p:cNvPr id="19" name="Teaching-522">
            <a:extLst>
              <a:ext uri="{FF2B5EF4-FFF2-40B4-BE49-F238E27FC236}">
                <a16:creationId xmlns:a16="http://schemas.microsoft.com/office/drawing/2014/main" id="{4827189B-B683-4C51-A374-5D18680FF699}"/>
              </a:ext>
            </a:extLst>
          </p:cNvPr>
          <p:cNvSpPr>
            <a:spLocks noGrp="1"/>
          </p:cNvSpPr>
          <p:nvPr/>
        </p:nvSpPr>
        <p:spPr>
          <a:xfrm>
            <a:off x="6381750" y="4533900"/>
            <a:ext cx="114300" cy="114300"/>
          </a:xfrm>
          <a:prstGeom prst="ellipse">
            <a:avLst/>
          </a:prstGeom>
          <a:solidFill>
            <a:srgbClr val="244E6A"/>
          </a:solidFill>
          <a:ln w="13335">
            <a:solidFill>
              <a:srgbClr val="244E6A"/>
            </a:solidFill>
          </a:ln>
        </p:spPr>
        <p:txBody>
          <a:bodyPr/>
          <a:lstStyle/>
          <a:p>
            <a:endParaRPr lang="en-US"/>
          </a:p>
        </p:txBody>
      </p:sp>
      <p:sp>
        <p:nvSpPr>
          <p:cNvPr id="20" name="Teaching-523">
            <a:extLst>
              <a:ext uri="{FF2B5EF4-FFF2-40B4-BE49-F238E27FC236}">
                <a16:creationId xmlns:a16="http://schemas.microsoft.com/office/drawing/2014/main" id="{F59B72B7-F8BA-4788-8676-9590B6899C94}"/>
              </a:ext>
            </a:extLst>
          </p:cNvPr>
          <p:cNvSpPr>
            <a:spLocks noGrp="1"/>
          </p:cNvSpPr>
          <p:nvPr/>
        </p:nvSpPr>
        <p:spPr>
          <a:xfrm>
            <a:off x="7086600" y="4533900"/>
            <a:ext cx="114300" cy="114300"/>
          </a:xfrm>
          <a:prstGeom prst="ellipse">
            <a:avLst/>
          </a:prstGeom>
          <a:solidFill>
            <a:srgbClr val="244E6A"/>
          </a:solidFill>
          <a:ln w="13335">
            <a:solidFill>
              <a:srgbClr val="244E6A"/>
            </a:solidFill>
          </a:ln>
        </p:spPr>
        <p:txBody>
          <a:bodyPr/>
          <a:lstStyle/>
          <a:p>
            <a:endParaRPr lang="en-US"/>
          </a:p>
        </p:txBody>
      </p:sp>
      <p:sp>
        <p:nvSpPr>
          <p:cNvPr id="21" name="Teaching-524">
            <a:extLst>
              <a:ext uri="{FF2B5EF4-FFF2-40B4-BE49-F238E27FC236}">
                <a16:creationId xmlns:a16="http://schemas.microsoft.com/office/drawing/2014/main" id="{4BC20AAD-CC7E-4265-9AF5-BD5BC0A25663}"/>
              </a:ext>
            </a:extLst>
          </p:cNvPr>
          <p:cNvSpPr>
            <a:spLocks noGrp="1"/>
          </p:cNvSpPr>
          <p:nvPr/>
        </p:nvSpPr>
        <p:spPr>
          <a:xfrm>
            <a:off x="8143875" y="4533900"/>
            <a:ext cx="114300" cy="114300"/>
          </a:xfrm>
          <a:prstGeom prst="ellipse">
            <a:avLst/>
          </a:prstGeom>
          <a:solidFill>
            <a:srgbClr val="244E6A"/>
          </a:solidFill>
          <a:ln w="13335">
            <a:solidFill>
              <a:srgbClr val="244E6A"/>
            </a:solidFill>
          </a:ln>
        </p:spPr>
        <p:txBody>
          <a:bodyPr/>
          <a:lstStyle/>
          <a:p>
            <a:endParaRPr lang="en-US"/>
          </a:p>
        </p:txBody>
      </p:sp>
      <p:sp>
        <p:nvSpPr>
          <p:cNvPr id="22" name="Teaching-525">
            <a:extLst>
              <a:ext uri="{FF2B5EF4-FFF2-40B4-BE49-F238E27FC236}">
                <a16:creationId xmlns:a16="http://schemas.microsoft.com/office/drawing/2014/main" id="{96C08851-FDD3-451C-89F5-2E7368A8F5ED}"/>
              </a:ext>
            </a:extLst>
          </p:cNvPr>
          <p:cNvSpPr>
            <a:spLocks noGrp="1"/>
          </p:cNvSpPr>
          <p:nvPr/>
        </p:nvSpPr>
        <p:spPr>
          <a:xfrm>
            <a:off x="571500" y="5095875"/>
            <a:ext cx="2857500" cy="390525"/>
          </a:xfrm>
          <a:prstGeom prst="rect">
            <a:avLst/>
          </a:prstGeom>
          <a:noFill/>
          <a:ln w="0">
            <a:noFill/>
          </a:ln>
        </p:spPr>
        <p:txBody>
          <a:bodyPr wrap="square" lIns="0" tIns="0" rIns="0" bIns="0" anchor="t">
            <a:noAutofit/>
          </a:bodyPr>
          <a:lstStyle/>
          <a:p>
            <a:pPr algn="l">
              <a:defRPr sz="2025" b="1">
                <a:solidFill>
                  <a:srgbClr val="111111"/>
                </a:solidFill>
                <a:latin typeface="Aptos"/>
                <a:ea typeface="Aptos"/>
                <a:cs typeface="Aptos"/>
              </a:defRPr>
            </a:pPr>
            <a:r>
              <a:t>C</a:t>
            </a:r>
          </a:p>
        </p:txBody>
      </p:sp>
      <p:sp>
        <p:nvSpPr>
          <p:cNvPr id="23" name="Teaching-526">
            <a:extLst>
              <a:ext uri="{FF2B5EF4-FFF2-40B4-BE49-F238E27FC236}">
                <a16:creationId xmlns:a16="http://schemas.microsoft.com/office/drawing/2014/main" id="{C2FD8D1D-E110-4B4E-9EF5-B09DC4E595B2}"/>
              </a:ext>
            </a:extLst>
          </p:cNvPr>
          <p:cNvSpPr>
            <a:spLocks noGrp="1"/>
          </p:cNvSpPr>
          <p:nvPr/>
        </p:nvSpPr>
        <p:spPr>
          <a:xfrm>
            <a:off x="3619500" y="5410200"/>
            <a:ext cx="7048500" cy="0"/>
          </a:xfrm>
          <a:prstGeom prst="line">
            <a:avLst/>
          </a:prstGeom>
          <a:noFill/>
          <a:ln w="9525">
            <a:solidFill>
              <a:srgbClr val="8A959C"/>
            </a:solidFill>
          </a:ln>
        </p:spPr>
        <p:txBody>
          <a:bodyPr/>
          <a:lstStyle/>
          <a:p>
            <a:endParaRPr lang="en-US"/>
          </a:p>
        </p:txBody>
      </p:sp>
      <p:sp>
        <p:nvSpPr>
          <p:cNvPr id="24" name="Teaching-527">
            <a:extLst>
              <a:ext uri="{FF2B5EF4-FFF2-40B4-BE49-F238E27FC236}">
                <a16:creationId xmlns:a16="http://schemas.microsoft.com/office/drawing/2014/main" id="{D64B1A19-A7A6-4802-9720-ACE9B25467F8}"/>
              </a:ext>
            </a:extLst>
          </p:cNvPr>
          <p:cNvSpPr>
            <a:spLocks noGrp="1"/>
          </p:cNvSpPr>
          <p:nvPr/>
        </p:nvSpPr>
        <p:spPr>
          <a:xfrm>
            <a:off x="6029325" y="5200650"/>
            <a:ext cx="114300" cy="114300"/>
          </a:xfrm>
          <a:prstGeom prst="ellipse">
            <a:avLst/>
          </a:prstGeom>
          <a:solidFill>
            <a:srgbClr val="244E6A"/>
          </a:solidFill>
          <a:ln w="13335">
            <a:solidFill>
              <a:srgbClr val="244E6A"/>
            </a:solidFill>
          </a:ln>
        </p:spPr>
        <p:txBody>
          <a:bodyPr/>
          <a:lstStyle/>
          <a:p>
            <a:endParaRPr lang="en-US"/>
          </a:p>
        </p:txBody>
      </p:sp>
      <p:sp>
        <p:nvSpPr>
          <p:cNvPr id="25" name="Teaching-528">
            <a:extLst>
              <a:ext uri="{FF2B5EF4-FFF2-40B4-BE49-F238E27FC236}">
                <a16:creationId xmlns:a16="http://schemas.microsoft.com/office/drawing/2014/main" id="{2C0CEAAD-39A8-495B-A48D-FDAE2076DF3B}"/>
              </a:ext>
            </a:extLst>
          </p:cNvPr>
          <p:cNvSpPr>
            <a:spLocks noGrp="1"/>
          </p:cNvSpPr>
          <p:nvPr/>
        </p:nvSpPr>
        <p:spPr>
          <a:xfrm>
            <a:off x="6205538" y="5200650"/>
            <a:ext cx="114300" cy="114300"/>
          </a:xfrm>
          <a:prstGeom prst="ellipse">
            <a:avLst/>
          </a:prstGeom>
          <a:solidFill>
            <a:srgbClr val="244E6A"/>
          </a:solidFill>
          <a:ln w="13335">
            <a:solidFill>
              <a:srgbClr val="244E6A"/>
            </a:solidFill>
          </a:ln>
        </p:spPr>
        <p:txBody>
          <a:bodyPr/>
          <a:lstStyle/>
          <a:p>
            <a:endParaRPr lang="en-US"/>
          </a:p>
        </p:txBody>
      </p:sp>
      <p:sp>
        <p:nvSpPr>
          <p:cNvPr id="26" name="Teaching-529">
            <a:extLst>
              <a:ext uri="{FF2B5EF4-FFF2-40B4-BE49-F238E27FC236}">
                <a16:creationId xmlns:a16="http://schemas.microsoft.com/office/drawing/2014/main" id="{CFD03FD0-2937-4977-A4AF-00EAE60C55E3}"/>
              </a:ext>
            </a:extLst>
          </p:cNvPr>
          <p:cNvSpPr>
            <a:spLocks noGrp="1"/>
          </p:cNvSpPr>
          <p:nvPr/>
        </p:nvSpPr>
        <p:spPr>
          <a:xfrm>
            <a:off x="6381750" y="5200650"/>
            <a:ext cx="114300" cy="114300"/>
          </a:xfrm>
          <a:prstGeom prst="ellipse">
            <a:avLst/>
          </a:prstGeom>
          <a:solidFill>
            <a:srgbClr val="244E6A"/>
          </a:solidFill>
          <a:ln w="13335">
            <a:solidFill>
              <a:srgbClr val="244E6A"/>
            </a:solidFill>
          </a:ln>
        </p:spPr>
        <p:txBody>
          <a:bodyPr/>
          <a:lstStyle/>
          <a:p>
            <a:endParaRPr lang="en-US"/>
          </a:p>
        </p:txBody>
      </p:sp>
      <p:sp>
        <p:nvSpPr>
          <p:cNvPr id="27" name="Teaching-530">
            <a:extLst>
              <a:ext uri="{FF2B5EF4-FFF2-40B4-BE49-F238E27FC236}">
                <a16:creationId xmlns:a16="http://schemas.microsoft.com/office/drawing/2014/main" id="{E330966F-DCF0-4F47-B715-2527B30A0D21}"/>
              </a:ext>
            </a:extLst>
          </p:cNvPr>
          <p:cNvSpPr>
            <a:spLocks noGrp="1"/>
          </p:cNvSpPr>
          <p:nvPr/>
        </p:nvSpPr>
        <p:spPr>
          <a:xfrm>
            <a:off x="6557963" y="5200650"/>
            <a:ext cx="114300" cy="114300"/>
          </a:xfrm>
          <a:prstGeom prst="ellipse">
            <a:avLst/>
          </a:prstGeom>
          <a:solidFill>
            <a:srgbClr val="244E6A"/>
          </a:solidFill>
          <a:ln w="13335">
            <a:solidFill>
              <a:srgbClr val="244E6A"/>
            </a:solidFill>
          </a:ln>
        </p:spPr>
        <p:txBody>
          <a:bodyPr/>
          <a:lstStyle/>
          <a:p>
            <a:endParaRPr lang="en-US"/>
          </a:p>
        </p:txBody>
      </p:sp>
      <p:sp>
        <p:nvSpPr>
          <p:cNvPr id="28" name="Teaching-531">
            <a:extLst>
              <a:ext uri="{FF2B5EF4-FFF2-40B4-BE49-F238E27FC236}">
                <a16:creationId xmlns:a16="http://schemas.microsoft.com/office/drawing/2014/main" id="{E8784A6C-E338-4581-A6DE-438E67C9FDA9}"/>
              </a:ext>
            </a:extLst>
          </p:cNvPr>
          <p:cNvSpPr>
            <a:spLocks noGrp="1"/>
          </p:cNvSpPr>
          <p:nvPr/>
        </p:nvSpPr>
        <p:spPr>
          <a:xfrm>
            <a:off x="6734175" y="5200650"/>
            <a:ext cx="114300" cy="114300"/>
          </a:xfrm>
          <a:prstGeom prst="ellipse">
            <a:avLst/>
          </a:prstGeom>
          <a:solidFill>
            <a:srgbClr val="244E6A"/>
          </a:solidFill>
          <a:ln w="13335">
            <a:solidFill>
              <a:srgbClr val="244E6A"/>
            </a:solidFill>
          </a:ln>
        </p:spPr>
        <p:txBody>
          <a:bodyPr/>
          <a:lstStyle/>
          <a:p>
            <a:endParaRPr lang="en-US"/>
          </a:p>
        </p:txBody>
      </p:sp>
      <p:sp>
        <p:nvSpPr>
          <p:cNvPr id="29" name="Teaching-532">
            <a:extLst>
              <a:ext uri="{FF2B5EF4-FFF2-40B4-BE49-F238E27FC236}">
                <a16:creationId xmlns:a16="http://schemas.microsoft.com/office/drawing/2014/main" id="{F0D14BC2-0143-46B8-99C4-5BA780E68346}"/>
              </a:ext>
            </a:extLst>
          </p:cNvPr>
          <p:cNvSpPr>
            <a:spLocks noGrp="1"/>
          </p:cNvSpPr>
          <p:nvPr/>
        </p:nvSpPr>
        <p:spPr>
          <a:xfrm>
            <a:off x="3286125" y="5543550"/>
            <a:ext cx="666750" cy="285750"/>
          </a:xfrm>
          <a:prstGeom prst="rect">
            <a:avLst/>
          </a:prstGeom>
          <a:noFill/>
          <a:ln w="0">
            <a:noFill/>
          </a:ln>
        </p:spPr>
        <p:txBody>
          <a:bodyPr wrap="square" lIns="0" tIns="0" rIns="0" bIns="0" anchor="t">
            <a:noAutofit/>
          </a:bodyPr>
          <a:lstStyle/>
          <a:p>
            <a:pPr algn="ctr">
              <a:defRPr sz="1725" b="0">
                <a:solidFill>
                  <a:srgbClr val="111111"/>
                </a:solidFill>
                <a:latin typeface="Aptos"/>
                <a:ea typeface="Aptos"/>
                <a:cs typeface="Aptos"/>
              </a:defRPr>
            </a:pPr>
            <a:r>
              <a:t>30%</a:t>
            </a:r>
          </a:p>
        </p:txBody>
      </p:sp>
      <p:sp>
        <p:nvSpPr>
          <p:cNvPr id="30" name="Teaching-533">
            <a:extLst>
              <a:ext uri="{FF2B5EF4-FFF2-40B4-BE49-F238E27FC236}">
                <a16:creationId xmlns:a16="http://schemas.microsoft.com/office/drawing/2014/main" id="{5DFD372C-386A-4267-B9C6-D47C7251743C}"/>
              </a:ext>
            </a:extLst>
          </p:cNvPr>
          <p:cNvSpPr>
            <a:spLocks noGrp="1"/>
          </p:cNvSpPr>
          <p:nvPr/>
        </p:nvSpPr>
        <p:spPr>
          <a:xfrm>
            <a:off x="5048250" y="5543550"/>
            <a:ext cx="666750" cy="285750"/>
          </a:xfrm>
          <a:prstGeom prst="rect">
            <a:avLst/>
          </a:prstGeom>
          <a:noFill/>
          <a:ln w="0">
            <a:noFill/>
          </a:ln>
        </p:spPr>
        <p:txBody>
          <a:bodyPr wrap="square" lIns="0" tIns="0" rIns="0" bIns="0" anchor="t">
            <a:noAutofit/>
          </a:bodyPr>
          <a:lstStyle/>
          <a:p>
            <a:pPr algn="ctr">
              <a:defRPr sz="1725" b="0">
                <a:solidFill>
                  <a:srgbClr val="111111"/>
                </a:solidFill>
                <a:latin typeface="Aptos"/>
                <a:ea typeface="Aptos"/>
                <a:cs typeface="Aptos"/>
              </a:defRPr>
            </a:pPr>
            <a:r>
              <a:t>40%</a:t>
            </a:r>
          </a:p>
        </p:txBody>
      </p:sp>
      <p:sp>
        <p:nvSpPr>
          <p:cNvPr id="31" name="Teaching-534">
            <a:extLst>
              <a:ext uri="{FF2B5EF4-FFF2-40B4-BE49-F238E27FC236}">
                <a16:creationId xmlns:a16="http://schemas.microsoft.com/office/drawing/2014/main" id="{16364E64-9EB7-4010-A404-87E058A38700}"/>
              </a:ext>
            </a:extLst>
          </p:cNvPr>
          <p:cNvSpPr>
            <a:spLocks noGrp="1"/>
          </p:cNvSpPr>
          <p:nvPr/>
        </p:nvSpPr>
        <p:spPr>
          <a:xfrm>
            <a:off x="6810375" y="5543550"/>
            <a:ext cx="666750" cy="285750"/>
          </a:xfrm>
          <a:prstGeom prst="rect">
            <a:avLst/>
          </a:prstGeom>
          <a:noFill/>
          <a:ln w="0">
            <a:noFill/>
          </a:ln>
        </p:spPr>
        <p:txBody>
          <a:bodyPr wrap="square" lIns="0" tIns="0" rIns="0" bIns="0" anchor="t">
            <a:noAutofit/>
          </a:bodyPr>
          <a:lstStyle/>
          <a:p>
            <a:pPr algn="ctr">
              <a:defRPr sz="1725" b="0">
                <a:solidFill>
                  <a:srgbClr val="111111"/>
                </a:solidFill>
                <a:latin typeface="Aptos"/>
                <a:ea typeface="Aptos"/>
                <a:cs typeface="Aptos"/>
              </a:defRPr>
            </a:pPr>
            <a:r>
              <a:t>50%</a:t>
            </a:r>
          </a:p>
        </p:txBody>
      </p:sp>
      <p:sp>
        <p:nvSpPr>
          <p:cNvPr id="32" name="Teaching-535">
            <a:extLst>
              <a:ext uri="{FF2B5EF4-FFF2-40B4-BE49-F238E27FC236}">
                <a16:creationId xmlns:a16="http://schemas.microsoft.com/office/drawing/2014/main" id="{8068E929-83AA-4353-864A-20CE1B9B89B2}"/>
              </a:ext>
            </a:extLst>
          </p:cNvPr>
          <p:cNvSpPr>
            <a:spLocks noGrp="1"/>
          </p:cNvSpPr>
          <p:nvPr/>
        </p:nvSpPr>
        <p:spPr>
          <a:xfrm>
            <a:off x="8572500" y="5543550"/>
            <a:ext cx="666750" cy="285750"/>
          </a:xfrm>
          <a:prstGeom prst="rect">
            <a:avLst/>
          </a:prstGeom>
          <a:noFill/>
          <a:ln w="0">
            <a:noFill/>
          </a:ln>
        </p:spPr>
        <p:txBody>
          <a:bodyPr wrap="square" lIns="0" tIns="0" rIns="0" bIns="0" anchor="t">
            <a:noAutofit/>
          </a:bodyPr>
          <a:lstStyle/>
          <a:p>
            <a:pPr algn="ctr">
              <a:defRPr sz="1725" b="0">
                <a:solidFill>
                  <a:srgbClr val="111111"/>
                </a:solidFill>
                <a:latin typeface="Aptos"/>
                <a:ea typeface="Aptos"/>
                <a:cs typeface="Aptos"/>
              </a:defRPr>
            </a:pPr>
            <a:r>
              <a:t>60%</a:t>
            </a:r>
          </a:p>
        </p:txBody>
      </p:sp>
      <p:sp>
        <p:nvSpPr>
          <p:cNvPr id="33" name="Teaching-536">
            <a:extLst>
              <a:ext uri="{FF2B5EF4-FFF2-40B4-BE49-F238E27FC236}">
                <a16:creationId xmlns:a16="http://schemas.microsoft.com/office/drawing/2014/main" id="{0D4D55A3-0BA7-4596-9CDB-FC821D112552}"/>
              </a:ext>
            </a:extLst>
          </p:cNvPr>
          <p:cNvSpPr>
            <a:spLocks noGrp="1"/>
          </p:cNvSpPr>
          <p:nvPr/>
        </p:nvSpPr>
        <p:spPr>
          <a:xfrm>
            <a:off x="10334625" y="5543550"/>
            <a:ext cx="666750" cy="285750"/>
          </a:xfrm>
          <a:prstGeom prst="rect">
            <a:avLst/>
          </a:prstGeom>
          <a:noFill/>
          <a:ln w="0">
            <a:noFill/>
          </a:ln>
        </p:spPr>
        <p:txBody>
          <a:bodyPr wrap="square" lIns="0" tIns="0" rIns="0" bIns="0" anchor="t">
            <a:noAutofit/>
          </a:bodyPr>
          <a:lstStyle/>
          <a:p>
            <a:pPr algn="ctr">
              <a:defRPr sz="1725" b="0">
                <a:solidFill>
                  <a:srgbClr val="111111"/>
                </a:solidFill>
                <a:latin typeface="Aptos"/>
                <a:ea typeface="Aptos"/>
                <a:cs typeface="Aptos"/>
              </a:defRPr>
            </a:pPr>
            <a:r>
              <a:t>70%</a:t>
            </a:r>
          </a:p>
        </p:txBody>
      </p:sp>
      <p:sp>
        <p:nvSpPr>
          <p:cNvPr id="34" name="Teaching-537">
            <a:extLst>
              <a:ext uri="{FF2B5EF4-FFF2-40B4-BE49-F238E27FC236}">
                <a16:creationId xmlns:a16="http://schemas.microsoft.com/office/drawing/2014/main" id="{BEC4E5A4-08C4-47B0-9C29-C3326AF399F2}"/>
              </a:ext>
            </a:extLst>
          </p:cNvPr>
          <p:cNvSpPr>
            <a:spLocks noGrp="1"/>
          </p:cNvSpPr>
          <p:nvPr/>
        </p:nvSpPr>
        <p:spPr>
          <a:xfrm>
            <a:off x="523875" y="6010275"/>
            <a:ext cx="11087100" cy="333375"/>
          </a:xfrm>
          <a:prstGeom prst="rect">
            <a:avLst/>
          </a:prstGeom>
          <a:noFill/>
          <a:ln w="0">
            <a:noFill/>
          </a:ln>
        </p:spPr>
        <p:txBody>
          <a:bodyPr wrap="square" lIns="0" tIns="0" rIns="0" bIns="0" anchor="t">
            <a:noAutofit/>
          </a:bodyPr>
          <a:lstStyle/>
          <a:p>
            <a:pPr algn="l">
              <a:defRPr sz="1725" b="0">
                <a:solidFill>
                  <a:srgbClr val="666666"/>
                </a:solidFill>
                <a:latin typeface="Aptos"/>
                <a:ea typeface="Aptos"/>
                <a:cs typeface="Aptos"/>
              </a:defRPr>
            </a:pPr>
            <a:r>
              <a:t>Each dot is a sample estimate. Judge both spread and distance from 46%.</a:t>
            </a:r>
          </a:p>
        </p:txBody>
      </p:sp>
    </p:spTree>
    <p:extLst>
      <p:ext uri="{BB962C8B-B14F-4D97-AF65-F5344CB8AC3E}">
        <p14:creationId xmlns:p14="http://schemas.microsoft.com/office/powerpoint/2010/main" val="32813612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aching-538">
            <a:extLst>
              <a:ext uri="{FF2B5EF4-FFF2-40B4-BE49-F238E27FC236}">
                <a16:creationId xmlns:a16="http://schemas.microsoft.com/office/drawing/2014/main" id="{01F42867-A7DC-499C-9A57-4B776763C209}"/>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B4: Consistency can mislead</a:t>
            </a:r>
          </a:p>
        </p:txBody>
      </p:sp>
      <p:sp>
        <p:nvSpPr>
          <p:cNvPr id="2" name="Teaching-539">
            <a:extLst>
              <a:ext uri="{FF2B5EF4-FFF2-40B4-BE49-F238E27FC236}">
                <a16:creationId xmlns:a16="http://schemas.microsoft.com/office/drawing/2014/main" id="{0D67D9F9-1FD0-4923-A7BB-CDD52B876530}"/>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540">
            <a:extLst>
              <a:ext uri="{FF2B5EF4-FFF2-40B4-BE49-F238E27FC236}">
                <a16:creationId xmlns:a16="http://schemas.microsoft.com/office/drawing/2014/main" id="{C1CA5D1D-E745-4BD8-8EA3-74A3695D26C2}"/>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EXERCISE B4</a:t>
            </a:r>
          </a:p>
        </p:txBody>
      </p:sp>
      <p:graphicFrame>
        <p:nvGraphicFramePr>
          <p:cNvPr id="9" name="Table 8"/>
          <p:cNvGraphicFramePr/>
          <p:nvPr/>
        </p:nvGraphicFramePr>
        <p:xfrm>
          <a:off x="619125" y="2238375"/>
          <a:ext cx="10715625" cy="3228975"/>
        </p:xfrm>
        <a:graphic>
          <a:graphicData uri="http://schemas.openxmlformats.org/drawingml/2006/table">
            <a:tbl>
              <a:tblPr/>
              <a:tblGrid>
                <a:gridCol w="1428750">
                  <a:extLst>
                    <a:ext uri="{9D8B030D-6E8A-4147-A177-3AD203B41FA5}">
                      <a16:colId xmlns:a16="http://schemas.microsoft.com/office/drawing/2014/main" val="20000"/>
                    </a:ext>
                  </a:extLst>
                </a:gridCol>
                <a:gridCol w="1876425">
                  <a:extLst>
                    <a:ext uri="{9D8B030D-6E8A-4147-A177-3AD203B41FA5}">
                      <a16:colId xmlns:a16="http://schemas.microsoft.com/office/drawing/2014/main" val="20001"/>
                    </a:ext>
                  </a:extLst>
                </a:gridCol>
                <a:gridCol w="2219325">
                  <a:extLst>
                    <a:ext uri="{9D8B030D-6E8A-4147-A177-3AD203B41FA5}">
                      <a16:colId xmlns:a16="http://schemas.microsoft.com/office/drawing/2014/main" val="20002"/>
                    </a:ext>
                  </a:extLst>
                </a:gridCol>
                <a:gridCol w="5191125">
                  <a:extLst>
                    <a:ext uri="{9D8B030D-6E8A-4147-A177-3AD203B41FA5}">
                      <a16:colId xmlns:a16="http://schemas.microsoft.com/office/drawing/2014/main" val="20003"/>
                    </a:ext>
                  </a:extLst>
                </a:gridCol>
              </a:tblGrid>
              <a:tr h="514350">
                <a:tc>
                  <a:txBody>
                    <a:bodyPr/>
                    <a:lstStyle/>
                    <a:p>
                      <a:pPr algn="l"/>
                      <a:r>
                        <a:rPr sz="2100" b="1">
                          <a:solidFill>
                            <a:srgbClr val="FFFFFF"/>
                          </a:solidFill>
                          <a:latin typeface="Aptos"/>
                          <a:ea typeface="Aptos"/>
                          <a:cs typeface="Aptos"/>
                        </a:rPr>
                        <a:t>Process</a:t>
                      </a:r>
                    </a:p>
                  </a:txBody>
                  <a:tcPr anchor="ctr">
                    <a:solidFill>
                      <a:srgbClr val="D9101B"/>
                    </a:solidFill>
                  </a:tcPr>
                </a:tc>
                <a:tc>
                  <a:txBody>
                    <a:bodyPr/>
                    <a:lstStyle/>
                    <a:p>
                      <a:pPr algn="l"/>
                      <a:r>
                        <a:rPr sz="2100" b="1">
                          <a:solidFill>
                            <a:srgbClr val="FFFFFF"/>
                          </a:solidFill>
                          <a:latin typeface="Aptos"/>
                          <a:ea typeface="Aptos"/>
                          <a:cs typeface="Aptos"/>
                        </a:rPr>
                        <a:t>Spread</a:t>
                      </a:r>
                    </a:p>
                  </a:txBody>
                  <a:tcPr anchor="ctr">
                    <a:solidFill>
                      <a:srgbClr val="D9101B"/>
                    </a:solidFill>
                  </a:tcPr>
                </a:tc>
                <a:tc>
                  <a:txBody>
                    <a:bodyPr/>
                    <a:lstStyle/>
                    <a:p>
                      <a:pPr algn="l"/>
                      <a:r>
                        <a:rPr sz="2100" b="1">
                          <a:solidFill>
                            <a:srgbClr val="FFFFFF"/>
                          </a:solidFill>
                          <a:latin typeface="Aptos"/>
                          <a:ea typeface="Aptos"/>
                          <a:cs typeface="Aptos"/>
                        </a:rPr>
                        <a:t>Centre</a:t>
                      </a:r>
                    </a:p>
                  </a:txBody>
                  <a:tcPr anchor="ctr">
                    <a:solidFill>
                      <a:srgbClr val="D9101B"/>
                    </a:solidFill>
                  </a:tcPr>
                </a:tc>
                <a:tc>
                  <a:txBody>
                    <a:bodyPr/>
                    <a:lstStyle/>
                    <a:p>
                      <a:pPr algn="l"/>
                      <a:r>
                        <a:rPr sz="2100" b="1">
                          <a:solidFill>
                            <a:srgbClr val="FFFFFF"/>
                          </a:solidFill>
                          <a:latin typeface="Aptos"/>
                          <a:ea typeface="Aptos"/>
                          <a:cs typeface="Aptos"/>
                        </a:rPr>
                        <a:t>Interpretation</a:t>
                      </a:r>
                    </a:p>
                  </a:txBody>
                  <a:tcPr anchor="ctr">
                    <a:solidFill>
                      <a:srgbClr val="D9101B"/>
                    </a:solidFill>
                  </a:tcPr>
                </a:tc>
                <a:extLst>
                  <a:ext uri="{0D108BD9-81ED-4DB2-BD59-A6C34878D82A}">
                    <a16:rowId xmlns:a16="http://schemas.microsoft.com/office/drawing/2014/main" val="10000"/>
                  </a:ext>
                </a:extLst>
              </a:tr>
              <a:tr h="952500">
                <a:tc>
                  <a:txBody>
                    <a:bodyPr/>
                    <a:lstStyle/>
                    <a:p>
                      <a:pPr algn="l"/>
                      <a:r>
                        <a:rPr sz="2100" b="0">
                          <a:solidFill>
                            <a:srgbClr val="111111"/>
                          </a:solidFill>
                          <a:latin typeface="Aptos"/>
                          <a:ea typeface="Aptos"/>
                          <a:cs typeface="Aptos"/>
                        </a:rPr>
                        <a:t>A</a:t>
                      </a:r>
                    </a:p>
                  </a:txBody>
                  <a:tcPr anchor="ctr">
                    <a:solidFill>
                      <a:srgbClr val="FFFFFF"/>
                    </a:solidFill>
                  </a:tcPr>
                </a:tc>
                <a:tc>
                  <a:txBody>
                    <a:bodyPr/>
                    <a:lstStyle/>
                    <a:p>
                      <a:pPr algn="l"/>
                      <a:r>
                        <a:rPr sz="2100" b="0">
                          <a:solidFill>
                            <a:srgbClr val="111111"/>
                          </a:solidFill>
                          <a:latin typeface="Aptos"/>
                          <a:ea typeface="Aptos"/>
                          <a:cs typeface="Aptos"/>
                        </a:rPr>
                        <a:t>Small</a:t>
                      </a:r>
                    </a:p>
                  </a:txBody>
                  <a:tcPr anchor="ctr">
                    <a:solidFill>
                      <a:srgbClr val="FFFFFF"/>
                    </a:solidFill>
                  </a:tcPr>
                </a:tc>
                <a:tc>
                  <a:txBody>
                    <a:bodyPr/>
                    <a:lstStyle/>
                    <a:p>
                      <a:pPr algn="l"/>
                      <a:r>
                        <a:rPr sz="2100" b="0">
                          <a:solidFill>
                            <a:srgbClr val="111111"/>
                          </a:solidFill>
                          <a:latin typeface="Aptos"/>
                          <a:ea typeface="Aptos"/>
                          <a:cs typeface="Aptos"/>
                        </a:rPr>
                        <a:t>Near 61%</a:t>
                      </a:r>
                    </a:p>
                  </a:txBody>
                  <a:tcPr anchor="ctr">
                    <a:solidFill>
                      <a:srgbClr val="FFFFFF"/>
                    </a:solidFill>
                  </a:tcPr>
                </a:tc>
                <a:tc>
                  <a:txBody>
                    <a:bodyPr/>
                    <a:lstStyle/>
                    <a:p>
                      <a:pPr algn="l"/>
                      <a:r>
                        <a:rPr sz="2100" b="0">
                          <a:solidFill>
                            <a:srgbClr val="111111"/>
                          </a:solidFill>
                          <a:latin typeface="Aptos"/>
                          <a:ea typeface="Aptos"/>
                          <a:cs typeface="Aptos"/>
                        </a:rPr>
                        <a:t>Precise but biased upwards in this illustration</a:t>
                      </a:r>
                    </a:p>
                  </a:txBody>
                  <a:tcPr anchor="ctr">
                    <a:solidFill>
                      <a:srgbClr val="FFFFFF"/>
                    </a:solidFill>
                  </a:tcPr>
                </a:tc>
                <a:extLst>
                  <a:ext uri="{0D108BD9-81ED-4DB2-BD59-A6C34878D82A}">
                    <a16:rowId xmlns:a16="http://schemas.microsoft.com/office/drawing/2014/main" val="10001"/>
                  </a:ext>
                </a:extLst>
              </a:tr>
              <a:tr h="952500">
                <a:tc>
                  <a:txBody>
                    <a:bodyPr/>
                    <a:lstStyle/>
                    <a:p>
                      <a:pPr algn="l"/>
                      <a:r>
                        <a:rPr sz="2100" b="0">
                          <a:solidFill>
                            <a:srgbClr val="111111"/>
                          </a:solidFill>
                          <a:latin typeface="Aptos"/>
                          <a:ea typeface="Aptos"/>
                          <a:cs typeface="Aptos"/>
                        </a:rPr>
                        <a:t>B</a:t>
                      </a:r>
                    </a:p>
                  </a:txBody>
                  <a:tcPr anchor="ctr">
                    <a:solidFill>
                      <a:srgbClr val="EFF7FD"/>
                    </a:solidFill>
                  </a:tcPr>
                </a:tc>
                <a:tc>
                  <a:txBody>
                    <a:bodyPr/>
                    <a:lstStyle/>
                    <a:p>
                      <a:pPr algn="l"/>
                      <a:r>
                        <a:rPr sz="2100" b="0">
                          <a:solidFill>
                            <a:srgbClr val="111111"/>
                          </a:solidFill>
                          <a:latin typeface="Aptos"/>
                          <a:ea typeface="Aptos"/>
                          <a:cs typeface="Aptos"/>
                        </a:rPr>
                        <a:t>Large</a:t>
                      </a:r>
                    </a:p>
                  </a:txBody>
                  <a:tcPr anchor="ctr">
                    <a:solidFill>
                      <a:srgbClr val="EFF7FD"/>
                    </a:solidFill>
                  </a:tcPr>
                </a:tc>
                <a:tc>
                  <a:txBody>
                    <a:bodyPr/>
                    <a:lstStyle/>
                    <a:p>
                      <a:pPr algn="l"/>
                      <a:r>
                        <a:rPr sz="2100" b="0">
                          <a:solidFill>
                            <a:srgbClr val="111111"/>
                          </a:solidFill>
                          <a:latin typeface="Aptos"/>
                          <a:ea typeface="Aptos"/>
                          <a:cs typeface="Aptos"/>
                        </a:rPr>
                        <a:t>Near 46%</a:t>
                      </a:r>
                    </a:p>
                  </a:txBody>
                  <a:tcPr anchor="ctr">
                    <a:solidFill>
                      <a:srgbClr val="EFF7FD"/>
                    </a:solidFill>
                  </a:tcPr>
                </a:tc>
                <a:tc>
                  <a:txBody>
                    <a:bodyPr/>
                    <a:lstStyle/>
                    <a:p>
                      <a:pPr algn="l"/>
                      <a:r>
                        <a:rPr sz="2100" b="0">
                          <a:solidFill>
                            <a:srgbClr val="111111"/>
                          </a:solidFill>
                          <a:latin typeface="Aptos"/>
                          <a:ea typeface="Aptos"/>
                          <a:cs typeface="Aptos"/>
                        </a:rPr>
                        <a:t>Less precise, with no systematic shift shown</a:t>
                      </a:r>
                    </a:p>
                  </a:txBody>
                  <a:tcPr anchor="ctr">
                    <a:solidFill>
                      <a:srgbClr val="EFF7FD"/>
                    </a:solidFill>
                  </a:tcPr>
                </a:tc>
                <a:extLst>
                  <a:ext uri="{0D108BD9-81ED-4DB2-BD59-A6C34878D82A}">
                    <a16:rowId xmlns:a16="http://schemas.microsoft.com/office/drawing/2014/main" val="10002"/>
                  </a:ext>
                </a:extLst>
              </a:tr>
              <a:tr h="809625">
                <a:tc>
                  <a:txBody>
                    <a:bodyPr/>
                    <a:lstStyle/>
                    <a:p>
                      <a:pPr algn="l"/>
                      <a:r>
                        <a:rPr sz="2100" b="0">
                          <a:solidFill>
                            <a:srgbClr val="111111"/>
                          </a:solidFill>
                          <a:latin typeface="Aptos"/>
                          <a:ea typeface="Aptos"/>
                          <a:cs typeface="Aptos"/>
                        </a:rPr>
                        <a:t>C</a:t>
                      </a:r>
                    </a:p>
                  </a:txBody>
                  <a:tcPr anchor="ctr">
                    <a:solidFill>
                      <a:srgbClr val="FFFFFF"/>
                    </a:solidFill>
                  </a:tcPr>
                </a:tc>
                <a:tc>
                  <a:txBody>
                    <a:bodyPr/>
                    <a:lstStyle/>
                    <a:p>
                      <a:pPr algn="l"/>
                      <a:r>
                        <a:rPr sz="2100" b="0">
                          <a:solidFill>
                            <a:srgbClr val="111111"/>
                          </a:solidFill>
                          <a:latin typeface="Aptos"/>
                          <a:ea typeface="Aptos"/>
                          <a:cs typeface="Aptos"/>
                        </a:rPr>
                        <a:t>Small</a:t>
                      </a:r>
                    </a:p>
                  </a:txBody>
                  <a:tcPr anchor="ctr">
                    <a:solidFill>
                      <a:srgbClr val="FFFFFF"/>
                    </a:solidFill>
                  </a:tcPr>
                </a:tc>
                <a:tc>
                  <a:txBody>
                    <a:bodyPr/>
                    <a:lstStyle/>
                    <a:p>
                      <a:pPr algn="l"/>
                      <a:r>
                        <a:rPr sz="2100" b="0">
                          <a:solidFill>
                            <a:srgbClr val="111111"/>
                          </a:solidFill>
                          <a:latin typeface="Aptos"/>
                          <a:ea typeface="Aptos"/>
                          <a:cs typeface="Aptos"/>
                        </a:rPr>
                        <a:t>Near 46%</a:t>
                      </a:r>
                    </a:p>
                  </a:txBody>
                  <a:tcPr anchor="ctr">
                    <a:solidFill>
                      <a:srgbClr val="FFFFFF"/>
                    </a:solidFill>
                  </a:tcPr>
                </a:tc>
                <a:tc>
                  <a:txBody>
                    <a:bodyPr/>
                    <a:lstStyle/>
                    <a:p>
                      <a:pPr algn="l"/>
                      <a:r>
                        <a:rPr sz="2100" b="0">
                          <a:solidFill>
                            <a:srgbClr val="111111"/>
                          </a:solidFill>
                          <a:latin typeface="Aptos"/>
                          <a:ea typeface="Aptos"/>
                          <a:cs typeface="Aptos"/>
                        </a:rPr>
                        <a:t>Precise and centred near the truth</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Teaching-541">
            <a:extLst>
              <a:ext uri="{FF2B5EF4-FFF2-40B4-BE49-F238E27FC236}">
                <a16:creationId xmlns:a16="http://schemas.microsoft.com/office/drawing/2014/main" id="{374FAC51-CCBB-462D-9C13-FB11269C58AA}"/>
              </a:ext>
            </a:extLst>
          </p:cNvPr>
          <p:cNvSpPr>
            <a:spLocks noGrp="1"/>
          </p:cNvSpPr>
          <p:nvPr/>
        </p:nvSpPr>
        <p:spPr>
          <a:xfrm>
            <a:off x="619125" y="5657850"/>
            <a:ext cx="10810875" cy="666750"/>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rPr b="1"/>
              <a:t>A and C have the same precision.</a:t>
            </a:r>
            <a:r>
              <a:t> Only C combines a narrow</a:t>
            </a:r>
          </a:p>
          <a:p>
            <a:pPr algn="l">
              <a:defRPr sz="2175" b="1">
                <a:solidFill>
                  <a:srgbClr val="111111"/>
                </a:solidFill>
                <a:latin typeface="Aptos"/>
                <a:ea typeface="Aptos"/>
                <a:cs typeface="Aptos"/>
              </a:defRPr>
            </a:pPr>
            <a:r>
              <a:t>spread with a centre near the population value.</a:t>
            </a:r>
          </a:p>
        </p:txBody>
      </p:sp>
    </p:spTree>
    <p:extLst>
      <p:ext uri="{BB962C8B-B14F-4D97-AF65-F5344CB8AC3E}">
        <p14:creationId xmlns:p14="http://schemas.microsoft.com/office/powerpoint/2010/main" val="32813612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aching-542">
            <a:extLst>
              <a:ext uri="{FF2B5EF4-FFF2-40B4-BE49-F238E27FC236}">
                <a16:creationId xmlns:a16="http://schemas.microsoft.com/office/drawing/2014/main" id="{8A65C412-5158-41E3-8556-F9D407FE9183}"/>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Choosing a defensible method</a:t>
            </a:r>
          </a:p>
        </p:txBody>
      </p:sp>
      <p:sp>
        <p:nvSpPr>
          <p:cNvPr id="2" name="Teaching-543">
            <a:extLst>
              <a:ext uri="{FF2B5EF4-FFF2-40B4-BE49-F238E27FC236}">
                <a16:creationId xmlns:a16="http://schemas.microsoft.com/office/drawing/2014/main" id="{9239E795-78B6-485E-AB58-068FDBF416AD}"/>
              </a:ext>
            </a:extLst>
          </p:cNvPr>
          <p:cNvSpPr>
            <a:spLocks noGrp="1"/>
          </p:cNvSpPr>
          <p:nvPr/>
        </p:nvSpPr>
        <p:spPr>
          <a:xfrm>
            <a:off x="428625" y="1952625"/>
            <a:ext cx="11296650" cy="5905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A recommendation needs a reason and a limitation.</a:t>
            </a:r>
          </a:p>
        </p:txBody>
      </p:sp>
      <p:graphicFrame>
        <p:nvGraphicFramePr>
          <p:cNvPr id="6" name="Table 5"/>
          <p:cNvGraphicFramePr/>
          <p:nvPr/>
        </p:nvGraphicFramePr>
        <p:xfrm>
          <a:off x="619125" y="2914650"/>
          <a:ext cx="10715625" cy="3248025"/>
        </p:xfrm>
        <a:graphic>
          <a:graphicData uri="http://schemas.openxmlformats.org/drawingml/2006/table">
            <a:tbl>
              <a:tblPr/>
              <a:tblGrid>
                <a:gridCol w="2343150">
                  <a:extLst>
                    <a:ext uri="{9D8B030D-6E8A-4147-A177-3AD203B41FA5}">
                      <a16:colId xmlns:a16="http://schemas.microsoft.com/office/drawing/2014/main" val="20000"/>
                    </a:ext>
                  </a:extLst>
                </a:gridCol>
                <a:gridCol w="8372475">
                  <a:extLst>
                    <a:ext uri="{9D8B030D-6E8A-4147-A177-3AD203B41FA5}">
                      <a16:colId xmlns:a16="http://schemas.microsoft.com/office/drawing/2014/main" val="20001"/>
                    </a:ext>
                  </a:extLst>
                </a:gridCol>
              </a:tblGrid>
              <a:tr h="533400">
                <a:tc>
                  <a:txBody>
                    <a:bodyPr/>
                    <a:lstStyle/>
                    <a:p>
                      <a:pPr algn="l"/>
                      <a:r>
                        <a:rPr sz="2100" b="1">
                          <a:solidFill>
                            <a:srgbClr val="FFFFFF"/>
                          </a:solidFill>
                          <a:latin typeface="Aptos"/>
                          <a:ea typeface="Aptos"/>
                          <a:cs typeface="Aptos"/>
                        </a:rPr>
                        <a:t>Criterion</a:t>
                      </a:r>
                    </a:p>
                  </a:txBody>
                  <a:tcPr anchor="ctr">
                    <a:solidFill>
                      <a:srgbClr val="D9101B"/>
                    </a:solidFill>
                  </a:tcPr>
                </a:tc>
                <a:tc>
                  <a:txBody>
                    <a:bodyPr/>
                    <a:lstStyle/>
                    <a:p>
                      <a:pPr algn="l"/>
                      <a:r>
                        <a:rPr sz="2100" b="1">
                          <a:solidFill>
                            <a:srgbClr val="FFFFFF"/>
                          </a:solidFill>
                          <a:latin typeface="Aptos"/>
                          <a:ea typeface="Aptos"/>
                          <a:cs typeface="Aptos"/>
                        </a:rPr>
                        <a:t>What should we ask?</a:t>
                      </a:r>
                    </a:p>
                  </a:txBody>
                  <a:tcPr anchor="ctr">
                    <a:solidFill>
                      <a:srgbClr val="D9101B"/>
                    </a:solidFill>
                  </a:tcPr>
                </a:tc>
                <a:extLst>
                  <a:ext uri="{0D108BD9-81ED-4DB2-BD59-A6C34878D82A}">
                    <a16:rowId xmlns:a16="http://schemas.microsoft.com/office/drawing/2014/main" val="10000"/>
                  </a:ext>
                </a:extLst>
              </a:tr>
              <a:tr h="714375">
                <a:tc>
                  <a:txBody>
                    <a:bodyPr/>
                    <a:lstStyle/>
                    <a:p>
                      <a:pPr algn="l"/>
                      <a:r>
                        <a:rPr sz="2100" b="0">
                          <a:solidFill>
                            <a:srgbClr val="111111"/>
                          </a:solidFill>
                          <a:latin typeface="Aptos"/>
                          <a:ea typeface="Aptos"/>
                          <a:cs typeface="Aptos"/>
                        </a:rPr>
                        <a:t>Accuracy</a:t>
                      </a:r>
                    </a:p>
                  </a:txBody>
                  <a:tcPr anchor="ctr">
                    <a:solidFill>
                      <a:srgbClr val="FFFFFF"/>
                    </a:solidFill>
                  </a:tcPr>
                </a:tc>
                <a:tc>
                  <a:txBody>
                    <a:bodyPr/>
                    <a:lstStyle/>
                    <a:p>
                      <a:pPr algn="l"/>
                      <a:r>
                        <a:rPr sz="2100" b="0">
                          <a:solidFill>
                            <a:srgbClr val="111111"/>
                          </a:solidFill>
                          <a:latin typeface="Aptos"/>
                          <a:ea typeface="Aptos"/>
                          <a:cs typeface="Aptos"/>
                        </a:rPr>
                        <a:t>Could selection, nonresponse or measurement cause bias?</a:t>
                      </a:r>
                    </a:p>
                  </a:txBody>
                  <a:tcPr anchor="ctr">
                    <a:solidFill>
                      <a:srgbClr val="FFFFFF"/>
                    </a:solidFill>
                  </a:tcPr>
                </a:tc>
                <a:extLst>
                  <a:ext uri="{0D108BD9-81ED-4DB2-BD59-A6C34878D82A}">
                    <a16:rowId xmlns:a16="http://schemas.microsoft.com/office/drawing/2014/main" val="10001"/>
                  </a:ext>
                </a:extLst>
              </a:tr>
              <a:tr h="666750">
                <a:tc>
                  <a:txBody>
                    <a:bodyPr/>
                    <a:lstStyle/>
                    <a:p>
                      <a:pPr algn="l"/>
                      <a:r>
                        <a:rPr sz="2100" b="0">
                          <a:solidFill>
                            <a:srgbClr val="111111"/>
                          </a:solidFill>
                          <a:latin typeface="Aptos"/>
                          <a:ea typeface="Aptos"/>
                          <a:cs typeface="Aptos"/>
                        </a:rPr>
                        <a:t>Precision</a:t>
                      </a:r>
                    </a:p>
                  </a:txBody>
                  <a:tcPr anchor="ctr">
                    <a:solidFill>
                      <a:srgbClr val="EFF7FD"/>
                    </a:solidFill>
                  </a:tcPr>
                </a:tc>
                <a:tc>
                  <a:txBody>
                    <a:bodyPr/>
                    <a:lstStyle/>
                    <a:p>
                      <a:pPr algn="l"/>
                      <a:r>
                        <a:rPr sz="2100" b="0">
                          <a:solidFill>
                            <a:srgbClr val="111111"/>
                          </a:solidFill>
                          <a:latin typeface="Aptos"/>
                          <a:ea typeface="Aptos"/>
                          <a:cs typeface="Aptos"/>
                        </a:rPr>
                        <a:t>How much might estimates vary between samples?</a:t>
                      </a:r>
                    </a:p>
                  </a:txBody>
                  <a:tcPr anchor="ctr">
                    <a:solidFill>
                      <a:srgbClr val="EFF7FD"/>
                    </a:solidFill>
                  </a:tcPr>
                </a:tc>
                <a:extLst>
                  <a:ext uri="{0D108BD9-81ED-4DB2-BD59-A6C34878D82A}">
                    <a16:rowId xmlns:a16="http://schemas.microsoft.com/office/drawing/2014/main" val="10002"/>
                  </a:ext>
                </a:extLst>
              </a:tr>
              <a:tr h="666750">
                <a:tc>
                  <a:txBody>
                    <a:bodyPr/>
                    <a:lstStyle/>
                    <a:p>
                      <a:pPr algn="l"/>
                      <a:r>
                        <a:rPr sz="2100" b="0">
                          <a:solidFill>
                            <a:srgbClr val="111111"/>
                          </a:solidFill>
                          <a:latin typeface="Aptos"/>
                          <a:ea typeface="Aptos"/>
                          <a:cs typeface="Aptos"/>
                        </a:rPr>
                        <a:t>Cost</a:t>
                      </a:r>
                    </a:p>
                  </a:txBody>
                  <a:tcPr anchor="ctr">
                    <a:solidFill>
                      <a:srgbClr val="FFFFFF"/>
                    </a:solidFill>
                  </a:tcPr>
                </a:tc>
                <a:tc>
                  <a:txBody>
                    <a:bodyPr/>
                    <a:lstStyle/>
                    <a:p>
                      <a:pPr algn="l"/>
                      <a:r>
                        <a:rPr sz="2100" b="0">
                          <a:solidFill>
                            <a:srgbClr val="111111"/>
                          </a:solidFill>
                          <a:latin typeface="Aptos"/>
                          <a:ea typeface="Aptos"/>
                          <a:cs typeface="Aptos"/>
                        </a:rPr>
                        <a:t>How many people and locations must researchers visit?</a:t>
                      </a:r>
                    </a:p>
                  </a:txBody>
                  <a:tcPr anchor="ctr">
                    <a:solidFill>
                      <a:srgbClr val="FFFFFF"/>
                    </a:solidFill>
                  </a:tcPr>
                </a:tc>
                <a:extLst>
                  <a:ext uri="{0D108BD9-81ED-4DB2-BD59-A6C34878D82A}">
                    <a16:rowId xmlns:a16="http://schemas.microsoft.com/office/drawing/2014/main" val="10003"/>
                  </a:ext>
                </a:extLst>
              </a:tr>
              <a:tr h="666750">
                <a:tc>
                  <a:txBody>
                    <a:bodyPr/>
                    <a:lstStyle/>
                    <a:p>
                      <a:pPr algn="l"/>
                      <a:r>
                        <a:rPr sz="2100" b="0">
                          <a:solidFill>
                            <a:srgbClr val="111111"/>
                          </a:solidFill>
                          <a:latin typeface="Aptos"/>
                          <a:ea typeface="Aptos"/>
                          <a:cs typeface="Aptos"/>
                        </a:rPr>
                        <a:t>Feasibility</a:t>
                      </a:r>
                    </a:p>
                  </a:txBody>
                  <a:tcPr anchor="ctr">
                    <a:solidFill>
                      <a:srgbClr val="EFF7FD"/>
                    </a:solidFill>
                  </a:tcPr>
                </a:tc>
                <a:tc>
                  <a:txBody>
                    <a:bodyPr/>
                    <a:lstStyle/>
                    <a:p>
                      <a:pPr algn="l"/>
                      <a:r>
                        <a:rPr sz="2100" b="0">
                          <a:solidFill>
                            <a:srgbClr val="111111"/>
                          </a:solidFill>
                          <a:latin typeface="Aptos"/>
                          <a:ea typeface="Aptos"/>
                          <a:cs typeface="Aptos"/>
                        </a:rPr>
                        <a:t>Are complete lists, staff and time available?</a:t>
                      </a:r>
                    </a:p>
                  </a:txBody>
                  <a:tcPr anchor="ctr">
                    <a:solidFill>
                      <a:srgbClr val="EFF7FD"/>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813612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aching-544">
            <a:extLst>
              <a:ext uri="{FF2B5EF4-FFF2-40B4-BE49-F238E27FC236}">
                <a16:creationId xmlns:a16="http://schemas.microsoft.com/office/drawing/2014/main" id="{01EB2D47-EB81-49E8-899A-18AFC4464A82}"/>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B4: A sampling decision</a:t>
            </a:r>
          </a:p>
        </p:txBody>
      </p:sp>
      <p:sp>
        <p:nvSpPr>
          <p:cNvPr id="2" name="Teaching-545">
            <a:extLst>
              <a:ext uri="{FF2B5EF4-FFF2-40B4-BE49-F238E27FC236}">
                <a16:creationId xmlns:a16="http://schemas.microsoft.com/office/drawing/2014/main" id="{988334DE-9FD4-4E31-B553-BA60568CA882}"/>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546">
            <a:extLst>
              <a:ext uri="{FF2B5EF4-FFF2-40B4-BE49-F238E27FC236}">
                <a16:creationId xmlns:a16="http://schemas.microsoft.com/office/drawing/2014/main" id="{05A0091F-FEE7-484A-9A89-8E35C0C6A506}"/>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EXERCISE B4</a:t>
            </a:r>
          </a:p>
        </p:txBody>
      </p:sp>
      <p:sp>
        <p:nvSpPr>
          <p:cNvPr id="4" name="Teaching-547">
            <a:extLst>
              <a:ext uri="{FF2B5EF4-FFF2-40B4-BE49-F238E27FC236}">
                <a16:creationId xmlns:a16="http://schemas.microsoft.com/office/drawing/2014/main" id="{E3654E3D-C805-4283-BAE8-C32F6F4377D7}"/>
              </a:ext>
            </a:extLst>
          </p:cNvPr>
          <p:cNvSpPr>
            <a:spLocks noGrp="1"/>
          </p:cNvSpPr>
          <p:nvPr/>
        </p:nvSpPr>
        <p:spPr>
          <a:xfrm>
            <a:off x="428625" y="1952625"/>
            <a:ext cx="11296650" cy="762000"/>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t>Estimate support for evening classes: </a:t>
            </a:r>
            <a:r>
              <a:rPr b="1"/>
              <a:t>72 centres, 34 trainees each</a:t>
            </a:r>
            <a:r>
              <a:t>.</a:t>
            </a:r>
          </a:p>
          <a:p>
            <a:pPr algn="l">
              <a:defRPr sz="2175" b="0">
                <a:solidFill>
                  <a:srgbClr val="111111"/>
                </a:solidFill>
                <a:latin typeface="Aptos"/>
                <a:ea typeface="Aptos"/>
                <a:cs typeface="Aptos"/>
              </a:defRPr>
            </a:pPr>
            <a:r>
              <a:t>Select </a:t>
            </a:r>
            <a:r>
              <a:rPr b="1"/>
              <a:t>238</a:t>
            </a:r>
            <a:r>
              <a:t>. Complete lists are available. Assume everyone takes part.</a:t>
            </a:r>
          </a:p>
        </p:txBody>
      </p:sp>
      <p:graphicFrame>
        <p:nvGraphicFramePr>
          <p:cNvPr id="12" name="Table 11"/>
          <p:cNvGraphicFramePr/>
          <p:nvPr>
            <p:extLst>
              <p:ext uri="{D42A27DB-BD31-4B8C-83A1-F6EECF244321}">
                <p14:modId xmlns:p14="http://schemas.microsoft.com/office/powerpoint/2010/main" val="629560742"/>
              </p:ext>
            </p:extLst>
          </p:nvPr>
        </p:nvGraphicFramePr>
        <p:xfrm>
          <a:off x="619125" y="2819400"/>
          <a:ext cx="10715625" cy="1590675"/>
        </p:xfrm>
        <a:graphic>
          <a:graphicData uri="http://schemas.openxmlformats.org/drawingml/2006/table">
            <a:tbl>
              <a:tblPr/>
              <a:tblGrid>
                <a:gridCol w="5372100">
                  <a:extLst>
                    <a:ext uri="{9D8B030D-6E8A-4147-A177-3AD203B41FA5}">
                      <a16:colId xmlns:a16="http://schemas.microsoft.com/office/drawing/2014/main" val="20000"/>
                    </a:ext>
                  </a:extLst>
                </a:gridCol>
                <a:gridCol w="5343525">
                  <a:extLst>
                    <a:ext uri="{9D8B030D-6E8A-4147-A177-3AD203B41FA5}">
                      <a16:colId xmlns:a16="http://schemas.microsoft.com/office/drawing/2014/main" val="20001"/>
                    </a:ext>
                  </a:extLst>
                </a:gridCol>
              </a:tblGrid>
              <a:tr h="523875">
                <a:tc>
                  <a:txBody>
                    <a:bodyPr/>
                    <a:lstStyle/>
                    <a:p>
                      <a:pPr algn="l"/>
                      <a:r>
                        <a:rPr sz="2175" b="1" dirty="0">
                          <a:solidFill>
                            <a:srgbClr val="FFFFFF"/>
                          </a:solidFill>
                          <a:latin typeface="Aptos"/>
                          <a:ea typeface="Aptos"/>
                          <a:cs typeface="Aptos"/>
                        </a:rPr>
                        <a:t>Plan A</a:t>
                      </a:r>
                    </a:p>
                  </a:txBody>
                  <a:tcPr anchor="ctr">
                    <a:solidFill>
                      <a:srgbClr val="D9101B"/>
                    </a:solidFill>
                  </a:tcPr>
                </a:tc>
                <a:tc>
                  <a:txBody>
                    <a:bodyPr/>
                    <a:lstStyle/>
                    <a:p>
                      <a:pPr algn="l"/>
                      <a:r>
                        <a:rPr sz="2175" b="1" dirty="0">
                          <a:solidFill>
                            <a:srgbClr val="FFFFFF"/>
                          </a:solidFill>
                          <a:latin typeface="Aptos"/>
                          <a:ea typeface="Aptos"/>
                          <a:cs typeface="Aptos"/>
                        </a:rPr>
                        <a:t>Plan B</a:t>
                      </a:r>
                    </a:p>
                  </a:txBody>
                  <a:tcPr anchor="ctr">
                    <a:solidFill>
                      <a:srgbClr val="D9101B"/>
                    </a:solidFill>
                  </a:tcPr>
                </a:tc>
                <a:extLst>
                  <a:ext uri="{0D108BD9-81ED-4DB2-BD59-A6C34878D82A}">
                    <a16:rowId xmlns:a16="http://schemas.microsoft.com/office/drawing/2014/main" val="10000"/>
                  </a:ext>
                </a:extLst>
              </a:tr>
              <a:tr h="1066800">
                <a:tc>
                  <a:txBody>
                    <a:bodyPr/>
                    <a:lstStyle/>
                    <a:p>
                      <a:pPr algn="l"/>
                      <a:r>
                        <a:rPr lang="en-US" sz="2175" b="0">
                          <a:solidFill>
                            <a:srgbClr val="111111"/>
                          </a:solidFill>
                          <a:latin typeface="Aptos"/>
                          <a:ea typeface="Aptos"/>
                          <a:cs typeface="Aptos"/>
                        </a:rPr>
                        <a:t>Randomly select 238 individual IDs.</a:t>
                      </a:r>
                    </a:p>
                    <a:p>
                      <a:pPr algn="l"/>
                      <a:r>
                        <a:rPr lang="en-US" sz="2175" b="0">
                          <a:solidFill>
                            <a:srgbClr val="111111"/>
                          </a:solidFill>
                          <a:latin typeface="Aptos"/>
                          <a:ea typeface="Aptos"/>
                          <a:cs typeface="Aptos"/>
                        </a:rPr>
                        <a:t>This draw covers 67 centres.</a:t>
                      </a:r>
                      <a:endParaRPr lang="en-US" sz="2175" b="0" dirty="0">
                        <a:solidFill>
                          <a:srgbClr val="111111"/>
                        </a:solidFill>
                        <a:latin typeface="Aptos"/>
                        <a:ea typeface="Aptos"/>
                        <a:cs typeface="Aptos"/>
                      </a:endParaRPr>
                    </a:p>
                  </a:txBody>
                  <a:tcPr anchor="ctr">
                    <a:solidFill>
                      <a:srgbClr val="FFFFFF"/>
                    </a:solidFill>
                  </a:tcPr>
                </a:tc>
                <a:tc>
                  <a:txBody>
                    <a:bodyPr/>
                    <a:lstStyle/>
                    <a:p>
                      <a:pPr algn="l"/>
                      <a:r>
                        <a:rPr sz="2175" b="0" dirty="0">
                          <a:solidFill>
                            <a:srgbClr val="111111"/>
                          </a:solidFill>
                          <a:latin typeface="Aptos"/>
                          <a:ea typeface="Aptos"/>
                          <a:cs typeface="Aptos"/>
                        </a:rPr>
                        <a:t>Randomly select 7 whole </a:t>
                      </a:r>
                      <a:r>
                        <a:rPr lang="en-US" sz="2175" b="0" dirty="0">
                          <a:solidFill>
                            <a:srgbClr val="111111"/>
                          </a:solidFill>
                          <a:latin typeface="Aptos"/>
                          <a:ea typeface="Aptos"/>
                          <a:cs typeface="Aptos"/>
                        </a:rPr>
                        <a:t>centers</a:t>
                      </a:r>
                      <a:r>
                        <a:rPr sz="2175" b="0" dirty="0">
                          <a:solidFill>
                            <a:srgbClr val="111111"/>
                          </a:solidFill>
                          <a:latin typeface="Aptos"/>
                          <a:ea typeface="Aptos"/>
                          <a:cs typeface="Aptos"/>
                        </a:rPr>
                        <a:t>.</a:t>
                      </a:r>
                    </a:p>
                    <a:p>
                      <a:pPr algn="l"/>
                      <a:r>
                        <a:rPr sz="2175" b="0" dirty="0">
                          <a:solidFill>
                            <a:srgbClr val="111111"/>
                          </a:solidFill>
                          <a:latin typeface="Aptos"/>
                          <a:ea typeface="Aptos"/>
                          <a:cs typeface="Aptos"/>
                        </a:rPr>
                        <a:t>Interview all 34 trainees in each.</a:t>
                      </a:r>
                    </a:p>
                  </a:txBody>
                  <a:tcPr anchor="ctr">
                    <a:solidFill>
                      <a:srgbClr val="FFFFFF"/>
                    </a:solidFill>
                  </a:tcPr>
                </a:tc>
                <a:extLst>
                  <a:ext uri="{0D108BD9-81ED-4DB2-BD59-A6C34878D82A}">
                    <a16:rowId xmlns:a16="http://schemas.microsoft.com/office/drawing/2014/main" val="10001"/>
                  </a:ext>
                </a:extLst>
              </a:tr>
            </a:tbl>
          </a:graphicData>
        </a:graphic>
      </p:graphicFrame>
      <p:sp>
        <p:nvSpPr>
          <p:cNvPr id="6" name="Teaching-548">
            <a:extLst>
              <a:ext uri="{FF2B5EF4-FFF2-40B4-BE49-F238E27FC236}">
                <a16:creationId xmlns:a16="http://schemas.microsoft.com/office/drawing/2014/main" id="{F95ED777-91C8-472B-858E-45F839642E18}"/>
              </a:ext>
            </a:extLst>
          </p:cNvPr>
          <p:cNvSpPr>
            <a:spLocks noGrp="1"/>
          </p:cNvSpPr>
          <p:nvPr/>
        </p:nvSpPr>
        <p:spPr>
          <a:xfrm>
            <a:off x="619125" y="4600575"/>
            <a:ext cx="10810875" cy="542925"/>
          </a:xfrm>
          <a:prstGeom prst="rect">
            <a:avLst/>
          </a:prstGeom>
          <a:noFill/>
          <a:ln w="0">
            <a:noFill/>
          </a:ln>
        </p:spPr>
        <p:txBody>
          <a:bodyPr wrap="square" lIns="0" tIns="0" rIns="0" bIns="0" anchor="t">
            <a:noAutofit/>
          </a:bodyPr>
          <a:lstStyle/>
          <a:p>
            <a:pPr algn="l">
              <a:defRPr sz="2100" b="0">
                <a:solidFill>
                  <a:srgbClr val="111111"/>
                </a:solidFill>
                <a:latin typeface="Aptos"/>
                <a:ea typeface="Aptos"/>
                <a:cs typeface="Aptos"/>
              </a:defRPr>
            </a:pPr>
            <a:r>
              <a:rPr dirty="0"/>
              <a:t>Cost: </a:t>
            </a:r>
            <a:r>
              <a:rPr b="1" dirty="0"/>
              <a:t>¥85 per </a:t>
            </a:r>
            <a:r>
              <a:rPr b="1" dirty="0" err="1"/>
              <a:t>centre</a:t>
            </a:r>
            <a:r>
              <a:rPr b="1" dirty="0"/>
              <a:t> visited + ¥12.50 per trainee</a:t>
            </a:r>
            <a:r>
              <a:rPr dirty="0"/>
              <a:t>. Budget: </a:t>
            </a:r>
            <a:r>
              <a:rPr b="1" dirty="0"/>
              <a:t>¥9,000</a:t>
            </a:r>
            <a:r>
              <a:rPr dirty="0"/>
              <a:t>.</a:t>
            </a:r>
          </a:p>
        </p:txBody>
      </p:sp>
      <p:sp>
        <p:nvSpPr>
          <p:cNvPr id="7" name="Teaching-549">
            <a:extLst>
              <a:ext uri="{FF2B5EF4-FFF2-40B4-BE49-F238E27FC236}">
                <a16:creationId xmlns:a16="http://schemas.microsoft.com/office/drawing/2014/main" id="{8B73268A-65C1-4730-963B-2B8290C61B60}"/>
              </a:ext>
            </a:extLst>
          </p:cNvPr>
          <p:cNvSpPr>
            <a:spLocks noGrp="1"/>
          </p:cNvSpPr>
          <p:nvPr/>
        </p:nvSpPr>
        <p:spPr>
          <a:xfrm>
            <a:off x="619125" y="5229225"/>
            <a:ext cx="10810875" cy="942975"/>
          </a:xfrm>
          <a:prstGeom prst="rect">
            <a:avLst/>
          </a:prstGeom>
          <a:noFill/>
          <a:ln w="0">
            <a:noFill/>
          </a:ln>
        </p:spPr>
        <p:txBody>
          <a:bodyPr wrap="square" lIns="0" tIns="0" rIns="0" bIns="0" anchor="t">
            <a:noAutofit/>
          </a:bodyPr>
          <a:lstStyle/>
          <a:p>
            <a:pPr algn="l">
              <a:defRPr sz="2100" b="0">
                <a:solidFill>
                  <a:srgbClr val="111111"/>
                </a:solidFill>
                <a:latin typeface="Aptos"/>
                <a:ea typeface="Aptos"/>
                <a:cs typeface="Aptos"/>
              </a:defRPr>
            </a:pPr>
            <a:r>
              <a:rPr b="1"/>
              <a:t>B4.2</a:t>
            </a:r>
            <a:r>
              <a:t>  Name the methods. Calculate each cost and check the budget.</a:t>
            </a:r>
          </a:p>
          <a:p>
            <a:pPr algn="l">
              <a:defRPr sz="2100" b="0">
                <a:solidFill>
                  <a:srgbClr val="111111"/>
                </a:solidFill>
                <a:latin typeface="Aptos"/>
                <a:ea typeface="Aptos"/>
                <a:cs typeface="Aptos"/>
              </a:defRPr>
            </a:pPr>
            <a:r>
              <a:rPr b="1"/>
              <a:t>B4.3</a:t>
            </a:r>
            <a:r>
              <a:t>  Choose a plan. Give a reason and its strongest statistical objection.</a:t>
            </a:r>
          </a:p>
          <a:p>
            <a:pPr algn="l">
              <a:defRPr sz="2100" b="0">
                <a:solidFill>
                  <a:srgbClr val="111111"/>
                </a:solidFill>
                <a:latin typeface="Aptos"/>
                <a:ea typeface="Aptos"/>
                <a:cs typeface="Aptos"/>
              </a:defRPr>
            </a:pPr>
            <a:r>
              <a:rPr b="1"/>
              <a:t>B4.4</a:t>
            </a:r>
            <a:r>
              <a:t>  What extra information would help you decide?</a:t>
            </a:r>
          </a:p>
        </p:txBody>
      </p:sp>
    </p:spTree>
    <p:extLst>
      <p:ext uri="{BB962C8B-B14F-4D97-AF65-F5344CB8AC3E}">
        <p14:creationId xmlns:p14="http://schemas.microsoft.com/office/powerpoint/2010/main" val="32813612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aching-550">
            <a:extLst>
              <a:ext uri="{FF2B5EF4-FFF2-40B4-BE49-F238E27FC236}">
                <a16:creationId xmlns:a16="http://schemas.microsoft.com/office/drawing/2014/main" id="{D505770A-3D6D-45D3-B26D-AAEA93BD0119}"/>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B4: Cost and precision</a:t>
            </a:r>
          </a:p>
        </p:txBody>
      </p:sp>
      <p:sp>
        <p:nvSpPr>
          <p:cNvPr id="2" name="Teaching-551">
            <a:extLst>
              <a:ext uri="{FF2B5EF4-FFF2-40B4-BE49-F238E27FC236}">
                <a16:creationId xmlns:a16="http://schemas.microsoft.com/office/drawing/2014/main" id="{9C10DF33-C960-4F82-8D96-3499B070EEFE}"/>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552">
            <a:extLst>
              <a:ext uri="{FF2B5EF4-FFF2-40B4-BE49-F238E27FC236}">
                <a16:creationId xmlns:a16="http://schemas.microsoft.com/office/drawing/2014/main" id="{881CD465-9341-4055-ABB0-FF2C72BD7081}"/>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EXERCISE B4</a:t>
            </a:r>
          </a:p>
        </p:txBody>
      </p:sp>
      <p:sp>
        <p:nvSpPr>
          <p:cNvPr id="4" name="Teaching-553">
            <a:extLst>
              <a:ext uri="{FF2B5EF4-FFF2-40B4-BE49-F238E27FC236}">
                <a16:creationId xmlns:a16="http://schemas.microsoft.com/office/drawing/2014/main" id="{1949138F-B26B-4663-BAE9-F517FD4C3D65}"/>
              </a:ext>
            </a:extLst>
          </p:cNvPr>
          <p:cNvSpPr>
            <a:spLocks noGrp="1"/>
          </p:cNvSpPr>
          <p:nvPr/>
        </p:nvSpPr>
        <p:spPr>
          <a:xfrm>
            <a:off x="619125" y="2019300"/>
            <a:ext cx="10810875" cy="447675"/>
          </a:xfrm>
          <a:prstGeom prst="rect">
            <a:avLst/>
          </a:prstGeom>
          <a:noFill/>
          <a:ln w="0">
            <a:noFill/>
          </a:ln>
        </p:spPr>
        <p:txBody>
          <a:bodyPr wrap="square" lIns="0" tIns="0" rIns="0" bIns="0" anchor="t">
            <a:noAutofit/>
          </a:bodyPr>
          <a:lstStyle/>
          <a:p>
            <a:pPr algn="l">
              <a:defRPr sz="2475" b="0">
                <a:solidFill>
                  <a:srgbClr val="111111"/>
                </a:solidFill>
                <a:latin typeface="Aptos"/>
                <a:ea typeface="Aptos"/>
                <a:cs typeface="Aptos"/>
              </a:defRPr>
            </a:pPr>
            <a:r>
              <a:rPr b="1"/>
              <a:t>Both fit ¥9,000. Plan B saves ¥5,100.</a:t>
            </a:r>
          </a:p>
        </p:txBody>
      </p:sp>
      <p:graphicFrame>
        <p:nvGraphicFramePr>
          <p:cNvPr id="16" name="Chart"/>
          <p:cNvGraphicFramePr/>
          <p:nvPr/>
        </p:nvGraphicFramePr>
        <p:xfrm>
          <a:off x="619125" y="2524125"/>
          <a:ext cx="10810875" cy="2028825"/>
        </p:xfrm>
        <a:graphic>
          <a:graphicData uri="http://schemas.openxmlformats.org/drawingml/2006/chart">
            <c:chart xmlns:c="http://schemas.openxmlformats.org/drawingml/2006/chart" xmlns:r="http://schemas.openxmlformats.org/officeDocument/2006/relationships" r:id="rId3"/>
          </a:graphicData>
        </a:graphic>
      </p:graphicFrame>
      <p:sp>
        <p:nvSpPr>
          <p:cNvPr id="6" name="Teaching-554">
            <a:extLst>
              <a:ext uri="{FF2B5EF4-FFF2-40B4-BE49-F238E27FC236}">
                <a16:creationId xmlns:a16="http://schemas.microsoft.com/office/drawing/2014/main" id="{8805EA66-8A55-4901-B1D7-C43F6F4FE102}"/>
              </a:ext>
            </a:extLst>
          </p:cNvPr>
          <p:cNvSpPr>
            <a:spLocks noGrp="1"/>
          </p:cNvSpPr>
          <p:nvPr/>
        </p:nvSpPr>
        <p:spPr>
          <a:xfrm>
            <a:off x="619125" y="4705350"/>
            <a:ext cx="5095875" cy="352425"/>
          </a:xfrm>
          <a:prstGeom prst="rect">
            <a:avLst/>
          </a:prstGeom>
          <a:noFill/>
          <a:ln w="0">
            <a:noFill/>
          </a:ln>
        </p:spPr>
        <p:txBody>
          <a:bodyPr wrap="square" lIns="0" tIns="0" rIns="0" bIns="0" anchor="t">
            <a:noAutofit/>
          </a:bodyPr>
          <a:lstStyle/>
          <a:p>
            <a:pPr algn="l">
              <a:defRPr sz="2100" b="0">
                <a:solidFill>
                  <a:srgbClr val="111111"/>
                </a:solidFill>
                <a:latin typeface="Aptos"/>
                <a:ea typeface="Aptos"/>
                <a:cs typeface="Aptos"/>
              </a:defRPr>
            </a:pPr>
            <a:r>
              <a:rPr b="1"/>
              <a:t>A: 67 centres</a:t>
            </a:r>
          </a:p>
        </p:txBody>
      </p:sp>
      <p:sp>
        <p:nvSpPr>
          <p:cNvPr id="7" name="Teaching-555">
            <a:extLst>
              <a:ext uri="{FF2B5EF4-FFF2-40B4-BE49-F238E27FC236}">
                <a16:creationId xmlns:a16="http://schemas.microsoft.com/office/drawing/2014/main" id="{14DA8E15-262C-47F7-9F3D-3CDDA0099AEA}"/>
              </a:ext>
            </a:extLst>
          </p:cNvPr>
          <p:cNvSpPr>
            <a:spLocks noGrp="1"/>
          </p:cNvSpPr>
          <p:nvPr/>
        </p:nvSpPr>
        <p:spPr>
          <a:xfrm>
            <a:off x="619125" y="5095875"/>
            <a:ext cx="5191125" cy="371475"/>
          </a:xfrm>
          <a:prstGeom prst="rect">
            <a:avLst/>
          </a:prstGeom>
          <a:noFill/>
          <a:ln w="0">
            <a:noFill/>
          </a:ln>
        </p:spPr>
        <p:txBody>
          <a:bodyPr wrap="square" lIns="0" tIns="0" rIns="0" bIns="0" anchor="t">
            <a:noAutofit/>
          </a:bodyPr>
          <a:lstStyle/>
          <a:p>
            <a:pPr algn="l">
              <a:defRPr sz="1875" b="0">
                <a:solidFill>
                  <a:srgbClr val="111111"/>
                </a:solidFill>
                <a:latin typeface="Aptos"/>
                <a:ea typeface="Aptos"/>
                <a:cs typeface="Aptos"/>
              </a:defRPr>
            </a:pPr>
            <a:r>
              <a:t>67 × ¥85 + 238 × ¥12.50 = </a:t>
            </a:r>
            <a:r>
              <a:rPr b="1"/>
              <a:t>¥8,670</a:t>
            </a:r>
          </a:p>
        </p:txBody>
      </p:sp>
      <p:sp>
        <p:nvSpPr>
          <p:cNvPr id="8" name="Teaching-556">
            <a:extLst>
              <a:ext uri="{FF2B5EF4-FFF2-40B4-BE49-F238E27FC236}">
                <a16:creationId xmlns:a16="http://schemas.microsoft.com/office/drawing/2014/main" id="{07BEF83D-9A46-4F2E-8622-4B3198F2CE89}"/>
              </a:ext>
            </a:extLst>
          </p:cNvPr>
          <p:cNvSpPr>
            <a:spLocks noGrp="1"/>
          </p:cNvSpPr>
          <p:nvPr/>
        </p:nvSpPr>
        <p:spPr>
          <a:xfrm>
            <a:off x="619125" y="5514975"/>
            <a:ext cx="5191125" cy="695325"/>
          </a:xfrm>
          <a:prstGeom prst="rect">
            <a:avLst/>
          </a:prstGeom>
          <a:noFill/>
          <a:ln w="0">
            <a:noFill/>
          </a:ln>
        </p:spPr>
        <p:txBody>
          <a:bodyPr wrap="square" lIns="0" tIns="0" rIns="0" bIns="0" anchor="t">
            <a:noAutofit/>
          </a:bodyPr>
          <a:lstStyle/>
          <a:p>
            <a:pPr algn="l">
              <a:defRPr sz="2025" b="0">
                <a:solidFill>
                  <a:srgbClr val="111111"/>
                </a:solidFill>
                <a:latin typeface="Aptos"/>
                <a:ea typeface="Aptos"/>
                <a:cs typeface="Aptos"/>
              </a:defRPr>
            </a:pPr>
            <a:r>
              <a:t>Some centre types can still be</a:t>
            </a:r>
          </a:p>
          <a:p>
            <a:pPr algn="l">
              <a:defRPr sz="2025" b="0">
                <a:solidFill>
                  <a:srgbClr val="111111"/>
                </a:solidFill>
                <a:latin typeface="Aptos"/>
                <a:ea typeface="Aptos"/>
                <a:cs typeface="Aptos"/>
              </a:defRPr>
            </a:pPr>
            <a:r>
              <a:t>underrepresented by chance.</a:t>
            </a:r>
          </a:p>
        </p:txBody>
      </p:sp>
      <p:sp>
        <p:nvSpPr>
          <p:cNvPr id="9" name="Teaching-557">
            <a:extLst>
              <a:ext uri="{FF2B5EF4-FFF2-40B4-BE49-F238E27FC236}">
                <a16:creationId xmlns:a16="http://schemas.microsoft.com/office/drawing/2014/main" id="{372F6F3F-254D-4834-9EB5-FCFECD3F950C}"/>
              </a:ext>
            </a:extLst>
          </p:cNvPr>
          <p:cNvSpPr>
            <a:spLocks noGrp="1"/>
          </p:cNvSpPr>
          <p:nvPr/>
        </p:nvSpPr>
        <p:spPr>
          <a:xfrm>
            <a:off x="6524625" y="4705350"/>
            <a:ext cx="4953000" cy="352425"/>
          </a:xfrm>
          <a:prstGeom prst="rect">
            <a:avLst/>
          </a:prstGeom>
          <a:noFill/>
          <a:ln w="0">
            <a:noFill/>
          </a:ln>
        </p:spPr>
        <p:txBody>
          <a:bodyPr wrap="square" lIns="0" tIns="0" rIns="0" bIns="0" anchor="t">
            <a:noAutofit/>
          </a:bodyPr>
          <a:lstStyle/>
          <a:p>
            <a:pPr algn="l">
              <a:defRPr sz="2100" b="0">
                <a:solidFill>
                  <a:srgbClr val="111111"/>
                </a:solidFill>
                <a:latin typeface="Aptos"/>
                <a:ea typeface="Aptos"/>
                <a:cs typeface="Aptos"/>
              </a:defRPr>
            </a:pPr>
            <a:r>
              <a:rPr b="1"/>
              <a:t>B: 7 centres</a:t>
            </a:r>
          </a:p>
        </p:txBody>
      </p:sp>
      <p:sp>
        <p:nvSpPr>
          <p:cNvPr id="10" name="Teaching-558">
            <a:extLst>
              <a:ext uri="{FF2B5EF4-FFF2-40B4-BE49-F238E27FC236}">
                <a16:creationId xmlns:a16="http://schemas.microsoft.com/office/drawing/2014/main" id="{A1033DFA-501B-4219-8722-F963035D0F96}"/>
              </a:ext>
            </a:extLst>
          </p:cNvPr>
          <p:cNvSpPr>
            <a:spLocks noGrp="1"/>
          </p:cNvSpPr>
          <p:nvPr/>
        </p:nvSpPr>
        <p:spPr>
          <a:xfrm>
            <a:off x="6524625" y="5095875"/>
            <a:ext cx="5191125" cy="371475"/>
          </a:xfrm>
          <a:prstGeom prst="rect">
            <a:avLst/>
          </a:prstGeom>
          <a:noFill/>
          <a:ln w="0">
            <a:noFill/>
          </a:ln>
        </p:spPr>
        <p:txBody>
          <a:bodyPr wrap="square" lIns="0" tIns="0" rIns="0" bIns="0" anchor="t">
            <a:noAutofit/>
          </a:bodyPr>
          <a:lstStyle/>
          <a:p>
            <a:pPr algn="l">
              <a:defRPr sz="1875" b="0">
                <a:solidFill>
                  <a:srgbClr val="111111"/>
                </a:solidFill>
                <a:latin typeface="Aptos"/>
                <a:ea typeface="Aptos"/>
                <a:cs typeface="Aptos"/>
              </a:defRPr>
            </a:pPr>
            <a:r>
              <a:t>7 × ¥85 + 238 × ¥12.50 = </a:t>
            </a:r>
            <a:r>
              <a:rPr b="1"/>
              <a:t>¥3,570</a:t>
            </a:r>
          </a:p>
        </p:txBody>
      </p:sp>
      <p:sp>
        <p:nvSpPr>
          <p:cNvPr id="11" name="Teaching-559">
            <a:extLst>
              <a:ext uri="{FF2B5EF4-FFF2-40B4-BE49-F238E27FC236}">
                <a16:creationId xmlns:a16="http://schemas.microsoft.com/office/drawing/2014/main" id="{DA596109-5851-445B-AFC4-C848F28E4876}"/>
              </a:ext>
            </a:extLst>
          </p:cNvPr>
          <p:cNvSpPr>
            <a:spLocks noGrp="1"/>
          </p:cNvSpPr>
          <p:nvPr/>
        </p:nvSpPr>
        <p:spPr>
          <a:xfrm>
            <a:off x="6524625" y="5514975"/>
            <a:ext cx="5095875" cy="695325"/>
          </a:xfrm>
          <a:prstGeom prst="rect">
            <a:avLst/>
          </a:prstGeom>
          <a:noFill/>
          <a:ln w="0">
            <a:noFill/>
          </a:ln>
        </p:spPr>
        <p:txBody>
          <a:bodyPr wrap="square" lIns="0" tIns="0" rIns="0" bIns="0" anchor="t">
            <a:noAutofit/>
          </a:bodyPr>
          <a:lstStyle/>
          <a:p>
            <a:pPr algn="l">
              <a:defRPr sz="2025" b="0">
                <a:solidFill>
                  <a:srgbClr val="111111"/>
                </a:solidFill>
                <a:latin typeface="Aptos"/>
                <a:ea typeface="Aptos"/>
                <a:cs typeface="Aptos"/>
              </a:defRPr>
            </a:pPr>
            <a:r>
              <a:t>Similar trainees in 7 centres may</a:t>
            </a:r>
          </a:p>
          <a:p>
            <a:pPr algn="l">
              <a:defRPr sz="2025" b="0">
                <a:solidFill>
                  <a:srgbClr val="111111"/>
                </a:solidFill>
                <a:latin typeface="Aptos"/>
                <a:ea typeface="Aptos"/>
                <a:cs typeface="Aptos"/>
              </a:defRPr>
            </a:pPr>
            <a:r>
              <a:t>increase sampling variation.</a:t>
            </a:r>
          </a:p>
        </p:txBody>
      </p:sp>
    </p:spTree>
    <p:extLst>
      <p:ext uri="{BB962C8B-B14F-4D97-AF65-F5344CB8AC3E}">
        <p14:creationId xmlns:p14="http://schemas.microsoft.com/office/powerpoint/2010/main" val="3281361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aching-560">
            <a:extLst>
              <a:ext uri="{FF2B5EF4-FFF2-40B4-BE49-F238E27FC236}">
                <a16:creationId xmlns:a16="http://schemas.microsoft.com/office/drawing/2014/main" id="{49D2027D-0C8D-40EA-96C1-5C78324577DE}"/>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B5: Does the headline hold up?</a:t>
            </a:r>
          </a:p>
        </p:txBody>
      </p:sp>
      <p:sp>
        <p:nvSpPr>
          <p:cNvPr id="2" name="Teaching-561">
            <a:extLst>
              <a:ext uri="{FF2B5EF4-FFF2-40B4-BE49-F238E27FC236}">
                <a16:creationId xmlns:a16="http://schemas.microsoft.com/office/drawing/2014/main" id="{5E5EAA46-433B-4F2D-B668-69C8E25EE48E}"/>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562">
            <a:extLst>
              <a:ext uri="{FF2B5EF4-FFF2-40B4-BE49-F238E27FC236}">
                <a16:creationId xmlns:a16="http://schemas.microsoft.com/office/drawing/2014/main" id="{71AC32F0-4265-4720-9C27-F3A5A995CA4D}"/>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EXERCISE B5</a:t>
            </a:r>
          </a:p>
        </p:txBody>
      </p:sp>
      <p:sp>
        <p:nvSpPr>
          <p:cNvPr id="4" name="Teaching-563">
            <a:extLst>
              <a:ext uri="{FF2B5EF4-FFF2-40B4-BE49-F238E27FC236}">
                <a16:creationId xmlns:a16="http://schemas.microsoft.com/office/drawing/2014/main" id="{227F9947-A8AE-4709-958A-CE758B334A07}"/>
              </a:ext>
            </a:extLst>
          </p:cNvPr>
          <p:cNvSpPr>
            <a:spLocks noGrp="1"/>
          </p:cNvSpPr>
          <p:nvPr/>
        </p:nvSpPr>
        <p:spPr>
          <a:xfrm>
            <a:off x="428625" y="1952625"/>
            <a:ext cx="11296650" cy="5238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A college publishes this survey claim:</a:t>
            </a:r>
          </a:p>
        </p:txBody>
      </p:sp>
      <p:pic>
        <p:nvPicPr>
          <p:cNvPr id="14" name="Picture 13"/>
          <p:cNvPicPr>
            <a:picLocks noChangeAspect="1"/>
          </p:cNvPicPr>
          <p:nvPr/>
        </p:nvPicPr>
        <p:blipFill>
          <a:blip r:embed="rId3"/>
          <a:srcRect t="17052" b="17052"/>
          <a:stretch>
            <a:fillRect/>
          </a:stretch>
        </p:blipFill>
        <p:spPr>
          <a:xfrm>
            <a:off x="619125" y="2676525"/>
            <a:ext cx="3295650" cy="1628775"/>
          </a:xfrm>
          <a:prstGeom prst="rect">
            <a:avLst/>
          </a:prstGeom>
        </p:spPr>
      </p:pic>
      <p:sp>
        <p:nvSpPr>
          <p:cNvPr id="6" name="Teaching-564">
            <a:extLst>
              <a:ext uri="{FF2B5EF4-FFF2-40B4-BE49-F238E27FC236}">
                <a16:creationId xmlns:a16="http://schemas.microsoft.com/office/drawing/2014/main" id="{2FBF9F9C-60EC-4922-A116-F9067727EF3A}"/>
              </a:ext>
            </a:extLst>
          </p:cNvPr>
          <p:cNvSpPr>
            <a:spLocks noGrp="1"/>
          </p:cNvSpPr>
          <p:nvPr/>
        </p:nvSpPr>
        <p:spPr>
          <a:xfrm>
            <a:off x="4257675" y="2676525"/>
            <a:ext cx="7210425" cy="333375"/>
          </a:xfrm>
          <a:prstGeom prst="rect">
            <a:avLst/>
          </a:prstGeom>
          <a:noFill/>
          <a:ln w="0">
            <a:noFill/>
          </a:ln>
        </p:spPr>
        <p:txBody>
          <a:bodyPr wrap="square" lIns="0" tIns="0" rIns="0" bIns="0" anchor="t">
            <a:noAutofit/>
          </a:bodyPr>
          <a:lstStyle/>
          <a:p>
            <a:pPr algn="l">
              <a:defRPr sz="1725" b="1">
                <a:solidFill>
                  <a:srgbClr val="D9101B"/>
                </a:solidFill>
                <a:latin typeface="Aptos"/>
                <a:ea typeface="Aptos"/>
                <a:cs typeface="Aptos"/>
              </a:defRPr>
            </a:pPr>
            <a:r>
              <a:t>COLLEGE NEWS</a:t>
            </a:r>
          </a:p>
        </p:txBody>
      </p:sp>
      <p:sp>
        <p:nvSpPr>
          <p:cNvPr id="7" name="Teaching-565">
            <a:extLst>
              <a:ext uri="{FF2B5EF4-FFF2-40B4-BE49-F238E27FC236}">
                <a16:creationId xmlns:a16="http://schemas.microsoft.com/office/drawing/2014/main" id="{30E32904-00B9-4503-91DB-CB6610F724BB}"/>
              </a:ext>
            </a:extLst>
          </p:cNvPr>
          <p:cNvSpPr>
            <a:spLocks noGrp="1"/>
          </p:cNvSpPr>
          <p:nvPr/>
        </p:nvSpPr>
        <p:spPr>
          <a:xfrm>
            <a:off x="4257675" y="3152775"/>
            <a:ext cx="7210425" cy="1076325"/>
          </a:xfrm>
          <a:prstGeom prst="rect">
            <a:avLst/>
          </a:prstGeom>
          <a:noFill/>
          <a:ln w="0">
            <a:noFill/>
          </a:ln>
        </p:spPr>
        <p:txBody>
          <a:bodyPr wrap="square" lIns="0" tIns="0" rIns="0" bIns="0" anchor="t">
            <a:noAutofit/>
          </a:bodyPr>
          <a:lstStyle/>
          <a:p>
            <a:pPr algn="l">
              <a:defRPr sz="2775" b="1">
                <a:solidFill>
                  <a:srgbClr val="111111"/>
                </a:solidFill>
                <a:latin typeface="Aptos"/>
                <a:ea typeface="Aptos"/>
                <a:cs typeface="Aptos"/>
              </a:defRPr>
            </a:pPr>
            <a:r>
              <a:t>“79.2% of students back</a:t>
            </a:r>
          </a:p>
          <a:p>
            <a:pPr algn="l">
              <a:defRPr sz="2775" b="1">
                <a:solidFill>
                  <a:srgbClr val="111111"/>
                </a:solidFill>
                <a:latin typeface="Aptos"/>
                <a:ea typeface="Aptos"/>
                <a:cs typeface="Aptos"/>
              </a:defRPr>
            </a:pPr>
            <a:r>
              <a:t>longer library hours”</a:t>
            </a:r>
          </a:p>
        </p:txBody>
      </p:sp>
      <p:sp>
        <p:nvSpPr>
          <p:cNvPr id="8" name="Teaching-566">
            <a:extLst>
              <a:ext uri="{FF2B5EF4-FFF2-40B4-BE49-F238E27FC236}">
                <a16:creationId xmlns:a16="http://schemas.microsoft.com/office/drawing/2014/main" id="{05E28CB8-F8C3-4E45-8DBD-AAA21B8B0C3A}"/>
              </a:ext>
            </a:extLst>
          </p:cNvPr>
          <p:cNvSpPr>
            <a:spLocks noGrp="1"/>
          </p:cNvSpPr>
          <p:nvPr/>
        </p:nvSpPr>
        <p:spPr>
          <a:xfrm>
            <a:off x="619125" y="4581525"/>
            <a:ext cx="10810875" cy="742950"/>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rPr b="1"/>
              <a:t>B5.1</a:t>
            </a:r>
            <a:r>
              <a:t>  Identify four missing details. Rank the two most important</a:t>
            </a:r>
          </a:p>
          <a:p>
            <a:pPr algn="l">
              <a:defRPr sz="2250" b="0">
                <a:solidFill>
                  <a:srgbClr val="111111"/>
                </a:solidFill>
                <a:latin typeface="Aptos"/>
                <a:ea typeface="Aptos"/>
                <a:cs typeface="Aptos"/>
              </a:defRPr>
            </a:pPr>
            <a:r>
              <a:t>and explain why they matter.</a:t>
            </a:r>
          </a:p>
        </p:txBody>
      </p:sp>
      <p:sp>
        <p:nvSpPr>
          <p:cNvPr id="9" name="Teaching-567">
            <a:extLst>
              <a:ext uri="{FF2B5EF4-FFF2-40B4-BE49-F238E27FC236}">
                <a16:creationId xmlns:a16="http://schemas.microsoft.com/office/drawing/2014/main" id="{D7656750-7E7F-4028-9E83-8F3BDEAEE734}"/>
              </a:ext>
            </a:extLst>
          </p:cNvPr>
          <p:cNvSpPr>
            <a:spLocks noGrp="1"/>
          </p:cNvSpPr>
          <p:nvPr/>
        </p:nvSpPr>
        <p:spPr>
          <a:xfrm>
            <a:off x="619125" y="5534025"/>
            <a:ext cx="10810875" cy="742950"/>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b="1"/>
              <a:t>B5.2</a:t>
            </a:r>
            <a:r>
              <a:t>  Assume 79.2% is the percentage among respondents.</a:t>
            </a:r>
          </a:p>
          <a:p>
            <a:pPr algn="l">
              <a:defRPr sz="2175" b="0">
                <a:solidFill>
                  <a:srgbClr val="111111"/>
                </a:solidFill>
                <a:latin typeface="Aptos"/>
                <a:ea typeface="Aptos"/>
                <a:cs typeface="Aptos"/>
              </a:defRPr>
            </a:pPr>
            <a:r>
              <a:t>Rewrite the headline. Does one decimal place make it trustworthy?</a:t>
            </a:r>
          </a:p>
        </p:txBody>
      </p:sp>
    </p:spTree>
    <p:extLst>
      <p:ext uri="{BB962C8B-B14F-4D97-AF65-F5344CB8AC3E}">
        <p14:creationId xmlns:p14="http://schemas.microsoft.com/office/powerpoint/2010/main" val="32813612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aching-568">
            <a:extLst>
              <a:ext uri="{FF2B5EF4-FFF2-40B4-BE49-F238E27FC236}">
                <a16:creationId xmlns:a16="http://schemas.microsoft.com/office/drawing/2014/main" id="{4E72C921-7EBA-4F56-80AA-1A507F8FA0CF}"/>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B5: Evidence behind the number</a:t>
            </a:r>
          </a:p>
        </p:txBody>
      </p:sp>
      <p:sp>
        <p:nvSpPr>
          <p:cNvPr id="2" name="Teaching-569">
            <a:extLst>
              <a:ext uri="{FF2B5EF4-FFF2-40B4-BE49-F238E27FC236}">
                <a16:creationId xmlns:a16="http://schemas.microsoft.com/office/drawing/2014/main" id="{F44D70BF-9097-4327-9747-E1CEDF5CAF33}"/>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570">
            <a:extLst>
              <a:ext uri="{FF2B5EF4-FFF2-40B4-BE49-F238E27FC236}">
                <a16:creationId xmlns:a16="http://schemas.microsoft.com/office/drawing/2014/main" id="{F362F423-373C-4CC0-9BBA-4772D4A20892}"/>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EXERCISE B5</a:t>
            </a:r>
          </a:p>
        </p:txBody>
      </p:sp>
      <p:graphicFrame>
        <p:nvGraphicFramePr>
          <p:cNvPr id="9" name="Table 8"/>
          <p:cNvGraphicFramePr/>
          <p:nvPr/>
        </p:nvGraphicFramePr>
        <p:xfrm>
          <a:off x="619125" y="2105025"/>
          <a:ext cx="10715625" cy="3371850"/>
        </p:xfrm>
        <a:graphic>
          <a:graphicData uri="http://schemas.openxmlformats.org/drawingml/2006/table">
            <a:tbl>
              <a:tblPr/>
              <a:tblGrid>
                <a:gridCol w="4524375">
                  <a:extLst>
                    <a:ext uri="{9D8B030D-6E8A-4147-A177-3AD203B41FA5}">
                      <a16:colId xmlns:a16="http://schemas.microsoft.com/office/drawing/2014/main" val="20000"/>
                    </a:ext>
                  </a:extLst>
                </a:gridCol>
                <a:gridCol w="6191250">
                  <a:extLst>
                    <a:ext uri="{9D8B030D-6E8A-4147-A177-3AD203B41FA5}">
                      <a16:colId xmlns:a16="http://schemas.microsoft.com/office/drawing/2014/main" val="20001"/>
                    </a:ext>
                  </a:extLst>
                </a:gridCol>
              </a:tblGrid>
              <a:tr h="514350">
                <a:tc>
                  <a:txBody>
                    <a:bodyPr/>
                    <a:lstStyle/>
                    <a:p>
                      <a:pPr algn="l"/>
                      <a:r>
                        <a:rPr sz="2063" b="1">
                          <a:solidFill>
                            <a:srgbClr val="FFFFFF"/>
                          </a:solidFill>
                          <a:latin typeface="Aptos"/>
                          <a:ea typeface="Aptos"/>
                          <a:cs typeface="Aptos"/>
                        </a:rPr>
                        <a:t>Missing detail</a:t>
                      </a:r>
                    </a:p>
                  </a:txBody>
                  <a:tcPr anchor="ctr">
                    <a:solidFill>
                      <a:srgbClr val="D9101B"/>
                    </a:solidFill>
                  </a:tcPr>
                </a:tc>
                <a:tc>
                  <a:txBody>
                    <a:bodyPr/>
                    <a:lstStyle/>
                    <a:p>
                      <a:pPr algn="l"/>
                      <a:r>
                        <a:rPr sz="2063" b="1">
                          <a:solidFill>
                            <a:srgbClr val="FFFFFF"/>
                          </a:solidFill>
                          <a:latin typeface="Aptos"/>
                          <a:ea typeface="Aptos"/>
                          <a:cs typeface="Aptos"/>
                        </a:rPr>
                        <a:t>Why it matters</a:t>
                      </a:r>
                    </a:p>
                  </a:txBody>
                  <a:tcPr anchor="ctr">
                    <a:solidFill>
                      <a:srgbClr val="D9101B"/>
                    </a:solidFill>
                  </a:tcPr>
                </a:tc>
                <a:extLst>
                  <a:ext uri="{0D108BD9-81ED-4DB2-BD59-A6C34878D82A}">
                    <a16:rowId xmlns:a16="http://schemas.microsoft.com/office/drawing/2014/main" val="10000"/>
                  </a:ext>
                </a:extLst>
              </a:tr>
              <a:tr h="647700">
                <a:tc>
                  <a:txBody>
                    <a:bodyPr/>
                    <a:lstStyle/>
                    <a:p>
                      <a:pPr algn="l"/>
                      <a:r>
                        <a:rPr sz="2063" b="0">
                          <a:solidFill>
                            <a:srgbClr val="111111"/>
                          </a:solidFill>
                          <a:latin typeface="Aptos"/>
                          <a:ea typeface="Aptos"/>
                          <a:cs typeface="Aptos"/>
                        </a:rPr>
                        <a:t>Selection process and coverage</a:t>
                      </a:r>
                    </a:p>
                  </a:txBody>
                  <a:tcPr anchor="ctr">
                    <a:solidFill>
                      <a:srgbClr val="FFFFFF"/>
                    </a:solidFill>
                  </a:tcPr>
                </a:tc>
                <a:tc>
                  <a:txBody>
                    <a:bodyPr/>
                    <a:lstStyle/>
                    <a:p>
                      <a:pPr algn="l"/>
                      <a:r>
                        <a:rPr sz="2063" b="0">
                          <a:solidFill>
                            <a:srgbClr val="111111"/>
                          </a:solidFill>
                          <a:latin typeface="Aptos"/>
                          <a:ea typeface="Aptos"/>
                          <a:cs typeface="Aptos"/>
                        </a:rPr>
                        <a:t>Were some students systematically excluded?</a:t>
                      </a:r>
                    </a:p>
                  </a:txBody>
                  <a:tcPr anchor="ctr">
                    <a:solidFill>
                      <a:srgbClr val="FFFFFF"/>
                    </a:solidFill>
                  </a:tcPr>
                </a:tc>
                <a:extLst>
                  <a:ext uri="{0D108BD9-81ED-4DB2-BD59-A6C34878D82A}">
                    <a16:rowId xmlns:a16="http://schemas.microsoft.com/office/drawing/2014/main" val="10001"/>
                  </a:ext>
                </a:extLst>
              </a:tr>
              <a:tr h="771525">
                <a:tc>
                  <a:txBody>
                    <a:bodyPr/>
                    <a:lstStyle/>
                    <a:p>
                      <a:pPr algn="l"/>
                      <a:r>
                        <a:rPr sz="2063" b="0">
                          <a:solidFill>
                            <a:srgbClr val="111111"/>
                          </a:solidFill>
                          <a:latin typeface="Aptos"/>
                          <a:ea typeface="Aptos"/>
                          <a:cs typeface="Aptos"/>
                        </a:rPr>
                        <a:t>Numbers invited and responding</a:t>
                      </a:r>
                    </a:p>
                  </a:txBody>
                  <a:tcPr anchor="ctr">
                    <a:solidFill>
                      <a:srgbClr val="EFF7FD"/>
                    </a:solidFill>
                  </a:tcPr>
                </a:tc>
                <a:tc>
                  <a:txBody>
                    <a:bodyPr/>
                    <a:lstStyle/>
                    <a:p>
                      <a:pPr algn="l"/>
                      <a:r>
                        <a:rPr sz="2063" b="0">
                          <a:solidFill>
                            <a:srgbClr val="111111"/>
                          </a:solidFill>
                          <a:latin typeface="Aptos"/>
                          <a:ea typeface="Aptos"/>
                          <a:cs typeface="Aptos"/>
                        </a:rPr>
                        <a:t>How much evidence is there, and who is missing?</a:t>
                      </a:r>
                    </a:p>
                  </a:txBody>
                  <a:tcPr anchor="ctr">
                    <a:solidFill>
                      <a:srgbClr val="EFF7FD"/>
                    </a:solidFill>
                  </a:tcPr>
                </a:tc>
                <a:extLst>
                  <a:ext uri="{0D108BD9-81ED-4DB2-BD59-A6C34878D82A}">
                    <a16:rowId xmlns:a16="http://schemas.microsoft.com/office/drawing/2014/main" val="10002"/>
                  </a:ext>
                </a:extLst>
              </a:tr>
              <a:tr h="771525">
                <a:tc>
                  <a:txBody>
                    <a:bodyPr/>
                    <a:lstStyle/>
                    <a:p>
                      <a:pPr algn="l"/>
                      <a:r>
                        <a:rPr sz="2063" b="0">
                          <a:solidFill>
                            <a:srgbClr val="111111"/>
                          </a:solidFill>
                          <a:latin typeface="Aptos"/>
                          <a:ea typeface="Aptos"/>
                          <a:cs typeface="Aptos"/>
                        </a:rPr>
                        <a:t>Exact question and response options</a:t>
                      </a:r>
                    </a:p>
                  </a:txBody>
                  <a:tcPr anchor="ctr">
                    <a:solidFill>
                      <a:srgbClr val="FFFFFF"/>
                    </a:solidFill>
                  </a:tcPr>
                </a:tc>
                <a:tc>
                  <a:txBody>
                    <a:bodyPr/>
                    <a:lstStyle/>
                    <a:p>
                      <a:pPr algn="l"/>
                      <a:r>
                        <a:rPr sz="2063" b="0">
                          <a:solidFill>
                            <a:srgbClr val="111111"/>
                          </a:solidFill>
                          <a:latin typeface="Aptos"/>
                          <a:ea typeface="Aptos"/>
                          <a:cs typeface="Aptos"/>
                        </a:rPr>
                        <a:t>Could wording push answers towards support?</a:t>
                      </a:r>
                    </a:p>
                  </a:txBody>
                  <a:tcPr anchor="ctr">
                    <a:solidFill>
                      <a:srgbClr val="FFFFFF"/>
                    </a:solidFill>
                  </a:tcPr>
                </a:tc>
                <a:extLst>
                  <a:ext uri="{0D108BD9-81ED-4DB2-BD59-A6C34878D82A}">
                    <a16:rowId xmlns:a16="http://schemas.microsoft.com/office/drawing/2014/main" val="10003"/>
                  </a:ext>
                </a:extLst>
              </a:tr>
              <a:tr h="666750">
                <a:tc>
                  <a:txBody>
                    <a:bodyPr/>
                    <a:lstStyle/>
                    <a:p>
                      <a:pPr algn="l"/>
                      <a:r>
                        <a:rPr sz="2063" b="0">
                          <a:solidFill>
                            <a:srgbClr val="111111"/>
                          </a:solidFill>
                          <a:latin typeface="Aptos"/>
                          <a:ea typeface="Aptos"/>
                          <a:cs typeface="Aptos"/>
                        </a:rPr>
                        <a:t>Which students the claim concerns</a:t>
                      </a:r>
                    </a:p>
                  </a:txBody>
                  <a:tcPr anchor="ctr">
                    <a:solidFill>
                      <a:srgbClr val="EFF7FD"/>
                    </a:solidFill>
                  </a:tcPr>
                </a:tc>
                <a:tc>
                  <a:txBody>
                    <a:bodyPr/>
                    <a:lstStyle/>
                    <a:p>
                      <a:pPr algn="l"/>
                      <a:r>
                        <a:rPr sz="2063" b="0">
                          <a:solidFill>
                            <a:srgbClr val="111111"/>
                          </a:solidFill>
                          <a:latin typeface="Aptos"/>
                          <a:ea typeface="Aptos"/>
                          <a:cs typeface="Aptos"/>
                        </a:rPr>
                        <a:t>Does the sample match that target population?</a:t>
                      </a:r>
                    </a:p>
                  </a:txBody>
                  <a:tcPr anchor="ctr">
                    <a:solidFill>
                      <a:srgbClr val="EFF7FD"/>
                    </a:solidFill>
                  </a:tcPr>
                </a:tc>
                <a:extLst>
                  <a:ext uri="{0D108BD9-81ED-4DB2-BD59-A6C34878D82A}">
                    <a16:rowId xmlns:a16="http://schemas.microsoft.com/office/drawing/2014/main" val="10004"/>
                  </a:ext>
                </a:extLst>
              </a:tr>
            </a:tbl>
          </a:graphicData>
        </a:graphic>
      </p:graphicFrame>
      <p:sp>
        <p:nvSpPr>
          <p:cNvPr id="5" name="Teaching-571">
            <a:extLst>
              <a:ext uri="{FF2B5EF4-FFF2-40B4-BE49-F238E27FC236}">
                <a16:creationId xmlns:a16="http://schemas.microsoft.com/office/drawing/2014/main" id="{80B74EBE-9D76-4307-9F85-247DB40C6D1B}"/>
              </a:ext>
            </a:extLst>
          </p:cNvPr>
          <p:cNvSpPr>
            <a:spLocks noGrp="1"/>
          </p:cNvSpPr>
          <p:nvPr/>
        </p:nvSpPr>
        <p:spPr>
          <a:xfrm>
            <a:off x="619125" y="5648325"/>
            <a:ext cx="10810875" cy="619125"/>
          </a:xfrm>
          <a:prstGeom prst="rect">
            <a:avLst/>
          </a:prstGeom>
          <a:noFill/>
          <a:ln w="0">
            <a:noFill/>
          </a:ln>
        </p:spPr>
        <p:txBody>
          <a:bodyPr wrap="square" lIns="0" tIns="0" rIns="0" bIns="0" anchor="t">
            <a:noAutofit/>
          </a:bodyPr>
          <a:lstStyle/>
          <a:p>
            <a:pPr algn="l">
              <a:defRPr sz="2063" b="0">
                <a:solidFill>
                  <a:srgbClr val="111111"/>
                </a:solidFill>
                <a:latin typeface="Aptos"/>
                <a:ea typeface="Aptos"/>
                <a:cs typeface="Aptos"/>
              </a:defRPr>
            </a:pPr>
            <a:r>
              <a:rPr b="1"/>
              <a:t>B5.2</a:t>
            </a:r>
            <a:r>
              <a:t>  “79.2% of respondents in this survey supported longer hours.”</a:t>
            </a:r>
          </a:p>
          <a:p>
            <a:pPr algn="l">
              <a:defRPr sz="2063" b="0">
                <a:solidFill>
                  <a:srgbClr val="111111"/>
                </a:solidFill>
                <a:latin typeface="Aptos"/>
                <a:ea typeface="Aptos"/>
                <a:cs typeface="Aptos"/>
              </a:defRPr>
            </a:pPr>
            <a:r>
              <a:t>Extra decimal places do not establish trustworthy sampling.</a:t>
            </a:r>
          </a:p>
        </p:txBody>
      </p:sp>
    </p:spTree>
    <p:extLst>
      <p:ext uri="{BB962C8B-B14F-4D97-AF65-F5344CB8AC3E}">
        <p14:creationId xmlns:p14="http://schemas.microsoft.com/office/powerpoint/2010/main" val="32813612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aching-572">
            <a:extLst>
              <a:ext uri="{FF2B5EF4-FFF2-40B4-BE49-F238E27FC236}">
                <a16:creationId xmlns:a16="http://schemas.microsoft.com/office/drawing/2014/main" id="{E39FDE86-AB3F-4193-8440-B14796AF1CBD}"/>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B6: Individual exit check</a:t>
            </a:r>
          </a:p>
        </p:txBody>
      </p:sp>
      <p:sp>
        <p:nvSpPr>
          <p:cNvPr id="2" name="Teaching-573">
            <a:extLst>
              <a:ext uri="{FF2B5EF4-FFF2-40B4-BE49-F238E27FC236}">
                <a16:creationId xmlns:a16="http://schemas.microsoft.com/office/drawing/2014/main" id="{2D70DA94-608A-4497-9438-3B574D2CDD41}"/>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574">
            <a:extLst>
              <a:ext uri="{FF2B5EF4-FFF2-40B4-BE49-F238E27FC236}">
                <a16:creationId xmlns:a16="http://schemas.microsoft.com/office/drawing/2014/main" id="{8EC26553-CB27-4D7C-AA75-85454B6329B8}"/>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EXERCISE B6</a:t>
            </a:r>
          </a:p>
        </p:txBody>
      </p:sp>
      <p:sp>
        <p:nvSpPr>
          <p:cNvPr id="4" name="Teaching-575">
            <a:extLst>
              <a:ext uri="{FF2B5EF4-FFF2-40B4-BE49-F238E27FC236}">
                <a16:creationId xmlns:a16="http://schemas.microsoft.com/office/drawing/2014/main" id="{C7F0D5EC-729E-485C-B12A-83CECA916A8C}"/>
              </a:ext>
            </a:extLst>
          </p:cNvPr>
          <p:cNvSpPr>
            <a:spLocks noGrp="1"/>
          </p:cNvSpPr>
          <p:nvPr/>
        </p:nvSpPr>
        <p:spPr>
          <a:xfrm>
            <a:off x="619125" y="2362200"/>
            <a:ext cx="10810875" cy="10572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B6.1</a:t>
            </a:r>
            <a:r>
              <a:t>  Two departments contain 184 and 327 people. Researchers</a:t>
            </a:r>
          </a:p>
          <a:p>
            <a:pPr algn="l">
              <a:defRPr sz="2325" b="0">
                <a:solidFill>
                  <a:srgbClr val="111111"/>
                </a:solidFill>
                <a:latin typeface="Aptos"/>
                <a:ea typeface="Aptos"/>
                <a:cs typeface="Aptos"/>
              </a:defRPr>
            </a:pPr>
            <a:r>
              <a:t>randomly select 19 from each. Name the method. Is it proportional?</a:t>
            </a:r>
          </a:p>
        </p:txBody>
      </p:sp>
      <p:sp>
        <p:nvSpPr>
          <p:cNvPr id="5" name="Teaching-576">
            <a:extLst>
              <a:ext uri="{FF2B5EF4-FFF2-40B4-BE49-F238E27FC236}">
                <a16:creationId xmlns:a16="http://schemas.microsoft.com/office/drawing/2014/main" id="{774EC3BB-70C9-4720-8D0E-2FE7ABED69A5}"/>
              </a:ext>
            </a:extLst>
          </p:cNvPr>
          <p:cNvSpPr>
            <a:spLocks noGrp="1"/>
          </p:cNvSpPr>
          <p:nvPr/>
        </p:nvSpPr>
        <p:spPr>
          <a:xfrm>
            <a:off x="619125" y="3638550"/>
            <a:ext cx="10810875" cy="107632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B6.2</a:t>
            </a:r>
            <a:r>
              <a:t>  A random sample receives 287 invitations, but only 169 reply.</a:t>
            </a:r>
          </a:p>
          <a:p>
            <a:pPr algn="l">
              <a:defRPr sz="2325" b="0">
                <a:solidFill>
                  <a:srgbClr val="111111"/>
                </a:solidFill>
                <a:latin typeface="Aptos"/>
                <a:ea typeface="Aptos"/>
                <a:cs typeface="Aptos"/>
              </a:defRPr>
            </a:pPr>
            <a:r>
              <a:t>What type of bias is a concern, and when would it occur?</a:t>
            </a:r>
          </a:p>
        </p:txBody>
      </p:sp>
      <p:sp>
        <p:nvSpPr>
          <p:cNvPr id="6" name="Teaching-577">
            <a:extLst>
              <a:ext uri="{FF2B5EF4-FFF2-40B4-BE49-F238E27FC236}">
                <a16:creationId xmlns:a16="http://schemas.microsoft.com/office/drawing/2014/main" id="{66D8FD6C-2456-49A4-8B26-F271F98322CF}"/>
              </a:ext>
            </a:extLst>
          </p:cNvPr>
          <p:cNvSpPr>
            <a:spLocks noGrp="1"/>
          </p:cNvSpPr>
          <p:nvPr/>
        </p:nvSpPr>
        <p:spPr>
          <a:xfrm>
            <a:off x="619125" y="4933950"/>
            <a:ext cx="10810875" cy="9906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B6.3</a:t>
            </a:r>
            <a:r>
              <a:t>  A team doubles its sample but keeps a leading question.</a:t>
            </a:r>
          </a:p>
          <a:p>
            <a:pPr algn="l">
              <a:defRPr sz="2325" b="0">
                <a:solidFill>
                  <a:srgbClr val="111111"/>
                </a:solidFill>
                <a:latin typeface="Aptos"/>
                <a:ea typeface="Aptos"/>
                <a:cs typeface="Aptos"/>
              </a:defRPr>
            </a:pPr>
            <a:r>
              <a:t>Has it solved the problem? Explain.</a:t>
            </a:r>
          </a:p>
        </p:txBody>
      </p:sp>
      <p:sp>
        <p:nvSpPr>
          <p:cNvPr id="7" name="Teaching-578">
            <a:extLst>
              <a:ext uri="{FF2B5EF4-FFF2-40B4-BE49-F238E27FC236}">
                <a16:creationId xmlns:a16="http://schemas.microsoft.com/office/drawing/2014/main" id="{C96A6E69-AB0D-4E6D-9D6E-E6E9BBA210BB}"/>
              </a:ext>
            </a:extLst>
          </p:cNvPr>
          <p:cNvSpPr>
            <a:spLocks noGrp="1"/>
          </p:cNvSpPr>
          <p:nvPr/>
        </p:nvSpPr>
        <p:spPr>
          <a:xfrm>
            <a:off x="523875" y="6010275"/>
            <a:ext cx="11087100" cy="333375"/>
          </a:xfrm>
          <a:prstGeom prst="rect">
            <a:avLst/>
          </a:prstGeom>
          <a:noFill/>
          <a:ln w="0">
            <a:noFill/>
          </a:ln>
        </p:spPr>
        <p:txBody>
          <a:bodyPr wrap="square" lIns="0" tIns="0" rIns="0" bIns="0" anchor="t">
            <a:noAutofit/>
          </a:bodyPr>
          <a:lstStyle/>
          <a:p>
            <a:pPr algn="l">
              <a:defRPr sz="1725" b="0">
                <a:solidFill>
                  <a:srgbClr val="666666"/>
                </a:solidFill>
                <a:latin typeface="Aptos"/>
                <a:ea typeface="Aptos"/>
                <a:cs typeface="Aptos"/>
              </a:defRPr>
            </a:pPr>
            <a:r>
              <a:t>Give reasons. Method names alone are not enough.</a:t>
            </a:r>
          </a:p>
        </p:txBody>
      </p:sp>
    </p:spTree>
    <p:extLst>
      <p:ext uri="{BB962C8B-B14F-4D97-AF65-F5344CB8AC3E}">
        <p14:creationId xmlns:p14="http://schemas.microsoft.com/office/powerpoint/2010/main" val="32813612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aching-579">
            <a:extLst>
              <a:ext uri="{FF2B5EF4-FFF2-40B4-BE49-F238E27FC236}">
                <a16:creationId xmlns:a16="http://schemas.microsoft.com/office/drawing/2014/main" id="{9DEAD8D5-CC66-43FA-8CBF-CAAAFD23DBE4}"/>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B6: Answers and reasons</a:t>
            </a:r>
          </a:p>
        </p:txBody>
      </p:sp>
      <p:sp>
        <p:nvSpPr>
          <p:cNvPr id="2" name="Teaching-580">
            <a:extLst>
              <a:ext uri="{FF2B5EF4-FFF2-40B4-BE49-F238E27FC236}">
                <a16:creationId xmlns:a16="http://schemas.microsoft.com/office/drawing/2014/main" id="{6B9B1C15-DF0D-477A-899C-B42286649489}"/>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581">
            <a:extLst>
              <a:ext uri="{FF2B5EF4-FFF2-40B4-BE49-F238E27FC236}">
                <a16:creationId xmlns:a16="http://schemas.microsoft.com/office/drawing/2014/main" id="{43213742-3B1B-4687-8467-4311713FD6C1}"/>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EXERCISE B6</a:t>
            </a:r>
          </a:p>
        </p:txBody>
      </p:sp>
      <p:sp>
        <p:nvSpPr>
          <p:cNvPr id="4" name="Teaching-582">
            <a:extLst>
              <a:ext uri="{FF2B5EF4-FFF2-40B4-BE49-F238E27FC236}">
                <a16:creationId xmlns:a16="http://schemas.microsoft.com/office/drawing/2014/main" id="{171C7A4A-6C35-47B8-8504-A1D6BEFC33F8}"/>
              </a:ext>
            </a:extLst>
          </p:cNvPr>
          <p:cNvSpPr>
            <a:spLocks noGrp="1"/>
          </p:cNvSpPr>
          <p:nvPr/>
        </p:nvSpPr>
        <p:spPr>
          <a:xfrm>
            <a:off x="619125" y="2409825"/>
            <a:ext cx="10810875" cy="12763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B6.1  Stratified, but not proportional.</a:t>
            </a:r>
          </a:p>
          <a:p>
            <a:pPr algn="l">
              <a:defRPr sz="2325" b="0">
                <a:solidFill>
                  <a:srgbClr val="111111"/>
                </a:solidFill>
                <a:latin typeface="Aptos"/>
                <a:ea typeface="Aptos"/>
                <a:cs typeface="Aptos"/>
              </a:defRPr>
            </a:pPr>
            <a:r>
              <a:t>Random selection happens in both departments. Equal samples</a:t>
            </a:r>
          </a:p>
          <a:p>
            <a:pPr algn="l">
              <a:defRPr sz="2325" b="0">
                <a:solidFill>
                  <a:srgbClr val="111111"/>
                </a:solidFill>
                <a:latin typeface="Aptos"/>
                <a:ea typeface="Aptos"/>
                <a:cs typeface="Aptos"/>
              </a:defRPr>
            </a:pPr>
            <a:r>
              <a:t>from unequal populations do not preserve population shares.</a:t>
            </a:r>
          </a:p>
        </p:txBody>
      </p:sp>
      <p:sp>
        <p:nvSpPr>
          <p:cNvPr id="5" name="Teaching-583">
            <a:extLst>
              <a:ext uri="{FF2B5EF4-FFF2-40B4-BE49-F238E27FC236}">
                <a16:creationId xmlns:a16="http://schemas.microsoft.com/office/drawing/2014/main" id="{322431F7-FE57-4949-B7E7-A0C29BE6C36C}"/>
              </a:ext>
            </a:extLst>
          </p:cNvPr>
          <p:cNvSpPr>
            <a:spLocks noGrp="1"/>
          </p:cNvSpPr>
          <p:nvPr/>
        </p:nvSpPr>
        <p:spPr>
          <a:xfrm>
            <a:off x="619125" y="3876675"/>
            <a:ext cx="10810875" cy="12573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dirty="0"/>
              <a:t>B6.2  Possible nonresponse bias.</a:t>
            </a:r>
          </a:p>
          <a:p>
            <a:pPr algn="l">
              <a:defRPr sz="2325" b="0">
                <a:solidFill>
                  <a:srgbClr val="111111"/>
                </a:solidFill>
                <a:latin typeface="Aptos"/>
                <a:ea typeface="Aptos"/>
                <a:cs typeface="Aptos"/>
              </a:defRPr>
            </a:pPr>
            <a:r>
              <a:rPr dirty="0"/>
              <a:t>It occurs if respondents and nonrespondents differ in ways</a:t>
            </a:r>
          </a:p>
          <a:p>
            <a:pPr algn="l">
              <a:defRPr sz="2325" b="0">
                <a:solidFill>
                  <a:srgbClr val="111111"/>
                </a:solidFill>
                <a:latin typeface="Aptos"/>
                <a:ea typeface="Aptos"/>
                <a:cs typeface="Aptos"/>
              </a:defRPr>
            </a:pPr>
            <a:r>
              <a:rPr dirty="0"/>
              <a:t>relevant to what the survey measures.</a:t>
            </a:r>
          </a:p>
        </p:txBody>
      </p:sp>
      <p:sp>
        <p:nvSpPr>
          <p:cNvPr id="6" name="Teaching-584">
            <a:extLst>
              <a:ext uri="{FF2B5EF4-FFF2-40B4-BE49-F238E27FC236}">
                <a16:creationId xmlns:a16="http://schemas.microsoft.com/office/drawing/2014/main" id="{C5AAC9A7-393A-4D78-B680-F0B2AE1B3987}"/>
              </a:ext>
            </a:extLst>
          </p:cNvPr>
          <p:cNvSpPr>
            <a:spLocks noGrp="1"/>
          </p:cNvSpPr>
          <p:nvPr/>
        </p:nvSpPr>
        <p:spPr>
          <a:xfrm>
            <a:off x="619125" y="5334000"/>
            <a:ext cx="10810875" cy="8382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b="1"/>
              <a:t>B6.3  The wording problem remains.</a:t>
            </a:r>
          </a:p>
          <a:p>
            <a:pPr algn="l">
              <a:defRPr sz="2325" b="0">
                <a:solidFill>
                  <a:srgbClr val="111111"/>
                </a:solidFill>
                <a:latin typeface="Aptos"/>
                <a:ea typeface="Aptos"/>
                <a:cs typeface="Aptos"/>
              </a:defRPr>
            </a:pPr>
            <a:r>
              <a:t>More answers to the same leading question can still be biased.</a:t>
            </a:r>
          </a:p>
        </p:txBody>
      </p:sp>
    </p:spTree>
    <p:extLst>
      <p:ext uri="{BB962C8B-B14F-4D97-AF65-F5344CB8AC3E}">
        <p14:creationId xmlns:p14="http://schemas.microsoft.com/office/powerpoint/2010/main" val="32813612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aching-585">
            <a:extLst>
              <a:ext uri="{FF2B5EF4-FFF2-40B4-BE49-F238E27FC236}">
                <a16:creationId xmlns:a16="http://schemas.microsoft.com/office/drawing/2014/main" id="{7117DAD9-322B-4CDE-B955-2E3A680E3A0F}"/>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Next: a complete investigation</a:t>
            </a:r>
          </a:p>
        </p:txBody>
      </p:sp>
      <p:sp>
        <p:nvSpPr>
          <p:cNvPr id="2" name="Teaching-586">
            <a:extLst>
              <a:ext uri="{FF2B5EF4-FFF2-40B4-BE49-F238E27FC236}">
                <a16:creationId xmlns:a16="http://schemas.microsoft.com/office/drawing/2014/main" id="{988908AA-53B2-4ED3-965D-BEBF872BB82D}"/>
              </a:ext>
            </a:extLst>
          </p:cNvPr>
          <p:cNvSpPr>
            <a:spLocks noGrp="1"/>
          </p:cNvSpPr>
          <p:nvPr/>
        </p:nvSpPr>
        <p:spPr>
          <a:xfrm>
            <a:off x="428625" y="1952625"/>
            <a:ext cx="11296650" cy="6381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In Class C, you will repair and defend a full research plan.</a:t>
            </a:r>
          </a:p>
        </p:txBody>
      </p:sp>
      <p:sp>
        <p:nvSpPr>
          <p:cNvPr id="3" name="Teaching-587">
            <a:extLst>
              <a:ext uri="{FF2B5EF4-FFF2-40B4-BE49-F238E27FC236}">
                <a16:creationId xmlns:a16="http://schemas.microsoft.com/office/drawing/2014/main" id="{47A8F296-BD17-4E4E-9EBD-FC1F1CF55565}"/>
              </a:ext>
            </a:extLst>
          </p:cNvPr>
          <p:cNvSpPr>
            <a:spLocks noGrp="1"/>
          </p:cNvSpPr>
          <p:nvPr/>
        </p:nvSpPr>
        <p:spPr>
          <a:xfrm>
            <a:off x="619125" y="2933700"/>
            <a:ext cx="10810875" cy="2847975"/>
          </a:xfrm>
          <a:prstGeom prst="rect">
            <a:avLst/>
          </a:prstGeom>
          <a:noFill/>
          <a:ln w="0">
            <a:noFill/>
          </a:ln>
        </p:spPr>
        <p:txBody>
          <a:bodyPr wrap="square" lIns="0" tIns="0" rIns="0" bIns="0" anchor="t">
            <a:noAutofit/>
          </a:bodyPr>
          <a:lstStyle/>
          <a:p>
            <a:pPr algn="l">
              <a:defRPr sz="2475" b="0">
                <a:solidFill>
                  <a:srgbClr val="111111"/>
                </a:solidFill>
                <a:latin typeface="Aptos"/>
                <a:ea typeface="Aptos"/>
                <a:cs typeface="Aptos"/>
              </a:defRPr>
            </a:pPr>
            <a:r>
              <a:t>You can now:</a:t>
            </a:r>
          </a:p>
          <a:p>
            <a:pPr algn="l">
              <a:defRPr sz="2475" b="0">
                <a:solidFill>
                  <a:srgbClr val="111111"/>
                </a:solidFill>
                <a:latin typeface="Aptos"/>
                <a:ea typeface="Aptos"/>
                <a:cs typeface="Aptos"/>
              </a:defRPr>
            </a:pPr>
            <a:endParaRPr/>
          </a:p>
          <a:p>
            <a:pPr algn="l">
              <a:defRPr sz="2475" b="0">
                <a:solidFill>
                  <a:srgbClr val="111111"/>
                </a:solidFill>
                <a:latin typeface="Aptos"/>
                <a:ea typeface="Aptos"/>
                <a:cs typeface="Aptos"/>
              </a:defRPr>
            </a:pPr>
            <a:r>
              <a:t>Explain who each sampling method selects.</a:t>
            </a:r>
          </a:p>
          <a:p>
            <a:pPr algn="l">
              <a:defRPr sz="2475" b="0">
                <a:solidFill>
                  <a:srgbClr val="111111"/>
                </a:solidFill>
                <a:latin typeface="Aptos"/>
                <a:ea typeface="Aptos"/>
                <a:cs typeface="Aptos"/>
              </a:defRPr>
            </a:pPr>
            <a:r>
              <a:t>Calculate allocations and compare practical costs.</a:t>
            </a:r>
          </a:p>
          <a:p>
            <a:pPr algn="l">
              <a:defRPr sz="2475" b="0">
                <a:solidFill>
                  <a:srgbClr val="111111"/>
                </a:solidFill>
                <a:latin typeface="Aptos"/>
                <a:ea typeface="Aptos"/>
                <a:cs typeface="Aptos"/>
              </a:defRPr>
            </a:pPr>
            <a:r>
              <a:t>Distinguish chance variation from bias.</a:t>
            </a:r>
          </a:p>
          <a:p>
            <a:pPr algn="l">
              <a:defRPr sz="2475" b="0">
                <a:solidFill>
                  <a:srgbClr val="111111"/>
                </a:solidFill>
                <a:latin typeface="Aptos"/>
                <a:ea typeface="Aptos"/>
                <a:cs typeface="Aptos"/>
              </a:defRPr>
            </a:pPr>
            <a:r>
              <a:t>Judge whether a conclusion matches its evidence.</a:t>
            </a:r>
          </a:p>
        </p:txBody>
      </p:sp>
      <p:sp>
        <p:nvSpPr>
          <p:cNvPr id="4" name="Teaching-588">
            <a:extLst>
              <a:ext uri="{FF2B5EF4-FFF2-40B4-BE49-F238E27FC236}">
                <a16:creationId xmlns:a16="http://schemas.microsoft.com/office/drawing/2014/main" id="{4245ED56-8E9C-4DBD-9CEA-680F0F6D6156}"/>
              </a:ext>
            </a:extLst>
          </p:cNvPr>
          <p:cNvSpPr>
            <a:spLocks noGrp="1"/>
          </p:cNvSpPr>
          <p:nvPr/>
        </p:nvSpPr>
        <p:spPr>
          <a:xfrm>
            <a:off x="523875" y="6010275"/>
            <a:ext cx="11087100" cy="333375"/>
          </a:xfrm>
          <a:prstGeom prst="rect">
            <a:avLst/>
          </a:prstGeom>
          <a:noFill/>
          <a:ln w="0">
            <a:noFill/>
          </a:ln>
        </p:spPr>
        <p:txBody>
          <a:bodyPr wrap="square" lIns="0" tIns="0" rIns="0" bIns="0" anchor="t">
            <a:noAutofit/>
          </a:bodyPr>
          <a:lstStyle/>
          <a:p>
            <a:pPr algn="l">
              <a:defRPr sz="1725" b="0">
                <a:solidFill>
                  <a:srgbClr val="666666"/>
                </a:solidFill>
                <a:latin typeface="Aptos"/>
                <a:ea typeface="Aptos"/>
                <a:cs typeface="Aptos"/>
              </a:defRPr>
            </a:pPr>
            <a:r>
              <a:t>Keep today’s method comparisons and written explanations for the workshop.</a:t>
            </a:r>
          </a:p>
        </p:txBody>
      </p:sp>
    </p:spTree>
    <p:extLst>
      <p:ext uri="{BB962C8B-B14F-4D97-AF65-F5344CB8AC3E}">
        <p14:creationId xmlns:p14="http://schemas.microsoft.com/office/powerpoint/2010/main" val="32813612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aching-589">
            <a:extLst>
              <a:ext uri="{FF2B5EF4-FFF2-40B4-BE49-F238E27FC236}">
                <a16:creationId xmlns:a16="http://schemas.microsoft.com/office/drawing/2014/main" id="{414829E7-6827-4B92-B503-85619A5642E3}"/>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B3: How much could be missing?</a:t>
            </a:r>
          </a:p>
        </p:txBody>
      </p:sp>
      <p:sp>
        <p:nvSpPr>
          <p:cNvPr id="2" name="Teaching-590">
            <a:extLst>
              <a:ext uri="{FF2B5EF4-FFF2-40B4-BE49-F238E27FC236}">
                <a16:creationId xmlns:a16="http://schemas.microsoft.com/office/drawing/2014/main" id="{4A527114-4696-4E76-A91F-AF2B3E805DBA}"/>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591">
            <a:extLst>
              <a:ext uri="{FF2B5EF4-FFF2-40B4-BE49-F238E27FC236}">
                <a16:creationId xmlns:a16="http://schemas.microsoft.com/office/drawing/2014/main" id="{5DCAC4D3-A14B-4ACD-A437-5659E5FE2564}"/>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OPTIONAL B3.9</a:t>
            </a:r>
          </a:p>
        </p:txBody>
      </p:sp>
      <p:sp>
        <p:nvSpPr>
          <p:cNvPr id="4" name="Teaching-592">
            <a:extLst>
              <a:ext uri="{FF2B5EF4-FFF2-40B4-BE49-F238E27FC236}">
                <a16:creationId xmlns:a16="http://schemas.microsoft.com/office/drawing/2014/main" id="{6A2ED142-EBB1-4E1B-BC4A-D92EF4029C5A}"/>
              </a:ext>
            </a:extLst>
          </p:cNvPr>
          <p:cNvSpPr>
            <a:spLocks noGrp="1"/>
          </p:cNvSpPr>
          <p:nvPr/>
        </p:nvSpPr>
        <p:spPr>
          <a:xfrm>
            <a:off x="428625" y="1952625"/>
            <a:ext cx="11296650" cy="8001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Return to the </a:t>
            </a:r>
            <a:r>
              <a:rPr b="1"/>
              <a:t>263 invitees</a:t>
            </a:r>
            <a:r>
              <a:t>: </a:t>
            </a:r>
            <a:r>
              <a:rPr b="1"/>
              <a:t>157 replied</a:t>
            </a:r>
            <a:r>
              <a:t>, and </a:t>
            </a:r>
            <a:r>
              <a:rPr b="1"/>
              <a:t>112 supported</a:t>
            </a:r>
          </a:p>
          <a:p>
            <a:pPr algn="l">
              <a:defRPr sz="2325" b="0">
                <a:solidFill>
                  <a:srgbClr val="111111"/>
                </a:solidFill>
                <a:latin typeface="Aptos"/>
                <a:ea typeface="Aptos"/>
                <a:cs typeface="Aptos"/>
              </a:defRPr>
            </a:pPr>
            <a:r>
              <a:t>longer library hours. There are </a:t>
            </a:r>
            <a:r>
              <a:rPr b="1"/>
              <a:t>106 nonrespondents</a:t>
            </a:r>
            <a:r>
              <a:t>.</a:t>
            </a:r>
          </a:p>
        </p:txBody>
      </p:sp>
      <p:sp>
        <p:nvSpPr>
          <p:cNvPr id="5" name="Teaching-593">
            <a:extLst>
              <a:ext uri="{FF2B5EF4-FFF2-40B4-BE49-F238E27FC236}">
                <a16:creationId xmlns:a16="http://schemas.microsoft.com/office/drawing/2014/main" id="{242E930B-6A9C-4A3D-8811-0E9AB16CBB7B}"/>
              </a:ext>
            </a:extLst>
          </p:cNvPr>
          <p:cNvSpPr>
            <a:spLocks noGrp="1"/>
          </p:cNvSpPr>
          <p:nvPr/>
        </p:nvSpPr>
        <p:spPr>
          <a:xfrm>
            <a:off x="619125" y="3200400"/>
            <a:ext cx="10810875" cy="866775"/>
          </a:xfrm>
          <a:prstGeom prst="rect">
            <a:avLst/>
          </a:prstGeom>
          <a:noFill/>
          <a:ln w="0">
            <a:noFill/>
          </a:ln>
        </p:spPr>
        <p:txBody>
          <a:bodyPr wrap="square" lIns="0" tIns="0" rIns="0" bIns="0" anchor="t">
            <a:noAutofit/>
          </a:bodyPr>
          <a:lstStyle/>
          <a:p>
            <a:pPr algn="l">
              <a:defRPr sz="2475" b="0">
                <a:solidFill>
                  <a:srgbClr val="111111"/>
                </a:solidFill>
                <a:latin typeface="Aptos"/>
                <a:ea typeface="Aptos"/>
                <a:cs typeface="Aptos"/>
              </a:defRPr>
            </a:pPr>
            <a:r>
              <a:rPr b="1"/>
              <a:t>B3.9</a:t>
            </a:r>
            <a:r>
              <a:t>  Among all 263 invitees, find the smallest and largest</a:t>
            </a:r>
          </a:p>
          <a:p>
            <a:pPr algn="l">
              <a:defRPr sz="2475" b="0">
                <a:solidFill>
                  <a:srgbClr val="111111"/>
                </a:solidFill>
                <a:latin typeface="Aptos"/>
                <a:ea typeface="Aptos"/>
                <a:cs typeface="Aptos"/>
              </a:defRPr>
            </a:pPr>
            <a:r>
              <a:t>possible support percentages if every missing answer is:</a:t>
            </a:r>
          </a:p>
        </p:txBody>
      </p:sp>
      <p:sp>
        <p:nvSpPr>
          <p:cNvPr id="6" name="Teaching-594">
            <a:extLst>
              <a:ext uri="{FF2B5EF4-FFF2-40B4-BE49-F238E27FC236}">
                <a16:creationId xmlns:a16="http://schemas.microsoft.com/office/drawing/2014/main" id="{C9EB9D5C-7508-4BE4-8ADA-1DBEF365959C}"/>
              </a:ext>
            </a:extLst>
          </p:cNvPr>
          <p:cNvSpPr>
            <a:spLocks noGrp="1"/>
          </p:cNvSpPr>
          <p:nvPr/>
        </p:nvSpPr>
        <p:spPr>
          <a:xfrm>
            <a:off x="952500" y="4324350"/>
            <a:ext cx="10287000" cy="1057275"/>
          </a:xfrm>
          <a:prstGeom prst="rect">
            <a:avLst/>
          </a:prstGeom>
          <a:noFill/>
          <a:ln w="0">
            <a:noFill/>
          </a:ln>
        </p:spPr>
        <p:txBody>
          <a:bodyPr wrap="square" lIns="0" tIns="0" rIns="0" bIns="0" anchor="t">
            <a:noAutofit/>
          </a:bodyPr>
          <a:lstStyle/>
          <a:p>
            <a:pPr algn="l">
              <a:defRPr sz="2700" b="0">
                <a:solidFill>
                  <a:srgbClr val="111111"/>
                </a:solidFill>
                <a:latin typeface="Aptos"/>
                <a:ea typeface="Aptos"/>
                <a:cs typeface="Aptos"/>
              </a:defRPr>
            </a:pPr>
            <a:r>
              <a:t>(a)  Oppose</a:t>
            </a:r>
          </a:p>
          <a:p>
            <a:pPr algn="l">
              <a:defRPr sz="2700" b="0">
                <a:solidFill>
                  <a:srgbClr val="111111"/>
                </a:solidFill>
                <a:latin typeface="Aptos"/>
                <a:ea typeface="Aptos"/>
                <a:cs typeface="Aptos"/>
              </a:defRPr>
            </a:pPr>
            <a:r>
              <a:t>(b)  Support</a:t>
            </a:r>
          </a:p>
        </p:txBody>
      </p:sp>
      <p:sp>
        <p:nvSpPr>
          <p:cNvPr id="7" name="Teaching-595">
            <a:extLst>
              <a:ext uri="{FF2B5EF4-FFF2-40B4-BE49-F238E27FC236}">
                <a16:creationId xmlns:a16="http://schemas.microsoft.com/office/drawing/2014/main" id="{E4EC3F5F-338B-4006-A773-9EDD61B6DED2}"/>
              </a:ext>
            </a:extLst>
          </p:cNvPr>
          <p:cNvSpPr>
            <a:spLocks noGrp="1"/>
          </p:cNvSpPr>
          <p:nvPr/>
        </p:nvSpPr>
        <p:spPr>
          <a:xfrm>
            <a:off x="619125" y="5534025"/>
            <a:ext cx="10810875" cy="73342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t>Could we conclude that a majority of the invitees support the change?</a:t>
            </a:r>
          </a:p>
        </p:txBody>
      </p:sp>
    </p:spTree>
    <p:extLst>
      <p:ext uri="{BB962C8B-B14F-4D97-AF65-F5344CB8AC3E}">
        <p14:creationId xmlns:p14="http://schemas.microsoft.com/office/powerpoint/2010/main" val="32813612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aching-596">
            <a:extLst>
              <a:ext uri="{FF2B5EF4-FFF2-40B4-BE49-F238E27FC236}">
                <a16:creationId xmlns:a16="http://schemas.microsoft.com/office/drawing/2014/main" id="{7189AE8F-932C-47C1-9657-05220D8FE947}"/>
              </a:ext>
            </a:extLst>
          </p:cNvPr>
          <p:cNvSpPr>
            <a:spLocks noGrp="1"/>
          </p:cNvSpPr>
          <p:nvPr/>
        </p:nvSpPr>
        <p:spPr>
          <a:xfrm>
            <a:off x="430816" y="1022985"/>
            <a:ext cx="11296650" cy="80010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B3: Bounds among the invitees</a:t>
            </a:r>
          </a:p>
        </p:txBody>
      </p:sp>
      <p:sp>
        <p:nvSpPr>
          <p:cNvPr id="2" name="Teaching-597">
            <a:extLst>
              <a:ext uri="{FF2B5EF4-FFF2-40B4-BE49-F238E27FC236}">
                <a16:creationId xmlns:a16="http://schemas.microsoft.com/office/drawing/2014/main" id="{10E90BEB-A366-4E63-91E0-4FC4B9611560}"/>
              </a:ext>
            </a:extLst>
          </p:cNvPr>
          <p:cNvSpPr>
            <a:spLocks noGrp="1"/>
          </p:cNvSpPr>
          <p:nvPr/>
        </p:nvSpPr>
        <p:spPr>
          <a:xfrm>
            <a:off x="8734425" y="476250"/>
            <a:ext cx="3000375" cy="400050"/>
          </a:xfrm>
          <a:prstGeom prst="rect">
            <a:avLst/>
          </a:prstGeom>
          <a:solidFill>
            <a:srgbClr val="D9101B"/>
          </a:solidFill>
          <a:ln w="0">
            <a:noFill/>
          </a:ln>
        </p:spPr>
        <p:txBody>
          <a:bodyPr/>
          <a:lstStyle/>
          <a:p>
            <a:endParaRPr lang="en-US"/>
          </a:p>
        </p:txBody>
      </p:sp>
      <p:sp>
        <p:nvSpPr>
          <p:cNvPr id="3" name="Teaching-598">
            <a:extLst>
              <a:ext uri="{FF2B5EF4-FFF2-40B4-BE49-F238E27FC236}">
                <a16:creationId xmlns:a16="http://schemas.microsoft.com/office/drawing/2014/main" id="{AD31DC95-A0FA-446F-A6B9-A79A24AFA4B2}"/>
              </a:ext>
            </a:extLst>
          </p:cNvPr>
          <p:cNvSpPr>
            <a:spLocks noGrp="1"/>
          </p:cNvSpPr>
          <p:nvPr/>
        </p:nvSpPr>
        <p:spPr>
          <a:xfrm>
            <a:off x="8829675" y="561975"/>
            <a:ext cx="2809875" cy="276225"/>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t>OPTIONAL B3.9</a:t>
            </a:r>
          </a:p>
        </p:txBody>
      </p:sp>
      <p:sp>
        <p:nvSpPr>
          <p:cNvPr id="4" name="Teaching-599">
            <a:extLst>
              <a:ext uri="{FF2B5EF4-FFF2-40B4-BE49-F238E27FC236}">
                <a16:creationId xmlns:a16="http://schemas.microsoft.com/office/drawing/2014/main" id="{C12D0564-056C-4E4A-A05B-456B3C5780BD}"/>
              </a:ext>
            </a:extLst>
          </p:cNvPr>
          <p:cNvSpPr>
            <a:spLocks noGrp="1"/>
          </p:cNvSpPr>
          <p:nvPr/>
        </p:nvSpPr>
        <p:spPr>
          <a:xfrm>
            <a:off x="619125" y="2695575"/>
            <a:ext cx="10810875" cy="1133475"/>
          </a:xfrm>
          <a:prstGeom prst="rect">
            <a:avLst/>
          </a:prstGeom>
          <a:noFill/>
          <a:ln w="0">
            <a:noFill/>
          </a:ln>
        </p:spPr>
        <p:txBody>
          <a:bodyPr wrap="square" lIns="0" tIns="0" rIns="0" bIns="0" anchor="t">
            <a:noAutofit/>
          </a:bodyPr>
          <a:lstStyle/>
          <a:p>
            <a:pPr algn="l">
              <a:defRPr sz="2850" b="0">
                <a:solidFill>
                  <a:srgbClr val="111111"/>
                </a:solidFill>
                <a:latin typeface="Aptos"/>
                <a:ea typeface="Aptos"/>
                <a:cs typeface="Aptos"/>
              </a:defRPr>
            </a:pPr>
            <a:r>
              <a:rPr b="1"/>
              <a:t>Smallest possible support</a:t>
            </a:r>
          </a:p>
          <a:p>
            <a:pPr algn="l">
              <a:defRPr sz="2850" b="0">
                <a:solidFill>
                  <a:srgbClr val="111111"/>
                </a:solidFill>
                <a:latin typeface="Aptos"/>
                <a:ea typeface="Aptos"/>
                <a:cs typeface="Aptos"/>
              </a:defRPr>
            </a:pPr>
            <a:r>
              <a:t>112 ÷ 263 × 100 ≈ </a:t>
            </a:r>
            <a:r>
              <a:rPr b="1"/>
              <a:t>42.59%</a:t>
            </a:r>
          </a:p>
        </p:txBody>
      </p:sp>
      <p:sp>
        <p:nvSpPr>
          <p:cNvPr id="5" name="Teaching-600">
            <a:extLst>
              <a:ext uri="{FF2B5EF4-FFF2-40B4-BE49-F238E27FC236}">
                <a16:creationId xmlns:a16="http://schemas.microsoft.com/office/drawing/2014/main" id="{63704E07-3F91-4AB0-94DC-52B8ACBD44D2}"/>
              </a:ext>
            </a:extLst>
          </p:cNvPr>
          <p:cNvSpPr>
            <a:spLocks noGrp="1"/>
          </p:cNvSpPr>
          <p:nvPr/>
        </p:nvSpPr>
        <p:spPr>
          <a:xfrm>
            <a:off x="619125" y="4191000"/>
            <a:ext cx="10810875" cy="1181100"/>
          </a:xfrm>
          <a:prstGeom prst="rect">
            <a:avLst/>
          </a:prstGeom>
          <a:noFill/>
          <a:ln w="0">
            <a:noFill/>
          </a:ln>
        </p:spPr>
        <p:txBody>
          <a:bodyPr wrap="square" lIns="0" tIns="0" rIns="0" bIns="0" anchor="t">
            <a:noAutofit/>
          </a:bodyPr>
          <a:lstStyle/>
          <a:p>
            <a:pPr algn="l">
              <a:defRPr sz="2850" b="0">
                <a:solidFill>
                  <a:srgbClr val="111111"/>
                </a:solidFill>
                <a:latin typeface="Aptos"/>
                <a:ea typeface="Aptos"/>
                <a:cs typeface="Aptos"/>
              </a:defRPr>
            </a:pPr>
            <a:r>
              <a:rPr b="1"/>
              <a:t>Largest possible support</a:t>
            </a:r>
          </a:p>
          <a:p>
            <a:pPr algn="l">
              <a:defRPr sz="2850" b="0">
                <a:solidFill>
                  <a:srgbClr val="111111"/>
                </a:solidFill>
                <a:latin typeface="Aptos"/>
                <a:ea typeface="Aptos"/>
                <a:cs typeface="Aptos"/>
              </a:defRPr>
            </a:pPr>
            <a:r>
              <a:t>(112 + 106) ÷ 263 × 100 ≈ </a:t>
            </a:r>
            <a:r>
              <a:rPr b="1"/>
              <a:t>82.89%</a:t>
            </a:r>
          </a:p>
        </p:txBody>
      </p:sp>
      <p:sp>
        <p:nvSpPr>
          <p:cNvPr id="6" name="Teaching-601">
            <a:extLst>
              <a:ext uri="{FF2B5EF4-FFF2-40B4-BE49-F238E27FC236}">
                <a16:creationId xmlns:a16="http://schemas.microsoft.com/office/drawing/2014/main" id="{0A27C247-4E28-4647-B5E7-57759957347C}"/>
              </a:ext>
            </a:extLst>
          </p:cNvPr>
          <p:cNvSpPr>
            <a:spLocks noGrp="1"/>
          </p:cNvSpPr>
          <p:nvPr/>
        </p:nvSpPr>
        <p:spPr>
          <a:xfrm>
            <a:off x="619125" y="5695950"/>
            <a:ext cx="10810875" cy="723900"/>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t>A majority is </a:t>
            </a:r>
            <a:r>
              <a:rPr b="1"/>
              <a:t>not established</a:t>
            </a:r>
            <a:r>
              <a:t>: possible support lies on both sides</a:t>
            </a:r>
          </a:p>
          <a:p>
            <a:pPr algn="l">
              <a:defRPr sz="2175" b="0">
                <a:solidFill>
                  <a:srgbClr val="111111"/>
                </a:solidFill>
                <a:latin typeface="Aptos"/>
                <a:ea typeface="Aptos"/>
                <a:cs typeface="Aptos"/>
              </a:defRPr>
            </a:pPr>
            <a:r>
              <a:t>of 50%. These bounds describe the 263 invitees only.</a:t>
            </a:r>
          </a:p>
        </p:txBody>
      </p:sp>
    </p:spTree>
    <p:extLst>
      <p:ext uri="{BB962C8B-B14F-4D97-AF65-F5344CB8AC3E}">
        <p14:creationId xmlns:p14="http://schemas.microsoft.com/office/powerpoint/2010/main" val="3281361232"/>
      </p:ext>
    </p:extLst>
  </p:cSld>
  <p:clrMapOvr>
    <a:masterClrMapping/>
  </p:clrMapOvr>
</p:sld>
</file>

<file path=ppt/theme/theme1.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6283</Words>
  <Application>Microsoft Office PowerPoint</Application>
  <DocSecurity>0</DocSecurity>
  <PresentationFormat>Widescreen</PresentationFormat>
  <Paragraphs>748</Paragraphs>
  <Slides>51</Slides>
  <Notes>51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Aptos</vt:lpstr>
      <vt:lpstr>Aptos Display</vt:lpstr>
      <vt:lpstr>Arial</vt:lpstr>
      <vt:lpstr>Office Theme</vt:lpstr>
      <vt:lpstr>IFY Statistics Week 2 • Class B Sampling and Reliable Results</vt:lpstr>
      <vt:lpstr>Revision: Class A</vt:lpstr>
      <vt:lpstr>PowerPoint Presentation</vt:lpstr>
      <vt:lpstr>PowerPoint Presentation</vt:lpstr>
      <vt:lpstr>Section 1: Stratified Sampling</vt:lpstr>
      <vt:lpstr>Our college: two programmes</vt:lpstr>
      <vt:lpstr>PowerPoint Presentation</vt:lpstr>
      <vt:lpstr>PowerPoint Presentation</vt:lpstr>
      <vt:lpstr>Calculate each group’s sample</vt:lpstr>
      <vt:lpstr>PowerPoint Presentation</vt:lpstr>
      <vt:lpstr>Must the group samples be equal?</vt:lpstr>
      <vt:lpstr>PowerPoint Presentation</vt:lpstr>
      <vt:lpstr>PowerPoint Presentation</vt:lpstr>
      <vt:lpstr>PowerPoint Presentation</vt:lpstr>
      <vt:lpstr>PowerPoint Presentation</vt:lpstr>
      <vt:lpstr>Section 2: Cluster Sampling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Section 3: Sampling Variation and Bias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Section 4: Choosing and Evaluating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Jacob Mlynarski</cp:lastModifiedBy>
  <cp:revision>1</cp:revision>
  <dcterms:created xsi:type="dcterms:W3CDTF">2026-09-21T10:29:52Z</dcterms:created>
  <dcterms:modified xsi:type="dcterms:W3CDTF">2026-09-22T14:30:33Z</dcterms:modified>
</cp:coreProperties>
</file>