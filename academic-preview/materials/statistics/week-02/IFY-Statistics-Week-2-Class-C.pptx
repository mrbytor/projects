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2.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3.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rts/chart4.xml" ContentType="application/vnd.openxmlformats-officedocument.drawingml.chart+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5"/>
  </p:notesMasterIdLst>
  <p:sldIdLst>
    <p:sldId id="299"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cSldViewPr>
  </p:slide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ob Mlynarski" userId="5c8c5ce1edfe4dd6" providerId="LiveId" clId="{EA34CD77-B017-48F4-80DC-E98A38773462}"/>
    <pc:docChg chg="undo custSel addSld delSld modSld sldOrd">
      <pc:chgData name="Jacob Mlynarski" userId="5c8c5ce1edfe4dd6" providerId="LiveId" clId="{EA34CD77-B017-48F4-80DC-E98A38773462}" dt="2026-09-24T01:57:29.758" v="71" actId="1076"/>
      <pc:docMkLst>
        <pc:docMk/>
      </pc:docMkLst>
      <pc:sldChg chg="modSp mod">
        <pc:chgData name="Jacob Mlynarski" userId="5c8c5ce1edfe4dd6" providerId="LiveId" clId="{EA34CD77-B017-48F4-80DC-E98A38773462}" dt="2026-09-24T01:53:30.297" v="9" actId="115"/>
        <pc:sldMkLst>
          <pc:docMk/>
          <pc:sldMk cId="3281361232" sldId="260"/>
        </pc:sldMkLst>
        <pc:spChg chg="mod">
          <ac:chgData name="Jacob Mlynarski" userId="5c8c5ce1edfe4dd6" providerId="LiveId" clId="{EA34CD77-B017-48F4-80DC-E98A38773462}" dt="2026-09-24T01:53:30.297" v="9" actId="115"/>
          <ac:spMkLst>
            <pc:docMk/>
            <pc:sldMk cId="3281361232" sldId="260"/>
            <ac:spMk id="15" creationId="{3CD82913-14D1-482C-BA74-92A03300509F}"/>
          </ac:spMkLst>
        </pc:spChg>
      </pc:sldChg>
      <pc:sldChg chg="addSp delSp modSp mod">
        <pc:chgData name="Jacob Mlynarski" userId="5c8c5ce1edfe4dd6" providerId="LiveId" clId="{EA34CD77-B017-48F4-80DC-E98A38773462}" dt="2026-09-24T01:57:29.758" v="71" actId="1076"/>
        <pc:sldMkLst>
          <pc:docMk/>
          <pc:sldMk cId="3281361232" sldId="262"/>
        </pc:sldMkLst>
        <pc:spChg chg="mod">
          <ac:chgData name="Jacob Mlynarski" userId="5c8c5ce1edfe4dd6" providerId="LiveId" clId="{EA34CD77-B017-48F4-80DC-E98A38773462}" dt="2026-09-24T01:56:15.110" v="11" actId="1076"/>
          <ac:spMkLst>
            <pc:docMk/>
            <pc:sldMk cId="3281361232" sldId="262"/>
            <ac:spMk id="7" creationId="{C0D03FF4-8465-41FB-9CB3-491648E78F9E}"/>
          </ac:spMkLst>
        </pc:spChg>
        <pc:spChg chg="mod">
          <ac:chgData name="Jacob Mlynarski" userId="5c8c5ce1edfe4dd6" providerId="LiveId" clId="{EA34CD77-B017-48F4-80DC-E98A38773462}" dt="2026-09-24T01:57:26.604" v="70" actId="1076"/>
          <ac:spMkLst>
            <pc:docMk/>
            <pc:sldMk cId="3281361232" sldId="262"/>
            <ac:spMk id="8" creationId="{D41D306F-2887-463C-9D38-A0A658421507}"/>
          </ac:spMkLst>
        </pc:spChg>
        <pc:spChg chg="add mod">
          <ac:chgData name="Jacob Mlynarski" userId="5c8c5ce1edfe4dd6" providerId="LiveId" clId="{EA34CD77-B017-48F4-80DC-E98A38773462}" dt="2026-09-24T01:57:29.758" v="71" actId="1076"/>
          <ac:spMkLst>
            <pc:docMk/>
            <pc:sldMk cId="3281361232" sldId="262"/>
            <ac:spMk id="17" creationId="{5D4A8A19-B0DB-6119-FE7D-06DD66DDA411}"/>
          </ac:spMkLst>
        </pc:spChg>
        <pc:picChg chg="add del mod">
          <ac:chgData name="Jacob Mlynarski" userId="5c8c5ce1edfe4dd6" providerId="LiveId" clId="{EA34CD77-B017-48F4-80DC-E98A38773462}" dt="2026-09-24T01:56:22.982" v="16" actId="22"/>
          <ac:picMkLst>
            <pc:docMk/>
            <pc:sldMk cId="3281361232" sldId="262"/>
            <ac:picMk id="15" creationId="{C3B3D797-A41D-5D34-8054-E8641DEAD00D}"/>
          </ac:picMkLst>
        </pc:picChg>
      </pc:sldChg>
      <pc:sldChg chg="new del ord">
        <pc:chgData name="Jacob Mlynarski" userId="5c8c5ce1edfe4dd6" providerId="LiveId" clId="{EA34CD77-B017-48F4-80DC-E98A38773462}" dt="2026-09-24T01:13:36.154" v="4" actId="47"/>
        <pc:sldMkLst>
          <pc:docMk/>
          <pc:sldMk cId="1475066508" sldId="298"/>
        </pc:sldMkLst>
      </pc:sldChg>
      <pc:sldChg chg="addSp modSp new mod">
        <pc:chgData name="Jacob Mlynarski" userId="5c8c5ce1edfe4dd6" providerId="LiveId" clId="{EA34CD77-B017-48F4-80DC-E98A38773462}" dt="2026-09-24T01:13:45.600" v="6"/>
        <pc:sldMkLst>
          <pc:docMk/>
          <pc:sldMk cId="585103263" sldId="299"/>
        </pc:sldMkLst>
        <pc:picChg chg="add mod">
          <ac:chgData name="Jacob Mlynarski" userId="5c8c5ce1edfe4dd6" providerId="LiveId" clId="{EA34CD77-B017-48F4-80DC-E98A38773462}" dt="2026-09-24T01:13:45.600" v="6"/>
          <ac:picMkLst>
            <pc:docMk/>
            <pc:sldMk cId="585103263" sldId="299"/>
            <ac:picMk id="3" creationId="{B24E0853-2C35-624A-5605-A4A603D739D5}"/>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title>
      <c:tx>
        <c:rich>
          <a:bodyPr/>
          <a:lstStyle/>
          <a:p>
            <a:r>
              <a:rPr lang="en-US" sz="2100">
                <a:solidFill>
                  <a:srgbClr val="111111"/>
                </a:solidFill>
                <a:latin typeface="Aptos"/>
                <a:ea typeface="Aptos"/>
                <a:cs typeface="Aptos"/>
              </a:rPr>
              <a:t>Total leftovers (g)</a:t>
            </a:r>
          </a:p>
        </c:rich>
      </c:tx>
      <c:overlay val="0"/>
    </c:title>
    <c:autoTitleDeleted val="0"/>
    <c:plotArea>
      <c:layout/>
      <c:barChart>
        <c:barDir val="bar"/>
        <c:grouping val="clustered"/>
        <c:varyColors val="0"/>
        <c:ser>
          <c:idx val="0"/>
          <c:order val="0"/>
          <c:tx>
            <c:v>Value</c:v>
          </c:tx>
          <c:spPr>
            <a:solidFill>
              <a:srgbClr val="A9C9DE"/>
            </a:solidFill>
          </c:spPr>
          <c:invertIfNegative val="1"/>
          <c:dLbls>
            <c:spPr>
              <a:noFill/>
              <a:ln>
                <a:noFill/>
              </a:ln>
              <a:effectLst/>
            </c:spPr>
            <c:txPr>
              <a:bodyPr anchorCtr="1"/>
              <a:lstStyle/>
              <a:p>
                <a:pPr>
                  <a:defRPr sz="1875" b="1">
                    <a:solidFill>
                      <a:srgbClr val="111111"/>
                    </a:solidFill>
                    <a:latin typeface="Aptos"/>
                    <a:ea typeface="Aptos"/>
                    <a:cs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Usual day</c:v>
                </c:pt>
                <c:pt idx="1">
                  <c:v>Smaller day</c:v>
                </c:pt>
              </c:strCache>
            </c:strRef>
          </c:cat>
          <c:val>
            <c:numRef>
              <c:f>'Chart Data'!$B$2:$B$3</c:f>
              <c:numCache>
                <c:formatCode>#,##0" g"</c:formatCode>
                <c:ptCount val="2"/>
                <c:pt idx="0">
                  <c:v>14186</c:v>
                </c:pt>
                <c:pt idx="1">
                  <c:v>15397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AE4A-4C9E-BD36-79821F05B08A}"/>
            </c:ext>
          </c:extLst>
        </c:ser>
        <c:dLbls>
          <c:dLblPos val="outEnd"/>
          <c:showLegendKey val="0"/>
          <c:showVal val="1"/>
          <c:showCatName val="0"/>
          <c:showSerName val="0"/>
          <c:showPercent val="0"/>
          <c:showBubbleSize val="0"/>
        </c:dLbls>
        <c:gapWidth val="90"/>
        <c:axId val="48650112"/>
        <c:axId val="48672768"/>
      </c:barChart>
      <c:catAx>
        <c:axId val="48650112"/>
        <c:scaling>
          <c:orientation val="minMax"/>
        </c:scaling>
        <c:delete val="0"/>
        <c:axPos val="l"/>
        <c:numFmt formatCode="General" sourceLinked="1"/>
        <c:majorTickMark val="none"/>
        <c:minorTickMark val="none"/>
        <c:tickLblPos val="nextTo"/>
        <c:spPr>
          <a:ln w="0">
            <a:noFill/>
          </a:ln>
        </c:spPr>
        <c:txPr>
          <a:bodyPr anchorCtr="1"/>
          <a:lstStyle/>
          <a:p>
            <a:pPr>
              <a:defRPr sz="1875">
                <a:solidFill>
                  <a:srgbClr val="111111"/>
                </a:solidFill>
                <a:latin typeface="Aptos"/>
                <a:ea typeface="Aptos"/>
                <a:cs typeface="Aptos"/>
              </a:defRPr>
            </a:pPr>
            <a:endParaRPr lang="en-US"/>
          </a:p>
        </c:txPr>
        <c:crossAx val="48672768"/>
        <c:crosses val="autoZero"/>
        <c:auto val="1"/>
        <c:lblAlgn val="ctr"/>
        <c:lblOffset val="100"/>
        <c:noMultiLvlLbl val="1"/>
      </c:catAx>
      <c:valAx>
        <c:axId val="48672768"/>
        <c:scaling>
          <c:orientation val="minMax"/>
          <c:max val="18000"/>
          <c:min val="0"/>
        </c:scaling>
        <c:delete val="0"/>
        <c:axPos val="b"/>
        <c:majorGridlines>
          <c:spPr>
            <a:ln w="5715">
              <a:solidFill>
                <a:srgbClr val="D4D4D4"/>
              </a:solidFill>
            </a:ln>
          </c:spPr>
        </c:majorGridlines>
        <c:numFmt formatCode="#,##0&quot; g&quot;" sourceLinked="1"/>
        <c:majorTickMark val="none"/>
        <c:minorTickMark val="none"/>
        <c:tickLblPos val="nextTo"/>
        <c:spPr>
          <a:ln w="6668">
            <a:solidFill>
              <a:srgbClr val="999999"/>
            </a:solidFill>
          </a:ln>
        </c:spPr>
        <c:txPr>
          <a:bodyPr anchorCtr="1"/>
          <a:lstStyle/>
          <a:p>
            <a:pPr>
              <a:defRPr sz="1650">
                <a:solidFill>
                  <a:srgbClr val="666666"/>
                </a:solidFill>
                <a:latin typeface="Aptos"/>
                <a:ea typeface="Aptos"/>
                <a:cs typeface="Aptos"/>
              </a:defRPr>
            </a:pPr>
            <a:endParaRPr lang="en-US"/>
          </a:p>
        </c:txPr>
        <c:crossAx val="48650112"/>
        <c:crosses val="autoZero"/>
        <c:crossBetween val="between"/>
        <c:majorUnit val="6000"/>
      </c:valAx>
      <c:spPr>
        <a:noFill/>
        <a:ln w="0">
          <a:noFill/>
        </a:ln>
      </c:spPr>
    </c:plotArea>
    <c:plotVisOnly val="1"/>
    <c:dispBlanksAs val="zero"/>
    <c:showDLblsOverMax val="1"/>
  </c:chart>
  <c:spPr>
    <a:no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title>
      <c:tx>
        <c:rich>
          <a:bodyPr/>
          <a:lstStyle/>
          <a:p>
            <a:r>
              <a:rPr sz="2100">
                <a:solidFill>
                  <a:srgbClr val="111111"/>
                </a:solidFill>
                <a:latin typeface="Aptos"/>
                <a:ea typeface="Aptos"/>
                <a:cs typeface="Aptos"/>
              </a:rPr>
              <a:t>Engineering share</a:t>
            </a:r>
          </a:p>
        </c:rich>
      </c:tx>
      <c:overlay val="0"/>
    </c:title>
    <c:autoTitleDeleted val="0"/>
    <c:plotArea>
      <c:layout/>
      <c:barChart>
        <c:barDir val="bar"/>
        <c:grouping val="clustered"/>
        <c:varyColors val="0"/>
        <c:ser>
          <c:idx val="0"/>
          <c:order val="0"/>
          <c:tx>
            <c:v>Value</c:v>
          </c:tx>
          <c:spPr>
            <a:solidFill>
              <a:srgbClr val="A9C9DE"/>
            </a:solidFill>
          </c:spPr>
          <c:invertIfNegative val="1"/>
          <c:dLbls>
            <c:spPr>
              <a:noFill/>
              <a:ln>
                <a:noFill/>
              </a:ln>
              <a:effectLst/>
            </c:spPr>
            <c:txPr>
              <a:bodyPr anchorCtr="1"/>
              <a:lstStyle/>
              <a:p>
                <a:pPr>
                  <a:defRPr sz="2100" b="1">
                    <a:solidFill>
                      <a:srgbClr val="111111"/>
                    </a:solidFill>
                    <a:latin typeface="Aptos"/>
                    <a:ea typeface="Aptos"/>
                    <a:cs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College</c:v>
                </c:pt>
                <c:pt idx="1">
                  <c:v>Selected sample</c:v>
                </c:pt>
              </c:strCache>
            </c:strRef>
          </c:cat>
          <c:val>
            <c:numRef>
              <c:f>'Chart Data'!$B$2:$B$3</c:f>
              <c:numCache>
                <c:formatCode>0.00%</c:formatCode>
                <c:ptCount val="2"/>
                <c:pt idx="0">
                  <c:v>0.41210000000000002</c:v>
                </c:pt>
                <c:pt idx="1">
                  <c:v>0.1648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41FD-4EE3-8E97-275685DD564E}"/>
            </c:ext>
          </c:extLst>
        </c:ser>
        <c:dLbls>
          <c:dLblPos val="outEnd"/>
          <c:showLegendKey val="0"/>
          <c:showVal val="1"/>
          <c:showCatName val="0"/>
          <c:showSerName val="0"/>
          <c:showPercent val="0"/>
          <c:showBubbleSize val="0"/>
        </c:dLbls>
        <c:gapWidth val="90"/>
        <c:axId val="48650112"/>
        <c:axId val="48672768"/>
      </c:barChart>
      <c:catAx>
        <c:axId val="48650112"/>
        <c:scaling>
          <c:orientation val="minMax"/>
        </c:scaling>
        <c:delete val="0"/>
        <c:axPos val="l"/>
        <c:numFmt formatCode="General" sourceLinked="1"/>
        <c:majorTickMark val="none"/>
        <c:minorTickMark val="none"/>
        <c:tickLblPos val="nextTo"/>
        <c:spPr>
          <a:ln w="0">
            <a:noFill/>
          </a:ln>
        </c:spPr>
        <c:txPr>
          <a:bodyPr anchorCtr="1"/>
          <a:lstStyle/>
          <a:p>
            <a:pPr>
              <a:defRPr sz="1875">
                <a:solidFill>
                  <a:srgbClr val="111111"/>
                </a:solidFill>
                <a:latin typeface="Aptos"/>
                <a:ea typeface="Aptos"/>
                <a:cs typeface="Aptos"/>
              </a:defRPr>
            </a:pPr>
            <a:endParaRPr lang="en-US"/>
          </a:p>
        </c:txPr>
        <c:crossAx val="48672768"/>
        <c:crosses val="autoZero"/>
        <c:auto val="1"/>
        <c:lblAlgn val="ctr"/>
        <c:lblOffset val="100"/>
        <c:noMultiLvlLbl val="1"/>
      </c:catAx>
      <c:valAx>
        <c:axId val="48672768"/>
        <c:scaling>
          <c:orientation val="minMax"/>
          <c:max val="0.5"/>
          <c:min val="0"/>
        </c:scaling>
        <c:delete val="0"/>
        <c:axPos val="b"/>
        <c:majorGridlines>
          <c:spPr>
            <a:ln w="5715">
              <a:solidFill>
                <a:srgbClr val="D4D4D4"/>
              </a:solidFill>
            </a:ln>
          </c:spPr>
        </c:majorGridlines>
        <c:numFmt formatCode="0.00%" sourceLinked="1"/>
        <c:majorTickMark val="none"/>
        <c:minorTickMark val="none"/>
        <c:tickLblPos val="nextTo"/>
        <c:spPr>
          <a:ln w="6668">
            <a:solidFill>
              <a:srgbClr val="999999"/>
            </a:solidFill>
          </a:ln>
        </c:spPr>
        <c:txPr>
          <a:bodyPr anchorCtr="1"/>
          <a:lstStyle/>
          <a:p>
            <a:pPr>
              <a:defRPr sz="1650">
                <a:solidFill>
                  <a:srgbClr val="666666"/>
                </a:solidFill>
                <a:latin typeface="Aptos"/>
                <a:ea typeface="Aptos"/>
                <a:cs typeface="Aptos"/>
              </a:defRPr>
            </a:pPr>
            <a:endParaRPr lang="en-US"/>
          </a:p>
        </c:txPr>
        <c:crossAx val="48650112"/>
        <c:crosses val="autoZero"/>
        <c:crossBetween val="between"/>
        <c:majorUnit val="0.2"/>
      </c:valAx>
      <c:spPr>
        <a:noFill/>
        <a:ln w="0">
          <a:noFill/>
        </a:ln>
      </c:spPr>
    </c:plotArea>
    <c:plotVisOnly val="1"/>
    <c:dispBlanksAs val="zero"/>
    <c:showDLblsOverMax val="1"/>
  </c:chart>
  <c:spPr>
    <a:no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title>
      <c:tx>
        <c:rich>
          <a:bodyPr/>
          <a:lstStyle/>
          <a:p>
            <a:r>
              <a:rPr sz="2100">
                <a:solidFill>
                  <a:srgbClr val="111111"/>
                </a:solidFill>
                <a:latin typeface="Aptos"/>
                <a:ea typeface="Aptos"/>
                <a:cs typeface="Aptos"/>
              </a:rPr>
              <a:t>Response rate</a:t>
            </a:r>
          </a:p>
        </c:rich>
      </c:tx>
      <c:overlay val="0"/>
    </c:title>
    <c:autoTitleDeleted val="0"/>
    <c:plotArea>
      <c:layout/>
      <c:barChart>
        <c:barDir val="bar"/>
        <c:grouping val="clustered"/>
        <c:varyColors val="0"/>
        <c:ser>
          <c:idx val="0"/>
          <c:order val="0"/>
          <c:tx>
            <c:v>Value</c:v>
          </c:tx>
          <c:spPr>
            <a:solidFill>
              <a:srgbClr val="A9C9DE"/>
            </a:solidFill>
          </c:spPr>
          <c:invertIfNegative val="1"/>
          <c:dLbls>
            <c:spPr>
              <a:noFill/>
              <a:ln>
                <a:noFill/>
              </a:ln>
              <a:effectLst/>
            </c:spPr>
            <c:txPr>
              <a:bodyPr anchorCtr="1"/>
              <a:lstStyle/>
              <a:p>
                <a:pPr>
                  <a:defRPr sz="2100" b="1">
                    <a:solidFill>
                      <a:srgbClr val="111111"/>
                    </a:solidFill>
                    <a:latin typeface="Aptos"/>
                    <a:ea typeface="Aptos"/>
                    <a:cs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Business</c:v>
                </c:pt>
                <c:pt idx="1">
                  <c:v>Engineering</c:v>
                </c:pt>
              </c:strCache>
            </c:strRef>
          </c:cat>
          <c:val>
            <c:numRef>
              <c:f>'Chart Data'!$B$2:$B$3</c:f>
              <c:numCache>
                <c:formatCode>0.00%</c:formatCode>
                <c:ptCount val="2"/>
                <c:pt idx="0">
                  <c:v>0.8155</c:v>
                </c:pt>
                <c:pt idx="1">
                  <c:v>0.32879999999999998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2A90-4861-835C-20BD18137C8C}"/>
            </c:ext>
          </c:extLst>
        </c:ser>
        <c:dLbls>
          <c:dLblPos val="outEnd"/>
          <c:showLegendKey val="0"/>
          <c:showVal val="1"/>
          <c:showCatName val="0"/>
          <c:showSerName val="0"/>
          <c:showPercent val="0"/>
          <c:showBubbleSize val="0"/>
        </c:dLbls>
        <c:gapWidth val="90"/>
        <c:axId val="48650112"/>
        <c:axId val="48672768"/>
      </c:barChart>
      <c:catAx>
        <c:axId val="48650112"/>
        <c:scaling>
          <c:orientation val="minMax"/>
        </c:scaling>
        <c:delete val="0"/>
        <c:axPos val="l"/>
        <c:numFmt formatCode="General" sourceLinked="1"/>
        <c:majorTickMark val="none"/>
        <c:minorTickMark val="none"/>
        <c:tickLblPos val="nextTo"/>
        <c:spPr>
          <a:ln w="0">
            <a:noFill/>
          </a:ln>
        </c:spPr>
        <c:txPr>
          <a:bodyPr anchorCtr="1"/>
          <a:lstStyle/>
          <a:p>
            <a:pPr>
              <a:defRPr sz="1875">
                <a:solidFill>
                  <a:srgbClr val="111111"/>
                </a:solidFill>
                <a:latin typeface="Aptos"/>
                <a:ea typeface="Aptos"/>
                <a:cs typeface="Aptos"/>
              </a:defRPr>
            </a:pPr>
            <a:endParaRPr lang="en-US"/>
          </a:p>
        </c:txPr>
        <c:crossAx val="48672768"/>
        <c:crosses val="autoZero"/>
        <c:auto val="1"/>
        <c:lblAlgn val="ctr"/>
        <c:lblOffset val="100"/>
        <c:noMultiLvlLbl val="1"/>
      </c:catAx>
      <c:valAx>
        <c:axId val="48672768"/>
        <c:scaling>
          <c:orientation val="minMax"/>
          <c:max val="1"/>
          <c:min val="0"/>
        </c:scaling>
        <c:delete val="0"/>
        <c:axPos val="b"/>
        <c:majorGridlines>
          <c:spPr>
            <a:ln w="5715">
              <a:solidFill>
                <a:srgbClr val="D4D4D4"/>
              </a:solidFill>
            </a:ln>
          </c:spPr>
        </c:majorGridlines>
        <c:numFmt formatCode="0.00%" sourceLinked="1"/>
        <c:majorTickMark val="none"/>
        <c:minorTickMark val="none"/>
        <c:tickLblPos val="nextTo"/>
        <c:spPr>
          <a:ln w="6668">
            <a:solidFill>
              <a:srgbClr val="999999"/>
            </a:solidFill>
          </a:ln>
        </c:spPr>
        <c:txPr>
          <a:bodyPr anchorCtr="1"/>
          <a:lstStyle/>
          <a:p>
            <a:pPr>
              <a:defRPr sz="1650">
                <a:solidFill>
                  <a:srgbClr val="666666"/>
                </a:solidFill>
                <a:latin typeface="Aptos"/>
                <a:ea typeface="Aptos"/>
                <a:cs typeface="Aptos"/>
              </a:defRPr>
            </a:pPr>
            <a:endParaRPr lang="en-US"/>
          </a:p>
        </c:txPr>
        <c:crossAx val="48650112"/>
        <c:crosses val="autoZero"/>
        <c:crossBetween val="between"/>
        <c:majorUnit val="0.25"/>
      </c:valAx>
      <c:spPr>
        <a:noFill/>
        <a:ln w="0">
          <a:noFill/>
        </a:ln>
      </c:spPr>
    </c:plotArea>
    <c:plotVisOnly val="1"/>
    <c:dispBlanksAs val="zero"/>
    <c:showDLblsOverMax val="1"/>
  </c:chart>
  <c:spPr>
    <a:noFill/>
    <a:ln w="0">
      <a:no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title>
      <c:tx>
        <c:rich>
          <a:bodyPr/>
          <a:lstStyle/>
          <a:p>
            <a:r>
              <a:rPr sz="2100">
                <a:solidFill>
                  <a:srgbClr val="111111"/>
                </a:solidFill>
                <a:latin typeface="Aptos"/>
                <a:ea typeface="Aptos"/>
                <a:cs typeface="Aptos"/>
              </a:rPr>
              <a:t>Holiday preference</a:t>
            </a:r>
          </a:p>
        </c:rich>
      </c:tx>
      <c:overlay val="0"/>
    </c:title>
    <c:autoTitleDeleted val="0"/>
    <c:plotArea>
      <c:layout/>
      <c:barChart>
        <c:barDir val="bar"/>
        <c:grouping val="clustered"/>
        <c:varyColors val="0"/>
        <c:ser>
          <c:idx val="0"/>
          <c:order val="0"/>
          <c:tx>
            <c:v>Value</c:v>
          </c:tx>
          <c:spPr>
            <a:solidFill>
              <a:srgbClr val="A9C9DE"/>
            </a:solidFill>
          </c:spPr>
          <c:invertIfNegative val="1"/>
          <c:dLbls>
            <c:spPr>
              <a:noFill/>
              <a:ln>
                <a:noFill/>
              </a:ln>
              <a:effectLst/>
            </c:spPr>
            <c:txPr>
              <a:bodyPr anchorCtr="1"/>
              <a:lstStyle/>
              <a:p>
                <a:pPr>
                  <a:defRPr sz="1800" b="1">
                    <a:solidFill>
                      <a:srgbClr val="111111"/>
                    </a:solidFill>
                    <a:latin typeface="Aptos"/>
                    <a:ea typeface="Aptos"/>
                    <a:cs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Data'!$A$2:$A$6</c:f>
              <c:strCache>
                <c:ptCount val="5"/>
                <c:pt idx="0">
                  <c:v>International</c:v>
                </c:pt>
                <c:pt idx="1">
                  <c:v>Florida</c:v>
                </c:pt>
                <c:pt idx="2">
                  <c:v>California</c:v>
                </c:pt>
                <c:pt idx="3">
                  <c:v>Massachusetts</c:v>
                </c:pt>
                <c:pt idx="4">
                  <c:v>Other</c:v>
                </c:pt>
              </c:strCache>
            </c:strRef>
          </c:cat>
          <c:val>
            <c:numRef>
              <c:f>'Chart Data'!$B$2:$B$6</c:f>
              <c:numCache>
                <c:formatCode>0%</c:formatCode>
                <c:ptCount val="5"/>
                <c:pt idx="0">
                  <c:v>0.1</c:v>
                </c:pt>
                <c:pt idx="1">
                  <c:v>0.25</c:v>
                </c:pt>
                <c:pt idx="2">
                  <c:v>0.2</c:v>
                </c:pt>
                <c:pt idx="3">
                  <c:v>0.35</c:v>
                </c:pt>
                <c:pt idx="4">
                  <c:v>0.1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0F51-4013-A501-1C5CB2122394}"/>
            </c:ext>
          </c:extLst>
        </c:ser>
        <c:dLbls>
          <c:dLblPos val="outEnd"/>
          <c:showLegendKey val="0"/>
          <c:showVal val="1"/>
          <c:showCatName val="0"/>
          <c:showSerName val="0"/>
          <c:showPercent val="0"/>
          <c:showBubbleSize val="0"/>
        </c:dLbls>
        <c:gapWidth val="90"/>
        <c:axId val="48650112"/>
        <c:axId val="48672768"/>
      </c:barChart>
      <c:catAx>
        <c:axId val="48650112"/>
        <c:scaling>
          <c:orientation val="minMax"/>
        </c:scaling>
        <c:delete val="0"/>
        <c:axPos val="l"/>
        <c:numFmt formatCode="General" sourceLinked="1"/>
        <c:majorTickMark val="none"/>
        <c:minorTickMark val="none"/>
        <c:tickLblPos val="nextTo"/>
        <c:spPr>
          <a:ln w="0">
            <a:noFill/>
          </a:ln>
        </c:spPr>
        <c:txPr>
          <a:bodyPr anchorCtr="1"/>
          <a:lstStyle/>
          <a:p>
            <a:pPr>
              <a:defRPr sz="1875">
                <a:solidFill>
                  <a:srgbClr val="111111"/>
                </a:solidFill>
                <a:latin typeface="Aptos"/>
                <a:ea typeface="Aptos"/>
                <a:cs typeface="Aptos"/>
              </a:defRPr>
            </a:pPr>
            <a:endParaRPr lang="en-US"/>
          </a:p>
        </c:txPr>
        <c:crossAx val="48672768"/>
        <c:crosses val="autoZero"/>
        <c:auto val="1"/>
        <c:lblAlgn val="ctr"/>
        <c:lblOffset val="100"/>
        <c:noMultiLvlLbl val="1"/>
      </c:catAx>
      <c:valAx>
        <c:axId val="48672768"/>
        <c:scaling>
          <c:orientation val="minMax"/>
          <c:max val="0.4"/>
          <c:min val="0"/>
        </c:scaling>
        <c:delete val="0"/>
        <c:axPos val="b"/>
        <c:majorGridlines>
          <c:spPr>
            <a:ln w="5715">
              <a:solidFill>
                <a:srgbClr val="D4D4D4"/>
              </a:solidFill>
            </a:ln>
          </c:spPr>
        </c:majorGridlines>
        <c:numFmt formatCode="0%" sourceLinked="1"/>
        <c:majorTickMark val="none"/>
        <c:minorTickMark val="none"/>
        <c:tickLblPos val="nextTo"/>
        <c:spPr>
          <a:ln w="6668">
            <a:solidFill>
              <a:srgbClr val="999999"/>
            </a:solidFill>
          </a:ln>
        </c:spPr>
        <c:txPr>
          <a:bodyPr anchorCtr="1"/>
          <a:lstStyle/>
          <a:p>
            <a:pPr>
              <a:defRPr sz="1650">
                <a:solidFill>
                  <a:srgbClr val="666666"/>
                </a:solidFill>
                <a:latin typeface="Aptos"/>
                <a:ea typeface="Aptos"/>
                <a:cs typeface="Aptos"/>
              </a:defRPr>
            </a:pPr>
            <a:endParaRPr lang="en-US"/>
          </a:p>
        </c:txPr>
        <c:crossAx val="48650112"/>
        <c:crosses val="autoZero"/>
        <c:crossBetween val="between"/>
        <c:majorUnit val="0.1"/>
      </c:valAx>
      <c:spPr>
        <a:noFill/>
        <a:ln w="0">
          <a:noFill/>
        </a:ln>
      </c:spPr>
    </c:plotArea>
    <c:plotVisOnly val="1"/>
    <c:dispBlanksAs val="zero"/>
    <c:showDLblsOverMax val="1"/>
  </c:chart>
  <c:spPr>
    <a:no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90-minute class. C1 and C2 (slides 2–10) 20 minutes. Sampling decisions (11–19) 20 minutes. Returned data and recording (20–23) 15 minutes. Final report (24–25) 5 minutes. Seminar (26–40) 25 minutes. Exit (41–42) 5 minutes. Calculators allowed. Use the first 60 minutes for the canteen investigation.</a:t>
            </a:r>
          </a:p>
          <a:p>
            <a:endParaRPr/>
          </a:p>
          <a:p>
            <a:r>
              <a:t>Purpose: Set up a single investigation</a:t>
            </a:r>
          </a:p>
          <a:p>
            <a:r>
              <a:t>Timing: main canteen investigation 60 minutes, seven seminar rounds 25 minutes, individual exit 5 minutes. Seminar discussions last 2 or 3 minutes, followed immediately by a one-minute answer reveal.</a:t>
            </a:r>
          </a:p>
          <a:p>
            <a:r>
              <a:t>All numerical cases are fictional teaching data. Percentages rounded to two decimal places. Bellerbys design and retained background photographs come from the supplied Class C deck. Seminar cases adapt the two supplied Week 2 seminar question sheets.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Fictional case. Separate the college opinion claim from the waste claim. The smaller portion is an additional option, not a replacement. Keep this briefing to one minute. The portion picture is illustrative and does not establish actual leftovers.</a:t>
            </a:r>
          </a:p>
          <a:p>
            <a:endParaRPr/>
          </a:p>
          <a:p>
            <a:r>
              <a:t>Purpose: Introduce the claims students must audit</a:t>
            </a:r>
          </a:p>
          <a:p>
            <a:r>
              <a:t>Timing: main canteen investigation 60 minutes, seven seminar rounds 25 minutes, individual exit 5 minutes. Seminar discussions last 2 or 3 minutes, followed immediately by a one-minute answer reveal.</a:t>
            </a:r>
          </a:p>
          <a:p>
            <a:r>
              <a:t>All numerical cases are fictional teaching data. Percentages rounded to two decimal places. Bellerbys design and retained background photographs come from the supplied Class C deck. Seminar cases adapt the two supplied Week 2 seminar question sheets.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Accurate checked scale in this independent pilot. Same menu, different days, 173 meals each day. Students calculate the portion percentage decrease and leftover percentage increase. Equal meal counts make totals comparable on that dimension, but do not establish causal comparability. Allow about 3 minutes work, then reveal.</a:t>
            </a:r>
          </a:p>
          <a:p>
            <a:endParaRPr/>
          </a:p>
          <a:p>
            <a:r>
              <a:t>Purpose: Compare changes in portion size and measured waste</a:t>
            </a:r>
          </a:p>
          <a:p>
            <a:r>
              <a:t>Timing: main canteen investigation 60 minutes, seven seminar rounds 25 minutes, individual exit 5 minutes. Seminar discussions last 2 or 3 minutes, followed immediately by a one-minute answer reveal.</a:t>
            </a:r>
          </a:p>
          <a:p>
            <a:r>
              <a:t>All numerical cases are fictional teaching data. Percentages rounded to two decimal places. Bellerbys design and retained background photographs come from the supplied Class C deck. Seminar cases adapt the two supplied Week 2 seminar question sheets.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110/425 × 100 = 25.88235%. 1211/14186 × 100 = 8.53659%. Waste rose 8.54% in the two-day pilot, so serving 25.88% less does not establish a 25.88% waste reduction. Different customers, appetite or day effects may remain. More comparable observations are needed.</a:t>
            </a:r>
          </a:p>
          <a:p>
            <a:endParaRPr/>
          </a:p>
          <a:p>
            <a:r>
              <a:t>Purpose: Interpret the numerical contradiction without claiming causation</a:t>
            </a:r>
          </a:p>
          <a:p>
            <a:r>
              <a:t>Timing: main canteen investigation 60 minutes, seven seminar rounds 25 minutes, individual exit 5 minutes. Seminar discussions last 2 or 3 minutes, followed immediately by a one-minute answer reveal.</a:t>
            </a:r>
          </a:p>
          <a:p>
            <a:r>
              <a:t>All numerical cases are fictional teaching data. Percentages rounded to two decimal places. Bellerbys design and retained background photographs come from the supplied Class C deck. Seminar cases adapt the two supplied Week 2 seminar question sheets.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237 environmental-club invitees, 143 valid replies, 97 supporters among replies. The 46 remaining replies did not select support. There are 94 unknown responses. Compute response rate, support among respondents, and minimum/maximum support among all invitees. Students can work briefly individually before the 3-minute discussion. Keep denominators explicit.</a:t>
            </a:r>
          </a:p>
          <a:p>
            <a:endParaRPr/>
          </a:p>
          <a:p>
            <a:r>
              <a:t>Purpose: Use missing data to bound a claim</a:t>
            </a:r>
          </a:p>
          <a:p>
            <a:r>
              <a:t>Timing: main canteen investigation 60 minutes, seven seminar rounds 25 minutes, individual exit 5 minutes. Seminar discussions last 2 or 3 minutes, followed immediately by a one-minute answer reveal.</a:t>
            </a:r>
          </a:p>
          <a:p>
            <a:r>
              <a:t>All numerical cases are fictional teaching data. Percentages rounded to two decimal places. Bellerbys design and retained background photographs come from the supplied Class C deck. Seminar cases adapt the two supplied Week 2 seminar question sheets.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Response rate 143/237 = 60.34%. Respondent support 97/143 = 67.83%. The possible support among invitees ranges from 97/237 = 40.93% to (97+94)/237 = 80.59%. These are logical limits under the stated missing-response assumptions, not a confidence interval. Even the invitee majority is unknown. The college population claim has the further club-only selection problem.</a:t>
            </a:r>
          </a:p>
          <a:p>
            <a:endParaRPr/>
          </a:p>
          <a:p>
            <a:r>
              <a:t>Purpose: Explain possible support among invitees</a:t>
            </a:r>
          </a:p>
          <a:p>
            <a:r>
              <a:t>Timing: main canteen investigation 60 minutes, seven seminar rounds 25 minutes, individual exit 5 minutes. Seminar discussions last 2 or 3 minutes, followed immediately by a one-minute answer reveal.</a:t>
            </a:r>
          </a:p>
          <a:p>
            <a:r>
              <a:t>All numerical cases are fictional teaching data. Percentages rounded to two decimal places. Bellerbys design and retained background photographs come from the supplied Class C deck. Seminar cases adapt the two supplied Week 2 seminar question sheets.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Diagnose only the faults not resolved by the missing-response calculation: club-only invitation frame, leading wording and faulty scale in the original investigation. Students match faults to opinion or waste claims and propose specific repairs. The independent pilot in C1 used another accurate checked scale. Limit discussion to 2 minutes.</a:t>
            </a:r>
          </a:p>
          <a:p>
            <a:endParaRPr/>
          </a:p>
          <a:p>
            <a:r>
              <a:t>Purpose: Tie data-collection faults to the claims they threaten</a:t>
            </a:r>
          </a:p>
          <a:p>
            <a:r>
              <a:t>Timing: main canteen investigation 60 minutes, seven seminar rounds 25 minutes, individual exit 5 minutes. Seminar discussions last 2 or 3 minutes, followed immediately by a one-minute answer reveal.</a:t>
            </a:r>
          </a:p>
          <a:p>
            <a:r>
              <a:t>All numerical cases are fictional teaching data. Percentages rounded to two decimal places. Bellerbys design and retained background photographs come from the supplied Class C deck. Seminar cases adapt the two supplied Week 2 seminar question sheets.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Selection bias is about who enters the study; measurement error is about accuracy of recorded data. The leading question may cause response bias. Missing replies were treated in C1.2 and will be revisited through actual response patterns after the new sampling plan. Scale photo is illustrative, not the pilot instrument. Photo: Arwen / Unsplash https://unsplash.com/photos/white-powder-measured-on-a-digital-scale-u3gMcNvqrnI ; Unsplash License.</a:t>
            </a:r>
          </a:p>
          <a:p>
            <a:endParaRPr/>
          </a:p>
          <a:p>
            <a:r>
              <a:t>Purpose: Name the errors and specify actions</a:t>
            </a:r>
          </a:p>
          <a:p>
            <a:r>
              <a:t>Timing: main canteen investigation 60 minutes, seven seminar rounds 25 minutes, individual exit 5 minutes. Seminar discussions last 2 or 3 minutes, followed immediately by a one-minute answer reveal.</a:t>
            </a:r>
          </a:p>
          <a:p>
            <a:r>
              <a:t>All numerical cases are fictional teaching data. Percentages rounded to two decimal places. Bellerbys design and retained background photographs come from the supplied Class C deck. Seminar cases adapt the two supplied Week 2 seminar question sheets.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Students write one neutral question about adding the 315 g option alongside the 425 g portion. Response options should allow support, opposition and uncertainty. Partner reads and explains the proposal back. Correct any wording that implies the usual portion is removed. 2 minutes table discussion, brief teacher reveal.</a:t>
            </a:r>
          </a:p>
          <a:p>
            <a:endParaRPr/>
          </a:p>
          <a:p>
            <a:r>
              <a:t>Purpose: Produce and pilot an operational survey question</a:t>
            </a:r>
          </a:p>
          <a:p>
            <a:r>
              <a:t>Timing: main canteen investigation 60 minutes, seven seminar rounds 25 minutes, individual exit 5 minutes. Seminar discussions last 2 or 3 minutes, followed immediately by a one-minute answer reveal.</a:t>
            </a:r>
          </a:p>
          <a:p>
            <a:r>
              <a:t>All numerical cases are fictional teaching data. Percentages rounded to two decimal places. Bellerbys design and retained background photographs come from the supplied Class C deck. Seminar cases adapt the two supplied Week 2 seminar question sheets.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Accept equivalent neutral wording. This question measures support for offering a choice. Actual waste must be measured separately. Do not restart a generic lesson on leading questions. Finish the report-and-repair stage by minute 20.</a:t>
            </a:r>
          </a:p>
          <a:p>
            <a:endParaRPr/>
          </a:p>
          <a:p>
            <a:r>
              <a:t>Purpose: Consolidate the survey wording before selecting people</a:t>
            </a:r>
          </a:p>
          <a:p>
            <a:r>
              <a:t>Timing: main canteen investigation 60 minutes, seven seminar rounds 25 minutes, individual exit 5 minutes. Seminar discussions last 2 or 3 minutes, followed immediately by a one-minute answer reveal.</a:t>
            </a:r>
          </a:p>
          <a:p>
            <a:r>
              <a:t>All numerical cases are fictional teaching data. Percentages rounded to two decimal places. Bellerbys design and retained background photographs come from the supplied Class C deck. Seminar cases adapt the two supplied Week 2 seminar question sheets.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3,696 enrolled students: 2,173 Business and 1,523 Engineering. Select 176 invitations. 84 non-overlapping classes of 44 students, potentially mixed programmes. Complete current individual, programme and class lists exist. Need college-wide opinions and separate programme findings. No artificial online-versus-four-class-visit constraint.</a:t>
            </a:r>
          </a:p>
          <a:p>
            <a:endParaRPr/>
          </a:p>
          <a:p>
            <a:r>
              <a:t>Purpose: Define the frame and sampling goals once</a:t>
            </a:r>
          </a:p>
          <a:p>
            <a:r>
              <a:t>Timing: main canteen investigation 60 minutes, seven seminar rounds 25 minutes, individual exit 5 minutes. Seminar discussions last 2 or 3 minutes, followed immediately by a one-minute answer reveal.</a:t>
            </a:r>
          </a:p>
          <a:p>
            <a:r>
              <a:t>All numerical cases are fictional teaching data. Percentages rounded to two decimal places. Bellerbys design and retained background photographs come from the supplied Class C deck. Seminar cases adapt the two supplied Week 2 seminar question sheets.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selects 176 distinct IDs uniformly without replacement. B randomly selects 88 of 1,848 fixed pairs and invites both members. Pairs are fixed before selection: ID r with ID r+1848. Both procedures give every individual the same 1/21 inclusion chance, but only A allows every possible 176-person subset. Explain with one impossible group under B. This deepens the previously taught definition of SRS without introducing new probability formulas.</a:t>
            </a:r>
          </a:p>
          <a:p>
            <a:endParaRPr/>
          </a:p>
          <a:p>
            <a:r>
              <a:t>Purpose: Distinguish an SRS of people from random selection of fixed pairs</a:t>
            </a:r>
          </a:p>
          <a:p>
            <a:r>
              <a:t>Timing: main canteen investigation 60 minutes, seven seminar rounds 25 minutes, individual exit 5 minutes. Seminar discussions last 2 or 3 minutes, followed immediately by a one-minute answer reveal.</a:t>
            </a:r>
          </a:p>
          <a:p>
            <a:r>
              <a:t>All numerical cases are fictional teaching data. Percentages rounded to two decimal places. Bellerbys design and retained background photographs come from the supplied Class C deck. Seminar cases adapt the two supplied Week 2 seminar question sheets.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176/3696 = 1/21 = 4.7619%. Under B, ID 1 cannot enter without ID 1849. A sample containing 1 but not 1849 is possible under A and impossible under B. B is random selection of pairs, essentially cluster sampling with pairs. It is not an SRS of individuals and is not automatically biased. Avoid suggesting that all non-SRS methods are invalid.</a:t>
            </a:r>
          </a:p>
          <a:p>
            <a:endParaRPr/>
          </a:p>
          <a:p>
            <a:r>
              <a:t>Purpose: Explain why equal individual chances alone are insufficient</a:t>
            </a:r>
          </a:p>
          <a:p>
            <a:r>
              <a:t>Timing: main canteen investigation 60 minutes, seven seminar rounds 25 minutes, individual exit 5 minutes. Seminar discussions last 2 or 3 minutes, followed immediately by a one-minute answer reveal.</a:t>
            </a:r>
          </a:p>
          <a:p>
            <a:r>
              <a:t>All numerical cases are fictional teaching data. Percentages rounded to two decimal places. Bellerbys design and retained background photographs come from the supplied Class C deck. Seminar cases adapt the two supplied Week 2 seminar question sheets.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Same N=3696 and n=176. Fifth selected ID 97. Find k=21, then r=97−4×21=13. Ask whether the output proves a random start. It does not: the same sequence could result from a random start or a chosen favourite. Require a recorded random selection from 1–21. No repeated reverse-interval exercise here.</a:t>
            </a:r>
          </a:p>
          <a:p>
            <a:endParaRPr/>
          </a:p>
          <a:p>
            <a:r>
              <a:t>Purpose: Reconstruct an interval and distinguish process evidence from output</a:t>
            </a:r>
          </a:p>
          <a:p>
            <a:r>
              <a:t>Timing: main canteen investigation 60 minutes, seven seminar rounds 25 minutes, individual exit 5 minutes. Seminar discussions last 2 or 3 minutes, followed immediately by a one-minute answer reveal.</a:t>
            </a:r>
          </a:p>
          <a:p>
            <a:r>
              <a:t>All numerical cases are fictional teaching data. Percentages rounded to two decimal places. Bellerbys design and retained background photographs come from the supplied Class C deck. Seminar cases adapt the two supplied Week 2 seminar question sheets.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k=21, r=13; first five are 13,34,55,76,97. Four jumps precede the fifth ID. A valid systematic random-start procedure chooses uniformly from 1–21. The sequence alone does not reveal how 13 was selected. Later seminar case examines repeating list patterns.</a:t>
            </a:r>
          </a:p>
          <a:p>
            <a:endParaRPr/>
          </a:p>
          <a:p>
            <a:r>
              <a:t>Purpose: Separate recoverable information from an unverified assumption</a:t>
            </a:r>
          </a:p>
          <a:p>
            <a:r>
              <a:t>Timing: main canteen investigation 60 minutes, seven seminar rounds 25 minutes, individual exit 5 minutes. Seminar discussions last 2 or 3 minutes, followed immediately by a one-minute answer reveal.</a:t>
            </a:r>
          </a:p>
          <a:p>
            <a:r>
              <a:t>All numerical cases are fictional teaching data. Percentages rounded to two decimal places. Bellerbys design and retained background photographs come from the supplied Class C deck. Seminar cases adapt the two supplied Week 2 seminar question sheets.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Both 104+72 and 103+ 73 total 176, so simple addition cannot resolve the question. Compute ideal quotas, then choose the nearest whole-number allocation that preserves the target. Ask for random selection within programme lists. Do not call the less-close allocation an invalid sample.</a:t>
            </a:r>
          </a:p>
          <a:p>
            <a:endParaRPr/>
          </a:p>
          <a:p>
            <a:r>
              <a:t>Purpose: Improve a plausible proportional allocation</a:t>
            </a:r>
          </a:p>
          <a:p>
            <a:r>
              <a:t>Timing: main canteen investigation 60 minutes, seven seminar rounds 25 minutes, individual exit 5 minutes. Seminar discussions last 2 or 3 minutes, followed immediately by a one-minute answer reveal.</a:t>
            </a:r>
          </a:p>
          <a:p>
            <a:r>
              <a:t>All numerical cases are fictional teaching data. Percentages rounded to two decimal places. Bellerbys design and retained background photographs come from the supplied Class C deck. Seminar cases adapt the two supplied Week 2 seminar question sheets.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Ideal Business quota = 103.476190476, Engineering = 72.523809524. Nearest allocation is 103 and 73, each 0.47619 from ideal; 104 and 72 each 0.52381 away. The alternative has the correct total but is less close to proportionality. Random selection within each programme is essential.</a:t>
            </a:r>
          </a:p>
          <a:p>
            <a:endParaRPr/>
          </a:p>
          <a:p>
            <a:r>
              <a:t>Purpose: Justify rounding using unrounded quotas</a:t>
            </a:r>
          </a:p>
          <a:p>
            <a:r>
              <a:t>Timing: main canteen investigation 60 minutes, seven seminar rounds 25 minutes, individual exit 5 minutes. Seminar discussions last 2 or 3 minutes, followed immediately by a one-minute answer reveal.</a:t>
            </a:r>
          </a:p>
          <a:p>
            <a:r>
              <a:t>All numerical cases are fictional teaching data. Percentages rounded to two decimal places. Bellerbys design and retained background photographs come from the supplied Class C deck. Seminar cases adapt the two supplied Week 2 seminar question sheets.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classes selected uniformly from 84; invite every student, giving 176. Observed composition 147 Business and 29 Engineering. Engineering population share 1523/3696=41.2067%; sample 29/176=16.4773%. Does this one difference establish systematic bias? No. Which design best supports separate programme findings next? Stratified selection gives planned programme counts.</a:t>
            </a:r>
          </a:p>
          <a:p>
            <a:endParaRPr/>
          </a:p>
          <a:p>
            <a:r>
              <a:t>Purpose: Interpret a realised cluster sample and compare fitness for purpose</a:t>
            </a:r>
          </a:p>
          <a:p>
            <a:r>
              <a:t>Timing: main canteen investigation 60 minutes, seven seminar rounds 25 minutes, individual exit 5 minutes. Seminar discussions last 2 or 3 minutes, followed immediately by a one-minute answer reveal.</a:t>
            </a:r>
          </a:p>
          <a:p>
            <a:r>
              <a:t>All numerical cases are fictional teaching data. Percentages rounded to two decimal places. Bellerbys design and retained background photographs come from the supplied Class C deck. Seminar cases adapt the two supplied Week 2 seminar question sheets.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 cluster sample, and a realised imbalance alone does not prove a biased procedure. Cluster homogeneity can increase sampling variability. With programme lists available and a goal of separate findings, use 103/73 planned invitations and random selection within each programme. This choice leads directly to the returned-data exercise. Finish sampling decisions by minute 40.</a:t>
            </a:r>
          </a:p>
          <a:p>
            <a:endParaRPr/>
          </a:p>
          <a:p>
            <a:r>
              <a:t>Purpose: Choose planned representation without mislabelling random variation</a:t>
            </a:r>
          </a:p>
          <a:p>
            <a:r>
              <a:t>Timing: main canteen investigation 60 minutes, seven seminar rounds 25 minutes, individual exit 5 minutes. Seminar discussions last 2 or 3 minutes, followed immediately by a one-minute answer reveal.</a:t>
            </a:r>
          </a:p>
          <a:p>
            <a:r>
              <a:t>All numerical cases are fictional teaching data. Percentages rounded to two decimal places. Bellerbys design and retained background photographs come from the supplied Class C deck. Seminar cases adapt the two supplied Week 2 seminar question sheets.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team adopts 103 Business + 73 Engineering invitations. 84 Business and 24 Engineering students reply. Compute each programme response rate, then Engineering share of 108 respondents. Propose follow-up aimed at selected nonrespondents. Invitation target is not guaranteed response size. Allow about 3 minutes calculation/discussion.</a:t>
            </a:r>
          </a:p>
          <a:p>
            <a:endParaRPr/>
          </a:p>
          <a:p>
            <a:r>
              <a:t>Purpose: Measure how response patterns alter composition</a:t>
            </a:r>
          </a:p>
          <a:p>
            <a:r>
              <a:t>Timing: main canteen investigation 60 minutes, seven seminar rounds 25 minutes, individual exit 5 minutes. Seminar discussions last 2 or 3 minutes, followed immediately by a one-minute answer reveal.</a:t>
            </a:r>
          </a:p>
          <a:p>
            <a:r>
              <a:t>All numerical cases are fictional teaching data. Percentages rounded to two decimal places. Bellerbys design and retained background photographs come from the supplied Class C deck. Seminar cases adapt the two supplied Week 2 seminar question sheets.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Business response 84/103=81.5534%; Engineering 24/73=32.8767%. Engineering respondent share 24/108=22.2222%. Prioritise accessible reminders or alternative response modes for originally selected Engineering nonrespondents; continue follow-up for other selected nonrespondents too. Composition differences raise concern but opinion bias depends on relevant response differences. Do not replace missing students with convenient friends or claim follow-up guarantees no bias.</a:t>
            </a:r>
          </a:p>
          <a:p>
            <a:endParaRPr/>
          </a:p>
          <a:p>
            <a:r>
              <a:t>Purpose: Design follow-up from observed response differences</a:t>
            </a:r>
          </a:p>
          <a:p>
            <a:r>
              <a:t>Timing: main canteen investigation 60 minutes, seven seminar rounds 25 minutes, individual exit 5 minutes. Seminar discussions last 2 or 3 minutes, followed immediately by a one-minute answer reveal.</a:t>
            </a:r>
          </a:p>
          <a:p>
            <a:r>
              <a:t>All numerical cases are fictional teaching data. Percentages rounded to two decimal places. Bellerbys design and retained background photographs come from the supplied Class C deck. Seminar cases adapt the two supplied Week 2 seminar question sheets.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Eight canteen variables replace unrelated height/household examples. Classify categorical versus quantitative and, for quantitative variables, discrete versus continuous. C and D contrast a count with a rounded measurement; G is a numeric code for a category. H directly measures waste, D measures amount served. Underlying measured mass/time remain continuous even when recorded to a given precision.</a:t>
            </a:r>
          </a:p>
          <a:p>
            <a:endParaRPr/>
          </a:p>
          <a:p>
            <a:r>
              <a:t>Purpose: Audit variables from the same investigation</a:t>
            </a:r>
          </a:p>
          <a:p>
            <a:r>
              <a:t>Timing: main canteen investigation 60 minutes, seven seminar rounds 25 minutes, individual exit 5 minutes. Seminar discussions last 2 or 3 minutes, followed immediately by a one-minute answer reveal.</a:t>
            </a:r>
          </a:p>
          <a:p>
            <a:r>
              <a:t>All numerical cases are fictional teaching data. Percentages rounded to two decimal places. Bellerbys design and retained background photographs come from the supplied Class C deck. Seminar cases adapt the two supplied Week 2 seminar question sheets.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ID and B programme code are categorical; C meals bought discrete; D portion mass and E exact waiting time continuous; F waiting-time band and G opinion code categorical; H leftover mass continuous. A numeric code does not make data quantitative. Converting waiting time to a band changes the recorded variable. Finish returned-data and recording stage by minute 55.</a:t>
            </a:r>
          </a:p>
          <a:p>
            <a:endParaRPr/>
          </a:p>
          <a:p>
            <a:r>
              <a:t>Purpose: Justify the difficult classifications</a:t>
            </a:r>
          </a:p>
          <a:p>
            <a:r>
              <a:t>Timing: main canteen investigation 60 minutes, seven seminar rounds 25 minutes, individual exit 5 minutes. Seminar discussions last 2 or 3 minutes, followed immediately by a one-minute answer reveal.</a:t>
            </a:r>
          </a:p>
          <a:p>
            <a:r>
              <a:t>All numerical cases are fictional teaching data. Percentages rounded to two decimal places. Bellerbys design and retained background photographs come from the supplied Class C deck. Seminar cases adapt the two supplied Week 2 seminar question sheets.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3-minute table discussion. Write up to 75 words in three sentences: what support data establish, what pilot measurements establish, and what further action is needed. Do not redo calculations or give formal presentations. This is the final product of the connected case. Spend remaining 2 minutes checking against the model.</a:t>
            </a:r>
          </a:p>
          <a:p>
            <a:endParaRPr/>
          </a:p>
          <a:p>
            <a:r>
              <a:t>Purpose: Synthesize the investigation into a defensible short conclusion</a:t>
            </a:r>
          </a:p>
          <a:p>
            <a:r>
              <a:t>Timing: main canteen investigation 60 minutes, seven seminar rounds 25 minutes, individual exit 5 minutes. Seminar discussions last 2 or 3 minutes, followed immediately by a one-minute answer reveal.</a:t>
            </a:r>
          </a:p>
          <a:p>
            <a:r>
              <a:t>All numerical cases are fictional teaching data. Percentages rounded to two decimal places. Bellerbys design and retained background photographs come from the supplied Class C deck. Seminar cases adapt the two supplied Week 2 seminar question sheets.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Accept equivalent claims with correctly defined groups and caveats. Original 67.83% is among 143 club respondents. Accurate pilot shows portion−25.88% and leftovers+8.54%, without proving causation. The new invitation method fixes a frame/allocation problem but uneven response remains. End main case at minute 60. This completes the investigation; do not add another review or presentation stage.</a:t>
            </a:r>
          </a:p>
          <a:p>
            <a:endParaRPr/>
          </a:p>
          <a:p>
            <a:r>
              <a:t>Purpose: Model a concise conclusion that matches the evidence</a:t>
            </a:r>
          </a:p>
          <a:p>
            <a:r>
              <a:t>Timing: main canteen investigation 60 minutes, seven seminar rounds 25 minutes, individual exit 5 minutes. Seminar discussions last 2 or 3 minutes, followed immediately by a one-minute answer reveal.</a:t>
            </a:r>
          </a:p>
          <a:p>
            <a:r>
              <a:t>All numerical cases are fictional teaching data. Percentages rounded to two decimal places. Bellerbys design and retained background photographs come from the supplied Class C deck. Seminar cases adapt the two supplied Week 2 seminar question sheets.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tables discuss the same displayed question. Each question is immediately followed by its potential answer. No presentations or audience challenges. Discussion times are 2, 3, 3, 2, 2, 3 and 3 minutes: 18 minutes in total. Allow around one minute for each answer, making 25 minutes. Begin at minute 60. The future handout should give every student space for all seven questions.</a:t>
            </a:r>
          </a:p>
          <a:p>
            <a:endParaRPr/>
          </a:p>
          <a:p>
            <a:r>
              <a:t>Purpose: Explain the changed seminar routine</a:t>
            </a:r>
          </a:p>
          <a:p>
            <a:r>
              <a:t>Timing: main canteen investigation 60 minutes, seven seminar rounds 25 minutes, individual exit 5 minutes. Seminar discussions last 2 or 3 minutes, followed immediately by a one-minute answer reveal.</a:t>
            </a:r>
          </a:p>
          <a:p>
            <a:r>
              <a:t>All numerical cases are fictional teaching data. Percentages rounded to two decimal places. Bellerbys design and retained background photographs come from the supplied Class C deck. Seminar cases adapt the two supplied Week 2 seminar question sheets.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Combine the original seminar questions on changing the population and the inventory parameter. Warehouse A inspects every one of its 60,000 current units. The company has eight warehouses. The given 8.33% is a parameter for Warehouse A and a statistic when the target is all company inventory. Discuss for two minutes. Focus on the defined population, not percentage arithmetic.</a:t>
            </a:r>
          </a:p>
          <a:p>
            <a:endParaRPr/>
          </a:p>
          <a:p>
            <a:r>
              <a:t>Purpose: Transfer parameter/statistic and population/sample to a changed scope</a:t>
            </a:r>
          </a:p>
          <a:p>
            <a:r>
              <a:t>Timing: main canteen investigation 60 minutes, seven seminar rounds 25 minutes, individual exit 5 minutes. Seminar discussions last 2 or 3 minutes, followed immediately by a one-minute answer reveal.</a:t>
            </a:r>
          </a:p>
          <a:p>
            <a:r>
              <a:t>All numerical cases are fictional teaching data. Percentages rounded to two decimal places. Bellerbys design and retained background photographs come from the supplied Class C deck. Seminar cases adapt the two supplied Week 2 seminar question sheets.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same inspected records can be the entire population for one research question and a sample for another. Inspecting one warehouse does not establish the company-wide defective percentage. A sample statistic can be calculated even when the sample has not been shown to be representative.</a:t>
            </a:r>
          </a:p>
          <a:p>
            <a:endParaRPr/>
          </a:p>
          <a:p>
            <a:r>
              <a:t>Purpose: Explain why classification depends on the target population</a:t>
            </a:r>
          </a:p>
          <a:p>
            <a:r>
              <a:t>Timing: main canteen investigation 60 minutes, seven seminar rounds 25 minutes, individual exit 5 minutes. Seminar discussions last 2 or 3 minutes, followed immediately by a one-minute answer reveal.</a:t>
            </a:r>
          </a:p>
          <a:p>
            <a:r>
              <a:t>All numerical cases are fictional teaching data. Percentages rounded to two decimal places. Bellerbys design and retained background photographs come from the supplied Class C deck. Seminar cases adapt the two supplied Week 2 seminar question sheets.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Three-minute discussion. Final count: 117 minus 19 plus 40 equals 138. The 19 zero-spending responses are valid observations. The 40 volunteers were not obtained through the original selection process. Keep all 117 valid original responses and follow up the 40 originally selected nonrespondents. Photo: charlesdeluvio / Unsplash, https://unsplash.com/photos/person-using-silver-and-black-laptop-computer-jtmwD4i4v1U . Unsplash License.</a:t>
            </a:r>
          </a:p>
          <a:p>
            <a:endParaRPr/>
          </a:p>
          <a:p>
            <a:r>
              <a:t>Purpose: Audit exclusion of valid zeros and volunteer replacement</a:t>
            </a:r>
          </a:p>
          <a:p>
            <a:r>
              <a:t>Timing: main canteen investigation 60 minutes, seven seminar rounds 25 minutes, individual exit 5 minutes. Seminar discussions last 2 or 3 minutes, followed immediately by a one-minute answer reveal.</a:t>
            </a:r>
          </a:p>
          <a:p>
            <a:r>
              <a:t>All numerical cases are fictional teaching data. Percentages rounded to two decimal places. Bellerbys design and retained background photographs come from the supplied Class C deck. Seminar cases adapt the two supplied Week 2 seminar question sheets.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final dataset contains 98 original respondents and 40 volunteers. Excluding valid zeros alone raises the average for the original respondent group. The effect of adding volunteers is unknown from the supplied information. Students should repair both exclusions and recruitment, rather than treating the final count as evidence of quality.</a:t>
            </a:r>
          </a:p>
          <a:p>
            <a:endParaRPr/>
          </a:p>
          <a:p>
            <a:r>
              <a:t>Purpose: Repair the process instead of valuing a larger cleaned dataset</a:t>
            </a:r>
          </a:p>
          <a:p>
            <a:r>
              <a:t>Timing: main canteen investigation 60 minutes, seven seminar rounds 25 minutes, individual exit 5 minutes. Seminar discussions last 2 or 3 minutes, followed immediately by a one-minute answer reveal.</a:t>
            </a:r>
          </a:p>
          <a:p>
            <a:r>
              <a:t>All numerical cases are fictional teaching data. Percentages rounded to two decimal places. Bellerbys design and retained background photographs come from the supplied Class C deck. Seminar cases adapt the two supplied Week 2 seminar question sheets.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Three-minute discussion. The age groups contain 1,846, 3,927 and 2,615 residents. Select 50 uniformly without replacement from each. Inclusion chances are 50 divided by each group population. This is stratified sampling but not proportional allocation. The youngest group has the highest selection chance. The ratio of highest to lowest is 3,927 divided by 1,846, approximately 2.13.</a:t>
            </a:r>
          </a:p>
          <a:p>
            <a:endParaRPr/>
          </a:p>
          <a:p>
            <a:r>
              <a:t>Purpose: Quantify unequal selection probabilities within a stratified design</a:t>
            </a:r>
          </a:p>
          <a:p>
            <a:r>
              <a:t>Timing: main canteen investigation 60 minutes, seven seminar rounds 25 minutes, individual exit 5 minutes. Seminar discussions last 2 or 3 minutes, followed immediately by a one-minute answer reveal.</a:t>
            </a:r>
          </a:p>
          <a:p>
            <a:r>
              <a:t>All numerical cases are fictional teaching data. Percentages rounded to two decimal places. Bellerbys design and retained background photographs come from the supplied Class C deck. Seminar cases adapt the two supplied Week 2 seminar question sheets.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Unrounded percentages are 2.708559%, 1.273237% and 1.912046%. Use unrounded values to compare chances. Equal sample counts do not give every resident an equal chance when the population groups differ in size. Equal or disproportionate allocations can still be stratified. Weighting an overall estimate is outside this class.</a:t>
            </a:r>
          </a:p>
          <a:p>
            <a:endParaRPr/>
          </a:p>
          <a:p>
            <a:r>
              <a:t>Purpose: Distinguish stratification from proportionality and equal individual chances</a:t>
            </a:r>
          </a:p>
          <a:p>
            <a:r>
              <a:t>Timing: main canteen investigation 60 minutes, seven seminar rounds 25 minutes, individual exit 5 minutes. Seminar discussions last 2 or 3 minutes, followed immediately by a one-minute answer reveal.</a:t>
            </a:r>
          </a:p>
          <a:p>
            <a:r>
              <a:t>All numerical cases are fictional teaching data. Percentages rounded to two decimal places. Bellerbys design and retained background photographs come from the supplied Class C deck. Seminar cases adapt the two supplied Week 2 seminar question sheets.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Two-minute discussion. A complete household list is available, so the stated problem concerns contact and nonresponse rather than list coverage. Daytime workers or students may be absent. Relevant health differences between respondents and nonrespondents would be needed for nonresponse bias. Its direction cannot be inferred from being absent alone.</a:t>
            </a:r>
          </a:p>
          <a:p>
            <a:endParaRPr/>
          </a:p>
          <a:p>
            <a:r>
              <a:t>Purpose: Identify a plausible mechanism and avoid an unsupported bias direction</a:t>
            </a:r>
          </a:p>
          <a:p>
            <a:r>
              <a:t>Timing: main canteen investigation 60 minutes, seven seminar rounds 25 minutes, individual exit 5 minutes. Seminar discussions last 2 or 3 minutes, followed immediately by a one-minute answer reveal.</a:t>
            </a:r>
          </a:p>
          <a:p>
            <a:r>
              <a:t>All numerical cases are fictional teaching data. Percentages rounded to two decimal places. Bellerbys design and retained background photographs come from the supplied Class C deck. Seminar cases adapt the two supplied Week 2 seminar question sheets.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Accept evening or weekend return visits to the originally selected households, or accessible alternative response modes. Students must connect missing households with differences in the health outcome. Randomly choosing neighbourhoods does not control what happens at the response stage.</a:t>
            </a:r>
          </a:p>
          <a:p>
            <a:endParaRPr/>
          </a:p>
          <a:p>
            <a:r>
              <a:t>Purpose: Connect missing households to relevant health differences</a:t>
            </a:r>
          </a:p>
          <a:p>
            <a:r>
              <a:t>Timing: main canteen investigation 60 minutes, seven seminar rounds 25 minutes, individual exit 5 minutes. Seminar discussions last 2 or 3 minutes, followed immediately by a one-minute answer reveal.</a:t>
            </a:r>
          </a:p>
          <a:p>
            <a:r>
              <a:t>All numerical cases are fictional teaching data. Percentages rounded to two decimal places. Bellerbys design and retained background photographs come from the supplied Class C deck. Seminar cases adapt the two supplied Week 2 seminar question sheets.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Two-minute discussion. Original Boston survey context: 120 residents, percentages 10, 25, 20, 35 and 10. B is supported because Massachusetts has the largest reported category. A overgeneralises to all Boston residents. C mistakes complete percentage totals for representative selection. Students rewrite one unsupported headline.</a:t>
            </a:r>
          </a:p>
          <a:p>
            <a:endParaRPr/>
          </a:p>
          <a:p>
            <a:r>
              <a:t>Purpose: Choose and repair a claim from the Boston evidence</a:t>
            </a:r>
          </a:p>
          <a:p>
            <a:r>
              <a:t>Timing: main canteen investigation 60 minutes, seven seminar rounds 25 minutes, individual exit 5 minutes. Seminar discussions last 2 or 3 minutes, followed immediately by a one-minute answer reveal.</a:t>
            </a:r>
          </a:p>
          <a:p>
            <a:r>
              <a:t>All numerical cases are fictional teaching data. Percentages rounded to two decimal places. Bellerbys design and retained background photographs come from the supplied Class C deck. Seminar cases adapt the two supplied Week 2 seminar question sheets.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corrected claim refers specifically to the 120 surveyed residents. A total of 100% only shows that the reported categories account for the whole set of responses. Information about selection, list coverage and nonresponse is still needed before assessing representativeness.</a:t>
            </a:r>
          </a:p>
          <a:p>
            <a:endParaRPr/>
          </a:p>
          <a:p>
            <a:r>
              <a:t>Purpose: Make a correct statement without overgeneralising the sample</a:t>
            </a:r>
          </a:p>
          <a:p>
            <a:r>
              <a:t>Timing: main canteen investigation 60 minutes, seven seminar rounds 25 minutes, individual exit 5 minutes. Seminar discussions last 2 or 3 minutes, followed immediately by a one-minute answer reveal.</a:t>
            </a:r>
          </a:p>
          <a:p>
            <a:r>
              <a:t>All numerical cases are fictional teaching data. Percentages rounded to two decimal places. Bellerbys design and retained background photographs come from the supplied Class C deck. Seminar cases adapt the two supplied Week 2 seminar question sheets.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Three-minute discussion. Each complete block of 21 positions contains 20 day students and one evening student. Choose the random start uniformly from 1 to 21. Start 13 selects only day students. Start 21 selects only evening students. The repeating ordering makes the sample composition depend sharply on the start.</a:t>
            </a:r>
          </a:p>
          <a:p>
            <a:endParaRPr/>
          </a:p>
          <a:p>
            <a:r>
              <a:t>Purpose: Expose systematic-sampling variation caused by periodic ordering</a:t>
            </a:r>
          </a:p>
          <a:p>
            <a:r>
              <a:t>Timing: main canteen investigation 60 minutes, seven seminar rounds 25 minutes, individual exit 5 minutes. Seminar discussions last 2 or 3 minutes, followed immediately by a one-minute answer reveal.</a:t>
            </a:r>
          </a:p>
          <a:p>
            <a:r>
              <a:t>All numerical cases are fictional teaching data. Percentages rounded to two decimal places. Bellerbys design and retained background photographs come from the supplied Class C deck. Seminar cases adapt the two supplied Week 2 seminar question sheets.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interval repeatedly lands in the same position within each block. Each individual still has an equal inclusion chance if the register consists of complete blocks. The extreme realised composition illustrates sampling variability, not proof of systematic bias. Shuffle the register uniformly first, or stratify if inclusion of both groups is required.</a:t>
            </a:r>
          </a:p>
          <a:p>
            <a:endParaRPr/>
          </a:p>
          <a:p>
            <a:r>
              <a:t>Purpose: Offer a procedural change and distinguish variation from bias</a:t>
            </a:r>
          </a:p>
          <a:p>
            <a:r>
              <a:t>Timing: main canteen investigation 60 minutes, seven seminar rounds 25 minutes, individual exit 5 minutes. Seminar discussions last 2 or 3 minutes, followed immediately by a one-minute answer reveal.</a:t>
            </a:r>
          </a:p>
          <a:p>
            <a:r>
              <a:t>All numerical cases are fictional teaching data. Percentages rounded to two decimal places. Bellerbys design and retained background photographs come from the supplied Class C deck. Seminar cases adapt the two supplied Week 2 seminar question sheets.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Three-minute discussion. All tables answer all three cases. A has a complete university list and online contact. B requires at least 40 Engineers among 173 invitations, despite Engineers being a small population group. C can visit only six of 137 villages. Require one clear selection step as well as a method name. No presentations.</a:t>
            </a:r>
          </a:p>
          <a:p>
            <a:endParaRPr/>
          </a:p>
          <a:p>
            <a:r>
              <a:t>Purpose: Choose implementable procedures under three different constraints</a:t>
            </a:r>
          </a:p>
          <a:p>
            <a:r>
              <a:t>Timing: main canteen investigation 60 minutes, seven seminar rounds 25 minutes, individual exit 5 minutes. Seminar discussions last 2 or 3 minutes, followed immediately by a one-minute answer reveal.</a:t>
            </a:r>
          </a:p>
          <a:p>
            <a:r>
              <a:t>All numerical cases are fictional teaching data. Percentages rounded to two decimal places. Bellerbys design and retained background photographs come from the supplied Class C deck. Seminar cases adapt the two supplied Week 2 seminar question sheets.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select 157 distinct IDs uniformly from 1 to 4,286. B: randomly select 40 Engineers from the Engineering list and 133 students from the other-student list; other feasible allocations also satisfy the minimum. C: randomly select six villages and attempt every household in those villages. Accept other feasible, justified procedures. Mention remaining nonresponse or cluster-variability limitations briefly. Finish the seminar at minute 85.</a:t>
            </a:r>
          </a:p>
          <a:p>
            <a:endParaRPr/>
          </a:p>
          <a:p>
            <a:r>
              <a:t>Purpose: Check that methods satisfy the stated constraints</a:t>
            </a:r>
          </a:p>
          <a:p>
            <a:r>
              <a:t>Timing: main canteen investigation 60 minutes, seven seminar rounds 25 minutes, individual exit 5 minutes. Seminar discussions last 2 or 3 minutes, followed immediately by a one-minute answer reveal.</a:t>
            </a:r>
          </a:p>
          <a:p>
            <a:r>
              <a:t>All numerical cases are fictional teaching data. Percentages rounded to two decimal places. Bellerbys design and retained background photographs come from the supplied Class C deck. Seminar cases adapt the two supplied Week 2 seminar question sheets.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Work individually for four minutes. At a different college, student IDs run from 1 to an unspecified N. Every 39th student is selected and the fifth ID is 184. The start is 184 minus four intervals of 39, giving 28. The exact sample size requires the length of the register. Students construct two different populations consistent with the report.</a:t>
            </a:r>
          </a:p>
          <a:p>
            <a:endParaRPr/>
          </a:p>
          <a:p>
            <a:r>
              <a:t>Purpose: Identify missing information in a new individual problem</a:t>
            </a:r>
          </a:p>
          <a:p>
            <a:r>
              <a:t>Timing: main canteen investigation 60 minutes, seven seminar rounds 25 minutes, individual exit 5 minutes. Seminar discussions last 2 or 3 minutes, followed immediately by a one-minute answer reveal.</a:t>
            </a:r>
          </a:p>
          <a:p>
            <a:r>
              <a:t>All numerical cases are fictional teaching data. Percentages rounded to two decimal places. Bellerbys design and retained background photographs come from the supplied Class C deck. Seminar cases adapt the two supplied Week 2 seminar question sheets.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Starting sequence: 28, 67, 106, 145, 184. Population 195 gives five selections. Population 390 gives ten selections, ending at ID 379. At least five students were selected because the fifth selected ID is given. There is no unique sample size without N. Accept other consistent examples. Reveal and collect responses by minute 90.</a:t>
            </a:r>
          </a:p>
          <a:p>
            <a:endParaRPr/>
          </a:p>
          <a:p>
            <a:r>
              <a:t>Purpose: Demonstrate why sample size is not identified</a:t>
            </a:r>
          </a:p>
          <a:p>
            <a:r>
              <a:t>Timing: main canteen investigation 60 minutes, seven seminar rounds 25 minutes, individual exit 5 minutes. Seminar discussions last 2 or 3 minutes, followed immediately by a one-minute answer reveal.</a:t>
            </a:r>
          </a:p>
          <a:p>
            <a:r>
              <a:t>All numerical cases are fictional teaching data. Percentages rounded to two decimal places. Bellerbys design and retained background photographs come from the supplied Class C deck. Seminar cases adapt the two supplied Week 2 seminar question sheets.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Editabl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356102" y="2154458"/>
            <a:ext cx="5012602"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 Editabl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356102" y="2154458"/>
            <a:ext cx="5012602"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455689" y="1683678"/>
            <a:ext cx="9711351"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2">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455689" y="1683678"/>
            <a:ext cx="9711351"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der 3">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455689" y="1683678"/>
            <a:ext cx="9711351" cy="2387600"/>
          </a:xfrm>
        </p:spPr>
        <p:txBody>
          <a:bodyPr anchor="ctr">
            <a:normAutofit/>
          </a:bodyPr>
          <a:lstStyle>
            <a:lvl1pPr algn="l">
              <a:buNone/>
              <a:defRPr sz="5400">
                <a:solidFill>
                  <a:schemeClr val="tx1"/>
                </a:solidFill>
              </a:defRPr>
            </a:lvl1pPr>
          </a:lstStyle>
          <a:p>
            <a:r>
              <a:t>Click to edit Master title style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4">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455689" y="1683678"/>
            <a:ext cx="9711351"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5">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455689" y="1683678"/>
            <a:ext cx="9711351"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divider 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D414EE0-1AFC-779B-28F3-92E97752B8DC}"/>
              </a:ext>
            </a:extLst>
          </p:cNvPr>
          <p:cNvSpPr>
            <a:spLocks noGrp="1"/>
          </p:cNvSpPr>
          <p:nvPr>
            <p:ph type="ctrTitle"/>
          </p:nvPr>
        </p:nvSpPr>
        <p:spPr>
          <a:xfrm>
            <a:off x="356102" y="2154458"/>
            <a:ext cx="5012602"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Image divider 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D414EE0-1AFC-779B-28F3-92E97752B8DC}"/>
              </a:ext>
            </a:extLst>
          </p:cNvPr>
          <p:cNvSpPr>
            <a:spLocks noGrp="1"/>
          </p:cNvSpPr>
          <p:nvPr>
            <p:ph type="ctrTitle"/>
          </p:nvPr>
        </p:nvSpPr>
        <p:spPr>
          <a:xfrm>
            <a:off x="356102" y="2154458"/>
            <a:ext cx="5012602"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divider 2">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D414EE0-1AFC-779B-28F3-92E97752B8DC}"/>
              </a:ext>
            </a:extLst>
          </p:cNvPr>
          <p:cNvSpPr>
            <a:spLocks noGrp="1"/>
          </p:cNvSpPr>
          <p:nvPr>
            <p:ph type="ctrTitle"/>
          </p:nvPr>
        </p:nvSpPr>
        <p:spPr>
          <a:xfrm>
            <a:off x="356102" y="1384914"/>
            <a:ext cx="5012602" cy="2387600"/>
          </a:xfrm>
        </p:spPr>
        <p:txBody>
          <a:bodyPr anchor="ctr">
            <a:normAutofit/>
          </a:bodyPr>
          <a:lstStyle>
            <a:lvl1pPr algn="l">
              <a:buNone/>
              <a:defRPr sz="5400">
                <a:solidFill>
                  <a:schemeClr val="tx1"/>
                </a:solidFill>
              </a:defRPr>
            </a:lvl1pPr>
          </a:lstStyle>
          <a:p>
            <a:r>
              <a:t>Click to edit Master title style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ext and image 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4099-9C34-5CE8-8387-557FDF013767}"/>
              </a:ext>
            </a:extLst>
          </p:cNvPr>
          <p:cNvSpPr>
            <a:spLocks noGrp="1"/>
          </p:cNvSpPr>
          <p:nvPr>
            <p:ph type="title"/>
          </p:nvPr>
        </p:nvSpPr>
        <p:spPr>
          <a:xfrm>
            <a:off x="430794" y="1023042"/>
            <a:ext cx="7337079" cy="794395"/>
          </a:xfrm>
        </p:spPr>
        <p:txBody>
          <a:bodyPr/>
          <a:lstStyle/>
          <a:p>
            <a:r>
              <a:t>Click to edit Master title style</a:t>
            </a:r>
          </a:p>
        </p:txBody>
      </p:sp>
      <p:sp>
        <p:nvSpPr>
          <p:cNvPr id="3" name="Content Placeholder 2">
            <a:extLst>
              <a:ext uri="{FF2B5EF4-FFF2-40B4-BE49-F238E27FC236}">
                <a16:creationId xmlns:a16="http://schemas.microsoft.com/office/drawing/2014/main" id="{A650C284-DB54-6B3A-BB08-EAFB44027DBF}"/>
              </a:ext>
            </a:extLst>
          </p:cNvPr>
          <p:cNvSpPr>
            <a:spLocks noGrp="1"/>
          </p:cNvSpPr>
          <p:nvPr>
            <p:ph idx="1"/>
          </p:nvPr>
        </p:nvSpPr>
        <p:spPr>
          <a:xfrm>
            <a:off x="430794" y="1952374"/>
            <a:ext cx="7337079"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ext and image 2">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4099-9C34-5CE8-8387-557FDF013767}"/>
              </a:ext>
            </a:extLst>
          </p:cNvPr>
          <p:cNvSpPr>
            <a:spLocks noGrp="1"/>
          </p:cNvSpPr>
          <p:nvPr>
            <p:ph type="title"/>
          </p:nvPr>
        </p:nvSpPr>
        <p:spPr>
          <a:xfrm>
            <a:off x="430794" y="1023042"/>
            <a:ext cx="7337079" cy="794395"/>
          </a:xfrm>
        </p:spPr>
        <p:txBody>
          <a:bodyPr/>
          <a:lstStyle/>
          <a:p>
            <a:r>
              <a:t>Click to edit Master title style</a:t>
            </a:r>
          </a:p>
        </p:txBody>
      </p:sp>
      <p:sp>
        <p:nvSpPr>
          <p:cNvPr id="3" name="Content Placeholder 2">
            <a:extLst>
              <a:ext uri="{FF2B5EF4-FFF2-40B4-BE49-F238E27FC236}">
                <a16:creationId xmlns:a16="http://schemas.microsoft.com/office/drawing/2014/main" id="{A650C284-DB54-6B3A-BB08-EAFB44027DBF}"/>
              </a:ext>
            </a:extLst>
          </p:cNvPr>
          <p:cNvSpPr>
            <a:spLocks noGrp="1"/>
          </p:cNvSpPr>
          <p:nvPr>
            <p:ph idx="1"/>
          </p:nvPr>
        </p:nvSpPr>
        <p:spPr>
          <a:xfrm>
            <a:off x="430794" y="1952374"/>
            <a:ext cx="7337079"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1_Text and logos">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4099-9C34-5CE8-8387-557FDF013767}"/>
              </a:ext>
            </a:extLst>
          </p:cNvPr>
          <p:cNvSpPr>
            <a:spLocks noGrp="1"/>
          </p:cNvSpPr>
          <p:nvPr>
            <p:ph type="title"/>
          </p:nvPr>
        </p:nvSpPr>
        <p:spPr>
          <a:xfrm>
            <a:off x="430794" y="1023042"/>
            <a:ext cx="11293444" cy="794395"/>
          </a:xfrm>
        </p:spPr>
        <p:txBody>
          <a:bodyPr/>
          <a:lstStyle/>
          <a:p>
            <a:r>
              <a:t>Click to edit Master title style</a:t>
            </a:r>
          </a:p>
        </p:txBody>
      </p:sp>
      <p:sp>
        <p:nvSpPr>
          <p:cNvPr id="3" name="Content Placeholder 2">
            <a:extLst>
              <a:ext uri="{FF2B5EF4-FFF2-40B4-BE49-F238E27FC236}">
                <a16:creationId xmlns:a16="http://schemas.microsoft.com/office/drawing/2014/main" id="{A650C284-DB54-6B3A-BB08-EAFB44027DBF}"/>
              </a:ext>
            </a:extLst>
          </p:cNvPr>
          <p:cNvSpPr>
            <a:spLocks noGrp="1"/>
          </p:cNvSpPr>
          <p:nvPr>
            <p:ph idx="1"/>
          </p:nvPr>
        </p:nvSpPr>
        <p:spPr>
          <a:xfrm>
            <a:off x="430794" y="1952374"/>
            <a:ext cx="11293444" cy="4330731"/>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F2DCDF-5CC4-CB00-9A72-4FA0DB40B207}"/>
              </a:ext>
            </a:extLst>
          </p:cNvPr>
          <p:cNvSpPr>
            <a:spLocks noGrp="1"/>
          </p:cNvSpPr>
          <p:nvPr>
            <p:ph idx="1"/>
          </p:nvPr>
        </p:nvSpPr>
        <p:spPr>
          <a:xfrm>
            <a:off x="430794" y="1979534"/>
            <a:ext cx="5589006"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1B27F821-23A1-E30C-4CF7-BCB0A54C884C}"/>
              </a:ext>
            </a:extLst>
          </p:cNvPr>
          <p:cNvSpPr>
            <a:spLocks noGrp="1"/>
          </p:cNvSpPr>
          <p:nvPr>
            <p:ph idx="2"/>
          </p:nvPr>
        </p:nvSpPr>
        <p:spPr>
          <a:xfrm>
            <a:off x="6172200" y="1979534"/>
            <a:ext cx="5552038"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8" name="Title 1">
            <a:extLst>
              <a:ext uri="{FF2B5EF4-FFF2-40B4-BE49-F238E27FC236}">
                <a16:creationId xmlns:a16="http://schemas.microsoft.com/office/drawing/2014/main" id="{FF4A5FE2-7F9A-3783-1BA6-A18388F5F178}"/>
              </a:ext>
            </a:extLst>
          </p:cNvPr>
          <p:cNvSpPr>
            <a:spLocks noGrp="1"/>
          </p:cNvSpPr>
          <p:nvPr>
            <p:ph type="title"/>
          </p:nvPr>
        </p:nvSpPr>
        <p:spPr>
          <a:xfrm>
            <a:off x="430794" y="1023042"/>
            <a:ext cx="11293444" cy="794395"/>
          </a:xfrm>
        </p:spPr>
        <p:txBody>
          <a:bodyPr/>
          <a:lstStyle/>
          <a:p>
            <a:r>
              <a:t>Click to edit Master title style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ntent">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F2DCDF-5CC4-CB00-9A72-4FA0DB40B207}"/>
              </a:ext>
            </a:extLst>
          </p:cNvPr>
          <p:cNvSpPr>
            <a:spLocks noGrp="1"/>
          </p:cNvSpPr>
          <p:nvPr>
            <p:ph idx="1"/>
          </p:nvPr>
        </p:nvSpPr>
        <p:spPr>
          <a:xfrm>
            <a:off x="430793" y="1979534"/>
            <a:ext cx="3604254"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8" name="Title 1">
            <a:extLst>
              <a:ext uri="{FF2B5EF4-FFF2-40B4-BE49-F238E27FC236}">
                <a16:creationId xmlns:a16="http://schemas.microsoft.com/office/drawing/2014/main" id="{FF4A5FE2-7F9A-3783-1BA6-A18388F5F178}"/>
              </a:ext>
            </a:extLst>
          </p:cNvPr>
          <p:cNvSpPr>
            <a:spLocks noGrp="1"/>
          </p:cNvSpPr>
          <p:nvPr>
            <p:ph type="title"/>
          </p:nvPr>
        </p:nvSpPr>
        <p:spPr>
          <a:xfrm>
            <a:off x="430794" y="1023042"/>
            <a:ext cx="11293444" cy="794395"/>
          </a:xfrm>
        </p:spPr>
        <p:txBody>
          <a:bodyPr/>
          <a:lstStyle/>
          <a:p>
            <a:r>
              <a:t>Click to edit Master title style</a:t>
            </a:r>
          </a:p>
        </p:txBody>
      </p:sp>
      <p:sp>
        <p:nvSpPr>
          <p:cNvPr id="5" name="Content Placeholder 2">
            <a:extLst>
              <a:ext uri="{FF2B5EF4-FFF2-40B4-BE49-F238E27FC236}">
                <a16:creationId xmlns:a16="http://schemas.microsoft.com/office/drawing/2014/main" id="{39B8B3E1-3E22-853B-33F7-08DB9B6F05C9}"/>
              </a:ext>
            </a:extLst>
          </p:cNvPr>
          <p:cNvSpPr>
            <a:spLocks noGrp="1"/>
          </p:cNvSpPr>
          <p:nvPr>
            <p:ph idx="10"/>
          </p:nvPr>
        </p:nvSpPr>
        <p:spPr>
          <a:xfrm>
            <a:off x="4293873" y="1989591"/>
            <a:ext cx="3604254"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Content Placeholder 2">
            <a:extLst>
              <a:ext uri="{FF2B5EF4-FFF2-40B4-BE49-F238E27FC236}">
                <a16:creationId xmlns:a16="http://schemas.microsoft.com/office/drawing/2014/main" id="{03F7CAF5-096C-F6FE-105D-033F35B064E8}"/>
              </a:ext>
            </a:extLst>
          </p:cNvPr>
          <p:cNvSpPr>
            <a:spLocks noGrp="1"/>
          </p:cNvSpPr>
          <p:nvPr>
            <p:ph idx="11"/>
          </p:nvPr>
        </p:nvSpPr>
        <p:spPr>
          <a:xfrm>
            <a:off x="8119985" y="1979534"/>
            <a:ext cx="3604253"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ext and stat slid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4099-9C34-5CE8-8387-557FDF013767}"/>
              </a:ext>
            </a:extLst>
          </p:cNvPr>
          <p:cNvSpPr>
            <a:spLocks noGrp="1"/>
          </p:cNvSpPr>
          <p:nvPr>
            <p:ph type="title"/>
          </p:nvPr>
        </p:nvSpPr>
        <p:spPr>
          <a:xfrm>
            <a:off x="430794" y="1023042"/>
            <a:ext cx="8150498" cy="794395"/>
          </a:xfrm>
        </p:spPr>
        <p:txBody>
          <a:bodyPr/>
          <a:lstStyle/>
          <a:p>
            <a:r>
              <a:t>Click to edit Master title style</a:t>
            </a:r>
          </a:p>
        </p:txBody>
      </p:sp>
      <p:sp>
        <p:nvSpPr>
          <p:cNvPr id="3" name="Content Placeholder 2">
            <a:extLst>
              <a:ext uri="{FF2B5EF4-FFF2-40B4-BE49-F238E27FC236}">
                <a16:creationId xmlns:a16="http://schemas.microsoft.com/office/drawing/2014/main" id="{A650C284-DB54-6B3A-BB08-EAFB44027DBF}"/>
              </a:ext>
            </a:extLst>
          </p:cNvPr>
          <p:cNvSpPr>
            <a:spLocks noGrp="1"/>
          </p:cNvSpPr>
          <p:nvPr>
            <p:ph idx="1"/>
          </p:nvPr>
        </p:nvSpPr>
        <p:spPr>
          <a:xfrm>
            <a:off x="430794" y="1952374"/>
            <a:ext cx="8150498"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ext and testimonial">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4099-9C34-5CE8-8387-557FDF013767}"/>
              </a:ext>
            </a:extLst>
          </p:cNvPr>
          <p:cNvSpPr>
            <a:spLocks noGrp="1"/>
          </p:cNvSpPr>
          <p:nvPr>
            <p:ph type="title"/>
          </p:nvPr>
        </p:nvSpPr>
        <p:spPr>
          <a:xfrm>
            <a:off x="430794" y="1023042"/>
            <a:ext cx="7411944" cy="794395"/>
          </a:xfrm>
        </p:spPr>
        <p:txBody>
          <a:bodyPr/>
          <a:lstStyle/>
          <a:p>
            <a:r>
              <a:t>Click to edit Master title style</a:t>
            </a:r>
          </a:p>
        </p:txBody>
      </p:sp>
      <p:sp>
        <p:nvSpPr>
          <p:cNvPr id="3" name="Content Placeholder 2">
            <a:extLst>
              <a:ext uri="{FF2B5EF4-FFF2-40B4-BE49-F238E27FC236}">
                <a16:creationId xmlns:a16="http://schemas.microsoft.com/office/drawing/2014/main" id="{A650C284-DB54-6B3A-BB08-EAFB44027DBF}"/>
              </a:ext>
            </a:extLst>
          </p:cNvPr>
          <p:cNvSpPr>
            <a:spLocks noGrp="1"/>
          </p:cNvSpPr>
          <p:nvPr>
            <p:ph idx="1"/>
          </p:nvPr>
        </p:nvSpPr>
        <p:spPr>
          <a:xfrm>
            <a:off x="430794" y="1952374"/>
            <a:ext cx="7411944"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Column with Imag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F2DCDF-5CC4-CB00-9A72-4FA0DB40B207}"/>
              </a:ext>
            </a:extLst>
          </p:cNvPr>
          <p:cNvSpPr>
            <a:spLocks noGrp="1"/>
          </p:cNvSpPr>
          <p:nvPr>
            <p:ph idx="1"/>
          </p:nvPr>
        </p:nvSpPr>
        <p:spPr>
          <a:xfrm>
            <a:off x="430794" y="1979534"/>
            <a:ext cx="5589006"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8" name="Title 1">
            <a:extLst>
              <a:ext uri="{FF2B5EF4-FFF2-40B4-BE49-F238E27FC236}">
                <a16:creationId xmlns:a16="http://schemas.microsoft.com/office/drawing/2014/main" id="{FF4A5FE2-7F9A-3783-1BA6-A18388F5F178}"/>
              </a:ext>
            </a:extLst>
          </p:cNvPr>
          <p:cNvSpPr>
            <a:spLocks noGrp="1"/>
          </p:cNvSpPr>
          <p:nvPr>
            <p:ph type="title"/>
          </p:nvPr>
        </p:nvSpPr>
        <p:spPr>
          <a:xfrm>
            <a:off x="430794" y="1023042"/>
            <a:ext cx="11293444" cy="794395"/>
          </a:xfrm>
        </p:spPr>
        <p:txBody>
          <a:bodyPr/>
          <a:lstStyle/>
          <a:p>
            <a:r>
              <a:t>Click to edit Master title style</a:t>
            </a:r>
          </a:p>
        </p:txBody>
      </p:sp>
      <p:sp>
        <p:nvSpPr>
          <p:cNvPr id="5" name="Picture Placeholder 4">
            <a:extLst>
              <a:ext uri="{FF2B5EF4-FFF2-40B4-BE49-F238E27FC236}">
                <a16:creationId xmlns:a16="http://schemas.microsoft.com/office/drawing/2014/main" id="{1D4466F3-6EF4-7C6C-700F-D82BD03B0915}"/>
              </a:ext>
            </a:extLst>
          </p:cNvPr>
          <p:cNvSpPr>
            <a:spLocks noGrp="1"/>
          </p:cNvSpPr>
          <p:nvPr>
            <p:ph type="pic" idx="10"/>
          </p:nvPr>
        </p:nvSpPr>
        <p:spPr>
          <a:xfrm>
            <a:off x="6096000" y="1979613"/>
            <a:ext cx="5627688" cy="4351337"/>
          </a:xfrm>
        </p:spPr>
        <p:txBody>
          <a:body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hart">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F4A5FE2-7F9A-3783-1BA6-A18388F5F178}"/>
              </a:ext>
            </a:extLst>
          </p:cNvPr>
          <p:cNvSpPr>
            <a:spLocks noGrp="1"/>
          </p:cNvSpPr>
          <p:nvPr>
            <p:ph type="title"/>
          </p:nvPr>
        </p:nvSpPr>
        <p:spPr>
          <a:xfrm>
            <a:off x="430794" y="1023042"/>
            <a:ext cx="11293444" cy="794395"/>
          </a:xfrm>
        </p:spPr>
        <p:txBody>
          <a:bodyPr/>
          <a:lstStyle/>
          <a:p>
            <a:r>
              <a:t>Click to edit Master title style</a:t>
            </a:r>
          </a:p>
        </p:txBody>
      </p:sp>
      <p:sp>
        <p:nvSpPr>
          <p:cNvPr id="4" name="Chart Placeholder 3">
            <a:extLst>
              <a:ext uri="{FF2B5EF4-FFF2-40B4-BE49-F238E27FC236}">
                <a16:creationId xmlns:a16="http://schemas.microsoft.com/office/drawing/2014/main" id="{06F8C7EE-44FF-25E2-FD85-4A9A4E59F43C}"/>
              </a:ext>
            </a:extLst>
          </p:cNvPr>
          <p:cNvSpPr>
            <a:spLocks noGrp="1"/>
          </p:cNvSpPr>
          <p:nvPr>
            <p:ph type="chart" idx="10"/>
          </p:nvPr>
        </p:nvSpPr>
        <p:spPr>
          <a:xfrm>
            <a:off x="430213" y="1928813"/>
            <a:ext cx="11293475" cy="4354512"/>
          </a:xfrm>
        </p:spPr>
        <p:txBody>
          <a:body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l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F4A5FE2-7F9A-3783-1BA6-A18388F5F178}"/>
              </a:ext>
            </a:extLst>
          </p:cNvPr>
          <p:cNvSpPr>
            <a:spLocks noGrp="1"/>
          </p:cNvSpPr>
          <p:nvPr>
            <p:ph type="title"/>
          </p:nvPr>
        </p:nvSpPr>
        <p:spPr>
          <a:xfrm>
            <a:off x="430794" y="1023042"/>
            <a:ext cx="11293444" cy="794395"/>
          </a:xfrm>
        </p:spPr>
        <p:txBody>
          <a:bodyPr/>
          <a:lstStyle/>
          <a:p>
            <a:r>
              <a:t>Click to edit Master title style</a:t>
            </a:r>
          </a:p>
        </p:txBody>
      </p:sp>
      <p:sp>
        <p:nvSpPr>
          <p:cNvPr id="3" name="Table Placeholder 2">
            <a:extLst>
              <a:ext uri="{FF2B5EF4-FFF2-40B4-BE49-F238E27FC236}">
                <a16:creationId xmlns:a16="http://schemas.microsoft.com/office/drawing/2014/main" id="{9F2E8F34-9DD5-6734-21E2-9B7CCAD9F297}"/>
              </a:ext>
            </a:extLst>
          </p:cNvPr>
          <p:cNvSpPr>
            <a:spLocks noGrp="1"/>
          </p:cNvSpPr>
          <p:nvPr>
            <p:ph type="tbl" idx="10"/>
          </p:nvPr>
        </p:nvSpPr>
        <p:spPr>
          <a:xfrm>
            <a:off x="430213" y="1919288"/>
            <a:ext cx="11293475" cy="4391025"/>
          </a:xfrm>
        </p:spPr>
        <p:txBody>
          <a:body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ank You">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8C7BB9-ED14-2EE7-B747-6D3AC509C6F7}"/>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FC5B5F42-1935-63EA-A56F-BCFFCC5F3844}"/>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44A4FD98-5FB3-0F33-190B-F09E379EA8D3}"/>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82000"/>
                  </a:schemeClr>
                </a:solidFill>
              </a:defRPr>
            </a:lvl1pPr>
          </a:lstStyle>
          <a:p>
            <a:fld id="{577B4DDA-DC7A-BA44-95F8-6F5B47B98114}" type="datetimeFigureOut">
              <a:t>9/24/26</a:t>
            </a:fld>
            <a:endParaRPr/>
          </a:p>
        </p:txBody>
      </p:sp>
      <p:sp>
        <p:nvSpPr>
          <p:cNvPr id="5" name="Footer Placeholder 4">
            <a:extLst>
              <a:ext uri="{FF2B5EF4-FFF2-40B4-BE49-F238E27FC236}">
                <a16:creationId xmlns:a16="http://schemas.microsoft.com/office/drawing/2014/main" id="{34199F5F-1ACA-4A1A-5173-27733EE45675}"/>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82000"/>
                  </a:schemeClr>
                </a:solidFill>
              </a:defRPr>
            </a:lvl1pPr>
          </a:lstStyle>
          <a:p>
            <a:endParaRPr/>
          </a:p>
        </p:txBody>
      </p:sp>
      <p:sp>
        <p:nvSpPr>
          <p:cNvPr id="6" name="Slide Number Placeholder 5">
            <a:extLst>
              <a:ext uri="{FF2B5EF4-FFF2-40B4-BE49-F238E27FC236}">
                <a16:creationId xmlns:a16="http://schemas.microsoft.com/office/drawing/2014/main" id="{FB4C4A5E-3279-A2E1-BFFA-8259ABF8BC49}"/>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82000"/>
                  </a:schemeClr>
                </a:solidFill>
              </a:defRPr>
            </a:lvl1pPr>
          </a:lstStyle>
          <a:p>
            <a:fld id="{CF9A60C2-D39C-DE40-8B64-BE745D99ECE8}"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24E0853-2C35-624A-5605-A4A603D739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5851032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1-text-1">
            <a:extLst>
              <a:ext uri="{FF2B5EF4-FFF2-40B4-BE49-F238E27FC236}">
                <a16:creationId xmlns:a16="http://schemas.microsoft.com/office/drawing/2014/main" id="{BFF29967-0640-4AC4-BADB-CA4B6E14A928}"/>
              </a:ext>
            </a:extLst>
          </p:cNvPr>
          <p:cNvSpPr>
            <a:spLocks noGrp="1"/>
          </p:cNvSpPr>
          <p:nvPr/>
        </p:nvSpPr>
        <p:spPr>
          <a:xfrm>
            <a:off x="352425" y="2762250"/>
            <a:ext cx="5619750" cy="666750"/>
          </a:xfrm>
          <a:prstGeom prst="rect">
            <a:avLst/>
          </a:prstGeom>
          <a:noFill/>
          <a:ln w="0">
            <a:noFill/>
          </a:ln>
        </p:spPr>
        <p:txBody>
          <a:bodyPr wrap="square" lIns="0" tIns="0" rIns="0" bIns="0" anchor="t">
            <a:noAutofit/>
          </a:bodyPr>
          <a:lstStyle/>
          <a:p>
            <a:pPr algn="l">
              <a:defRPr sz="4275" b="0">
                <a:solidFill>
                  <a:srgbClr val="FFFFFF"/>
                </a:solidFill>
                <a:latin typeface="Aptos Display"/>
                <a:ea typeface="Aptos Display"/>
                <a:cs typeface="Aptos Display"/>
              </a:defRPr>
            </a:pPr>
            <a:r>
              <a:rPr sz="4275" b="0">
                <a:solidFill>
                  <a:srgbClr val="FFFFFF"/>
                </a:solidFill>
                <a:latin typeface="Aptos Display"/>
                <a:ea typeface="Aptos Display"/>
                <a:cs typeface="Aptos Display"/>
              </a:rPr>
              <a:t>IFY Statistics</a:t>
            </a:r>
          </a:p>
        </p:txBody>
      </p:sp>
      <p:sp>
        <p:nvSpPr>
          <p:cNvPr id="2" name="s1-text-2">
            <a:extLst>
              <a:ext uri="{FF2B5EF4-FFF2-40B4-BE49-F238E27FC236}">
                <a16:creationId xmlns:a16="http://schemas.microsoft.com/office/drawing/2014/main" id="{6F08F053-2DE7-4ED7-824E-F19218EC8DF2}"/>
              </a:ext>
            </a:extLst>
          </p:cNvPr>
          <p:cNvSpPr>
            <a:spLocks noGrp="1"/>
          </p:cNvSpPr>
          <p:nvPr/>
        </p:nvSpPr>
        <p:spPr>
          <a:xfrm>
            <a:off x="381000" y="3476625"/>
            <a:ext cx="5238750" cy="428625"/>
          </a:xfrm>
          <a:prstGeom prst="rect">
            <a:avLst/>
          </a:prstGeom>
          <a:noFill/>
          <a:ln w="0">
            <a:noFill/>
          </a:ln>
        </p:spPr>
        <p:txBody>
          <a:bodyPr wrap="square" lIns="0" tIns="0" rIns="0" bIns="0" anchor="t">
            <a:noAutofit/>
          </a:bodyPr>
          <a:lstStyle/>
          <a:p>
            <a:pPr algn="l">
              <a:defRPr sz="2325" b="0">
                <a:solidFill>
                  <a:srgbClr val="FFFFFF"/>
                </a:solidFill>
                <a:latin typeface="Aptos"/>
                <a:ea typeface="Aptos"/>
                <a:cs typeface="Aptos"/>
              </a:defRPr>
            </a:pPr>
            <a:r>
              <a:rPr sz="2325" b="0">
                <a:solidFill>
                  <a:srgbClr val="FFFFFF"/>
                </a:solidFill>
                <a:latin typeface="Aptos"/>
                <a:ea typeface="Aptos"/>
                <a:cs typeface="Aptos"/>
              </a:rPr>
              <a:t>Week 2   Class C</a:t>
            </a:r>
          </a:p>
        </p:txBody>
      </p:sp>
      <p:sp>
        <p:nvSpPr>
          <p:cNvPr id="3" name="s1-text-3">
            <a:extLst>
              <a:ext uri="{FF2B5EF4-FFF2-40B4-BE49-F238E27FC236}">
                <a16:creationId xmlns:a16="http://schemas.microsoft.com/office/drawing/2014/main" id="{5B6F91A5-429F-495B-B769-BE2F7401B8D9}"/>
              </a:ext>
            </a:extLst>
          </p:cNvPr>
          <p:cNvSpPr>
            <a:spLocks noGrp="1"/>
          </p:cNvSpPr>
          <p:nvPr/>
        </p:nvSpPr>
        <p:spPr>
          <a:xfrm>
            <a:off x="352425" y="4095750"/>
            <a:ext cx="5619750" cy="1571625"/>
          </a:xfrm>
          <a:prstGeom prst="rect">
            <a:avLst/>
          </a:prstGeom>
          <a:noFill/>
          <a:ln w="0">
            <a:noFill/>
          </a:ln>
        </p:spPr>
        <p:txBody>
          <a:bodyPr wrap="square" lIns="0" tIns="0" rIns="0" bIns="0" anchor="t">
            <a:noAutofit/>
          </a:bodyPr>
          <a:lstStyle/>
          <a:p>
            <a:pPr algn="l">
              <a:defRPr sz="4800" b="0">
                <a:solidFill>
                  <a:srgbClr val="FFFFFF"/>
                </a:solidFill>
                <a:latin typeface="Aptos Display"/>
                <a:ea typeface="Aptos Display"/>
                <a:cs typeface="Aptos Display"/>
              </a:defRPr>
            </a:pPr>
            <a:r>
              <a:rPr sz="4800" b="0">
                <a:solidFill>
                  <a:srgbClr val="FFFFFF"/>
                </a:solidFill>
                <a:latin typeface="Aptos Display"/>
                <a:ea typeface="Aptos Display"/>
                <a:cs typeface="Aptos Display"/>
              </a:rPr>
              <a:t>Can We Trust</a:t>
            </a:r>
          </a:p>
          <a:p>
            <a:pPr algn="l">
              <a:defRPr sz="4800" b="0">
                <a:solidFill>
                  <a:srgbClr val="FFFFFF"/>
                </a:solidFill>
                <a:latin typeface="Aptos Display"/>
                <a:ea typeface="Aptos Display"/>
                <a:cs typeface="Aptos Display"/>
              </a:defRPr>
            </a:pPr>
            <a:r>
              <a:rPr sz="4800" b="0">
                <a:solidFill>
                  <a:srgbClr val="FFFFFF"/>
                </a:solidFill>
                <a:latin typeface="Aptos Display"/>
                <a:ea typeface="Aptos Display"/>
                <a:cs typeface="Aptos Display"/>
              </a:rPr>
              <a:t>the Survey?</a:t>
            </a:r>
          </a:p>
        </p:txBody>
      </p:sp>
      <p:sp>
        <p:nvSpPr>
          <p:cNvPr id="4" name="s1-text-4">
            <a:extLst>
              <a:ext uri="{FF2B5EF4-FFF2-40B4-BE49-F238E27FC236}">
                <a16:creationId xmlns:a16="http://schemas.microsoft.com/office/drawing/2014/main" id="{EA2E4FF6-43B3-4463-9AD2-DB9265243209}"/>
              </a:ext>
            </a:extLst>
          </p:cNvPr>
          <p:cNvSpPr>
            <a:spLocks noGrp="1"/>
          </p:cNvSpPr>
          <p:nvPr/>
        </p:nvSpPr>
        <p:spPr>
          <a:xfrm>
            <a:off x="381000" y="5876925"/>
            <a:ext cx="5476875" cy="571500"/>
          </a:xfrm>
          <a:prstGeom prst="rect">
            <a:avLst/>
          </a:prstGeom>
          <a:noFill/>
          <a:ln w="0">
            <a:noFill/>
          </a:ln>
        </p:spPr>
        <p:txBody>
          <a:bodyPr wrap="square" lIns="0" tIns="0" rIns="0" bIns="0" anchor="t">
            <a:noAutofit/>
          </a:bodyPr>
          <a:lstStyle/>
          <a:p>
            <a:pPr algn="l">
              <a:defRPr sz="2175" b="0">
                <a:solidFill>
                  <a:srgbClr val="FFFFFF"/>
                </a:solidFill>
                <a:latin typeface="Aptos"/>
                <a:ea typeface="Aptos"/>
                <a:cs typeface="Aptos"/>
              </a:defRPr>
            </a:pPr>
            <a:r>
              <a:rPr sz="2175" b="0">
                <a:solidFill>
                  <a:srgbClr val="FFFFFF"/>
                </a:solidFill>
                <a:latin typeface="Aptos"/>
                <a:ea typeface="Aptos"/>
                <a:cs typeface="Aptos"/>
              </a:rPr>
              <a:t>Evidence and decisions</a:t>
            </a:r>
          </a:p>
        </p:txBody>
      </p:sp>
    </p:spTree>
    <p:extLst>
      <p:ext uri="{BB962C8B-B14F-4D97-AF65-F5344CB8AC3E}">
        <p14:creationId xmlns:p14="http://schemas.microsoft.com/office/powerpoint/2010/main" val="37422399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2-text-1">
            <a:extLst>
              <a:ext uri="{FF2B5EF4-FFF2-40B4-BE49-F238E27FC236}">
                <a16:creationId xmlns:a16="http://schemas.microsoft.com/office/drawing/2014/main" id="{67D0F5C9-5C34-4D0C-B0FF-58BF943A4568}"/>
              </a:ext>
            </a:extLst>
          </p:cNvPr>
          <p:cNvSpPr>
            <a:spLocks noGrp="1"/>
          </p:cNvSpPr>
          <p:nvPr/>
        </p:nvSpPr>
        <p:spPr>
          <a:xfrm>
            <a:off x="430816" y="1038225"/>
            <a:ext cx="11293412" cy="78105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The canteen report</a:t>
            </a:r>
          </a:p>
        </p:txBody>
      </p:sp>
      <p:sp>
        <p:nvSpPr>
          <p:cNvPr id="2" name="s2-text-2">
            <a:extLst>
              <a:ext uri="{FF2B5EF4-FFF2-40B4-BE49-F238E27FC236}">
                <a16:creationId xmlns:a16="http://schemas.microsoft.com/office/drawing/2014/main" id="{05F363E2-DDB0-4774-AB16-8FCFE163225F}"/>
              </a:ext>
            </a:extLst>
          </p:cNvPr>
          <p:cNvSpPr>
            <a:spLocks noGrp="1"/>
          </p:cNvSpPr>
          <p:nvPr/>
        </p:nvSpPr>
        <p:spPr>
          <a:xfrm>
            <a:off x="457200" y="1990725"/>
            <a:ext cx="11239500" cy="428625"/>
          </a:xfrm>
          <a:prstGeom prst="rect">
            <a:avLst/>
          </a:prstGeom>
          <a:noFill/>
          <a:ln w="0">
            <a:noFill/>
          </a:ln>
        </p:spPr>
        <p:txBody>
          <a:bodyPr wrap="square" lIns="0" tIns="0" rIns="0" bIns="0" anchor="t">
            <a:noAutofit/>
          </a:bodyPr>
          <a:lstStyle/>
          <a:p>
            <a:pPr algn="l">
              <a:defRPr sz="2400" b="0">
                <a:solidFill>
                  <a:srgbClr val="111111"/>
                </a:solidFill>
                <a:latin typeface="Aptos"/>
                <a:ea typeface="Aptos"/>
                <a:cs typeface="Aptos"/>
              </a:defRPr>
            </a:pPr>
            <a:r>
              <a:rPr sz="2400" b="0">
                <a:solidFill>
                  <a:srgbClr val="111111"/>
                </a:solidFill>
                <a:latin typeface="Aptos"/>
                <a:ea typeface="Aptos"/>
                <a:cs typeface="Aptos"/>
              </a:rPr>
              <a:t>A fictional college has 3,696 students.</a:t>
            </a:r>
          </a:p>
        </p:txBody>
      </p:sp>
      <p:sp>
        <p:nvSpPr>
          <p:cNvPr id="3" name="s2-text-3">
            <a:extLst>
              <a:ext uri="{FF2B5EF4-FFF2-40B4-BE49-F238E27FC236}">
                <a16:creationId xmlns:a16="http://schemas.microsoft.com/office/drawing/2014/main" id="{3D67A08B-9DFE-4F44-BF09-C4A958268BA3}"/>
              </a:ext>
            </a:extLst>
          </p:cNvPr>
          <p:cNvSpPr>
            <a:spLocks noGrp="1"/>
          </p:cNvSpPr>
          <p:nvPr/>
        </p:nvSpPr>
        <p:spPr>
          <a:xfrm>
            <a:off x="457200" y="2752725"/>
            <a:ext cx="6096000" cy="91440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sz="2325" b="0">
                <a:solidFill>
                  <a:srgbClr val="111111"/>
                </a:solidFill>
                <a:latin typeface="Aptos"/>
                <a:ea typeface="Aptos"/>
                <a:cs typeface="Aptos"/>
              </a:rPr>
              <a:t>The canteen proposes a smaller portion</a:t>
            </a:r>
          </a:p>
          <a:p>
            <a:pPr algn="l">
              <a:defRPr sz="2325" b="0">
                <a:solidFill>
                  <a:srgbClr val="111111"/>
                </a:solidFill>
                <a:latin typeface="Aptos"/>
                <a:ea typeface="Aptos"/>
                <a:cs typeface="Aptos"/>
              </a:defRPr>
            </a:pPr>
            <a:r>
              <a:rPr sz="2325" b="0">
                <a:solidFill>
                  <a:srgbClr val="111111"/>
                </a:solidFill>
                <a:latin typeface="Aptos"/>
                <a:ea typeface="Aptos"/>
                <a:cs typeface="Aptos"/>
              </a:rPr>
              <a:t>alongside its usual portion.</a:t>
            </a:r>
          </a:p>
        </p:txBody>
      </p:sp>
      <p:sp>
        <p:nvSpPr>
          <p:cNvPr id="4" name="s2-text-4">
            <a:extLst>
              <a:ext uri="{FF2B5EF4-FFF2-40B4-BE49-F238E27FC236}">
                <a16:creationId xmlns:a16="http://schemas.microsoft.com/office/drawing/2014/main" id="{77FE5B0D-C90B-401D-AD9A-C9E8EF3FCC01}"/>
              </a:ext>
            </a:extLst>
          </p:cNvPr>
          <p:cNvSpPr>
            <a:spLocks noGrp="1"/>
          </p:cNvSpPr>
          <p:nvPr/>
        </p:nvSpPr>
        <p:spPr>
          <a:xfrm>
            <a:off x="457200" y="3838575"/>
            <a:ext cx="5715000" cy="400050"/>
          </a:xfrm>
          <a:prstGeom prst="rect">
            <a:avLst/>
          </a:prstGeom>
          <a:noFill/>
          <a:ln w="0">
            <a:noFill/>
          </a:ln>
        </p:spPr>
        <p:txBody>
          <a:bodyPr wrap="square" lIns="0" tIns="0" rIns="0" bIns="0" anchor="t">
            <a:noAutofit/>
          </a:bodyPr>
          <a:lstStyle/>
          <a:p>
            <a:pPr algn="l">
              <a:defRPr sz="2325" b="1">
                <a:solidFill>
                  <a:srgbClr val="111111"/>
                </a:solidFill>
                <a:latin typeface="Aptos"/>
                <a:ea typeface="Aptos"/>
                <a:cs typeface="Aptos"/>
              </a:defRPr>
            </a:pPr>
            <a:r>
              <a:rPr sz="2325" b="1">
                <a:solidFill>
                  <a:srgbClr val="111111"/>
                </a:solidFill>
                <a:latin typeface="Aptos"/>
                <a:ea typeface="Aptos"/>
                <a:cs typeface="Aptos"/>
              </a:rPr>
              <a:t>The report claims:</a:t>
            </a:r>
          </a:p>
        </p:txBody>
      </p:sp>
      <p:sp>
        <p:nvSpPr>
          <p:cNvPr id="5" name="s2-text-5">
            <a:extLst>
              <a:ext uri="{FF2B5EF4-FFF2-40B4-BE49-F238E27FC236}">
                <a16:creationId xmlns:a16="http://schemas.microsoft.com/office/drawing/2014/main" id="{C9DCBBE5-9A9E-46A4-8860-148E0C0D746B}"/>
              </a:ext>
            </a:extLst>
          </p:cNvPr>
          <p:cNvSpPr>
            <a:spLocks noGrp="1"/>
          </p:cNvSpPr>
          <p:nvPr/>
        </p:nvSpPr>
        <p:spPr>
          <a:xfrm>
            <a:off x="457200" y="4324350"/>
            <a:ext cx="6238875" cy="1524000"/>
          </a:xfrm>
          <a:prstGeom prst="rect">
            <a:avLst/>
          </a:prstGeom>
          <a:noFill/>
          <a:ln w="0">
            <a:noFill/>
          </a:ln>
        </p:spPr>
        <p:txBody>
          <a:bodyPr wrap="square" lIns="0" tIns="0" rIns="0" bIns="0" anchor="t">
            <a:noAutofit/>
          </a:bodyPr>
          <a:lstStyle/>
          <a:p>
            <a:pPr algn="l">
              <a:defRPr sz="2175" b="0">
                <a:solidFill>
                  <a:srgbClr val="111111"/>
                </a:solidFill>
                <a:latin typeface="Aptos"/>
                <a:ea typeface="Aptos"/>
                <a:cs typeface="Aptos"/>
              </a:defRPr>
            </a:pPr>
            <a:r>
              <a:rPr sz="2175" b="0">
                <a:solidFill>
                  <a:srgbClr val="111111"/>
                </a:solidFill>
                <a:latin typeface="Aptos"/>
                <a:ea typeface="Aptos"/>
                <a:cs typeface="Aptos"/>
              </a:rPr>
              <a:t>“Around 68% of college students support it.”</a:t>
            </a:r>
          </a:p>
          <a:p>
            <a:endParaRPr sz="2175" b="0">
              <a:solidFill>
                <a:srgbClr val="111111"/>
              </a:solidFill>
              <a:latin typeface="Aptos"/>
              <a:ea typeface="Aptos"/>
              <a:cs typeface="Aptos"/>
            </a:endParaRPr>
          </a:p>
          <a:p>
            <a:pPr algn="l">
              <a:defRPr sz="2175" b="0">
                <a:solidFill>
                  <a:srgbClr val="111111"/>
                </a:solidFill>
                <a:latin typeface="Aptos"/>
                <a:ea typeface="Aptos"/>
                <a:cs typeface="Aptos"/>
              </a:defRPr>
            </a:pPr>
            <a:r>
              <a:rPr sz="2175" b="0">
                <a:solidFill>
                  <a:srgbClr val="111111"/>
                </a:solidFill>
                <a:latin typeface="Aptos"/>
                <a:ea typeface="Aptos"/>
                <a:cs typeface="Aptos"/>
              </a:rPr>
              <a:t>“Food waste will fall by around 26%.”</a:t>
            </a:r>
          </a:p>
        </p:txBody>
      </p:sp>
      <p:pic>
        <p:nvPicPr>
          <p:cNvPr id="17" name="Picture 16"/>
          <p:cNvPicPr>
            <a:picLocks noChangeAspect="1"/>
          </p:cNvPicPr>
          <p:nvPr/>
        </p:nvPicPr>
        <p:blipFill>
          <a:blip r:embed="rId3"/>
          <a:stretch/>
        </p:blipFill>
        <p:spPr>
          <a:xfrm>
            <a:off x="6807398" y="2752725"/>
            <a:ext cx="4720828" cy="2952750"/>
          </a:xfrm>
          <a:prstGeom prst="rect">
            <a:avLst/>
          </a:prstGeom>
        </p:spPr>
      </p:pic>
      <p:sp>
        <p:nvSpPr>
          <p:cNvPr id="7" name="s2-text-6">
            <a:extLst>
              <a:ext uri="{FF2B5EF4-FFF2-40B4-BE49-F238E27FC236}">
                <a16:creationId xmlns:a16="http://schemas.microsoft.com/office/drawing/2014/main" id="{1A19440A-559C-4DED-9C8B-D27D92BF6465}"/>
              </a:ext>
            </a:extLst>
          </p:cNvPr>
          <p:cNvSpPr>
            <a:spLocks noGrp="1"/>
          </p:cNvSpPr>
          <p:nvPr/>
        </p:nvSpPr>
        <p:spPr>
          <a:xfrm>
            <a:off x="6762750" y="2428875"/>
            <a:ext cx="2381250" cy="381000"/>
          </a:xfrm>
          <a:prstGeom prst="rect">
            <a:avLst/>
          </a:prstGeom>
          <a:noFill/>
          <a:ln w="0">
            <a:noFill/>
          </a:ln>
        </p:spPr>
        <p:txBody>
          <a:bodyPr wrap="square" lIns="0" tIns="0" rIns="0" bIns="0" anchor="t">
            <a:noAutofit/>
          </a:bodyPr>
          <a:lstStyle/>
          <a:p>
            <a:pPr algn="ctr">
              <a:defRPr sz="2175" b="1">
                <a:solidFill>
                  <a:srgbClr val="111111"/>
                </a:solidFill>
                <a:latin typeface="Aptos"/>
                <a:ea typeface="Aptos"/>
                <a:cs typeface="Aptos"/>
              </a:defRPr>
            </a:pPr>
            <a:r>
              <a:rPr sz="2175" b="1">
                <a:solidFill>
                  <a:srgbClr val="111111"/>
                </a:solidFill>
                <a:latin typeface="Aptos"/>
                <a:ea typeface="Aptos"/>
                <a:cs typeface="Aptos"/>
              </a:rPr>
              <a:t>Usual: 425 g</a:t>
            </a:r>
          </a:p>
        </p:txBody>
      </p:sp>
      <p:sp>
        <p:nvSpPr>
          <p:cNvPr id="8" name="s2-text-7">
            <a:extLst>
              <a:ext uri="{FF2B5EF4-FFF2-40B4-BE49-F238E27FC236}">
                <a16:creationId xmlns:a16="http://schemas.microsoft.com/office/drawing/2014/main" id="{8573AEF2-2FC1-435B-89F0-537B459EA3AF}"/>
              </a:ext>
            </a:extLst>
          </p:cNvPr>
          <p:cNvSpPr>
            <a:spLocks noGrp="1"/>
          </p:cNvSpPr>
          <p:nvPr/>
        </p:nvSpPr>
        <p:spPr>
          <a:xfrm>
            <a:off x="9210675" y="2428875"/>
            <a:ext cx="2381250" cy="381000"/>
          </a:xfrm>
          <a:prstGeom prst="rect">
            <a:avLst/>
          </a:prstGeom>
          <a:noFill/>
          <a:ln w="0">
            <a:noFill/>
          </a:ln>
        </p:spPr>
        <p:txBody>
          <a:bodyPr wrap="square" lIns="0" tIns="0" rIns="0" bIns="0" anchor="t">
            <a:noAutofit/>
          </a:bodyPr>
          <a:lstStyle/>
          <a:p>
            <a:pPr algn="ctr">
              <a:defRPr sz="2175" b="1">
                <a:solidFill>
                  <a:srgbClr val="111111"/>
                </a:solidFill>
                <a:latin typeface="Aptos"/>
                <a:ea typeface="Aptos"/>
                <a:cs typeface="Aptos"/>
              </a:defRPr>
            </a:pPr>
            <a:r>
              <a:rPr sz="2175" b="1">
                <a:solidFill>
                  <a:srgbClr val="111111"/>
                </a:solidFill>
                <a:latin typeface="Aptos"/>
                <a:ea typeface="Aptos"/>
                <a:cs typeface="Aptos"/>
              </a:rPr>
              <a:t>Smaller: 315 g</a:t>
            </a:r>
          </a:p>
        </p:txBody>
      </p:sp>
      <p:sp>
        <p:nvSpPr>
          <p:cNvPr id="9" name="s2-text-8">
            <a:extLst>
              <a:ext uri="{FF2B5EF4-FFF2-40B4-BE49-F238E27FC236}">
                <a16:creationId xmlns:a16="http://schemas.microsoft.com/office/drawing/2014/main" id="{3E95BC5A-7923-42F9-B50C-24B8726D0E30}"/>
              </a:ext>
            </a:extLst>
          </p:cNvPr>
          <p:cNvSpPr>
            <a:spLocks noGrp="1"/>
          </p:cNvSpPr>
          <p:nvPr/>
        </p:nvSpPr>
        <p:spPr>
          <a:xfrm>
            <a:off x="7715250" y="5753100"/>
            <a:ext cx="3238500" cy="333375"/>
          </a:xfrm>
          <a:prstGeom prst="rect">
            <a:avLst/>
          </a:prstGeom>
          <a:noFill/>
          <a:ln w="0">
            <a:noFill/>
          </a:ln>
        </p:spPr>
        <p:txBody>
          <a:bodyPr wrap="square" lIns="0" tIns="0" rIns="0" bIns="0" anchor="t">
            <a:noAutofit/>
          </a:bodyPr>
          <a:lstStyle/>
          <a:p>
            <a:pPr algn="ctr">
              <a:defRPr sz="1650" b="0">
                <a:solidFill>
                  <a:srgbClr val="666666"/>
                </a:solidFill>
                <a:latin typeface="Aptos"/>
                <a:ea typeface="Aptos"/>
                <a:cs typeface="Aptos"/>
              </a:defRPr>
            </a:pPr>
            <a:r>
              <a:rPr sz="1650" b="0">
                <a:solidFill>
                  <a:srgbClr val="666666"/>
                </a:solidFill>
                <a:latin typeface="Aptos"/>
                <a:ea typeface="Aptos"/>
                <a:cs typeface="Aptos"/>
              </a:rPr>
              <a:t>Illustrative portions</a:t>
            </a:r>
          </a:p>
        </p:txBody>
      </p:sp>
      <p:sp>
        <p:nvSpPr>
          <p:cNvPr id="10" name="s2-text-9">
            <a:extLst>
              <a:ext uri="{FF2B5EF4-FFF2-40B4-BE49-F238E27FC236}">
                <a16:creationId xmlns:a16="http://schemas.microsoft.com/office/drawing/2014/main" id="{C9D723E4-CBB6-4EA5-B825-9C29CC670A81}"/>
              </a:ext>
            </a:extLst>
          </p:cNvPr>
          <p:cNvSpPr>
            <a:spLocks noGrp="1"/>
          </p:cNvSpPr>
          <p:nvPr/>
        </p:nvSpPr>
        <p:spPr>
          <a:xfrm>
            <a:off x="457200" y="6477000"/>
            <a:ext cx="10763250" cy="238125"/>
          </a:xfrm>
          <a:prstGeom prst="rect">
            <a:avLst/>
          </a:prstGeom>
          <a:noFill/>
          <a:ln w="0">
            <a:noFill/>
          </a:ln>
        </p:spPr>
        <p:txBody>
          <a:bodyPr wrap="square" lIns="0" tIns="0" rIns="0" bIns="0" anchor="t">
            <a:noAutofit/>
          </a:bodyPr>
          <a:lstStyle/>
          <a:p>
            <a:endParaRPr/>
          </a:p>
        </p:txBody>
      </p:sp>
      <p:sp>
        <p:nvSpPr>
          <p:cNvPr id="11" name="s2-text-10">
            <a:extLst>
              <a:ext uri="{FF2B5EF4-FFF2-40B4-BE49-F238E27FC236}">
                <a16:creationId xmlns:a16="http://schemas.microsoft.com/office/drawing/2014/main" id="{DBB31769-C9A3-41E7-AE31-DA4F4DF77E3A}"/>
              </a:ext>
            </a:extLst>
          </p:cNvPr>
          <p:cNvSpPr>
            <a:spLocks noGrp="1"/>
          </p:cNvSpPr>
          <p:nvPr/>
        </p:nvSpPr>
        <p:spPr>
          <a:xfrm>
            <a:off x="11239500" y="6477000"/>
            <a:ext cx="476250" cy="238125"/>
          </a:xfrm>
          <a:prstGeom prst="rect">
            <a:avLst/>
          </a:prstGeom>
          <a:noFill/>
          <a:ln w="0">
            <a:noFill/>
          </a:ln>
        </p:spPr>
        <p:txBody>
          <a:bodyPr wrap="square" lIns="0" tIns="0" rIns="0" bIns="0" anchor="t">
            <a:noAutofit/>
          </a:bodyPr>
          <a:lstStyle/>
          <a:p>
            <a:pPr algn="r">
              <a:defRPr sz="1275" b="0">
                <a:solidFill>
                  <a:srgbClr val="666666"/>
                </a:solidFill>
                <a:latin typeface="Aptos"/>
                <a:ea typeface="Aptos"/>
                <a:cs typeface="Aptos"/>
              </a:defRPr>
            </a:pPr>
            <a:r>
              <a:rPr sz="1275" b="0">
                <a:solidFill>
                  <a:srgbClr val="666666"/>
                </a:solidFill>
                <a:latin typeface="Aptos"/>
                <a:ea typeface="Aptos"/>
                <a:cs typeface="Aptos"/>
              </a:rPr>
              <a:t>2</a:t>
            </a:r>
          </a:p>
        </p:txBody>
      </p:sp>
    </p:spTree>
    <p:extLst>
      <p:ext uri="{BB962C8B-B14F-4D97-AF65-F5344CB8AC3E}">
        <p14:creationId xmlns:p14="http://schemas.microsoft.com/office/powerpoint/2010/main" val="32813612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3-text-1">
            <a:extLst>
              <a:ext uri="{FF2B5EF4-FFF2-40B4-BE49-F238E27FC236}">
                <a16:creationId xmlns:a16="http://schemas.microsoft.com/office/drawing/2014/main" id="{44E2E951-EE02-49CF-91FA-7C736E0D4F49}"/>
              </a:ext>
            </a:extLst>
          </p:cNvPr>
          <p:cNvSpPr>
            <a:spLocks noGrp="1"/>
          </p:cNvSpPr>
          <p:nvPr/>
        </p:nvSpPr>
        <p:spPr>
          <a:xfrm>
            <a:off x="430816" y="1038225"/>
            <a:ext cx="11293412" cy="78105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The evidence behind the waste claim</a:t>
            </a:r>
          </a:p>
        </p:txBody>
      </p:sp>
      <p:sp>
        <p:nvSpPr>
          <p:cNvPr id="2" name="s3-rect-2">
            <a:extLst>
              <a:ext uri="{FF2B5EF4-FFF2-40B4-BE49-F238E27FC236}">
                <a16:creationId xmlns:a16="http://schemas.microsoft.com/office/drawing/2014/main" id="{2FEDB684-6834-4AF7-AB54-8E020DD1DE96}"/>
              </a:ext>
            </a:extLst>
          </p:cNvPr>
          <p:cNvSpPr>
            <a:spLocks noGrp="1"/>
          </p:cNvSpPr>
          <p:nvPr/>
        </p:nvSpPr>
        <p:spPr>
          <a:xfrm>
            <a:off x="8734425" y="476250"/>
            <a:ext cx="3000375" cy="400050"/>
          </a:xfrm>
          <a:prstGeom prst="rect">
            <a:avLst/>
          </a:prstGeom>
          <a:solidFill>
            <a:srgbClr val="D6171D"/>
          </a:solidFill>
          <a:ln w="0">
            <a:noFill/>
          </a:ln>
        </p:spPr>
        <p:txBody>
          <a:bodyPr/>
          <a:lstStyle/>
          <a:p>
            <a:endParaRPr lang="en-US"/>
          </a:p>
        </p:txBody>
      </p:sp>
      <p:sp>
        <p:nvSpPr>
          <p:cNvPr id="3" name="s3-text-3">
            <a:extLst>
              <a:ext uri="{FF2B5EF4-FFF2-40B4-BE49-F238E27FC236}">
                <a16:creationId xmlns:a16="http://schemas.microsoft.com/office/drawing/2014/main" id="{5CA41195-17F9-4DBD-B132-7EF6B901F112}"/>
              </a:ext>
            </a:extLst>
          </p:cNvPr>
          <p:cNvSpPr>
            <a:spLocks noGrp="1"/>
          </p:cNvSpPr>
          <p:nvPr/>
        </p:nvSpPr>
        <p:spPr>
          <a:xfrm>
            <a:off x="8829675" y="533400"/>
            <a:ext cx="2809875" cy="323850"/>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C1.1</a:t>
            </a:r>
          </a:p>
        </p:txBody>
      </p:sp>
      <p:sp>
        <p:nvSpPr>
          <p:cNvPr id="4" name="s3-text-4">
            <a:extLst>
              <a:ext uri="{FF2B5EF4-FFF2-40B4-BE49-F238E27FC236}">
                <a16:creationId xmlns:a16="http://schemas.microsoft.com/office/drawing/2014/main" id="{81E1C140-B3DA-4913-A287-BA652240B6ED}"/>
              </a:ext>
            </a:extLst>
          </p:cNvPr>
          <p:cNvSpPr>
            <a:spLocks noGrp="1"/>
          </p:cNvSpPr>
          <p:nvPr/>
        </p:nvSpPr>
        <p:spPr>
          <a:xfrm>
            <a:off x="457200" y="1952625"/>
            <a:ext cx="11239500" cy="571500"/>
          </a:xfrm>
          <a:prstGeom prst="rect">
            <a:avLst/>
          </a:prstGeom>
          <a:noFill/>
          <a:ln w="0">
            <a:noFill/>
          </a:ln>
        </p:spPr>
        <p:txBody>
          <a:bodyPr wrap="square" lIns="0" tIns="0" rIns="0" bIns="0" anchor="t">
            <a:noAutofit/>
          </a:bodyPr>
          <a:lstStyle/>
          <a:p>
            <a:pPr algn="l">
              <a:defRPr sz="2100" b="0">
                <a:solidFill>
                  <a:srgbClr val="111111"/>
                </a:solidFill>
                <a:latin typeface="Aptos"/>
                <a:ea typeface="Aptos"/>
                <a:cs typeface="Aptos"/>
              </a:defRPr>
            </a:pPr>
            <a:r>
              <a:rPr sz="2100" b="0">
                <a:solidFill>
                  <a:srgbClr val="111111"/>
                </a:solidFill>
                <a:latin typeface="Aptos"/>
                <a:ea typeface="Aptos"/>
                <a:cs typeface="Aptos"/>
              </a:rPr>
              <a:t>Independent pilot: same menu, two days, an accurate checked scale.</a:t>
            </a:r>
          </a:p>
        </p:txBody>
      </p:sp>
      <p:graphicFrame>
        <p:nvGraphicFramePr>
          <p:cNvPr id="17" name="Table 16"/>
          <p:cNvGraphicFramePr/>
          <p:nvPr/>
        </p:nvGraphicFramePr>
        <p:xfrm>
          <a:off x="457200" y="2647950"/>
          <a:ext cx="11239500" cy="1628775"/>
        </p:xfrm>
        <a:graphic>
          <a:graphicData uri="http://schemas.openxmlformats.org/drawingml/2006/table">
            <a:tbl>
              <a:tblPr firstRow="1"/>
              <a:tblGrid>
                <a:gridCol w="2667000">
                  <a:extLst>
                    <a:ext uri="{9D8B030D-6E8A-4147-A177-3AD203B41FA5}">
                      <a16:colId xmlns:a16="http://schemas.microsoft.com/office/drawing/2014/main" val="20000"/>
                    </a:ext>
                  </a:extLst>
                </a:gridCol>
                <a:gridCol w="2714625">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gridCol w="3667125">
                  <a:extLst>
                    <a:ext uri="{9D8B030D-6E8A-4147-A177-3AD203B41FA5}">
                      <a16:colId xmlns:a16="http://schemas.microsoft.com/office/drawing/2014/main" val="20003"/>
                    </a:ext>
                  </a:extLst>
                </a:gridCol>
              </a:tblGrid>
              <a:tr h="542925">
                <a:tc>
                  <a:txBody>
                    <a:bodyPr/>
                    <a:lstStyle/>
                    <a:p>
                      <a:pPr algn="l"/>
                      <a:r>
                        <a:rPr sz="2100" b="1">
                          <a:solidFill>
                            <a:srgbClr val="FFFFFF"/>
                          </a:solidFill>
                          <a:latin typeface="Aptos"/>
                          <a:ea typeface="Aptos"/>
                          <a:cs typeface="Aptos"/>
                        </a:rPr>
                        <a:t>Portion</a:t>
                      </a:r>
                    </a:p>
                  </a:txBody>
                  <a:tcPr marL="95250" marR="95250" marT="19050" marB="19050" anchor="ctr">
                    <a:solidFill>
                      <a:srgbClr val="D6171D"/>
                    </a:solidFill>
                  </a:tcPr>
                </a:tc>
                <a:tc>
                  <a:txBody>
                    <a:bodyPr/>
                    <a:lstStyle/>
                    <a:p>
                      <a:pPr algn="ctr"/>
                      <a:r>
                        <a:rPr sz="2100" b="1">
                          <a:solidFill>
                            <a:srgbClr val="FFFFFF"/>
                          </a:solidFill>
                          <a:latin typeface="Aptos"/>
                          <a:ea typeface="Aptos"/>
                          <a:cs typeface="Aptos"/>
                        </a:rPr>
                        <a:t>Mass served</a:t>
                      </a:r>
                    </a:p>
                  </a:txBody>
                  <a:tcPr marL="95250" marR="95250" marT="19050" marB="19050" anchor="ctr">
                    <a:solidFill>
                      <a:srgbClr val="D6171D"/>
                    </a:solidFill>
                  </a:tcPr>
                </a:tc>
                <a:tc>
                  <a:txBody>
                    <a:bodyPr/>
                    <a:lstStyle/>
                    <a:p>
                      <a:pPr algn="ctr"/>
                      <a:r>
                        <a:rPr sz="2100" b="1">
                          <a:solidFill>
                            <a:srgbClr val="FFFFFF"/>
                          </a:solidFill>
                          <a:latin typeface="Aptos"/>
                          <a:ea typeface="Aptos"/>
                          <a:cs typeface="Aptos"/>
                        </a:rPr>
                        <a:t>Meals</a:t>
                      </a:r>
                    </a:p>
                  </a:txBody>
                  <a:tcPr marL="95250" marR="95250" marT="19050" marB="19050" anchor="ctr">
                    <a:solidFill>
                      <a:srgbClr val="D6171D"/>
                    </a:solidFill>
                  </a:tcPr>
                </a:tc>
                <a:tc>
                  <a:txBody>
                    <a:bodyPr/>
                    <a:lstStyle/>
                    <a:p>
                      <a:pPr algn="ctr"/>
                      <a:r>
                        <a:rPr sz="2100" b="1">
                          <a:solidFill>
                            <a:srgbClr val="FFFFFF"/>
                          </a:solidFill>
                          <a:latin typeface="Aptos"/>
                          <a:ea typeface="Aptos"/>
                          <a:cs typeface="Aptos"/>
                        </a:rPr>
                        <a:t>Total leftovers</a:t>
                      </a:r>
                    </a:p>
                  </a:txBody>
                  <a:tcPr marL="95250" marR="95250" marT="19050" marB="19050" anchor="ctr">
                    <a:solidFill>
                      <a:srgbClr val="D6171D"/>
                    </a:solidFill>
                  </a:tcPr>
                </a:tc>
                <a:extLst>
                  <a:ext uri="{0D108BD9-81ED-4DB2-BD59-A6C34878D82A}">
                    <a16:rowId xmlns:a16="http://schemas.microsoft.com/office/drawing/2014/main" val="10000"/>
                  </a:ext>
                </a:extLst>
              </a:tr>
              <a:tr h="542925">
                <a:tc>
                  <a:txBody>
                    <a:bodyPr/>
                    <a:lstStyle/>
                    <a:p>
                      <a:pPr algn="l"/>
                      <a:r>
                        <a:rPr sz="2100" b="0">
                          <a:solidFill>
                            <a:srgbClr val="111111"/>
                          </a:solidFill>
                          <a:latin typeface="Aptos"/>
                          <a:ea typeface="Aptos"/>
                          <a:cs typeface="Aptos"/>
                        </a:rPr>
                        <a:t>Usual</a:t>
                      </a:r>
                    </a:p>
                  </a:txBody>
                  <a:tcPr marL="95250" marR="95250" marT="19050" marB="19050" anchor="ctr">
                    <a:solidFill>
                      <a:srgbClr val="FFFFFF"/>
                    </a:solidFill>
                  </a:tcPr>
                </a:tc>
                <a:tc>
                  <a:txBody>
                    <a:bodyPr/>
                    <a:lstStyle/>
                    <a:p>
                      <a:pPr algn="ctr"/>
                      <a:r>
                        <a:rPr sz="2100" b="0">
                          <a:solidFill>
                            <a:srgbClr val="111111"/>
                          </a:solidFill>
                          <a:latin typeface="Aptos"/>
                          <a:ea typeface="Aptos"/>
                          <a:cs typeface="Aptos"/>
                        </a:rPr>
                        <a:t>425 g</a:t>
                      </a:r>
                    </a:p>
                  </a:txBody>
                  <a:tcPr marL="95250" marR="95250" marT="19050" marB="19050" anchor="ctr">
                    <a:solidFill>
                      <a:srgbClr val="FFFFFF"/>
                    </a:solidFill>
                  </a:tcPr>
                </a:tc>
                <a:tc>
                  <a:txBody>
                    <a:bodyPr/>
                    <a:lstStyle/>
                    <a:p>
                      <a:pPr algn="ctr"/>
                      <a:r>
                        <a:rPr sz="2100" b="0">
                          <a:solidFill>
                            <a:srgbClr val="111111"/>
                          </a:solidFill>
                          <a:latin typeface="Aptos"/>
                          <a:ea typeface="Aptos"/>
                          <a:cs typeface="Aptos"/>
                        </a:rPr>
                        <a:t>173</a:t>
                      </a:r>
                    </a:p>
                  </a:txBody>
                  <a:tcPr marL="95250" marR="95250" marT="19050" marB="19050" anchor="ctr">
                    <a:solidFill>
                      <a:srgbClr val="FFFFFF"/>
                    </a:solidFill>
                  </a:tcPr>
                </a:tc>
                <a:tc>
                  <a:txBody>
                    <a:bodyPr/>
                    <a:lstStyle/>
                    <a:p>
                      <a:pPr algn="ctr"/>
                      <a:r>
                        <a:rPr sz="2100" b="0">
                          <a:solidFill>
                            <a:srgbClr val="111111"/>
                          </a:solidFill>
                          <a:latin typeface="Aptos"/>
                          <a:ea typeface="Aptos"/>
                          <a:cs typeface="Aptos"/>
                        </a:rPr>
                        <a:t>14,186 g</a:t>
                      </a:r>
                    </a:p>
                  </a:txBody>
                  <a:tcPr marL="95250" marR="95250" marT="19050" marB="19050" anchor="ctr">
                    <a:solidFill>
                      <a:srgbClr val="FFFFFF"/>
                    </a:solidFill>
                  </a:tcPr>
                </a:tc>
                <a:extLst>
                  <a:ext uri="{0D108BD9-81ED-4DB2-BD59-A6C34878D82A}">
                    <a16:rowId xmlns:a16="http://schemas.microsoft.com/office/drawing/2014/main" val="10001"/>
                  </a:ext>
                </a:extLst>
              </a:tr>
              <a:tr h="542925">
                <a:tc>
                  <a:txBody>
                    <a:bodyPr/>
                    <a:lstStyle/>
                    <a:p>
                      <a:pPr algn="l"/>
                      <a:r>
                        <a:rPr sz="2100" b="0">
                          <a:solidFill>
                            <a:srgbClr val="111111"/>
                          </a:solidFill>
                          <a:latin typeface="Aptos"/>
                          <a:ea typeface="Aptos"/>
                          <a:cs typeface="Aptos"/>
                        </a:rPr>
                        <a:t>Smaller</a:t>
                      </a:r>
                    </a:p>
                  </a:txBody>
                  <a:tcPr marL="95250" marR="95250" marT="19050" marB="19050" anchor="ctr">
                    <a:solidFill>
                      <a:srgbClr val="EFF8FF"/>
                    </a:solidFill>
                  </a:tcPr>
                </a:tc>
                <a:tc>
                  <a:txBody>
                    <a:bodyPr/>
                    <a:lstStyle/>
                    <a:p>
                      <a:pPr algn="ctr"/>
                      <a:r>
                        <a:rPr sz="2100" b="0">
                          <a:solidFill>
                            <a:srgbClr val="111111"/>
                          </a:solidFill>
                          <a:latin typeface="Aptos"/>
                          <a:ea typeface="Aptos"/>
                          <a:cs typeface="Aptos"/>
                        </a:rPr>
                        <a:t>315 g</a:t>
                      </a:r>
                    </a:p>
                  </a:txBody>
                  <a:tcPr marL="95250" marR="95250" marT="19050" marB="19050" anchor="ctr">
                    <a:solidFill>
                      <a:srgbClr val="EFF8FF"/>
                    </a:solidFill>
                  </a:tcPr>
                </a:tc>
                <a:tc>
                  <a:txBody>
                    <a:bodyPr/>
                    <a:lstStyle/>
                    <a:p>
                      <a:pPr algn="ctr"/>
                      <a:r>
                        <a:rPr sz="2100" b="0">
                          <a:solidFill>
                            <a:srgbClr val="111111"/>
                          </a:solidFill>
                          <a:latin typeface="Aptos"/>
                          <a:ea typeface="Aptos"/>
                          <a:cs typeface="Aptos"/>
                        </a:rPr>
                        <a:t>173</a:t>
                      </a:r>
                    </a:p>
                  </a:txBody>
                  <a:tcPr marL="95250" marR="95250" marT="19050" marB="19050" anchor="ctr">
                    <a:solidFill>
                      <a:srgbClr val="EFF8FF"/>
                    </a:solidFill>
                  </a:tcPr>
                </a:tc>
                <a:tc>
                  <a:txBody>
                    <a:bodyPr/>
                    <a:lstStyle/>
                    <a:p>
                      <a:pPr algn="ctr"/>
                      <a:r>
                        <a:rPr sz="2100" b="0">
                          <a:solidFill>
                            <a:srgbClr val="111111"/>
                          </a:solidFill>
                          <a:latin typeface="Aptos"/>
                          <a:ea typeface="Aptos"/>
                          <a:cs typeface="Aptos"/>
                        </a:rPr>
                        <a:t>15,397 g</a:t>
                      </a:r>
                    </a:p>
                  </a:txBody>
                  <a:tcPr marL="95250" marR="95250" marT="19050" marB="19050" anchor="ctr">
                    <a:solidFill>
                      <a:srgbClr val="EFF8FF"/>
                    </a:solidFill>
                  </a:tcPr>
                </a:tc>
                <a:extLst>
                  <a:ext uri="{0D108BD9-81ED-4DB2-BD59-A6C34878D82A}">
                    <a16:rowId xmlns:a16="http://schemas.microsoft.com/office/drawing/2014/main" val="10002"/>
                  </a:ext>
                </a:extLst>
              </a:tr>
            </a:tbl>
          </a:graphicData>
        </a:graphic>
      </p:graphicFrame>
      <p:sp>
        <p:nvSpPr>
          <p:cNvPr id="6" name="s3-text-5">
            <a:extLst>
              <a:ext uri="{FF2B5EF4-FFF2-40B4-BE49-F238E27FC236}">
                <a16:creationId xmlns:a16="http://schemas.microsoft.com/office/drawing/2014/main" id="{C2133F56-012C-486C-80BC-927856FBEA3F}"/>
              </a:ext>
            </a:extLst>
          </p:cNvPr>
          <p:cNvSpPr>
            <a:spLocks noGrp="1"/>
          </p:cNvSpPr>
          <p:nvPr/>
        </p:nvSpPr>
        <p:spPr>
          <a:xfrm>
            <a:off x="457200" y="4562475"/>
            <a:ext cx="11239500" cy="723900"/>
          </a:xfrm>
          <a:prstGeom prst="rect">
            <a:avLst/>
          </a:prstGeom>
          <a:noFill/>
          <a:ln w="0">
            <a:noFill/>
          </a:ln>
        </p:spPr>
        <p:txBody>
          <a:bodyPr wrap="square" lIns="0" tIns="0" rIns="0" bIns="0" anchor="t">
            <a:noAutofit/>
          </a:bodyPr>
          <a:lstStyle/>
          <a:p>
            <a:pPr algn="l">
              <a:defRPr sz="2250" b="0">
                <a:solidFill>
                  <a:srgbClr val="111111"/>
                </a:solidFill>
                <a:latin typeface="Aptos"/>
                <a:ea typeface="Aptos"/>
                <a:cs typeface="Aptos"/>
              </a:defRPr>
            </a:pPr>
            <a:r>
              <a:rPr sz="2250" b="0">
                <a:solidFill>
                  <a:srgbClr val="111111"/>
                </a:solidFill>
                <a:latin typeface="Aptos"/>
                <a:ea typeface="Aptos"/>
                <a:cs typeface="Aptos"/>
              </a:rPr>
              <a:t>a) Calculate the percentage change in portion size and leftovers.</a:t>
            </a:r>
          </a:p>
        </p:txBody>
      </p:sp>
      <p:sp>
        <p:nvSpPr>
          <p:cNvPr id="7" name="s3-text-6">
            <a:extLst>
              <a:ext uri="{FF2B5EF4-FFF2-40B4-BE49-F238E27FC236}">
                <a16:creationId xmlns:a16="http://schemas.microsoft.com/office/drawing/2014/main" id="{42A9A92D-37C9-4C4B-B36D-6165F638A551}"/>
              </a:ext>
            </a:extLst>
          </p:cNvPr>
          <p:cNvSpPr>
            <a:spLocks noGrp="1"/>
          </p:cNvSpPr>
          <p:nvPr/>
        </p:nvSpPr>
        <p:spPr>
          <a:xfrm>
            <a:off x="457200" y="5257800"/>
            <a:ext cx="11239500" cy="523875"/>
          </a:xfrm>
          <a:prstGeom prst="rect">
            <a:avLst/>
          </a:prstGeom>
          <a:noFill/>
          <a:ln w="0">
            <a:noFill/>
          </a:ln>
        </p:spPr>
        <p:txBody>
          <a:bodyPr wrap="square" lIns="0" tIns="0" rIns="0" bIns="0" anchor="t">
            <a:noAutofit/>
          </a:bodyPr>
          <a:lstStyle/>
          <a:p>
            <a:pPr algn="l">
              <a:defRPr sz="2250" b="0">
                <a:solidFill>
                  <a:srgbClr val="111111"/>
                </a:solidFill>
                <a:latin typeface="Aptos"/>
                <a:ea typeface="Aptos"/>
                <a:cs typeface="Aptos"/>
              </a:defRPr>
            </a:pPr>
            <a:r>
              <a:rPr sz="2250" b="0">
                <a:solidFill>
                  <a:srgbClr val="111111"/>
                </a:solidFill>
                <a:latin typeface="Aptos"/>
                <a:ea typeface="Aptos"/>
                <a:cs typeface="Aptos"/>
              </a:rPr>
              <a:t>b) What does this evidence establish about the waste claim?</a:t>
            </a:r>
          </a:p>
        </p:txBody>
      </p:sp>
      <p:sp>
        <p:nvSpPr>
          <p:cNvPr id="8" name="s3-rect-7">
            <a:extLst>
              <a:ext uri="{FF2B5EF4-FFF2-40B4-BE49-F238E27FC236}">
                <a16:creationId xmlns:a16="http://schemas.microsoft.com/office/drawing/2014/main" id="{8660FDFE-EA4F-4E0F-9BEA-627D3E2E65EE}"/>
              </a:ext>
            </a:extLst>
          </p:cNvPr>
          <p:cNvSpPr>
            <a:spLocks noGrp="1"/>
          </p:cNvSpPr>
          <p:nvPr/>
        </p:nvSpPr>
        <p:spPr>
          <a:xfrm>
            <a:off x="428625" y="5857875"/>
            <a:ext cx="2762250" cy="400050"/>
          </a:xfrm>
          <a:prstGeom prst="rect">
            <a:avLst/>
          </a:prstGeom>
          <a:solidFill>
            <a:srgbClr val="D6171D"/>
          </a:solidFill>
          <a:ln w="0">
            <a:noFill/>
          </a:ln>
        </p:spPr>
        <p:txBody>
          <a:bodyPr/>
          <a:lstStyle/>
          <a:p>
            <a:endParaRPr lang="en-US"/>
          </a:p>
        </p:txBody>
      </p:sp>
      <p:sp>
        <p:nvSpPr>
          <p:cNvPr id="9" name="s3-text-8">
            <a:extLst>
              <a:ext uri="{FF2B5EF4-FFF2-40B4-BE49-F238E27FC236}">
                <a16:creationId xmlns:a16="http://schemas.microsoft.com/office/drawing/2014/main" id="{BFB1D2A0-68EE-472A-80B3-F537C28805ED}"/>
              </a:ext>
            </a:extLst>
          </p:cNvPr>
          <p:cNvSpPr>
            <a:spLocks noGrp="1"/>
          </p:cNvSpPr>
          <p:nvPr/>
        </p:nvSpPr>
        <p:spPr>
          <a:xfrm>
            <a:off x="523875" y="5915025"/>
            <a:ext cx="2571750" cy="323850"/>
          </a:xfrm>
          <a:prstGeom prst="rect">
            <a:avLst/>
          </a:prstGeom>
          <a:noFill/>
          <a:ln w="0">
            <a:noFill/>
          </a:ln>
        </p:spPr>
        <p:txBody>
          <a:bodyPr wrap="square" lIns="0" tIns="0" rIns="0" bIns="0" anchor="t">
            <a:noAutofit/>
          </a:bodyPr>
          <a:lstStyle/>
          <a:p>
            <a:pPr algn="ctr">
              <a:defRPr sz="1800" b="1">
                <a:solidFill>
                  <a:srgbClr val="FFFFFF"/>
                </a:solidFill>
                <a:latin typeface="Aptos"/>
                <a:ea typeface="Aptos"/>
                <a:cs typeface="Aptos"/>
              </a:defRPr>
            </a:pPr>
            <a:r>
              <a:rPr sz="1800" b="1">
                <a:solidFill>
                  <a:srgbClr val="FFFFFF"/>
                </a:solidFill>
                <a:latin typeface="Aptos"/>
                <a:ea typeface="Aptos"/>
                <a:cs typeface="Aptos"/>
              </a:rPr>
              <a:t>DISCUSS   2 MIN</a:t>
            </a:r>
          </a:p>
        </p:txBody>
      </p:sp>
      <p:sp>
        <p:nvSpPr>
          <p:cNvPr id="10" name="s3-text-9">
            <a:extLst>
              <a:ext uri="{FF2B5EF4-FFF2-40B4-BE49-F238E27FC236}">
                <a16:creationId xmlns:a16="http://schemas.microsoft.com/office/drawing/2014/main" id="{BD9D0A9B-03B1-4A9D-8C06-5AA79F6A74CF}"/>
              </a:ext>
            </a:extLst>
          </p:cNvPr>
          <p:cNvSpPr>
            <a:spLocks noGrp="1"/>
          </p:cNvSpPr>
          <p:nvPr/>
        </p:nvSpPr>
        <p:spPr>
          <a:xfrm>
            <a:off x="3381375" y="5867400"/>
            <a:ext cx="8286750" cy="457200"/>
          </a:xfrm>
          <a:prstGeom prst="rect">
            <a:avLst/>
          </a:prstGeom>
          <a:noFill/>
          <a:ln w="0">
            <a:noFill/>
          </a:ln>
        </p:spPr>
        <p:txBody>
          <a:bodyPr wrap="square" lIns="0" tIns="0" rIns="0" bIns="0" anchor="t">
            <a:noAutofit/>
          </a:bodyPr>
          <a:lstStyle/>
          <a:p>
            <a:pPr algn="l">
              <a:defRPr sz="2100" b="1">
                <a:solidFill>
                  <a:srgbClr val="111111"/>
                </a:solidFill>
                <a:latin typeface="Aptos"/>
                <a:ea typeface="Aptos"/>
                <a:cs typeface="Aptos"/>
              </a:defRPr>
            </a:pPr>
            <a:r>
              <a:rPr sz="2100" b="1">
                <a:solidFill>
                  <a:srgbClr val="111111"/>
                </a:solidFill>
                <a:latin typeface="Aptos"/>
                <a:ea typeface="Aptos"/>
                <a:cs typeface="Aptos"/>
              </a:rPr>
              <a:t>Explain why the two percentage changes differ.</a:t>
            </a:r>
          </a:p>
        </p:txBody>
      </p:sp>
      <p:sp>
        <p:nvSpPr>
          <p:cNvPr id="11" name="s3-text-10">
            <a:extLst>
              <a:ext uri="{FF2B5EF4-FFF2-40B4-BE49-F238E27FC236}">
                <a16:creationId xmlns:a16="http://schemas.microsoft.com/office/drawing/2014/main" id="{507EA98C-204D-4D8E-98BE-AC60ECA5A8FD}"/>
              </a:ext>
            </a:extLst>
          </p:cNvPr>
          <p:cNvSpPr>
            <a:spLocks noGrp="1"/>
          </p:cNvSpPr>
          <p:nvPr/>
        </p:nvSpPr>
        <p:spPr>
          <a:xfrm>
            <a:off x="457200" y="6477000"/>
            <a:ext cx="10763250" cy="238125"/>
          </a:xfrm>
          <a:prstGeom prst="rect">
            <a:avLst/>
          </a:prstGeom>
          <a:noFill/>
          <a:ln w="0">
            <a:noFill/>
          </a:ln>
        </p:spPr>
        <p:txBody>
          <a:bodyPr wrap="square" lIns="0" tIns="0" rIns="0" bIns="0" anchor="t">
            <a:noAutofit/>
          </a:bodyPr>
          <a:lstStyle/>
          <a:p>
            <a:endParaRPr/>
          </a:p>
        </p:txBody>
      </p:sp>
      <p:sp>
        <p:nvSpPr>
          <p:cNvPr id="12" name="s3-text-11">
            <a:extLst>
              <a:ext uri="{FF2B5EF4-FFF2-40B4-BE49-F238E27FC236}">
                <a16:creationId xmlns:a16="http://schemas.microsoft.com/office/drawing/2014/main" id="{282CCF44-9B1C-4D88-879A-990368EA2823}"/>
              </a:ext>
            </a:extLst>
          </p:cNvPr>
          <p:cNvSpPr>
            <a:spLocks noGrp="1"/>
          </p:cNvSpPr>
          <p:nvPr/>
        </p:nvSpPr>
        <p:spPr>
          <a:xfrm>
            <a:off x="11239500" y="6477000"/>
            <a:ext cx="476250" cy="238125"/>
          </a:xfrm>
          <a:prstGeom prst="rect">
            <a:avLst/>
          </a:prstGeom>
          <a:noFill/>
          <a:ln w="0">
            <a:noFill/>
          </a:ln>
        </p:spPr>
        <p:txBody>
          <a:bodyPr wrap="square" lIns="0" tIns="0" rIns="0" bIns="0" anchor="t">
            <a:noAutofit/>
          </a:bodyPr>
          <a:lstStyle/>
          <a:p>
            <a:pPr algn="r">
              <a:defRPr sz="1275" b="0">
                <a:solidFill>
                  <a:srgbClr val="666666"/>
                </a:solidFill>
                <a:latin typeface="Aptos"/>
                <a:ea typeface="Aptos"/>
                <a:cs typeface="Aptos"/>
              </a:defRPr>
            </a:pPr>
            <a:r>
              <a:rPr sz="1275" b="0">
                <a:solidFill>
                  <a:srgbClr val="666666"/>
                </a:solidFill>
                <a:latin typeface="Aptos"/>
                <a:ea typeface="Aptos"/>
                <a:cs typeface="Aptos"/>
              </a:rPr>
              <a:t>3</a:t>
            </a:r>
          </a:p>
        </p:txBody>
      </p:sp>
    </p:spTree>
    <p:extLst>
      <p:ext uri="{BB962C8B-B14F-4D97-AF65-F5344CB8AC3E}">
        <p14:creationId xmlns:p14="http://schemas.microsoft.com/office/powerpoint/2010/main" val="32813612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4-text-1">
            <a:extLst>
              <a:ext uri="{FF2B5EF4-FFF2-40B4-BE49-F238E27FC236}">
                <a16:creationId xmlns:a16="http://schemas.microsoft.com/office/drawing/2014/main" id="{CD525DEE-2435-40A6-876A-0EA498D1B47F}"/>
              </a:ext>
            </a:extLst>
          </p:cNvPr>
          <p:cNvSpPr>
            <a:spLocks noGrp="1"/>
          </p:cNvSpPr>
          <p:nvPr/>
        </p:nvSpPr>
        <p:spPr>
          <a:xfrm>
            <a:off x="430816" y="1038225"/>
            <a:ext cx="11293412" cy="78105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Two measures, different results</a:t>
            </a:r>
          </a:p>
        </p:txBody>
      </p:sp>
      <p:sp>
        <p:nvSpPr>
          <p:cNvPr id="2" name="s4-rect-2">
            <a:extLst>
              <a:ext uri="{FF2B5EF4-FFF2-40B4-BE49-F238E27FC236}">
                <a16:creationId xmlns:a16="http://schemas.microsoft.com/office/drawing/2014/main" id="{74F65A06-FDA2-4691-9FC6-F6053ECB8F8D}"/>
              </a:ext>
            </a:extLst>
          </p:cNvPr>
          <p:cNvSpPr>
            <a:spLocks noGrp="1"/>
          </p:cNvSpPr>
          <p:nvPr/>
        </p:nvSpPr>
        <p:spPr>
          <a:xfrm>
            <a:off x="8734425" y="476250"/>
            <a:ext cx="3000375" cy="400050"/>
          </a:xfrm>
          <a:prstGeom prst="rect">
            <a:avLst/>
          </a:prstGeom>
          <a:solidFill>
            <a:srgbClr val="D6171D"/>
          </a:solidFill>
          <a:ln w="0">
            <a:noFill/>
          </a:ln>
        </p:spPr>
        <p:txBody>
          <a:bodyPr/>
          <a:lstStyle/>
          <a:p>
            <a:endParaRPr lang="en-US"/>
          </a:p>
        </p:txBody>
      </p:sp>
      <p:sp>
        <p:nvSpPr>
          <p:cNvPr id="3" name="s4-text-3">
            <a:extLst>
              <a:ext uri="{FF2B5EF4-FFF2-40B4-BE49-F238E27FC236}">
                <a16:creationId xmlns:a16="http://schemas.microsoft.com/office/drawing/2014/main" id="{7C2CB902-AC10-4C3D-9232-3B7EEA0348B6}"/>
              </a:ext>
            </a:extLst>
          </p:cNvPr>
          <p:cNvSpPr>
            <a:spLocks noGrp="1"/>
          </p:cNvSpPr>
          <p:nvPr/>
        </p:nvSpPr>
        <p:spPr>
          <a:xfrm>
            <a:off x="8829675" y="533400"/>
            <a:ext cx="2809875" cy="323850"/>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C1.1</a:t>
            </a:r>
          </a:p>
        </p:txBody>
      </p:sp>
      <p:sp>
        <p:nvSpPr>
          <p:cNvPr id="4" name="s4-text-4">
            <a:extLst>
              <a:ext uri="{FF2B5EF4-FFF2-40B4-BE49-F238E27FC236}">
                <a16:creationId xmlns:a16="http://schemas.microsoft.com/office/drawing/2014/main" id="{2E1944B4-25FE-41B4-BB45-ADC26178BB11}"/>
              </a:ext>
            </a:extLst>
          </p:cNvPr>
          <p:cNvSpPr>
            <a:spLocks noGrp="1"/>
          </p:cNvSpPr>
          <p:nvPr/>
        </p:nvSpPr>
        <p:spPr>
          <a:xfrm>
            <a:off x="457200" y="2009775"/>
            <a:ext cx="5429250" cy="457200"/>
          </a:xfrm>
          <a:prstGeom prst="rect">
            <a:avLst/>
          </a:prstGeom>
          <a:noFill/>
          <a:ln w="0">
            <a:noFill/>
          </a:ln>
        </p:spPr>
        <p:txBody>
          <a:bodyPr wrap="square" lIns="0" tIns="0" rIns="0" bIns="0" anchor="t">
            <a:noAutofit/>
          </a:bodyPr>
          <a:lstStyle/>
          <a:p>
            <a:pPr algn="l">
              <a:defRPr sz="2175" b="1">
                <a:solidFill>
                  <a:srgbClr val="111111"/>
                </a:solidFill>
                <a:latin typeface="Aptos"/>
                <a:ea typeface="Aptos"/>
                <a:cs typeface="Aptos"/>
              </a:defRPr>
            </a:pPr>
            <a:r>
              <a:rPr sz="2175" b="1">
                <a:solidFill>
                  <a:srgbClr val="111111"/>
                </a:solidFill>
                <a:latin typeface="Aptos"/>
                <a:ea typeface="Aptos"/>
                <a:cs typeface="Aptos"/>
              </a:rPr>
              <a:t>Portion reduction: 425 − 315 = 110 g</a:t>
            </a:r>
          </a:p>
        </p:txBody>
      </p:sp>
      <p:sp>
        <p:nvSpPr>
          <p:cNvPr id="5" name="s4-text-5">
            <a:extLst>
              <a:ext uri="{FF2B5EF4-FFF2-40B4-BE49-F238E27FC236}">
                <a16:creationId xmlns:a16="http://schemas.microsoft.com/office/drawing/2014/main" id="{40E2BFE1-890F-47BF-BF48-F1F11D36C1B8}"/>
              </a:ext>
            </a:extLst>
          </p:cNvPr>
          <p:cNvSpPr>
            <a:spLocks noGrp="1"/>
          </p:cNvSpPr>
          <p:nvPr/>
        </p:nvSpPr>
        <p:spPr>
          <a:xfrm>
            <a:off x="6429375" y="2009775"/>
            <a:ext cx="5238750" cy="685800"/>
          </a:xfrm>
          <a:prstGeom prst="rect">
            <a:avLst/>
          </a:prstGeom>
          <a:noFill/>
          <a:ln w="0">
            <a:noFill/>
          </a:ln>
        </p:spPr>
        <p:txBody>
          <a:bodyPr wrap="square" lIns="0" tIns="0" rIns="0" bIns="0" anchor="t">
            <a:noAutofit/>
          </a:bodyPr>
          <a:lstStyle/>
          <a:p>
            <a:pPr algn="l">
              <a:defRPr sz="2025" b="1">
                <a:solidFill>
                  <a:srgbClr val="111111"/>
                </a:solidFill>
                <a:latin typeface="Aptos"/>
                <a:ea typeface="Aptos"/>
                <a:cs typeface="Aptos"/>
              </a:defRPr>
            </a:pPr>
            <a:r>
              <a:rPr sz="2025" b="1">
                <a:solidFill>
                  <a:srgbClr val="111111"/>
                </a:solidFill>
                <a:latin typeface="Aptos"/>
                <a:ea typeface="Aptos"/>
                <a:cs typeface="Aptos"/>
              </a:rPr>
              <a:t>Leftovers: 15,397 − 14,186 = 1,211 g</a:t>
            </a:r>
          </a:p>
        </p:txBody>
      </p:sp>
      <p:sp>
        <p:nvSpPr>
          <p:cNvPr id="6" name="s4-text-6">
            <a:extLst>
              <a:ext uri="{FF2B5EF4-FFF2-40B4-BE49-F238E27FC236}">
                <a16:creationId xmlns:a16="http://schemas.microsoft.com/office/drawing/2014/main" id="{9F957746-247F-4042-B9E7-A57785652972}"/>
              </a:ext>
            </a:extLst>
          </p:cNvPr>
          <p:cNvSpPr>
            <a:spLocks noGrp="1"/>
          </p:cNvSpPr>
          <p:nvPr/>
        </p:nvSpPr>
        <p:spPr>
          <a:xfrm>
            <a:off x="590550" y="2638425"/>
            <a:ext cx="1381125" cy="371475"/>
          </a:xfrm>
          <a:prstGeom prst="rect">
            <a:avLst/>
          </a:prstGeom>
          <a:noFill/>
          <a:ln w="0">
            <a:noFill/>
          </a:ln>
        </p:spPr>
        <p:txBody>
          <a:bodyPr wrap="square" lIns="0" tIns="0" rIns="0" bIns="0" anchor="t">
            <a:noAutofit/>
          </a:bodyPr>
          <a:lstStyle/>
          <a:p>
            <a:pPr algn="ctr">
              <a:defRPr sz="2475" b="0">
                <a:solidFill>
                  <a:srgbClr val="111111"/>
                </a:solidFill>
                <a:latin typeface="Aptos"/>
                <a:ea typeface="Aptos"/>
                <a:cs typeface="Aptos"/>
              </a:defRPr>
            </a:pPr>
            <a:r>
              <a:rPr sz="2475" b="0">
                <a:solidFill>
                  <a:srgbClr val="111111"/>
                </a:solidFill>
                <a:latin typeface="Aptos"/>
                <a:ea typeface="Aptos"/>
                <a:cs typeface="Aptos"/>
              </a:rPr>
              <a:t>110</a:t>
            </a:r>
          </a:p>
        </p:txBody>
      </p:sp>
      <p:sp>
        <p:nvSpPr>
          <p:cNvPr id="7" name="s4-line-7">
            <a:extLst>
              <a:ext uri="{FF2B5EF4-FFF2-40B4-BE49-F238E27FC236}">
                <a16:creationId xmlns:a16="http://schemas.microsoft.com/office/drawing/2014/main" id="{60CF86C0-BE3A-433D-868A-14796713BF1C}"/>
              </a:ext>
            </a:extLst>
          </p:cNvPr>
          <p:cNvSpPr>
            <a:spLocks noGrp="1"/>
          </p:cNvSpPr>
          <p:nvPr/>
        </p:nvSpPr>
        <p:spPr>
          <a:xfrm>
            <a:off x="590550" y="3048000"/>
            <a:ext cx="1381125" cy="0"/>
          </a:xfrm>
          <a:prstGeom prst="line">
            <a:avLst/>
          </a:prstGeom>
          <a:noFill/>
          <a:ln w="19050">
            <a:solidFill>
              <a:srgbClr val="111111"/>
            </a:solidFill>
          </a:ln>
        </p:spPr>
        <p:txBody>
          <a:bodyPr/>
          <a:lstStyle/>
          <a:p>
            <a:endParaRPr lang="en-US"/>
          </a:p>
        </p:txBody>
      </p:sp>
      <p:sp>
        <p:nvSpPr>
          <p:cNvPr id="8" name="s4-text-8">
            <a:extLst>
              <a:ext uri="{FF2B5EF4-FFF2-40B4-BE49-F238E27FC236}">
                <a16:creationId xmlns:a16="http://schemas.microsoft.com/office/drawing/2014/main" id="{15312959-7820-44AB-9BEF-47462A3A7B4E}"/>
              </a:ext>
            </a:extLst>
          </p:cNvPr>
          <p:cNvSpPr>
            <a:spLocks noGrp="1"/>
          </p:cNvSpPr>
          <p:nvPr/>
        </p:nvSpPr>
        <p:spPr>
          <a:xfrm>
            <a:off x="590550" y="3143250"/>
            <a:ext cx="1381125" cy="390525"/>
          </a:xfrm>
          <a:prstGeom prst="rect">
            <a:avLst/>
          </a:prstGeom>
          <a:noFill/>
          <a:ln w="0">
            <a:noFill/>
          </a:ln>
        </p:spPr>
        <p:txBody>
          <a:bodyPr wrap="square" lIns="0" tIns="0" rIns="0" bIns="0" anchor="t">
            <a:noAutofit/>
          </a:bodyPr>
          <a:lstStyle/>
          <a:p>
            <a:pPr algn="ctr">
              <a:defRPr sz="2475" b="0">
                <a:solidFill>
                  <a:srgbClr val="111111"/>
                </a:solidFill>
                <a:latin typeface="Aptos"/>
                <a:ea typeface="Aptos"/>
                <a:cs typeface="Aptos"/>
              </a:defRPr>
            </a:pPr>
            <a:r>
              <a:rPr sz="2475" b="0">
                <a:solidFill>
                  <a:srgbClr val="111111"/>
                </a:solidFill>
                <a:latin typeface="Aptos"/>
                <a:ea typeface="Aptos"/>
                <a:cs typeface="Aptos"/>
              </a:rPr>
              <a:t>425</a:t>
            </a:r>
          </a:p>
        </p:txBody>
      </p:sp>
      <p:sp>
        <p:nvSpPr>
          <p:cNvPr id="9" name="s4-text-9">
            <a:extLst>
              <a:ext uri="{FF2B5EF4-FFF2-40B4-BE49-F238E27FC236}">
                <a16:creationId xmlns:a16="http://schemas.microsoft.com/office/drawing/2014/main" id="{9D5A7769-3291-4861-89A8-43BB6C33A132}"/>
              </a:ext>
            </a:extLst>
          </p:cNvPr>
          <p:cNvSpPr>
            <a:spLocks noGrp="1"/>
          </p:cNvSpPr>
          <p:nvPr/>
        </p:nvSpPr>
        <p:spPr>
          <a:xfrm>
            <a:off x="2200275" y="2876550"/>
            <a:ext cx="5905500" cy="590550"/>
          </a:xfrm>
          <a:prstGeom prst="rect">
            <a:avLst/>
          </a:prstGeom>
          <a:noFill/>
          <a:ln w="0">
            <a:noFill/>
          </a:ln>
        </p:spPr>
        <p:txBody>
          <a:bodyPr wrap="square" lIns="0" tIns="0" rIns="0" bIns="0" anchor="t">
            <a:noAutofit/>
          </a:bodyPr>
          <a:lstStyle/>
          <a:p>
            <a:pPr algn="l">
              <a:defRPr sz="2475" b="1">
                <a:solidFill>
                  <a:srgbClr val="111111"/>
                </a:solidFill>
                <a:latin typeface="Aptos"/>
                <a:ea typeface="Aptos"/>
                <a:cs typeface="Aptos"/>
              </a:defRPr>
            </a:pPr>
            <a:r>
              <a:rPr sz="2475" b="1">
                <a:solidFill>
                  <a:srgbClr val="111111"/>
                </a:solidFill>
                <a:latin typeface="Aptos"/>
                <a:ea typeface="Aptos"/>
                <a:cs typeface="Aptos"/>
              </a:rPr>
              <a:t>× 100 = 25.88%</a:t>
            </a:r>
          </a:p>
        </p:txBody>
      </p:sp>
      <p:sp>
        <p:nvSpPr>
          <p:cNvPr id="10" name="s4-text-10">
            <a:extLst>
              <a:ext uri="{FF2B5EF4-FFF2-40B4-BE49-F238E27FC236}">
                <a16:creationId xmlns:a16="http://schemas.microsoft.com/office/drawing/2014/main" id="{8BEDFF8D-A181-4292-8105-A058200A707D}"/>
              </a:ext>
            </a:extLst>
          </p:cNvPr>
          <p:cNvSpPr>
            <a:spLocks noGrp="1"/>
          </p:cNvSpPr>
          <p:nvPr/>
        </p:nvSpPr>
        <p:spPr>
          <a:xfrm>
            <a:off x="6543675" y="2638425"/>
            <a:ext cx="1676400" cy="371475"/>
          </a:xfrm>
          <a:prstGeom prst="rect">
            <a:avLst/>
          </a:prstGeom>
          <a:noFill/>
          <a:ln w="0">
            <a:noFill/>
          </a:ln>
        </p:spPr>
        <p:txBody>
          <a:bodyPr wrap="square" lIns="0" tIns="0" rIns="0" bIns="0" anchor="t">
            <a:noAutofit/>
          </a:bodyPr>
          <a:lstStyle/>
          <a:p>
            <a:pPr algn="ctr">
              <a:defRPr sz="2475" b="0">
                <a:solidFill>
                  <a:srgbClr val="111111"/>
                </a:solidFill>
                <a:latin typeface="Aptos"/>
                <a:ea typeface="Aptos"/>
                <a:cs typeface="Aptos"/>
              </a:defRPr>
            </a:pPr>
            <a:r>
              <a:rPr sz="2475" b="0">
                <a:solidFill>
                  <a:srgbClr val="111111"/>
                </a:solidFill>
                <a:latin typeface="Aptos"/>
                <a:ea typeface="Aptos"/>
                <a:cs typeface="Aptos"/>
              </a:rPr>
              <a:t>1,211</a:t>
            </a:r>
          </a:p>
        </p:txBody>
      </p:sp>
      <p:sp>
        <p:nvSpPr>
          <p:cNvPr id="11" name="s4-line-11">
            <a:extLst>
              <a:ext uri="{FF2B5EF4-FFF2-40B4-BE49-F238E27FC236}">
                <a16:creationId xmlns:a16="http://schemas.microsoft.com/office/drawing/2014/main" id="{4A6B3557-7967-4453-AA59-AC45EE280448}"/>
              </a:ext>
            </a:extLst>
          </p:cNvPr>
          <p:cNvSpPr>
            <a:spLocks noGrp="1"/>
          </p:cNvSpPr>
          <p:nvPr/>
        </p:nvSpPr>
        <p:spPr>
          <a:xfrm>
            <a:off x="6543675" y="3048000"/>
            <a:ext cx="1676400" cy="0"/>
          </a:xfrm>
          <a:prstGeom prst="line">
            <a:avLst/>
          </a:prstGeom>
          <a:noFill/>
          <a:ln w="19050">
            <a:solidFill>
              <a:srgbClr val="111111"/>
            </a:solidFill>
          </a:ln>
        </p:spPr>
        <p:txBody>
          <a:bodyPr/>
          <a:lstStyle/>
          <a:p>
            <a:endParaRPr lang="en-US"/>
          </a:p>
        </p:txBody>
      </p:sp>
      <p:sp>
        <p:nvSpPr>
          <p:cNvPr id="12" name="s4-text-12">
            <a:extLst>
              <a:ext uri="{FF2B5EF4-FFF2-40B4-BE49-F238E27FC236}">
                <a16:creationId xmlns:a16="http://schemas.microsoft.com/office/drawing/2014/main" id="{71C3EA64-EFF5-4852-8F3D-DB638C99BA54}"/>
              </a:ext>
            </a:extLst>
          </p:cNvPr>
          <p:cNvSpPr>
            <a:spLocks noGrp="1"/>
          </p:cNvSpPr>
          <p:nvPr/>
        </p:nvSpPr>
        <p:spPr>
          <a:xfrm>
            <a:off x="6543675" y="3143250"/>
            <a:ext cx="1676400" cy="390525"/>
          </a:xfrm>
          <a:prstGeom prst="rect">
            <a:avLst/>
          </a:prstGeom>
          <a:noFill/>
          <a:ln w="0">
            <a:noFill/>
          </a:ln>
        </p:spPr>
        <p:txBody>
          <a:bodyPr wrap="square" lIns="0" tIns="0" rIns="0" bIns="0" anchor="t">
            <a:noAutofit/>
          </a:bodyPr>
          <a:lstStyle/>
          <a:p>
            <a:pPr algn="ctr">
              <a:defRPr sz="2475" b="0">
                <a:solidFill>
                  <a:srgbClr val="111111"/>
                </a:solidFill>
                <a:latin typeface="Aptos"/>
                <a:ea typeface="Aptos"/>
                <a:cs typeface="Aptos"/>
              </a:defRPr>
            </a:pPr>
            <a:r>
              <a:rPr sz="2475" b="0">
                <a:solidFill>
                  <a:srgbClr val="111111"/>
                </a:solidFill>
                <a:latin typeface="Aptos"/>
                <a:ea typeface="Aptos"/>
                <a:cs typeface="Aptos"/>
              </a:rPr>
              <a:t>14,186</a:t>
            </a:r>
          </a:p>
        </p:txBody>
      </p:sp>
      <p:sp>
        <p:nvSpPr>
          <p:cNvPr id="13" name="s4-text-13">
            <a:extLst>
              <a:ext uri="{FF2B5EF4-FFF2-40B4-BE49-F238E27FC236}">
                <a16:creationId xmlns:a16="http://schemas.microsoft.com/office/drawing/2014/main" id="{0267F1FA-B1FF-46D8-BE6E-C84C490E4E03}"/>
              </a:ext>
            </a:extLst>
          </p:cNvPr>
          <p:cNvSpPr>
            <a:spLocks noGrp="1"/>
          </p:cNvSpPr>
          <p:nvPr/>
        </p:nvSpPr>
        <p:spPr>
          <a:xfrm>
            <a:off x="8448675" y="2876550"/>
            <a:ext cx="3286125" cy="590550"/>
          </a:xfrm>
          <a:prstGeom prst="rect">
            <a:avLst/>
          </a:prstGeom>
          <a:noFill/>
          <a:ln w="0">
            <a:noFill/>
          </a:ln>
        </p:spPr>
        <p:txBody>
          <a:bodyPr wrap="square" lIns="0" tIns="0" rIns="0" bIns="0" anchor="t">
            <a:noAutofit/>
          </a:bodyPr>
          <a:lstStyle/>
          <a:p>
            <a:pPr algn="l">
              <a:defRPr sz="2475" b="1">
                <a:solidFill>
                  <a:srgbClr val="111111"/>
                </a:solidFill>
                <a:latin typeface="Aptos"/>
                <a:ea typeface="Aptos"/>
                <a:cs typeface="Aptos"/>
              </a:defRPr>
            </a:pPr>
            <a:r>
              <a:rPr sz="2475" b="1">
                <a:solidFill>
                  <a:srgbClr val="111111"/>
                </a:solidFill>
                <a:latin typeface="Aptos"/>
                <a:ea typeface="Aptos"/>
                <a:cs typeface="Aptos"/>
              </a:rPr>
              <a:t>× 100 = 8.54%</a:t>
            </a:r>
          </a:p>
        </p:txBody>
      </p:sp>
      <p:graphicFrame>
        <p:nvGraphicFramePr>
          <p:cNvPr id="32" name="Chart"/>
          <p:cNvGraphicFramePr/>
          <p:nvPr/>
        </p:nvGraphicFramePr>
        <p:xfrm>
          <a:off x="457200" y="4057650"/>
          <a:ext cx="6191250" cy="2114550"/>
        </p:xfrm>
        <a:graphic>
          <a:graphicData uri="http://schemas.openxmlformats.org/drawingml/2006/chart">
            <c:chart xmlns:c="http://schemas.openxmlformats.org/drawingml/2006/chart" xmlns:r="http://schemas.openxmlformats.org/officeDocument/2006/relationships" r:id="rId3"/>
          </a:graphicData>
        </a:graphic>
      </p:graphicFrame>
      <p:sp>
        <p:nvSpPr>
          <p:cNvPr id="15" name="s4-text-14">
            <a:extLst>
              <a:ext uri="{FF2B5EF4-FFF2-40B4-BE49-F238E27FC236}">
                <a16:creationId xmlns:a16="http://schemas.microsoft.com/office/drawing/2014/main" id="{D602212C-996E-4F89-9ED9-8450E9EDE035}"/>
              </a:ext>
            </a:extLst>
          </p:cNvPr>
          <p:cNvSpPr>
            <a:spLocks noGrp="1"/>
          </p:cNvSpPr>
          <p:nvPr/>
        </p:nvSpPr>
        <p:spPr>
          <a:xfrm>
            <a:off x="7381875" y="4171950"/>
            <a:ext cx="4191000" cy="962025"/>
          </a:xfrm>
          <a:prstGeom prst="rect">
            <a:avLst/>
          </a:prstGeom>
          <a:noFill/>
          <a:ln w="0">
            <a:noFill/>
          </a:ln>
        </p:spPr>
        <p:txBody>
          <a:bodyPr wrap="square" lIns="0" tIns="0" rIns="0" bIns="0" anchor="t">
            <a:noAutofit/>
          </a:bodyPr>
          <a:lstStyle/>
          <a:p>
            <a:pPr algn="l">
              <a:defRPr sz="2250" b="1">
                <a:solidFill>
                  <a:srgbClr val="111111"/>
                </a:solidFill>
                <a:latin typeface="Aptos"/>
                <a:ea typeface="Aptos"/>
                <a:cs typeface="Aptos"/>
              </a:defRPr>
            </a:pPr>
            <a:r>
              <a:rPr sz="2250" b="1">
                <a:solidFill>
                  <a:srgbClr val="111111"/>
                </a:solidFill>
                <a:latin typeface="Aptos"/>
                <a:ea typeface="Aptos"/>
                <a:cs typeface="Aptos"/>
              </a:rPr>
              <a:t>The pilot recorded more leftovers</a:t>
            </a:r>
          </a:p>
          <a:p>
            <a:pPr algn="l">
              <a:defRPr sz="2250" b="1">
                <a:solidFill>
                  <a:srgbClr val="111111"/>
                </a:solidFill>
                <a:latin typeface="Aptos"/>
                <a:ea typeface="Aptos"/>
                <a:cs typeface="Aptos"/>
              </a:defRPr>
            </a:pPr>
            <a:r>
              <a:rPr sz="2250" b="1">
                <a:solidFill>
                  <a:srgbClr val="111111"/>
                </a:solidFill>
                <a:latin typeface="Aptos"/>
                <a:ea typeface="Aptos"/>
                <a:cs typeface="Aptos"/>
              </a:rPr>
              <a:t>alongside smaller portions.</a:t>
            </a:r>
          </a:p>
        </p:txBody>
      </p:sp>
      <p:sp>
        <p:nvSpPr>
          <p:cNvPr id="16" name="s4-text-15">
            <a:extLst>
              <a:ext uri="{FF2B5EF4-FFF2-40B4-BE49-F238E27FC236}">
                <a16:creationId xmlns:a16="http://schemas.microsoft.com/office/drawing/2014/main" id="{C146D574-CE89-4C06-8379-51DCE8A42ED8}"/>
              </a:ext>
            </a:extLst>
          </p:cNvPr>
          <p:cNvSpPr>
            <a:spLocks noGrp="1"/>
          </p:cNvSpPr>
          <p:nvPr/>
        </p:nvSpPr>
        <p:spPr>
          <a:xfrm>
            <a:off x="7381875" y="5305425"/>
            <a:ext cx="4191000" cy="857250"/>
          </a:xfrm>
          <a:prstGeom prst="rect">
            <a:avLst/>
          </a:prstGeom>
          <a:noFill/>
          <a:ln w="0">
            <a:noFill/>
          </a:ln>
        </p:spPr>
        <p:txBody>
          <a:bodyPr wrap="square" lIns="0" tIns="0" rIns="0" bIns="0" anchor="t">
            <a:noAutofit/>
          </a:bodyPr>
          <a:lstStyle/>
          <a:p>
            <a:pPr algn="l">
              <a:defRPr sz="2175" b="0">
                <a:solidFill>
                  <a:srgbClr val="111111"/>
                </a:solidFill>
                <a:latin typeface="Aptos"/>
                <a:ea typeface="Aptos"/>
                <a:cs typeface="Aptos"/>
              </a:defRPr>
            </a:pPr>
            <a:r>
              <a:rPr sz="2175" b="0">
                <a:solidFill>
                  <a:srgbClr val="111111"/>
                </a:solidFill>
                <a:latin typeface="Aptos"/>
                <a:ea typeface="Aptos"/>
                <a:cs typeface="Aptos"/>
              </a:rPr>
              <a:t>Different days prevent a firm</a:t>
            </a:r>
          </a:p>
          <a:p>
            <a:pPr algn="l">
              <a:defRPr sz="2175" b="0">
                <a:solidFill>
                  <a:srgbClr val="111111"/>
                </a:solidFill>
                <a:latin typeface="Aptos"/>
                <a:ea typeface="Aptos"/>
                <a:cs typeface="Aptos"/>
              </a:defRPr>
            </a:pPr>
            <a:r>
              <a:rPr sz="2175" b="0">
                <a:solidFill>
                  <a:srgbClr val="111111"/>
                </a:solidFill>
                <a:latin typeface="Aptos"/>
                <a:ea typeface="Aptos"/>
                <a:cs typeface="Aptos"/>
              </a:rPr>
              <a:t>conclusion about the cause.</a:t>
            </a:r>
          </a:p>
        </p:txBody>
      </p:sp>
      <p:sp>
        <p:nvSpPr>
          <p:cNvPr id="17" name="s4-text-16">
            <a:extLst>
              <a:ext uri="{FF2B5EF4-FFF2-40B4-BE49-F238E27FC236}">
                <a16:creationId xmlns:a16="http://schemas.microsoft.com/office/drawing/2014/main" id="{72AABC78-B562-421D-A745-DD5240B489CD}"/>
              </a:ext>
            </a:extLst>
          </p:cNvPr>
          <p:cNvSpPr>
            <a:spLocks noGrp="1"/>
          </p:cNvSpPr>
          <p:nvPr/>
        </p:nvSpPr>
        <p:spPr>
          <a:xfrm>
            <a:off x="457200" y="6477000"/>
            <a:ext cx="10763250" cy="238125"/>
          </a:xfrm>
          <a:prstGeom prst="rect">
            <a:avLst/>
          </a:prstGeom>
          <a:noFill/>
          <a:ln w="0">
            <a:noFill/>
          </a:ln>
        </p:spPr>
        <p:txBody>
          <a:bodyPr wrap="square" lIns="0" tIns="0" rIns="0" bIns="0" anchor="t">
            <a:noAutofit/>
          </a:bodyPr>
          <a:lstStyle/>
          <a:p>
            <a:endParaRPr/>
          </a:p>
        </p:txBody>
      </p:sp>
      <p:sp>
        <p:nvSpPr>
          <p:cNvPr id="18" name="s4-text-17">
            <a:extLst>
              <a:ext uri="{FF2B5EF4-FFF2-40B4-BE49-F238E27FC236}">
                <a16:creationId xmlns:a16="http://schemas.microsoft.com/office/drawing/2014/main" id="{79B10CAD-3C50-4997-9190-047F101F132B}"/>
              </a:ext>
            </a:extLst>
          </p:cNvPr>
          <p:cNvSpPr>
            <a:spLocks noGrp="1"/>
          </p:cNvSpPr>
          <p:nvPr/>
        </p:nvSpPr>
        <p:spPr>
          <a:xfrm>
            <a:off x="11239500" y="6477000"/>
            <a:ext cx="476250" cy="238125"/>
          </a:xfrm>
          <a:prstGeom prst="rect">
            <a:avLst/>
          </a:prstGeom>
          <a:noFill/>
          <a:ln w="0">
            <a:noFill/>
          </a:ln>
        </p:spPr>
        <p:txBody>
          <a:bodyPr wrap="square" lIns="0" tIns="0" rIns="0" bIns="0" anchor="t">
            <a:noAutofit/>
          </a:bodyPr>
          <a:lstStyle/>
          <a:p>
            <a:pPr algn="r">
              <a:defRPr sz="1275" b="0">
                <a:solidFill>
                  <a:srgbClr val="666666"/>
                </a:solidFill>
                <a:latin typeface="Aptos"/>
                <a:ea typeface="Aptos"/>
                <a:cs typeface="Aptos"/>
              </a:defRPr>
            </a:pPr>
            <a:r>
              <a:rPr sz="1275" b="0">
                <a:solidFill>
                  <a:srgbClr val="666666"/>
                </a:solidFill>
                <a:latin typeface="Aptos"/>
                <a:ea typeface="Aptos"/>
                <a:cs typeface="Aptos"/>
              </a:rPr>
              <a:t>4</a:t>
            </a:r>
          </a:p>
        </p:txBody>
      </p:sp>
    </p:spTree>
    <p:extLst>
      <p:ext uri="{BB962C8B-B14F-4D97-AF65-F5344CB8AC3E}">
        <p14:creationId xmlns:p14="http://schemas.microsoft.com/office/powerpoint/2010/main" val="3281361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5-text-1">
            <a:extLst>
              <a:ext uri="{FF2B5EF4-FFF2-40B4-BE49-F238E27FC236}">
                <a16:creationId xmlns:a16="http://schemas.microsoft.com/office/drawing/2014/main" id="{296C120A-504F-41AB-B3C8-0C1CAFDAB1F6}"/>
              </a:ext>
            </a:extLst>
          </p:cNvPr>
          <p:cNvSpPr>
            <a:spLocks noGrp="1"/>
          </p:cNvSpPr>
          <p:nvPr/>
        </p:nvSpPr>
        <p:spPr>
          <a:xfrm>
            <a:off x="430816" y="1038225"/>
            <a:ext cx="11293412" cy="78105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What can the missing replies change?</a:t>
            </a:r>
          </a:p>
        </p:txBody>
      </p:sp>
      <p:sp>
        <p:nvSpPr>
          <p:cNvPr id="2" name="s5-rect-2">
            <a:extLst>
              <a:ext uri="{FF2B5EF4-FFF2-40B4-BE49-F238E27FC236}">
                <a16:creationId xmlns:a16="http://schemas.microsoft.com/office/drawing/2014/main" id="{5619F01B-F349-496F-94A1-53F4BA4F0457}"/>
              </a:ext>
            </a:extLst>
          </p:cNvPr>
          <p:cNvSpPr>
            <a:spLocks noGrp="1"/>
          </p:cNvSpPr>
          <p:nvPr/>
        </p:nvSpPr>
        <p:spPr>
          <a:xfrm>
            <a:off x="8734425" y="476250"/>
            <a:ext cx="3000375" cy="400050"/>
          </a:xfrm>
          <a:prstGeom prst="rect">
            <a:avLst/>
          </a:prstGeom>
          <a:solidFill>
            <a:srgbClr val="D6171D"/>
          </a:solidFill>
          <a:ln w="0">
            <a:noFill/>
          </a:ln>
        </p:spPr>
        <p:txBody>
          <a:bodyPr/>
          <a:lstStyle/>
          <a:p>
            <a:endParaRPr lang="en-US"/>
          </a:p>
        </p:txBody>
      </p:sp>
      <p:sp>
        <p:nvSpPr>
          <p:cNvPr id="3" name="s5-text-3">
            <a:extLst>
              <a:ext uri="{FF2B5EF4-FFF2-40B4-BE49-F238E27FC236}">
                <a16:creationId xmlns:a16="http://schemas.microsoft.com/office/drawing/2014/main" id="{861C89FE-C88B-4ECE-981D-56C430431160}"/>
              </a:ext>
            </a:extLst>
          </p:cNvPr>
          <p:cNvSpPr>
            <a:spLocks noGrp="1"/>
          </p:cNvSpPr>
          <p:nvPr/>
        </p:nvSpPr>
        <p:spPr>
          <a:xfrm>
            <a:off x="8829675" y="533400"/>
            <a:ext cx="2809875" cy="323850"/>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C1.2</a:t>
            </a:r>
          </a:p>
        </p:txBody>
      </p:sp>
      <p:sp>
        <p:nvSpPr>
          <p:cNvPr id="4" name="s5-text-4">
            <a:extLst>
              <a:ext uri="{FF2B5EF4-FFF2-40B4-BE49-F238E27FC236}">
                <a16:creationId xmlns:a16="http://schemas.microsoft.com/office/drawing/2014/main" id="{E1658E0E-642D-4AE8-AA17-276A7B65F3C1}"/>
              </a:ext>
            </a:extLst>
          </p:cNvPr>
          <p:cNvSpPr>
            <a:spLocks noGrp="1"/>
          </p:cNvSpPr>
          <p:nvPr/>
        </p:nvSpPr>
        <p:spPr>
          <a:xfrm>
            <a:off x="457200" y="2028825"/>
            <a:ext cx="3263900" cy="590550"/>
          </a:xfrm>
          <a:prstGeom prst="rect">
            <a:avLst/>
          </a:prstGeom>
          <a:noFill/>
          <a:ln w="0">
            <a:noFill/>
          </a:ln>
        </p:spPr>
        <p:txBody>
          <a:bodyPr wrap="square" lIns="0" tIns="0" rIns="0" bIns="0" anchor="t">
            <a:noAutofit/>
          </a:bodyPr>
          <a:lstStyle/>
          <a:p>
            <a:pPr algn="ctr">
              <a:defRPr sz="3675" b="1">
                <a:solidFill>
                  <a:srgbClr val="111111"/>
                </a:solidFill>
                <a:latin typeface="Aptos"/>
                <a:ea typeface="Aptos"/>
                <a:cs typeface="Aptos"/>
              </a:defRPr>
            </a:pPr>
            <a:r>
              <a:rPr sz="3675" b="1">
                <a:solidFill>
                  <a:srgbClr val="111111"/>
                </a:solidFill>
                <a:latin typeface="Aptos"/>
                <a:ea typeface="Aptos"/>
                <a:cs typeface="Aptos"/>
              </a:rPr>
              <a:t>237</a:t>
            </a:r>
          </a:p>
        </p:txBody>
      </p:sp>
      <p:sp>
        <p:nvSpPr>
          <p:cNvPr id="5" name="s5-text-5">
            <a:extLst>
              <a:ext uri="{FF2B5EF4-FFF2-40B4-BE49-F238E27FC236}">
                <a16:creationId xmlns:a16="http://schemas.microsoft.com/office/drawing/2014/main" id="{884679BC-A2B3-499A-944D-7D8CB4BB1BD6}"/>
              </a:ext>
            </a:extLst>
          </p:cNvPr>
          <p:cNvSpPr>
            <a:spLocks noGrp="1"/>
          </p:cNvSpPr>
          <p:nvPr/>
        </p:nvSpPr>
        <p:spPr>
          <a:xfrm>
            <a:off x="457200" y="2667000"/>
            <a:ext cx="3263900" cy="381000"/>
          </a:xfrm>
          <a:prstGeom prst="rect">
            <a:avLst/>
          </a:prstGeom>
          <a:noFill/>
          <a:ln w="0">
            <a:noFill/>
          </a:ln>
        </p:spPr>
        <p:txBody>
          <a:bodyPr wrap="square" lIns="0" tIns="0" rIns="0" bIns="0" anchor="t">
            <a:noAutofit/>
          </a:bodyPr>
          <a:lstStyle/>
          <a:p>
            <a:pPr algn="ctr">
              <a:defRPr sz="2175" b="0">
                <a:solidFill>
                  <a:srgbClr val="111111"/>
                </a:solidFill>
                <a:latin typeface="Aptos"/>
                <a:ea typeface="Aptos"/>
                <a:cs typeface="Aptos"/>
              </a:defRPr>
            </a:pPr>
            <a:r>
              <a:rPr sz="2175" b="0">
                <a:solidFill>
                  <a:srgbClr val="111111"/>
                </a:solidFill>
                <a:latin typeface="Aptos"/>
                <a:ea typeface="Aptos"/>
                <a:cs typeface="Aptos"/>
              </a:rPr>
              <a:t>club members invited</a:t>
            </a:r>
          </a:p>
        </p:txBody>
      </p:sp>
      <p:sp>
        <p:nvSpPr>
          <p:cNvPr id="6" name="s5-line-6">
            <a:extLst>
              <a:ext uri="{FF2B5EF4-FFF2-40B4-BE49-F238E27FC236}">
                <a16:creationId xmlns:a16="http://schemas.microsoft.com/office/drawing/2014/main" id="{0C0C1A1A-21A2-4767-9799-8EE7413FB10A}"/>
              </a:ext>
            </a:extLst>
          </p:cNvPr>
          <p:cNvSpPr>
            <a:spLocks noGrp="1"/>
          </p:cNvSpPr>
          <p:nvPr/>
        </p:nvSpPr>
        <p:spPr>
          <a:xfrm>
            <a:off x="3844925" y="2428875"/>
            <a:ext cx="466725" cy="0"/>
          </a:xfrm>
          <a:prstGeom prst="line">
            <a:avLst/>
          </a:prstGeom>
          <a:noFill/>
          <a:ln w="19050">
            <a:solidFill>
              <a:srgbClr val="111111"/>
            </a:solidFill>
          </a:ln>
        </p:spPr>
        <p:txBody>
          <a:bodyPr/>
          <a:lstStyle/>
          <a:p>
            <a:endParaRPr lang="en-US"/>
          </a:p>
        </p:txBody>
      </p:sp>
      <p:sp>
        <p:nvSpPr>
          <p:cNvPr id="7" name="s5-text-7">
            <a:extLst>
              <a:ext uri="{FF2B5EF4-FFF2-40B4-BE49-F238E27FC236}">
                <a16:creationId xmlns:a16="http://schemas.microsoft.com/office/drawing/2014/main" id="{65C423D0-6516-4254-91FD-C4C14C58E531}"/>
              </a:ext>
            </a:extLst>
          </p:cNvPr>
          <p:cNvSpPr>
            <a:spLocks noGrp="1"/>
          </p:cNvSpPr>
          <p:nvPr/>
        </p:nvSpPr>
        <p:spPr>
          <a:xfrm>
            <a:off x="4168775" y="2171700"/>
            <a:ext cx="238125" cy="428625"/>
          </a:xfrm>
          <a:prstGeom prst="rect">
            <a:avLst/>
          </a:prstGeom>
          <a:noFill/>
          <a:ln w="0">
            <a:noFill/>
          </a:ln>
        </p:spPr>
        <p:txBody>
          <a:bodyPr wrap="square" lIns="0" tIns="0" rIns="0" bIns="0" anchor="t">
            <a:noAutofit/>
          </a:bodyPr>
          <a:lstStyle/>
          <a:p>
            <a:pPr algn="l">
              <a:defRPr sz="3000" b="1">
                <a:solidFill>
                  <a:srgbClr val="111111"/>
                </a:solidFill>
                <a:latin typeface="Aptos"/>
                <a:ea typeface="Aptos"/>
                <a:cs typeface="Aptos"/>
              </a:defRPr>
            </a:pPr>
            <a:r>
              <a:rPr sz="3000" b="1">
                <a:solidFill>
                  <a:srgbClr val="111111"/>
                </a:solidFill>
                <a:latin typeface="Aptos"/>
                <a:ea typeface="Aptos"/>
                <a:cs typeface="Aptos"/>
              </a:rPr>
              <a:t>›</a:t>
            </a:r>
          </a:p>
        </p:txBody>
      </p:sp>
      <p:sp>
        <p:nvSpPr>
          <p:cNvPr id="8" name="s5-text-8">
            <a:extLst>
              <a:ext uri="{FF2B5EF4-FFF2-40B4-BE49-F238E27FC236}">
                <a16:creationId xmlns:a16="http://schemas.microsoft.com/office/drawing/2014/main" id="{00EFB4A9-0F08-42DE-9B1C-ACEBA4447366}"/>
              </a:ext>
            </a:extLst>
          </p:cNvPr>
          <p:cNvSpPr>
            <a:spLocks noGrp="1"/>
          </p:cNvSpPr>
          <p:nvPr/>
        </p:nvSpPr>
        <p:spPr>
          <a:xfrm>
            <a:off x="4435475" y="2028825"/>
            <a:ext cx="3263900" cy="590550"/>
          </a:xfrm>
          <a:prstGeom prst="rect">
            <a:avLst/>
          </a:prstGeom>
          <a:noFill/>
          <a:ln w="0">
            <a:noFill/>
          </a:ln>
        </p:spPr>
        <p:txBody>
          <a:bodyPr wrap="square" lIns="0" tIns="0" rIns="0" bIns="0" anchor="t">
            <a:noAutofit/>
          </a:bodyPr>
          <a:lstStyle/>
          <a:p>
            <a:pPr algn="ctr">
              <a:defRPr sz="3675" b="1">
                <a:solidFill>
                  <a:srgbClr val="111111"/>
                </a:solidFill>
                <a:latin typeface="Aptos"/>
                <a:ea typeface="Aptos"/>
                <a:cs typeface="Aptos"/>
              </a:defRPr>
            </a:pPr>
            <a:r>
              <a:rPr sz="3675" b="1">
                <a:solidFill>
                  <a:srgbClr val="111111"/>
                </a:solidFill>
                <a:latin typeface="Aptos"/>
                <a:ea typeface="Aptos"/>
                <a:cs typeface="Aptos"/>
              </a:rPr>
              <a:t>143</a:t>
            </a:r>
          </a:p>
        </p:txBody>
      </p:sp>
      <p:sp>
        <p:nvSpPr>
          <p:cNvPr id="9" name="s5-text-9">
            <a:extLst>
              <a:ext uri="{FF2B5EF4-FFF2-40B4-BE49-F238E27FC236}">
                <a16:creationId xmlns:a16="http://schemas.microsoft.com/office/drawing/2014/main" id="{62765E50-75BB-46F2-A781-659BE9A63F0B}"/>
              </a:ext>
            </a:extLst>
          </p:cNvPr>
          <p:cNvSpPr>
            <a:spLocks noGrp="1"/>
          </p:cNvSpPr>
          <p:nvPr/>
        </p:nvSpPr>
        <p:spPr>
          <a:xfrm>
            <a:off x="4435475" y="2667000"/>
            <a:ext cx="3263900" cy="381000"/>
          </a:xfrm>
          <a:prstGeom prst="rect">
            <a:avLst/>
          </a:prstGeom>
          <a:noFill/>
          <a:ln w="0">
            <a:noFill/>
          </a:ln>
        </p:spPr>
        <p:txBody>
          <a:bodyPr wrap="square" lIns="0" tIns="0" rIns="0" bIns="0" anchor="t">
            <a:noAutofit/>
          </a:bodyPr>
          <a:lstStyle/>
          <a:p>
            <a:pPr algn="ctr">
              <a:defRPr sz="2175" b="0">
                <a:solidFill>
                  <a:srgbClr val="111111"/>
                </a:solidFill>
                <a:latin typeface="Aptos"/>
                <a:ea typeface="Aptos"/>
                <a:cs typeface="Aptos"/>
              </a:defRPr>
            </a:pPr>
            <a:r>
              <a:rPr sz="2175" b="0">
                <a:solidFill>
                  <a:srgbClr val="111111"/>
                </a:solidFill>
                <a:latin typeface="Aptos"/>
                <a:ea typeface="Aptos"/>
                <a:cs typeface="Aptos"/>
              </a:rPr>
              <a:t>replied</a:t>
            </a:r>
          </a:p>
        </p:txBody>
      </p:sp>
      <p:sp>
        <p:nvSpPr>
          <p:cNvPr id="10" name="s5-line-10">
            <a:extLst>
              <a:ext uri="{FF2B5EF4-FFF2-40B4-BE49-F238E27FC236}">
                <a16:creationId xmlns:a16="http://schemas.microsoft.com/office/drawing/2014/main" id="{899A8295-5102-44D9-9653-3F3933D5FD24}"/>
              </a:ext>
            </a:extLst>
          </p:cNvPr>
          <p:cNvSpPr>
            <a:spLocks noGrp="1"/>
          </p:cNvSpPr>
          <p:nvPr/>
        </p:nvSpPr>
        <p:spPr>
          <a:xfrm>
            <a:off x="7823200" y="2428875"/>
            <a:ext cx="466725" cy="0"/>
          </a:xfrm>
          <a:prstGeom prst="line">
            <a:avLst/>
          </a:prstGeom>
          <a:noFill/>
          <a:ln w="19050">
            <a:solidFill>
              <a:srgbClr val="111111"/>
            </a:solidFill>
          </a:ln>
        </p:spPr>
        <p:txBody>
          <a:bodyPr/>
          <a:lstStyle/>
          <a:p>
            <a:endParaRPr lang="en-US"/>
          </a:p>
        </p:txBody>
      </p:sp>
      <p:sp>
        <p:nvSpPr>
          <p:cNvPr id="11" name="s5-text-11">
            <a:extLst>
              <a:ext uri="{FF2B5EF4-FFF2-40B4-BE49-F238E27FC236}">
                <a16:creationId xmlns:a16="http://schemas.microsoft.com/office/drawing/2014/main" id="{37DFB53D-EBEA-4415-9C72-80D9A9F0B829}"/>
              </a:ext>
            </a:extLst>
          </p:cNvPr>
          <p:cNvSpPr>
            <a:spLocks noGrp="1"/>
          </p:cNvSpPr>
          <p:nvPr/>
        </p:nvSpPr>
        <p:spPr>
          <a:xfrm>
            <a:off x="8147050" y="2171700"/>
            <a:ext cx="238125" cy="428625"/>
          </a:xfrm>
          <a:prstGeom prst="rect">
            <a:avLst/>
          </a:prstGeom>
          <a:noFill/>
          <a:ln w="0">
            <a:noFill/>
          </a:ln>
        </p:spPr>
        <p:txBody>
          <a:bodyPr wrap="square" lIns="0" tIns="0" rIns="0" bIns="0" anchor="t">
            <a:noAutofit/>
          </a:bodyPr>
          <a:lstStyle/>
          <a:p>
            <a:pPr algn="l">
              <a:defRPr sz="3000" b="1">
                <a:solidFill>
                  <a:srgbClr val="111111"/>
                </a:solidFill>
                <a:latin typeface="Aptos"/>
                <a:ea typeface="Aptos"/>
                <a:cs typeface="Aptos"/>
              </a:defRPr>
            </a:pPr>
            <a:r>
              <a:rPr sz="3000" b="1">
                <a:solidFill>
                  <a:srgbClr val="111111"/>
                </a:solidFill>
                <a:latin typeface="Aptos"/>
                <a:ea typeface="Aptos"/>
                <a:cs typeface="Aptos"/>
              </a:rPr>
              <a:t>›</a:t>
            </a:r>
          </a:p>
        </p:txBody>
      </p:sp>
      <p:sp>
        <p:nvSpPr>
          <p:cNvPr id="12" name="s5-text-12">
            <a:extLst>
              <a:ext uri="{FF2B5EF4-FFF2-40B4-BE49-F238E27FC236}">
                <a16:creationId xmlns:a16="http://schemas.microsoft.com/office/drawing/2014/main" id="{258DFED0-2B5C-4CAD-8651-E94E14705FC5}"/>
              </a:ext>
            </a:extLst>
          </p:cNvPr>
          <p:cNvSpPr>
            <a:spLocks noGrp="1"/>
          </p:cNvSpPr>
          <p:nvPr/>
        </p:nvSpPr>
        <p:spPr>
          <a:xfrm>
            <a:off x="8413750" y="2028825"/>
            <a:ext cx="3263900" cy="590550"/>
          </a:xfrm>
          <a:prstGeom prst="rect">
            <a:avLst/>
          </a:prstGeom>
          <a:noFill/>
          <a:ln w="0">
            <a:noFill/>
          </a:ln>
        </p:spPr>
        <p:txBody>
          <a:bodyPr wrap="square" lIns="0" tIns="0" rIns="0" bIns="0" anchor="t">
            <a:noAutofit/>
          </a:bodyPr>
          <a:lstStyle/>
          <a:p>
            <a:pPr algn="ctr">
              <a:defRPr sz="3675" b="1">
                <a:solidFill>
                  <a:srgbClr val="111111"/>
                </a:solidFill>
                <a:latin typeface="Aptos"/>
                <a:ea typeface="Aptos"/>
                <a:cs typeface="Aptos"/>
              </a:defRPr>
            </a:pPr>
            <a:r>
              <a:rPr sz="3675" b="1">
                <a:solidFill>
                  <a:srgbClr val="111111"/>
                </a:solidFill>
                <a:latin typeface="Aptos"/>
                <a:ea typeface="Aptos"/>
                <a:cs typeface="Aptos"/>
              </a:rPr>
              <a:t>97</a:t>
            </a:r>
          </a:p>
        </p:txBody>
      </p:sp>
      <p:sp>
        <p:nvSpPr>
          <p:cNvPr id="13" name="s5-text-13">
            <a:extLst>
              <a:ext uri="{FF2B5EF4-FFF2-40B4-BE49-F238E27FC236}">
                <a16:creationId xmlns:a16="http://schemas.microsoft.com/office/drawing/2014/main" id="{8BFC4C3A-8E55-40A5-9571-6F4995C6030E}"/>
              </a:ext>
            </a:extLst>
          </p:cNvPr>
          <p:cNvSpPr>
            <a:spLocks noGrp="1"/>
          </p:cNvSpPr>
          <p:nvPr/>
        </p:nvSpPr>
        <p:spPr>
          <a:xfrm>
            <a:off x="8413750" y="2667000"/>
            <a:ext cx="3263900" cy="381000"/>
          </a:xfrm>
          <a:prstGeom prst="rect">
            <a:avLst/>
          </a:prstGeom>
          <a:noFill/>
          <a:ln w="0">
            <a:noFill/>
          </a:ln>
        </p:spPr>
        <p:txBody>
          <a:bodyPr wrap="square" lIns="0" tIns="0" rIns="0" bIns="0" anchor="t">
            <a:noAutofit/>
          </a:bodyPr>
          <a:lstStyle/>
          <a:p>
            <a:pPr algn="ctr">
              <a:defRPr sz="2175" b="0">
                <a:solidFill>
                  <a:srgbClr val="111111"/>
                </a:solidFill>
                <a:latin typeface="Aptos"/>
                <a:ea typeface="Aptos"/>
                <a:cs typeface="Aptos"/>
              </a:defRPr>
            </a:pPr>
            <a:r>
              <a:rPr sz="2175" b="0">
                <a:solidFill>
                  <a:srgbClr val="111111"/>
                </a:solidFill>
                <a:latin typeface="Aptos"/>
                <a:ea typeface="Aptos"/>
                <a:cs typeface="Aptos"/>
              </a:rPr>
              <a:t>supported</a:t>
            </a:r>
          </a:p>
        </p:txBody>
      </p:sp>
      <p:sp>
        <p:nvSpPr>
          <p:cNvPr id="14" name="s5-text-14">
            <a:extLst>
              <a:ext uri="{FF2B5EF4-FFF2-40B4-BE49-F238E27FC236}">
                <a16:creationId xmlns:a16="http://schemas.microsoft.com/office/drawing/2014/main" id="{575F0C89-A6CE-48DE-8BF3-E8F260CE7415}"/>
              </a:ext>
            </a:extLst>
          </p:cNvPr>
          <p:cNvSpPr>
            <a:spLocks noGrp="1"/>
          </p:cNvSpPr>
          <p:nvPr/>
        </p:nvSpPr>
        <p:spPr>
          <a:xfrm>
            <a:off x="457200" y="3552825"/>
            <a:ext cx="11239500" cy="666750"/>
          </a:xfrm>
          <a:prstGeom prst="rect">
            <a:avLst/>
          </a:prstGeom>
          <a:noFill/>
          <a:ln w="0">
            <a:noFill/>
          </a:ln>
        </p:spPr>
        <p:txBody>
          <a:bodyPr wrap="square" lIns="0" tIns="0" rIns="0" bIns="0" anchor="t">
            <a:noAutofit/>
          </a:bodyPr>
          <a:lstStyle/>
          <a:p>
            <a:pPr algn="l">
              <a:defRPr sz="2250" b="0">
                <a:solidFill>
                  <a:srgbClr val="111111"/>
                </a:solidFill>
                <a:latin typeface="Aptos"/>
                <a:ea typeface="Aptos"/>
                <a:cs typeface="Aptos"/>
              </a:defRPr>
            </a:pPr>
            <a:r>
              <a:rPr sz="2250" b="0">
                <a:solidFill>
                  <a:srgbClr val="111111"/>
                </a:solidFill>
                <a:latin typeface="Aptos"/>
                <a:ea typeface="Aptos"/>
                <a:cs typeface="Aptos"/>
              </a:rPr>
              <a:t>a) Calculate the response rate and support among respondents.</a:t>
            </a:r>
          </a:p>
        </p:txBody>
      </p:sp>
      <p:sp>
        <p:nvSpPr>
          <p:cNvPr id="15" name="s5-text-15">
            <a:extLst>
              <a:ext uri="{FF2B5EF4-FFF2-40B4-BE49-F238E27FC236}">
                <a16:creationId xmlns:a16="http://schemas.microsoft.com/office/drawing/2014/main" id="{3CD82913-14D1-482C-BA74-92A03300509F}"/>
              </a:ext>
            </a:extLst>
          </p:cNvPr>
          <p:cNvSpPr>
            <a:spLocks noGrp="1"/>
          </p:cNvSpPr>
          <p:nvPr/>
        </p:nvSpPr>
        <p:spPr>
          <a:xfrm>
            <a:off x="457200" y="4371975"/>
            <a:ext cx="11239500" cy="91440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sz="2325" b="0">
                <a:solidFill>
                  <a:srgbClr val="111111"/>
                </a:solidFill>
                <a:latin typeface="Aptos"/>
                <a:ea typeface="Aptos"/>
                <a:cs typeface="Aptos"/>
              </a:rPr>
              <a:t>b) Find the lowest and highest </a:t>
            </a:r>
            <a:r>
              <a:rPr sz="2325" b="1" u="sng">
                <a:solidFill>
                  <a:srgbClr val="FF0000"/>
                </a:solidFill>
                <a:latin typeface="Aptos"/>
                <a:ea typeface="Aptos"/>
                <a:cs typeface="Aptos"/>
              </a:rPr>
              <a:t>possible</a:t>
            </a:r>
            <a:r>
              <a:rPr sz="2325" b="0">
                <a:solidFill>
                  <a:srgbClr val="111111"/>
                </a:solidFill>
                <a:latin typeface="Aptos"/>
                <a:ea typeface="Aptos"/>
                <a:cs typeface="Aptos"/>
              </a:rPr>
              <a:t> support percentages</a:t>
            </a:r>
          </a:p>
          <a:p>
            <a:pPr algn="l">
              <a:defRPr sz="2325" b="0">
                <a:solidFill>
                  <a:srgbClr val="111111"/>
                </a:solidFill>
                <a:latin typeface="Aptos"/>
                <a:ea typeface="Aptos"/>
                <a:cs typeface="Aptos"/>
              </a:defRPr>
            </a:pPr>
            <a:r>
              <a:rPr sz="2325" b="0">
                <a:solidFill>
                  <a:srgbClr val="111111"/>
                </a:solidFill>
                <a:latin typeface="Aptos"/>
                <a:ea typeface="Aptos"/>
                <a:cs typeface="Aptos"/>
              </a:rPr>
              <a:t>    among all 237 invitees.</a:t>
            </a:r>
          </a:p>
        </p:txBody>
      </p:sp>
      <p:sp>
        <p:nvSpPr>
          <p:cNvPr id="16" name="s5-rect-16">
            <a:extLst>
              <a:ext uri="{FF2B5EF4-FFF2-40B4-BE49-F238E27FC236}">
                <a16:creationId xmlns:a16="http://schemas.microsoft.com/office/drawing/2014/main" id="{4AAB406D-D43C-421C-8864-628825B154CC}"/>
              </a:ext>
            </a:extLst>
          </p:cNvPr>
          <p:cNvSpPr>
            <a:spLocks noGrp="1"/>
          </p:cNvSpPr>
          <p:nvPr/>
        </p:nvSpPr>
        <p:spPr>
          <a:xfrm>
            <a:off x="428625" y="5810250"/>
            <a:ext cx="2762250" cy="400050"/>
          </a:xfrm>
          <a:prstGeom prst="rect">
            <a:avLst/>
          </a:prstGeom>
          <a:solidFill>
            <a:srgbClr val="D6171D"/>
          </a:solidFill>
          <a:ln w="0">
            <a:noFill/>
          </a:ln>
        </p:spPr>
        <p:txBody>
          <a:bodyPr/>
          <a:lstStyle/>
          <a:p>
            <a:endParaRPr lang="en-US"/>
          </a:p>
        </p:txBody>
      </p:sp>
      <p:sp>
        <p:nvSpPr>
          <p:cNvPr id="17" name="s5-text-17">
            <a:extLst>
              <a:ext uri="{FF2B5EF4-FFF2-40B4-BE49-F238E27FC236}">
                <a16:creationId xmlns:a16="http://schemas.microsoft.com/office/drawing/2014/main" id="{72ADDA61-2E9E-4C45-BEBE-AD6585F3D889}"/>
              </a:ext>
            </a:extLst>
          </p:cNvPr>
          <p:cNvSpPr>
            <a:spLocks noGrp="1"/>
          </p:cNvSpPr>
          <p:nvPr/>
        </p:nvSpPr>
        <p:spPr>
          <a:xfrm>
            <a:off x="523875" y="5867400"/>
            <a:ext cx="2571750" cy="323850"/>
          </a:xfrm>
          <a:prstGeom prst="rect">
            <a:avLst/>
          </a:prstGeom>
          <a:noFill/>
          <a:ln w="0">
            <a:noFill/>
          </a:ln>
        </p:spPr>
        <p:txBody>
          <a:bodyPr wrap="square" lIns="0" tIns="0" rIns="0" bIns="0" anchor="t">
            <a:noAutofit/>
          </a:bodyPr>
          <a:lstStyle/>
          <a:p>
            <a:pPr algn="ctr">
              <a:defRPr sz="1800" b="1">
                <a:solidFill>
                  <a:srgbClr val="FFFFFF"/>
                </a:solidFill>
                <a:latin typeface="Aptos"/>
                <a:ea typeface="Aptos"/>
                <a:cs typeface="Aptos"/>
              </a:defRPr>
            </a:pPr>
            <a:r>
              <a:rPr sz="1800" b="1">
                <a:solidFill>
                  <a:srgbClr val="FFFFFF"/>
                </a:solidFill>
                <a:latin typeface="Aptos"/>
                <a:ea typeface="Aptos"/>
                <a:cs typeface="Aptos"/>
              </a:rPr>
              <a:t>DISCUSS   3 MIN</a:t>
            </a:r>
          </a:p>
        </p:txBody>
      </p:sp>
      <p:sp>
        <p:nvSpPr>
          <p:cNvPr id="18" name="s5-text-18">
            <a:extLst>
              <a:ext uri="{FF2B5EF4-FFF2-40B4-BE49-F238E27FC236}">
                <a16:creationId xmlns:a16="http://schemas.microsoft.com/office/drawing/2014/main" id="{1B896ED7-F2D6-4806-9A90-03EF3EC2F977}"/>
              </a:ext>
            </a:extLst>
          </p:cNvPr>
          <p:cNvSpPr>
            <a:spLocks noGrp="1"/>
          </p:cNvSpPr>
          <p:nvPr/>
        </p:nvSpPr>
        <p:spPr>
          <a:xfrm>
            <a:off x="3381375" y="5819775"/>
            <a:ext cx="8286750" cy="457200"/>
          </a:xfrm>
          <a:prstGeom prst="rect">
            <a:avLst/>
          </a:prstGeom>
          <a:noFill/>
          <a:ln w="0">
            <a:noFill/>
          </a:ln>
        </p:spPr>
        <p:txBody>
          <a:bodyPr wrap="square" lIns="0" tIns="0" rIns="0" bIns="0" anchor="t">
            <a:noAutofit/>
          </a:bodyPr>
          <a:lstStyle/>
          <a:p>
            <a:pPr algn="l">
              <a:defRPr sz="2100" b="1">
                <a:solidFill>
                  <a:srgbClr val="111111"/>
                </a:solidFill>
                <a:latin typeface="Aptos"/>
                <a:ea typeface="Aptos"/>
                <a:cs typeface="Aptos"/>
              </a:defRPr>
            </a:pPr>
            <a:r>
              <a:rPr sz="2100" b="1">
                <a:solidFill>
                  <a:srgbClr val="111111"/>
                </a:solidFill>
                <a:latin typeface="Aptos"/>
                <a:ea typeface="Aptos"/>
                <a:cs typeface="Aptos"/>
              </a:rPr>
              <a:t>Can we establish a majority among the invitees?</a:t>
            </a:r>
          </a:p>
        </p:txBody>
      </p:sp>
      <p:sp>
        <p:nvSpPr>
          <p:cNvPr id="19" name="s5-text-19">
            <a:extLst>
              <a:ext uri="{FF2B5EF4-FFF2-40B4-BE49-F238E27FC236}">
                <a16:creationId xmlns:a16="http://schemas.microsoft.com/office/drawing/2014/main" id="{2775ED8D-1D8A-45B6-B715-5668E6165DED}"/>
              </a:ext>
            </a:extLst>
          </p:cNvPr>
          <p:cNvSpPr>
            <a:spLocks noGrp="1"/>
          </p:cNvSpPr>
          <p:nvPr/>
        </p:nvSpPr>
        <p:spPr>
          <a:xfrm>
            <a:off x="457200" y="6477000"/>
            <a:ext cx="10763250" cy="238125"/>
          </a:xfrm>
          <a:prstGeom prst="rect">
            <a:avLst/>
          </a:prstGeom>
          <a:noFill/>
          <a:ln w="0">
            <a:noFill/>
          </a:ln>
        </p:spPr>
        <p:txBody>
          <a:bodyPr wrap="square" lIns="0" tIns="0" rIns="0" bIns="0" anchor="t">
            <a:noAutofit/>
          </a:bodyPr>
          <a:lstStyle/>
          <a:p>
            <a:endParaRPr/>
          </a:p>
        </p:txBody>
      </p:sp>
      <p:sp>
        <p:nvSpPr>
          <p:cNvPr id="20" name="s5-text-20">
            <a:extLst>
              <a:ext uri="{FF2B5EF4-FFF2-40B4-BE49-F238E27FC236}">
                <a16:creationId xmlns:a16="http://schemas.microsoft.com/office/drawing/2014/main" id="{24C45869-ADE2-4D05-B91A-52D497A4BF08}"/>
              </a:ext>
            </a:extLst>
          </p:cNvPr>
          <p:cNvSpPr>
            <a:spLocks noGrp="1"/>
          </p:cNvSpPr>
          <p:nvPr/>
        </p:nvSpPr>
        <p:spPr>
          <a:xfrm>
            <a:off x="11239500" y="6477000"/>
            <a:ext cx="476250" cy="238125"/>
          </a:xfrm>
          <a:prstGeom prst="rect">
            <a:avLst/>
          </a:prstGeom>
          <a:noFill/>
          <a:ln w="0">
            <a:noFill/>
          </a:ln>
        </p:spPr>
        <p:txBody>
          <a:bodyPr wrap="square" lIns="0" tIns="0" rIns="0" bIns="0" anchor="t">
            <a:noAutofit/>
          </a:bodyPr>
          <a:lstStyle/>
          <a:p>
            <a:pPr algn="r">
              <a:defRPr sz="1275" b="0">
                <a:solidFill>
                  <a:srgbClr val="666666"/>
                </a:solidFill>
                <a:latin typeface="Aptos"/>
                <a:ea typeface="Aptos"/>
                <a:cs typeface="Aptos"/>
              </a:defRPr>
            </a:pPr>
            <a:r>
              <a:rPr sz="1275" b="0">
                <a:solidFill>
                  <a:srgbClr val="666666"/>
                </a:solidFill>
                <a:latin typeface="Aptos"/>
                <a:ea typeface="Aptos"/>
                <a:cs typeface="Aptos"/>
              </a:rPr>
              <a:t>5</a:t>
            </a:r>
          </a:p>
        </p:txBody>
      </p:sp>
    </p:spTree>
    <p:extLst>
      <p:ext uri="{BB962C8B-B14F-4D97-AF65-F5344CB8AC3E}">
        <p14:creationId xmlns:p14="http://schemas.microsoft.com/office/powerpoint/2010/main" val="3281361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6-text-1">
            <a:extLst>
              <a:ext uri="{FF2B5EF4-FFF2-40B4-BE49-F238E27FC236}">
                <a16:creationId xmlns:a16="http://schemas.microsoft.com/office/drawing/2014/main" id="{BC11C707-0D2D-4802-AFF8-B0AC9444BC60}"/>
              </a:ext>
            </a:extLst>
          </p:cNvPr>
          <p:cNvSpPr>
            <a:spLocks noGrp="1"/>
          </p:cNvSpPr>
          <p:nvPr/>
        </p:nvSpPr>
        <p:spPr>
          <a:xfrm>
            <a:off x="430816" y="1038225"/>
            <a:ext cx="11293412" cy="78105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The majority claim remains uncertain</a:t>
            </a:r>
          </a:p>
        </p:txBody>
      </p:sp>
      <p:sp>
        <p:nvSpPr>
          <p:cNvPr id="2" name="s6-rect-2">
            <a:extLst>
              <a:ext uri="{FF2B5EF4-FFF2-40B4-BE49-F238E27FC236}">
                <a16:creationId xmlns:a16="http://schemas.microsoft.com/office/drawing/2014/main" id="{0251CEA0-8AD7-4560-8455-7AF4DDDA3348}"/>
              </a:ext>
            </a:extLst>
          </p:cNvPr>
          <p:cNvSpPr>
            <a:spLocks noGrp="1"/>
          </p:cNvSpPr>
          <p:nvPr/>
        </p:nvSpPr>
        <p:spPr>
          <a:xfrm>
            <a:off x="8734425" y="476250"/>
            <a:ext cx="3000375" cy="400050"/>
          </a:xfrm>
          <a:prstGeom prst="rect">
            <a:avLst/>
          </a:prstGeom>
          <a:solidFill>
            <a:srgbClr val="D6171D"/>
          </a:solidFill>
          <a:ln w="0">
            <a:noFill/>
          </a:ln>
        </p:spPr>
        <p:txBody>
          <a:bodyPr/>
          <a:lstStyle/>
          <a:p>
            <a:endParaRPr lang="en-US"/>
          </a:p>
        </p:txBody>
      </p:sp>
      <p:sp>
        <p:nvSpPr>
          <p:cNvPr id="3" name="s6-text-3">
            <a:extLst>
              <a:ext uri="{FF2B5EF4-FFF2-40B4-BE49-F238E27FC236}">
                <a16:creationId xmlns:a16="http://schemas.microsoft.com/office/drawing/2014/main" id="{DF67548D-E97A-493C-BB40-41557CBC26AD}"/>
              </a:ext>
            </a:extLst>
          </p:cNvPr>
          <p:cNvSpPr>
            <a:spLocks noGrp="1"/>
          </p:cNvSpPr>
          <p:nvPr/>
        </p:nvSpPr>
        <p:spPr>
          <a:xfrm>
            <a:off x="8829675" y="533400"/>
            <a:ext cx="2809875" cy="323850"/>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C1.2</a:t>
            </a:r>
          </a:p>
        </p:txBody>
      </p:sp>
      <p:sp>
        <p:nvSpPr>
          <p:cNvPr id="4" name="s6-text-4">
            <a:extLst>
              <a:ext uri="{FF2B5EF4-FFF2-40B4-BE49-F238E27FC236}">
                <a16:creationId xmlns:a16="http://schemas.microsoft.com/office/drawing/2014/main" id="{14A7D8C9-9093-4C35-9365-0D06FCF1BFAB}"/>
              </a:ext>
            </a:extLst>
          </p:cNvPr>
          <p:cNvSpPr>
            <a:spLocks noGrp="1"/>
          </p:cNvSpPr>
          <p:nvPr/>
        </p:nvSpPr>
        <p:spPr>
          <a:xfrm>
            <a:off x="457200" y="2009775"/>
            <a:ext cx="5238750" cy="400050"/>
          </a:xfrm>
          <a:prstGeom prst="rect">
            <a:avLst/>
          </a:prstGeom>
          <a:noFill/>
          <a:ln w="0">
            <a:noFill/>
          </a:ln>
        </p:spPr>
        <p:txBody>
          <a:bodyPr wrap="square" lIns="0" tIns="0" rIns="0" bIns="0" anchor="t">
            <a:noAutofit/>
          </a:bodyPr>
          <a:lstStyle/>
          <a:p>
            <a:pPr algn="l">
              <a:defRPr sz="2175" b="1">
                <a:solidFill>
                  <a:srgbClr val="111111"/>
                </a:solidFill>
                <a:latin typeface="Aptos"/>
                <a:ea typeface="Aptos"/>
                <a:cs typeface="Aptos"/>
              </a:defRPr>
            </a:pPr>
            <a:r>
              <a:rPr sz="2175" b="1">
                <a:solidFill>
                  <a:srgbClr val="111111"/>
                </a:solidFill>
                <a:latin typeface="Aptos"/>
                <a:ea typeface="Aptos"/>
                <a:cs typeface="Aptos"/>
              </a:rPr>
              <a:t>Response rate</a:t>
            </a:r>
          </a:p>
        </p:txBody>
      </p:sp>
      <p:sp>
        <p:nvSpPr>
          <p:cNvPr id="5" name="s6-text-5">
            <a:extLst>
              <a:ext uri="{FF2B5EF4-FFF2-40B4-BE49-F238E27FC236}">
                <a16:creationId xmlns:a16="http://schemas.microsoft.com/office/drawing/2014/main" id="{63239FB0-5F75-4CAC-B252-830E1EBA4B65}"/>
              </a:ext>
            </a:extLst>
          </p:cNvPr>
          <p:cNvSpPr>
            <a:spLocks noGrp="1"/>
          </p:cNvSpPr>
          <p:nvPr/>
        </p:nvSpPr>
        <p:spPr>
          <a:xfrm>
            <a:off x="6477000" y="2009775"/>
            <a:ext cx="5238750" cy="400050"/>
          </a:xfrm>
          <a:prstGeom prst="rect">
            <a:avLst/>
          </a:prstGeom>
          <a:noFill/>
          <a:ln w="0">
            <a:noFill/>
          </a:ln>
        </p:spPr>
        <p:txBody>
          <a:bodyPr wrap="square" lIns="0" tIns="0" rIns="0" bIns="0" anchor="t">
            <a:noAutofit/>
          </a:bodyPr>
          <a:lstStyle/>
          <a:p>
            <a:pPr algn="l">
              <a:defRPr sz="2175" b="1">
                <a:solidFill>
                  <a:srgbClr val="111111"/>
                </a:solidFill>
                <a:latin typeface="Aptos"/>
                <a:ea typeface="Aptos"/>
                <a:cs typeface="Aptos"/>
              </a:defRPr>
            </a:pPr>
            <a:r>
              <a:rPr sz="2175" b="1">
                <a:solidFill>
                  <a:srgbClr val="111111"/>
                </a:solidFill>
                <a:latin typeface="Aptos"/>
                <a:ea typeface="Aptos"/>
                <a:cs typeface="Aptos"/>
              </a:rPr>
              <a:t>Support among respondents</a:t>
            </a:r>
          </a:p>
        </p:txBody>
      </p:sp>
      <p:sp>
        <p:nvSpPr>
          <p:cNvPr id="6" name="s6-text-6">
            <a:extLst>
              <a:ext uri="{FF2B5EF4-FFF2-40B4-BE49-F238E27FC236}">
                <a16:creationId xmlns:a16="http://schemas.microsoft.com/office/drawing/2014/main" id="{56C8429C-B88A-4832-AC43-6297D1CD22AE}"/>
              </a:ext>
            </a:extLst>
          </p:cNvPr>
          <p:cNvSpPr>
            <a:spLocks noGrp="1"/>
          </p:cNvSpPr>
          <p:nvPr/>
        </p:nvSpPr>
        <p:spPr>
          <a:xfrm>
            <a:off x="457200" y="2476500"/>
            <a:ext cx="1428750" cy="371475"/>
          </a:xfrm>
          <a:prstGeom prst="rect">
            <a:avLst/>
          </a:prstGeom>
          <a:noFill/>
          <a:ln w="0">
            <a:noFill/>
          </a:ln>
        </p:spPr>
        <p:txBody>
          <a:bodyPr wrap="square" lIns="0" tIns="0" rIns="0" bIns="0" anchor="t">
            <a:noAutofit/>
          </a:bodyPr>
          <a:lstStyle/>
          <a:p>
            <a:pPr algn="ctr">
              <a:defRPr sz="2475" b="0">
                <a:solidFill>
                  <a:srgbClr val="111111"/>
                </a:solidFill>
                <a:latin typeface="Aptos"/>
                <a:ea typeface="Aptos"/>
                <a:cs typeface="Aptos"/>
              </a:defRPr>
            </a:pPr>
            <a:r>
              <a:rPr sz="2475" b="0">
                <a:solidFill>
                  <a:srgbClr val="111111"/>
                </a:solidFill>
                <a:latin typeface="Aptos"/>
                <a:ea typeface="Aptos"/>
                <a:cs typeface="Aptos"/>
              </a:rPr>
              <a:t>143</a:t>
            </a:r>
          </a:p>
        </p:txBody>
      </p:sp>
      <p:sp>
        <p:nvSpPr>
          <p:cNvPr id="7" name="s6-line-7">
            <a:extLst>
              <a:ext uri="{FF2B5EF4-FFF2-40B4-BE49-F238E27FC236}">
                <a16:creationId xmlns:a16="http://schemas.microsoft.com/office/drawing/2014/main" id="{3C53AB3B-0E3C-4376-B6D1-25C22A2E1A2D}"/>
              </a:ext>
            </a:extLst>
          </p:cNvPr>
          <p:cNvSpPr>
            <a:spLocks noGrp="1"/>
          </p:cNvSpPr>
          <p:nvPr/>
        </p:nvSpPr>
        <p:spPr>
          <a:xfrm>
            <a:off x="457200" y="2886075"/>
            <a:ext cx="1428750" cy="0"/>
          </a:xfrm>
          <a:prstGeom prst="line">
            <a:avLst/>
          </a:prstGeom>
          <a:noFill/>
          <a:ln w="19050">
            <a:solidFill>
              <a:srgbClr val="111111"/>
            </a:solidFill>
          </a:ln>
        </p:spPr>
        <p:txBody>
          <a:bodyPr/>
          <a:lstStyle/>
          <a:p>
            <a:endParaRPr lang="en-US"/>
          </a:p>
        </p:txBody>
      </p:sp>
      <p:sp>
        <p:nvSpPr>
          <p:cNvPr id="8" name="s6-text-8">
            <a:extLst>
              <a:ext uri="{FF2B5EF4-FFF2-40B4-BE49-F238E27FC236}">
                <a16:creationId xmlns:a16="http://schemas.microsoft.com/office/drawing/2014/main" id="{EE6B788D-CD61-4977-B790-022A89DE15FD}"/>
              </a:ext>
            </a:extLst>
          </p:cNvPr>
          <p:cNvSpPr>
            <a:spLocks noGrp="1"/>
          </p:cNvSpPr>
          <p:nvPr/>
        </p:nvSpPr>
        <p:spPr>
          <a:xfrm>
            <a:off x="457200" y="2981325"/>
            <a:ext cx="1428750" cy="390525"/>
          </a:xfrm>
          <a:prstGeom prst="rect">
            <a:avLst/>
          </a:prstGeom>
          <a:noFill/>
          <a:ln w="0">
            <a:noFill/>
          </a:ln>
        </p:spPr>
        <p:txBody>
          <a:bodyPr wrap="square" lIns="0" tIns="0" rIns="0" bIns="0" anchor="t">
            <a:noAutofit/>
          </a:bodyPr>
          <a:lstStyle/>
          <a:p>
            <a:pPr algn="ctr">
              <a:defRPr sz="2475" b="0">
                <a:solidFill>
                  <a:srgbClr val="111111"/>
                </a:solidFill>
                <a:latin typeface="Aptos"/>
                <a:ea typeface="Aptos"/>
                <a:cs typeface="Aptos"/>
              </a:defRPr>
            </a:pPr>
            <a:r>
              <a:rPr sz="2475" b="0">
                <a:solidFill>
                  <a:srgbClr val="111111"/>
                </a:solidFill>
                <a:latin typeface="Aptos"/>
                <a:ea typeface="Aptos"/>
                <a:cs typeface="Aptos"/>
              </a:rPr>
              <a:t>237</a:t>
            </a:r>
          </a:p>
        </p:txBody>
      </p:sp>
      <p:sp>
        <p:nvSpPr>
          <p:cNvPr id="9" name="s6-text-9">
            <a:extLst>
              <a:ext uri="{FF2B5EF4-FFF2-40B4-BE49-F238E27FC236}">
                <a16:creationId xmlns:a16="http://schemas.microsoft.com/office/drawing/2014/main" id="{FA5F0323-1F0B-47BC-BFD0-BCCC7000875D}"/>
              </a:ext>
            </a:extLst>
          </p:cNvPr>
          <p:cNvSpPr>
            <a:spLocks noGrp="1"/>
          </p:cNvSpPr>
          <p:nvPr/>
        </p:nvSpPr>
        <p:spPr>
          <a:xfrm>
            <a:off x="2114550" y="2714625"/>
            <a:ext cx="5905500" cy="590550"/>
          </a:xfrm>
          <a:prstGeom prst="rect">
            <a:avLst/>
          </a:prstGeom>
          <a:noFill/>
          <a:ln w="0">
            <a:noFill/>
          </a:ln>
        </p:spPr>
        <p:txBody>
          <a:bodyPr wrap="square" lIns="0" tIns="0" rIns="0" bIns="0" anchor="t">
            <a:noAutofit/>
          </a:bodyPr>
          <a:lstStyle/>
          <a:p>
            <a:pPr algn="l">
              <a:defRPr sz="2475" b="1">
                <a:solidFill>
                  <a:srgbClr val="111111"/>
                </a:solidFill>
                <a:latin typeface="Aptos"/>
                <a:ea typeface="Aptos"/>
                <a:cs typeface="Aptos"/>
              </a:defRPr>
            </a:pPr>
            <a:r>
              <a:rPr sz="2475" b="1">
                <a:solidFill>
                  <a:srgbClr val="111111"/>
                </a:solidFill>
                <a:latin typeface="Aptos"/>
                <a:ea typeface="Aptos"/>
                <a:cs typeface="Aptos"/>
              </a:rPr>
              <a:t>× 100 = 60.34%</a:t>
            </a:r>
          </a:p>
        </p:txBody>
      </p:sp>
      <p:sp>
        <p:nvSpPr>
          <p:cNvPr id="10" name="s6-text-10">
            <a:extLst>
              <a:ext uri="{FF2B5EF4-FFF2-40B4-BE49-F238E27FC236}">
                <a16:creationId xmlns:a16="http://schemas.microsoft.com/office/drawing/2014/main" id="{AC815E34-C2F8-43B1-A882-4B19EC2422DF}"/>
              </a:ext>
            </a:extLst>
          </p:cNvPr>
          <p:cNvSpPr>
            <a:spLocks noGrp="1"/>
          </p:cNvSpPr>
          <p:nvPr/>
        </p:nvSpPr>
        <p:spPr>
          <a:xfrm>
            <a:off x="6477000" y="2476500"/>
            <a:ext cx="1428750" cy="371475"/>
          </a:xfrm>
          <a:prstGeom prst="rect">
            <a:avLst/>
          </a:prstGeom>
          <a:noFill/>
          <a:ln w="0">
            <a:noFill/>
          </a:ln>
        </p:spPr>
        <p:txBody>
          <a:bodyPr wrap="square" lIns="0" tIns="0" rIns="0" bIns="0" anchor="t">
            <a:noAutofit/>
          </a:bodyPr>
          <a:lstStyle/>
          <a:p>
            <a:pPr algn="ctr">
              <a:defRPr sz="2475" b="0">
                <a:solidFill>
                  <a:srgbClr val="111111"/>
                </a:solidFill>
                <a:latin typeface="Aptos"/>
                <a:ea typeface="Aptos"/>
                <a:cs typeface="Aptos"/>
              </a:defRPr>
            </a:pPr>
            <a:r>
              <a:rPr sz="2475" b="0">
                <a:solidFill>
                  <a:srgbClr val="111111"/>
                </a:solidFill>
                <a:latin typeface="Aptos"/>
                <a:ea typeface="Aptos"/>
                <a:cs typeface="Aptos"/>
              </a:rPr>
              <a:t>97</a:t>
            </a:r>
          </a:p>
        </p:txBody>
      </p:sp>
      <p:sp>
        <p:nvSpPr>
          <p:cNvPr id="11" name="s6-line-11">
            <a:extLst>
              <a:ext uri="{FF2B5EF4-FFF2-40B4-BE49-F238E27FC236}">
                <a16:creationId xmlns:a16="http://schemas.microsoft.com/office/drawing/2014/main" id="{A2DC35A4-3C83-4E50-BBE3-D5B11C22E62F}"/>
              </a:ext>
            </a:extLst>
          </p:cNvPr>
          <p:cNvSpPr>
            <a:spLocks noGrp="1"/>
          </p:cNvSpPr>
          <p:nvPr/>
        </p:nvSpPr>
        <p:spPr>
          <a:xfrm>
            <a:off x="6477000" y="2886075"/>
            <a:ext cx="1428750" cy="0"/>
          </a:xfrm>
          <a:prstGeom prst="line">
            <a:avLst/>
          </a:prstGeom>
          <a:noFill/>
          <a:ln w="19050">
            <a:solidFill>
              <a:srgbClr val="111111"/>
            </a:solidFill>
          </a:ln>
        </p:spPr>
        <p:txBody>
          <a:bodyPr/>
          <a:lstStyle/>
          <a:p>
            <a:endParaRPr lang="en-US"/>
          </a:p>
        </p:txBody>
      </p:sp>
      <p:sp>
        <p:nvSpPr>
          <p:cNvPr id="12" name="s6-text-12">
            <a:extLst>
              <a:ext uri="{FF2B5EF4-FFF2-40B4-BE49-F238E27FC236}">
                <a16:creationId xmlns:a16="http://schemas.microsoft.com/office/drawing/2014/main" id="{AE4903D1-B53A-4C93-9F96-27777593EEB6}"/>
              </a:ext>
            </a:extLst>
          </p:cNvPr>
          <p:cNvSpPr>
            <a:spLocks noGrp="1"/>
          </p:cNvSpPr>
          <p:nvPr/>
        </p:nvSpPr>
        <p:spPr>
          <a:xfrm>
            <a:off x="6477000" y="2981325"/>
            <a:ext cx="1428750" cy="390525"/>
          </a:xfrm>
          <a:prstGeom prst="rect">
            <a:avLst/>
          </a:prstGeom>
          <a:noFill/>
          <a:ln w="0">
            <a:noFill/>
          </a:ln>
        </p:spPr>
        <p:txBody>
          <a:bodyPr wrap="square" lIns="0" tIns="0" rIns="0" bIns="0" anchor="t">
            <a:noAutofit/>
          </a:bodyPr>
          <a:lstStyle/>
          <a:p>
            <a:pPr algn="ctr">
              <a:defRPr sz="2475" b="0">
                <a:solidFill>
                  <a:srgbClr val="111111"/>
                </a:solidFill>
                <a:latin typeface="Aptos"/>
                <a:ea typeface="Aptos"/>
                <a:cs typeface="Aptos"/>
              </a:defRPr>
            </a:pPr>
            <a:r>
              <a:rPr sz="2475" b="0">
                <a:solidFill>
                  <a:srgbClr val="111111"/>
                </a:solidFill>
                <a:latin typeface="Aptos"/>
                <a:ea typeface="Aptos"/>
                <a:cs typeface="Aptos"/>
              </a:rPr>
              <a:t>143</a:t>
            </a:r>
          </a:p>
        </p:txBody>
      </p:sp>
      <p:sp>
        <p:nvSpPr>
          <p:cNvPr id="13" name="s6-text-13">
            <a:extLst>
              <a:ext uri="{FF2B5EF4-FFF2-40B4-BE49-F238E27FC236}">
                <a16:creationId xmlns:a16="http://schemas.microsoft.com/office/drawing/2014/main" id="{D654BE8C-BC15-4F3C-B00E-F91C893AC76C}"/>
              </a:ext>
            </a:extLst>
          </p:cNvPr>
          <p:cNvSpPr>
            <a:spLocks noGrp="1"/>
          </p:cNvSpPr>
          <p:nvPr/>
        </p:nvSpPr>
        <p:spPr>
          <a:xfrm>
            <a:off x="8134350" y="2714625"/>
            <a:ext cx="3600450" cy="590550"/>
          </a:xfrm>
          <a:prstGeom prst="rect">
            <a:avLst/>
          </a:prstGeom>
          <a:noFill/>
          <a:ln w="0">
            <a:noFill/>
          </a:ln>
        </p:spPr>
        <p:txBody>
          <a:bodyPr wrap="square" lIns="0" tIns="0" rIns="0" bIns="0" anchor="t">
            <a:noAutofit/>
          </a:bodyPr>
          <a:lstStyle/>
          <a:p>
            <a:pPr algn="l">
              <a:defRPr sz="2475" b="1">
                <a:solidFill>
                  <a:srgbClr val="111111"/>
                </a:solidFill>
                <a:latin typeface="Aptos"/>
                <a:ea typeface="Aptos"/>
                <a:cs typeface="Aptos"/>
              </a:defRPr>
            </a:pPr>
            <a:r>
              <a:rPr sz="2475" b="1">
                <a:solidFill>
                  <a:srgbClr val="111111"/>
                </a:solidFill>
                <a:latin typeface="Aptos"/>
                <a:ea typeface="Aptos"/>
                <a:cs typeface="Aptos"/>
              </a:rPr>
              <a:t>× 100 = 67.83%</a:t>
            </a:r>
          </a:p>
        </p:txBody>
      </p:sp>
      <p:sp>
        <p:nvSpPr>
          <p:cNvPr id="14" name="s6-text-14">
            <a:extLst>
              <a:ext uri="{FF2B5EF4-FFF2-40B4-BE49-F238E27FC236}">
                <a16:creationId xmlns:a16="http://schemas.microsoft.com/office/drawing/2014/main" id="{D17C6C29-ADBE-456C-A253-8A91B9F568EC}"/>
              </a:ext>
            </a:extLst>
          </p:cNvPr>
          <p:cNvSpPr>
            <a:spLocks noGrp="1"/>
          </p:cNvSpPr>
          <p:nvPr/>
        </p:nvSpPr>
        <p:spPr>
          <a:xfrm>
            <a:off x="457200" y="3819525"/>
            <a:ext cx="11239500" cy="457200"/>
          </a:xfrm>
          <a:prstGeom prst="rect">
            <a:avLst/>
          </a:prstGeom>
          <a:noFill/>
          <a:ln w="0">
            <a:noFill/>
          </a:ln>
        </p:spPr>
        <p:txBody>
          <a:bodyPr wrap="square" lIns="0" tIns="0" rIns="0" bIns="0" anchor="t">
            <a:noAutofit/>
          </a:bodyPr>
          <a:lstStyle/>
          <a:p>
            <a:pPr algn="l">
              <a:defRPr sz="2400" b="1">
                <a:solidFill>
                  <a:srgbClr val="111111"/>
                </a:solidFill>
                <a:latin typeface="Aptos"/>
                <a:ea typeface="Aptos"/>
                <a:cs typeface="Aptos"/>
              </a:defRPr>
            </a:pPr>
            <a:r>
              <a:rPr sz="2400" b="1">
                <a:solidFill>
                  <a:srgbClr val="111111"/>
                </a:solidFill>
                <a:latin typeface="Aptos"/>
                <a:ea typeface="Aptos"/>
                <a:cs typeface="Aptos"/>
              </a:rPr>
              <a:t>Possible support among all 237 invitees</a:t>
            </a:r>
          </a:p>
        </p:txBody>
      </p:sp>
      <p:graphicFrame>
        <p:nvGraphicFramePr>
          <p:cNvPr id="33" name="Table 32"/>
          <p:cNvGraphicFramePr/>
          <p:nvPr/>
        </p:nvGraphicFramePr>
        <p:xfrm>
          <a:off x="457200" y="4438650"/>
          <a:ext cx="11239500" cy="1343025"/>
        </p:xfrm>
        <a:graphic>
          <a:graphicData uri="http://schemas.openxmlformats.org/drawingml/2006/table">
            <a:tbl>
              <a:tblPr firstRow="1"/>
              <a:tblGrid>
                <a:gridCol w="6191250">
                  <a:extLst>
                    <a:ext uri="{9D8B030D-6E8A-4147-A177-3AD203B41FA5}">
                      <a16:colId xmlns:a16="http://schemas.microsoft.com/office/drawing/2014/main" val="20000"/>
                    </a:ext>
                  </a:extLst>
                </a:gridCol>
                <a:gridCol w="2524125">
                  <a:extLst>
                    <a:ext uri="{9D8B030D-6E8A-4147-A177-3AD203B41FA5}">
                      <a16:colId xmlns:a16="http://schemas.microsoft.com/office/drawing/2014/main" val="20001"/>
                    </a:ext>
                  </a:extLst>
                </a:gridCol>
                <a:gridCol w="2524125">
                  <a:extLst>
                    <a:ext uri="{9D8B030D-6E8A-4147-A177-3AD203B41FA5}">
                      <a16:colId xmlns:a16="http://schemas.microsoft.com/office/drawing/2014/main" val="20002"/>
                    </a:ext>
                  </a:extLst>
                </a:gridCol>
              </a:tblGrid>
              <a:tr h="447675">
                <a:tc>
                  <a:txBody>
                    <a:bodyPr/>
                    <a:lstStyle/>
                    <a:p>
                      <a:pPr algn="l"/>
                      <a:r>
                        <a:rPr sz="2025" b="1">
                          <a:solidFill>
                            <a:srgbClr val="FFFFFF"/>
                          </a:solidFill>
                          <a:latin typeface="Aptos"/>
                          <a:ea typeface="Aptos"/>
                          <a:cs typeface="Aptos"/>
                        </a:rPr>
                        <a:t>The 94 missing replies</a:t>
                      </a:r>
                    </a:p>
                  </a:txBody>
                  <a:tcPr marL="95250" marR="95250" marT="19050" marB="19050" anchor="ctr">
                    <a:solidFill>
                      <a:srgbClr val="D6171D"/>
                    </a:solidFill>
                  </a:tcPr>
                </a:tc>
                <a:tc>
                  <a:txBody>
                    <a:bodyPr/>
                    <a:lstStyle/>
                    <a:p>
                      <a:pPr algn="ctr"/>
                      <a:r>
                        <a:rPr sz="2025" b="1">
                          <a:solidFill>
                            <a:srgbClr val="FFFFFF"/>
                          </a:solidFill>
                          <a:latin typeface="Aptos"/>
                          <a:ea typeface="Aptos"/>
                          <a:cs typeface="Aptos"/>
                        </a:rPr>
                        <a:t>Supporters</a:t>
                      </a:r>
                    </a:p>
                  </a:txBody>
                  <a:tcPr marL="95250" marR="95250" marT="19050" marB="19050" anchor="ctr">
                    <a:solidFill>
                      <a:srgbClr val="D6171D"/>
                    </a:solidFill>
                  </a:tcPr>
                </a:tc>
                <a:tc>
                  <a:txBody>
                    <a:bodyPr/>
                    <a:lstStyle/>
                    <a:p>
                      <a:pPr algn="ctr"/>
                      <a:r>
                        <a:rPr sz="2025" b="1">
                          <a:solidFill>
                            <a:srgbClr val="FFFFFF"/>
                          </a:solidFill>
                          <a:latin typeface="Aptos"/>
                          <a:ea typeface="Aptos"/>
                          <a:cs typeface="Aptos"/>
                        </a:rPr>
                        <a:t>Support</a:t>
                      </a:r>
                    </a:p>
                  </a:txBody>
                  <a:tcPr marL="95250" marR="95250" marT="19050" marB="19050" anchor="ctr">
                    <a:solidFill>
                      <a:srgbClr val="D6171D"/>
                    </a:solidFill>
                  </a:tcPr>
                </a:tc>
                <a:extLst>
                  <a:ext uri="{0D108BD9-81ED-4DB2-BD59-A6C34878D82A}">
                    <a16:rowId xmlns:a16="http://schemas.microsoft.com/office/drawing/2014/main" val="10000"/>
                  </a:ext>
                </a:extLst>
              </a:tr>
              <a:tr h="447675">
                <a:tc>
                  <a:txBody>
                    <a:bodyPr/>
                    <a:lstStyle/>
                    <a:p>
                      <a:pPr algn="l"/>
                      <a:r>
                        <a:rPr sz="2025" b="0">
                          <a:solidFill>
                            <a:srgbClr val="111111"/>
                          </a:solidFill>
                          <a:latin typeface="Aptos"/>
                          <a:ea typeface="Aptos"/>
                          <a:cs typeface="Aptos"/>
                        </a:rPr>
                        <a:t>None support the option</a:t>
                      </a:r>
                    </a:p>
                  </a:txBody>
                  <a:tcPr marL="95250" marR="95250" marT="19050" marB="19050" anchor="ctr">
                    <a:solidFill>
                      <a:srgbClr val="FFFFFF"/>
                    </a:solidFill>
                  </a:tcPr>
                </a:tc>
                <a:tc>
                  <a:txBody>
                    <a:bodyPr/>
                    <a:lstStyle/>
                    <a:p>
                      <a:pPr algn="ctr"/>
                      <a:r>
                        <a:rPr sz="2025" b="0">
                          <a:solidFill>
                            <a:srgbClr val="111111"/>
                          </a:solidFill>
                          <a:latin typeface="Aptos"/>
                          <a:ea typeface="Aptos"/>
                          <a:cs typeface="Aptos"/>
                        </a:rPr>
                        <a:t>97 of 237</a:t>
                      </a:r>
                    </a:p>
                  </a:txBody>
                  <a:tcPr marL="95250" marR="95250" marT="19050" marB="19050" anchor="ctr">
                    <a:solidFill>
                      <a:srgbClr val="FFFFFF"/>
                    </a:solidFill>
                  </a:tcPr>
                </a:tc>
                <a:tc>
                  <a:txBody>
                    <a:bodyPr/>
                    <a:lstStyle/>
                    <a:p>
                      <a:pPr algn="ctr"/>
                      <a:r>
                        <a:rPr sz="2025" b="0">
                          <a:solidFill>
                            <a:srgbClr val="111111"/>
                          </a:solidFill>
                          <a:latin typeface="Aptos"/>
                          <a:ea typeface="Aptos"/>
                          <a:cs typeface="Aptos"/>
                        </a:rPr>
                        <a:t>40.93%</a:t>
                      </a:r>
                    </a:p>
                  </a:txBody>
                  <a:tcPr marL="95250" marR="95250" marT="19050" marB="19050" anchor="ctr">
                    <a:solidFill>
                      <a:srgbClr val="FFFFFF"/>
                    </a:solidFill>
                  </a:tcPr>
                </a:tc>
                <a:extLst>
                  <a:ext uri="{0D108BD9-81ED-4DB2-BD59-A6C34878D82A}">
                    <a16:rowId xmlns:a16="http://schemas.microsoft.com/office/drawing/2014/main" val="10001"/>
                  </a:ext>
                </a:extLst>
              </a:tr>
              <a:tr h="447675">
                <a:tc>
                  <a:txBody>
                    <a:bodyPr/>
                    <a:lstStyle/>
                    <a:p>
                      <a:pPr algn="l"/>
                      <a:r>
                        <a:rPr sz="2025" b="0">
                          <a:solidFill>
                            <a:srgbClr val="111111"/>
                          </a:solidFill>
                          <a:latin typeface="Aptos"/>
                          <a:ea typeface="Aptos"/>
                          <a:cs typeface="Aptos"/>
                        </a:rPr>
                        <a:t>All support the option</a:t>
                      </a:r>
                    </a:p>
                  </a:txBody>
                  <a:tcPr marL="95250" marR="95250" marT="19050" marB="19050" anchor="ctr">
                    <a:solidFill>
                      <a:srgbClr val="EFF8FF"/>
                    </a:solidFill>
                  </a:tcPr>
                </a:tc>
                <a:tc>
                  <a:txBody>
                    <a:bodyPr/>
                    <a:lstStyle/>
                    <a:p>
                      <a:pPr algn="ctr"/>
                      <a:r>
                        <a:rPr sz="2025" b="0">
                          <a:solidFill>
                            <a:srgbClr val="111111"/>
                          </a:solidFill>
                          <a:latin typeface="Aptos"/>
                          <a:ea typeface="Aptos"/>
                          <a:cs typeface="Aptos"/>
                        </a:rPr>
                        <a:t>191 of 237</a:t>
                      </a:r>
                    </a:p>
                  </a:txBody>
                  <a:tcPr marL="95250" marR="95250" marT="19050" marB="19050" anchor="ctr">
                    <a:solidFill>
                      <a:srgbClr val="EFF8FF"/>
                    </a:solidFill>
                  </a:tcPr>
                </a:tc>
                <a:tc>
                  <a:txBody>
                    <a:bodyPr/>
                    <a:lstStyle/>
                    <a:p>
                      <a:pPr algn="ctr"/>
                      <a:r>
                        <a:rPr sz="2025" b="0">
                          <a:solidFill>
                            <a:srgbClr val="111111"/>
                          </a:solidFill>
                          <a:latin typeface="Aptos"/>
                          <a:ea typeface="Aptos"/>
                          <a:cs typeface="Aptos"/>
                        </a:rPr>
                        <a:t>80.59%</a:t>
                      </a:r>
                    </a:p>
                  </a:txBody>
                  <a:tcPr marL="95250" marR="95250" marT="19050" marB="19050" anchor="ctr">
                    <a:solidFill>
                      <a:srgbClr val="EFF8FF"/>
                    </a:solidFill>
                  </a:tcPr>
                </a:tc>
                <a:extLst>
                  <a:ext uri="{0D108BD9-81ED-4DB2-BD59-A6C34878D82A}">
                    <a16:rowId xmlns:a16="http://schemas.microsoft.com/office/drawing/2014/main" val="10002"/>
                  </a:ext>
                </a:extLst>
              </a:tr>
            </a:tbl>
          </a:graphicData>
        </a:graphic>
      </p:graphicFrame>
      <p:sp>
        <p:nvSpPr>
          <p:cNvPr id="16" name="s6-text-15">
            <a:extLst>
              <a:ext uri="{FF2B5EF4-FFF2-40B4-BE49-F238E27FC236}">
                <a16:creationId xmlns:a16="http://schemas.microsoft.com/office/drawing/2014/main" id="{DC46838A-A2CA-4777-BF28-4AC853E6D632}"/>
              </a:ext>
            </a:extLst>
          </p:cNvPr>
          <p:cNvSpPr>
            <a:spLocks noGrp="1"/>
          </p:cNvSpPr>
          <p:nvPr/>
        </p:nvSpPr>
        <p:spPr>
          <a:xfrm>
            <a:off x="457200" y="5934075"/>
            <a:ext cx="11239500" cy="361950"/>
          </a:xfrm>
          <a:prstGeom prst="rect">
            <a:avLst/>
          </a:prstGeom>
          <a:noFill/>
          <a:ln w="0">
            <a:noFill/>
          </a:ln>
        </p:spPr>
        <p:txBody>
          <a:bodyPr wrap="square" lIns="0" tIns="0" rIns="0" bIns="0" anchor="t">
            <a:noAutofit/>
          </a:bodyPr>
          <a:lstStyle/>
          <a:p>
            <a:pPr algn="l">
              <a:defRPr sz="2025" b="1">
                <a:solidFill>
                  <a:srgbClr val="111111"/>
                </a:solidFill>
                <a:latin typeface="Aptos"/>
                <a:ea typeface="Aptos"/>
                <a:cs typeface="Aptos"/>
              </a:defRPr>
            </a:pPr>
            <a:r>
              <a:rPr sz="2025" b="1">
                <a:solidFill>
                  <a:srgbClr val="111111"/>
                </a:solidFill>
                <a:latin typeface="Aptos"/>
                <a:ea typeface="Aptos"/>
                <a:cs typeface="Aptos"/>
              </a:rPr>
              <a:t>The unknown replies could change whether a majority supports it.</a:t>
            </a:r>
          </a:p>
        </p:txBody>
      </p:sp>
      <p:sp>
        <p:nvSpPr>
          <p:cNvPr id="17" name="s6-text-16">
            <a:extLst>
              <a:ext uri="{FF2B5EF4-FFF2-40B4-BE49-F238E27FC236}">
                <a16:creationId xmlns:a16="http://schemas.microsoft.com/office/drawing/2014/main" id="{F81BF5DE-7C8A-4C9D-BC31-695917C3D548}"/>
              </a:ext>
            </a:extLst>
          </p:cNvPr>
          <p:cNvSpPr>
            <a:spLocks noGrp="1"/>
          </p:cNvSpPr>
          <p:nvPr/>
        </p:nvSpPr>
        <p:spPr>
          <a:xfrm>
            <a:off x="457200" y="6477000"/>
            <a:ext cx="10763250" cy="238125"/>
          </a:xfrm>
          <a:prstGeom prst="rect">
            <a:avLst/>
          </a:prstGeom>
          <a:noFill/>
          <a:ln w="0">
            <a:noFill/>
          </a:ln>
        </p:spPr>
        <p:txBody>
          <a:bodyPr wrap="square" lIns="0" tIns="0" rIns="0" bIns="0" anchor="t">
            <a:noAutofit/>
          </a:bodyPr>
          <a:lstStyle/>
          <a:p>
            <a:endParaRPr/>
          </a:p>
        </p:txBody>
      </p:sp>
      <p:sp>
        <p:nvSpPr>
          <p:cNvPr id="18" name="s6-text-17">
            <a:extLst>
              <a:ext uri="{FF2B5EF4-FFF2-40B4-BE49-F238E27FC236}">
                <a16:creationId xmlns:a16="http://schemas.microsoft.com/office/drawing/2014/main" id="{544E9FE4-FC84-4E5E-B475-2D35B0FA9BA9}"/>
              </a:ext>
            </a:extLst>
          </p:cNvPr>
          <p:cNvSpPr>
            <a:spLocks noGrp="1"/>
          </p:cNvSpPr>
          <p:nvPr/>
        </p:nvSpPr>
        <p:spPr>
          <a:xfrm>
            <a:off x="11239500" y="6477000"/>
            <a:ext cx="476250" cy="238125"/>
          </a:xfrm>
          <a:prstGeom prst="rect">
            <a:avLst/>
          </a:prstGeom>
          <a:noFill/>
          <a:ln w="0">
            <a:noFill/>
          </a:ln>
        </p:spPr>
        <p:txBody>
          <a:bodyPr wrap="square" lIns="0" tIns="0" rIns="0" bIns="0" anchor="t">
            <a:noAutofit/>
          </a:bodyPr>
          <a:lstStyle/>
          <a:p>
            <a:pPr algn="r">
              <a:defRPr sz="1275" b="0">
                <a:solidFill>
                  <a:srgbClr val="666666"/>
                </a:solidFill>
                <a:latin typeface="Aptos"/>
                <a:ea typeface="Aptos"/>
                <a:cs typeface="Aptos"/>
              </a:defRPr>
            </a:pPr>
            <a:r>
              <a:rPr sz="1275" b="0">
                <a:solidFill>
                  <a:srgbClr val="666666"/>
                </a:solidFill>
                <a:latin typeface="Aptos"/>
                <a:ea typeface="Aptos"/>
                <a:cs typeface="Aptos"/>
              </a:rPr>
              <a:t>6</a:t>
            </a:r>
          </a:p>
        </p:txBody>
      </p:sp>
    </p:spTree>
    <p:extLst>
      <p:ext uri="{BB962C8B-B14F-4D97-AF65-F5344CB8AC3E}">
        <p14:creationId xmlns:p14="http://schemas.microsoft.com/office/powerpoint/2010/main" val="32813612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7-text-1">
            <a:extLst>
              <a:ext uri="{FF2B5EF4-FFF2-40B4-BE49-F238E27FC236}">
                <a16:creationId xmlns:a16="http://schemas.microsoft.com/office/drawing/2014/main" id="{2B2DD568-D53F-4071-A279-A13A07ED001A}"/>
              </a:ext>
            </a:extLst>
          </p:cNvPr>
          <p:cNvSpPr>
            <a:spLocks noGrp="1"/>
          </p:cNvSpPr>
          <p:nvPr/>
        </p:nvSpPr>
        <p:spPr>
          <a:xfrm>
            <a:off x="430816" y="1038225"/>
            <a:ext cx="11293412" cy="78105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What needs repairing?</a:t>
            </a:r>
          </a:p>
        </p:txBody>
      </p:sp>
      <p:sp>
        <p:nvSpPr>
          <p:cNvPr id="2" name="s7-rect-2">
            <a:extLst>
              <a:ext uri="{FF2B5EF4-FFF2-40B4-BE49-F238E27FC236}">
                <a16:creationId xmlns:a16="http://schemas.microsoft.com/office/drawing/2014/main" id="{19A2CC7D-8D89-4025-AC48-FE29734D9048}"/>
              </a:ext>
            </a:extLst>
          </p:cNvPr>
          <p:cNvSpPr>
            <a:spLocks noGrp="1"/>
          </p:cNvSpPr>
          <p:nvPr/>
        </p:nvSpPr>
        <p:spPr>
          <a:xfrm>
            <a:off x="8734425" y="476250"/>
            <a:ext cx="3000375" cy="400050"/>
          </a:xfrm>
          <a:prstGeom prst="rect">
            <a:avLst/>
          </a:prstGeom>
          <a:solidFill>
            <a:srgbClr val="D6171D"/>
          </a:solidFill>
          <a:ln w="0">
            <a:noFill/>
          </a:ln>
        </p:spPr>
        <p:txBody>
          <a:bodyPr/>
          <a:lstStyle/>
          <a:p>
            <a:endParaRPr lang="en-US"/>
          </a:p>
        </p:txBody>
      </p:sp>
      <p:sp>
        <p:nvSpPr>
          <p:cNvPr id="3" name="s7-text-3">
            <a:extLst>
              <a:ext uri="{FF2B5EF4-FFF2-40B4-BE49-F238E27FC236}">
                <a16:creationId xmlns:a16="http://schemas.microsoft.com/office/drawing/2014/main" id="{7D8C86DF-2371-4975-92E4-188BB8692292}"/>
              </a:ext>
            </a:extLst>
          </p:cNvPr>
          <p:cNvSpPr>
            <a:spLocks noGrp="1"/>
          </p:cNvSpPr>
          <p:nvPr/>
        </p:nvSpPr>
        <p:spPr>
          <a:xfrm>
            <a:off x="8829675" y="533400"/>
            <a:ext cx="2809875" cy="323850"/>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C2.1</a:t>
            </a:r>
          </a:p>
        </p:txBody>
      </p:sp>
      <p:sp>
        <p:nvSpPr>
          <p:cNvPr id="4" name="s7-text-4">
            <a:extLst>
              <a:ext uri="{FF2B5EF4-FFF2-40B4-BE49-F238E27FC236}">
                <a16:creationId xmlns:a16="http://schemas.microsoft.com/office/drawing/2014/main" id="{FC0AC5C7-773D-42DA-B809-1807F64DCAFB}"/>
              </a:ext>
            </a:extLst>
          </p:cNvPr>
          <p:cNvSpPr>
            <a:spLocks noGrp="1"/>
          </p:cNvSpPr>
          <p:nvPr/>
        </p:nvSpPr>
        <p:spPr>
          <a:xfrm>
            <a:off x="457200" y="1981200"/>
            <a:ext cx="11239500" cy="485775"/>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sz="2325" b="0">
                <a:solidFill>
                  <a:srgbClr val="111111"/>
                </a:solidFill>
                <a:latin typeface="Aptos"/>
                <a:ea typeface="Aptos"/>
                <a:cs typeface="Aptos"/>
              </a:rPr>
              <a:t>The original investigation had three further problems:</a:t>
            </a:r>
          </a:p>
        </p:txBody>
      </p:sp>
      <p:sp>
        <p:nvSpPr>
          <p:cNvPr id="5" name="s7-text-5">
            <a:extLst>
              <a:ext uri="{FF2B5EF4-FFF2-40B4-BE49-F238E27FC236}">
                <a16:creationId xmlns:a16="http://schemas.microsoft.com/office/drawing/2014/main" id="{463CBDDD-30F3-4E38-A17C-848F70C7A1C2}"/>
              </a:ext>
            </a:extLst>
          </p:cNvPr>
          <p:cNvSpPr>
            <a:spLocks noGrp="1"/>
          </p:cNvSpPr>
          <p:nvPr/>
        </p:nvSpPr>
        <p:spPr>
          <a:xfrm>
            <a:off x="457200" y="2781300"/>
            <a:ext cx="11239500" cy="85725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sz="2325" b="0">
                <a:solidFill>
                  <a:srgbClr val="111111"/>
                </a:solidFill>
                <a:latin typeface="Aptos"/>
                <a:ea typeface="Aptos"/>
                <a:cs typeface="Aptos"/>
              </a:rPr>
              <a:t>1. Every invitee belonged to the environmental club.</a:t>
            </a:r>
          </a:p>
        </p:txBody>
      </p:sp>
      <p:sp>
        <p:nvSpPr>
          <p:cNvPr id="6" name="s7-text-6">
            <a:extLst>
              <a:ext uri="{FF2B5EF4-FFF2-40B4-BE49-F238E27FC236}">
                <a16:creationId xmlns:a16="http://schemas.microsoft.com/office/drawing/2014/main" id="{DE1ADFB5-C040-418C-B30E-54D4DDB6AB6F}"/>
              </a:ext>
            </a:extLst>
          </p:cNvPr>
          <p:cNvSpPr>
            <a:spLocks noGrp="1"/>
          </p:cNvSpPr>
          <p:nvPr/>
        </p:nvSpPr>
        <p:spPr>
          <a:xfrm>
            <a:off x="457200" y="3667125"/>
            <a:ext cx="11239500" cy="85725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sz="2325" b="0">
                <a:solidFill>
                  <a:srgbClr val="111111"/>
                </a:solidFill>
                <a:latin typeface="Aptos"/>
                <a:ea typeface="Aptos"/>
                <a:cs typeface="Aptos"/>
              </a:rPr>
              <a:t>2. “Don’t you agree that smaller portions are an excellent</a:t>
            </a:r>
          </a:p>
          <a:p>
            <a:pPr algn="l">
              <a:defRPr sz="2325" b="0">
                <a:solidFill>
                  <a:srgbClr val="111111"/>
                </a:solidFill>
                <a:latin typeface="Aptos"/>
                <a:ea typeface="Aptos"/>
                <a:cs typeface="Aptos"/>
              </a:defRPr>
            </a:pPr>
            <a:r>
              <a:rPr sz="2325" b="0">
                <a:solidFill>
                  <a:srgbClr val="111111"/>
                </a:solidFill>
                <a:latin typeface="Aptos"/>
                <a:ea typeface="Aptos"/>
                <a:cs typeface="Aptos"/>
              </a:rPr>
              <a:t>     way to protect the environment?”</a:t>
            </a:r>
          </a:p>
        </p:txBody>
      </p:sp>
      <p:sp>
        <p:nvSpPr>
          <p:cNvPr id="7" name="s7-text-7">
            <a:extLst>
              <a:ext uri="{FF2B5EF4-FFF2-40B4-BE49-F238E27FC236}">
                <a16:creationId xmlns:a16="http://schemas.microsoft.com/office/drawing/2014/main" id="{C0D03FF4-8465-41FB-9CB3-491648E78F9E}"/>
              </a:ext>
            </a:extLst>
          </p:cNvPr>
          <p:cNvSpPr>
            <a:spLocks noGrp="1"/>
          </p:cNvSpPr>
          <p:nvPr/>
        </p:nvSpPr>
        <p:spPr>
          <a:xfrm>
            <a:off x="476250" y="4486275"/>
            <a:ext cx="11239500" cy="85725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sz="2325" b="0">
                <a:solidFill>
                  <a:srgbClr val="111111"/>
                </a:solidFill>
                <a:latin typeface="Aptos"/>
                <a:ea typeface="Aptos"/>
                <a:cs typeface="Aptos"/>
              </a:rPr>
              <a:t>3. Its scale recorded leftover masses 12 g too high.</a:t>
            </a:r>
          </a:p>
        </p:txBody>
      </p:sp>
      <p:sp>
        <p:nvSpPr>
          <p:cNvPr id="8" name="s7-text-8">
            <a:extLst>
              <a:ext uri="{FF2B5EF4-FFF2-40B4-BE49-F238E27FC236}">
                <a16:creationId xmlns:a16="http://schemas.microsoft.com/office/drawing/2014/main" id="{D41D306F-2887-463C-9D38-A0A658421507}"/>
              </a:ext>
            </a:extLst>
          </p:cNvPr>
          <p:cNvSpPr>
            <a:spLocks noGrp="1"/>
          </p:cNvSpPr>
          <p:nvPr/>
        </p:nvSpPr>
        <p:spPr>
          <a:xfrm>
            <a:off x="495300" y="6438900"/>
            <a:ext cx="11239500" cy="333375"/>
          </a:xfrm>
          <a:prstGeom prst="rect">
            <a:avLst/>
          </a:prstGeom>
          <a:noFill/>
          <a:ln w="0">
            <a:noFill/>
          </a:ln>
        </p:spPr>
        <p:txBody>
          <a:bodyPr wrap="square" lIns="0" tIns="0" rIns="0" bIns="0" anchor="t">
            <a:noAutofit/>
          </a:bodyPr>
          <a:lstStyle/>
          <a:p>
            <a:pPr algn="l">
              <a:defRPr sz="2025" b="1">
                <a:solidFill>
                  <a:srgbClr val="111111"/>
                </a:solidFill>
                <a:latin typeface="Aptos"/>
                <a:ea typeface="Aptos"/>
                <a:cs typeface="Aptos"/>
              </a:defRPr>
            </a:pPr>
            <a:r>
              <a:rPr sz="2025" b="1">
                <a:solidFill>
                  <a:srgbClr val="111111"/>
                </a:solidFill>
                <a:latin typeface="Aptos"/>
                <a:ea typeface="Aptos"/>
                <a:cs typeface="Aptos"/>
              </a:rPr>
              <a:t>The independent pilot used a different, accurate scale.</a:t>
            </a:r>
          </a:p>
        </p:txBody>
      </p:sp>
      <p:sp>
        <p:nvSpPr>
          <p:cNvPr id="9" name="s7-rect-9">
            <a:extLst>
              <a:ext uri="{FF2B5EF4-FFF2-40B4-BE49-F238E27FC236}">
                <a16:creationId xmlns:a16="http://schemas.microsoft.com/office/drawing/2014/main" id="{154D0C70-BDBE-4151-8F7B-4FC731231DB0}"/>
              </a:ext>
            </a:extLst>
          </p:cNvPr>
          <p:cNvSpPr>
            <a:spLocks noGrp="1"/>
          </p:cNvSpPr>
          <p:nvPr/>
        </p:nvSpPr>
        <p:spPr>
          <a:xfrm>
            <a:off x="428625" y="5915025"/>
            <a:ext cx="2762250" cy="400050"/>
          </a:xfrm>
          <a:prstGeom prst="rect">
            <a:avLst/>
          </a:prstGeom>
          <a:solidFill>
            <a:srgbClr val="D6171D"/>
          </a:solidFill>
          <a:ln w="0">
            <a:noFill/>
          </a:ln>
        </p:spPr>
        <p:txBody>
          <a:bodyPr/>
          <a:lstStyle/>
          <a:p>
            <a:endParaRPr lang="en-US"/>
          </a:p>
        </p:txBody>
      </p:sp>
      <p:sp>
        <p:nvSpPr>
          <p:cNvPr id="10" name="s7-text-10">
            <a:extLst>
              <a:ext uri="{FF2B5EF4-FFF2-40B4-BE49-F238E27FC236}">
                <a16:creationId xmlns:a16="http://schemas.microsoft.com/office/drawing/2014/main" id="{410C964E-D5FA-461D-AAE3-473624BAE92D}"/>
              </a:ext>
            </a:extLst>
          </p:cNvPr>
          <p:cNvSpPr>
            <a:spLocks noGrp="1"/>
          </p:cNvSpPr>
          <p:nvPr/>
        </p:nvSpPr>
        <p:spPr>
          <a:xfrm>
            <a:off x="523875" y="5972175"/>
            <a:ext cx="2571750" cy="323850"/>
          </a:xfrm>
          <a:prstGeom prst="rect">
            <a:avLst/>
          </a:prstGeom>
          <a:noFill/>
          <a:ln w="0">
            <a:noFill/>
          </a:ln>
        </p:spPr>
        <p:txBody>
          <a:bodyPr wrap="square" lIns="0" tIns="0" rIns="0" bIns="0" anchor="t">
            <a:noAutofit/>
          </a:bodyPr>
          <a:lstStyle/>
          <a:p>
            <a:pPr algn="ctr">
              <a:defRPr sz="1800" b="1">
                <a:solidFill>
                  <a:srgbClr val="FFFFFF"/>
                </a:solidFill>
                <a:latin typeface="Aptos"/>
                <a:ea typeface="Aptos"/>
                <a:cs typeface="Aptos"/>
              </a:defRPr>
            </a:pPr>
            <a:r>
              <a:rPr sz="1800" b="1">
                <a:solidFill>
                  <a:srgbClr val="FFFFFF"/>
                </a:solidFill>
                <a:latin typeface="Aptos"/>
                <a:ea typeface="Aptos"/>
                <a:cs typeface="Aptos"/>
              </a:rPr>
              <a:t>DISCUSS   2 MIN</a:t>
            </a:r>
          </a:p>
        </p:txBody>
      </p:sp>
      <p:sp>
        <p:nvSpPr>
          <p:cNvPr id="11" name="s7-text-11">
            <a:extLst>
              <a:ext uri="{FF2B5EF4-FFF2-40B4-BE49-F238E27FC236}">
                <a16:creationId xmlns:a16="http://schemas.microsoft.com/office/drawing/2014/main" id="{F1BC9803-3E24-4AD0-8AF4-067D986D5002}"/>
              </a:ext>
            </a:extLst>
          </p:cNvPr>
          <p:cNvSpPr>
            <a:spLocks noGrp="1"/>
          </p:cNvSpPr>
          <p:nvPr/>
        </p:nvSpPr>
        <p:spPr>
          <a:xfrm>
            <a:off x="3381375" y="5924550"/>
            <a:ext cx="8286750" cy="457200"/>
          </a:xfrm>
          <a:prstGeom prst="rect">
            <a:avLst/>
          </a:prstGeom>
          <a:noFill/>
          <a:ln w="0">
            <a:noFill/>
          </a:ln>
        </p:spPr>
        <p:txBody>
          <a:bodyPr wrap="square" lIns="0" tIns="0" rIns="0" bIns="0" anchor="t">
            <a:noAutofit/>
          </a:bodyPr>
          <a:lstStyle/>
          <a:p>
            <a:pPr algn="l">
              <a:defRPr sz="2100" b="1">
                <a:solidFill>
                  <a:srgbClr val="111111"/>
                </a:solidFill>
                <a:latin typeface="Aptos"/>
                <a:ea typeface="Aptos"/>
                <a:cs typeface="Aptos"/>
              </a:defRPr>
            </a:pPr>
            <a:r>
              <a:rPr sz="2100" b="1">
                <a:solidFill>
                  <a:srgbClr val="111111"/>
                </a:solidFill>
                <a:latin typeface="Aptos"/>
                <a:ea typeface="Aptos"/>
                <a:cs typeface="Aptos"/>
              </a:rPr>
              <a:t>Match each fault to a claim. Specify a repair.</a:t>
            </a:r>
          </a:p>
        </p:txBody>
      </p:sp>
      <p:sp>
        <p:nvSpPr>
          <p:cNvPr id="12" name="s7-text-12">
            <a:extLst>
              <a:ext uri="{FF2B5EF4-FFF2-40B4-BE49-F238E27FC236}">
                <a16:creationId xmlns:a16="http://schemas.microsoft.com/office/drawing/2014/main" id="{A5FCE270-805C-4D04-9345-6CF16C222D89}"/>
              </a:ext>
            </a:extLst>
          </p:cNvPr>
          <p:cNvSpPr>
            <a:spLocks noGrp="1"/>
          </p:cNvSpPr>
          <p:nvPr/>
        </p:nvSpPr>
        <p:spPr>
          <a:xfrm>
            <a:off x="457200" y="6477000"/>
            <a:ext cx="10763250" cy="238125"/>
          </a:xfrm>
          <a:prstGeom prst="rect">
            <a:avLst/>
          </a:prstGeom>
          <a:noFill/>
          <a:ln w="0">
            <a:noFill/>
          </a:ln>
        </p:spPr>
        <p:txBody>
          <a:bodyPr wrap="square" lIns="0" tIns="0" rIns="0" bIns="0" anchor="t">
            <a:noAutofit/>
          </a:bodyPr>
          <a:lstStyle/>
          <a:p>
            <a:endParaRPr/>
          </a:p>
        </p:txBody>
      </p:sp>
      <p:sp>
        <p:nvSpPr>
          <p:cNvPr id="13" name="s7-text-13">
            <a:extLst>
              <a:ext uri="{FF2B5EF4-FFF2-40B4-BE49-F238E27FC236}">
                <a16:creationId xmlns:a16="http://schemas.microsoft.com/office/drawing/2014/main" id="{4869962D-14A8-4FDA-81CB-A0D5A9790258}"/>
              </a:ext>
            </a:extLst>
          </p:cNvPr>
          <p:cNvSpPr>
            <a:spLocks noGrp="1"/>
          </p:cNvSpPr>
          <p:nvPr/>
        </p:nvSpPr>
        <p:spPr>
          <a:xfrm>
            <a:off x="11239500" y="6477000"/>
            <a:ext cx="476250" cy="238125"/>
          </a:xfrm>
          <a:prstGeom prst="rect">
            <a:avLst/>
          </a:prstGeom>
          <a:noFill/>
          <a:ln w="0">
            <a:noFill/>
          </a:ln>
        </p:spPr>
        <p:txBody>
          <a:bodyPr wrap="square" lIns="0" tIns="0" rIns="0" bIns="0" anchor="t">
            <a:noAutofit/>
          </a:bodyPr>
          <a:lstStyle/>
          <a:p>
            <a:pPr algn="r">
              <a:defRPr sz="1275" b="0">
                <a:solidFill>
                  <a:srgbClr val="666666"/>
                </a:solidFill>
                <a:latin typeface="Aptos"/>
                <a:ea typeface="Aptos"/>
                <a:cs typeface="Aptos"/>
              </a:defRPr>
            </a:pPr>
            <a:r>
              <a:rPr sz="1275" b="0">
                <a:solidFill>
                  <a:srgbClr val="666666"/>
                </a:solidFill>
                <a:latin typeface="Aptos"/>
                <a:ea typeface="Aptos"/>
                <a:cs typeface="Aptos"/>
              </a:rPr>
              <a:t>7</a:t>
            </a:r>
          </a:p>
        </p:txBody>
      </p:sp>
      <p:sp>
        <p:nvSpPr>
          <p:cNvPr id="17" name="s7-text-7">
            <a:extLst>
              <a:ext uri="{FF2B5EF4-FFF2-40B4-BE49-F238E27FC236}">
                <a16:creationId xmlns:a16="http://schemas.microsoft.com/office/drawing/2014/main" id="{5D4A8A19-B0DB-6119-FE7D-06DD66DDA411}"/>
              </a:ext>
            </a:extLst>
          </p:cNvPr>
          <p:cNvSpPr>
            <a:spLocks noGrp="1"/>
          </p:cNvSpPr>
          <p:nvPr/>
        </p:nvSpPr>
        <p:spPr>
          <a:xfrm>
            <a:off x="476250" y="5195888"/>
            <a:ext cx="11239500" cy="85725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lang="en-US" sz="2325">
                <a:solidFill>
                  <a:srgbClr val="111111"/>
                </a:solidFill>
                <a:latin typeface="Aptos"/>
                <a:ea typeface="Aptos"/>
                <a:cs typeface="Aptos"/>
              </a:rPr>
              <a:t>4</a:t>
            </a:r>
            <a:r>
              <a:rPr sz="2325" b="0">
                <a:solidFill>
                  <a:srgbClr val="111111"/>
                </a:solidFill>
                <a:latin typeface="Aptos"/>
                <a:ea typeface="Aptos"/>
                <a:cs typeface="Aptos"/>
              </a:rPr>
              <a:t>. </a:t>
            </a:r>
            <a:r>
              <a:rPr lang="en-US" sz="2325" b="1">
                <a:solidFill>
                  <a:srgbClr val="111111"/>
                </a:solidFill>
                <a:latin typeface="Aptos"/>
                <a:ea typeface="Aptos"/>
                <a:cs typeface="Aptos"/>
              </a:rPr>
              <a:t>EXTRA</a:t>
            </a:r>
            <a:r>
              <a:rPr lang="en-US" sz="2325">
                <a:solidFill>
                  <a:srgbClr val="111111"/>
                </a:solidFill>
                <a:latin typeface="Aptos"/>
                <a:ea typeface="Aptos"/>
                <a:cs typeface="Aptos"/>
              </a:rPr>
              <a:t>:</a:t>
            </a:r>
            <a:r>
              <a:rPr sz="2325" b="0">
                <a:solidFill>
                  <a:srgbClr val="111111"/>
                </a:solidFill>
                <a:latin typeface="Aptos"/>
                <a:ea typeface="Aptos"/>
                <a:cs typeface="Aptos"/>
              </a:rPr>
              <a:t> </a:t>
            </a:r>
            <a:r>
              <a:rPr lang="en-US" sz="2325" b="0">
                <a:solidFill>
                  <a:srgbClr val="111111"/>
                </a:solidFill>
                <a:latin typeface="Aptos"/>
                <a:ea typeface="Aptos"/>
                <a:cs typeface="Aptos"/>
              </a:rPr>
              <a:t>Only 143 out of 237 invitees replied. </a:t>
            </a:r>
            <a:endParaRPr sz="2325" b="0">
              <a:solidFill>
                <a:srgbClr val="111111"/>
              </a:solidFill>
              <a:latin typeface="Aptos"/>
              <a:ea typeface="Aptos"/>
              <a:cs typeface="Aptos"/>
            </a:endParaRPr>
          </a:p>
        </p:txBody>
      </p:sp>
    </p:spTree>
    <p:extLst>
      <p:ext uri="{BB962C8B-B14F-4D97-AF65-F5344CB8AC3E}">
        <p14:creationId xmlns:p14="http://schemas.microsoft.com/office/powerpoint/2010/main" val="32813612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8-text-1">
            <a:extLst>
              <a:ext uri="{FF2B5EF4-FFF2-40B4-BE49-F238E27FC236}">
                <a16:creationId xmlns:a16="http://schemas.microsoft.com/office/drawing/2014/main" id="{F4F5383D-6571-4EED-9277-3098AC88C581}"/>
              </a:ext>
            </a:extLst>
          </p:cNvPr>
          <p:cNvSpPr>
            <a:spLocks noGrp="1"/>
          </p:cNvSpPr>
          <p:nvPr/>
        </p:nvSpPr>
        <p:spPr>
          <a:xfrm>
            <a:off x="430816" y="1038225"/>
            <a:ext cx="11293412" cy="78105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Repairs before the next collection</a:t>
            </a:r>
          </a:p>
        </p:txBody>
      </p:sp>
      <p:sp>
        <p:nvSpPr>
          <p:cNvPr id="2" name="s8-rect-2">
            <a:extLst>
              <a:ext uri="{FF2B5EF4-FFF2-40B4-BE49-F238E27FC236}">
                <a16:creationId xmlns:a16="http://schemas.microsoft.com/office/drawing/2014/main" id="{B00EB1C7-C0AB-49B2-BC61-23A3D70BE661}"/>
              </a:ext>
            </a:extLst>
          </p:cNvPr>
          <p:cNvSpPr>
            <a:spLocks noGrp="1"/>
          </p:cNvSpPr>
          <p:nvPr/>
        </p:nvSpPr>
        <p:spPr>
          <a:xfrm>
            <a:off x="8734425" y="476250"/>
            <a:ext cx="3000375" cy="400050"/>
          </a:xfrm>
          <a:prstGeom prst="rect">
            <a:avLst/>
          </a:prstGeom>
          <a:solidFill>
            <a:srgbClr val="D6171D"/>
          </a:solidFill>
          <a:ln w="0">
            <a:noFill/>
          </a:ln>
        </p:spPr>
        <p:txBody>
          <a:bodyPr/>
          <a:lstStyle/>
          <a:p>
            <a:endParaRPr lang="en-US"/>
          </a:p>
        </p:txBody>
      </p:sp>
      <p:sp>
        <p:nvSpPr>
          <p:cNvPr id="3" name="s8-text-3">
            <a:extLst>
              <a:ext uri="{FF2B5EF4-FFF2-40B4-BE49-F238E27FC236}">
                <a16:creationId xmlns:a16="http://schemas.microsoft.com/office/drawing/2014/main" id="{5D889D6C-086D-4F67-A1B8-B22437AA059A}"/>
              </a:ext>
            </a:extLst>
          </p:cNvPr>
          <p:cNvSpPr>
            <a:spLocks noGrp="1"/>
          </p:cNvSpPr>
          <p:nvPr/>
        </p:nvSpPr>
        <p:spPr>
          <a:xfrm>
            <a:off x="8829675" y="533400"/>
            <a:ext cx="2809875" cy="323850"/>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C2.1</a:t>
            </a:r>
          </a:p>
        </p:txBody>
      </p:sp>
      <p:graphicFrame>
        <p:nvGraphicFramePr>
          <p:cNvPr id="13" name="Table 12"/>
          <p:cNvGraphicFramePr/>
          <p:nvPr/>
        </p:nvGraphicFramePr>
        <p:xfrm>
          <a:off x="457200" y="2190750"/>
          <a:ext cx="8477250" cy="3514725"/>
        </p:xfrm>
        <a:graphic>
          <a:graphicData uri="http://schemas.openxmlformats.org/drawingml/2006/table">
            <a:tbl>
              <a:tblPr firstRow="1"/>
              <a:tblGrid>
                <a:gridCol w="2476500">
                  <a:extLst>
                    <a:ext uri="{9D8B030D-6E8A-4147-A177-3AD203B41FA5}">
                      <a16:colId xmlns:a16="http://schemas.microsoft.com/office/drawing/2014/main" val="20000"/>
                    </a:ext>
                  </a:extLst>
                </a:gridCol>
                <a:gridCol w="3000375">
                  <a:extLst>
                    <a:ext uri="{9D8B030D-6E8A-4147-A177-3AD203B41FA5}">
                      <a16:colId xmlns:a16="http://schemas.microsoft.com/office/drawing/2014/main" val="20001"/>
                    </a:ext>
                  </a:extLst>
                </a:gridCol>
                <a:gridCol w="3000375">
                  <a:extLst>
                    <a:ext uri="{9D8B030D-6E8A-4147-A177-3AD203B41FA5}">
                      <a16:colId xmlns:a16="http://schemas.microsoft.com/office/drawing/2014/main" val="20002"/>
                    </a:ext>
                  </a:extLst>
                </a:gridCol>
              </a:tblGrid>
              <a:tr h="485775">
                <a:tc>
                  <a:txBody>
                    <a:bodyPr/>
                    <a:lstStyle/>
                    <a:p>
                      <a:pPr algn="l"/>
                      <a:r>
                        <a:rPr sz="1950" b="1">
                          <a:solidFill>
                            <a:srgbClr val="FFFFFF"/>
                          </a:solidFill>
                          <a:latin typeface="Aptos"/>
                          <a:ea typeface="Aptos"/>
                          <a:cs typeface="Aptos"/>
                        </a:rPr>
                        <a:t>Fault</a:t>
                      </a:r>
                    </a:p>
                  </a:txBody>
                  <a:tcPr marL="95250" marR="95250" marT="19050" marB="19050" anchor="ctr">
                    <a:solidFill>
                      <a:srgbClr val="D6171D"/>
                    </a:solidFill>
                  </a:tcPr>
                </a:tc>
                <a:tc>
                  <a:txBody>
                    <a:bodyPr/>
                    <a:lstStyle/>
                    <a:p>
                      <a:pPr algn="ctr"/>
                      <a:r>
                        <a:rPr sz="1950" b="1">
                          <a:solidFill>
                            <a:srgbClr val="FFFFFF"/>
                          </a:solidFill>
                          <a:latin typeface="Aptos"/>
                          <a:ea typeface="Aptos"/>
                          <a:cs typeface="Aptos"/>
                        </a:rPr>
                        <a:t>What it threatens</a:t>
                      </a:r>
                    </a:p>
                  </a:txBody>
                  <a:tcPr marL="95250" marR="95250" marT="19050" marB="19050" anchor="ctr">
                    <a:solidFill>
                      <a:srgbClr val="D6171D"/>
                    </a:solidFill>
                  </a:tcPr>
                </a:tc>
                <a:tc>
                  <a:txBody>
                    <a:bodyPr/>
                    <a:lstStyle/>
                    <a:p>
                      <a:pPr algn="ctr"/>
                      <a:r>
                        <a:rPr sz="1950" b="1">
                          <a:solidFill>
                            <a:srgbClr val="FFFFFF"/>
                          </a:solidFill>
                          <a:latin typeface="Aptos"/>
                          <a:ea typeface="Aptos"/>
                          <a:cs typeface="Aptos"/>
                        </a:rPr>
                        <a:t>Repair</a:t>
                      </a:r>
                    </a:p>
                  </a:txBody>
                  <a:tcPr marL="95250" marR="95250" marT="19050" marB="19050" anchor="ctr">
                    <a:solidFill>
                      <a:srgbClr val="D6171D"/>
                    </a:solidFill>
                  </a:tcPr>
                </a:tc>
                <a:extLst>
                  <a:ext uri="{0D108BD9-81ED-4DB2-BD59-A6C34878D82A}">
                    <a16:rowId xmlns:a16="http://schemas.microsoft.com/office/drawing/2014/main" val="10000"/>
                  </a:ext>
                </a:extLst>
              </a:tr>
              <a:tr h="1009650">
                <a:tc>
                  <a:txBody>
                    <a:bodyPr/>
                    <a:lstStyle/>
                    <a:p>
                      <a:pPr algn="l"/>
                      <a:r>
                        <a:rPr sz="1950" b="0">
                          <a:solidFill>
                            <a:srgbClr val="111111"/>
                          </a:solidFill>
                          <a:latin typeface="Aptos"/>
                          <a:ea typeface="Aptos"/>
                          <a:cs typeface="Aptos"/>
                        </a:rPr>
                        <a:t>Club-only invitations</a:t>
                      </a:r>
                    </a:p>
                    <a:p>
                      <a:pPr algn="l"/>
                      <a:r>
                        <a:rPr sz="1950" b="0">
                          <a:solidFill>
                            <a:srgbClr val="111111"/>
                          </a:solidFill>
                          <a:latin typeface="Aptos"/>
                          <a:ea typeface="Aptos"/>
                          <a:cs typeface="Aptos"/>
                        </a:rPr>
                        <a:t>Selection bias</a:t>
                      </a:r>
                    </a:p>
                  </a:txBody>
                  <a:tcPr marL="95250" marR="95250" marT="19050" marB="19050" anchor="ctr">
                    <a:solidFill>
                      <a:srgbClr val="FFFFFF"/>
                    </a:solidFill>
                  </a:tcPr>
                </a:tc>
                <a:tc>
                  <a:txBody>
                    <a:bodyPr/>
                    <a:lstStyle/>
                    <a:p>
                      <a:pPr algn="ctr"/>
                      <a:r>
                        <a:rPr sz="1950" b="0">
                          <a:solidFill>
                            <a:srgbClr val="111111"/>
                          </a:solidFill>
                          <a:latin typeface="Aptos"/>
                          <a:ea typeface="Aptos"/>
                          <a:cs typeface="Aptos"/>
                        </a:rPr>
                        <a:t>College-wide opinion claim</a:t>
                      </a:r>
                    </a:p>
                  </a:txBody>
                  <a:tcPr marL="95250" marR="95250" marT="19050" marB="19050" anchor="ctr">
                    <a:solidFill>
                      <a:srgbClr val="FFFFFF"/>
                    </a:solidFill>
                  </a:tcPr>
                </a:tc>
                <a:tc>
                  <a:txBody>
                    <a:bodyPr/>
                    <a:lstStyle/>
                    <a:p>
                      <a:pPr algn="ctr"/>
                      <a:r>
                        <a:rPr sz="1950" b="0">
                          <a:solidFill>
                            <a:srgbClr val="111111"/>
                          </a:solidFill>
                          <a:latin typeface="Aptos"/>
                          <a:ea typeface="Aptos"/>
                          <a:cs typeface="Aptos"/>
                        </a:rPr>
                        <a:t>Use a complete college list.</a:t>
                      </a:r>
                    </a:p>
                  </a:txBody>
                  <a:tcPr marL="95250" marR="95250" marT="19050" marB="19050" anchor="ctr">
                    <a:solidFill>
                      <a:srgbClr val="FFFFFF"/>
                    </a:solidFill>
                  </a:tcPr>
                </a:tc>
                <a:extLst>
                  <a:ext uri="{0D108BD9-81ED-4DB2-BD59-A6C34878D82A}">
                    <a16:rowId xmlns:a16="http://schemas.microsoft.com/office/drawing/2014/main" val="10001"/>
                  </a:ext>
                </a:extLst>
              </a:tr>
              <a:tr h="1009650">
                <a:tc>
                  <a:txBody>
                    <a:bodyPr/>
                    <a:lstStyle/>
                    <a:p>
                      <a:pPr algn="l"/>
                      <a:r>
                        <a:rPr sz="1950" b="0">
                          <a:solidFill>
                            <a:srgbClr val="111111"/>
                          </a:solidFill>
                          <a:latin typeface="Aptos"/>
                          <a:ea typeface="Aptos"/>
                          <a:cs typeface="Aptos"/>
                        </a:rPr>
                        <a:t>Leading question</a:t>
                      </a:r>
                    </a:p>
                    <a:p>
                      <a:pPr algn="l"/>
                      <a:r>
                        <a:rPr sz="1950" b="0">
                          <a:solidFill>
                            <a:srgbClr val="111111"/>
                          </a:solidFill>
                          <a:latin typeface="Aptos"/>
                          <a:ea typeface="Aptos"/>
                          <a:cs typeface="Aptos"/>
                        </a:rPr>
                        <a:t>Possible response bias</a:t>
                      </a:r>
                    </a:p>
                  </a:txBody>
                  <a:tcPr marL="95250" marR="95250" marT="19050" marB="19050" anchor="ctr">
                    <a:solidFill>
                      <a:srgbClr val="EFF8FF"/>
                    </a:solidFill>
                  </a:tcPr>
                </a:tc>
                <a:tc>
                  <a:txBody>
                    <a:bodyPr/>
                    <a:lstStyle/>
                    <a:p>
                      <a:pPr algn="ctr"/>
                      <a:r>
                        <a:rPr sz="1950" b="0">
                          <a:solidFill>
                            <a:srgbClr val="111111"/>
                          </a:solidFill>
                          <a:latin typeface="Aptos"/>
                          <a:ea typeface="Aptos"/>
                          <a:cs typeface="Aptos"/>
                        </a:rPr>
                        <a:t>Accuracy of reported opinions</a:t>
                      </a:r>
                    </a:p>
                  </a:txBody>
                  <a:tcPr marL="95250" marR="95250" marT="19050" marB="19050" anchor="ctr">
                    <a:solidFill>
                      <a:srgbClr val="EFF8FF"/>
                    </a:solidFill>
                  </a:tcPr>
                </a:tc>
                <a:tc>
                  <a:txBody>
                    <a:bodyPr/>
                    <a:lstStyle/>
                    <a:p>
                      <a:pPr algn="ctr"/>
                      <a:r>
                        <a:rPr sz="1950" b="0">
                          <a:solidFill>
                            <a:srgbClr val="111111"/>
                          </a:solidFill>
                          <a:latin typeface="Aptos"/>
                          <a:ea typeface="Aptos"/>
                          <a:cs typeface="Aptos"/>
                        </a:rPr>
                        <a:t>Use neutral wording.</a:t>
                      </a:r>
                    </a:p>
                  </a:txBody>
                  <a:tcPr marL="95250" marR="95250" marT="19050" marB="19050" anchor="ctr">
                    <a:solidFill>
                      <a:srgbClr val="EFF8FF"/>
                    </a:solidFill>
                  </a:tcPr>
                </a:tc>
                <a:extLst>
                  <a:ext uri="{0D108BD9-81ED-4DB2-BD59-A6C34878D82A}">
                    <a16:rowId xmlns:a16="http://schemas.microsoft.com/office/drawing/2014/main" val="10002"/>
                  </a:ext>
                </a:extLst>
              </a:tr>
              <a:tr h="1009650">
                <a:tc>
                  <a:txBody>
                    <a:bodyPr/>
                    <a:lstStyle/>
                    <a:p>
                      <a:pPr algn="l"/>
                      <a:r>
                        <a:rPr sz="1950" b="0">
                          <a:solidFill>
                            <a:srgbClr val="111111"/>
                          </a:solidFill>
                          <a:latin typeface="Aptos"/>
                          <a:ea typeface="Aptos"/>
                          <a:cs typeface="Aptos"/>
                        </a:rPr>
                        <a:t>Faulty scale</a:t>
                      </a:r>
                    </a:p>
                    <a:p>
                      <a:pPr algn="l"/>
                      <a:r>
                        <a:rPr sz="1950" b="0">
                          <a:solidFill>
                            <a:srgbClr val="111111"/>
                          </a:solidFill>
                          <a:latin typeface="Aptos"/>
                          <a:ea typeface="Aptos"/>
                          <a:cs typeface="Aptos"/>
                        </a:rPr>
                        <a:t>Measurement error</a:t>
                      </a:r>
                    </a:p>
                  </a:txBody>
                  <a:tcPr marL="95250" marR="95250" marT="19050" marB="19050" anchor="ctr">
                    <a:solidFill>
                      <a:srgbClr val="FFFFFF"/>
                    </a:solidFill>
                  </a:tcPr>
                </a:tc>
                <a:tc>
                  <a:txBody>
                    <a:bodyPr/>
                    <a:lstStyle/>
                    <a:p>
                      <a:pPr algn="ctr"/>
                      <a:r>
                        <a:rPr sz="1950" b="0">
                          <a:solidFill>
                            <a:srgbClr val="111111"/>
                          </a:solidFill>
                          <a:latin typeface="Aptos"/>
                          <a:ea typeface="Aptos"/>
                          <a:cs typeface="Aptos"/>
                        </a:rPr>
                        <a:t>Accuracy of leftover masses</a:t>
                      </a:r>
                    </a:p>
                  </a:txBody>
                  <a:tcPr marL="95250" marR="95250" marT="19050" marB="19050" anchor="ctr">
                    <a:solidFill>
                      <a:srgbClr val="FFFFFF"/>
                    </a:solidFill>
                  </a:tcPr>
                </a:tc>
                <a:tc>
                  <a:txBody>
                    <a:bodyPr/>
                    <a:lstStyle/>
                    <a:p>
                      <a:pPr algn="ctr"/>
                      <a:r>
                        <a:rPr sz="1950" b="0">
                          <a:solidFill>
                            <a:srgbClr val="111111"/>
                          </a:solidFill>
                          <a:latin typeface="Aptos"/>
                          <a:ea typeface="Aptos"/>
                          <a:cs typeface="Aptos"/>
                        </a:rPr>
                        <a:t>Check and calibrate the scale.</a:t>
                      </a:r>
                    </a:p>
                  </a:txBody>
                  <a:tcPr marL="95250" marR="95250" marT="19050" marB="19050" anchor="ctr">
                    <a:solidFill>
                      <a:srgbClr val="FFFFFF"/>
                    </a:solidFill>
                  </a:tcPr>
                </a:tc>
                <a:extLst>
                  <a:ext uri="{0D108BD9-81ED-4DB2-BD59-A6C34878D82A}">
                    <a16:rowId xmlns:a16="http://schemas.microsoft.com/office/drawing/2014/main" val="10003"/>
                  </a:ext>
                </a:extLst>
              </a:tr>
            </a:tbl>
          </a:graphicData>
        </a:graphic>
      </p:graphicFrame>
      <p:pic>
        <p:nvPicPr>
          <p:cNvPr id="14" name="Picture 13"/>
          <p:cNvPicPr>
            <a:picLocks noChangeAspect="1"/>
          </p:cNvPicPr>
          <p:nvPr/>
        </p:nvPicPr>
        <p:blipFill>
          <a:blip r:embed="rId3"/>
          <a:stretch/>
        </p:blipFill>
        <p:spPr>
          <a:xfrm>
            <a:off x="9363075" y="2476500"/>
            <a:ext cx="2133600" cy="3200400"/>
          </a:xfrm>
          <a:prstGeom prst="rect">
            <a:avLst/>
          </a:prstGeom>
        </p:spPr>
      </p:pic>
      <p:sp>
        <p:nvSpPr>
          <p:cNvPr id="6" name="s8-text-4">
            <a:extLst>
              <a:ext uri="{FF2B5EF4-FFF2-40B4-BE49-F238E27FC236}">
                <a16:creationId xmlns:a16="http://schemas.microsoft.com/office/drawing/2014/main" id="{DDCAEA81-BB89-44E8-9C63-A5B0EAE2FC42}"/>
              </a:ext>
            </a:extLst>
          </p:cNvPr>
          <p:cNvSpPr>
            <a:spLocks noGrp="1"/>
          </p:cNvSpPr>
          <p:nvPr/>
        </p:nvSpPr>
        <p:spPr>
          <a:xfrm>
            <a:off x="9086850" y="5791200"/>
            <a:ext cx="2667000" cy="333375"/>
          </a:xfrm>
          <a:prstGeom prst="rect">
            <a:avLst/>
          </a:prstGeom>
          <a:noFill/>
          <a:ln w="0">
            <a:noFill/>
          </a:ln>
        </p:spPr>
        <p:txBody>
          <a:bodyPr wrap="square" lIns="0" tIns="0" rIns="0" bIns="0" anchor="t">
            <a:noAutofit/>
          </a:bodyPr>
          <a:lstStyle/>
          <a:p>
            <a:pPr algn="ctr">
              <a:defRPr sz="1650" b="0">
                <a:solidFill>
                  <a:srgbClr val="666666"/>
                </a:solidFill>
                <a:latin typeface="Aptos"/>
                <a:ea typeface="Aptos"/>
                <a:cs typeface="Aptos"/>
              </a:defRPr>
            </a:pPr>
            <a:r>
              <a:rPr sz="1650" b="0">
                <a:solidFill>
                  <a:srgbClr val="666666"/>
                </a:solidFill>
                <a:latin typeface="Aptos"/>
                <a:ea typeface="Aptos"/>
                <a:cs typeface="Aptos"/>
              </a:rPr>
              <a:t>Illustrative scale</a:t>
            </a:r>
          </a:p>
        </p:txBody>
      </p:sp>
      <p:sp>
        <p:nvSpPr>
          <p:cNvPr id="7" name="s8-text-5">
            <a:extLst>
              <a:ext uri="{FF2B5EF4-FFF2-40B4-BE49-F238E27FC236}">
                <a16:creationId xmlns:a16="http://schemas.microsoft.com/office/drawing/2014/main" id="{5F0AA1CE-3D3B-4091-9596-98031382F6CE}"/>
              </a:ext>
            </a:extLst>
          </p:cNvPr>
          <p:cNvSpPr>
            <a:spLocks noGrp="1"/>
          </p:cNvSpPr>
          <p:nvPr/>
        </p:nvSpPr>
        <p:spPr>
          <a:xfrm>
            <a:off x="457200" y="5953125"/>
            <a:ext cx="8477250" cy="371475"/>
          </a:xfrm>
          <a:prstGeom prst="rect">
            <a:avLst/>
          </a:prstGeom>
          <a:noFill/>
          <a:ln w="0">
            <a:noFill/>
          </a:ln>
        </p:spPr>
        <p:txBody>
          <a:bodyPr wrap="square" lIns="0" tIns="0" rIns="0" bIns="0" anchor="t">
            <a:noAutofit/>
          </a:bodyPr>
          <a:lstStyle/>
          <a:p>
            <a:pPr algn="l">
              <a:defRPr sz="1950" b="1">
                <a:solidFill>
                  <a:srgbClr val="111111"/>
                </a:solidFill>
                <a:latin typeface="Aptos"/>
                <a:ea typeface="Aptos"/>
                <a:cs typeface="Aptos"/>
              </a:defRPr>
            </a:pPr>
            <a:r>
              <a:rPr sz="1950" b="1">
                <a:solidFill>
                  <a:srgbClr val="111111"/>
                </a:solidFill>
                <a:latin typeface="Aptos"/>
                <a:ea typeface="Aptos"/>
                <a:cs typeface="Aptos"/>
              </a:rPr>
              <a:t>Each repair addresses a different part of the data collection.</a:t>
            </a:r>
          </a:p>
        </p:txBody>
      </p:sp>
      <p:sp>
        <p:nvSpPr>
          <p:cNvPr id="8" name="s8-text-6">
            <a:extLst>
              <a:ext uri="{FF2B5EF4-FFF2-40B4-BE49-F238E27FC236}">
                <a16:creationId xmlns:a16="http://schemas.microsoft.com/office/drawing/2014/main" id="{77F96900-70D0-4FD7-AC59-1110E453FF41}"/>
              </a:ext>
            </a:extLst>
          </p:cNvPr>
          <p:cNvSpPr>
            <a:spLocks noGrp="1"/>
          </p:cNvSpPr>
          <p:nvPr/>
        </p:nvSpPr>
        <p:spPr>
          <a:xfrm>
            <a:off x="457200" y="6477000"/>
            <a:ext cx="10763250" cy="238125"/>
          </a:xfrm>
          <a:prstGeom prst="rect">
            <a:avLst/>
          </a:prstGeom>
          <a:noFill/>
          <a:ln w="0">
            <a:noFill/>
          </a:ln>
        </p:spPr>
        <p:txBody>
          <a:bodyPr wrap="square" lIns="0" tIns="0" rIns="0" bIns="0" anchor="t">
            <a:noAutofit/>
          </a:bodyPr>
          <a:lstStyle/>
          <a:p>
            <a:endParaRPr/>
          </a:p>
        </p:txBody>
      </p:sp>
      <p:sp>
        <p:nvSpPr>
          <p:cNvPr id="9" name="s8-text-7">
            <a:extLst>
              <a:ext uri="{FF2B5EF4-FFF2-40B4-BE49-F238E27FC236}">
                <a16:creationId xmlns:a16="http://schemas.microsoft.com/office/drawing/2014/main" id="{B7619522-137F-4747-83EF-764EB63C1E65}"/>
              </a:ext>
            </a:extLst>
          </p:cNvPr>
          <p:cNvSpPr>
            <a:spLocks noGrp="1"/>
          </p:cNvSpPr>
          <p:nvPr/>
        </p:nvSpPr>
        <p:spPr>
          <a:xfrm>
            <a:off x="11239500" y="6477000"/>
            <a:ext cx="476250" cy="238125"/>
          </a:xfrm>
          <a:prstGeom prst="rect">
            <a:avLst/>
          </a:prstGeom>
          <a:noFill/>
          <a:ln w="0">
            <a:noFill/>
          </a:ln>
        </p:spPr>
        <p:txBody>
          <a:bodyPr wrap="square" lIns="0" tIns="0" rIns="0" bIns="0" anchor="t">
            <a:noAutofit/>
          </a:bodyPr>
          <a:lstStyle/>
          <a:p>
            <a:pPr algn="r">
              <a:defRPr sz="1275" b="0">
                <a:solidFill>
                  <a:srgbClr val="666666"/>
                </a:solidFill>
                <a:latin typeface="Aptos"/>
                <a:ea typeface="Aptos"/>
                <a:cs typeface="Aptos"/>
              </a:defRPr>
            </a:pPr>
            <a:r>
              <a:rPr sz="1275" b="0">
                <a:solidFill>
                  <a:srgbClr val="666666"/>
                </a:solidFill>
                <a:latin typeface="Aptos"/>
                <a:ea typeface="Aptos"/>
                <a:cs typeface="Aptos"/>
              </a:rPr>
              <a:t>8</a:t>
            </a:r>
          </a:p>
        </p:txBody>
      </p:sp>
    </p:spTree>
    <p:extLst>
      <p:ext uri="{BB962C8B-B14F-4D97-AF65-F5344CB8AC3E}">
        <p14:creationId xmlns:p14="http://schemas.microsoft.com/office/powerpoint/2010/main" val="32813612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9-text-1">
            <a:extLst>
              <a:ext uri="{FF2B5EF4-FFF2-40B4-BE49-F238E27FC236}">
                <a16:creationId xmlns:a16="http://schemas.microsoft.com/office/drawing/2014/main" id="{E1133B35-3E2A-4735-AE33-4D2B6A849157}"/>
              </a:ext>
            </a:extLst>
          </p:cNvPr>
          <p:cNvSpPr>
            <a:spLocks noGrp="1"/>
          </p:cNvSpPr>
          <p:nvPr/>
        </p:nvSpPr>
        <p:spPr>
          <a:xfrm>
            <a:off x="430816" y="1038225"/>
            <a:ext cx="11293412" cy="78105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A question that tests the proposal</a:t>
            </a:r>
          </a:p>
        </p:txBody>
      </p:sp>
      <p:sp>
        <p:nvSpPr>
          <p:cNvPr id="2" name="s9-rect-2">
            <a:extLst>
              <a:ext uri="{FF2B5EF4-FFF2-40B4-BE49-F238E27FC236}">
                <a16:creationId xmlns:a16="http://schemas.microsoft.com/office/drawing/2014/main" id="{741001C5-C89C-4013-9695-FBE5233384B7}"/>
              </a:ext>
            </a:extLst>
          </p:cNvPr>
          <p:cNvSpPr>
            <a:spLocks noGrp="1"/>
          </p:cNvSpPr>
          <p:nvPr/>
        </p:nvSpPr>
        <p:spPr>
          <a:xfrm>
            <a:off x="8734425" y="476250"/>
            <a:ext cx="3000375" cy="400050"/>
          </a:xfrm>
          <a:prstGeom prst="rect">
            <a:avLst/>
          </a:prstGeom>
          <a:solidFill>
            <a:srgbClr val="D6171D"/>
          </a:solidFill>
          <a:ln w="0">
            <a:noFill/>
          </a:ln>
        </p:spPr>
        <p:txBody>
          <a:bodyPr/>
          <a:lstStyle/>
          <a:p>
            <a:endParaRPr lang="en-US"/>
          </a:p>
        </p:txBody>
      </p:sp>
      <p:sp>
        <p:nvSpPr>
          <p:cNvPr id="3" name="s9-text-3">
            <a:extLst>
              <a:ext uri="{FF2B5EF4-FFF2-40B4-BE49-F238E27FC236}">
                <a16:creationId xmlns:a16="http://schemas.microsoft.com/office/drawing/2014/main" id="{6A0BD00F-136C-49C8-9631-4ADF0FA5EB0C}"/>
              </a:ext>
            </a:extLst>
          </p:cNvPr>
          <p:cNvSpPr>
            <a:spLocks noGrp="1"/>
          </p:cNvSpPr>
          <p:nvPr/>
        </p:nvSpPr>
        <p:spPr>
          <a:xfrm>
            <a:off x="8829675" y="533400"/>
            <a:ext cx="2809875" cy="323850"/>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C2.2</a:t>
            </a:r>
          </a:p>
        </p:txBody>
      </p:sp>
      <p:sp>
        <p:nvSpPr>
          <p:cNvPr id="4" name="s9-text-4">
            <a:extLst>
              <a:ext uri="{FF2B5EF4-FFF2-40B4-BE49-F238E27FC236}">
                <a16:creationId xmlns:a16="http://schemas.microsoft.com/office/drawing/2014/main" id="{C745A28D-969A-4CE1-A0CC-8F99AE8F3F91}"/>
              </a:ext>
            </a:extLst>
          </p:cNvPr>
          <p:cNvSpPr>
            <a:spLocks noGrp="1"/>
          </p:cNvSpPr>
          <p:nvPr/>
        </p:nvSpPr>
        <p:spPr>
          <a:xfrm>
            <a:off x="457200" y="2000250"/>
            <a:ext cx="11239500" cy="428625"/>
          </a:xfrm>
          <a:prstGeom prst="rect">
            <a:avLst/>
          </a:prstGeom>
          <a:noFill/>
          <a:ln w="0">
            <a:noFill/>
          </a:ln>
        </p:spPr>
        <p:txBody>
          <a:bodyPr wrap="square" lIns="0" tIns="0" rIns="0" bIns="0" anchor="t">
            <a:noAutofit/>
          </a:bodyPr>
          <a:lstStyle/>
          <a:p>
            <a:pPr algn="l">
              <a:defRPr sz="2250" b="1">
                <a:solidFill>
                  <a:srgbClr val="111111"/>
                </a:solidFill>
                <a:latin typeface="Aptos"/>
                <a:ea typeface="Aptos"/>
                <a:cs typeface="Aptos"/>
              </a:defRPr>
            </a:pPr>
            <a:r>
              <a:rPr sz="2250" b="1">
                <a:solidFill>
                  <a:srgbClr val="111111"/>
                </a:solidFill>
                <a:latin typeface="Aptos"/>
                <a:ea typeface="Aptos"/>
                <a:cs typeface="Aptos"/>
              </a:rPr>
              <a:t>The actual proposal</a:t>
            </a:r>
          </a:p>
        </p:txBody>
      </p:sp>
      <p:sp>
        <p:nvSpPr>
          <p:cNvPr id="5" name="s9-text-5">
            <a:extLst>
              <a:ext uri="{FF2B5EF4-FFF2-40B4-BE49-F238E27FC236}">
                <a16:creationId xmlns:a16="http://schemas.microsoft.com/office/drawing/2014/main" id="{674B98EA-CF73-4A38-B4D8-D32C69FBD611}"/>
              </a:ext>
            </a:extLst>
          </p:cNvPr>
          <p:cNvSpPr>
            <a:spLocks noGrp="1"/>
          </p:cNvSpPr>
          <p:nvPr/>
        </p:nvSpPr>
        <p:spPr>
          <a:xfrm>
            <a:off x="457200" y="2571750"/>
            <a:ext cx="11239500" cy="685800"/>
          </a:xfrm>
          <a:prstGeom prst="rect">
            <a:avLst/>
          </a:prstGeom>
          <a:noFill/>
          <a:ln w="0">
            <a:noFill/>
          </a:ln>
        </p:spPr>
        <p:txBody>
          <a:bodyPr wrap="square" lIns="0" tIns="0" rIns="0" bIns="0" anchor="t">
            <a:noAutofit/>
          </a:bodyPr>
          <a:lstStyle/>
          <a:p>
            <a:pPr algn="l">
              <a:defRPr sz="2550" b="0">
                <a:solidFill>
                  <a:srgbClr val="111111"/>
                </a:solidFill>
                <a:latin typeface="Aptos"/>
                <a:ea typeface="Aptos"/>
                <a:cs typeface="Aptos"/>
              </a:defRPr>
            </a:pPr>
            <a:r>
              <a:rPr sz="2550" b="0">
                <a:solidFill>
                  <a:srgbClr val="111111"/>
                </a:solidFill>
                <a:latin typeface="Aptos"/>
                <a:ea typeface="Aptos"/>
                <a:cs typeface="Aptos"/>
              </a:rPr>
              <a:t>Add a 315 g option. Keep the usual 425 g portion available.</a:t>
            </a:r>
          </a:p>
        </p:txBody>
      </p:sp>
      <p:sp>
        <p:nvSpPr>
          <p:cNvPr id="6" name="s9-text-6">
            <a:extLst>
              <a:ext uri="{FF2B5EF4-FFF2-40B4-BE49-F238E27FC236}">
                <a16:creationId xmlns:a16="http://schemas.microsoft.com/office/drawing/2014/main" id="{8A4AAAD3-F013-408C-99E7-85107D846EB8}"/>
              </a:ext>
            </a:extLst>
          </p:cNvPr>
          <p:cNvSpPr>
            <a:spLocks noGrp="1"/>
          </p:cNvSpPr>
          <p:nvPr/>
        </p:nvSpPr>
        <p:spPr>
          <a:xfrm>
            <a:off x="457200" y="3609975"/>
            <a:ext cx="11239500" cy="809625"/>
          </a:xfrm>
          <a:prstGeom prst="rect">
            <a:avLst/>
          </a:prstGeom>
          <a:noFill/>
          <a:ln w="0">
            <a:noFill/>
          </a:ln>
        </p:spPr>
        <p:txBody>
          <a:bodyPr wrap="square" lIns="0" tIns="0" rIns="0" bIns="0" anchor="t">
            <a:noAutofit/>
          </a:bodyPr>
          <a:lstStyle/>
          <a:p>
            <a:pPr algn="l">
              <a:defRPr sz="2400" b="0">
                <a:solidFill>
                  <a:srgbClr val="111111"/>
                </a:solidFill>
                <a:latin typeface="Aptos"/>
                <a:ea typeface="Aptos"/>
                <a:cs typeface="Aptos"/>
              </a:defRPr>
            </a:pPr>
            <a:r>
              <a:rPr sz="2400" b="0">
                <a:solidFill>
                  <a:srgbClr val="111111"/>
                </a:solidFill>
                <a:latin typeface="Aptos"/>
                <a:ea typeface="Aptos"/>
                <a:cs typeface="Aptos"/>
              </a:rPr>
              <a:t>Write one neutral survey question with balanced response options.</a:t>
            </a:r>
          </a:p>
        </p:txBody>
      </p:sp>
      <p:sp>
        <p:nvSpPr>
          <p:cNvPr id="7" name="s9-text-7">
            <a:extLst>
              <a:ext uri="{FF2B5EF4-FFF2-40B4-BE49-F238E27FC236}">
                <a16:creationId xmlns:a16="http://schemas.microsoft.com/office/drawing/2014/main" id="{918F7F36-7BB3-4484-9B08-FC71BC8B0F02}"/>
              </a:ext>
            </a:extLst>
          </p:cNvPr>
          <p:cNvSpPr>
            <a:spLocks noGrp="1"/>
          </p:cNvSpPr>
          <p:nvPr/>
        </p:nvSpPr>
        <p:spPr>
          <a:xfrm>
            <a:off x="457200" y="4572000"/>
            <a:ext cx="11239500" cy="904875"/>
          </a:xfrm>
          <a:prstGeom prst="rect">
            <a:avLst/>
          </a:prstGeom>
          <a:noFill/>
          <a:ln w="0">
            <a:noFill/>
          </a:ln>
        </p:spPr>
        <p:txBody>
          <a:bodyPr wrap="square" lIns="0" tIns="0" rIns="0" bIns="0" anchor="t">
            <a:noAutofit/>
          </a:bodyPr>
          <a:lstStyle/>
          <a:p>
            <a:pPr algn="l">
              <a:defRPr sz="2250" b="0">
                <a:solidFill>
                  <a:srgbClr val="111111"/>
                </a:solidFill>
                <a:latin typeface="Aptos"/>
                <a:ea typeface="Aptos"/>
                <a:cs typeface="Aptos"/>
              </a:defRPr>
            </a:pPr>
            <a:r>
              <a:rPr sz="2250" b="0">
                <a:solidFill>
                  <a:srgbClr val="111111"/>
                </a:solidFill>
                <a:latin typeface="Aptos"/>
                <a:ea typeface="Aptos"/>
                <a:cs typeface="Aptos"/>
              </a:rPr>
              <a:t>Ask another pair to explain what your question means.</a:t>
            </a:r>
          </a:p>
          <a:p>
            <a:pPr algn="l">
              <a:defRPr sz="2250" b="0">
                <a:solidFill>
                  <a:srgbClr val="111111"/>
                </a:solidFill>
                <a:latin typeface="Aptos"/>
                <a:ea typeface="Aptos"/>
                <a:cs typeface="Aptos"/>
              </a:defRPr>
            </a:pPr>
            <a:r>
              <a:rPr sz="2250" b="0">
                <a:solidFill>
                  <a:srgbClr val="111111"/>
                </a:solidFill>
                <a:latin typeface="Aptos"/>
                <a:ea typeface="Aptos"/>
                <a:cs typeface="Aptos"/>
              </a:rPr>
              <a:t>Check whether they understood the same proposal.</a:t>
            </a:r>
          </a:p>
        </p:txBody>
      </p:sp>
      <p:sp>
        <p:nvSpPr>
          <p:cNvPr id="8" name="s9-rect-8">
            <a:extLst>
              <a:ext uri="{FF2B5EF4-FFF2-40B4-BE49-F238E27FC236}">
                <a16:creationId xmlns:a16="http://schemas.microsoft.com/office/drawing/2014/main" id="{B345F425-D0EE-4C10-915F-CD2404ED42E5}"/>
              </a:ext>
            </a:extLst>
          </p:cNvPr>
          <p:cNvSpPr>
            <a:spLocks noGrp="1"/>
          </p:cNvSpPr>
          <p:nvPr/>
        </p:nvSpPr>
        <p:spPr>
          <a:xfrm>
            <a:off x="428625" y="5857875"/>
            <a:ext cx="2762250" cy="400050"/>
          </a:xfrm>
          <a:prstGeom prst="rect">
            <a:avLst/>
          </a:prstGeom>
          <a:solidFill>
            <a:srgbClr val="D6171D"/>
          </a:solidFill>
          <a:ln w="0">
            <a:noFill/>
          </a:ln>
        </p:spPr>
        <p:txBody>
          <a:bodyPr/>
          <a:lstStyle/>
          <a:p>
            <a:endParaRPr lang="en-US"/>
          </a:p>
        </p:txBody>
      </p:sp>
      <p:sp>
        <p:nvSpPr>
          <p:cNvPr id="9" name="s9-text-9">
            <a:extLst>
              <a:ext uri="{FF2B5EF4-FFF2-40B4-BE49-F238E27FC236}">
                <a16:creationId xmlns:a16="http://schemas.microsoft.com/office/drawing/2014/main" id="{C666D4FD-9662-4CE5-A412-DF91CB58F5F4}"/>
              </a:ext>
            </a:extLst>
          </p:cNvPr>
          <p:cNvSpPr>
            <a:spLocks noGrp="1"/>
          </p:cNvSpPr>
          <p:nvPr/>
        </p:nvSpPr>
        <p:spPr>
          <a:xfrm>
            <a:off x="523875" y="5915025"/>
            <a:ext cx="2571750" cy="323850"/>
          </a:xfrm>
          <a:prstGeom prst="rect">
            <a:avLst/>
          </a:prstGeom>
          <a:noFill/>
          <a:ln w="0">
            <a:noFill/>
          </a:ln>
        </p:spPr>
        <p:txBody>
          <a:bodyPr wrap="square" lIns="0" tIns="0" rIns="0" bIns="0" anchor="t">
            <a:noAutofit/>
          </a:bodyPr>
          <a:lstStyle/>
          <a:p>
            <a:pPr algn="ctr">
              <a:defRPr sz="1800" b="1">
                <a:solidFill>
                  <a:srgbClr val="FFFFFF"/>
                </a:solidFill>
                <a:latin typeface="Aptos"/>
                <a:ea typeface="Aptos"/>
                <a:cs typeface="Aptos"/>
              </a:defRPr>
            </a:pPr>
            <a:r>
              <a:rPr sz="1800" b="1">
                <a:solidFill>
                  <a:srgbClr val="FFFFFF"/>
                </a:solidFill>
                <a:latin typeface="Aptos"/>
                <a:ea typeface="Aptos"/>
                <a:cs typeface="Aptos"/>
              </a:rPr>
              <a:t>DISCUSS   2 MIN</a:t>
            </a:r>
          </a:p>
        </p:txBody>
      </p:sp>
      <p:sp>
        <p:nvSpPr>
          <p:cNvPr id="10" name="s9-text-10">
            <a:extLst>
              <a:ext uri="{FF2B5EF4-FFF2-40B4-BE49-F238E27FC236}">
                <a16:creationId xmlns:a16="http://schemas.microsoft.com/office/drawing/2014/main" id="{A1941934-20EF-42A6-9156-CB7930B8229F}"/>
              </a:ext>
            </a:extLst>
          </p:cNvPr>
          <p:cNvSpPr>
            <a:spLocks noGrp="1"/>
          </p:cNvSpPr>
          <p:nvPr/>
        </p:nvSpPr>
        <p:spPr>
          <a:xfrm>
            <a:off x="3381375" y="5867400"/>
            <a:ext cx="8286750" cy="457200"/>
          </a:xfrm>
          <a:prstGeom prst="rect">
            <a:avLst/>
          </a:prstGeom>
          <a:noFill/>
          <a:ln w="0">
            <a:noFill/>
          </a:ln>
        </p:spPr>
        <p:txBody>
          <a:bodyPr wrap="square" lIns="0" tIns="0" rIns="0" bIns="0" anchor="t">
            <a:noAutofit/>
          </a:bodyPr>
          <a:lstStyle/>
          <a:p>
            <a:pPr algn="l">
              <a:defRPr sz="2100" b="1">
                <a:solidFill>
                  <a:srgbClr val="111111"/>
                </a:solidFill>
                <a:latin typeface="Aptos"/>
                <a:ea typeface="Aptos"/>
                <a:cs typeface="Aptos"/>
              </a:defRPr>
            </a:pPr>
            <a:r>
              <a:rPr sz="2100" b="1">
                <a:solidFill>
                  <a:srgbClr val="111111"/>
                </a:solidFill>
                <a:latin typeface="Aptos"/>
                <a:ea typeface="Aptos"/>
                <a:cs typeface="Aptos"/>
              </a:rPr>
              <a:t>Write, test and adjust your wording.</a:t>
            </a:r>
          </a:p>
        </p:txBody>
      </p:sp>
      <p:sp>
        <p:nvSpPr>
          <p:cNvPr id="11" name="s9-text-11">
            <a:extLst>
              <a:ext uri="{FF2B5EF4-FFF2-40B4-BE49-F238E27FC236}">
                <a16:creationId xmlns:a16="http://schemas.microsoft.com/office/drawing/2014/main" id="{C290CA89-70A8-4DB2-ADE2-1815AEE94BC3}"/>
              </a:ext>
            </a:extLst>
          </p:cNvPr>
          <p:cNvSpPr>
            <a:spLocks noGrp="1"/>
          </p:cNvSpPr>
          <p:nvPr/>
        </p:nvSpPr>
        <p:spPr>
          <a:xfrm>
            <a:off x="457200" y="6477000"/>
            <a:ext cx="10763250" cy="238125"/>
          </a:xfrm>
          <a:prstGeom prst="rect">
            <a:avLst/>
          </a:prstGeom>
          <a:noFill/>
          <a:ln w="0">
            <a:noFill/>
          </a:ln>
        </p:spPr>
        <p:txBody>
          <a:bodyPr wrap="square" lIns="0" tIns="0" rIns="0" bIns="0" anchor="t">
            <a:noAutofit/>
          </a:bodyPr>
          <a:lstStyle/>
          <a:p>
            <a:endParaRPr/>
          </a:p>
        </p:txBody>
      </p:sp>
      <p:sp>
        <p:nvSpPr>
          <p:cNvPr id="12" name="s9-text-12">
            <a:extLst>
              <a:ext uri="{FF2B5EF4-FFF2-40B4-BE49-F238E27FC236}">
                <a16:creationId xmlns:a16="http://schemas.microsoft.com/office/drawing/2014/main" id="{6E9F5C75-FD6C-4AB8-AF5F-714AE1778C6B}"/>
              </a:ext>
            </a:extLst>
          </p:cNvPr>
          <p:cNvSpPr>
            <a:spLocks noGrp="1"/>
          </p:cNvSpPr>
          <p:nvPr/>
        </p:nvSpPr>
        <p:spPr>
          <a:xfrm>
            <a:off x="11239500" y="6477000"/>
            <a:ext cx="476250" cy="238125"/>
          </a:xfrm>
          <a:prstGeom prst="rect">
            <a:avLst/>
          </a:prstGeom>
          <a:noFill/>
          <a:ln w="0">
            <a:noFill/>
          </a:ln>
        </p:spPr>
        <p:txBody>
          <a:bodyPr wrap="square" lIns="0" tIns="0" rIns="0" bIns="0" anchor="t">
            <a:noAutofit/>
          </a:bodyPr>
          <a:lstStyle/>
          <a:p>
            <a:pPr algn="r">
              <a:defRPr sz="1275" b="0">
                <a:solidFill>
                  <a:srgbClr val="666666"/>
                </a:solidFill>
                <a:latin typeface="Aptos"/>
                <a:ea typeface="Aptos"/>
                <a:cs typeface="Aptos"/>
              </a:defRPr>
            </a:pPr>
            <a:r>
              <a:rPr sz="1275" b="0">
                <a:solidFill>
                  <a:srgbClr val="666666"/>
                </a:solidFill>
                <a:latin typeface="Aptos"/>
                <a:ea typeface="Aptos"/>
                <a:cs typeface="Aptos"/>
              </a:rPr>
              <a:t>9</a:t>
            </a:r>
          </a:p>
        </p:txBody>
      </p:sp>
    </p:spTree>
    <p:extLst>
      <p:ext uri="{BB962C8B-B14F-4D97-AF65-F5344CB8AC3E}">
        <p14:creationId xmlns:p14="http://schemas.microsoft.com/office/powerpoint/2010/main" val="32813612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text-1">
            <a:extLst>
              <a:ext uri="{FF2B5EF4-FFF2-40B4-BE49-F238E27FC236}">
                <a16:creationId xmlns:a16="http://schemas.microsoft.com/office/drawing/2014/main" id="{41B0A491-1E05-4FA8-B616-ED51162EB707}"/>
              </a:ext>
            </a:extLst>
          </p:cNvPr>
          <p:cNvSpPr>
            <a:spLocks noGrp="1"/>
          </p:cNvSpPr>
          <p:nvPr/>
        </p:nvSpPr>
        <p:spPr>
          <a:xfrm>
            <a:off x="430816" y="1038225"/>
            <a:ext cx="11293412" cy="78105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One usable survey question</a:t>
            </a:r>
          </a:p>
        </p:txBody>
      </p:sp>
      <p:sp>
        <p:nvSpPr>
          <p:cNvPr id="2" name="s10-rect-2">
            <a:extLst>
              <a:ext uri="{FF2B5EF4-FFF2-40B4-BE49-F238E27FC236}">
                <a16:creationId xmlns:a16="http://schemas.microsoft.com/office/drawing/2014/main" id="{C5AD0A51-8B93-45FC-941C-27ACB35A8F43}"/>
              </a:ext>
            </a:extLst>
          </p:cNvPr>
          <p:cNvSpPr>
            <a:spLocks noGrp="1"/>
          </p:cNvSpPr>
          <p:nvPr/>
        </p:nvSpPr>
        <p:spPr>
          <a:xfrm>
            <a:off x="8734425" y="476250"/>
            <a:ext cx="3000375" cy="400050"/>
          </a:xfrm>
          <a:prstGeom prst="rect">
            <a:avLst/>
          </a:prstGeom>
          <a:solidFill>
            <a:srgbClr val="D6171D"/>
          </a:solidFill>
          <a:ln w="0">
            <a:noFill/>
          </a:ln>
        </p:spPr>
        <p:txBody>
          <a:bodyPr/>
          <a:lstStyle/>
          <a:p>
            <a:endParaRPr lang="en-US"/>
          </a:p>
        </p:txBody>
      </p:sp>
      <p:sp>
        <p:nvSpPr>
          <p:cNvPr id="3" name="s10-text-3">
            <a:extLst>
              <a:ext uri="{FF2B5EF4-FFF2-40B4-BE49-F238E27FC236}">
                <a16:creationId xmlns:a16="http://schemas.microsoft.com/office/drawing/2014/main" id="{F9309589-2344-41E2-B9AF-8FE0A653308B}"/>
              </a:ext>
            </a:extLst>
          </p:cNvPr>
          <p:cNvSpPr>
            <a:spLocks noGrp="1"/>
          </p:cNvSpPr>
          <p:nvPr/>
        </p:nvSpPr>
        <p:spPr>
          <a:xfrm>
            <a:off x="8829675" y="533400"/>
            <a:ext cx="2809875" cy="323850"/>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C2.2</a:t>
            </a:r>
          </a:p>
        </p:txBody>
      </p:sp>
      <p:sp>
        <p:nvSpPr>
          <p:cNvPr id="4" name="s10-text-4">
            <a:extLst>
              <a:ext uri="{FF2B5EF4-FFF2-40B4-BE49-F238E27FC236}">
                <a16:creationId xmlns:a16="http://schemas.microsoft.com/office/drawing/2014/main" id="{7C2B3BB2-FEBF-4A25-A0F5-D32CA0797723}"/>
              </a:ext>
            </a:extLst>
          </p:cNvPr>
          <p:cNvSpPr>
            <a:spLocks noGrp="1"/>
          </p:cNvSpPr>
          <p:nvPr/>
        </p:nvSpPr>
        <p:spPr>
          <a:xfrm>
            <a:off x="457200" y="2105025"/>
            <a:ext cx="11239500" cy="1238250"/>
          </a:xfrm>
          <a:prstGeom prst="rect">
            <a:avLst/>
          </a:prstGeom>
          <a:noFill/>
          <a:ln w="0">
            <a:noFill/>
          </a:ln>
        </p:spPr>
        <p:txBody>
          <a:bodyPr wrap="square" lIns="0" tIns="0" rIns="0" bIns="0" anchor="t">
            <a:noAutofit/>
          </a:bodyPr>
          <a:lstStyle/>
          <a:p>
            <a:pPr algn="l">
              <a:defRPr sz="2550" b="0">
                <a:solidFill>
                  <a:srgbClr val="111111"/>
                </a:solidFill>
                <a:latin typeface="Aptos"/>
                <a:ea typeface="Aptos"/>
                <a:cs typeface="Aptos"/>
              </a:defRPr>
            </a:pPr>
            <a:r>
              <a:rPr sz="2550" b="0">
                <a:solidFill>
                  <a:srgbClr val="111111"/>
                </a:solidFill>
                <a:latin typeface="Aptos"/>
                <a:ea typeface="Aptos"/>
                <a:cs typeface="Aptos"/>
              </a:rPr>
              <a:t>“The canteen is considering offering a smaller portion</a:t>
            </a:r>
          </a:p>
          <a:p>
            <a:pPr algn="l">
              <a:defRPr sz="2550" b="0">
                <a:solidFill>
                  <a:srgbClr val="111111"/>
                </a:solidFill>
                <a:latin typeface="Aptos"/>
                <a:ea typeface="Aptos"/>
                <a:cs typeface="Aptos"/>
              </a:defRPr>
            </a:pPr>
            <a:r>
              <a:rPr sz="2550" b="0">
                <a:solidFill>
                  <a:srgbClr val="111111"/>
                </a:solidFill>
                <a:latin typeface="Aptos"/>
                <a:ea typeface="Aptos"/>
                <a:cs typeface="Aptos"/>
              </a:rPr>
              <a:t>alongside its usual portion. Would you support this option?”</a:t>
            </a:r>
          </a:p>
        </p:txBody>
      </p:sp>
      <p:graphicFrame>
        <p:nvGraphicFramePr>
          <p:cNvPr id="14" name="Table 13"/>
          <p:cNvGraphicFramePr/>
          <p:nvPr/>
        </p:nvGraphicFramePr>
        <p:xfrm>
          <a:off x="457200" y="3657600"/>
          <a:ext cx="11239500" cy="619125"/>
        </p:xfrm>
        <a:graphic>
          <a:graphicData uri="http://schemas.openxmlformats.org/drawingml/2006/table">
            <a:tbl>
              <a:tblPr firstRow="1"/>
              <a:tblGrid>
                <a:gridCol w="3743325">
                  <a:extLst>
                    <a:ext uri="{9D8B030D-6E8A-4147-A177-3AD203B41FA5}">
                      <a16:colId xmlns:a16="http://schemas.microsoft.com/office/drawing/2014/main" val="20000"/>
                    </a:ext>
                  </a:extLst>
                </a:gridCol>
                <a:gridCol w="3752850">
                  <a:extLst>
                    <a:ext uri="{9D8B030D-6E8A-4147-A177-3AD203B41FA5}">
                      <a16:colId xmlns:a16="http://schemas.microsoft.com/office/drawing/2014/main" val="20001"/>
                    </a:ext>
                  </a:extLst>
                </a:gridCol>
                <a:gridCol w="3743325">
                  <a:extLst>
                    <a:ext uri="{9D8B030D-6E8A-4147-A177-3AD203B41FA5}">
                      <a16:colId xmlns:a16="http://schemas.microsoft.com/office/drawing/2014/main" val="20002"/>
                    </a:ext>
                  </a:extLst>
                </a:gridCol>
              </a:tblGrid>
              <a:tr h="619125">
                <a:tc>
                  <a:txBody>
                    <a:bodyPr/>
                    <a:lstStyle/>
                    <a:p>
                      <a:pPr algn="ctr"/>
                      <a:r>
                        <a:rPr sz="2250" b="1">
                          <a:solidFill>
                            <a:srgbClr val="FFFFFF"/>
                          </a:solidFill>
                          <a:latin typeface="Aptos"/>
                          <a:ea typeface="Aptos"/>
                          <a:cs typeface="Aptos"/>
                        </a:rPr>
                        <a:t>Support</a:t>
                      </a:r>
                    </a:p>
                  </a:txBody>
                  <a:tcPr marL="95250" marR="95250" marT="19050" marB="19050" anchor="ctr">
                    <a:solidFill>
                      <a:srgbClr val="D6171D"/>
                    </a:solidFill>
                  </a:tcPr>
                </a:tc>
                <a:tc>
                  <a:txBody>
                    <a:bodyPr/>
                    <a:lstStyle/>
                    <a:p>
                      <a:pPr algn="ctr"/>
                      <a:r>
                        <a:rPr sz="2250" b="1">
                          <a:solidFill>
                            <a:srgbClr val="FFFFFF"/>
                          </a:solidFill>
                          <a:latin typeface="Aptos"/>
                          <a:ea typeface="Aptos"/>
                          <a:cs typeface="Aptos"/>
                        </a:rPr>
                        <a:t>Oppose</a:t>
                      </a:r>
                    </a:p>
                  </a:txBody>
                  <a:tcPr marL="95250" marR="95250" marT="19050" marB="19050" anchor="ctr">
                    <a:solidFill>
                      <a:srgbClr val="D6171D"/>
                    </a:solidFill>
                  </a:tcPr>
                </a:tc>
                <a:tc>
                  <a:txBody>
                    <a:bodyPr/>
                    <a:lstStyle/>
                    <a:p>
                      <a:pPr algn="ctr"/>
                      <a:r>
                        <a:rPr sz="2250" b="1">
                          <a:solidFill>
                            <a:srgbClr val="FFFFFF"/>
                          </a:solidFill>
                          <a:latin typeface="Aptos"/>
                          <a:ea typeface="Aptos"/>
                          <a:cs typeface="Aptos"/>
                        </a:rPr>
                        <a:t>Unsure</a:t>
                      </a:r>
                    </a:p>
                  </a:txBody>
                  <a:tcPr marL="95250" marR="95250" marT="19050" marB="19050" anchor="ctr">
                    <a:solidFill>
                      <a:srgbClr val="D6171D"/>
                    </a:solidFill>
                  </a:tcPr>
                </a:tc>
                <a:extLst>
                  <a:ext uri="{0D108BD9-81ED-4DB2-BD59-A6C34878D82A}">
                    <a16:rowId xmlns:a16="http://schemas.microsoft.com/office/drawing/2014/main" val="10000"/>
                  </a:ext>
                </a:extLst>
              </a:tr>
            </a:tbl>
          </a:graphicData>
        </a:graphic>
      </p:graphicFrame>
      <p:sp>
        <p:nvSpPr>
          <p:cNvPr id="6" name="s10-text-5">
            <a:extLst>
              <a:ext uri="{FF2B5EF4-FFF2-40B4-BE49-F238E27FC236}">
                <a16:creationId xmlns:a16="http://schemas.microsoft.com/office/drawing/2014/main" id="{BFF4C1D4-04AA-4B58-9BEE-4565A385C806}"/>
              </a:ext>
            </a:extLst>
          </p:cNvPr>
          <p:cNvSpPr>
            <a:spLocks noGrp="1"/>
          </p:cNvSpPr>
          <p:nvPr/>
        </p:nvSpPr>
        <p:spPr>
          <a:xfrm>
            <a:off x="457200" y="4791075"/>
            <a:ext cx="11239500" cy="590550"/>
          </a:xfrm>
          <a:prstGeom prst="rect">
            <a:avLst/>
          </a:prstGeom>
          <a:noFill/>
          <a:ln w="0">
            <a:noFill/>
          </a:ln>
        </p:spPr>
        <p:txBody>
          <a:bodyPr wrap="square" lIns="0" tIns="0" rIns="0" bIns="0" anchor="t">
            <a:noAutofit/>
          </a:bodyPr>
          <a:lstStyle/>
          <a:p>
            <a:pPr algn="l">
              <a:defRPr sz="2400" b="1">
                <a:solidFill>
                  <a:srgbClr val="111111"/>
                </a:solidFill>
                <a:latin typeface="Aptos"/>
                <a:ea typeface="Aptos"/>
                <a:cs typeface="Aptos"/>
              </a:defRPr>
            </a:pPr>
            <a:r>
              <a:rPr sz="2400" b="1">
                <a:solidFill>
                  <a:srgbClr val="111111"/>
                </a:solidFill>
                <a:latin typeface="Aptos"/>
                <a:ea typeface="Aptos"/>
                <a:cs typeface="Aptos"/>
              </a:rPr>
              <a:t>This records opinion about offering a choice.</a:t>
            </a:r>
          </a:p>
        </p:txBody>
      </p:sp>
      <p:sp>
        <p:nvSpPr>
          <p:cNvPr id="7" name="s10-text-6">
            <a:extLst>
              <a:ext uri="{FF2B5EF4-FFF2-40B4-BE49-F238E27FC236}">
                <a16:creationId xmlns:a16="http://schemas.microsoft.com/office/drawing/2014/main" id="{77CA02DE-99E3-40AE-A317-0444E4E19E7B}"/>
              </a:ext>
            </a:extLst>
          </p:cNvPr>
          <p:cNvSpPr>
            <a:spLocks noGrp="1"/>
          </p:cNvSpPr>
          <p:nvPr/>
        </p:nvSpPr>
        <p:spPr>
          <a:xfrm>
            <a:off x="457200" y="5572125"/>
            <a:ext cx="11239500" cy="647700"/>
          </a:xfrm>
          <a:prstGeom prst="rect">
            <a:avLst/>
          </a:prstGeom>
          <a:noFill/>
          <a:ln w="0">
            <a:noFill/>
          </a:ln>
        </p:spPr>
        <p:txBody>
          <a:bodyPr wrap="square" lIns="0" tIns="0" rIns="0" bIns="0" anchor="t">
            <a:noAutofit/>
          </a:bodyPr>
          <a:lstStyle/>
          <a:p>
            <a:pPr algn="l">
              <a:defRPr sz="2250" b="0">
                <a:solidFill>
                  <a:srgbClr val="111111"/>
                </a:solidFill>
                <a:latin typeface="Aptos"/>
                <a:ea typeface="Aptos"/>
                <a:cs typeface="Aptos"/>
              </a:defRPr>
            </a:pPr>
            <a:r>
              <a:rPr sz="2250" b="0">
                <a:solidFill>
                  <a:srgbClr val="111111"/>
                </a:solidFill>
                <a:latin typeface="Aptos"/>
                <a:ea typeface="Aptos"/>
                <a:cs typeface="Aptos"/>
              </a:rPr>
              <a:t>The waste claim still requires measurements of leftovers.</a:t>
            </a:r>
          </a:p>
        </p:txBody>
      </p:sp>
      <p:sp>
        <p:nvSpPr>
          <p:cNvPr id="8" name="s10-text-7">
            <a:extLst>
              <a:ext uri="{FF2B5EF4-FFF2-40B4-BE49-F238E27FC236}">
                <a16:creationId xmlns:a16="http://schemas.microsoft.com/office/drawing/2014/main" id="{07F5070F-C452-4C02-86A4-C831A21393AF}"/>
              </a:ext>
            </a:extLst>
          </p:cNvPr>
          <p:cNvSpPr>
            <a:spLocks noGrp="1"/>
          </p:cNvSpPr>
          <p:nvPr/>
        </p:nvSpPr>
        <p:spPr>
          <a:xfrm>
            <a:off x="457200" y="6477000"/>
            <a:ext cx="10763250" cy="238125"/>
          </a:xfrm>
          <a:prstGeom prst="rect">
            <a:avLst/>
          </a:prstGeom>
          <a:noFill/>
          <a:ln w="0">
            <a:noFill/>
          </a:ln>
        </p:spPr>
        <p:txBody>
          <a:bodyPr wrap="square" lIns="0" tIns="0" rIns="0" bIns="0" anchor="t">
            <a:noAutofit/>
          </a:bodyPr>
          <a:lstStyle/>
          <a:p>
            <a:endParaRPr/>
          </a:p>
        </p:txBody>
      </p:sp>
      <p:sp>
        <p:nvSpPr>
          <p:cNvPr id="9" name="s10-text-8">
            <a:extLst>
              <a:ext uri="{FF2B5EF4-FFF2-40B4-BE49-F238E27FC236}">
                <a16:creationId xmlns:a16="http://schemas.microsoft.com/office/drawing/2014/main" id="{146407D9-FA71-4B23-9506-2407B8219AB6}"/>
              </a:ext>
            </a:extLst>
          </p:cNvPr>
          <p:cNvSpPr>
            <a:spLocks noGrp="1"/>
          </p:cNvSpPr>
          <p:nvPr/>
        </p:nvSpPr>
        <p:spPr>
          <a:xfrm>
            <a:off x="11239500" y="6477000"/>
            <a:ext cx="476250" cy="238125"/>
          </a:xfrm>
          <a:prstGeom prst="rect">
            <a:avLst/>
          </a:prstGeom>
          <a:noFill/>
          <a:ln w="0">
            <a:noFill/>
          </a:ln>
        </p:spPr>
        <p:txBody>
          <a:bodyPr wrap="square" lIns="0" tIns="0" rIns="0" bIns="0" anchor="t">
            <a:noAutofit/>
          </a:bodyPr>
          <a:lstStyle/>
          <a:p>
            <a:pPr algn="r">
              <a:defRPr sz="1275" b="0">
                <a:solidFill>
                  <a:srgbClr val="666666"/>
                </a:solidFill>
                <a:latin typeface="Aptos"/>
                <a:ea typeface="Aptos"/>
                <a:cs typeface="Aptos"/>
              </a:defRPr>
            </a:pPr>
            <a:r>
              <a:rPr sz="1275" b="0">
                <a:solidFill>
                  <a:srgbClr val="666666"/>
                </a:solidFill>
                <a:latin typeface="Aptos"/>
                <a:ea typeface="Aptos"/>
                <a:cs typeface="Aptos"/>
              </a:rPr>
              <a:t>10</a:t>
            </a:r>
          </a:p>
        </p:txBody>
      </p:sp>
    </p:spTree>
    <p:extLst>
      <p:ext uri="{BB962C8B-B14F-4D97-AF65-F5344CB8AC3E}">
        <p14:creationId xmlns:p14="http://schemas.microsoft.com/office/powerpoint/2010/main" val="32813612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11-text-1">
            <a:extLst>
              <a:ext uri="{FF2B5EF4-FFF2-40B4-BE49-F238E27FC236}">
                <a16:creationId xmlns:a16="http://schemas.microsoft.com/office/drawing/2014/main" id="{3F7D3457-D87E-4D3D-B25D-69569F62773D}"/>
              </a:ext>
            </a:extLst>
          </p:cNvPr>
          <p:cNvSpPr>
            <a:spLocks noGrp="1"/>
          </p:cNvSpPr>
          <p:nvPr/>
        </p:nvSpPr>
        <p:spPr>
          <a:xfrm>
            <a:off x="430816" y="1038225"/>
            <a:ext cx="11293412" cy="78105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The sampling brief</a:t>
            </a:r>
          </a:p>
        </p:txBody>
      </p:sp>
      <p:graphicFrame>
        <p:nvGraphicFramePr>
          <p:cNvPr id="9" name="Table 8"/>
          <p:cNvGraphicFramePr/>
          <p:nvPr/>
        </p:nvGraphicFramePr>
        <p:xfrm>
          <a:off x="457200" y="2066925"/>
          <a:ext cx="6286500" cy="2905125"/>
        </p:xfrm>
        <a:graphic>
          <a:graphicData uri="http://schemas.openxmlformats.org/drawingml/2006/table">
            <a:tbl>
              <a:tblPr firstRow="1"/>
              <a:tblGrid>
                <a:gridCol w="40005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581025">
                <a:tc>
                  <a:txBody>
                    <a:bodyPr/>
                    <a:lstStyle/>
                    <a:p>
                      <a:pPr algn="l"/>
                      <a:r>
                        <a:rPr sz="2100" b="1">
                          <a:solidFill>
                            <a:srgbClr val="FFFFFF"/>
                          </a:solidFill>
                          <a:latin typeface="Aptos"/>
                          <a:ea typeface="Aptos"/>
                          <a:cs typeface="Aptos"/>
                        </a:rPr>
                        <a:t>College information</a:t>
                      </a:r>
                    </a:p>
                  </a:txBody>
                  <a:tcPr marL="95250" marR="95250" marT="19050" marB="19050" anchor="ctr">
                    <a:solidFill>
                      <a:srgbClr val="D6171D"/>
                    </a:solidFill>
                  </a:tcPr>
                </a:tc>
                <a:tc>
                  <a:txBody>
                    <a:bodyPr/>
                    <a:lstStyle/>
                    <a:p>
                      <a:pPr algn="ctr"/>
                      <a:r>
                        <a:rPr sz="2100" b="1">
                          <a:solidFill>
                            <a:srgbClr val="FFFFFF"/>
                          </a:solidFill>
                          <a:latin typeface="Aptos"/>
                          <a:ea typeface="Aptos"/>
                          <a:cs typeface="Aptos"/>
                        </a:rPr>
                        <a:t>Number</a:t>
                      </a:r>
                    </a:p>
                  </a:txBody>
                  <a:tcPr marL="95250" marR="95250" marT="19050" marB="19050" anchor="ctr">
                    <a:solidFill>
                      <a:srgbClr val="D6171D"/>
                    </a:solidFill>
                  </a:tcPr>
                </a:tc>
                <a:extLst>
                  <a:ext uri="{0D108BD9-81ED-4DB2-BD59-A6C34878D82A}">
                    <a16:rowId xmlns:a16="http://schemas.microsoft.com/office/drawing/2014/main" val="10000"/>
                  </a:ext>
                </a:extLst>
              </a:tr>
              <a:tr h="581025">
                <a:tc>
                  <a:txBody>
                    <a:bodyPr/>
                    <a:lstStyle/>
                    <a:p>
                      <a:pPr algn="l"/>
                      <a:r>
                        <a:rPr sz="2100" b="0">
                          <a:solidFill>
                            <a:srgbClr val="111111"/>
                          </a:solidFill>
                          <a:latin typeface="Aptos"/>
                          <a:ea typeface="Aptos"/>
                          <a:cs typeface="Aptos"/>
                        </a:rPr>
                        <a:t>Business</a:t>
                      </a:r>
                    </a:p>
                  </a:txBody>
                  <a:tcPr marL="95250" marR="95250" marT="19050" marB="19050" anchor="ctr">
                    <a:solidFill>
                      <a:srgbClr val="FFFFFF"/>
                    </a:solidFill>
                  </a:tcPr>
                </a:tc>
                <a:tc>
                  <a:txBody>
                    <a:bodyPr/>
                    <a:lstStyle/>
                    <a:p>
                      <a:pPr algn="ctr"/>
                      <a:r>
                        <a:rPr sz="2100" b="0">
                          <a:solidFill>
                            <a:srgbClr val="111111"/>
                          </a:solidFill>
                          <a:latin typeface="Aptos"/>
                          <a:ea typeface="Aptos"/>
                          <a:cs typeface="Aptos"/>
                        </a:rPr>
                        <a:t>2,173</a:t>
                      </a:r>
                    </a:p>
                  </a:txBody>
                  <a:tcPr marL="95250" marR="95250" marT="19050" marB="19050" anchor="ctr">
                    <a:solidFill>
                      <a:srgbClr val="FFFFFF"/>
                    </a:solidFill>
                  </a:tcPr>
                </a:tc>
                <a:extLst>
                  <a:ext uri="{0D108BD9-81ED-4DB2-BD59-A6C34878D82A}">
                    <a16:rowId xmlns:a16="http://schemas.microsoft.com/office/drawing/2014/main" val="10001"/>
                  </a:ext>
                </a:extLst>
              </a:tr>
              <a:tr h="581025">
                <a:tc>
                  <a:txBody>
                    <a:bodyPr/>
                    <a:lstStyle/>
                    <a:p>
                      <a:pPr algn="l"/>
                      <a:r>
                        <a:rPr sz="2100" b="0">
                          <a:solidFill>
                            <a:srgbClr val="111111"/>
                          </a:solidFill>
                          <a:latin typeface="Aptos"/>
                          <a:ea typeface="Aptos"/>
                          <a:cs typeface="Aptos"/>
                        </a:rPr>
                        <a:t>Engineering</a:t>
                      </a:r>
                    </a:p>
                  </a:txBody>
                  <a:tcPr marL="95250" marR="95250" marT="19050" marB="19050" anchor="ctr">
                    <a:solidFill>
                      <a:srgbClr val="EFF8FF"/>
                    </a:solidFill>
                  </a:tcPr>
                </a:tc>
                <a:tc>
                  <a:txBody>
                    <a:bodyPr/>
                    <a:lstStyle/>
                    <a:p>
                      <a:pPr algn="ctr"/>
                      <a:r>
                        <a:rPr sz="2100" b="0">
                          <a:solidFill>
                            <a:srgbClr val="111111"/>
                          </a:solidFill>
                          <a:latin typeface="Aptos"/>
                          <a:ea typeface="Aptos"/>
                          <a:cs typeface="Aptos"/>
                        </a:rPr>
                        <a:t>1,523</a:t>
                      </a:r>
                    </a:p>
                  </a:txBody>
                  <a:tcPr marL="95250" marR="95250" marT="19050" marB="19050" anchor="ctr">
                    <a:solidFill>
                      <a:srgbClr val="EFF8FF"/>
                    </a:solidFill>
                  </a:tcPr>
                </a:tc>
                <a:extLst>
                  <a:ext uri="{0D108BD9-81ED-4DB2-BD59-A6C34878D82A}">
                    <a16:rowId xmlns:a16="http://schemas.microsoft.com/office/drawing/2014/main" val="10002"/>
                  </a:ext>
                </a:extLst>
              </a:tr>
              <a:tr h="581025">
                <a:tc>
                  <a:txBody>
                    <a:bodyPr/>
                    <a:lstStyle/>
                    <a:p>
                      <a:pPr algn="l"/>
                      <a:r>
                        <a:rPr sz="2100" b="0">
                          <a:solidFill>
                            <a:srgbClr val="111111"/>
                          </a:solidFill>
                          <a:latin typeface="Aptos"/>
                          <a:ea typeface="Aptos"/>
                          <a:cs typeface="Aptos"/>
                        </a:rPr>
                        <a:t>Total students</a:t>
                      </a:r>
                    </a:p>
                  </a:txBody>
                  <a:tcPr marL="95250" marR="95250" marT="19050" marB="19050" anchor="ctr">
                    <a:solidFill>
                      <a:srgbClr val="FFFFFF"/>
                    </a:solidFill>
                  </a:tcPr>
                </a:tc>
                <a:tc>
                  <a:txBody>
                    <a:bodyPr/>
                    <a:lstStyle/>
                    <a:p>
                      <a:pPr algn="ctr"/>
                      <a:r>
                        <a:rPr sz="2100" b="0">
                          <a:solidFill>
                            <a:srgbClr val="111111"/>
                          </a:solidFill>
                          <a:latin typeface="Aptos"/>
                          <a:ea typeface="Aptos"/>
                          <a:cs typeface="Aptos"/>
                        </a:rPr>
                        <a:t>3,696</a:t>
                      </a:r>
                    </a:p>
                  </a:txBody>
                  <a:tcPr marL="95250" marR="95250" marT="19050" marB="19050" anchor="ctr">
                    <a:solidFill>
                      <a:srgbClr val="FFFFFF"/>
                    </a:solidFill>
                  </a:tcPr>
                </a:tc>
                <a:extLst>
                  <a:ext uri="{0D108BD9-81ED-4DB2-BD59-A6C34878D82A}">
                    <a16:rowId xmlns:a16="http://schemas.microsoft.com/office/drawing/2014/main" val="10003"/>
                  </a:ext>
                </a:extLst>
              </a:tr>
              <a:tr h="581025">
                <a:tc>
                  <a:txBody>
                    <a:bodyPr/>
                    <a:lstStyle/>
                    <a:p>
                      <a:pPr algn="l"/>
                      <a:r>
                        <a:rPr sz="2100" b="0">
                          <a:solidFill>
                            <a:srgbClr val="111111"/>
                          </a:solidFill>
                          <a:latin typeface="Aptos"/>
                          <a:ea typeface="Aptos"/>
                          <a:cs typeface="Aptos"/>
                        </a:rPr>
                        <a:t>Target invitations</a:t>
                      </a:r>
                    </a:p>
                  </a:txBody>
                  <a:tcPr marL="95250" marR="95250" marT="19050" marB="19050" anchor="ctr">
                    <a:solidFill>
                      <a:srgbClr val="EFF8FF"/>
                    </a:solidFill>
                  </a:tcPr>
                </a:tc>
                <a:tc>
                  <a:txBody>
                    <a:bodyPr/>
                    <a:lstStyle/>
                    <a:p>
                      <a:pPr algn="ctr"/>
                      <a:r>
                        <a:rPr sz="2100" b="0">
                          <a:solidFill>
                            <a:srgbClr val="111111"/>
                          </a:solidFill>
                          <a:latin typeface="Aptos"/>
                          <a:ea typeface="Aptos"/>
                          <a:cs typeface="Aptos"/>
                        </a:rPr>
                        <a:t>176</a:t>
                      </a:r>
                    </a:p>
                  </a:txBody>
                  <a:tcPr marL="95250" marR="95250" marT="19050" marB="19050" anchor="ctr">
                    <a:solidFill>
                      <a:srgbClr val="EFF8FF"/>
                    </a:solidFill>
                  </a:tcPr>
                </a:tc>
                <a:extLst>
                  <a:ext uri="{0D108BD9-81ED-4DB2-BD59-A6C34878D82A}">
                    <a16:rowId xmlns:a16="http://schemas.microsoft.com/office/drawing/2014/main" val="10004"/>
                  </a:ext>
                </a:extLst>
              </a:tr>
            </a:tbl>
          </a:graphicData>
        </a:graphic>
      </p:graphicFrame>
      <p:sp>
        <p:nvSpPr>
          <p:cNvPr id="3" name="s11-text-2">
            <a:extLst>
              <a:ext uri="{FF2B5EF4-FFF2-40B4-BE49-F238E27FC236}">
                <a16:creationId xmlns:a16="http://schemas.microsoft.com/office/drawing/2014/main" id="{A04D287E-8FDF-4234-B647-4C1B6F7D71AC}"/>
              </a:ext>
            </a:extLst>
          </p:cNvPr>
          <p:cNvSpPr>
            <a:spLocks noGrp="1"/>
          </p:cNvSpPr>
          <p:nvPr/>
        </p:nvSpPr>
        <p:spPr>
          <a:xfrm>
            <a:off x="7191375" y="2066925"/>
            <a:ext cx="4448175" cy="1428750"/>
          </a:xfrm>
          <a:prstGeom prst="rect">
            <a:avLst/>
          </a:prstGeom>
          <a:noFill/>
          <a:ln w="0">
            <a:noFill/>
          </a:ln>
        </p:spPr>
        <p:txBody>
          <a:bodyPr wrap="square" lIns="0" tIns="0" rIns="0" bIns="0" anchor="t">
            <a:noAutofit/>
          </a:bodyPr>
          <a:lstStyle/>
          <a:p>
            <a:pPr algn="l">
              <a:defRPr sz="2400" b="1">
                <a:solidFill>
                  <a:srgbClr val="111111"/>
                </a:solidFill>
                <a:latin typeface="Aptos"/>
                <a:ea typeface="Aptos"/>
                <a:cs typeface="Aptos"/>
              </a:defRPr>
            </a:pPr>
            <a:r>
              <a:rPr sz="2400" b="1">
                <a:solidFill>
                  <a:srgbClr val="111111"/>
                </a:solidFill>
                <a:latin typeface="Aptos"/>
                <a:ea typeface="Aptos"/>
                <a:cs typeface="Aptos"/>
              </a:rPr>
              <a:t>Goal: college-wide opinions</a:t>
            </a:r>
          </a:p>
          <a:p>
            <a:pPr algn="l">
              <a:defRPr sz="2400" b="1">
                <a:solidFill>
                  <a:srgbClr val="111111"/>
                </a:solidFill>
                <a:latin typeface="Aptos"/>
                <a:ea typeface="Aptos"/>
                <a:cs typeface="Aptos"/>
              </a:defRPr>
            </a:pPr>
            <a:r>
              <a:rPr sz="2400" b="1">
                <a:solidFill>
                  <a:srgbClr val="111111"/>
                </a:solidFill>
                <a:latin typeface="Aptos"/>
                <a:ea typeface="Aptos"/>
                <a:cs typeface="Aptos"/>
              </a:rPr>
              <a:t>and separate findings for</a:t>
            </a:r>
          </a:p>
          <a:p>
            <a:pPr algn="l">
              <a:defRPr sz="2400" b="1">
                <a:solidFill>
                  <a:srgbClr val="111111"/>
                </a:solidFill>
                <a:latin typeface="Aptos"/>
                <a:ea typeface="Aptos"/>
                <a:cs typeface="Aptos"/>
              </a:defRPr>
            </a:pPr>
            <a:r>
              <a:rPr sz="2400" b="1">
                <a:solidFill>
                  <a:srgbClr val="111111"/>
                </a:solidFill>
                <a:latin typeface="Aptos"/>
                <a:ea typeface="Aptos"/>
                <a:cs typeface="Aptos"/>
              </a:rPr>
              <a:t>each programme.</a:t>
            </a:r>
          </a:p>
        </p:txBody>
      </p:sp>
      <p:sp>
        <p:nvSpPr>
          <p:cNvPr id="4" name="s11-text-3">
            <a:extLst>
              <a:ext uri="{FF2B5EF4-FFF2-40B4-BE49-F238E27FC236}">
                <a16:creationId xmlns:a16="http://schemas.microsoft.com/office/drawing/2014/main" id="{7137470F-C4DF-4391-8E2E-CCCF2A4DE16B}"/>
              </a:ext>
            </a:extLst>
          </p:cNvPr>
          <p:cNvSpPr>
            <a:spLocks noGrp="1"/>
          </p:cNvSpPr>
          <p:nvPr/>
        </p:nvSpPr>
        <p:spPr>
          <a:xfrm>
            <a:off x="7191375" y="3724275"/>
            <a:ext cx="4448175" cy="1219200"/>
          </a:xfrm>
          <a:prstGeom prst="rect">
            <a:avLst/>
          </a:prstGeom>
          <a:noFill/>
          <a:ln w="0">
            <a:noFill/>
          </a:ln>
        </p:spPr>
        <p:txBody>
          <a:bodyPr wrap="square" lIns="0" tIns="0" rIns="0" bIns="0" anchor="t">
            <a:noAutofit/>
          </a:bodyPr>
          <a:lstStyle/>
          <a:p>
            <a:pPr algn="l">
              <a:defRPr sz="2100" b="0">
                <a:solidFill>
                  <a:srgbClr val="111111"/>
                </a:solidFill>
                <a:latin typeface="Aptos"/>
                <a:ea typeface="Aptos"/>
                <a:cs typeface="Aptos"/>
              </a:defRPr>
            </a:pPr>
            <a:r>
              <a:rPr sz="2100" b="0">
                <a:solidFill>
                  <a:srgbClr val="111111"/>
                </a:solidFill>
                <a:latin typeface="Aptos"/>
                <a:ea typeface="Aptos"/>
                <a:cs typeface="Aptos"/>
              </a:rPr>
              <a:t>84 classes × 44 students</a:t>
            </a:r>
          </a:p>
          <a:p>
            <a:pPr algn="l">
              <a:defRPr sz="2100" b="0">
                <a:solidFill>
                  <a:srgbClr val="111111"/>
                </a:solidFill>
                <a:latin typeface="Aptos"/>
                <a:ea typeface="Aptos"/>
                <a:cs typeface="Aptos"/>
              </a:defRPr>
            </a:pPr>
            <a:r>
              <a:rPr sz="2100" b="0">
                <a:solidFill>
                  <a:srgbClr val="111111"/>
                </a:solidFill>
                <a:latin typeface="Aptos"/>
                <a:ea typeface="Aptos"/>
                <a:cs typeface="Aptos"/>
              </a:rPr>
              <a:t>Each student belongs to one class.</a:t>
            </a:r>
          </a:p>
          <a:p>
            <a:pPr algn="l">
              <a:defRPr sz="2100" b="0">
                <a:solidFill>
                  <a:srgbClr val="111111"/>
                </a:solidFill>
                <a:latin typeface="Aptos"/>
                <a:ea typeface="Aptos"/>
                <a:cs typeface="Aptos"/>
              </a:defRPr>
            </a:pPr>
            <a:r>
              <a:rPr sz="2100" b="0">
                <a:solidFill>
                  <a:srgbClr val="111111"/>
                </a:solidFill>
                <a:latin typeface="Aptos"/>
                <a:ea typeface="Aptos"/>
                <a:cs typeface="Aptos"/>
              </a:rPr>
              <a:t>Classes may mix programmes.</a:t>
            </a:r>
          </a:p>
        </p:txBody>
      </p:sp>
      <p:sp>
        <p:nvSpPr>
          <p:cNvPr id="5" name="s11-text-4">
            <a:extLst>
              <a:ext uri="{FF2B5EF4-FFF2-40B4-BE49-F238E27FC236}">
                <a16:creationId xmlns:a16="http://schemas.microsoft.com/office/drawing/2014/main" id="{98895285-662E-4C58-A3C8-5228B0A35E9F}"/>
              </a:ext>
            </a:extLst>
          </p:cNvPr>
          <p:cNvSpPr>
            <a:spLocks noGrp="1"/>
          </p:cNvSpPr>
          <p:nvPr/>
        </p:nvSpPr>
        <p:spPr>
          <a:xfrm>
            <a:off x="457200" y="5448300"/>
            <a:ext cx="11239500" cy="619125"/>
          </a:xfrm>
          <a:prstGeom prst="rect">
            <a:avLst/>
          </a:prstGeom>
          <a:noFill/>
          <a:ln w="0">
            <a:noFill/>
          </a:ln>
        </p:spPr>
        <p:txBody>
          <a:bodyPr wrap="square" lIns="0" tIns="0" rIns="0" bIns="0" anchor="t">
            <a:noAutofit/>
          </a:bodyPr>
          <a:lstStyle/>
          <a:p>
            <a:pPr algn="l">
              <a:defRPr sz="2250" b="0">
                <a:solidFill>
                  <a:srgbClr val="111111"/>
                </a:solidFill>
                <a:latin typeface="Aptos"/>
                <a:ea typeface="Aptos"/>
                <a:cs typeface="Aptos"/>
              </a:defRPr>
            </a:pPr>
            <a:r>
              <a:rPr sz="2250" b="0">
                <a:solidFill>
                  <a:srgbClr val="111111"/>
                </a:solidFill>
                <a:latin typeface="Aptos"/>
                <a:ea typeface="Aptos"/>
                <a:cs typeface="Aptos"/>
              </a:rPr>
              <a:t>Complete student, programme and class lists are available.</a:t>
            </a:r>
          </a:p>
        </p:txBody>
      </p:sp>
      <p:sp>
        <p:nvSpPr>
          <p:cNvPr id="6" name="s11-text-5">
            <a:extLst>
              <a:ext uri="{FF2B5EF4-FFF2-40B4-BE49-F238E27FC236}">
                <a16:creationId xmlns:a16="http://schemas.microsoft.com/office/drawing/2014/main" id="{C67F6692-137A-44AA-82CE-E661D7BD0610}"/>
              </a:ext>
            </a:extLst>
          </p:cNvPr>
          <p:cNvSpPr>
            <a:spLocks noGrp="1"/>
          </p:cNvSpPr>
          <p:nvPr/>
        </p:nvSpPr>
        <p:spPr>
          <a:xfrm>
            <a:off x="457200" y="6477000"/>
            <a:ext cx="10763250" cy="238125"/>
          </a:xfrm>
          <a:prstGeom prst="rect">
            <a:avLst/>
          </a:prstGeom>
          <a:noFill/>
          <a:ln w="0">
            <a:noFill/>
          </a:ln>
        </p:spPr>
        <p:txBody>
          <a:bodyPr wrap="square" lIns="0" tIns="0" rIns="0" bIns="0" anchor="t">
            <a:noAutofit/>
          </a:bodyPr>
          <a:lstStyle/>
          <a:p>
            <a:endParaRPr/>
          </a:p>
        </p:txBody>
      </p:sp>
      <p:sp>
        <p:nvSpPr>
          <p:cNvPr id="7" name="s11-text-6">
            <a:extLst>
              <a:ext uri="{FF2B5EF4-FFF2-40B4-BE49-F238E27FC236}">
                <a16:creationId xmlns:a16="http://schemas.microsoft.com/office/drawing/2014/main" id="{DCC10039-C333-4F39-B85C-3436784EAE44}"/>
              </a:ext>
            </a:extLst>
          </p:cNvPr>
          <p:cNvSpPr>
            <a:spLocks noGrp="1"/>
          </p:cNvSpPr>
          <p:nvPr/>
        </p:nvSpPr>
        <p:spPr>
          <a:xfrm>
            <a:off x="11239500" y="6477000"/>
            <a:ext cx="476250" cy="238125"/>
          </a:xfrm>
          <a:prstGeom prst="rect">
            <a:avLst/>
          </a:prstGeom>
          <a:noFill/>
          <a:ln w="0">
            <a:noFill/>
          </a:ln>
        </p:spPr>
        <p:txBody>
          <a:bodyPr wrap="square" lIns="0" tIns="0" rIns="0" bIns="0" anchor="t">
            <a:noAutofit/>
          </a:bodyPr>
          <a:lstStyle/>
          <a:p>
            <a:pPr algn="r">
              <a:defRPr sz="1275" b="0">
                <a:solidFill>
                  <a:srgbClr val="666666"/>
                </a:solidFill>
                <a:latin typeface="Aptos"/>
                <a:ea typeface="Aptos"/>
                <a:cs typeface="Aptos"/>
              </a:defRPr>
            </a:pPr>
            <a:r>
              <a:rPr sz="1275" b="0">
                <a:solidFill>
                  <a:srgbClr val="666666"/>
                </a:solidFill>
                <a:latin typeface="Aptos"/>
                <a:ea typeface="Aptos"/>
                <a:cs typeface="Aptos"/>
              </a:rPr>
              <a:t>11</a:t>
            </a:r>
          </a:p>
        </p:txBody>
      </p:sp>
    </p:spTree>
    <p:extLst>
      <p:ext uri="{BB962C8B-B14F-4D97-AF65-F5344CB8AC3E}">
        <p14:creationId xmlns:p14="http://schemas.microsoft.com/office/powerpoint/2010/main" val="32813612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12-text-1">
            <a:extLst>
              <a:ext uri="{FF2B5EF4-FFF2-40B4-BE49-F238E27FC236}">
                <a16:creationId xmlns:a16="http://schemas.microsoft.com/office/drawing/2014/main" id="{8A53199A-1667-4EBF-86B3-AF1AFCB65F76}"/>
              </a:ext>
            </a:extLst>
          </p:cNvPr>
          <p:cNvSpPr>
            <a:spLocks noGrp="1"/>
          </p:cNvSpPr>
          <p:nvPr/>
        </p:nvSpPr>
        <p:spPr>
          <a:xfrm>
            <a:off x="430816" y="1038225"/>
            <a:ext cx="11293412" cy="78105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Two ways to draw 176 students</a:t>
            </a:r>
          </a:p>
        </p:txBody>
      </p:sp>
      <p:sp>
        <p:nvSpPr>
          <p:cNvPr id="2" name="s12-rect-2">
            <a:extLst>
              <a:ext uri="{FF2B5EF4-FFF2-40B4-BE49-F238E27FC236}">
                <a16:creationId xmlns:a16="http://schemas.microsoft.com/office/drawing/2014/main" id="{16623CC7-76D0-416D-9B99-A33327BB75F9}"/>
              </a:ext>
            </a:extLst>
          </p:cNvPr>
          <p:cNvSpPr>
            <a:spLocks noGrp="1"/>
          </p:cNvSpPr>
          <p:nvPr/>
        </p:nvSpPr>
        <p:spPr>
          <a:xfrm>
            <a:off x="8734425" y="476250"/>
            <a:ext cx="3000375" cy="400050"/>
          </a:xfrm>
          <a:prstGeom prst="rect">
            <a:avLst/>
          </a:prstGeom>
          <a:solidFill>
            <a:srgbClr val="D6171D"/>
          </a:solidFill>
          <a:ln w="0">
            <a:noFill/>
          </a:ln>
        </p:spPr>
        <p:txBody>
          <a:bodyPr/>
          <a:lstStyle/>
          <a:p>
            <a:endParaRPr lang="en-US"/>
          </a:p>
        </p:txBody>
      </p:sp>
      <p:sp>
        <p:nvSpPr>
          <p:cNvPr id="3" name="s12-text-3">
            <a:extLst>
              <a:ext uri="{FF2B5EF4-FFF2-40B4-BE49-F238E27FC236}">
                <a16:creationId xmlns:a16="http://schemas.microsoft.com/office/drawing/2014/main" id="{D6831DBC-914F-4EBF-A380-F5B19E56512E}"/>
              </a:ext>
            </a:extLst>
          </p:cNvPr>
          <p:cNvSpPr>
            <a:spLocks noGrp="1"/>
          </p:cNvSpPr>
          <p:nvPr/>
        </p:nvSpPr>
        <p:spPr>
          <a:xfrm>
            <a:off x="8829675" y="533400"/>
            <a:ext cx="2809875" cy="323850"/>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C3.1</a:t>
            </a:r>
          </a:p>
        </p:txBody>
      </p:sp>
      <p:sp>
        <p:nvSpPr>
          <p:cNvPr id="4" name="s12-text-4">
            <a:extLst>
              <a:ext uri="{FF2B5EF4-FFF2-40B4-BE49-F238E27FC236}">
                <a16:creationId xmlns:a16="http://schemas.microsoft.com/office/drawing/2014/main" id="{5A5C21C7-7AE7-4020-9E27-01E4C06FB81A}"/>
              </a:ext>
            </a:extLst>
          </p:cNvPr>
          <p:cNvSpPr>
            <a:spLocks noGrp="1"/>
          </p:cNvSpPr>
          <p:nvPr/>
        </p:nvSpPr>
        <p:spPr>
          <a:xfrm>
            <a:off x="457200" y="2009775"/>
            <a:ext cx="5219700" cy="457200"/>
          </a:xfrm>
          <a:prstGeom prst="rect">
            <a:avLst/>
          </a:prstGeom>
          <a:noFill/>
          <a:ln w="0">
            <a:noFill/>
          </a:ln>
        </p:spPr>
        <p:txBody>
          <a:bodyPr wrap="square" lIns="0" tIns="0" rIns="0" bIns="0" anchor="t">
            <a:noAutofit/>
          </a:bodyPr>
          <a:lstStyle/>
          <a:p>
            <a:pPr algn="l">
              <a:defRPr sz="2400" b="1">
                <a:solidFill>
                  <a:srgbClr val="111111"/>
                </a:solidFill>
                <a:latin typeface="Aptos"/>
                <a:ea typeface="Aptos"/>
                <a:cs typeface="Aptos"/>
              </a:defRPr>
            </a:pPr>
            <a:r>
              <a:rPr sz="2400" b="1">
                <a:solidFill>
                  <a:srgbClr val="111111"/>
                </a:solidFill>
                <a:latin typeface="Aptos"/>
                <a:ea typeface="Aptos"/>
                <a:cs typeface="Aptos"/>
              </a:rPr>
              <a:t>Procedure A</a:t>
            </a:r>
          </a:p>
        </p:txBody>
      </p:sp>
      <p:sp>
        <p:nvSpPr>
          <p:cNvPr id="5" name="s12-text-5">
            <a:extLst>
              <a:ext uri="{FF2B5EF4-FFF2-40B4-BE49-F238E27FC236}">
                <a16:creationId xmlns:a16="http://schemas.microsoft.com/office/drawing/2014/main" id="{BDB90E27-4C4B-4C4B-B723-F8A8C390863E}"/>
              </a:ext>
            </a:extLst>
          </p:cNvPr>
          <p:cNvSpPr>
            <a:spLocks noGrp="1"/>
          </p:cNvSpPr>
          <p:nvPr/>
        </p:nvSpPr>
        <p:spPr>
          <a:xfrm>
            <a:off x="6381750" y="2009775"/>
            <a:ext cx="5219700" cy="457200"/>
          </a:xfrm>
          <a:prstGeom prst="rect">
            <a:avLst/>
          </a:prstGeom>
          <a:noFill/>
          <a:ln w="0">
            <a:noFill/>
          </a:ln>
        </p:spPr>
        <p:txBody>
          <a:bodyPr wrap="square" lIns="0" tIns="0" rIns="0" bIns="0" anchor="t">
            <a:noAutofit/>
          </a:bodyPr>
          <a:lstStyle/>
          <a:p>
            <a:pPr algn="l">
              <a:defRPr sz="2400" b="1">
                <a:solidFill>
                  <a:srgbClr val="111111"/>
                </a:solidFill>
                <a:latin typeface="Aptos"/>
                <a:ea typeface="Aptos"/>
                <a:cs typeface="Aptos"/>
              </a:defRPr>
            </a:pPr>
            <a:r>
              <a:rPr sz="2400" b="1">
                <a:solidFill>
                  <a:srgbClr val="111111"/>
                </a:solidFill>
                <a:latin typeface="Aptos"/>
                <a:ea typeface="Aptos"/>
                <a:cs typeface="Aptos"/>
              </a:rPr>
              <a:t>Procedure B</a:t>
            </a:r>
          </a:p>
        </p:txBody>
      </p:sp>
      <p:sp>
        <p:nvSpPr>
          <p:cNvPr id="6" name="s12-text-6">
            <a:extLst>
              <a:ext uri="{FF2B5EF4-FFF2-40B4-BE49-F238E27FC236}">
                <a16:creationId xmlns:a16="http://schemas.microsoft.com/office/drawing/2014/main" id="{82D0D3BD-AE5E-43CA-ABA8-3EE913BD5F9C}"/>
              </a:ext>
            </a:extLst>
          </p:cNvPr>
          <p:cNvSpPr>
            <a:spLocks noGrp="1"/>
          </p:cNvSpPr>
          <p:nvPr/>
        </p:nvSpPr>
        <p:spPr>
          <a:xfrm>
            <a:off x="457200" y="2628900"/>
            <a:ext cx="5238750" cy="1304925"/>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sz="2325" b="0">
                <a:solidFill>
                  <a:srgbClr val="111111"/>
                </a:solidFill>
                <a:latin typeface="Aptos"/>
                <a:ea typeface="Aptos"/>
                <a:cs typeface="Aptos"/>
              </a:rPr>
              <a:t>Uniformly select 176 different IDs</a:t>
            </a:r>
          </a:p>
          <a:p>
            <a:pPr algn="l">
              <a:defRPr sz="2325" b="0">
                <a:solidFill>
                  <a:srgbClr val="111111"/>
                </a:solidFill>
                <a:latin typeface="Aptos"/>
                <a:ea typeface="Aptos"/>
                <a:cs typeface="Aptos"/>
              </a:defRPr>
            </a:pPr>
            <a:r>
              <a:rPr sz="2325" b="0">
                <a:solidFill>
                  <a:srgbClr val="111111"/>
                </a:solidFill>
                <a:latin typeface="Aptos"/>
                <a:ea typeface="Aptos"/>
                <a:cs typeface="Aptos"/>
              </a:rPr>
              <a:t>from 1–3,696.</a:t>
            </a:r>
          </a:p>
        </p:txBody>
      </p:sp>
      <p:sp>
        <p:nvSpPr>
          <p:cNvPr id="7" name="s12-text-7">
            <a:extLst>
              <a:ext uri="{FF2B5EF4-FFF2-40B4-BE49-F238E27FC236}">
                <a16:creationId xmlns:a16="http://schemas.microsoft.com/office/drawing/2014/main" id="{FF37F051-1B07-4187-A43F-C89B45BAAFFD}"/>
              </a:ext>
            </a:extLst>
          </p:cNvPr>
          <p:cNvSpPr>
            <a:spLocks noGrp="1"/>
          </p:cNvSpPr>
          <p:nvPr/>
        </p:nvSpPr>
        <p:spPr>
          <a:xfrm>
            <a:off x="6381750" y="2628900"/>
            <a:ext cx="5238750" cy="1400175"/>
          </a:xfrm>
          <a:prstGeom prst="rect">
            <a:avLst/>
          </a:prstGeom>
          <a:noFill/>
          <a:ln w="0">
            <a:noFill/>
          </a:ln>
        </p:spPr>
        <p:txBody>
          <a:bodyPr wrap="square" lIns="0" tIns="0" rIns="0" bIns="0" anchor="t">
            <a:noAutofit/>
          </a:bodyPr>
          <a:lstStyle/>
          <a:p>
            <a:pPr algn="l">
              <a:defRPr sz="2250" b="0">
                <a:solidFill>
                  <a:srgbClr val="111111"/>
                </a:solidFill>
                <a:latin typeface="Aptos"/>
                <a:ea typeface="Aptos"/>
                <a:cs typeface="Aptos"/>
              </a:defRPr>
            </a:pPr>
            <a:r>
              <a:rPr sz="2250" b="0">
                <a:solidFill>
                  <a:srgbClr val="111111"/>
                </a:solidFill>
                <a:latin typeface="Aptos"/>
                <a:ea typeface="Aptos"/>
                <a:cs typeface="Aptos"/>
              </a:rPr>
              <a:t>Form 1,848 fixed pairs.</a:t>
            </a:r>
          </a:p>
          <a:p>
            <a:pPr algn="l">
              <a:defRPr sz="2250" b="0">
                <a:solidFill>
                  <a:srgbClr val="111111"/>
                </a:solidFill>
                <a:latin typeface="Aptos"/>
                <a:ea typeface="Aptos"/>
                <a:cs typeface="Aptos"/>
              </a:defRPr>
            </a:pPr>
            <a:r>
              <a:rPr sz="2250" b="0">
                <a:solidFill>
                  <a:srgbClr val="111111"/>
                </a:solidFill>
                <a:latin typeface="Aptos"/>
                <a:ea typeface="Aptos"/>
                <a:cs typeface="Aptos"/>
              </a:rPr>
              <a:t>Randomly select 88 different pairs.</a:t>
            </a:r>
          </a:p>
          <a:p>
            <a:pPr algn="l">
              <a:defRPr sz="2250" b="0">
                <a:solidFill>
                  <a:srgbClr val="111111"/>
                </a:solidFill>
                <a:latin typeface="Aptos"/>
                <a:ea typeface="Aptos"/>
                <a:cs typeface="Aptos"/>
              </a:defRPr>
            </a:pPr>
            <a:r>
              <a:rPr sz="2250" b="0">
                <a:solidFill>
                  <a:srgbClr val="111111"/>
                </a:solidFill>
                <a:latin typeface="Aptos"/>
                <a:ea typeface="Aptos"/>
                <a:cs typeface="Aptos"/>
              </a:rPr>
              <a:t>Invite both students in each pair.</a:t>
            </a:r>
          </a:p>
        </p:txBody>
      </p:sp>
      <p:sp>
        <p:nvSpPr>
          <p:cNvPr id="8" name="s12-text-8">
            <a:extLst>
              <a:ext uri="{FF2B5EF4-FFF2-40B4-BE49-F238E27FC236}">
                <a16:creationId xmlns:a16="http://schemas.microsoft.com/office/drawing/2014/main" id="{36B857BA-EE66-4E3B-9506-639551A8F676}"/>
              </a:ext>
            </a:extLst>
          </p:cNvPr>
          <p:cNvSpPr>
            <a:spLocks noGrp="1"/>
          </p:cNvSpPr>
          <p:nvPr/>
        </p:nvSpPr>
        <p:spPr>
          <a:xfrm>
            <a:off x="6381750" y="4076700"/>
            <a:ext cx="5238750" cy="685800"/>
          </a:xfrm>
          <a:prstGeom prst="rect">
            <a:avLst/>
          </a:prstGeom>
          <a:noFill/>
          <a:ln w="0">
            <a:noFill/>
          </a:ln>
        </p:spPr>
        <p:txBody>
          <a:bodyPr wrap="square" lIns="0" tIns="0" rIns="0" bIns="0" anchor="t">
            <a:noAutofit/>
          </a:bodyPr>
          <a:lstStyle/>
          <a:p>
            <a:pPr algn="l">
              <a:defRPr sz="2025" b="0">
                <a:solidFill>
                  <a:srgbClr val="111111"/>
                </a:solidFill>
                <a:latin typeface="Aptos"/>
                <a:ea typeface="Aptos"/>
                <a:cs typeface="Aptos"/>
              </a:defRPr>
            </a:pPr>
            <a:r>
              <a:rPr sz="2025" b="0">
                <a:solidFill>
                  <a:srgbClr val="111111"/>
                </a:solidFill>
                <a:latin typeface="Aptos"/>
                <a:ea typeface="Aptos"/>
                <a:cs typeface="Aptos"/>
              </a:rPr>
              <a:t>Example pairs: 1 with 1,849; 2 with 1,850.</a:t>
            </a:r>
          </a:p>
        </p:txBody>
      </p:sp>
      <p:sp>
        <p:nvSpPr>
          <p:cNvPr id="9" name="s12-text-9">
            <a:extLst>
              <a:ext uri="{FF2B5EF4-FFF2-40B4-BE49-F238E27FC236}">
                <a16:creationId xmlns:a16="http://schemas.microsoft.com/office/drawing/2014/main" id="{264195A9-D9AD-49EE-82EB-C496001882A5}"/>
              </a:ext>
            </a:extLst>
          </p:cNvPr>
          <p:cNvSpPr>
            <a:spLocks noGrp="1"/>
          </p:cNvSpPr>
          <p:nvPr/>
        </p:nvSpPr>
        <p:spPr>
          <a:xfrm>
            <a:off x="457200" y="4867275"/>
            <a:ext cx="11239500" cy="457200"/>
          </a:xfrm>
          <a:prstGeom prst="rect">
            <a:avLst/>
          </a:prstGeom>
          <a:noFill/>
          <a:ln w="0">
            <a:noFill/>
          </a:ln>
        </p:spPr>
        <p:txBody>
          <a:bodyPr wrap="square" lIns="0" tIns="0" rIns="0" bIns="0" anchor="t">
            <a:noAutofit/>
          </a:bodyPr>
          <a:lstStyle/>
          <a:p>
            <a:pPr algn="l">
              <a:defRPr sz="2175" b="0">
                <a:solidFill>
                  <a:srgbClr val="111111"/>
                </a:solidFill>
                <a:latin typeface="Aptos"/>
                <a:ea typeface="Aptos"/>
                <a:cs typeface="Aptos"/>
              </a:defRPr>
            </a:pPr>
            <a:r>
              <a:rPr sz="2175" b="0">
                <a:solidFill>
                  <a:srgbClr val="111111"/>
                </a:solidFill>
                <a:latin typeface="Aptos"/>
                <a:ea typeface="Aptos"/>
                <a:cs typeface="Aptos"/>
              </a:rPr>
              <a:t>a) What fraction of students does each procedure select?</a:t>
            </a:r>
          </a:p>
        </p:txBody>
      </p:sp>
      <p:sp>
        <p:nvSpPr>
          <p:cNvPr id="10" name="s12-text-10">
            <a:extLst>
              <a:ext uri="{FF2B5EF4-FFF2-40B4-BE49-F238E27FC236}">
                <a16:creationId xmlns:a16="http://schemas.microsoft.com/office/drawing/2014/main" id="{120CAA29-1974-4E80-A677-0B60EF2B7A35}"/>
              </a:ext>
            </a:extLst>
          </p:cNvPr>
          <p:cNvSpPr>
            <a:spLocks noGrp="1"/>
          </p:cNvSpPr>
          <p:nvPr/>
        </p:nvSpPr>
        <p:spPr>
          <a:xfrm>
            <a:off x="457200" y="5362575"/>
            <a:ext cx="11239500" cy="409575"/>
          </a:xfrm>
          <a:prstGeom prst="rect">
            <a:avLst/>
          </a:prstGeom>
          <a:noFill/>
          <a:ln w="0">
            <a:noFill/>
          </a:ln>
        </p:spPr>
        <p:txBody>
          <a:bodyPr wrap="square" lIns="0" tIns="0" rIns="0" bIns="0" anchor="t">
            <a:noAutofit/>
          </a:bodyPr>
          <a:lstStyle/>
          <a:p>
            <a:pPr algn="l">
              <a:defRPr sz="2175" b="0">
                <a:solidFill>
                  <a:srgbClr val="111111"/>
                </a:solidFill>
                <a:latin typeface="Aptos"/>
                <a:ea typeface="Aptos"/>
                <a:cs typeface="Aptos"/>
              </a:defRPr>
            </a:pPr>
            <a:r>
              <a:rPr sz="2175" b="0">
                <a:solidFill>
                  <a:srgbClr val="111111"/>
                </a:solidFill>
                <a:latin typeface="Aptos"/>
                <a:ea typeface="Aptos"/>
                <a:cs typeface="Aptos"/>
              </a:rPr>
              <a:t>b) Which is a simple random sample of individual students?</a:t>
            </a:r>
          </a:p>
        </p:txBody>
      </p:sp>
      <p:sp>
        <p:nvSpPr>
          <p:cNvPr id="11" name="s12-rect-11">
            <a:extLst>
              <a:ext uri="{FF2B5EF4-FFF2-40B4-BE49-F238E27FC236}">
                <a16:creationId xmlns:a16="http://schemas.microsoft.com/office/drawing/2014/main" id="{D9D3EE3D-5E88-4348-8F1B-1AF9BCDB3E03}"/>
              </a:ext>
            </a:extLst>
          </p:cNvPr>
          <p:cNvSpPr>
            <a:spLocks noGrp="1"/>
          </p:cNvSpPr>
          <p:nvPr/>
        </p:nvSpPr>
        <p:spPr>
          <a:xfrm>
            <a:off x="428625" y="5895975"/>
            <a:ext cx="2762250" cy="400050"/>
          </a:xfrm>
          <a:prstGeom prst="rect">
            <a:avLst/>
          </a:prstGeom>
          <a:solidFill>
            <a:srgbClr val="D6171D"/>
          </a:solidFill>
          <a:ln w="0">
            <a:noFill/>
          </a:ln>
        </p:spPr>
        <p:txBody>
          <a:bodyPr/>
          <a:lstStyle/>
          <a:p>
            <a:endParaRPr lang="en-US"/>
          </a:p>
        </p:txBody>
      </p:sp>
      <p:sp>
        <p:nvSpPr>
          <p:cNvPr id="12" name="s12-text-12">
            <a:extLst>
              <a:ext uri="{FF2B5EF4-FFF2-40B4-BE49-F238E27FC236}">
                <a16:creationId xmlns:a16="http://schemas.microsoft.com/office/drawing/2014/main" id="{8CAEB6B9-D8DB-4E3C-9F82-0E314983B8F2}"/>
              </a:ext>
            </a:extLst>
          </p:cNvPr>
          <p:cNvSpPr>
            <a:spLocks noGrp="1"/>
          </p:cNvSpPr>
          <p:nvPr/>
        </p:nvSpPr>
        <p:spPr>
          <a:xfrm>
            <a:off x="523875" y="5953125"/>
            <a:ext cx="2571750" cy="323850"/>
          </a:xfrm>
          <a:prstGeom prst="rect">
            <a:avLst/>
          </a:prstGeom>
          <a:noFill/>
          <a:ln w="0">
            <a:noFill/>
          </a:ln>
        </p:spPr>
        <p:txBody>
          <a:bodyPr wrap="square" lIns="0" tIns="0" rIns="0" bIns="0" anchor="t">
            <a:noAutofit/>
          </a:bodyPr>
          <a:lstStyle/>
          <a:p>
            <a:pPr algn="ctr">
              <a:defRPr sz="1800" b="1">
                <a:solidFill>
                  <a:srgbClr val="FFFFFF"/>
                </a:solidFill>
                <a:latin typeface="Aptos"/>
                <a:ea typeface="Aptos"/>
                <a:cs typeface="Aptos"/>
              </a:defRPr>
            </a:pPr>
            <a:r>
              <a:rPr sz="1800" b="1">
                <a:solidFill>
                  <a:srgbClr val="FFFFFF"/>
                </a:solidFill>
                <a:latin typeface="Aptos"/>
                <a:ea typeface="Aptos"/>
                <a:cs typeface="Aptos"/>
              </a:rPr>
              <a:t>DISCUSS   3 MIN</a:t>
            </a:r>
          </a:p>
        </p:txBody>
      </p:sp>
      <p:sp>
        <p:nvSpPr>
          <p:cNvPr id="13" name="s12-text-13">
            <a:extLst>
              <a:ext uri="{FF2B5EF4-FFF2-40B4-BE49-F238E27FC236}">
                <a16:creationId xmlns:a16="http://schemas.microsoft.com/office/drawing/2014/main" id="{E80DBD2E-3F0C-4830-8F15-E594D16F675A}"/>
              </a:ext>
            </a:extLst>
          </p:cNvPr>
          <p:cNvSpPr>
            <a:spLocks noGrp="1"/>
          </p:cNvSpPr>
          <p:nvPr/>
        </p:nvSpPr>
        <p:spPr>
          <a:xfrm>
            <a:off x="3381375" y="5905500"/>
            <a:ext cx="8286750" cy="457200"/>
          </a:xfrm>
          <a:prstGeom prst="rect">
            <a:avLst/>
          </a:prstGeom>
          <a:noFill/>
          <a:ln w="0">
            <a:noFill/>
          </a:ln>
        </p:spPr>
        <p:txBody>
          <a:bodyPr wrap="square" lIns="0" tIns="0" rIns="0" bIns="0" anchor="t">
            <a:noAutofit/>
          </a:bodyPr>
          <a:lstStyle/>
          <a:p>
            <a:pPr algn="l">
              <a:defRPr sz="2100" b="1">
                <a:solidFill>
                  <a:srgbClr val="111111"/>
                </a:solidFill>
                <a:latin typeface="Aptos"/>
                <a:ea typeface="Aptos"/>
                <a:cs typeface="Aptos"/>
              </a:defRPr>
            </a:pPr>
            <a:r>
              <a:rPr sz="2100" b="1">
                <a:solidFill>
                  <a:srgbClr val="111111"/>
                </a:solidFill>
                <a:latin typeface="Aptos"/>
                <a:ea typeface="Aptos"/>
                <a:cs typeface="Aptos"/>
              </a:rPr>
              <a:t>Describe a group that procedure B cannot select.</a:t>
            </a:r>
          </a:p>
        </p:txBody>
      </p:sp>
      <p:sp>
        <p:nvSpPr>
          <p:cNvPr id="14" name="s12-text-14">
            <a:extLst>
              <a:ext uri="{FF2B5EF4-FFF2-40B4-BE49-F238E27FC236}">
                <a16:creationId xmlns:a16="http://schemas.microsoft.com/office/drawing/2014/main" id="{2FDE8A6E-020C-4084-B073-C7F2BDA20545}"/>
              </a:ext>
            </a:extLst>
          </p:cNvPr>
          <p:cNvSpPr>
            <a:spLocks noGrp="1"/>
          </p:cNvSpPr>
          <p:nvPr/>
        </p:nvSpPr>
        <p:spPr>
          <a:xfrm>
            <a:off x="457200" y="6477000"/>
            <a:ext cx="10763250" cy="238125"/>
          </a:xfrm>
          <a:prstGeom prst="rect">
            <a:avLst/>
          </a:prstGeom>
          <a:noFill/>
          <a:ln w="0">
            <a:noFill/>
          </a:ln>
        </p:spPr>
        <p:txBody>
          <a:bodyPr wrap="square" lIns="0" tIns="0" rIns="0" bIns="0" anchor="t">
            <a:noAutofit/>
          </a:bodyPr>
          <a:lstStyle/>
          <a:p>
            <a:endParaRPr/>
          </a:p>
        </p:txBody>
      </p:sp>
      <p:sp>
        <p:nvSpPr>
          <p:cNvPr id="15" name="s12-text-15">
            <a:extLst>
              <a:ext uri="{FF2B5EF4-FFF2-40B4-BE49-F238E27FC236}">
                <a16:creationId xmlns:a16="http://schemas.microsoft.com/office/drawing/2014/main" id="{F31E9DB5-5F25-43BF-ADFF-09E7C6EFA096}"/>
              </a:ext>
            </a:extLst>
          </p:cNvPr>
          <p:cNvSpPr>
            <a:spLocks noGrp="1"/>
          </p:cNvSpPr>
          <p:nvPr/>
        </p:nvSpPr>
        <p:spPr>
          <a:xfrm>
            <a:off x="11239500" y="6477000"/>
            <a:ext cx="476250" cy="238125"/>
          </a:xfrm>
          <a:prstGeom prst="rect">
            <a:avLst/>
          </a:prstGeom>
          <a:noFill/>
          <a:ln w="0">
            <a:noFill/>
          </a:ln>
        </p:spPr>
        <p:txBody>
          <a:bodyPr wrap="square" lIns="0" tIns="0" rIns="0" bIns="0" anchor="t">
            <a:noAutofit/>
          </a:bodyPr>
          <a:lstStyle/>
          <a:p>
            <a:pPr algn="r">
              <a:defRPr sz="1275" b="0">
                <a:solidFill>
                  <a:srgbClr val="666666"/>
                </a:solidFill>
                <a:latin typeface="Aptos"/>
                <a:ea typeface="Aptos"/>
                <a:cs typeface="Aptos"/>
              </a:defRPr>
            </a:pPr>
            <a:r>
              <a:rPr sz="1275" b="0">
                <a:solidFill>
                  <a:srgbClr val="666666"/>
                </a:solidFill>
                <a:latin typeface="Aptos"/>
                <a:ea typeface="Aptos"/>
                <a:cs typeface="Aptos"/>
              </a:rPr>
              <a:t>12</a:t>
            </a:r>
          </a:p>
        </p:txBody>
      </p:sp>
    </p:spTree>
    <p:extLst>
      <p:ext uri="{BB962C8B-B14F-4D97-AF65-F5344CB8AC3E}">
        <p14:creationId xmlns:p14="http://schemas.microsoft.com/office/powerpoint/2010/main" val="32813612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13-text-1">
            <a:extLst>
              <a:ext uri="{FF2B5EF4-FFF2-40B4-BE49-F238E27FC236}">
                <a16:creationId xmlns:a16="http://schemas.microsoft.com/office/drawing/2014/main" id="{5BB9B1DB-E60D-495D-8D45-8E9F134F1F2C}"/>
              </a:ext>
            </a:extLst>
          </p:cNvPr>
          <p:cNvSpPr>
            <a:spLocks noGrp="1"/>
          </p:cNvSpPr>
          <p:nvPr/>
        </p:nvSpPr>
        <p:spPr>
          <a:xfrm>
            <a:off x="430816" y="1038225"/>
            <a:ext cx="11293412" cy="78105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Which groups can be selected?</a:t>
            </a:r>
          </a:p>
        </p:txBody>
      </p:sp>
      <p:sp>
        <p:nvSpPr>
          <p:cNvPr id="2" name="s13-rect-2">
            <a:extLst>
              <a:ext uri="{FF2B5EF4-FFF2-40B4-BE49-F238E27FC236}">
                <a16:creationId xmlns:a16="http://schemas.microsoft.com/office/drawing/2014/main" id="{A99A97CB-6623-47FD-B779-87EDCD1144CD}"/>
              </a:ext>
            </a:extLst>
          </p:cNvPr>
          <p:cNvSpPr>
            <a:spLocks noGrp="1"/>
          </p:cNvSpPr>
          <p:nvPr/>
        </p:nvSpPr>
        <p:spPr>
          <a:xfrm>
            <a:off x="8734425" y="476250"/>
            <a:ext cx="3000375" cy="400050"/>
          </a:xfrm>
          <a:prstGeom prst="rect">
            <a:avLst/>
          </a:prstGeom>
          <a:solidFill>
            <a:srgbClr val="D6171D"/>
          </a:solidFill>
          <a:ln w="0">
            <a:noFill/>
          </a:ln>
        </p:spPr>
        <p:txBody>
          <a:bodyPr/>
          <a:lstStyle/>
          <a:p>
            <a:endParaRPr lang="en-US"/>
          </a:p>
        </p:txBody>
      </p:sp>
      <p:sp>
        <p:nvSpPr>
          <p:cNvPr id="3" name="s13-text-3">
            <a:extLst>
              <a:ext uri="{FF2B5EF4-FFF2-40B4-BE49-F238E27FC236}">
                <a16:creationId xmlns:a16="http://schemas.microsoft.com/office/drawing/2014/main" id="{A0152AA1-D5D0-4B98-AD57-E3F6F3FD5A24}"/>
              </a:ext>
            </a:extLst>
          </p:cNvPr>
          <p:cNvSpPr>
            <a:spLocks noGrp="1"/>
          </p:cNvSpPr>
          <p:nvPr/>
        </p:nvSpPr>
        <p:spPr>
          <a:xfrm>
            <a:off x="8829675" y="533400"/>
            <a:ext cx="2809875" cy="323850"/>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C3.1</a:t>
            </a:r>
          </a:p>
        </p:txBody>
      </p:sp>
      <p:sp>
        <p:nvSpPr>
          <p:cNvPr id="4" name="s13-text-4">
            <a:extLst>
              <a:ext uri="{FF2B5EF4-FFF2-40B4-BE49-F238E27FC236}">
                <a16:creationId xmlns:a16="http://schemas.microsoft.com/office/drawing/2014/main" id="{5975304C-BA57-4B73-B658-EE7898A69476}"/>
              </a:ext>
            </a:extLst>
          </p:cNvPr>
          <p:cNvSpPr>
            <a:spLocks noGrp="1"/>
          </p:cNvSpPr>
          <p:nvPr/>
        </p:nvSpPr>
        <p:spPr>
          <a:xfrm>
            <a:off x="457200" y="2028825"/>
            <a:ext cx="1619250" cy="400050"/>
          </a:xfrm>
          <a:prstGeom prst="rect">
            <a:avLst/>
          </a:prstGeom>
          <a:noFill/>
          <a:ln w="0">
            <a:noFill/>
          </a:ln>
        </p:spPr>
        <p:txBody>
          <a:bodyPr wrap="square" lIns="0" tIns="0" rIns="0" bIns="0" anchor="t">
            <a:noAutofit/>
          </a:bodyPr>
          <a:lstStyle/>
          <a:p>
            <a:pPr algn="ctr">
              <a:defRPr sz="2700" b="0">
                <a:solidFill>
                  <a:srgbClr val="111111"/>
                </a:solidFill>
                <a:latin typeface="Aptos"/>
                <a:ea typeface="Aptos"/>
                <a:cs typeface="Aptos"/>
              </a:defRPr>
            </a:pPr>
            <a:r>
              <a:rPr sz="2700" b="0">
                <a:solidFill>
                  <a:srgbClr val="111111"/>
                </a:solidFill>
                <a:latin typeface="Aptos"/>
                <a:ea typeface="Aptos"/>
                <a:cs typeface="Aptos"/>
              </a:rPr>
              <a:t>176</a:t>
            </a:r>
          </a:p>
        </p:txBody>
      </p:sp>
      <p:sp>
        <p:nvSpPr>
          <p:cNvPr id="5" name="s13-line-5">
            <a:extLst>
              <a:ext uri="{FF2B5EF4-FFF2-40B4-BE49-F238E27FC236}">
                <a16:creationId xmlns:a16="http://schemas.microsoft.com/office/drawing/2014/main" id="{D9324BE8-FCAD-43B5-B075-2675F54C0FD5}"/>
              </a:ext>
            </a:extLst>
          </p:cNvPr>
          <p:cNvSpPr>
            <a:spLocks noGrp="1"/>
          </p:cNvSpPr>
          <p:nvPr/>
        </p:nvSpPr>
        <p:spPr>
          <a:xfrm>
            <a:off x="457200" y="2466975"/>
            <a:ext cx="1619250" cy="0"/>
          </a:xfrm>
          <a:prstGeom prst="line">
            <a:avLst/>
          </a:prstGeom>
          <a:noFill/>
          <a:ln w="19050">
            <a:solidFill>
              <a:srgbClr val="111111"/>
            </a:solidFill>
          </a:ln>
        </p:spPr>
        <p:txBody>
          <a:bodyPr/>
          <a:lstStyle/>
          <a:p>
            <a:endParaRPr lang="en-US"/>
          </a:p>
        </p:txBody>
      </p:sp>
      <p:sp>
        <p:nvSpPr>
          <p:cNvPr id="6" name="s13-text-6">
            <a:extLst>
              <a:ext uri="{FF2B5EF4-FFF2-40B4-BE49-F238E27FC236}">
                <a16:creationId xmlns:a16="http://schemas.microsoft.com/office/drawing/2014/main" id="{127D872B-1603-421F-ADD1-2F15EF755FE5}"/>
              </a:ext>
            </a:extLst>
          </p:cNvPr>
          <p:cNvSpPr>
            <a:spLocks noGrp="1"/>
          </p:cNvSpPr>
          <p:nvPr/>
        </p:nvSpPr>
        <p:spPr>
          <a:xfrm>
            <a:off x="457200" y="2562225"/>
            <a:ext cx="1619250" cy="419100"/>
          </a:xfrm>
          <a:prstGeom prst="rect">
            <a:avLst/>
          </a:prstGeom>
          <a:noFill/>
          <a:ln w="0">
            <a:noFill/>
          </a:ln>
        </p:spPr>
        <p:txBody>
          <a:bodyPr wrap="square" lIns="0" tIns="0" rIns="0" bIns="0" anchor="t">
            <a:noAutofit/>
          </a:bodyPr>
          <a:lstStyle/>
          <a:p>
            <a:pPr algn="ctr">
              <a:defRPr sz="2700" b="0">
                <a:solidFill>
                  <a:srgbClr val="111111"/>
                </a:solidFill>
                <a:latin typeface="Aptos"/>
                <a:ea typeface="Aptos"/>
                <a:cs typeface="Aptos"/>
              </a:defRPr>
            </a:pPr>
            <a:r>
              <a:rPr sz="2700" b="0">
                <a:solidFill>
                  <a:srgbClr val="111111"/>
                </a:solidFill>
                <a:latin typeface="Aptos"/>
                <a:ea typeface="Aptos"/>
                <a:cs typeface="Aptos"/>
              </a:rPr>
              <a:t>3,696</a:t>
            </a:r>
          </a:p>
        </p:txBody>
      </p:sp>
      <p:sp>
        <p:nvSpPr>
          <p:cNvPr id="7" name="s13-text-7">
            <a:extLst>
              <a:ext uri="{FF2B5EF4-FFF2-40B4-BE49-F238E27FC236}">
                <a16:creationId xmlns:a16="http://schemas.microsoft.com/office/drawing/2014/main" id="{F4649803-F92B-4942-ADA8-2B5112DDBCEF}"/>
              </a:ext>
            </a:extLst>
          </p:cNvPr>
          <p:cNvSpPr>
            <a:spLocks noGrp="1"/>
          </p:cNvSpPr>
          <p:nvPr/>
        </p:nvSpPr>
        <p:spPr>
          <a:xfrm>
            <a:off x="2305050" y="2266950"/>
            <a:ext cx="5905500" cy="590550"/>
          </a:xfrm>
          <a:prstGeom prst="rect">
            <a:avLst/>
          </a:prstGeom>
          <a:noFill/>
          <a:ln w="0">
            <a:noFill/>
          </a:ln>
        </p:spPr>
        <p:txBody>
          <a:bodyPr wrap="square" lIns="0" tIns="0" rIns="0" bIns="0" anchor="t">
            <a:noAutofit/>
          </a:bodyPr>
          <a:lstStyle/>
          <a:p>
            <a:pPr algn="l">
              <a:defRPr sz="2700" b="1">
                <a:solidFill>
                  <a:srgbClr val="111111"/>
                </a:solidFill>
                <a:latin typeface="Aptos"/>
                <a:ea typeface="Aptos"/>
                <a:cs typeface="Aptos"/>
              </a:defRPr>
            </a:pPr>
            <a:r>
              <a:rPr sz="2700" b="1">
                <a:solidFill>
                  <a:srgbClr val="111111"/>
                </a:solidFill>
                <a:latin typeface="Aptos"/>
                <a:ea typeface="Aptos"/>
                <a:cs typeface="Aptos"/>
              </a:rPr>
              <a:t>= 1/21 ≈ 4.76%</a:t>
            </a:r>
          </a:p>
        </p:txBody>
      </p:sp>
      <p:sp>
        <p:nvSpPr>
          <p:cNvPr id="8" name="s13-text-8">
            <a:extLst>
              <a:ext uri="{FF2B5EF4-FFF2-40B4-BE49-F238E27FC236}">
                <a16:creationId xmlns:a16="http://schemas.microsoft.com/office/drawing/2014/main" id="{050EB76F-A436-4224-9534-33A95E53A126}"/>
              </a:ext>
            </a:extLst>
          </p:cNvPr>
          <p:cNvSpPr>
            <a:spLocks noGrp="1"/>
          </p:cNvSpPr>
          <p:nvPr/>
        </p:nvSpPr>
        <p:spPr>
          <a:xfrm>
            <a:off x="457200" y="3362325"/>
            <a:ext cx="11239500" cy="742950"/>
          </a:xfrm>
          <a:prstGeom prst="rect">
            <a:avLst/>
          </a:prstGeom>
          <a:noFill/>
          <a:ln w="0">
            <a:noFill/>
          </a:ln>
        </p:spPr>
        <p:txBody>
          <a:bodyPr wrap="square" lIns="0" tIns="0" rIns="0" bIns="0" anchor="t">
            <a:noAutofit/>
          </a:bodyPr>
          <a:lstStyle/>
          <a:p>
            <a:pPr algn="l">
              <a:defRPr sz="2400" b="1">
                <a:solidFill>
                  <a:srgbClr val="111111"/>
                </a:solidFill>
                <a:latin typeface="Aptos"/>
                <a:ea typeface="Aptos"/>
                <a:cs typeface="Aptos"/>
              </a:defRPr>
            </a:pPr>
            <a:r>
              <a:rPr sz="2400" b="1">
                <a:solidFill>
                  <a:srgbClr val="111111"/>
                </a:solidFill>
                <a:latin typeface="Aptos"/>
                <a:ea typeface="Aptos"/>
                <a:cs typeface="Aptos"/>
              </a:rPr>
              <a:t>Procedure A gives every group of 176 students the same chance.</a:t>
            </a:r>
          </a:p>
        </p:txBody>
      </p:sp>
      <p:graphicFrame>
        <p:nvGraphicFramePr>
          <p:cNvPr id="21" name="Table 20"/>
          <p:cNvGraphicFramePr/>
          <p:nvPr/>
        </p:nvGraphicFramePr>
        <p:xfrm>
          <a:off x="457200" y="4191000"/>
          <a:ext cx="11239500" cy="1228725"/>
        </p:xfrm>
        <a:graphic>
          <a:graphicData uri="http://schemas.openxmlformats.org/drawingml/2006/table">
            <a:tbl>
              <a:tblPr firstRow="1"/>
              <a:tblGrid>
                <a:gridCol w="6477000">
                  <a:extLst>
                    <a:ext uri="{9D8B030D-6E8A-4147-A177-3AD203B41FA5}">
                      <a16:colId xmlns:a16="http://schemas.microsoft.com/office/drawing/2014/main" val="20000"/>
                    </a:ext>
                  </a:extLst>
                </a:gridCol>
                <a:gridCol w="2381250">
                  <a:extLst>
                    <a:ext uri="{9D8B030D-6E8A-4147-A177-3AD203B41FA5}">
                      <a16:colId xmlns:a16="http://schemas.microsoft.com/office/drawing/2014/main" val="20001"/>
                    </a:ext>
                  </a:extLst>
                </a:gridCol>
                <a:gridCol w="2381250">
                  <a:extLst>
                    <a:ext uri="{9D8B030D-6E8A-4147-A177-3AD203B41FA5}">
                      <a16:colId xmlns:a16="http://schemas.microsoft.com/office/drawing/2014/main" val="20002"/>
                    </a:ext>
                  </a:extLst>
                </a:gridCol>
              </a:tblGrid>
              <a:tr h="504825">
                <a:tc>
                  <a:txBody>
                    <a:bodyPr/>
                    <a:lstStyle/>
                    <a:p>
                      <a:pPr algn="l"/>
                      <a:r>
                        <a:rPr sz="2025" b="1">
                          <a:solidFill>
                            <a:srgbClr val="FFFFFF"/>
                          </a:solidFill>
                          <a:latin typeface="Aptos"/>
                          <a:ea typeface="Aptos"/>
                          <a:cs typeface="Aptos"/>
                        </a:rPr>
                        <a:t>A possible group of 176</a:t>
                      </a:r>
                    </a:p>
                  </a:txBody>
                  <a:tcPr marL="95250" marR="95250" marT="19050" marB="19050" anchor="ctr">
                    <a:solidFill>
                      <a:srgbClr val="D6171D"/>
                    </a:solidFill>
                  </a:tcPr>
                </a:tc>
                <a:tc>
                  <a:txBody>
                    <a:bodyPr/>
                    <a:lstStyle/>
                    <a:p>
                      <a:pPr algn="ctr"/>
                      <a:r>
                        <a:rPr sz="2025" b="1">
                          <a:solidFill>
                            <a:srgbClr val="FFFFFF"/>
                          </a:solidFill>
                          <a:latin typeface="Aptos"/>
                          <a:ea typeface="Aptos"/>
                          <a:cs typeface="Aptos"/>
                        </a:rPr>
                        <a:t>Procedure A</a:t>
                      </a:r>
                    </a:p>
                  </a:txBody>
                  <a:tcPr marL="95250" marR="95250" marT="19050" marB="19050" anchor="ctr">
                    <a:solidFill>
                      <a:srgbClr val="D6171D"/>
                    </a:solidFill>
                  </a:tcPr>
                </a:tc>
                <a:tc>
                  <a:txBody>
                    <a:bodyPr/>
                    <a:lstStyle/>
                    <a:p>
                      <a:pPr algn="ctr"/>
                      <a:r>
                        <a:rPr sz="2025" b="1">
                          <a:solidFill>
                            <a:srgbClr val="FFFFFF"/>
                          </a:solidFill>
                          <a:latin typeface="Aptos"/>
                          <a:ea typeface="Aptos"/>
                          <a:cs typeface="Aptos"/>
                        </a:rPr>
                        <a:t>Procedure B</a:t>
                      </a:r>
                    </a:p>
                  </a:txBody>
                  <a:tcPr marL="95250" marR="95250" marT="19050" marB="19050" anchor="ctr">
                    <a:solidFill>
                      <a:srgbClr val="D6171D"/>
                    </a:solidFill>
                  </a:tcPr>
                </a:tc>
                <a:extLst>
                  <a:ext uri="{0D108BD9-81ED-4DB2-BD59-A6C34878D82A}">
                    <a16:rowId xmlns:a16="http://schemas.microsoft.com/office/drawing/2014/main" val="10000"/>
                  </a:ext>
                </a:extLst>
              </a:tr>
              <a:tr h="723900">
                <a:tc>
                  <a:txBody>
                    <a:bodyPr/>
                    <a:lstStyle/>
                    <a:p>
                      <a:pPr algn="l"/>
                      <a:r>
                        <a:rPr sz="2025" b="0">
                          <a:solidFill>
                            <a:srgbClr val="111111"/>
                          </a:solidFill>
                          <a:latin typeface="Aptos"/>
                          <a:ea typeface="Aptos"/>
                          <a:cs typeface="Aptos"/>
                        </a:rPr>
                        <a:t>Includes ID 1 but excludes ID 1,849</a:t>
                      </a:r>
                    </a:p>
                  </a:txBody>
                  <a:tcPr marL="95250" marR="95250" marT="19050" marB="19050" anchor="ctr">
                    <a:solidFill>
                      <a:srgbClr val="FFFFFF"/>
                    </a:solidFill>
                  </a:tcPr>
                </a:tc>
                <a:tc>
                  <a:txBody>
                    <a:bodyPr/>
                    <a:lstStyle/>
                    <a:p>
                      <a:pPr algn="ctr"/>
                      <a:r>
                        <a:rPr sz="2025" b="0">
                          <a:solidFill>
                            <a:srgbClr val="111111"/>
                          </a:solidFill>
                          <a:latin typeface="Aptos"/>
                          <a:ea typeface="Aptos"/>
                          <a:cs typeface="Aptos"/>
                        </a:rPr>
                        <a:t>Possible</a:t>
                      </a:r>
                    </a:p>
                  </a:txBody>
                  <a:tcPr marL="95250" marR="95250" marT="19050" marB="19050" anchor="ctr">
                    <a:solidFill>
                      <a:srgbClr val="FFFFFF"/>
                    </a:solidFill>
                  </a:tcPr>
                </a:tc>
                <a:tc>
                  <a:txBody>
                    <a:bodyPr/>
                    <a:lstStyle/>
                    <a:p>
                      <a:pPr algn="ctr"/>
                      <a:r>
                        <a:rPr sz="2025" b="0">
                          <a:solidFill>
                            <a:srgbClr val="111111"/>
                          </a:solidFill>
                          <a:latin typeface="Aptos"/>
                          <a:ea typeface="Aptos"/>
                          <a:cs typeface="Aptos"/>
                        </a:rPr>
                        <a:t>Impossible</a:t>
                      </a:r>
                    </a:p>
                  </a:txBody>
                  <a:tcPr marL="95250" marR="95250" marT="19050" marB="19050" anchor="ctr">
                    <a:solidFill>
                      <a:srgbClr val="FFFFFF"/>
                    </a:solidFill>
                  </a:tcPr>
                </a:tc>
                <a:extLst>
                  <a:ext uri="{0D108BD9-81ED-4DB2-BD59-A6C34878D82A}">
                    <a16:rowId xmlns:a16="http://schemas.microsoft.com/office/drawing/2014/main" val="10001"/>
                  </a:ext>
                </a:extLst>
              </a:tr>
            </a:tbl>
          </a:graphicData>
        </a:graphic>
      </p:graphicFrame>
      <p:sp>
        <p:nvSpPr>
          <p:cNvPr id="10" name="s13-text-9">
            <a:extLst>
              <a:ext uri="{FF2B5EF4-FFF2-40B4-BE49-F238E27FC236}">
                <a16:creationId xmlns:a16="http://schemas.microsoft.com/office/drawing/2014/main" id="{3B4EF81A-0E84-4193-9346-6061018A8C81}"/>
              </a:ext>
            </a:extLst>
          </p:cNvPr>
          <p:cNvSpPr>
            <a:spLocks noGrp="1"/>
          </p:cNvSpPr>
          <p:nvPr/>
        </p:nvSpPr>
        <p:spPr>
          <a:xfrm>
            <a:off x="457200" y="5715000"/>
            <a:ext cx="11239500" cy="581025"/>
          </a:xfrm>
          <a:prstGeom prst="rect">
            <a:avLst/>
          </a:prstGeom>
          <a:noFill/>
          <a:ln w="0">
            <a:noFill/>
          </a:ln>
        </p:spPr>
        <p:txBody>
          <a:bodyPr wrap="square" lIns="0" tIns="0" rIns="0" bIns="0" anchor="t">
            <a:noAutofit/>
          </a:bodyPr>
          <a:lstStyle/>
          <a:p>
            <a:pPr algn="l">
              <a:defRPr sz="2175" b="0">
                <a:solidFill>
                  <a:srgbClr val="111111"/>
                </a:solidFill>
                <a:latin typeface="Aptos"/>
                <a:ea typeface="Aptos"/>
                <a:cs typeface="Aptos"/>
              </a:defRPr>
            </a:pPr>
            <a:r>
              <a:rPr sz="2175" b="0">
                <a:solidFill>
                  <a:srgbClr val="111111"/>
                </a:solidFill>
                <a:latin typeface="Aptos"/>
                <a:ea typeface="Aptos"/>
                <a:cs typeface="Aptos"/>
              </a:rPr>
              <a:t>Both give each student a 1/21 chance. Only A is an SRS of individuals.</a:t>
            </a:r>
          </a:p>
        </p:txBody>
      </p:sp>
      <p:sp>
        <p:nvSpPr>
          <p:cNvPr id="11" name="s13-text-10">
            <a:extLst>
              <a:ext uri="{FF2B5EF4-FFF2-40B4-BE49-F238E27FC236}">
                <a16:creationId xmlns:a16="http://schemas.microsoft.com/office/drawing/2014/main" id="{9A55641D-172E-4969-BE8D-B2CBA076C511}"/>
              </a:ext>
            </a:extLst>
          </p:cNvPr>
          <p:cNvSpPr>
            <a:spLocks noGrp="1"/>
          </p:cNvSpPr>
          <p:nvPr/>
        </p:nvSpPr>
        <p:spPr>
          <a:xfrm>
            <a:off x="457200" y="6477000"/>
            <a:ext cx="10763250" cy="238125"/>
          </a:xfrm>
          <a:prstGeom prst="rect">
            <a:avLst/>
          </a:prstGeom>
          <a:noFill/>
          <a:ln w="0">
            <a:noFill/>
          </a:ln>
        </p:spPr>
        <p:txBody>
          <a:bodyPr wrap="square" lIns="0" tIns="0" rIns="0" bIns="0" anchor="t">
            <a:noAutofit/>
          </a:bodyPr>
          <a:lstStyle/>
          <a:p>
            <a:endParaRPr/>
          </a:p>
        </p:txBody>
      </p:sp>
      <p:sp>
        <p:nvSpPr>
          <p:cNvPr id="12" name="s13-text-11">
            <a:extLst>
              <a:ext uri="{FF2B5EF4-FFF2-40B4-BE49-F238E27FC236}">
                <a16:creationId xmlns:a16="http://schemas.microsoft.com/office/drawing/2014/main" id="{3DFA7929-5D72-4DD5-BF2B-7463769FB7DB}"/>
              </a:ext>
            </a:extLst>
          </p:cNvPr>
          <p:cNvSpPr>
            <a:spLocks noGrp="1"/>
          </p:cNvSpPr>
          <p:nvPr/>
        </p:nvSpPr>
        <p:spPr>
          <a:xfrm>
            <a:off x="11239500" y="6477000"/>
            <a:ext cx="476250" cy="238125"/>
          </a:xfrm>
          <a:prstGeom prst="rect">
            <a:avLst/>
          </a:prstGeom>
          <a:noFill/>
          <a:ln w="0">
            <a:noFill/>
          </a:ln>
        </p:spPr>
        <p:txBody>
          <a:bodyPr wrap="square" lIns="0" tIns="0" rIns="0" bIns="0" anchor="t">
            <a:noAutofit/>
          </a:bodyPr>
          <a:lstStyle/>
          <a:p>
            <a:pPr algn="r">
              <a:defRPr sz="1275" b="0">
                <a:solidFill>
                  <a:srgbClr val="666666"/>
                </a:solidFill>
                <a:latin typeface="Aptos"/>
                <a:ea typeface="Aptos"/>
                <a:cs typeface="Aptos"/>
              </a:defRPr>
            </a:pPr>
            <a:r>
              <a:rPr sz="1275" b="0">
                <a:solidFill>
                  <a:srgbClr val="666666"/>
                </a:solidFill>
                <a:latin typeface="Aptos"/>
                <a:ea typeface="Aptos"/>
                <a:cs typeface="Aptos"/>
              </a:rPr>
              <a:t>13</a:t>
            </a:r>
          </a:p>
        </p:txBody>
      </p:sp>
    </p:spTree>
    <p:extLst>
      <p:ext uri="{BB962C8B-B14F-4D97-AF65-F5344CB8AC3E}">
        <p14:creationId xmlns:p14="http://schemas.microsoft.com/office/powerpoint/2010/main" val="32813612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14-text-1">
            <a:extLst>
              <a:ext uri="{FF2B5EF4-FFF2-40B4-BE49-F238E27FC236}">
                <a16:creationId xmlns:a16="http://schemas.microsoft.com/office/drawing/2014/main" id="{BCF92A2F-899D-4A80-9DFB-4DC1E7677C3B}"/>
              </a:ext>
            </a:extLst>
          </p:cNvPr>
          <p:cNvSpPr>
            <a:spLocks noGrp="1"/>
          </p:cNvSpPr>
          <p:nvPr/>
        </p:nvSpPr>
        <p:spPr>
          <a:xfrm>
            <a:off x="430816" y="1038225"/>
            <a:ext cx="11293412" cy="78105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A systematic selection record</a:t>
            </a:r>
          </a:p>
        </p:txBody>
      </p:sp>
      <p:sp>
        <p:nvSpPr>
          <p:cNvPr id="2" name="s14-rect-2">
            <a:extLst>
              <a:ext uri="{FF2B5EF4-FFF2-40B4-BE49-F238E27FC236}">
                <a16:creationId xmlns:a16="http://schemas.microsoft.com/office/drawing/2014/main" id="{8246F15B-C19C-4F01-AD00-68F82D655D1C}"/>
              </a:ext>
            </a:extLst>
          </p:cNvPr>
          <p:cNvSpPr>
            <a:spLocks noGrp="1"/>
          </p:cNvSpPr>
          <p:nvPr/>
        </p:nvSpPr>
        <p:spPr>
          <a:xfrm>
            <a:off x="8734425" y="476250"/>
            <a:ext cx="3000375" cy="400050"/>
          </a:xfrm>
          <a:prstGeom prst="rect">
            <a:avLst/>
          </a:prstGeom>
          <a:solidFill>
            <a:srgbClr val="D6171D"/>
          </a:solidFill>
          <a:ln w="0">
            <a:noFill/>
          </a:ln>
        </p:spPr>
        <p:txBody>
          <a:bodyPr/>
          <a:lstStyle/>
          <a:p>
            <a:endParaRPr lang="en-US"/>
          </a:p>
        </p:txBody>
      </p:sp>
      <p:sp>
        <p:nvSpPr>
          <p:cNvPr id="3" name="s14-text-3">
            <a:extLst>
              <a:ext uri="{FF2B5EF4-FFF2-40B4-BE49-F238E27FC236}">
                <a16:creationId xmlns:a16="http://schemas.microsoft.com/office/drawing/2014/main" id="{A070D472-D06A-4742-A4CE-16C238377020}"/>
              </a:ext>
            </a:extLst>
          </p:cNvPr>
          <p:cNvSpPr>
            <a:spLocks noGrp="1"/>
          </p:cNvSpPr>
          <p:nvPr/>
        </p:nvSpPr>
        <p:spPr>
          <a:xfrm>
            <a:off x="8829675" y="533400"/>
            <a:ext cx="2809875" cy="323850"/>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C3.2</a:t>
            </a:r>
          </a:p>
        </p:txBody>
      </p:sp>
      <p:sp>
        <p:nvSpPr>
          <p:cNvPr id="4" name="s14-text-4">
            <a:extLst>
              <a:ext uri="{FF2B5EF4-FFF2-40B4-BE49-F238E27FC236}">
                <a16:creationId xmlns:a16="http://schemas.microsoft.com/office/drawing/2014/main" id="{157988C9-8C68-4B8C-AE80-81653109DB9E}"/>
              </a:ext>
            </a:extLst>
          </p:cNvPr>
          <p:cNvSpPr>
            <a:spLocks noGrp="1"/>
          </p:cNvSpPr>
          <p:nvPr/>
        </p:nvSpPr>
        <p:spPr>
          <a:xfrm>
            <a:off x="457200" y="1990725"/>
            <a:ext cx="11239500" cy="657225"/>
          </a:xfrm>
          <a:prstGeom prst="rect">
            <a:avLst/>
          </a:prstGeom>
          <a:noFill/>
          <a:ln w="0">
            <a:noFill/>
          </a:ln>
        </p:spPr>
        <p:txBody>
          <a:bodyPr wrap="square" lIns="0" tIns="0" rIns="0" bIns="0" anchor="t">
            <a:noAutofit/>
          </a:bodyPr>
          <a:lstStyle/>
          <a:p>
            <a:pPr algn="l">
              <a:defRPr sz="2250" b="0">
                <a:solidFill>
                  <a:srgbClr val="111111"/>
                </a:solidFill>
                <a:latin typeface="Aptos"/>
                <a:ea typeface="Aptos"/>
                <a:cs typeface="Aptos"/>
              </a:defRPr>
            </a:pPr>
            <a:r>
              <a:rPr sz="2250" b="0">
                <a:solidFill>
                  <a:srgbClr val="111111"/>
                </a:solidFill>
                <a:latin typeface="Aptos"/>
                <a:ea typeface="Aptos"/>
                <a:cs typeface="Aptos"/>
              </a:rPr>
              <a:t>Population: 3,696. Target: 176. The fifth selected ID is 97.</a:t>
            </a:r>
          </a:p>
        </p:txBody>
      </p:sp>
      <p:sp>
        <p:nvSpPr>
          <p:cNvPr id="5" name="s14-text-5">
            <a:extLst>
              <a:ext uri="{FF2B5EF4-FFF2-40B4-BE49-F238E27FC236}">
                <a16:creationId xmlns:a16="http://schemas.microsoft.com/office/drawing/2014/main" id="{96BE6765-1854-4649-B181-8402E0DF1505}"/>
              </a:ext>
            </a:extLst>
          </p:cNvPr>
          <p:cNvSpPr>
            <a:spLocks noGrp="1"/>
          </p:cNvSpPr>
          <p:nvPr/>
        </p:nvSpPr>
        <p:spPr>
          <a:xfrm>
            <a:off x="457200" y="2790825"/>
            <a:ext cx="11239500" cy="45720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sz="2325" b="0">
                <a:solidFill>
                  <a:srgbClr val="111111"/>
                </a:solidFill>
                <a:latin typeface="Aptos"/>
                <a:ea typeface="Aptos"/>
                <a:cs typeface="Aptos"/>
              </a:rPr>
              <a:t>a) Find the interval and starting ID.</a:t>
            </a:r>
          </a:p>
        </p:txBody>
      </p:sp>
      <p:sp>
        <p:nvSpPr>
          <p:cNvPr id="6" name="s14-line-6">
            <a:extLst>
              <a:ext uri="{FF2B5EF4-FFF2-40B4-BE49-F238E27FC236}">
                <a16:creationId xmlns:a16="http://schemas.microsoft.com/office/drawing/2014/main" id="{23336C7D-7B10-4233-B791-6523E783ADD8}"/>
              </a:ext>
            </a:extLst>
          </p:cNvPr>
          <p:cNvSpPr>
            <a:spLocks noGrp="1"/>
          </p:cNvSpPr>
          <p:nvPr/>
        </p:nvSpPr>
        <p:spPr>
          <a:xfrm>
            <a:off x="1238250" y="3829050"/>
            <a:ext cx="9525000" cy="0"/>
          </a:xfrm>
          <a:prstGeom prst="line">
            <a:avLst/>
          </a:prstGeom>
          <a:noFill/>
          <a:ln w="19050">
            <a:solidFill>
              <a:srgbClr val="111111"/>
            </a:solidFill>
          </a:ln>
        </p:spPr>
        <p:txBody>
          <a:bodyPr/>
          <a:lstStyle/>
          <a:p>
            <a:endParaRPr lang="en-US"/>
          </a:p>
        </p:txBody>
      </p:sp>
      <p:sp>
        <p:nvSpPr>
          <p:cNvPr id="7" name="s14-line-7">
            <a:extLst>
              <a:ext uri="{FF2B5EF4-FFF2-40B4-BE49-F238E27FC236}">
                <a16:creationId xmlns:a16="http://schemas.microsoft.com/office/drawing/2014/main" id="{192F4C9B-03D6-45A3-A936-D900B4BC2D0F}"/>
              </a:ext>
            </a:extLst>
          </p:cNvPr>
          <p:cNvSpPr>
            <a:spLocks noGrp="1"/>
          </p:cNvSpPr>
          <p:nvPr/>
        </p:nvSpPr>
        <p:spPr>
          <a:xfrm>
            <a:off x="1238250" y="3733800"/>
            <a:ext cx="0" cy="190500"/>
          </a:xfrm>
          <a:prstGeom prst="line">
            <a:avLst/>
          </a:prstGeom>
          <a:noFill/>
          <a:ln w="19050">
            <a:solidFill>
              <a:srgbClr val="111111"/>
            </a:solidFill>
          </a:ln>
        </p:spPr>
        <p:txBody>
          <a:bodyPr/>
          <a:lstStyle/>
          <a:p>
            <a:endParaRPr lang="en-US"/>
          </a:p>
        </p:txBody>
      </p:sp>
      <p:sp>
        <p:nvSpPr>
          <p:cNvPr id="8" name="s14-text-8">
            <a:extLst>
              <a:ext uri="{FF2B5EF4-FFF2-40B4-BE49-F238E27FC236}">
                <a16:creationId xmlns:a16="http://schemas.microsoft.com/office/drawing/2014/main" id="{58F006F3-9787-4C5A-B854-BD9D54B193C5}"/>
              </a:ext>
            </a:extLst>
          </p:cNvPr>
          <p:cNvSpPr>
            <a:spLocks noGrp="1"/>
          </p:cNvSpPr>
          <p:nvPr/>
        </p:nvSpPr>
        <p:spPr>
          <a:xfrm>
            <a:off x="771525" y="4048125"/>
            <a:ext cx="933450" cy="381000"/>
          </a:xfrm>
          <a:prstGeom prst="rect">
            <a:avLst/>
          </a:prstGeom>
          <a:noFill/>
          <a:ln w="0">
            <a:noFill/>
          </a:ln>
        </p:spPr>
        <p:txBody>
          <a:bodyPr wrap="square" lIns="0" tIns="0" rIns="0" bIns="0" anchor="t">
            <a:noAutofit/>
          </a:bodyPr>
          <a:lstStyle/>
          <a:p>
            <a:pPr algn="ctr">
              <a:defRPr sz="2325" b="1">
                <a:solidFill>
                  <a:srgbClr val="111111"/>
                </a:solidFill>
                <a:latin typeface="Aptos"/>
                <a:ea typeface="Aptos"/>
                <a:cs typeface="Aptos"/>
              </a:defRPr>
            </a:pPr>
            <a:r>
              <a:rPr sz="2325" b="1">
                <a:solidFill>
                  <a:srgbClr val="111111"/>
                </a:solidFill>
                <a:latin typeface="Aptos"/>
                <a:ea typeface="Aptos"/>
                <a:cs typeface="Aptos"/>
              </a:rPr>
              <a:t>?</a:t>
            </a:r>
          </a:p>
        </p:txBody>
      </p:sp>
      <p:sp>
        <p:nvSpPr>
          <p:cNvPr id="9" name="s14-text-9">
            <a:extLst>
              <a:ext uri="{FF2B5EF4-FFF2-40B4-BE49-F238E27FC236}">
                <a16:creationId xmlns:a16="http://schemas.microsoft.com/office/drawing/2014/main" id="{7844E803-82D3-482D-8BDA-82366331B424}"/>
              </a:ext>
            </a:extLst>
          </p:cNvPr>
          <p:cNvSpPr>
            <a:spLocks noGrp="1"/>
          </p:cNvSpPr>
          <p:nvPr/>
        </p:nvSpPr>
        <p:spPr>
          <a:xfrm>
            <a:off x="714375" y="3238500"/>
            <a:ext cx="1047750" cy="381000"/>
          </a:xfrm>
          <a:prstGeom prst="rect">
            <a:avLst/>
          </a:prstGeom>
          <a:noFill/>
          <a:ln w="0">
            <a:noFill/>
          </a:ln>
        </p:spPr>
        <p:txBody>
          <a:bodyPr wrap="square" lIns="0" tIns="0" rIns="0" bIns="0" anchor="t">
            <a:noAutofit/>
          </a:bodyPr>
          <a:lstStyle/>
          <a:p>
            <a:pPr algn="ctr">
              <a:defRPr sz="1725" b="0">
                <a:solidFill>
                  <a:srgbClr val="666666"/>
                </a:solidFill>
                <a:latin typeface="Aptos"/>
                <a:ea typeface="Aptos"/>
                <a:cs typeface="Aptos"/>
              </a:defRPr>
            </a:pPr>
            <a:r>
              <a:rPr sz="1725" b="0">
                <a:solidFill>
                  <a:srgbClr val="666666"/>
                </a:solidFill>
                <a:latin typeface="Aptos"/>
                <a:ea typeface="Aptos"/>
                <a:cs typeface="Aptos"/>
              </a:rPr>
              <a:t>1st</a:t>
            </a:r>
          </a:p>
        </p:txBody>
      </p:sp>
      <p:sp>
        <p:nvSpPr>
          <p:cNvPr id="10" name="s14-line-10">
            <a:extLst>
              <a:ext uri="{FF2B5EF4-FFF2-40B4-BE49-F238E27FC236}">
                <a16:creationId xmlns:a16="http://schemas.microsoft.com/office/drawing/2014/main" id="{BAED751B-AFAD-4072-9A63-FE50A5D5BD6C}"/>
              </a:ext>
            </a:extLst>
          </p:cNvPr>
          <p:cNvSpPr>
            <a:spLocks noGrp="1"/>
          </p:cNvSpPr>
          <p:nvPr/>
        </p:nvSpPr>
        <p:spPr>
          <a:xfrm>
            <a:off x="3619500" y="3733800"/>
            <a:ext cx="0" cy="190500"/>
          </a:xfrm>
          <a:prstGeom prst="line">
            <a:avLst/>
          </a:prstGeom>
          <a:noFill/>
          <a:ln w="19050">
            <a:solidFill>
              <a:srgbClr val="111111"/>
            </a:solidFill>
          </a:ln>
        </p:spPr>
        <p:txBody>
          <a:bodyPr/>
          <a:lstStyle/>
          <a:p>
            <a:endParaRPr lang="en-US"/>
          </a:p>
        </p:txBody>
      </p:sp>
      <p:sp>
        <p:nvSpPr>
          <p:cNvPr id="11" name="s14-text-11">
            <a:extLst>
              <a:ext uri="{FF2B5EF4-FFF2-40B4-BE49-F238E27FC236}">
                <a16:creationId xmlns:a16="http://schemas.microsoft.com/office/drawing/2014/main" id="{78ABB49A-474A-4A23-A6D5-369052183145}"/>
              </a:ext>
            </a:extLst>
          </p:cNvPr>
          <p:cNvSpPr>
            <a:spLocks noGrp="1"/>
          </p:cNvSpPr>
          <p:nvPr/>
        </p:nvSpPr>
        <p:spPr>
          <a:xfrm>
            <a:off x="3152775" y="4048125"/>
            <a:ext cx="933450" cy="381000"/>
          </a:xfrm>
          <a:prstGeom prst="rect">
            <a:avLst/>
          </a:prstGeom>
          <a:noFill/>
          <a:ln w="0">
            <a:noFill/>
          </a:ln>
        </p:spPr>
        <p:txBody>
          <a:bodyPr wrap="square" lIns="0" tIns="0" rIns="0" bIns="0" anchor="t">
            <a:noAutofit/>
          </a:bodyPr>
          <a:lstStyle/>
          <a:p>
            <a:pPr algn="ctr">
              <a:defRPr sz="2325" b="1">
                <a:solidFill>
                  <a:srgbClr val="111111"/>
                </a:solidFill>
                <a:latin typeface="Aptos"/>
                <a:ea typeface="Aptos"/>
                <a:cs typeface="Aptos"/>
              </a:defRPr>
            </a:pPr>
            <a:r>
              <a:rPr sz="2325" b="1">
                <a:solidFill>
                  <a:srgbClr val="111111"/>
                </a:solidFill>
                <a:latin typeface="Aptos"/>
                <a:ea typeface="Aptos"/>
                <a:cs typeface="Aptos"/>
              </a:rPr>
              <a:t>?</a:t>
            </a:r>
          </a:p>
        </p:txBody>
      </p:sp>
      <p:sp>
        <p:nvSpPr>
          <p:cNvPr id="12" name="s14-text-12">
            <a:extLst>
              <a:ext uri="{FF2B5EF4-FFF2-40B4-BE49-F238E27FC236}">
                <a16:creationId xmlns:a16="http://schemas.microsoft.com/office/drawing/2014/main" id="{ED6436E7-5E4F-4954-A17E-9E91D3CA4A7F}"/>
              </a:ext>
            </a:extLst>
          </p:cNvPr>
          <p:cNvSpPr>
            <a:spLocks noGrp="1"/>
          </p:cNvSpPr>
          <p:nvPr/>
        </p:nvSpPr>
        <p:spPr>
          <a:xfrm>
            <a:off x="3095625" y="3238500"/>
            <a:ext cx="1047750" cy="381000"/>
          </a:xfrm>
          <a:prstGeom prst="rect">
            <a:avLst/>
          </a:prstGeom>
          <a:noFill/>
          <a:ln w="0">
            <a:noFill/>
          </a:ln>
        </p:spPr>
        <p:txBody>
          <a:bodyPr wrap="square" lIns="0" tIns="0" rIns="0" bIns="0" anchor="t">
            <a:noAutofit/>
          </a:bodyPr>
          <a:lstStyle/>
          <a:p>
            <a:pPr algn="ctr">
              <a:defRPr sz="1725" b="0">
                <a:solidFill>
                  <a:srgbClr val="666666"/>
                </a:solidFill>
                <a:latin typeface="Aptos"/>
                <a:ea typeface="Aptos"/>
                <a:cs typeface="Aptos"/>
              </a:defRPr>
            </a:pPr>
            <a:r>
              <a:rPr sz="1725" b="0">
                <a:solidFill>
                  <a:srgbClr val="666666"/>
                </a:solidFill>
                <a:latin typeface="Aptos"/>
                <a:ea typeface="Aptos"/>
                <a:cs typeface="Aptos"/>
              </a:rPr>
              <a:t>2nd</a:t>
            </a:r>
          </a:p>
        </p:txBody>
      </p:sp>
      <p:sp>
        <p:nvSpPr>
          <p:cNvPr id="13" name="s14-line-13">
            <a:extLst>
              <a:ext uri="{FF2B5EF4-FFF2-40B4-BE49-F238E27FC236}">
                <a16:creationId xmlns:a16="http://schemas.microsoft.com/office/drawing/2014/main" id="{07050447-20A8-48AC-B110-A45A6C70DB21}"/>
              </a:ext>
            </a:extLst>
          </p:cNvPr>
          <p:cNvSpPr>
            <a:spLocks noGrp="1"/>
          </p:cNvSpPr>
          <p:nvPr/>
        </p:nvSpPr>
        <p:spPr>
          <a:xfrm>
            <a:off x="6000750" y="3733800"/>
            <a:ext cx="0" cy="190500"/>
          </a:xfrm>
          <a:prstGeom prst="line">
            <a:avLst/>
          </a:prstGeom>
          <a:noFill/>
          <a:ln w="19050">
            <a:solidFill>
              <a:srgbClr val="111111"/>
            </a:solidFill>
          </a:ln>
        </p:spPr>
        <p:txBody>
          <a:bodyPr/>
          <a:lstStyle/>
          <a:p>
            <a:endParaRPr lang="en-US"/>
          </a:p>
        </p:txBody>
      </p:sp>
      <p:sp>
        <p:nvSpPr>
          <p:cNvPr id="14" name="s14-text-14">
            <a:extLst>
              <a:ext uri="{FF2B5EF4-FFF2-40B4-BE49-F238E27FC236}">
                <a16:creationId xmlns:a16="http://schemas.microsoft.com/office/drawing/2014/main" id="{3045397E-5B03-4170-8018-77667BCADA46}"/>
              </a:ext>
            </a:extLst>
          </p:cNvPr>
          <p:cNvSpPr>
            <a:spLocks noGrp="1"/>
          </p:cNvSpPr>
          <p:nvPr/>
        </p:nvSpPr>
        <p:spPr>
          <a:xfrm>
            <a:off x="5534025" y="4048125"/>
            <a:ext cx="933450" cy="381000"/>
          </a:xfrm>
          <a:prstGeom prst="rect">
            <a:avLst/>
          </a:prstGeom>
          <a:noFill/>
          <a:ln w="0">
            <a:noFill/>
          </a:ln>
        </p:spPr>
        <p:txBody>
          <a:bodyPr wrap="square" lIns="0" tIns="0" rIns="0" bIns="0" anchor="t">
            <a:noAutofit/>
          </a:bodyPr>
          <a:lstStyle/>
          <a:p>
            <a:pPr algn="ctr">
              <a:defRPr sz="2325" b="1">
                <a:solidFill>
                  <a:srgbClr val="111111"/>
                </a:solidFill>
                <a:latin typeface="Aptos"/>
                <a:ea typeface="Aptos"/>
                <a:cs typeface="Aptos"/>
              </a:defRPr>
            </a:pPr>
            <a:r>
              <a:rPr sz="2325" b="1">
                <a:solidFill>
                  <a:srgbClr val="111111"/>
                </a:solidFill>
                <a:latin typeface="Aptos"/>
                <a:ea typeface="Aptos"/>
                <a:cs typeface="Aptos"/>
              </a:rPr>
              <a:t>?</a:t>
            </a:r>
          </a:p>
        </p:txBody>
      </p:sp>
      <p:sp>
        <p:nvSpPr>
          <p:cNvPr id="15" name="s14-text-15">
            <a:extLst>
              <a:ext uri="{FF2B5EF4-FFF2-40B4-BE49-F238E27FC236}">
                <a16:creationId xmlns:a16="http://schemas.microsoft.com/office/drawing/2014/main" id="{BC05D90F-E363-41C2-AC18-2373461427E5}"/>
              </a:ext>
            </a:extLst>
          </p:cNvPr>
          <p:cNvSpPr>
            <a:spLocks noGrp="1"/>
          </p:cNvSpPr>
          <p:nvPr/>
        </p:nvSpPr>
        <p:spPr>
          <a:xfrm>
            <a:off x="5476875" y="3238500"/>
            <a:ext cx="1047750" cy="381000"/>
          </a:xfrm>
          <a:prstGeom prst="rect">
            <a:avLst/>
          </a:prstGeom>
          <a:noFill/>
          <a:ln w="0">
            <a:noFill/>
          </a:ln>
        </p:spPr>
        <p:txBody>
          <a:bodyPr wrap="square" lIns="0" tIns="0" rIns="0" bIns="0" anchor="t">
            <a:noAutofit/>
          </a:bodyPr>
          <a:lstStyle/>
          <a:p>
            <a:pPr algn="ctr">
              <a:defRPr sz="1725" b="0">
                <a:solidFill>
                  <a:srgbClr val="666666"/>
                </a:solidFill>
                <a:latin typeface="Aptos"/>
                <a:ea typeface="Aptos"/>
                <a:cs typeface="Aptos"/>
              </a:defRPr>
            </a:pPr>
            <a:r>
              <a:rPr sz="1725" b="0">
                <a:solidFill>
                  <a:srgbClr val="666666"/>
                </a:solidFill>
                <a:latin typeface="Aptos"/>
                <a:ea typeface="Aptos"/>
                <a:cs typeface="Aptos"/>
              </a:rPr>
              <a:t>3rd</a:t>
            </a:r>
          </a:p>
        </p:txBody>
      </p:sp>
      <p:sp>
        <p:nvSpPr>
          <p:cNvPr id="16" name="s14-line-16">
            <a:extLst>
              <a:ext uri="{FF2B5EF4-FFF2-40B4-BE49-F238E27FC236}">
                <a16:creationId xmlns:a16="http://schemas.microsoft.com/office/drawing/2014/main" id="{50575B5E-33A6-46AA-B479-5AF58C602ACF}"/>
              </a:ext>
            </a:extLst>
          </p:cNvPr>
          <p:cNvSpPr>
            <a:spLocks noGrp="1"/>
          </p:cNvSpPr>
          <p:nvPr/>
        </p:nvSpPr>
        <p:spPr>
          <a:xfrm>
            <a:off x="8382000" y="3733800"/>
            <a:ext cx="0" cy="190500"/>
          </a:xfrm>
          <a:prstGeom prst="line">
            <a:avLst/>
          </a:prstGeom>
          <a:noFill/>
          <a:ln w="19050">
            <a:solidFill>
              <a:srgbClr val="111111"/>
            </a:solidFill>
          </a:ln>
        </p:spPr>
        <p:txBody>
          <a:bodyPr/>
          <a:lstStyle/>
          <a:p>
            <a:endParaRPr lang="en-US"/>
          </a:p>
        </p:txBody>
      </p:sp>
      <p:sp>
        <p:nvSpPr>
          <p:cNvPr id="17" name="s14-text-17">
            <a:extLst>
              <a:ext uri="{FF2B5EF4-FFF2-40B4-BE49-F238E27FC236}">
                <a16:creationId xmlns:a16="http://schemas.microsoft.com/office/drawing/2014/main" id="{67569349-75A5-4BC7-B5BC-308975681FFC}"/>
              </a:ext>
            </a:extLst>
          </p:cNvPr>
          <p:cNvSpPr>
            <a:spLocks noGrp="1"/>
          </p:cNvSpPr>
          <p:nvPr/>
        </p:nvSpPr>
        <p:spPr>
          <a:xfrm>
            <a:off x="7915275" y="4048125"/>
            <a:ext cx="933450" cy="381000"/>
          </a:xfrm>
          <a:prstGeom prst="rect">
            <a:avLst/>
          </a:prstGeom>
          <a:noFill/>
          <a:ln w="0">
            <a:noFill/>
          </a:ln>
        </p:spPr>
        <p:txBody>
          <a:bodyPr wrap="square" lIns="0" tIns="0" rIns="0" bIns="0" anchor="t">
            <a:noAutofit/>
          </a:bodyPr>
          <a:lstStyle/>
          <a:p>
            <a:pPr algn="ctr">
              <a:defRPr sz="2325" b="1">
                <a:solidFill>
                  <a:srgbClr val="111111"/>
                </a:solidFill>
                <a:latin typeface="Aptos"/>
                <a:ea typeface="Aptos"/>
                <a:cs typeface="Aptos"/>
              </a:defRPr>
            </a:pPr>
            <a:r>
              <a:rPr sz="2325" b="1">
                <a:solidFill>
                  <a:srgbClr val="111111"/>
                </a:solidFill>
                <a:latin typeface="Aptos"/>
                <a:ea typeface="Aptos"/>
                <a:cs typeface="Aptos"/>
              </a:rPr>
              <a:t>?</a:t>
            </a:r>
          </a:p>
        </p:txBody>
      </p:sp>
      <p:sp>
        <p:nvSpPr>
          <p:cNvPr id="18" name="s14-text-18">
            <a:extLst>
              <a:ext uri="{FF2B5EF4-FFF2-40B4-BE49-F238E27FC236}">
                <a16:creationId xmlns:a16="http://schemas.microsoft.com/office/drawing/2014/main" id="{6E022DA9-E488-4320-8197-8278B3906CE7}"/>
              </a:ext>
            </a:extLst>
          </p:cNvPr>
          <p:cNvSpPr>
            <a:spLocks noGrp="1"/>
          </p:cNvSpPr>
          <p:nvPr/>
        </p:nvSpPr>
        <p:spPr>
          <a:xfrm>
            <a:off x="7858125" y="3238500"/>
            <a:ext cx="1047750" cy="381000"/>
          </a:xfrm>
          <a:prstGeom prst="rect">
            <a:avLst/>
          </a:prstGeom>
          <a:noFill/>
          <a:ln w="0">
            <a:noFill/>
          </a:ln>
        </p:spPr>
        <p:txBody>
          <a:bodyPr wrap="square" lIns="0" tIns="0" rIns="0" bIns="0" anchor="t">
            <a:noAutofit/>
          </a:bodyPr>
          <a:lstStyle/>
          <a:p>
            <a:pPr algn="ctr">
              <a:defRPr sz="1725" b="0">
                <a:solidFill>
                  <a:srgbClr val="666666"/>
                </a:solidFill>
                <a:latin typeface="Aptos"/>
                <a:ea typeface="Aptos"/>
                <a:cs typeface="Aptos"/>
              </a:defRPr>
            </a:pPr>
            <a:r>
              <a:rPr sz="1725" b="0">
                <a:solidFill>
                  <a:srgbClr val="666666"/>
                </a:solidFill>
                <a:latin typeface="Aptos"/>
                <a:ea typeface="Aptos"/>
                <a:cs typeface="Aptos"/>
              </a:rPr>
              <a:t>4th</a:t>
            </a:r>
          </a:p>
        </p:txBody>
      </p:sp>
      <p:sp>
        <p:nvSpPr>
          <p:cNvPr id="19" name="s14-line-19">
            <a:extLst>
              <a:ext uri="{FF2B5EF4-FFF2-40B4-BE49-F238E27FC236}">
                <a16:creationId xmlns:a16="http://schemas.microsoft.com/office/drawing/2014/main" id="{685BABF3-8923-4EBE-AF63-D7769298A340}"/>
              </a:ext>
            </a:extLst>
          </p:cNvPr>
          <p:cNvSpPr>
            <a:spLocks noGrp="1"/>
          </p:cNvSpPr>
          <p:nvPr/>
        </p:nvSpPr>
        <p:spPr>
          <a:xfrm>
            <a:off x="10763250" y="3733800"/>
            <a:ext cx="0" cy="190500"/>
          </a:xfrm>
          <a:prstGeom prst="line">
            <a:avLst/>
          </a:prstGeom>
          <a:noFill/>
          <a:ln w="19050">
            <a:solidFill>
              <a:srgbClr val="111111"/>
            </a:solidFill>
          </a:ln>
        </p:spPr>
        <p:txBody>
          <a:bodyPr/>
          <a:lstStyle/>
          <a:p>
            <a:endParaRPr lang="en-US"/>
          </a:p>
        </p:txBody>
      </p:sp>
      <p:sp>
        <p:nvSpPr>
          <p:cNvPr id="20" name="s14-text-20">
            <a:extLst>
              <a:ext uri="{FF2B5EF4-FFF2-40B4-BE49-F238E27FC236}">
                <a16:creationId xmlns:a16="http://schemas.microsoft.com/office/drawing/2014/main" id="{CD61737C-17AB-47C5-8FF9-EAB86ACE2E6F}"/>
              </a:ext>
            </a:extLst>
          </p:cNvPr>
          <p:cNvSpPr>
            <a:spLocks noGrp="1"/>
          </p:cNvSpPr>
          <p:nvPr/>
        </p:nvSpPr>
        <p:spPr>
          <a:xfrm>
            <a:off x="10296525" y="4048125"/>
            <a:ext cx="933450" cy="381000"/>
          </a:xfrm>
          <a:prstGeom prst="rect">
            <a:avLst/>
          </a:prstGeom>
          <a:noFill/>
          <a:ln w="0">
            <a:noFill/>
          </a:ln>
        </p:spPr>
        <p:txBody>
          <a:bodyPr wrap="square" lIns="0" tIns="0" rIns="0" bIns="0" anchor="t">
            <a:noAutofit/>
          </a:bodyPr>
          <a:lstStyle/>
          <a:p>
            <a:pPr algn="ctr">
              <a:defRPr sz="2325" b="1">
                <a:solidFill>
                  <a:srgbClr val="111111"/>
                </a:solidFill>
                <a:latin typeface="Aptos"/>
                <a:ea typeface="Aptos"/>
                <a:cs typeface="Aptos"/>
              </a:defRPr>
            </a:pPr>
            <a:r>
              <a:rPr sz="2325" b="1">
                <a:solidFill>
                  <a:srgbClr val="111111"/>
                </a:solidFill>
                <a:latin typeface="Aptos"/>
                <a:ea typeface="Aptos"/>
                <a:cs typeface="Aptos"/>
              </a:rPr>
              <a:t>97</a:t>
            </a:r>
          </a:p>
        </p:txBody>
      </p:sp>
      <p:sp>
        <p:nvSpPr>
          <p:cNvPr id="21" name="s14-text-21">
            <a:extLst>
              <a:ext uri="{FF2B5EF4-FFF2-40B4-BE49-F238E27FC236}">
                <a16:creationId xmlns:a16="http://schemas.microsoft.com/office/drawing/2014/main" id="{9D357E1D-F3D4-41D7-A040-166B1071B892}"/>
              </a:ext>
            </a:extLst>
          </p:cNvPr>
          <p:cNvSpPr>
            <a:spLocks noGrp="1"/>
          </p:cNvSpPr>
          <p:nvPr/>
        </p:nvSpPr>
        <p:spPr>
          <a:xfrm>
            <a:off x="10239375" y="3238500"/>
            <a:ext cx="1047750" cy="381000"/>
          </a:xfrm>
          <a:prstGeom prst="rect">
            <a:avLst/>
          </a:prstGeom>
          <a:noFill/>
          <a:ln w="0">
            <a:noFill/>
          </a:ln>
        </p:spPr>
        <p:txBody>
          <a:bodyPr wrap="square" lIns="0" tIns="0" rIns="0" bIns="0" anchor="t">
            <a:noAutofit/>
          </a:bodyPr>
          <a:lstStyle/>
          <a:p>
            <a:pPr algn="ctr">
              <a:defRPr sz="1725" b="0">
                <a:solidFill>
                  <a:srgbClr val="666666"/>
                </a:solidFill>
                <a:latin typeface="Aptos"/>
                <a:ea typeface="Aptos"/>
                <a:cs typeface="Aptos"/>
              </a:defRPr>
            </a:pPr>
            <a:r>
              <a:rPr sz="1725" b="0">
                <a:solidFill>
                  <a:srgbClr val="666666"/>
                </a:solidFill>
                <a:latin typeface="Aptos"/>
                <a:ea typeface="Aptos"/>
                <a:cs typeface="Aptos"/>
              </a:rPr>
              <a:t>5th</a:t>
            </a:r>
          </a:p>
        </p:txBody>
      </p:sp>
      <p:sp>
        <p:nvSpPr>
          <p:cNvPr id="22" name="s14-text-22">
            <a:extLst>
              <a:ext uri="{FF2B5EF4-FFF2-40B4-BE49-F238E27FC236}">
                <a16:creationId xmlns:a16="http://schemas.microsoft.com/office/drawing/2014/main" id="{8AC534F6-9FEA-49B0-9F9F-BCB0C4BE8089}"/>
              </a:ext>
            </a:extLst>
          </p:cNvPr>
          <p:cNvSpPr>
            <a:spLocks noGrp="1"/>
          </p:cNvSpPr>
          <p:nvPr/>
        </p:nvSpPr>
        <p:spPr>
          <a:xfrm>
            <a:off x="457200" y="4810125"/>
            <a:ext cx="11239500" cy="942975"/>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sz="2325" b="0">
                <a:solidFill>
                  <a:srgbClr val="111111"/>
                </a:solidFill>
                <a:latin typeface="Aptos"/>
                <a:ea typeface="Aptos"/>
                <a:cs typeface="Aptos"/>
              </a:rPr>
              <a:t>b) Can these IDs prove that the starting ID was chosen randomly?</a:t>
            </a:r>
          </a:p>
          <a:p>
            <a:pPr algn="l">
              <a:defRPr sz="2325" b="0">
                <a:solidFill>
                  <a:srgbClr val="111111"/>
                </a:solidFill>
                <a:latin typeface="Aptos"/>
                <a:ea typeface="Aptos"/>
                <a:cs typeface="Aptos"/>
              </a:defRPr>
            </a:pPr>
            <a:r>
              <a:rPr sz="2325" b="0">
                <a:solidFill>
                  <a:srgbClr val="111111"/>
                </a:solidFill>
                <a:latin typeface="Aptos"/>
                <a:ea typeface="Aptos"/>
                <a:cs typeface="Aptos"/>
              </a:rPr>
              <a:t>    What would you need to check?</a:t>
            </a:r>
          </a:p>
        </p:txBody>
      </p:sp>
      <p:sp>
        <p:nvSpPr>
          <p:cNvPr id="23" name="s14-text-23">
            <a:extLst>
              <a:ext uri="{FF2B5EF4-FFF2-40B4-BE49-F238E27FC236}">
                <a16:creationId xmlns:a16="http://schemas.microsoft.com/office/drawing/2014/main" id="{47B2D231-6449-4ACB-BDF1-345B297312AA}"/>
              </a:ext>
            </a:extLst>
          </p:cNvPr>
          <p:cNvSpPr>
            <a:spLocks noGrp="1"/>
          </p:cNvSpPr>
          <p:nvPr/>
        </p:nvSpPr>
        <p:spPr>
          <a:xfrm>
            <a:off x="457200" y="6477000"/>
            <a:ext cx="10763250" cy="238125"/>
          </a:xfrm>
          <a:prstGeom prst="rect">
            <a:avLst/>
          </a:prstGeom>
          <a:noFill/>
          <a:ln w="0">
            <a:noFill/>
          </a:ln>
        </p:spPr>
        <p:txBody>
          <a:bodyPr wrap="square" lIns="0" tIns="0" rIns="0" bIns="0" anchor="t">
            <a:noAutofit/>
          </a:bodyPr>
          <a:lstStyle/>
          <a:p>
            <a:endParaRPr/>
          </a:p>
        </p:txBody>
      </p:sp>
      <p:sp>
        <p:nvSpPr>
          <p:cNvPr id="24" name="s14-text-24">
            <a:extLst>
              <a:ext uri="{FF2B5EF4-FFF2-40B4-BE49-F238E27FC236}">
                <a16:creationId xmlns:a16="http://schemas.microsoft.com/office/drawing/2014/main" id="{FAB128FF-9429-4AD6-AD78-3577AD0FDCEC}"/>
              </a:ext>
            </a:extLst>
          </p:cNvPr>
          <p:cNvSpPr>
            <a:spLocks noGrp="1"/>
          </p:cNvSpPr>
          <p:nvPr/>
        </p:nvSpPr>
        <p:spPr>
          <a:xfrm>
            <a:off x="11239500" y="6477000"/>
            <a:ext cx="476250" cy="238125"/>
          </a:xfrm>
          <a:prstGeom prst="rect">
            <a:avLst/>
          </a:prstGeom>
          <a:noFill/>
          <a:ln w="0">
            <a:noFill/>
          </a:ln>
        </p:spPr>
        <p:txBody>
          <a:bodyPr wrap="square" lIns="0" tIns="0" rIns="0" bIns="0" anchor="t">
            <a:noAutofit/>
          </a:bodyPr>
          <a:lstStyle/>
          <a:p>
            <a:pPr algn="r">
              <a:defRPr sz="1275" b="0">
                <a:solidFill>
                  <a:srgbClr val="666666"/>
                </a:solidFill>
                <a:latin typeface="Aptos"/>
                <a:ea typeface="Aptos"/>
                <a:cs typeface="Aptos"/>
              </a:defRPr>
            </a:pPr>
            <a:r>
              <a:rPr sz="1275" b="0">
                <a:solidFill>
                  <a:srgbClr val="666666"/>
                </a:solidFill>
                <a:latin typeface="Aptos"/>
                <a:ea typeface="Aptos"/>
                <a:cs typeface="Aptos"/>
              </a:rPr>
              <a:t>14</a:t>
            </a:r>
          </a:p>
        </p:txBody>
      </p:sp>
    </p:spTree>
    <p:extLst>
      <p:ext uri="{BB962C8B-B14F-4D97-AF65-F5344CB8AC3E}">
        <p14:creationId xmlns:p14="http://schemas.microsoft.com/office/powerpoint/2010/main" val="32813612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s15-text-1">
            <a:extLst>
              <a:ext uri="{FF2B5EF4-FFF2-40B4-BE49-F238E27FC236}">
                <a16:creationId xmlns:a16="http://schemas.microsoft.com/office/drawing/2014/main" id="{C7FB2D80-C682-45E8-9B60-C42DDE908B4B}"/>
              </a:ext>
            </a:extLst>
          </p:cNvPr>
          <p:cNvSpPr>
            <a:spLocks noGrp="1"/>
          </p:cNvSpPr>
          <p:nvPr/>
        </p:nvSpPr>
        <p:spPr>
          <a:xfrm>
            <a:off x="430816" y="1038225"/>
            <a:ext cx="11293412" cy="78105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The sequence and the procedure</a:t>
            </a:r>
          </a:p>
        </p:txBody>
      </p:sp>
      <p:sp>
        <p:nvSpPr>
          <p:cNvPr id="2" name="s15-rect-2">
            <a:extLst>
              <a:ext uri="{FF2B5EF4-FFF2-40B4-BE49-F238E27FC236}">
                <a16:creationId xmlns:a16="http://schemas.microsoft.com/office/drawing/2014/main" id="{F4732E9F-0123-4B19-BCC0-3DDF7E4EEC25}"/>
              </a:ext>
            </a:extLst>
          </p:cNvPr>
          <p:cNvSpPr>
            <a:spLocks noGrp="1"/>
          </p:cNvSpPr>
          <p:nvPr/>
        </p:nvSpPr>
        <p:spPr>
          <a:xfrm>
            <a:off x="8734425" y="476250"/>
            <a:ext cx="3000375" cy="400050"/>
          </a:xfrm>
          <a:prstGeom prst="rect">
            <a:avLst/>
          </a:prstGeom>
          <a:solidFill>
            <a:srgbClr val="D6171D"/>
          </a:solidFill>
          <a:ln w="0">
            <a:noFill/>
          </a:ln>
        </p:spPr>
        <p:txBody>
          <a:bodyPr/>
          <a:lstStyle/>
          <a:p>
            <a:endParaRPr lang="en-US"/>
          </a:p>
        </p:txBody>
      </p:sp>
      <p:sp>
        <p:nvSpPr>
          <p:cNvPr id="3" name="s15-text-3">
            <a:extLst>
              <a:ext uri="{FF2B5EF4-FFF2-40B4-BE49-F238E27FC236}">
                <a16:creationId xmlns:a16="http://schemas.microsoft.com/office/drawing/2014/main" id="{8803961E-6E10-4017-95ED-F2FF40ECCEF9}"/>
              </a:ext>
            </a:extLst>
          </p:cNvPr>
          <p:cNvSpPr>
            <a:spLocks noGrp="1"/>
          </p:cNvSpPr>
          <p:nvPr/>
        </p:nvSpPr>
        <p:spPr>
          <a:xfrm>
            <a:off x="8829675" y="533400"/>
            <a:ext cx="2809875" cy="323850"/>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C3.2</a:t>
            </a:r>
          </a:p>
        </p:txBody>
      </p:sp>
      <p:sp>
        <p:nvSpPr>
          <p:cNvPr id="4" name="s15-text-4">
            <a:extLst>
              <a:ext uri="{FF2B5EF4-FFF2-40B4-BE49-F238E27FC236}">
                <a16:creationId xmlns:a16="http://schemas.microsoft.com/office/drawing/2014/main" id="{12850D1B-D673-47A3-BCBC-E8E6D28D7037}"/>
              </a:ext>
            </a:extLst>
          </p:cNvPr>
          <p:cNvSpPr>
            <a:spLocks noGrp="1"/>
          </p:cNvSpPr>
          <p:nvPr/>
        </p:nvSpPr>
        <p:spPr>
          <a:xfrm>
            <a:off x="457200" y="2009775"/>
            <a:ext cx="1666875" cy="390525"/>
          </a:xfrm>
          <a:prstGeom prst="rect">
            <a:avLst/>
          </a:prstGeom>
          <a:noFill/>
          <a:ln w="0">
            <a:noFill/>
          </a:ln>
        </p:spPr>
        <p:txBody>
          <a:bodyPr wrap="square" lIns="0" tIns="0" rIns="0" bIns="0" anchor="t">
            <a:noAutofit/>
          </a:bodyPr>
          <a:lstStyle/>
          <a:p>
            <a:pPr algn="ctr">
              <a:defRPr sz="2625" b="0">
                <a:solidFill>
                  <a:srgbClr val="111111"/>
                </a:solidFill>
                <a:latin typeface="Aptos"/>
                <a:ea typeface="Aptos"/>
                <a:cs typeface="Aptos"/>
              </a:defRPr>
            </a:pPr>
            <a:r>
              <a:rPr sz="2625" b="0">
                <a:solidFill>
                  <a:srgbClr val="111111"/>
                </a:solidFill>
                <a:latin typeface="Aptos"/>
                <a:ea typeface="Aptos"/>
                <a:cs typeface="Aptos"/>
              </a:rPr>
              <a:t>3,696</a:t>
            </a:r>
          </a:p>
        </p:txBody>
      </p:sp>
      <p:sp>
        <p:nvSpPr>
          <p:cNvPr id="5" name="s15-line-5">
            <a:extLst>
              <a:ext uri="{FF2B5EF4-FFF2-40B4-BE49-F238E27FC236}">
                <a16:creationId xmlns:a16="http://schemas.microsoft.com/office/drawing/2014/main" id="{4FA794AC-0D6B-49BA-A5D6-E6DE554F507C}"/>
              </a:ext>
            </a:extLst>
          </p:cNvPr>
          <p:cNvSpPr>
            <a:spLocks noGrp="1"/>
          </p:cNvSpPr>
          <p:nvPr/>
        </p:nvSpPr>
        <p:spPr>
          <a:xfrm>
            <a:off x="457200" y="2438400"/>
            <a:ext cx="1666875" cy="0"/>
          </a:xfrm>
          <a:prstGeom prst="line">
            <a:avLst/>
          </a:prstGeom>
          <a:noFill/>
          <a:ln w="19050">
            <a:solidFill>
              <a:srgbClr val="111111"/>
            </a:solidFill>
          </a:ln>
        </p:spPr>
        <p:txBody>
          <a:bodyPr/>
          <a:lstStyle/>
          <a:p>
            <a:endParaRPr lang="en-US"/>
          </a:p>
        </p:txBody>
      </p:sp>
      <p:sp>
        <p:nvSpPr>
          <p:cNvPr id="6" name="s15-text-6">
            <a:extLst>
              <a:ext uri="{FF2B5EF4-FFF2-40B4-BE49-F238E27FC236}">
                <a16:creationId xmlns:a16="http://schemas.microsoft.com/office/drawing/2014/main" id="{9BE2C275-2E2B-491A-8618-30C0B1EAC26E}"/>
              </a:ext>
            </a:extLst>
          </p:cNvPr>
          <p:cNvSpPr>
            <a:spLocks noGrp="1"/>
          </p:cNvSpPr>
          <p:nvPr/>
        </p:nvSpPr>
        <p:spPr>
          <a:xfrm>
            <a:off x="457200" y="2533650"/>
            <a:ext cx="1666875" cy="409575"/>
          </a:xfrm>
          <a:prstGeom prst="rect">
            <a:avLst/>
          </a:prstGeom>
          <a:noFill/>
          <a:ln w="0">
            <a:noFill/>
          </a:ln>
        </p:spPr>
        <p:txBody>
          <a:bodyPr wrap="square" lIns="0" tIns="0" rIns="0" bIns="0" anchor="t">
            <a:noAutofit/>
          </a:bodyPr>
          <a:lstStyle/>
          <a:p>
            <a:pPr algn="ctr">
              <a:defRPr sz="2625" b="0">
                <a:solidFill>
                  <a:srgbClr val="111111"/>
                </a:solidFill>
                <a:latin typeface="Aptos"/>
                <a:ea typeface="Aptos"/>
                <a:cs typeface="Aptos"/>
              </a:defRPr>
            </a:pPr>
            <a:r>
              <a:rPr sz="2625" b="0">
                <a:solidFill>
                  <a:srgbClr val="111111"/>
                </a:solidFill>
                <a:latin typeface="Aptos"/>
                <a:ea typeface="Aptos"/>
                <a:cs typeface="Aptos"/>
              </a:rPr>
              <a:t>176</a:t>
            </a:r>
          </a:p>
        </p:txBody>
      </p:sp>
      <p:sp>
        <p:nvSpPr>
          <p:cNvPr id="7" name="s15-text-7">
            <a:extLst>
              <a:ext uri="{FF2B5EF4-FFF2-40B4-BE49-F238E27FC236}">
                <a16:creationId xmlns:a16="http://schemas.microsoft.com/office/drawing/2014/main" id="{B5AC3138-22FE-47B6-87C1-8FA84B22EF3A}"/>
              </a:ext>
            </a:extLst>
          </p:cNvPr>
          <p:cNvSpPr>
            <a:spLocks noGrp="1"/>
          </p:cNvSpPr>
          <p:nvPr/>
        </p:nvSpPr>
        <p:spPr>
          <a:xfrm>
            <a:off x="2352675" y="2247900"/>
            <a:ext cx="5905500" cy="590550"/>
          </a:xfrm>
          <a:prstGeom prst="rect">
            <a:avLst/>
          </a:prstGeom>
          <a:noFill/>
          <a:ln w="0">
            <a:noFill/>
          </a:ln>
        </p:spPr>
        <p:txBody>
          <a:bodyPr wrap="square" lIns="0" tIns="0" rIns="0" bIns="0" anchor="t">
            <a:noAutofit/>
          </a:bodyPr>
          <a:lstStyle/>
          <a:p>
            <a:pPr algn="l">
              <a:defRPr sz="2625" b="1">
                <a:solidFill>
                  <a:srgbClr val="111111"/>
                </a:solidFill>
                <a:latin typeface="Aptos"/>
                <a:ea typeface="Aptos"/>
                <a:cs typeface="Aptos"/>
              </a:defRPr>
            </a:pPr>
            <a:r>
              <a:rPr sz="2625" b="1">
                <a:solidFill>
                  <a:srgbClr val="111111"/>
                </a:solidFill>
                <a:latin typeface="Aptos"/>
                <a:ea typeface="Aptos"/>
                <a:cs typeface="Aptos"/>
              </a:rPr>
              <a:t>= 21</a:t>
            </a:r>
          </a:p>
        </p:txBody>
      </p:sp>
      <p:sp>
        <p:nvSpPr>
          <p:cNvPr id="8" name="s15-text-8">
            <a:extLst>
              <a:ext uri="{FF2B5EF4-FFF2-40B4-BE49-F238E27FC236}">
                <a16:creationId xmlns:a16="http://schemas.microsoft.com/office/drawing/2014/main" id="{01384D1F-5E54-4FDD-B74B-B602C3A42D2F}"/>
              </a:ext>
            </a:extLst>
          </p:cNvPr>
          <p:cNvSpPr>
            <a:spLocks noGrp="1"/>
          </p:cNvSpPr>
          <p:nvPr/>
        </p:nvSpPr>
        <p:spPr>
          <a:xfrm>
            <a:off x="5381625" y="2133600"/>
            <a:ext cx="6191250" cy="1000125"/>
          </a:xfrm>
          <a:prstGeom prst="rect">
            <a:avLst/>
          </a:prstGeom>
          <a:noFill/>
          <a:ln w="0">
            <a:noFill/>
          </a:ln>
        </p:spPr>
        <p:txBody>
          <a:bodyPr wrap="square" lIns="0" tIns="0" rIns="0" bIns="0" anchor="t">
            <a:noAutofit/>
          </a:bodyPr>
          <a:lstStyle/>
          <a:p>
            <a:pPr algn="l">
              <a:defRPr sz="2400" b="1">
                <a:solidFill>
                  <a:srgbClr val="111111"/>
                </a:solidFill>
                <a:latin typeface="Aptos"/>
                <a:ea typeface="Aptos"/>
                <a:cs typeface="Aptos"/>
              </a:defRPr>
            </a:pPr>
            <a:r>
              <a:rPr sz="2400" b="1">
                <a:solidFill>
                  <a:srgbClr val="111111"/>
                </a:solidFill>
                <a:latin typeface="Aptos"/>
                <a:ea typeface="Aptos"/>
                <a:cs typeface="Aptos"/>
              </a:rPr>
              <a:t>Four jumps precede the fifth ID:</a:t>
            </a:r>
          </a:p>
          <a:p>
            <a:pPr algn="l">
              <a:defRPr sz="2400" b="1">
                <a:solidFill>
                  <a:srgbClr val="111111"/>
                </a:solidFill>
                <a:latin typeface="Aptos"/>
                <a:ea typeface="Aptos"/>
                <a:cs typeface="Aptos"/>
              </a:defRPr>
            </a:pPr>
            <a:r>
              <a:rPr sz="2400" b="1">
                <a:solidFill>
                  <a:srgbClr val="111111"/>
                </a:solidFill>
                <a:latin typeface="Aptos"/>
                <a:ea typeface="Aptos"/>
                <a:cs typeface="Aptos"/>
              </a:rPr>
              <a:t>r + 4(21) = 97, so r = 13</a:t>
            </a:r>
          </a:p>
        </p:txBody>
      </p:sp>
      <p:sp>
        <p:nvSpPr>
          <p:cNvPr id="9" name="s15-line-9">
            <a:extLst>
              <a:ext uri="{FF2B5EF4-FFF2-40B4-BE49-F238E27FC236}">
                <a16:creationId xmlns:a16="http://schemas.microsoft.com/office/drawing/2014/main" id="{9A1A0FA0-BB8B-4B1C-BD0F-CBB540E708CD}"/>
              </a:ext>
            </a:extLst>
          </p:cNvPr>
          <p:cNvSpPr>
            <a:spLocks noGrp="1"/>
          </p:cNvSpPr>
          <p:nvPr/>
        </p:nvSpPr>
        <p:spPr>
          <a:xfrm>
            <a:off x="1238250" y="3857625"/>
            <a:ext cx="9525000" cy="0"/>
          </a:xfrm>
          <a:prstGeom prst="line">
            <a:avLst/>
          </a:prstGeom>
          <a:noFill/>
          <a:ln w="19050">
            <a:solidFill>
              <a:srgbClr val="111111"/>
            </a:solidFill>
          </a:ln>
        </p:spPr>
        <p:txBody>
          <a:bodyPr/>
          <a:lstStyle/>
          <a:p>
            <a:endParaRPr lang="en-US"/>
          </a:p>
        </p:txBody>
      </p:sp>
      <p:sp>
        <p:nvSpPr>
          <p:cNvPr id="10" name="s15-line-10">
            <a:extLst>
              <a:ext uri="{FF2B5EF4-FFF2-40B4-BE49-F238E27FC236}">
                <a16:creationId xmlns:a16="http://schemas.microsoft.com/office/drawing/2014/main" id="{7514F475-4D96-4945-8F52-A0A7B5D88F7F}"/>
              </a:ext>
            </a:extLst>
          </p:cNvPr>
          <p:cNvSpPr>
            <a:spLocks noGrp="1"/>
          </p:cNvSpPr>
          <p:nvPr/>
        </p:nvSpPr>
        <p:spPr>
          <a:xfrm>
            <a:off x="1238250" y="3762375"/>
            <a:ext cx="0" cy="190500"/>
          </a:xfrm>
          <a:prstGeom prst="line">
            <a:avLst/>
          </a:prstGeom>
          <a:noFill/>
          <a:ln w="19050">
            <a:solidFill>
              <a:srgbClr val="111111"/>
            </a:solidFill>
          </a:ln>
        </p:spPr>
        <p:txBody>
          <a:bodyPr/>
          <a:lstStyle/>
          <a:p>
            <a:endParaRPr lang="en-US"/>
          </a:p>
        </p:txBody>
      </p:sp>
      <p:sp>
        <p:nvSpPr>
          <p:cNvPr id="11" name="s15-text-11">
            <a:extLst>
              <a:ext uri="{FF2B5EF4-FFF2-40B4-BE49-F238E27FC236}">
                <a16:creationId xmlns:a16="http://schemas.microsoft.com/office/drawing/2014/main" id="{FBBBF291-2ECB-4E63-8E46-B6ABD23DC165}"/>
              </a:ext>
            </a:extLst>
          </p:cNvPr>
          <p:cNvSpPr>
            <a:spLocks noGrp="1"/>
          </p:cNvSpPr>
          <p:nvPr/>
        </p:nvSpPr>
        <p:spPr>
          <a:xfrm>
            <a:off x="771525" y="4076700"/>
            <a:ext cx="933450" cy="381000"/>
          </a:xfrm>
          <a:prstGeom prst="rect">
            <a:avLst/>
          </a:prstGeom>
          <a:noFill/>
          <a:ln w="0">
            <a:noFill/>
          </a:ln>
        </p:spPr>
        <p:txBody>
          <a:bodyPr wrap="square" lIns="0" tIns="0" rIns="0" bIns="0" anchor="t">
            <a:noAutofit/>
          </a:bodyPr>
          <a:lstStyle/>
          <a:p>
            <a:pPr algn="ctr">
              <a:defRPr sz="2325" b="1">
                <a:solidFill>
                  <a:srgbClr val="111111"/>
                </a:solidFill>
                <a:latin typeface="Aptos"/>
                <a:ea typeface="Aptos"/>
                <a:cs typeface="Aptos"/>
              </a:defRPr>
            </a:pPr>
            <a:r>
              <a:rPr sz="2325" b="1">
                <a:solidFill>
                  <a:srgbClr val="111111"/>
                </a:solidFill>
                <a:latin typeface="Aptos"/>
                <a:ea typeface="Aptos"/>
                <a:cs typeface="Aptos"/>
              </a:rPr>
              <a:t>13</a:t>
            </a:r>
          </a:p>
        </p:txBody>
      </p:sp>
      <p:sp>
        <p:nvSpPr>
          <p:cNvPr id="12" name="s15-text-12">
            <a:extLst>
              <a:ext uri="{FF2B5EF4-FFF2-40B4-BE49-F238E27FC236}">
                <a16:creationId xmlns:a16="http://schemas.microsoft.com/office/drawing/2014/main" id="{7614ADE1-2DD4-4DA3-8E94-8687CE9396AA}"/>
              </a:ext>
            </a:extLst>
          </p:cNvPr>
          <p:cNvSpPr>
            <a:spLocks noGrp="1"/>
          </p:cNvSpPr>
          <p:nvPr/>
        </p:nvSpPr>
        <p:spPr>
          <a:xfrm>
            <a:off x="2047875" y="3429000"/>
            <a:ext cx="762000" cy="333375"/>
          </a:xfrm>
          <a:prstGeom prst="rect">
            <a:avLst/>
          </a:prstGeom>
          <a:noFill/>
          <a:ln w="0">
            <a:noFill/>
          </a:ln>
        </p:spPr>
        <p:txBody>
          <a:bodyPr wrap="square" lIns="0" tIns="0" rIns="0" bIns="0" anchor="t">
            <a:noAutofit/>
          </a:bodyPr>
          <a:lstStyle/>
          <a:p>
            <a:pPr algn="ctr">
              <a:defRPr sz="2025" b="0">
                <a:solidFill>
                  <a:srgbClr val="666666"/>
                </a:solidFill>
                <a:latin typeface="Aptos"/>
                <a:ea typeface="Aptos"/>
                <a:cs typeface="Aptos"/>
              </a:defRPr>
            </a:pPr>
            <a:r>
              <a:rPr sz="2025" b="0">
                <a:solidFill>
                  <a:srgbClr val="666666"/>
                </a:solidFill>
                <a:latin typeface="Aptos"/>
                <a:ea typeface="Aptos"/>
                <a:cs typeface="Aptos"/>
              </a:rPr>
              <a:t>+21</a:t>
            </a:r>
          </a:p>
        </p:txBody>
      </p:sp>
      <p:sp>
        <p:nvSpPr>
          <p:cNvPr id="13" name="s15-line-13">
            <a:extLst>
              <a:ext uri="{FF2B5EF4-FFF2-40B4-BE49-F238E27FC236}">
                <a16:creationId xmlns:a16="http://schemas.microsoft.com/office/drawing/2014/main" id="{7B80110D-3CC5-40CF-9805-B26F119A7A41}"/>
              </a:ext>
            </a:extLst>
          </p:cNvPr>
          <p:cNvSpPr>
            <a:spLocks noGrp="1"/>
          </p:cNvSpPr>
          <p:nvPr/>
        </p:nvSpPr>
        <p:spPr>
          <a:xfrm>
            <a:off x="3619500" y="3762375"/>
            <a:ext cx="0" cy="190500"/>
          </a:xfrm>
          <a:prstGeom prst="line">
            <a:avLst/>
          </a:prstGeom>
          <a:noFill/>
          <a:ln w="19050">
            <a:solidFill>
              <a:srgbClr val="111111"/>
            </a:solidFill>
          </a:ln>
        </p:spPr>
        <p:txBody>
          <a:bodyPr/>
          <a:lstStyle/>
          <a:p>
            <a:endParaRPr lang="en-US"/>
          </a:p>
        </p:txBody>
      </p:sp>
      <p:sp>
        <p:nvSpPr>
          <p:cNvPr id="14" name="s15-text-14">
            <a:extLst>
              <a:ext uri="{FF2B5EF4-FFF2-40B4-BE49-F238E27FC236}">
                <a16:creationId xmlns:a16="http://schemas.microsoft.com/office/drawing/2014/main" id="{CAB2FEEC-405C-4D12-ABDA-66359BA91FBD}"/>
              </a:ext>
            </a:extLst>
          </p:cNvPr>
          <p:cNvSpPr>
            <a:spLocks noGrp="1"/>
          </p:cNvSpPr>
          <p:nvPr/>
        </p:nvSpPr>
        <p:spPr>
          <a:xfrm>
            <a:off x="3152775" y="4076700"/>
            <a:ext cx="933450" cy="381000"/>
          </a:xfrm>
          <a:prstGeom prst="rect">
            <a:avLst/>
          </a:prstGeom>
          <a:noFill/>
          <a:ln w="0">
            <a:noFill/>
          </a:ln>
        </p:spPr>
        <p:txBody>
          <a:bodyPr wrap="square" lIns="0" tIns="0" rIns="0" bIns="0" anchor="t">
            <a:noAutofit/>
          </a:bodyPr>
          <a:lstStyle/>
          <a:p>
            <a:pPr algn="ctr">
              <a:defRPr sz="2325" b="1">
                <a:solidFill>
                  <a:srgbClr val="111111"/>
                </a:solidFill>
                <a:latin typeface="Aptos"/>
                <a:ea typeface="Aptos"/>
                <a:cs typeface="Aptos"/>
              </a:defRPr>
            </a:pPr>
            <a:r>
              <a:rPr sz="2325" b="1">
                <a:solidFill>
                  <a:srgbClr val="111111"/>
                </a:solidFill>
                <a:latin typeface="Aptos"/>
                <a:ea typeface="Aptos"/>
                <a:cs typeface="Aptos"/>
              </a:rPr>
              <a:t>34</a:t>
            </a:r>
          </a:p>
        </p:txBody>
      </p:sp>
      <p:sp>
        <p:nvSpPr>
          <p:cNvPr id="15" name="s15-text-15">
            <a:extLst>
              <a:ext uri="{FF2B5EF4-FFF2-40B4-BE49-F238E27FC236}">
                <a16:creationId xmlns:a16="http://schemas.microsoft.com/office/drawing/2014/main" id="{02CD0376-B4D6-4614-8777-76BC507BA7E7}"/>
              </a:ext>
            </a:extLst>
          </p:cNvPr>
          <p:cNvSpPr>
            <a:spLocks noGrp="1"/>
          </p:cNvSpPr>
          <p:nvPr/>
        </p:nvSpPr>
        <p:spPr>
          <a:xfrm>
            <a:off x="4429125" y="3429000"/>
            <a:ext cx="762000" cy="333375"/>
          </a:xfrm>
          <a:prstGeom prst="rect">
            <a:avLst/>
          </a:prstGeom>
          <a:noFill/>
          <a:ln w="0">
            <a:noFill/>
          </a:ln>
        </p:spPr>
        <p:txBody>
          <a:bodyPr wrap="square" lIns="0" tIns="0" rIns="0" bIns="0" anchor="t">
            <a:noAutofit/>
          </a:bodyPr>
          <a:lstStyle/>
          <a:p>
            <a:pPr algn="ctr">
              <a:defRPr sz="2025" b="0">
                <a:solidFill>
                  <a:srgbClr val="666666"/>
                </a:solidFill>
                <a:latin typeface="Aptos"/>
                <a:ea typeface="Aptos"/>
                <a:cs typeface="Aptos"/>
              </a:defRPr>
            </a:pPr>
            <a:r>
              <a:rPr sz="2025" b="0">
                <a:solidFill>
                  <a:srgbClr val="666666"/>
                </a:solidFill>
                <a:latin typeface="Aptos"/>
                <a:ea typeface="Aptos"/>
                <a:cs typeface="Aptos"/>
              </a:rPr>
              <a:t>+21</a:t>
            </a:r>
          </a:p>
        </p:txBody>
      </p:sp>
      <p:sp>
        <p:nvSpPr>
          <p:cNvPr id="16" name="s15-line-16">
            <a:extLst>
              <a:ext uri="{FF2B5EF4-FFF2-40B4-BE49-F238E27FC236}">
                <a16:creationId xmlns:a16="http://schemas.microsoft.com/office/drawing/2014/main" id="{791F1DB1-E770-4C7F-82AF-685CF856B3CC}"/>
              </a:ext>
            </a:extLst>
          </p:cNvPr>
          <p:cNvSpPr>
            <a:spLocks noGrp="1"/>
          </p:cNvSpPr>
          <p:nvPr/>
        </p:nvSpPr>
        <p:spPr>
          <a:xfrm>
            <a:off x="6000750" y="3762375"/>
            <a:ext cx="0" cy="190500"/>
          </a:xfrm>
          <a:prstGeom prst="line">
            <a:avLst/>
          </a:prstGeom>
          <a:noFill/>
          <a:ln w="19050">
            <a:solidFill>
              <a:srgbClr val="111111"/>
            </a:solidFill>
          </a:ln>
        </p:spPr>
        <p:txBody>
          <a:bodyPr/>
          <a:lstStyle/>
          <a:p>
            <a:endParaRPr lang="en-US"/>
          </a:p>
        </p:txBody>
      </p:sp>
      <p:sp>
        <p:nvSpPr>
          <p:cNvPr id="17" name="s15-text-17">
            <a:extLst>
              <a:ext uri="{FF2B5EF4-FFF2-40B4-BE49-F238E27FC236}">
                <a16:creationId xmlns:a16="http://schemas.microsoft.com/office/drawing/2014/main" id="{2B11CCA4-7E80-4181-BE89-1F895751F16F}"/>
              </a:ext>
            </a:extLst>
          </p:cNvPr>
          <p:cNvSpPr>
            <a:spLocks noGrp="1"/>
          </p:cNvSpPr>
          <p:nvPr/>
        </p:nvSpPr>
        <p:spPr>
          <a:xfrm>
            <a:off x="5534025" y="4076700"/>
            <a:ext cx="933450" cy="381000"/>
          </a:xfrm>
          <a:prstGeom prst="rect">
            <a:avLst/>
          </a:prstGeom>
          <a:noFill/>
          <a:ln w="0">
            <a:noFill/>
          </a:ln>
        </p:spPr>
        <p:txBody>
          <a:bodyPr wrap="square" lIns="0" tIns="0" rIns="0" bIns="0" anchor="t">
            <a:noAutofit/>
          </a:bodyPr>
          <a:lstStyle/>
          <a:p>
            <a:pPr algn="ctr">
              <a:defRPr sz="2325" b="1">
                <a:solidFill>
                  <a:srgbClr val="111111"/>
                </a:solidFill>
                <a:latin typeface="Aptos"/>
                <a:ea typeface="Aptos"/>
                <a:cs typeface="Aptos"/>
              </a:defRPr>
            </a:pPr>
            <a:r>
              <a:rPr sz="2325" b="1">
                <a:solidFill>
                  <a:srgbClr val="111111"/>
                </a:solidFill>
                <a:latin typeface="Aptos"/>
                <a:ea typeface="Aptos"/>
                <a:cs typeface="Aptos"/>
              </a:rPr>
              <a:t>55</a:t>
            </a:r>
          </a:p>
        </p:txBody>
      </p:sp>
      <p:sp>
        <p:nvSpPr>
          <p:cNvPr id="18" name="s15-text-18">
            <a:extLst>
              <a:ext uri="{FF2B5EF4-FFF2-40B4-BE49-F238E27FC236}">
                <a16:creationId xmlns:a16="http://schemas.microsoft.com/office/drawing/2014/main" id="{EFE43A38-267A-4252-9A7E-AFDB20D25028}"/>
              </a:ext>
            </a:extLst>
          </p:cNvPr>
          <p:cNvSpPr>
            <a:spLocks noGrp="1"/>
          </p:cNvSpPr>
          <p:nvPr/>
        </p:nvSpPr>
        <p:spPr>
          <a:xfrm>
            <a:off x="6810375" y="3429000"/>
            <a:ext cx="762000" cy="333375"/>
          </a:xfrm>
          <a:prstGeom prst="rect">
            <a:avLst/>
          </a:prstGeom>
          <a:noFill/>
          <a:ln w="0">
            <a:noFill/>
          </a:ln>
        </p:spPr>
        <p:txBody>
          <a:bodyPr wrap="square" lIns="0" tIns="0" rIns="0" bIns="0" anchor="t">
            <a:noAutofit/>
          </a:bodyPr>
          <a:lstStyle/>
          <a:p>
            <a:pPr algn="ctr">
              <a:defRPr sz="2025" b="0">
                <a:solidFill>
                  <a:srgbClr val="666666"/>
                </a:solidFill>
                <a:latin typeface="Aptos"/>
                <a:ea typeface="Aptos"/>
                <a:cs typeface="Aptos"/>
              </a:defRPr>
            </a:pPr>
            <a:r>
              <a:rPr sz="2025" b="0">
                <a:solidFill>
                  <a:srgbClr val="666666"/>
                </a:solidFill>
                <a:latin typeface="Aptos"/>
                <a:ea typeface="Aptos"/>
                <a:cs typeface="Aptos"/>
              </a:rPr>
              <a:t>+21</a:t>
            </a:r>
          </a:p>
        </p:txBody>
      </p:sp>
      <p:sp>
        <p:nvSpPr>
          <p:cNvPr id="19" name="s15-line-19">
            <a:extLst>
              <a:ext uri="{FF2B5EF4-FFF2-40B4-BE49-F238E27FC236}">
                <a16:creationId xmlns:a16="http://schemas.microsoft.com/office/drawing/2014/main" id="{6242742C-0754-47AC-B77C-2F196F116F41}"/>
              </a:ext>
            </a:extLst>
          </p:cNvPr>
          <p:cNvSpPr>
            <a:spLocks noGrp="1"/>
          </p:cNvSpPr>
          <p:nvPr/>
        </p:nvSpPr>
        <p:spPr>
          <a:xfrm>
            <a:off x="8382000" y="3762375"/>
            <a:ext cx="0" cy="190500"/>
          </a:xfrm>
          <a:prstGeom prst="line">
            <a:avLst/>
          </a:prstGeom>
          <a:noFill/>
          <a:ln w="19050">
            <a:solidFill>
              <a:srgbClr val="111111"/>
            </a:solidFill>
          </a:ln>
        </p:spPr>
        <p:txBody>
          <a:bodyPr/>
          <a:lstStyle/>
          <a:p>
            <a:endParaRPr lang="en-US"/>
          </a:p>
        </p:txBody>
      </p:sp>
      <p:sp>
        <p:nvSpPr>
          <p:cNvPr id="20" name="s15-text-20">
            <a:extLst>
              <a:ext uri="{FF2B5EF4-FFF2-40B4-BE49-F238E27FC236}">
                <a16:creationId xmlns:a16="http://schemas.microsoft.com/office/drawing/2014/main" id="{2B3BCED6-B14C-4982-91C5-6B79AA5C33F1}"/>
              </a:ext>
            </a:extLst>
          </p:cNvPr>
          <p:cNvSpPr>
            <a:spLocks noGrp="1"/>
          </p:cNvSpPr>
          <p:nvPr/>
        </p:nvSpPr>
        <p:spPr>
          <a:xfrm>
            <a:off x="7915275" y="4076700"/>
            <a:ext cx="933450" cy="381000"/>
          </a:xfrm>
          <a:prstGeom prst="rect">
            <a:avLst/>
          </a:prstGeom>
          <a:noFill/>
          <a:ln w="0">
            <a:noFill/>
          </a:ln>
        </p:spPr>
        <p:txBody>
          <a:bodyPr wrap="square" lIns="0" tIns="0" rIns="0" bIns="0" anchor="t">
            <a:noAutofit/>
          </a:bodyPr>
          <a:lstStyle/>
          <a:p>
            <a:pPr algn="ctr">
              <a:defRPr sz="2325" b="1">
                <a:solidFill>
                  <a:srgbClr val="111111"/>
                </a:solidFill>
                <a:latin typeface="Aptos"/>
                <a:ea typeface="Aptos"/>
                <a:cs typeface="Aptos"/>
              </a:defRPr>
            </a:pPr>
            <a:r>
              <a:rPr sz="2325" b="1">
                <a:solidFill>
                  <a:srgbClr val="111111"/>
                </a:solidFill>
                <a:latin typeface="Aptos"/>
                <a:ea typeface="Aptos"/>
                <a:cs typeface="Aptos"/>
              </a:rPr>
              <a:t>76</a:t>
            </a:r>
          </a:p>
        </p:txBody>
      </p:sp>
      <p:sp>
        <p:nvSpPr>
          <p:cNvPr id="21" name="s15-text-21">
            <a:extLst>
              <a:ext uri="{FF2B5EF4-FFF2-40B4-BE49-F238E27FC236}">
                <a16:creationId xmlns:a16="http://schemas.microsoft.com/office/drawing/2014/main" id="{3D359106-10D9-492E-AA81-CA57944AB6E4}"/>
              </a:ext>
            </a:extLst>
          </p:cNvPr>
          <p:cNvSpPr>
            <a:spLocks noGrp="1"/>
          </p:cNvSpPr>
          <p:nvPr/>
        </p:nvSpPr>
        <p:spPr>
          <a:xfrm>
            <a:off x="9191625" y="3429000"/>
            <a:ext cx="762000" cy="333375"/>
          </a:xfrm>
          <a:prstGeom prst="rect">
            <a:avLst/>
          </a:prstGeom>
          <a:noFill/>
          <a:ln w="0">
            <a:noFill/>
          </a:ln>
        </p:spPr>
        <p:txBody>
          <a:bodyPr wrap="square" lIns="0" tIns="0" rIns="0" bIns="0" anchor="t">
            <a:noAutofit/>
          </a:bodyPr>
          <a:lstStyle/>
          <a:p>
            <a:pPr algn="ctr">
              <a:defRPr sz="2025" b="0">
                <a:solidFill>
                  <a:srgbClr val="666666"/>
                </a:solidFill>
                <a:latin typeface="Aptos"/>
                <a:ea typeface="Aptos"/>
                <a:cs typeface="Aptos"/>
              </a:defRPr>
            </a:pPr>
            <a:r>
              <a:rPr sz="2025" b="0">
                <a:solidFill>
                  <a:srgbClr val="666666"/>
                </a:solidFill>
                <a:latin typeface="Aptos"/>
                <a:ea typeface="Aptos"/>
                <a:cs typeface="Aptos"/>
              </a:rPr>
              <a:t>+21</a:t>
            </a:r>
          </a:p>
        </p:txBody>
      </p:sp>
      <p:sp>
        <p:nvSpPr>
          <p:cNvPr id="22" name="s15-line-22">
            <a:extLst>
              <a:ext uri="{FF2B5EF4-FFF2-40B4-BE49-F238E27FC236}">
                <a16:creationId xmlns:a16="http://schemas.microsoft.com/office/drawing/2014/main" id="{4B42F19C-EECA-4AB3-A1A3-0F5BA0DCBA70}"/>
              </a:ext>
            </a:extLst>
          </p:cNvPr>
          <p:cNvSpPr>
            <a:spLocks noGrp="1"/>
          </p:cNvSpPr>
          <p:nvPr/>
        </p:nvSpPr>
        <p:spPr>
          <a:xfrm>
            <a:off x="10763250" y="3762375"/>
            <a:ext cx="0" cy="190500"/>
          </a:xfrm>
          <a:prstGeom prst="line">
            <a:avLst/>
          </a:prstGeom>
          <a:noFill/>
          <a:ln w="19050">
            <a:solidFill>
              <a:srgbClr val="111111"/>
            </a:solidFill>
          </a:ln>
        </p:spPr>
        <p:txBody>
          <a:bodyPr/>
          <a:lstStyle/>
          <a:p>
            <a:endParaRPr lang="en-US"/>
          </a:p>
        </p:txBody>
      </p:sp>
      <p:sp>
        <p:nvSpPr>
          <p:cNvPr id="23" name="s15-text-23">
            <a:extLst>
              <a:ext uri="{FF2B5EF4-FFF2-40B4-BE49-F238E27FC236}">
                <a16:creationId xmlns:a16="http://schemas.microsoft.com/office/drawing/2014/main" id="{B5C37C9F-40E7-4DFF-B2E7-2A33C13A8EE5}"/>
              </a:ext>
            </a:extLst>
          </p:cNvPr>
          <p:cNvSpPr>
            <a:spLocks noGrp="1"/>
          </p:cNvSpPr>
          <p:nvPr/>
        </p:nvSpPr>
        <p:spPr>
          <a:xfrm>
            <a:off x="10296525" y="4076700"/>
            <a:ext cx="933450" cy="381000"/>
          </a:xfrm>
          <a:prstGeom prst="rect">
            <a:avLst/>
          </a:prstGeom>
          <a:noFill/>
          <a:ln w="0">
            <a:noFill/>
          </a:ln>
        </p:spPr>
        <p:txBody>
          <a:bodyPr wrap="square" lIns="0" tIns="0" rIns="0" bIns="0" anchor="t">
            <a:noAutofit/>
          </a:bodyPr>
          <a:lstStyle/>
          <a:p>
            <a:pPr algn="ctr">
              <a:defRPr sz="2325" b="1">
                <a:solidFill>
                  <a:srgbClr val="111111"/>
                </a:solidFill>
                <a:latin typeface="Aptos"/>
                <a:ea typeface="Aptos"/>
                <a:cs typeface="Aptos"/>
              </a:defRPr>
            </a:pPr>
            <a:r>
              <a:rPr sz="2325" b="1">
                <a:solidFill>
                  <a:srgbClr val="111111"/>
                </a:solidFill>
                <a:latin typeface="Aptos"/>
                <a:ea typeface="Aptos"/>
                <a:cs typeface="Aptos"/>
              </a:rPr>
              <a:t>97</a:t>
            </a:r>
          </a:p>
        </p:txBody>
      </p:sp>
      <p:sp>
        <p:nvSpPr>
          <p:cNvPr id="24" name="s15-text-24">
            <a:extLst>
              <a:ext uri="{FF2B5EF4-FFF2-40B4-BE49-F238E27FC236}">
                <a16:creationId xmlns:a16="http://schemas.microsoft.com/office/drawing/2014/main" id="{26552617-A731-4812-982E-E9DE6B330571}"/>
              </a:ext>
            </a:extLst>
          </p:cNvPr>
          <p:cNvSpPr>
            <a:spLocks noGrp="1"/>
          </p:cNvSpPr>
          <p:nvPr/>
        </p:nvSpPr>
        <p:spPr>
          <a:xfrm>
            <a:off x="457200" y="4629150"/>
            <a:ext cx="11239500" cy="704850"/>
          </a:xfrm>
          <a:prstGeom prst="rect">
            <a:avLst/>
          </a:prstGeom>
          <a:noFill/>
          <a:ln w="0">
            <a:noFill/>
          </a:ln>
        </p:spPr>
        <p:txBody>
          <a:bodyPr wrap="square" lIns="0" tIns="0" rIns="0" bIns="0" anchor="t">
            <a:noAutofit/>
          </a:bodyPr>
          <a:lstStyle/>
          <a:p>
            <a:pPr algn="l">
              <a:defRPr sz="2250" b="0">
                <a:solidFill>
                  <a:srgbClr val="111111"/>
                </a:solidFill>
                <a:latin typeface="Aptos"/>
                <a:ea typeface="Aptos"/>
                <a:cs typeface="Aptos"/>
              </a:defRPr>
            </a:pPr>
            <a:r>
              <a:rPr sz="2250" b="0">
                <a:solidFill>
                  <a:srgbClr val="111111"/>
                </a:solidFill>
                <a:latin typeface="Aptos"/>
                <a:ea typeface="Aptos"/>
                <a:cs typeface="Aptos"/>
              </a:rPr>
              <a:t>The same sequence could follow a random start or a chosen favourite.</a:t>
            </a:r>
          </a:p>
        </p:txBody>
      </p:sp>
      <p:sp>
        <p:nvSpPr>
          <p:cNvPr id="25" name="s15-text-25">
            <a:extLst>
              <a:ext uri="{FF2B5EF4-FFF2-40B4-BE49-F238E27FC236}">
                <a16:creationId xmlns:a16="http://schemas.microsoft.com/office/drawing/2014/main" id="{72E3C799-9B26-4004-8541-26E64768C26F}"/>
              </a:ext>
            </a:extLst>
          </p:cNvPr>
          <p:cNvSpPr>
            <a:spLocks noGrp="1"/>
          </p:cNvSpPr>
          <p:nvPr/>
        </p:nvSpPr>
        <p:spPr>
          <a:xfrm>
            <a:off x="457200" y="5591175"/>
            <a:ext cx="11239500" cy="619125"/>
          </a:xfrm>
          <a:prstGeom prst="rect">
            <a:avLst/>
          </a:prstGeom>
          <a:noFill/>
          <a:ln w="0">
            <a:noFill/>
          </a:ln>
        </p:spPr>
        <p:txBody>
          <a:bodyPr wrap="square" lIns="0" tIns="0" rIns="0" bIns="0" anchor="t">
            <a:noAutofit/>
          </a:bodyPr>
          <a:lstStyle/>
          <a:p>
            <a:pPr algn="l">
              <a:defRPr sz="2250" b="1">
                <a:solidFill>
                  <a:srgbClr val="111111"/>
                </a:solidFill>
                <a:latin typeface="Aptos"/>
                <a:ea typeface="Aptos"/>
                <a:cs typeface="Aptos"/>
              </a:defRPr>
            </a:pPr>
            <a:r>
              <a:rPr sz="2250" b="1">
                <a:solidFill>
                  <a:srgbClr val="111111"/>
                </a:solidFill>
                <a:latin typeface="Aptos"/>
                <a:ea typeface="Aptos"/>
                <a:cs typeface="Aptos"/>
              </a:rPr>
              <a:t>Check that the researcher chose the start randomly from 1–21.</a:t>
            </a:r>
          </a:p>
        </p:txBody>
      </p:sp>
      <p:sp>
        <p:nvSpPr>
          <p:cNvPr id="26" name="s15-text-26">
            <a:extLst>
              <a:ext uri="{FF2B5EF4-FFF2-40B4-BE49-F238E27FC236}">
                <a16:creationId xmlns:a16="http://schemas.microsoft.com/office/drawing/2014/main" id="{CEA26A00-668C-49F9-A03B-C19144320B36}"/>
              </a:ext>
            </a:extLst>
          </p:cNvPr>
          <p:cNvSpPr>
            <a:spLocks noGrp="1"/>
          </p:cNvSpPr>
          <p:nvPr/>
        </p:nvSpPr>
        <p:spPr>
          <a:xfrm>
            <a:off x="457200" y="6477000"/>
            <a:ext cx="10763250" cy="238125"/>
          </a:xfrm>
          <a:prstGeom prst="rect">
            <a:avLst/>
          </a:prstGeom>
          <a:noFill/>
          <a:ln w="0">
            <a:noFill/>
          </a:ln>
        </p:spPr>
        <p:txBody>
          <a:bodyPr wrap="square" lIns="0" tIns="0" rIns="0" bIns="0" anchor="t">
            <a:noAutofit/>
          </a:bodyPr>
          <a:lstStyle/>
          <a:p>
            <a:endParaRPr/>
          </a:p>
        </p:txBody>
      </p:sp>
      <p:sp>
        <p:nvSpPr>
          <p:cNvPr id="27" name="s15-text-27">
            <a:extLst>
              <a:ext uri="{FF2B5EF4-FFF2-40B4-BE49-F238E27FC236}">
                <a16:creationId xmlns:a16="http://schemas.microsoft.com/office/drawing/2014/main" id="{3AE9F61F-1FE3-40A8-B83D-EE3518B0F134}"/>
              </a:ext>
            </a:extLst>
          </p:cNvPr>
          <p:cNvSpPr>
            <a:spLocks noGrp="1"/>
          </p:cNvSpPr>
          <p:nvPr/>
        </p:nvSpPr>
        <p:spPr>
          <a:xfrm>
            <a:off x="11239500" y="6477000"/>
            <a:ext cx="476250" cy="238125"/>
          </a:xfrm>
          <a:prstGeom prst="rect">
            <a:avLst/>
          </a:prstGeom>
          <a:noFill/>
          <a:ln w="0">
            <a:noFill/>
          </a:ln>
        </p:spPr>
        <p:txBody>
          <a:bodyPr wrap="square" lIns="0" tIns="0" rIns="0" bIns="0" anchor="t">
            <a:noAutofit/>
          </a:bodyPr>
          <a:lstStyle/>
          <a:p>
            <a:pPr algn="r">
              <a:defRPr sz="1275" b="0">
                <a:solidFill>
                  <a:srgbClr val="666666"/>
                </a:solidFill>
                <a:latin typeface="Aptos"/>
                <a:ea typeface="Aptos"/>
                <a:cs typeface="Aptos"/>
              </a:defRPr>
            </a:pPr>
            <a:r>
              <a:rPr sz="1275" b="0">
                <a:solidFill>
                  <a:srgbClr val="666666"/>
                </a:solidFill>
                <a:latin typeface="Aptos"/>
                <a:ea typeface="Aptos"/>
                <a:cs typeface="Aptos"/>
              </a:rPr>
              <a:t>15</a:t>
            </a:r>
          </a:p>
        </p:txBody>
      </p:sp>
    </p:spTree>
    <p:extLst>
      <p:ext uri="{BB962C8B-B14F-4D97-AF65-F5344CB8AC3E}">
        <p14:creationId xmlns:p14="http://schemas.microsoft.com/office/powerpoint/2010/main" val="32813612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16-text-1">
            <a:extLst>
              <a:ext uri="{FF2B5EF4-FFF2-40B4-BE49-F238E27FC236}">
                <a16:creationId xmlns:a16="http://schemas.microsoft.com/office/drawing/2014/main" id="{70485660-CCA7-4BDB-A9A1-C453B2827C43}"/>
              </a:ext>
            </a:extLst>
          </p:cNvPr>
          <p:cNvSpPr>
            <a:spLocks noGrp="1"/>
          </p:cNvSpPr>
          <p:nvPr/>
        </p:nvSpPr>
        <p:spPr>
          <a:xfrm>
            <a:off x="430816" y="1038225"/>
            <a:ext cx="11293412" cy="78105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The total is right. Is the split closest?</a:t>
            </a:r>
          </a:p>
        </p:txBody>
      </p:sp>
      <p:sp>
        <p:nvSpPr>
          <p:cNvPr id="2" name="s16-rect-2">
            <a:extLst>
              <a:ext uri="{FF2B5EF4-FFF2-40B4-BE49-F238E27FC236}">
                <a16:creationId xmlns:a16="http://schemas.microsoft.com/office/drawing/2014/main" id="{13D7EE8A-494D-4CAF-9A3D-5A570110A760}"/>
              </a:ext>
            </a:extLst>
          </p:cNvPr>
          <p:cNvSpPr>
            <a:spLocks noGrp="1"/>
          </p:cNvSpPr>
          <p:nvPr/>
        </p:nvSpPr>
        <p:spPr>
          <a:xfrm>
            <a:off x="8734425" y="476250"/>
            <a:ext cx="3000375" cy="400050"/>
          </a:xfrm>
          <a:prstGeom prst="rect">
            <a:avLst/>
          </a:prstGeom>
          <a:solidFill>
            <a:srgbClr val="D6171D"/>
          </a:solidFill>
          <a:ln w="0">
            <a:noFill/>
          </a:ln>
        </p:spPr>
        <p:txBody>
          <a:bodyPr/>
          <a:lstStyle/>
          <a:p>
            <a:endParaRPr lang="en-US"/>
          </a:p>
        </p:txBody>
      </p:sp>
      <p:sp>
        <p:nvSpPr>
          <p:cNvPr id="3" name="s16-text-3">
            <a:extLst>
              <a:ext uri="{FF2B5EF4-FFF2-40B4-BE49-F238E27FC236}">
                <a16:creationId xmlns:a16="http://schemas.microsoft.com/office/drawing/2014/main" id="{EE611835-C15D-4EEA-BD22-DBB14455AA2E}"/>
              </a:ext>
            </a:extLst>
          </p:cNvPr>
          <p:cNvSpPr>
            <a:spLocks noGrp="1"/>
          </p:cNvSpPr>
          <p:nvPr/>
        </p:nvSpPr>
        <p:spPr>
          <a:xfrm>
            <a:off x="8829675" y="533400"/>
            <a:ext cx="2809875" cy="323850"/>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C3.3</a:t>
            </a:r>
          </a:p>
        </p:txBody>
      </p:sp>
      <p:sp>
        <p:nvSpPr>
          <p:cNvPr id="4" name="s16-text-4">
            <a:extLst>
              <a:ext uri="{FF2B5EF4-FFF2-40B4-BE49-F238E27FC236}">
                <a16:creationId xmlns:a16="http://schemas.microsoft.com/office/drawing/2014/main" id="{CA9F9205-CDC2-4F68-ABF0-07DCCDE50631}"/>
              </a:ext>
            </a:extLst>
          </p:cNvPr>
          <p:cNvSpPr>
            <a:spLocks noGrp="1"/>
          </p:cNvSpPr>
          <p:nvPr/>
        </p:nvSpPr>
        <p:spPr>
          <a:xfrm>
            <a:off x="457200" y="1981200"/>
            <a:ext cx="11239500" cy="64770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sz="2325" b="0">
                <a:solidFill>
                  <a:srgbClr val="111111"/>
                </a:solidFill>
                <a:latin typeface="Aptos"/>
                <a:ea typeface="Aptos"/>
                <a:cs typeface="Aptos"/>
              </a:rPr>
              <a:t>Allocate 176 invitations proportionally between the programmes.</a:t>
            </a:r>
          </a:p>
        </p:txBody>
      </p:sp>
      <p:graphicFrame>
        <p:nvGraphicFramePr>
          <p:cNvPr id="16" name="Table 15"/>
          <p:cNvGraphicFramePr/>
          <p:nvPr/>
        </p:nvGraphicFramePr>
        <p:xfrm>
          <a:off x="457200" y="2762250"/>
          <a:ext cx="11239500" cy="2019300"/>
        </p:xfrm>
        <a:graphic>
          <a:graphicData uri="http://schemas.openxmlformats.org/drawingml/2006/table">
            <a:tbl>
              <a:tblPr firstRow="1"/>
              <a:tblGrid>
                <a:gridCol w="4191000">
                  <a:extLst>
                    <a:ext uri="{9D8B030D-6E8A-4147-A177-3AD203B41FA5}">
                      <a16:colId xmlns:a16="http://schemas.microsoft.com/office/drawing/2014/main" val="20000"/>
                    </a:ext>
                  </a:extLst>
                </a:gridCol>
                <a:gridCol w="3238500">
                  <a:extLst>
                    <a:ext uri="{9D8B030D-6E8A-4147-A177-3AD203B41FA5}">
                      <a16:colId xmlns:a16="http://schemas.microsoft.com/office/drawing/2014/main" val="20001"/>
                    </a:ext>
                  </a:extLst>
                </a:gridCol>
                <a:gridCol w="3810000">
                  <a:extLst>
                    <a:ext uri="{9D8B030D-6E8A-4147-A177-3AD203B41FA5}">
                      <a16:colId xmlns:a16="http://schemas.microsoft.com/office/drawing/2014/main" val="20002"/>
                    </a:ext>
                  </a:extLst>
                </a:gridCol>
              </a:tblGrid>
              <a:tr h="504825">
                <a:tc>
                  <a:txBody>
                    <a:bodyPr/>
                    <a:lstStyle/>
                    <a:p>
                      <a:pPr algn="l"/>
                      <a:r>
                        <a:rPr sz="2100" b="1">
                          <a:solidFill>
                            <a:srgbClr val="FFFFFF"/>
                          </a:solidFill>
                          <a:latin typeface="Aptos"/>
                          <a:ea typeface="Aptos"/>
                          <a:cs typeface="Aptos"/>
                        </a:rPr>
                        <a:t>Programme</a:t>
                      </a:r>
                    </a:p>
                  </a:txBody>
                  <a:tcPr marL="95250" marR="95250" marT="19050" marB="19050" anchor="ctr">
                    <a:solidFill>
                      <a:srgbClr val="D6171D"/>
                    </a:solidFill>
                  </a:tcPr>
                </a:tc>
                <a:tc>
                  <a:txBody>
                    <a:bodyPr/>
                    <a:lstStyle/>
                    <a:p>
                      <a:pPr algn="ctr"/>
                      <a:r>
                        <a:rPr sz="2100" b="1">
                          <a:solidFill>
                            <a:srgbClr val="FFFFFF"/>
                          </a:solidFill>
                          <a:latin typeface="Aptos"/>
                          <a:ea typeface="Aptos"/>
                          <a:cs typeface="Aptos"/>
                        </a:rPr>
                        <a:t>Population</a:t>
                      </a:r>
                    </a:p>
                  </a:txBody>
                  <a:tcPr marL="95250" marR="95250" marT="19050" marB="19050" anchor="ctr">
                    <a:solidFill>
                      <a:srgbClr val="D6171D"/>
                    </a:solidFill>
                  </a:tcPr>
                </a:tc>
                <a:tc>
                  <a:txBody>
                    <a:bodyPr/>
                    <a:lstStyle/>
                    <a:p>
                      <a:pPr algn="ctr"/>
                      <a:r>
                        <a:rPr sz="2100" b="1">
                          <a:solidFill>
                            <a:srgbClr val="FFFFFF"/>
                          </a:solidFill>
                          <a:latin typeface="Aptos"/>
                          <a:ea typeface="Aptos"/>
                          <a:cs typeface="Aptos"/>
                        </a:rPr>
                        <a:t>Proposed invitations</a:t>
                      </a:r>
                    </a:p>
                  </a:txBody>
                  <a:tcPr marL="95250" marR="95250" marT="19050" marB="19050" anchor="ctr">
                    <a:solidFill>
                      <a:srgbClr val="D6171D"/>
                    </a:solidFill>
                  </a:tcPr>
                </a:tc>
                <a:extLst>
                  <a:ext uri="{0D108BD9-81ED-4DB2-BD59-A6C34878D82A}">
                    <a16:rowId xmlns:a16="http://schemas.microsoft.com/office/drawing/2014/main" val="10000"/>
                  </a:ext>
                </a:extLst>
              </a:tr>
              <a:tr h="504825">
                <a:tc>
                  <a:txBody>
                    <a:bodyPr/>
                    <a:lstStyle/>
                    <a:p>
                      <a:pPr algn="l"/>
                      <a:r>
                        <a:rPr sz="2100" b="0">
                          <a:solidFill>
                            <a:srgbClr val="111111"/>
                          </a:solidFill>
                          <a:latin typeface="Aptos"/>
                          <a:ea typeface="Aptos"/>
                          <a:cs typeface="Aptos"/>
                        </a:rPr>
                        <a:t>Business</a:t>
                      </a:r>
                    </a:p>
                  </a:txBody>
                  <a:tcPr marL="95250" marR="95250" marT="19050" marB="19050" anchor="ctr">
                    <a:solidFill>
                      <a:srgbClr val="FFFFFF"/>
                    </a:solidFill>
                  </a:tcPr>
                </a:tc>
                <a:tc>
                  <a:txBody>
                    <a:bodyPr/>
                    <a:lstStyle/>
                    <a:p>
                      <a:pPr algn="ctr"/>
                      <a:r>
                        <a:rPr sz="2100" b="0">
                          <a:solidFill>
                            <a:srgbClr val="111111"/>
                          </a:solidFill>
                          <a:latin typeface="Aptos"/>
                          <a:ea typeface="Aptos"/>
                          <a:cs typeface="Aptos"/>
                        </a:rPr>
                        <a:t>2,173</a:t>
                      </a:r>
                    </a:p>
                  </a:txBody>
                  <a:tcPr marL="95250" marR="95250" marT="19050" marB="19050" anchor="ctr">
                    <a:solidFill>
                      <a:srgbClr val="FFFFFF"/>
                    </a:solidFill>
                  </a:tcPr>
                </a:tc>
                <a:tc>
                  <a:txBody>
                    <a:bodyPr/>
                    <a:lstStyle/>
                    <a:p>
                      <a:pPr algn="ctr"/>
                      <a:r>
                        <a:rPr sz="2100" b="0">
                          <a:solidFill>
                            <a:srgbClr val="111111"/>
                          </a:solidFill>
                          <a:latin typeface="Aptos"/>
                          <a:ea typeface="Aptos"/>
                          <a:cs typeface="Aptos"/>
                        </a:rPr>
                        <a:t>104</a:t>
                      </a:r>
                    </a:p>
                  </a:txBody>
                  <a:tcPr marL="95250" marR="95250" marT="19050" marB="19050" anchor="ctr">
                    <a:solidFill>
                      <a:srgbClr val="FFFFFF"/>
                    </a:solidFill>
                  </a:tcPr>
                </a:tc>
                <a:extLst>
                  <a:ext uri="{0D108BD9-81ED-4DB2-BD59-A6C34878D82A}">
                    <a16:rowId xmlns:a16="http://schemas.microsoft.com/office/drawing/2014/main" val="10001"/>
                  </a:ext>
                </a:extLst>
              </a:tr>
              <a:tr h="504825">
                <a:tc>
                  <a:txBody>
                    <a:bodyPr/>
                    <a:lstStyle/>
                    <a:p>
                      <a:pPr algn="l"/>
                      <a:r>
                        <a:rPr sz="2100" b="0">
                          <a:solidFill>
                            <a:srgbClr val="111111"/>
                          </a:solidFill>
                          <a:latin typeface="Aptos"/>
                          <a:ea typeface="Aptos"/>
                          <a:cs typeface="Aptos"/>
                        </a:rPr>
                        <a:t>Engineering</a:t>
                      </a:r>
                    </a:p>
                  </a:txBody>
                  <a:tcPr marL="95250" marR="95250" marT="19050" marB="19050" anchor="ctr">
                    <a:solidFill>
                      <a:srgbClr val="EFF8FF"/>
                    </a:solidFill>
                  </a:tcPr>
                </a:tc>
                <a:tc>
                  <a:txBody>
                    <a:bodyPr/>
                    <a:lstStyle/>
                    <a:p>
                      <a:pPr algn="ctr"/>
                      <a:r>
                        <a:rPr sz="2100" b="0">
                          <a:solidFill>
                            <a:srgbClr val="111111"/>
                          </a:solidFill>
                          <a:latin typeface="Aptos"/>
                          <a:ea typeface="Aptos"/>
                          <a:cs typeface="Aptos"/>
                        </a:rPr>
                        <a:t>1,523</a:t>
                      </a:r>
                    </a:p>
                  </a:txBody>
                  <a:tcPr marL="95250" marR="95250" marT="19050" marB="19050" anchor="ctr">
                    <a:solidFill>
                      <a:srgbClr val="EFF8FF"/>
                    </a:solidFill>
                  </a:tcPr>
                </a:tc>
                <a:tc>
                  <a:txBody>
                    <a:bodyPr/>
                    <a:lstStyle/>
                    <a:p>
                      <a:pPr algn="ctr"/>
                      <a:r>
                        <a:rPr sz="2100" b="0">
                          <a:solidFill>
                            <a:srgbClr val="111111"/>
                          </a:solidFill>
                          <a:latin typeface="Aptos"/>
                          <a:ea typeface="Aptos"/>
                          <a:cs typeface="Aptos"/>
                        </a:rPr>
                        <a:t>72</a:t>
                      </a:r>
                    </a:p>
                  </a:txBody>
                  <a:tcPr marL="95250" marR="95250" marT="19050" marB="19050" anchor="ctr">
                    <a:solidFill>
                      <a:srgbClr val="EFF8FF"/>
                    </a:solidFill>
                  </a:tcPr>
                </a:tc>
                <a:extLst>
                  <a:ext uri="{0D108BD9-81ED-4DB2-BD59-A6C34878D82A}">
                    <a16:rowId xmlns:a16="http://schemas.microsoft.com/office/drawing/2014/main" val="10002"/>
                  </a:ext>
                </a:extLst>
              </a:tr>
              <a:tr h="504825">
                <a:tc>
                  <a:txBody>
                    <a:bodyPr/>
                    <a:lstStyle/>
                    <a:p>
                      <a:pPr algn="l"/>
                      <a:r>
                        <a:rPr sz="2100" b="0">
                          <a:solidFill>
                            <a:srgbClr val="111111"/>
                          </a:solidFill>
                          <a:latin typeface="Aptos"/>
                          <a:ea typeface="Aptos"/>
                          <a:cs typeface="Aptos"/>
                        </a:rPr>
                        <a:t>Total</a:t>
                      </a:r>
                    </a:p>
                  </a:txBody>
                  <a:tcPr marL="95250" marR="95250" marT="19050" marB="19050" anchor="ctr">
                    <a:solidFill>
                      <a:srgbClr val="FFFFFF"/>
                    </a:solidFill>
                  </a:tcPr>
                </a:tc>
                <a:tc>
                  <a:txBody>
                    <a:bodyPr/>
                    <a:lstStyle/>
                    <a:p>
                      <a:pPr algn="ctr"/>
                      <a:r>
                        <a:rPr sz="2100" b="0">
                          <a:solidFill>
                            <a:srgbClr val="111111"/>
                          </a:solidFill>
                          <a:latin typeface="Aptos"/>
                          <a:ea typeface="Aptos"/>
                          <a:cs typeface="Aptos"/>
                        </a:rPr>
                        <a:t>3,696</a:t>
                      </a:r>
                    </a:p>
                  </a:txBody>
                  <a:tcPr marL="95250" marR="95250" marT="19050" marB="19050" anchor="ctr">
                    <a:solidFill>
                      <a:srgbClr val="FFFFFF"/>
                    </a:solidFill>
                  </a:tcPr>
                </a:tc>
                <a:tc>
                  <a:txBody>
                    <a:bodyPr/>
                    <a:lstStyle/>
                    <a:p>
                      <a:pPr algn="ctr"/>
                      <a:r>
                        <a:rPr sz="2100" b="0">
                          <a:solidFill>
                            <a:srgbClr val="111111"/>
                          </a:solidFill>
                          <a:latin typeface="Aptos"/>
                          <a:ea typeface="Aptos"/>
                          <a:cs typeface="Aptos"/>
                        </a:rPr>
                        <a:t>176</a:t>
                      </a:r>
                    </a:p>
                  </a:txBody>
                  <a:tcPr marL="95250" marR="95250" marT="19050" marB="19050" anchor="ctr">
                    <a:solidFill>
                      <a:srgbClr val="FFFFFF"/>
                    </a:solidFill>
                  </a:tcPr>
                </a:tc>
                <a:extLst>
                  <a:ext uri="{0D108BD9-81ED-4DB2-BD59-A6C34878D82A}">
                    <a16:rowId xmlns:a16="http://schemas.microsoft.com/office/drawing/2014/main" val="10003"/>
                  </a:ext>
                </a:extLst>
              </a:tr>
            </a:tbl>
          </a:graphicData>
        </a:graphic>
      </p:graphicFrame>
      <p:sp>
        <p:nvSpPr>
          <p:cNvPr id="6" name="s16-text-5">
            <a:extLst>
              <a:ext uri="{FF2B5EF4-FFF2-40B4-BE49-F238E27FC236}">
                <a16:creationId xmlns:a16="http://schemas.microsoft.com/office/drawing/2014/main" id="{EACFF588-3787-4E4F-BBEA-E4C0D174C33D}"/>
              </a:ext>
            </a:extLst>
          </p:cNvPr>
          <p:cNvSpPr>
            <a:spLocks noGrp="1"/>
          </p:cNvSpPr>
          <p:nvPr/>
        </p:nvSpPr>
        <p:spPr>
          <a:xfrm>
            <a:off x="457200" y="5057775"/>
            <a:ext cx="11239500" cy="752475"/>
          </a:xfrm>
          <a:prstGeom prst="rect">
            <a:avLst/>
          </a:prstGeom>
          <a:noFill/>
          <a:ln w="0">
            <a:noFill/>
          </a:ln>
        </p:spPr>
        <p:txBody>
          <a:bodyPr wrap="square" lIns="0" tIns="0" rIns="0" bIns="0" anchor="t">
            <a:noAutofit/>
          </a:bodyPr>
          <a:lstStyle/>
          <a:p>
            <a:pPr algn="l">
              <a:defRPr sz="2175" b="0">
                <a:solidFill>
                  <a:srgbClr val="111111"/>
                </a:solidFill>
                <a:latin typeface="Aptos"/>
                <a:ea typeface="Aptos"/>
                <a:cs typeface="Aptos"/>
              </a:defRPr>
            </a:pPr>
            <a:r>
              <a:rPr sz="2175" b="0">
                <a:solidFill>
                  <a:srgbClr val="111111"/>
                </a:solidFill>
                <a:latin typeface="Aptos"/>
                <a:ea typeface="Aptos"/>
                <a:cs typeface="Aptos"/>
              </a:rPr>
              <a:t>Calculate the ideal allocations. Is the proposed split the closest?</a:t>
            </a:r>
          </a:p>
        </p:txBody>
      </p:sp>
      <p:sp>
        <p:nvSpPr>
          <p:cNvPr id="7" name="s16-rect-6">
            <a:extLst>
              <a:ext uri="{FF2B5EF4-FFF2-40B4-BE49-F238E27FC236}">
                <a16:creationId xmlns:a16="http://schemas.microsoft.com/office/drawing/2014/main" id="{DF77EB75-4305-4041-B98F-6AF5EE1766B0}"/>
              </a:ext>
            </a:extLst>
          </p:cNvPr>
          <p:cNvSpPr>
            <a:spLocks noGrp="1"/>
          </p:cNvSpPr>
          <p:nvPr/>
        </p:nvSpPr>
        <p:spPr>
          <a:xfrm>
            <a:off x="428625" y="5905500"/>
            <a:ext cx="2762250" cy="400050"/>
          </a:xfrm>
          <a:prstGeom prst="rect">
            <a:avLst/>
          </a:prstGeom>
          <a:solidFill>
            <a:srgbClr val="D6171D"/>
          </a:solidFill>
          <a:ln w="0">
            <a:noFill/>
          </a:ln>
        </p:spPr>
        <p:txBody>
          <a:bodyPr/>
          <a:lstStyle/>
          <a:p>
            <a:endParaRPr lang="en-US"/>
          </a:p>
        </p:txBody>
      </p:sp>
      <p:sp>
        <p:nvSpPr>
          <p:cNvPr id="8" name="s16-text-7">
            <a:extLst>
              <a:ext uri="{FF2B5EF4-FFF2-40B4-BE49-F238E27FC236}">
                <a16:creationId xmlns:a16="http://schemas.microsoft.com/office/drawing/2014/main" id="{7DE215F9-5E12-424F-B045-52F857A1FB10}"/>
              </a:ext>
            </a:extLst>
          </p:cNvPr>
          <p:cNvSpPr>
            <a:spLocks noGrp="1"/>
          </p:cNvSpPr>
          <p:nvPr/>
        </p:nvSpPr>
        <p:spPr>
          <a:xfrm>
            <a:off x="523875" y="5962650"/>
            <a:ext cx="2571750" cy="323850"/>
          </a:xfrm>
          <a:prstGeom prst="rect">
            <a:avLst/>
          </a:prstGeom>
          <a:noFill/>
          <a:ln w="0">
            <a:noFill/>
          </a:ln>
        </p:spPr>
        <p:txBody>
          <a:bodyPr wrap="square" lIns="0" tIns="0" rIns="0" bIns="0" anchor="t">
            <a:noAutofit/>
          </a:bodyPr>
          <a:lstStyle/>
          <a:p>
            <a:pPr algn="ctr">
              <a:defRPr sz="1800" b="1">
                <a:solidFill>
                  <a:srgbClr val="FFFFFF"/>
                </a:solidFill>
                <a:latin typeface="Aptos"/>
                <a:ea typeface="Aptos"/>
                <a:cs typeface="Aptos"/>
              </a:defRPr>
            </a:pPr>
            <a:r>
              <a:rPr sz="1800" b="1">
                <a:solidFill>
                  <a:srgbClr val="FFFFFF"/>
                </a:solidFill>
                <a:latin typeface="Aptos"/>
                <a:ea typeface="Aptos"/>
                <a:cs typeface="Aptos"/>
              </a:rPr>
              <a:t>DISCUSS   3 MIN</a:t>
            </a:r>
          </a:p>
        </p:txBody>
      </p:sp>
      <p:sp>
        <p:nvSpPr>
          <p:cNvPr id="9" name="s16-text-8">
            <a:extLst>
              <a:ext uri="{FF2B5EF4-FFF2-40B4-BE49-F238E27FC236}">
                <a16:creationId xmlns:a16="http://schemas.microsoft.com/office/drawing/2014/main" id="{32F1AE29-2DD7-44AB-B9AE-140609F9C37D}"/>
              </a:ext>
            </a:extLst>
          </p:cNvPr>
          <p:cNvSpPr>
            <a:spLocks noGrp="1"/>
          </p:cNvSpPr>
          <p:nvPr/>
        </p:nvSpPr>
        <p:spPr>
          <a:xfrm>
            <a:off x="3381375" y="5915025"/>
            <a:ext cx="8286750" cy="457200"/>
          </a:xfrm>
          <a:prstGeom prst="rect">
            <a:avLst/>
          </a:prstGeom>
          <a:noFill/>
          <a:ln w="0">
            <a:noFill/>
          </a:ln>
        </p:spPr>
        <p:txBody>
          <a:bodyPr wrap="square" lIns="0" tIns="0" rIns="0" bIns="0" anchor="t">
            <a:noAutofit/>
          </a:bodyPr>
          <a:lstStyle/>
          <a:p>
            <a:pPr algn="l">
              <a:defRPr sz="2100" b="1">
                <a:solidFill>
                  <a:srgbClr val="111111"/>
                </a:solidFill>
                <a:latin typeface="Aptos"/>
                <a:ea typeface="Aptos"/>
                <a:cs typeface="Aptos"/>
              </a:defRPr>
            </a:pPr>
            <a:r>
              <a:rPr sz="2100" b="1">
                <a:solidFill>
                  <a:srgbClr val="111111"/>
                </a:solidFill>
                <a:latin typeface="Aptos"/>
                <a:ea typeface="Aptos"/>
                <a:cs typeface="Aptos"/>
              </a:rPr>
              <a:t>Justify the rounding and the selection process.</a:t>
            </a:r>
          </a:p>
        </p:txBody>
      </p:sp>
      <p:sp>
        <p:nvSpPr>
          <p:cNvPr id="10" name="s16-text-9">
            <a:extLst>
              <a:ext uri="{FF2B5EF4-FFF2-40B4-BE49-F238E27FC236}">
                <a16:creationId xmlns:a16="http://schemas.microsoft.com/office/drawing/2014/main" id="{04032DE2-3548-4A12-BFB8-63625FD0C062}"/>
              </a:ext>
            </a:extLst>
          </p:cNvPr>
          <p:cNvSpPr>
            <a:spLocks noGrp="1"/>
          </p:cNvSpPr>
          <p:nvPr/>
        </p:nvSpPr>
        <p:spPr>
          <a:xfrm>
            <a:off x="457200" y="6477000"/>
            <a:ext cx="10763250" cy="238125"/>
          </a:xfrm>
          <a:prstGeom prst="rect">
            <a:avLst/>
          </a:prstGeom>
          <a:noFill/>
          <a:ln w="0">
            <a:noFill/>
          </a:ln>
        </p:spPr>
        <p:txBody>
          <a:bodyPr wrap="square" lIns="0" tIns="0" rIns="0" bIns="0" anchor="t">
            <a:noAutofit/>
          </a:bodyPr>
          <a:lstStyle/>
          <a:p>
            <a:endParaRPr/>
          </a:p>
        </p:txBody>
      </p:sp>
      <p:sp>
        <p:nvSpPr>
          <p:cNvPr id="11" name="s16-text-10">
            <a:extLst>
              <a:ext uri="{FF2B5EF4-FFF2-40B4-BE49-F238E27FC236}">
                <a16:creationId xmlns:a16="http://schemas.microsoft.com/office/drawing/2014/main" id="{2957643A-A848-4A9C-B64A-1056FFDC9B19}"/>
              </a:ext>
            </a:extLst>
          </p:cNvPr>
          <p:cNvSpPr>
            <a:spLocks noGrp="1"/>
          </p:cNvSpPr>
          <p:nvPr/>
        </p:nvSpPr>
        <p:spPr>
          <a:xfrm>
            <a:off x="11239500" y="6477000"/>
            <a:ext cx="476250" cy="238125"/>
          </a:xfrm>
          <a:prstGeom prst="rect">
            <a:avLst/>
          </a:prstGeom>
          <a:noFill/>
          <a:ln w="0">
            <a:noFill/>
          </a:ln>
        </p:spPr>
        <p:txBody>
          <a:bodyPr wrap="square" lIns="0" tIns="0" rIns="0" bIns="0" anchor="t">
            <a:noAutofit/>
          </a:bodyPr>
          <a:lstStyle/>
          <a:p>
            <a:pPr algn="r">
              <a:defRPr sz="1275" b="0">
                <a:solidFill>
                  <a:srgbClr val="666666"/>
                </a:solidFill>
                <a:latin typeface="Aptos"/>
                <a:ea typeface="Aptos"/>
                <a:cs typeface="Aptos"/>
              </a:defRPr>
            </a:pPr>
            <a:r>
              <a:rPr sz="1275" b="0">
                <a:solidFill>
                  <a:srgbClr val="666666"/>
                </a:solidFill>
                <a:latin typeface="Aptos"/>
                <a:ea typeface="Aptos"/>
                <a:cs typeface="Aptos"/>
              </a:rPr>
              <a:t>16</a:t>
            </a:r>
          </a:p>
        </p:txBody>
      </p:sp>
    </p:spTree>
    <p:extLst>
      <p:ext uri="{BB962C8B-B14F-4D97-AF65-F5344CB8AC3E}">
        <p14:creationId xmlns:p14="http://schemas.microsoft.com/office/powerpoint/2010/main" val="32813612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17-text-1">
            <a:extLst>
              <a:ext uri="{FF2B5EF4-FFF2-40B4-BE49-F238E27FC236}">
                <a16:creationId xmlns:a16="http://schemas.microsoft.com/office/drawing/2014/main" id="{1B03D7C7-E9F3-4C9D-BF67-0354060A70DE}"/>
              </a:ext>
            </a:extLst>
          </p:cNvPr>
          <p:cNvSpPr>
            <a:spLocks noGrp="1"/>
          </p:cNvSpPr>
          <p:nvPr/>
        </p:nvSpPr>
        <p:spPr>
          <a:xfrm>
            <a:off x="430816" y="1038225"/>
            <a:ext cx="11293412" cy="78105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The closest whole-number allocation</a:t>
            </a:r>
          </a:p>
        </p:txBody>
      </p:sp>
      <p:sp>
        <p:nvSpPr>
          <p:cNvPr id="2" name="s17-rect-2">
            <a:extLst>
              <a:ext uri="{FF2B5EF4-FFF2-40B4-BE49-F238E27FC236}">
                <a16:creationId xmlns:a16="http://schemas.microsoft.com/office/drawing/2014/main" id="{F58A73C1-E286-45B4-84DC-F11CC4876C0E}"/>
              </a:ext>
            </a:extLst>
          </p:cNvPr>
          <p:cNvSpPr>
            <a:spLocks noGrp="1"/>
          </p:cNvSpPr>
          <p:nvPr/>
        </p:nvSpPr>
        <p:spPr>
          <a:xfrm>
            <a:off x="8734425" y="476250"/>
            <a:ext cx="3000375" cy="400050"/>
          </a:xfrm>
          <a:prstGeom prst="rect">
            <a:avLst/>
          </a:prstGeom>
          <a:solidFill>
            <a:srgbClr val="D6171D"/>
          </a:solidFill>
          <a:ln w="0">
            <a:noFill/>
          </a:ln>
        </p:spPr>
        <p:txBody>
          <a:bodyPr/>
          <a:lstStyle/>
          <a:p>
            <a:endParaRPr lang="en-US"/>
          </a:p>
        </p:txBody>
      </p:sp>
      <p:sp>
        <p:nvSpPr>
          <p:cNvPr id="3" name="s17-text-3">
            <a:extLst>
              <a:ext uri="{FF2B5EF4-FFF2-40B4-BE49-F238E27FC236}">
                <a16:creationId xmlns:a16="http://schemas.microsoft.com/office/drawing/2014/main" id="{2027FF2C-22CA-4495-AA1A-E433AD68F9B7}"/>
              </a:ext>
            </a:extLst>
          </p:cNvPr>
          <p:cNvSpPr>
            <a:spLocks noGrp="1"/>
          </p:cNvSpPr>
          <p:nvPr/>
        </p:nvSpPr>
        <p:spPr>
          <a:xfrm>
            <a:off x="8829675" y="533400"/>
            <a:ext cx="2809875" cy="323850"/>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C3.3</a:t>
            </a:r>
          </a:p>
        </p:txBody>
      </p:sp>
      <p:sp>
        <p:nvSpPr>
          <p:cNvPr id="4" name="s17-text-4">
            <a:extLst>
              <a:ext uri="{FF2B5EF4-FFF2-40B4-BE49-F238E27FC236}">
                <a16:creationId xmlns:a16="http://schemas.microsoft.com/office/drawing/2014/main" id="{F6D193C9-117E-4218-99E1-838EAF449EB8}"/>
              </a:ext>
            </a:extLst>
          </p:cNvPr>
          <p:cNvSpPr>
            <a:spLocks noGrp="1"/>
          </p:cNvSpPr>
          <p:nvPr/>
        </p:nvSpPr>
        <p:spPr>
          <a:xfrm>
            <a:off x="457200" y="1990725"/>
            <a:ext cx="11239500" cy="381000"/>
          </a:xfrm>
          <a:prstGeom prst="rect">
            <a:avLst/>
          </a:prstGeom>
          <a:noFill/>
          <a:ln w="0">
            <a:noFill/>
          </a:ln>
        </p:spPr>
        <p:txBody>
          <a:bodyPr wrap="square" lIns="0" tIns="0" rIns="0" bIns="0" anchor="t">
            <a:noAutofit/>
          </a:bodyPr>
          <a:lstStyle/>
          <a:p>
            <a:pPr algn="l">
              <a:defRPr sz="2325" b="1">
                <a:solidFill>
                  <a:srgbClr val="111111"/>
                </a:solidFill>
                <a:latin typeface="Aptos"/>
                <a:ea typeface="Aptos"/>
                <a:cs typeface="Aptos"/>
              </a:defRPr>
            </a:pPr>
            <a:r>
              <a:rPr sz="2325" b="1">
                <a:solidFill>
                  <a:srgbClr val="111111"/>
                </a:solidFill>
                <a:latin typeface="Aptos"/>
                <a:ea typeface="Aptos"/>
                <a:cs typeface="Aptos"/>
              </a:rPr>
              <a:t>Business</a:t>
            </a:r>
          </a:p>
        </p:txBody>
      </p:sp>
      <p:sp>
        <p:nvSpPr>
          <p:cNvPr id="5" name="s17-text-5">
            <a:extLst>
              <a:ext uri="{FF2B5EF4-FFF2-40B4-BE49-F238E27FC236}">
                <a16:creationId xmlns:a16="http://schemas.microsoft.com/office/drawing/2014/main" id="{F72BBE8C-7350-454F-86D4-2C56BDF08588}"/>
              </a:ext>
            </a:extLst>
          </p:cNvPr>
          <p:cNvSpPr>
            <a:spLocks noGrp="1"/>
          </p:cNvSpPr>
          <p:nvPr/>
        </p:nvSpPr>
        <p:spPr>
          <a:xfrm>
            <a:off x="457200" y="2457450"/>
            <a:ext cx="2095500" cy="400050"/>
          </a:xfrm>
          <a:prstGeom prst="rect">
            <a:avLst/>
          </a:prstGeom>
          <a:noFill/>
          <a:ln w="0">
            <a:noFill/>
          </a:ln>
        </p:spPr>
        <p:txBody>
          <a:bodyPr wrap="square" lIns="0" tIns="0" rIns="0" bIns="0" anchor="t">
            <a:noAutofit/>
          </a:bodyPr>
          <a:lstStyle/>
          <a:p>
            <a:pPr algn="ctr">
              <a:defRPr sz="2700" b="0">
                <a:solidFill>
                  <a:srgbClr val="111111"/>
                </a:solidFill>
                <a:latin typeface="Aptos"/>
                <a:ea typeface="Aptos"/>
                <a:cs typeface="Aptos"/>
              </a:defRPr>
            </a:pPr>
            <a:r>
              <a:rPr sz="2700" b="0">
                <a:solidFill>
                  <a:srgbClr val="111111"/>
                </a:solidFill>
                <a:latin typeface="Aptos"/>
                <a:ea typeface="Aptos"/>
                <a:cs typeface="Aptos"/>
              </a:rPr>
              <a:t>2,173</a:t>
            </a:r>
          </a:p>
        </p:txBody>
      </p:sp>
      <p:sp>
        <p:nvSpPr>
          <p:cNvPr id="6" name="s17-line-6">
            <a:extLst>
              <a:ext uri="{FF2B5EF4-FFF2-40B4-BE49-F238E27FC236}">
                <a16:creationId xmlns:a16="http://schemas.microsoft.com/office/drawing/2014/main" id="{C529C06F-B899-43B9-8A0B-7D7B5C6D4ED6}"/>
              </a:ext>
            </a:extLst>
          </p:cNvPr>
          <p:cNvSpPr>
            <a:spLocks noGrp="1"/>
          </p:cNvSpPr>
          <p:nvPr/>
        </p:nvSpPr>
        <p:spPr>
          <a:xfrm>
            <a:off x="457200" y="2895600"/>
            <a:ext cx="2095500" cy="0"/>
          </a:xfrm>
          <a:prstGeom prst="line">
            <a:avLst/>
          </a:prstGeom>
          <a:noFill/>
          <a:ln w="19050">
            <a:solidFill>
              <a:srgbClr val="111111"/>
            </a:solidFill>
          </a:ln>
        </p:spPr>
        <p:txBody>
          <a:bodyPr/>
          <a:lstStyle/>
          <a:p>
            <a:endParaRPr lang="en-US"/>
          </a:p>
        </p:txBody>
      </p:sp>
      <p:sp>
        <p:nvSpPr>
          <p:cNvPr id="7" name="s17-text-7">
            <a:extLst>
              <a:ext uri="{FF2B5EF4-FFF2-40B4-BE49-F238E27FC236}">
                <a16:creationId xmlns:a16="http://schemas.microsoft.com/office/drawing/2014/main" id="{DCDDEBC4-510F-40F4-B543-9A277BEE3006}"/>
              </a:ext>
            </a:extLst>
          </p:cNvPr>
          <p:cNvSpPr>
            <a:spLocks noGrp="1"/>
          </p:cNvSpPr>
          <p:nvPr/>
        </p:nvSpPr>
        <p:spPr>
          <a:xfrm>
            <a:off x="457200" y="2990850"/>
            <a:ext cx="2095500" cy="419100"/>
          </a:xfrm>
          <a:prstGeom prst="rect">
            <a:avLst/>
          </a:prstGeom>
          <a:noFill/>
          <a:ln w="0">
            <a:noFill/>
          </a:ln>
        </p:spPr>
        <p:txBody>
          <a:bodyPr wrap="square" lIns="0" tIns="0" rIns="0" bIns="0" anchor="t">
            <a:noAutofit/>
          </a:bodyPr>
          <a:lstStyle/>
          <a:p>
            <a:pPr algn="ctr">
              <a:defRPr sz="2700" b="0">
                <a:solidFill>
                  <a:srgbClr val="111111"/>
                </a:solidFill>
                <a:latin typeface="Aptos"/>
                <a:ea typeface="Aptos"/>
                <a:cs typeface="Aptos"/>
              </a:defRPr>
            </a:pPr>
            <a:r>
              <a:rPr sz="2700" b="0">
                <a:solidFill>
                  <a:srgbClr val="111111"/>
                </a:solidFill>
                <a:latin typeface="Aptos"/>
                <a:ea typeface="Aptos"/>
                <a:cs typeface="Aptos"/>
              </a:rPr>
              <a:t>3,696</a:t>
            </a:r>
          </a:p>
        </p:txBody>
      </p:sp>
      <p:sp>
        <p:nvSpPr>
          <p:cNvPr id="8" name="s17-text-8">
            <a:extLst>
              <a:ext uri="{FF2B5EF4-FFF2-40B4-BE49-F238E27FC236}">
                <a16:creationId xmlns:a16="http://schemas.microsoft.com/office/drawing/2014/main" id="{DF2D1BF1-8975-4FA5-AF88-D2E783BBBD89}"/>
              </a:ext>
            </a:extLst>
          </p:cNvPr>
          <p:cNvSpPr>
            <a:spLocks noGrp="1"/>
          </p:cNvSpPr>
          <p:nvPr/>
        </p:nvSpPr>
        <p:spPr>
          <a:xfrm>
            <a:off x="2781300" y="2695575"/>
            <a:ext cx="5905500" cy="590550"/>
          </a:xfrm>
          <a:prstGeom prst="rect">
            <a:avLst/>
          </a:prstGeom>
          <a:noFill/>
          <a:ln w="0">
            <a:noFill/>
          </a:ln>
        </p:spPr>
        <p:txBody>
          <a:bodyPr wrap="square" lIns="0" tIns="0" rIns="0" bIns="0" anchor="t">
            <a:noAutofit/>
          </a:bodyPr>
          <a:lstStyle/>
          <a:p>
            <a:pPr algn="l">
              <a:defRPr sz="2700" b="1">
                <a:solidFill>
                  <a:srgbClr val="111111"/>
                </a:solidFill>
                <a:latin typeface="Aptos"/>
                <a:ea typeface="Aptos"/>
                <a:cs typeface="Aptos"/>
              </a:defRPr>
            </a:pPr>
            <a:r>
              <a:rPr sz="2700" b="1">
                <a:solidFill>
                  <a:srgbClr val="111111"/>
                </a:solidFill>
                <a:latin typeface="Aptos"/>
                <a:ea typeface="Aptos"/>
                <a:cs typeface="Aptos"/>
              </a:rPr>
              <a:t>× 176 = 103.476…</a:t>
            </a:r>
          </a:p>
        </p:txBody>
      </p:sp>
      <p:sp>
        <p:nvSpPr>
          <p:cNvPr id="9" name="s17-text-9">
            <a:extLst>
              <a:ext uri="{FF2B5EF4-FFF2-40B4-BE49-F238E27FC236}">
                <a16:creationId xmlns:a16="http://schemas.microsoft.com/office/drawing/2014/main" id="{3D7D914B-E502-4378-B8E0-FDA7779ACE5A}"/>
              </a:ext>
            </a:extLst>
          </p:cNvPr>
          <p:cNvSpPr>
            <a:spLocks noGrp="1"/>
          </p:cNvSpPr>
          <p:nvPr/>
        </p:nvSpPr>
        <p:spPr>
          <a:xfrm>
            <a:off x="457200" y="3790950"/>
            <a:ext cx="11239500" cy="381000"/>
          </a:xfrm>
          <a:prstGeom prst="rect">
            <a:avLst/>
          </a:prstGeom>
          <a:noFill/>
          <a:ln w="0">
            <a:noFill/>
          </a:ln>
        </p:spPr>
        <p:txBody>
          <a:bodyPr wrap="square" lIns="0" tIns="0" rIns="0" bIns="0" anchor="t">
            <a:noAutofit/>
          </a:bodyPr>
          <a:lstStyle/>
          <a:p>
            <a:pPr algn="l">
              <a:defRPr sz="2325" b="1">
                <a:solidFill>
                  <a:srgbClr val="111111"/>
                </a:solidFill>
                <a:latin typeface="Aptos"/>
                <a:ea typeface="Aptos"/>
                <a:cs typeface="Aptos"/>
              </a:defRPr>
            </a:pPr>
            <a:r>
              <a:rPr sz="2325" b="1">
                <a:solidFill>
                  <a:srgbClr val="111111"/>
                </a:solidFill>
                <a:latin typeface="Aptos"/>
                <a:ea typeface="Aptos"/>
                <a:cs typeface="Aptos"/>
              </a:rPr>
              <a:t>Engineering</a:t>
            </a:r>
          </a:p>
        </p:txBody>
      </p:sp>
      <p:sp>
        <p:nvSpPr>
          <p:cNvPr id="10" name="s17-text-10">
            <a:extLst>
              <a:ext uri="{FF2B5EF4-FFF2-40B4-BE49-F238E27FC236}">
                <a16:creationId xmlns:a16="http://schemas.microsoft.com/office/drawing/2014/main" id="{F3AB36B1-9E3E-4BC4-9F8F-C8502212061E}"/>
              </a:ext>
            </a:extLst>
          </p:cNvPr>
          <p:cNvSpPr>
            <a:spLocks noGrp="1"/>
          </p:cNvSpPr>
          <p:nvPr/>
        </p:nvSpPr>
        <p:spPr>
          <a:xfrm>
            <a:off x="457200" y="4257675"/>
            <a:ext cx="2095500" cy="400050"/>
          </a:xfrm>
          <a:prstGeom prst="rect">
            <a:avLst/>
          </a:prstGeom>
          <a:noFill/>
          <a:ln w="0">
            <a:noFill/>
          </a:ln>
        </p:spPr>
        <p:txBody>
          <a:bodyPr wrap="square" lIns="0" tIns="0" rIns="0" bIns="0" anchor="t">
            <a:noAutofit/>
          </a:bodyPr>
          <a:lstStyle/>
          <a:p>
            <a:pPr algn="ctr">
              <a:defRPr sz="2700" b="0">
                <a:solidFill>
                  <a:srgbClr val="111111"/>
                </a:solidFill>
                <a:latin typeface="Aptos"/>
                <a:ea typeface="Aptos"/>
                <a:cs typeface="Aptos"/>
              </a:defRPr>
            </a:pPr>
            <a:r>
              <a:rPr sz="2700" b="0">
                <a:solidFill>
                  <a:srgbClr val="111111"/>
                </a:solidFill>
                <a:latin typeface="Aptos"/>
                <a:ea typeface="Aptos"/>
                <a:cs typeface="Aptos"/>
              </a:rPr>
              <a:t>1,523</a:t>
            </a:r>
          </a:p>
        </p:txBody>
      </p:sp>
      <p:sp>
        <p:nvSpPr>
          <p:cNvPr id="11" name="s17-line-11">
            <a:extLst>
              <a:ext uri="{FF2B5EF4-FFF2-40B4-BE49-F238E27FC236}">
                <a16:creationId xmlns:a16="http://schemas.microsoft.com/office/drawing/2014/main" id="{5FDD57FB-B4C3-4327-B76A-B43C4C274BA1}"/>
              </a:ext>
            </a:extLst>
          </p:cNvPr>
          <p:cNvSpPr>
            <a:spLocks noGrp="1"/>
          </p:cNvSpPr>
          <p:nvPr/>
        </p:nvSpPr>
        <p:spPr>
          <a:xfrm>
            <a:off x="457200" y="4695825"/>
            <a:ext cx="2095500" cy="0"/>
          </a:xfrm>
          <a:prstGeom prst="line">
            <a:avLst/>
          </a:prstGeom>
          <a:noFill/>
          <a:ln w="19050">
            <a:solidFill>
              <a:srgbClr val="111111"/>
            </a:solidFill>
          </a:ln>
        </p:spPr>
        <p:txBody>
          <a:bodyPr/>
          <a:lstStyle/>
          <a:p>
            <a:endParaRPr lang="en-US"/>
          </a:p>
        </p:txBody>
      </p:sp>
      <p:sp>
        <p:nvSpPr>
          <p:cNvPr id="12" name="s17-text-12">
            <a:extLst>
              <a:ext uri="{FF2B5EF4-FFF2-40B4-BE49-F238E27FC236}">
                <a16:creationId xmlns:a16="http://schemas.microsoft.com/office/drawing/2014/main" id="{378317D7-A644-4911-8DFB-F834463DFE3C}"/>
              </a:ext>
            </a:extLst>
          </p:cNvPr>
          <p:cNvSpPr>
            <a:spLocks noGrp="1"/>
          </p:cNvSpPr>
          <p:nvPr/>
        </p:nvSpPr>
        <p:spPr>
          <a:xfrm>
            <a:off x="457200" y="4791075"/>
            <a:ext cx="2095500" cy="419100"/>
          </a:xfrm>
          <a:prstGeom prst="rect">
            <a:avLst/>
          </a:prstGeom>
          <a:noFill/>
          <a:ln w="0">
            <a:noFill/>
          </a:ln>
        </p:spPr>
        <p:txBody>
          <a:bodyPr wrap="square" lIns="0" tIns="0" rIns="0" bIns="0" anchor="t">
            <a:noAutofit/>
          </a:bodyPr>
          <a:lstStyle/>
          <a:p>
            <a:pPr algn="ctr">
              <a:defRPr sz="2700" b="0">
                <a:solidFill>
                  <a:srgbClr val="111111"/>
                </a:solidFill>
                <a:latin typeface="Aptos"/>
                <a:ea typeface="Aptos"/>
                <a:cs typeface="Aptos"/>
              </a:defRPr>
            </a:pPr>
            <a:r>
              <a:rPr sz="2700" b="0">
                <a:solidFill>
                  <a:srgbClr val="111111"/>
                </a:solidFill>
                <a:latin typeface="Aptos"/>
                <a:ea typeface="Aptos"/>
                <a:cs typeface="Aptos"/>
              </a:rPr>
              <a:t>3,696</a:t>
            </a:r>
          </a:p>
        </p:txBody>
      </p:sp>
      <p:sp>
        <p:nvSpPr>
          <p:cNvPr id="13" name="s17-text-13">
            <a:extLst>
              <a:ext uri="{FF2B5EF4-FFF2-40B4-BE49-F238E27FC236}">
                <a16:creationId xmlns:a16="http://schemas.microsoft.com/office/drawing/2014/main" id="{C5E1920F-9963-42AE-B7EB-504DD808C7E7}"/>
              </a:ext>
            </a:extLst>
          </p:cNvPr>
          <p:cNvSpPr>
            <a:spLocks noGrp="1"/>
          </p:cNvSpPr>
          <p:nvPr/>
        </p:nvSpPr>
        <p:spPr>
          <a:xfrm>
            <a:off x="2781300" y="4495800"/>
            <a:ext cx="5905500" cy="590550"/>
          </a:xfrm>
          <a:prstGeom prst="rect">
            <a:avLst/>
          </a:prstGeom>
          <a:noFill/>
          <a:ln w="0">
            <a:noFill/>
          </a:ln>
        </p:spPr>
        <p:txBody>
          <a:bodyPr wrap="square" lIns="0" tIns="0" rIns="0" bIns="0" anchor="t">
            <a:noAutofit/>
          </a:bodyPr>
          <a:lstStyle/>
          <a:p>
            <a:pPr algn="l">
              <a:defRPr sz="2700" b="1">
                <a:solidFill>
                  <a:srgbClr val="111111"/>
                </a:solidFill>
                <a:latin typeface="Aptos"/>
                <a:ea typeface="Aptos"/>
                <a:cs typeface="Aptos"/>
              </a:defRPr>
            </a:pPr>
            <a:r>
              <a:rPr sz="2700" b="1">
                <a:solidFill>
                  <a:srgbClr val="111111"/>
                </a:solidFill>
                <a:latin typeface="Aptos"/>
                <a:ea typeface="Aptos"/>
                <a:cs typeface="Aptos"/>
              </a:rPr>
              <a:t>× 176 = 72.524…</a:t>
            </a:r>
          </a:p>
        </p:txBody>
      </p:sp>
      <p:sp>
        <p:nvSpPr>
          <p:cNvPr id="14" name="s17-text-14">
            <a:extLst>
              <a:ext uri="{FF2B5EF4-FFF2-40B4-BE49-F238E27FC236}">
                <a16:creationId xmlns:a16="http://schemas.microsoft.com/office/drawing/2014/main" id="{3B09E368-5360-4C32-B5C3-90D6F1F2F3F5}"/>
              </a:ext>
            </a:extLst>
          </p:cNvPr>
          <p:cNvSpPr>
            <a:spLocks noGrp="1"/>
          </p:cNvSpPr>
          <p:nvPr/>
        </p:nvSpPr>
        <p:spPr>
          <a:xfrm>
            <a:off x="6953250" y="2505075"/>
            <a:ext cx="4714875" cy="1428750"/>
          </a:xfrm>
          <a:prstGeom prst="rect">
            <a:avLst/>
          </a:prstGeom>
          <a:noFill/>
          <a:ln w="0">
            <a:noFill/>
          </a:ln>
        </p:spPr>
        <p:txBody>
          <a:bodyPr wrap="square" lIns="0" tIns="0" rIns="0" bIns="0" anchor="t">
            <a:noAutofit/>
          </a:bodyPr>
          <a:lstStyle/>
          <a:p>
            <a:pPr algn="l">
              <a:defRPr sz="2475" b="1">
                <a:solidFill>
                  <a:srgbClr val="111111"/>
                </a:solidFill>
                <a:latin typeface="Aptos"/>
                <a:ea typeface="Aptos"/>
                <a:cs typeface="Aptos"/>
              </a:defRPr>
            </a:pPr>
            <a:r>
              <a:rPr sz="2475" b="1">
                <a:solidFill>
                  <a:srgbClr val="111111"/>
                </a:solidFill>
                <a:latin typeface="Aptos"/>
                <a:ea typeface="Aptos"/>
                <a:cs typeface="Aptos"/>
              </a:rPr>
              <a:t>103 Business + 73 Engineering = 176</a:t>
            </a:r>
          </a:p>
        </p:txBody>
      </p:sp>
      <p:sp>
        <p:nvSpPr>
          <p:cNvPr id="15" name="s17-text-15">
            <a:extLst>
              <a:ext uri="{FF2B5EF4-FFF2-40B4-BE49-F238E27FC236}">
                <a16:creationId xmlns:a16="http://schemas.microsoft.com/office/drawing/2014/main" id="{E2989A3C-7291-402C-BCC1-C8BC9DED9370}"/>
              </a:ext>
            </a:extLst>
          </p:cNvPr>
          <p:cNvSpPr>
            <a:spLocks noGrp="1"/>
          </p:cNvSpPr>
          <p:nvPr/>
        </p:nvSpPr>
        <p:spPr>
          <a:xfrm>
            <a:off x="6953250" y="4038600"/>
            <a:ext cx="4714875" cy="1457325"/>
          </a:xfrm>
          <a:prstGeom prst="rect">
            <a:avLst/>
          </a:prstGeom>
          <a:noFill/>
          <a:ln w="0">
            <a:noFill/>
          </a:ln>
        </p:spPr>
        <p:txBody>
          <a:bodyPr wrap="square" lIns="0" tIns="0" rIns="0" bIns="0" anchor="t">
            <a:noAutofit/>
          </a:bodyPr>
          <a:lstStyle/>
          <a:p>
            <a:pPr algn="l">
              <a:defRPr sz="2175" b="0">
                <a:solidFill>
                  <a:srgbClr val="111111"/>
                </a:solidFill>
                <a:latin typeface="Aptos"/>
                <a:ea typeface="Aptos"/>
                <a:cs typeface="Aptos"/>
              </a:defRPr>
            </a:pPr>
            <a:r>
              <a:rPr sz="2175" b="0">
                <a:solidFill>
                  <a:srgbClr val="111111"/>
                </a:solidFill>
                <a:latin typeface="Aptos"/>
                <a:ea typeface="Aptos"/>
                <a:cs typeface="Aptos"/>
              </a:rPr>
              <a:t>104 and 72 give the right total,</a:t>
            </a:r>
          </a:p>
          <a:p>
            <a:pPr algn="l">
              <a:defRPr sz="2175" b="0">
                <a:solidFill>
                  <a:srgbClr val="111111"/>
                </a:solidFill>
                <a:latin typeface="Aptos"/>
                <a:ea typeface="Aptos"/>
                <a:cs typeface="Aptos"/>
              </a:defRPr>
            </a:pPr>
            <a:r>
              <a:rPr sz="2175" b="0">
                <a:solidFill>
                  <a:srgbClr val="111111"/>
                </a:solidFill>
                <a:latin typeface="Aptos"/>
                <a:ea typeface="Aptos"/>
                <a:cs typeface="Aptos"/>
              </a:rPr>
              <a:t>but 103 and 73 are closer to</a:t>
            </a:r>
          </a:p>
          <a:p>
            <a:pPr algn="l">
              <a:defRPr sz="2175" b="0">
                <a:solidFill>
                  <a:srgbClr val="111111"/>
                </a:solidFill>
                <a:latin typeface="Aptos"/>
                <a:ea typeface="Aptos"/>
                <a:cs typeface="Aptos"/>
              </a:defRPr>
            </a:pPr>
            <a:r>
              <a:rPr sz="2175" b="0">
                <a:solidFill>
                  <a:srgbClr val="111111"/>
                </a:solidFill>
                <a:latin typeface="Aptos"/>
                <a:ea typeface="Aptos"/>
                <a:cs typeface="Aptos"/>
              </a:rPr>
              <a:t>the unrounded allocations.</a:t>
            </a:r>
          </a:p>
        </p:txBody>
      </p:sp>
      <p:sp>
        <p:nvSpPr>
          <p:cNvPr id="16" name="s17-text-16">
            <a:extLst>
              <a:ext uri="{FF2B5EF4-FFF2-40B4-BE49-F238E27FC236}">
                <a16:creationId xmlns:a16="http://schemas.microsoft.com/office/drawing/2014/main" id="{CAEB3431-9E83-43DC-8012-9CDAF4597186}"/>
              </a:ext>
            </a:extLst>
          </p:cNvPr>
          <p:cNvSpPr>
            <a:spLocks noGrp="1"/>
          </p:cNvSpPr>
          <p:nvPr/>
        </p:nvSpPr>
        <p:spPr>
          <a:xfrm>
            <a:off x="457200" y="5791200"/>
            <a:ext cx="11239500" cy="428625"/>
          </a:xfrm>
          <a:prstGeom prst="rect">
            <a:avLst/>
          </a:prstGeom>
          <a:noFill/>
          <a:ln w="0">
            <a:noFill/>
          </a:ln>
        </p:spPr>
        <p:txBody>
          <a:bodyPr wrap="square" lIns="0" tIns="0" rIns="0" bIns="0" anchor="t">
            <a:noAutofit/>
          </a:bodyPr>
          <a:lstStyle/>
          <a:p>
            <a:pPr algn="l">
              <a:defRPr sz="2175" b="1">
                <a:solidFill>
                  <a:srgbClr val="111111"/>
                </a:solidFill>
                <a:latin typeface="Aptos"/>
                <a:ea typeface="Aptos"/>
                <a:cs typeface="Aptos"/>
              </a:defRPr>
            </a:pPr>
            <a:r>
              <a:rPr sz="2175" b="1">
                <a:solidFill>
                  <a:srgbClr val="111111"/>
                </a:solidFill>
                <a:latin typeface="Aptos"/>
                <a:ea typeface="Aptos"/>
                <a:cs typeface="Aptos"/>
              </a:rPr>
              <a:t>Select randomly within each programme list.</a:t>
            </a:r>
          </a:p>
        </p:txBody>
      </p:sp>
      <p:sp>
        <p:nvSpPr>
          <p:cNvPr id="17" name="s17-text-17">
            <a:extLst>
              <a:ext uri="{FF2B5EF4-FFF2-40B4-BE49-F238E27FC236}">
                <a16:creationId xmlns:a16="http://schemas.microsoft.com/office/drawing/2014/main" id="{A36C1DAF-B1E3-43CE-AD04-249607BB512C}"/>
              </a:ext>
            </a:extLst>
          </p:cNvPr>
          <p:cNvSpPr>
            <a:spLocks noGrp="1"/>
          </p:cNvSpPr>
          <p:nvPr/>
        </p:nvSpPr>
        <p:spPr>
          <a:xfrm>
            <a:off x="457200" y="6477000"/>
            <a:ext cx="10763250" cy="238125"/>
          </a:xfrm>
          <a:prstGeom prst="rect">
            <a:avLst/>
          </a:prstGeom>
          <a:noFill/>
          <a:ln w="0">
            <a:noFill/>
          </a:ln>
        </p:spPr>
        <p:txBody>
          <a:bodyPr wrap="square" lIns="0" tIns="0" rIns="0" bIns="0" anchor="t">
            <a:noAutofit/>
          </a:bodyPr>
          <a:lstStyle/>
          <a:p>
            <a:endParaRPr/>
          </a:p>
        </p:txBody>
      </p:sp>
      <p:sp>
        <p:nvSpPr>
          <p:cNvPr id="18" name="s17-text-18">
            <a:extLst>
              <a:ext uri="{FF2B5EF4-FFF2-40B4-BE49-F238E27FC236}">
                <a16:creationId xmlns:a16="http://schemas.microsoft.com/office/drawing/2014/main" id="{B38F1071-742D-4AC6-8743-CFF9BBD9EAB9}"/>
              </a:ext>
            </a:extLst>
          </p:cNvPr>
          <p:cNvSpPr>
            <a:spLocks noGrp="1"/>
          </p:cNvSpPr>
          <p:nvPr/>
        </p:nvSpPr>
        <p:spPr>
          <a:xfrm>
            <a:off x="11239500" y="6477000"/>
            <a:ext cx="476250" cy="238125"/>
          </a:xfrm>
          <a:prstGeom prst="rect">
            <a:avLst/>
          </a:prstGeom>
          <a:noFill/>
          <a:ln w="0">
            <a:noFill/>
          </a:ln>
        </p:spPr>
        <p:txBody>
          <a:bodyPr wrap="square" lIns="0" tIns="0" rIns="0" bIns="0" anchor="t">
            <a:noAutofit/>
          </a:bodyPr>
          <a:lstStyle/>
          <a:p>
            <a:pPr algn="r">
              <a:defRPr sz="1275" b="0">
                <a:solidFill>
                  <a:srgbClr val="666666"/>
                </a:solidFill>
                <a:latin typeface="Aptos"/>
                <a:ea typeface="Aptos"/>
                <a:cs typeface="Aptos"/>
              </a:defRPr>
            </a:pPr>
            <a:r>
              <a:rPr sz="1275" b="0">
                <a:solidFill>
                  <a:srgbClr val="666666"/>
                </a:solidFill>
                <a:latin typeface="Aptos"/>
                <a:ea typeface="Aptos"/>
                <a:cs typeface="Aptos"/>
              </a:rPr>
              <a:t>17</a:t>
            </a:r>
          </a:p>
        </p:txBody>
      </p:sp>
    </p:spTree>
    <p:extLst>
      <p:ext uri="{BB962C8B-B14F-4D97-AF65-F5344CB8AC3E}">
        <p14:creationId xmlns:p14="http://schemas.microsoft.com/office/powerpoint/2010/main" val="32813612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18-text-1">
            <a:extLst>
              <a:ext uri="{FF2B5EF4-FFF2-40B4-BE49-F238E27FC236}">
                <a16:creationId xmlns:a16="http://schemas.microsoft.com/office/drawing/2014/main" id="{5807EB2E-18B8-445D-9433-8221DFE10E32}"/>
              </a:ext>
            </a:extLst>
          </p:cNvPr>
          <p:cNvSpPr>
            <a:spLocks noGrp="1"/>
          </p:cNvSpPr>
          <p:nvPr/>
        </p:nvSpPr>
        <p:spPr>
          <a:xfrm>
            <a:off x="430816" y="1038225"/>
            <a:ext cx="11293412" cy="78105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What if we sample whole classes?</a:t>
            </a:r>
          </a:p>
        </p:txBody>
      </p:sp>
      <p:sp>
        <p:nvSpPr>
          <p:cNvPr id="2" name="s18-rect-2">
            <a:extLst>
              <a:ext uri="{FF2B5EF4-FFF2-40B4-BE49-F238E27FC236}">
                <a16:creationId xmlns:a16="http://schemas.microsoft.com/office/drawing/2014/main" id="{E855EAB5-337F-4876-9754-56970405D5F6}"/>
              </a:ext>
            </a:extLst>
          </p:cNvPr>
          <p:cNvSpPr>
            <a:spLocks noGrp="1"/>
          </p:cNvSpPr>
          <p:nvPr/>
        </p:nvSpPr>
        <p:spPr>
          <a:xfrm>
            <a:off x="8734425" y="476250"/>
            <a:ext cx="3000375" cy="400050"/>
          </a:xfrm>
          <a:prstGeom prst="rect">
            <a:avLst/>
          </a:prstGeom>
          <a:solidFill>
            <a:srgbClr val="D6171D"/>
          </a:solidFill>
          <a:ln w="0">
            <a:noFill/>
          </a:ln>
        </p:spPr>
        <p:txBody>
          <a:bodyPr/>
          <a:lstStyle/>
          <a:p>
            <a:endParaRPr lang="en-US"/>
          </a:p>
        </p:txBody>
      </p:sp>
      <p:sp>
        <p:nvSpPr>
          <p:cNvPr id="3" name="s18-text-3">
            <a:extLst>
              <a:ext uri="{FF2B5EF4-FFF2-40B4-BE49-F238E27FC236}">
                <a16:creationId xmlns:a16="http://schemas.microsoft.com/office/drawing/2014/main" id="{CE72755A-818B-418F-8AD4-2F416C8A17DD}"/>
              </a:ext>
            </a:extLst>
          </p:cNvPr>
          <p:cNvSpPr>
            <a:spLocks noGrp="1"/>
          </p:cNvSpPr>
          <p:nvPr/>
        </p:nvSpPr>
        <p:spPr>
          <a:xfrm>
            <a:off x="8829675" y="533400"/>
            <a:ext cx="2809875" cy="323850"/>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C3.4</a:t>
            </a:r>
          </a:p>
        </p:txBody>
      </p:sp>
      <p:sp>
        <p:nvSpPr>
          <p:cNvPr id="4" name="s18-text-4">
            <a:extLst>
              <a:ext uri="{FF2B5EF4-FFF2-40B4-BE49-F238E27FC236}">
                <a16:creationId xmlns:a16="http://schemas.microsoft.com/office/drawing/2014/main" id="{77706841-1ED5-49C8-9058-C61F9EA4D93E}"/>
              </a:ext>
            </a:extLst>
          </p:cNvPr>
          <p:cNvSpPr>
            <a:spLocks noGrp="1"/>
          </p:cNvSpPr>
          <p:nvPr/>
        </p:nvSpPr>
        <p:spPr>
          <a:xfrm>
            <a:off x="457200" y="1981200"/>
            <a:ext cx="11239500" cy="85725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sz="2325" b="0">
                <a:solidFill>
                  <a:srgbClr val="111111"/>
                </a:solidFill>
                <a:latin typeface="Aptos"/>
                <a:ea typeface="Aptos"/>
                <a:cs typeface="Aptos"/>
              </a:rPr>
              <a:t>An alternative selects four classes randomly from all 84,</a:t>
            </a:r>
          </a:p>
          <a:p>
            <a:pPr algn="l">
              <a:defRPr sz="2325" b="0">
                <a:solidFill>
                  <a:srgbClr val="111111"/>
                </a:solidFill>
                <a:latin typeface="Aptos"/>
                <a:ea typeface="Aptos"/>
                <a:cs typeface="Aptos"/>
              </a:defRPr>
            </a:pPr>
            <a:r>
              <a:rPr sz="2325" b="0">
                <a:solidFill>
                  <a:srgbClr val="111111"/>
                </a:solidFill>
                <a:latin typeface="Aptos"/>
                <a:ea typeface="Aptos"/>
                <a:cs typeface="Aptos"/>
              </a:rPr>
              <a:t>then invites every student in those classes.</a:t>
            </a:r>
          </a:p>
        </p:txBody>
      </p:sp>
      <p:graphicFrame>
        <p:nvGraphicFramePr>
          <p:cNvPr id="17" name="Table 16"/>
          <p:cNvGraphicFramePr/>
          <p:nvPr/>
        </p:nvGraphicFramePr>
        <p:xfrm>
          <a:off x="457200" y="3038475"/>
          <a:ext cx="11239500" cy="1571625"/>
        </p:xfrm>
        <a:graphic>
          <a:graphicData uri="http://schemas.openxmlformats.org/drawingml/2006/table">
            <a:tbl>
              <a:tblPr firstRow="1"/>
              <a:tblGrid>
                <a:gridCol w="4953000">
                  <a:extLst>
                    <a:ext uri="{9D8B030D-6E8A-4147-A177-3AD203B41FA5}">
                      <a16:colId xmlns:a16="http://schemas.microsoft.com/office/drawing/2014/main" val="20000"/>
                    </a:ext>
                  </a:extLst>
                </a:gridCol>
                <a:gridCol w="3143250">
                  <a:extLst>
                    <a:ext uri="{9D8B030D-6E8A-4147-A177-3AD203B41FA5}">
                      <a16:colId xmlns:a16="http://schemas.microsoft.com/office/drawing/2014/main" val="20001"/>
                    </a:ext>
                  </a:extLst>
                </a:gridCol>
                <a:gridCol w="3143250">
                  <a:extLst>
                    <a:ext uri="{9D8B030D-6E8A-4147-A177-3AD203B41FA5}">
                      <a16:colId xmlns:a16="http://schemas.microsoft.com/office/drawing/2014/main" val="20002"/>
                    </a:ext>
                  </a:extLst>
                </a:gridCol>
              </a:tblGrid>
              <a:tr h="523875">
                <a:tc>
                  <a:txBody>
                    <a:bodyPr/>
                    <a:lstStyle/>
                    <a:p>
                      <a:pPr algn="l"/>
                      <a:r>
                        <a:rPr sz="2100" b="1">
                          <a:solidFill>
                            <a:srgbClr val="FFFFFF"/>
                          </a:solidFill>
                          <a:latin typeface="Aptos"/>
                          <a:ea typeface="Aptos"/>
                          <a:cs typeface="Aptos"/>
                        </a:rPr>
                        <a:t>Programme</a:t>
                      </a:r>
                    </a:p>
                  </a:txBody>
                  <a:tcPr marL="95250" marR="95250" marT="19050" marB="19050" anchor="ctr">
                    <a:solidFill>
                      <a:srgbClr val="D6171D"/>
                    </a:solidFill>
                  </a:tcPr>
                </a:tc>
                <a:tc>
                  <a:txBody>
                    <a:bodyPr/>
                    <a:lstStyle/>
                    <a:p>
                      <a:pPr algn="ctr"/>
                      <a:r>
                        <a:rPr sz="2100" b="1">
                          <a:solidFill>
                            <a:srgbClr val="FFFFFF"/>
                          </a:solidFill>
                          <a:latin typeface="Aptos"/>
                          <a:ea typeface="Aptos"/>
                          <a:cs typeface="Aptos"/>
                        </a:rPr>
                        <a:t>College</a:t>
                      </a:r>
                    </a:p>
                  </a:txBody>
                  <a:tcPr marL="95250" marR="95250" marT="19050" marB="19050" anchor="ctr">
                    <a:solidFill>
                      <a:srgbClr val="D6171D"/>
                    </a:solidFill>
                  </a:tcPr>
                </a:tc>
                <a:tc>
                  <a:txBody>
                    <a:bodyPr/>
                    <a:lstStyle/>
                    <a:p>
                      <a:pPr algn="ctr"/>
                      <a:r>
                        <a:rPr sz="2100" b="1">
                          <a:solidFill>
                            <a:srgbClr val="FFFFFF"/>
                          </a:solidFill>
                          <a:latin typeface="Aptos"/>
                          <a:ea typeface="Aptos"/>
                          <a:cs typeface="Aptos"/>
                        </a:rPr>
                        <a:t>Selected sample</a:t>
                      </a:r>
                    </a:p>
                  </a:txBody>
                  <a:tcPr marL="95250" marR="95250" marT="19050" marB="19050" anchor="ctr">
                    <a:solidFill>
                      <a:srgbClr val="D6171D"/>
                    </a:solidFill>
                  </a:tcPr>
                </a:tc>
                <a:extLst>
                  <a:ext uri="{0D108BD9-81ED-4DB2-BD59-A6C34878D82A}">
                    <a16:rowId xmlns:a16="http://schemas.microsoft.com/office/drawing/2014/main" val="10000"/>
                  </a:ext>
                </a:extLst>
              </a:tr>
              <a:tr h="523875">
                <a:tc>
                  <a:txBody>
                    <a:bodyPr/>
                    <a:lstStyle/>
                    <a:p>
                      <a:pPr algn="l"/>
                      <a:r>
                        <a:rPr sz="2100" b="0">
                          <a:solidFill>
                            <a:srgbClr val="111111"/>
                          </a:solidFill>
                          <a:latin typeface="Aptos"/>
                          <a:ea typeface="Aptos"/>
                          <a:cs typeface="Aptos"/>
                        </a:rPr>
                        <a:t>Business</a:t>
                      </a:r>
                    </a:p>
                  </a:txBody>
                  <a:tcPr marL="95250" marR="95250" marT="19050" marB="19050" anchor="ctr">
                    <a:solidFill>
                      <a:srgbClr val="FFFFFF"/>
                    </a:solidFill>
                  </a:tcPr>
                </a:tc>
                <a:tc>
                  <a:txBody>
                    <a:bodyPr/>
                    <a:lstStyle/>
                    <a:p>
                      <a:pPr algn="ctr"/>
                      <a:r>
                        <a:rPr sz="2100" b="0">
                          <a:solidFill>
                            <a:srgbClr val="111111"/>
                          </a:solidFill>
                          <a:latin typeface="Aptos"/>
                          <a:ea typeface="Aptos"/>
                          <a:cs typeface="Aptos"/>
                        </a:rPr>
                        <a:t>2,173</a:t>
                      </a:r>
                    </a:p>
                  </a:txBody>
                  <a:tcPr marL="95250" marR="95250" marT="19050" marB="19050" anchor="ctr">
                    <a:solidFill>
                      <a:srgbClr val="FFFFFF"/>
                    </a:solidFill>
                  </a:tcPr>
                </a:tc>
                <a:tc>
                  <a:txBody>
                    <a:bodyPr/>
                    <a:lstStyle/>
                    <a:p>
                      <a:pPr algn="ctr"/>
                      <a:r>
                        <a:rPr sz="2100" b="0">
                          <a:solidFill>
                            <a:srgbClr val="111111"/>
                          </a:solidFill>
                          <a:latin typeface="Aptos"/>
                          <a:ea typeface="Aptos"/>
                          <a:cs typeface="Aptos"/>
                        </a:rPr>
                        <a:t>147</a:t>
                      </a:r>
                    </a:p>
                  </a:txBody>
                  <a:tcPr marL="95250" marR="95250" marT="19050" marB="19050" anchor="ctr">
                    <a:solidFill>
                      <a:srgbClr val="FFFFFF"/>
                    </a:solidFill>
                  </a:tcPr>
                </a:tc>
                <a:extLst>
                  <a:ext uri="{0D108BD9-81ED-4DB2-BD59-A6C34878D82A}">
                    <a16:rowId xmlns:a16="http://schemas.microsoft.com/office/drawing/2014/main" val="10001"/>
                  </a:ext>
                </a:extLst>
              </a:tr>
              <a:tr h="523875">
                <a:tc>
                  <a:txBody>
                    <a:bodyPr/>
                    <a:lstStyle/>
                    <a:p>
                      <a:pPr algn="l"/>
                      <a:r>
                        <a:rPr sz="2100" b="0">
                          <a:solidFill>
                            <a:srgbClr val="111111"/>
                          </a:solidFill>
                          <a:latin typeface="Aptos"/>
                          <a:ea typeface="Aptos"/>
                          <a:cs typeface="Aptos"/>
                        </a:rPr>
                        <a:t>Engineering</a:t>
                      </a:r>
                    </a:p>
                  </a:txBody>
                  <a:tcPr marL="95250" marR="95250" marT="19050" marB="19050" anchor="ctr">
                    <a:solidFill>
                      <a:srgbClr val="EFF8FF"/>
                    </a:solidFill>
                  </a:tcPr>
                </a:tc>
                <a:tc>
                  <a:txBody>
                    <a:bodyPr/>
                    <a:lstStyle/>
                    <a:p>
                      <a:pPr algn="ctr"/>
                      <a:r>
                        <a:rPr sz="2100" b="0">
                          <a:solidFill>
                            <a:srgbClr val="111111"/>
                          </a:solidFill>
                          <a:latin typeface="Aptos"/>
                          <a:ea typeface="Aptos"/>
                          <a:cs typeface="Aptos"/>
                        </a:rPr>
                        <a:t>1,523</a:t>
                      </a:r>
                    </a:p>
                  </a:txBody>
                  <a:tcPr marL="95250" marR="95250" marT="19050" marB="19050" anchor="ctr">
                    <a:solidFill>
                      <a:srgbClr val="EFF8FF"/>
                    </a:solidFill>
                  </a:tcPr>
                </a:tc>
                <a:tc>
                  <a:txBody>
                    <a:bodyPr/>
                    <a:lstStyle/>
                    <a:p>
                      <a:pPr algn="ctr"/>
                      <a:r>
                        <a:rPr sz="2100" b="0">
                          <a:solidFill>
                            <a:srgbClr val="111111"/>
                          </a:solidFill>
                          <a:latin typeface="Aptos"/>
                          <a:ea typeface="Aptos"/>
                          <a:cs typeface="Aptos"/>
                        </a:rPr>
                        <a:t>29</a:t>
                      </a:r>
                    </a:p>
                  </a:txBody>
                  <a:tcPr marL="95250" marR="95250" marT="19050" marB="19050" anchor="ctr">
                    <a:solidFill>
                      <a:srgbClr val="EFF8FF"/>
                    </a:solidFill>
                  </a:tcPr>
                </a:tc>
                <a:extLst>
                  <a:ext uri="{0D108BD9-81ED-4DB2-BD59-A6C34878D82A}">
                    <a16:rowId xmlns:a16="http://schemas.microsoft.com/office/drawing/2014/main" val="10002"/>
                  </a:ext>
                </a:extLst>
              </a:tr>
            </a:tbl>
          </a:graphicData>
        </a:graphic>
      </p:graphicFrame>
      <p:sp>
        <p:nvSpPr>
          <p:cNvPr id="6" name="s18-text-5">
            <a:extLst>
              <a:ext uri="{FF2B5EF4-FFF2-40B4-BE49-F238E27FC236}">
                <a16:creationId xmlns:a16="http://schemas.microsoft.com/office/drawing/2014/main" id="{5037824F-8C74-48F2-859D-7C1B49F56D15}"/>
              </a:ext>
            </a:extLst>
          </p:cNvPr>
          <p:cNvSpPr>
            <a:spLocks noGrp="1"/>
          </p:cNvSpPr>
          <p:nvPr/>
        </p:nvSpPr>
        <p:spPr>
          <a:xfrm>
            <a:off x="457200" y="4857750"/>
            <a:ext cx="11239500" cy="647700"/>
          </a:xfrm>
          <a:prstGeom prst="rect">
            <a:avLst/>
          </a:prstGeom>
          <a:noFill/>
          <a:ln w="0">
            <a:noFill/>
          </a:ln>
        </p:spPr>
        <p:txBody>
          <a:bodyPr wrap="square" lIns="0" tIns="0" rIns="0" bIns="0" anchor="t">
            <a:noAutofit/>
          </a:bodyPr>
          <a:lstStyle/>
          <a:p>
            <a:pPr algn="l">
              <a:defRPr sz="2175" b="0">
                <a:solidFill>
                  <a:srgbClr val="111111"/>
                </a:solidFill>
                <a:latin typeface="Aptos"/>
                <a:ea typeface="Aptos"/>
                <a:cs typeface="Aptos"/>
              </a:defRPr>
            </a:pPr>
            <a:r>
              <a:rPr sz="2175" b="0">
                <a:solidFill>
                  <a:srgbClr val="111111"/>
                </a:solidFill>
                <a:latin typeface="Aptos"/>
                <a:ea typeface="Aptos"/>
                <a:cs typeface="Aptos"/>
              </a:rPr>
              <a:t>a) Compare Engineering’s percentage in the college and sample.</a:t>
            </a:r>
          </a:p>
        </p:txBody>
      </p:sp>
      <p:sp>
        <p:nvSpPr>
          <p:cNvPr id="7" name="s18-text-6">
            <a:extLst>
              <a:ext uri="{FF2B5EF4-FFF2-40B4-BE49-F238E27FC236}">
                <a16:creationId xmlns:a16="http://schemas.microsoft.com/office/drawing/2014/main" id="{C9292BAF-768E-4336-9EAD-FC1888012A2F}"/>
              </a:ext>
            </a:extLst>
          </p:cNvPr>
          <p:cNvSpPr>
            <a:spLocks noGrp="1"/>
          </p:cNvSpPr>
          <p:nvPr/>
        </p:nvSpPr>
        <p:spPr>
          <a:xfrm>
            <a:off x="457200" y="5400675"/>
            <a:ext cx="11239500" cy="457200"/>
          </a:xfrm>
          <a:prstGeom prst="rect">
            <a:avLst/>
          </a:prstGeom>
          <a:noFill/>
          <a:ln w="0">
            <a:noFill/>
          </a:ln>
        </p:spPr>
        <p:txBody>
          <a:bodyPr wrap="square" lIns="0" tIns="0" rIns="0" bIns="0" anchor="t">
            <a:noAutofit/>
          </a:bodyPr>
          <a:lstStyle/>
          <a:p>
            <a:pPr algn="l">
              <a:defRPr sz="2175" b="0">
                <a:solidFill>
                  <a:srgbClr val="111111"/>
                </a:solidFill>
                <a:latin typeface="Aptos"/>
                <a:ea typeface="Aptos"/>
                <a:cs typeface="Aptos"/>
              </a:defRPr>
            </a:pPr>
            <a:r>
              <a:rPr sz="2175" b="0">
                <a:solidFill>
                  <a:srgbClr val="111111"/>
                </a:solidFill>
                <a:latin typeface="Aptos"/>
                <a:ea typeface="Aptos"/>
                <a:cs typeface="Aptos"/>
              </a:rPr>
              <a:t>b) Which plan best supports separate programme findings next time?</a:t>
            </a:r>
          </a:p>
        </p:txBody>
      </p:sp>
      <p:sp>
        <p:nvSpPr>
          <p:cNvPr id="8" name="s18-rect-7">
            <a:extLst>
              <a:ext uri="{FF2B5EF4-FFF2-40B4-BE49-F238E27FC236}">
                <a16:creationId xmlns:a16="http://schemas.microsoft.com/office/drawing/2014/main" id="{F80739C0-5949-40F5-BFED-7C390700916D}"/>
              </a:ext>
            </a:extLst>
          </p:cNvPr>
          <p:cNvSpPr>
            <a:spLocks noGrp="1"/>
          </p:cNvSpPr>
          <p:nvPr/>
        </p:nvSpPr>
        <p:spPr>
          <a:xfrm>
            <a:off x="428625" y="5905500"/>
            <a:ext cx="2762250" cy="400050"/>
          </a:xfrm>
          <a:prstGeom prst="rect">
            <a:avLst/>
          </a:prstGeom>
          <a:solidFill>
            <a:srgbClr val="D6171D"/>
          </a:solidFill>
          <a:ln w="0">
            <a:noFill/>
          </a:ln>
        </p:spPr>
        <p:txBody>
          <a:bodyPr/>
          <a:lstStyle/>
          <a:p>
            <a:endParaRPr lang="en-US"/>
          </a:p>
        </p:txBody>
      </p:sp>
      <p:sp>
        <p:nvSpPr>
          <p:cNvPr id="9" name="s18-text-8">
            <a:extLst>
              <a:ext uri="{FF2B5EF4-FFF2-40B4-BE49-F238E27FC236}">
                <a16:creationId xmlns:a16="http://schemas.microsoft.com/office/drawing/2014/main" id="{4C3180B8-7185-43C8-AEAA-E26FB649B1F1}"/>
              </a:ext>
            </a:extLst>
          </p:cNvPr>
          <p:cNvSpPr>
            <a:spLocks noGrp="1"/>
          </p:cNvSpPr>
          <p:nvPr/>
        </p:nvSpPr>
        <p:spPr>
          <a:xfrm>
            <a:off x="523875" y="5962650"/>
            <a:ext cx="2571750" cy="323850"/>
          </a:xfrm>
          <a:prstGeom prst="rect">
            <a:avLst/>
          </a:prstGeom>
          <a:noFill/>
          <a:ln w="0">
            <a:noFill/>
          </a:ln>
        </p:spPr>
        <p:txBody>
          <a:bodyPr wrap="square" lIns="0" tIns="0" rIns="0" bIns="0" anchor="t">
            <a:noAutofit/>
          </a:bodyPr>
          <a:lstStyle/>
          <a:p>
            <a:pPr algn="ctr">
              <a:defRPr sz="1800" b="1">
                <a:solidFill>
                  <a:srgbClr val="FFFFFF"/>
                </a:solidFill>
                <a:latin typeface="Aptos"/>
                <a:ea typeface="Aptos"/>
                <a:cs typeface="Aptos"/>
              </a:defRPr>
            </a:pPr>
            <a:r>
              <a:rPr sz="1800" b="1">
                <a:solidFill>
                  <a:srgbClr val="FFFFFF"/>
                </a:solidFill>
                <a:latin typeface="Aptos"/>
                <a:ea typeface="Aptos"/>
                <a:cs typeface="Aptos"/>
              </a:rPr>
              <a:t>DISCUSS   3 MIN</a:t>
            </a:r>
          </a:p>
        </p:txBody>
      </p:sp>
      <p:sp>
        <p:nvSpPr>
          <p:cNvPr id="10" name="s18-text-9">
            <a:extLst>
              <a:ext uri="{FF2B5EF4-FFF2-40B4-BE49-F238E27FC236}">
                <a16:creationId xmlns:a16="http://schemas.microsoft.com/office/drawing/2014/main" id="{05ED6F9C-7009-49FA-BD5C-E0177351D8DA}"/>
              </a:ext>
            </a:extLst>
          </p:cNvPr>
          <p:cNvSpPr>
            <a:spLocks noGrp="1"/>
          </p:cNvSpPr>
          <p:nvPr/>
        </p:nvSpPr>
        <p:spPr>
          <a:xfrm>
            <a:off x="3381375" y="5915025"/>
            <a:ext cx="8286750" cy="457200"/>
          </a:xfrm>
          <a:prstGeom prst="rect">
            <a:avLst/>
          </a:prstGeom>
          <a:noFill/>
          <a:ln w="0">
            <a:noFill/>
          </a:ln>
        </p:spPr>
        <p:txBody>
          <a:bodyPr wrap="square" lIns="0" tIns="0" rIns="0" bIns="0" anchor="t">
            <a:noAutofit/>
          </a:bodyPr>
          <a:lstStyle/>
          <a:p>
            <a:pPr algn="l">
              <a:defRPr sz="2100" b="1">
                <a:solidFill>
                  <a:srgbClr val="111111"/>
                </a:solidFill>
                <a:latin typeface="Aptos"/>
                <a:ea typeface="Aptos"/>
                <a:cs typeface="Aptos"/>
              </a:defRPr>
            </a:pPr>
            <a:r>
              <a:rPr sz="2100" b="1">
                <a:solidFill>
                  <a:srgbClr val="111111"/>
                </a:solidFill>
                <a:latin typeface="Aptos"/>
                <a:ea typeface="Aptos"/>
                <a:cs typeface="Aptos"/>
              </a:rPr>
              <a:t>Does this outcome prove a biased selection procedure?</a:t>
            </a:r>
          </a:p>
        </p:txBody>
      </p:sp>
      <p:sp>
        <p:nvSpPr>
          <p:cNvPr id="11" name="s18-text-10">
            <a:extLst>
              <a:ext uri="{FF2B5EF4-FFF2-40B4-BE49-F238E27FC236}">
                <a16:creationId xmlns:a16="http://schemas.microsoft.com/office/drawing/2014/main" id="{9F784E91-3FF6-4D89-BBBC-3CFAD14E61F3}"/>
              </a:ext>
            </a:extLst>
          </p:cNvPr>
          <p:cNvSpPr>
            <a:spLocks noGrp="1"/>
          </p:cNvSpPr>
          <p:nvPr/>
        </p:nvSpPr>
        <p:spPr>
          <a:xfrm>
            <a:off x="457200" y="6477000"/>
            <a:ext cx="10763250" cy="238125"/>
          </a:xfrm>
          <a:prstGeom prst="rect">
            <a:avLst/>
          </a:prstGeom>
          <a:noFill/>
          <a:ln w="0">
            <a:noFill/>
          </a:ln>
        </p:spPr>
        <p:txBody>
          <a:bodyPr wrap="square" lIns="0" tIns="0" rIns="0" bIns="0" anchor="t">
            <a:noAutofit/>
          </a:bodyPr>
          <a:lstStyle/>
          <a:p>
            <a:endParaRPr/>
          </a:p>
        </p:txBody>
      </p:sp>
      <p:sp>
        <p:nvSpPr>
          <p:cNvPr id="12" name="s18-text-11">
            <a:extLst>
              <a:ext uri="{FF2B5EF4-FFF2-40B4-BE49-F238E27FC236}">
                <a16:creationId xmlns:a16="http://schemas.microsoft.com/office/drawing/2014/main" id="{92F83A3B-47DA-4223-9C7F-FBD39DD11B2E}"/>
              </a:ext>
            </a:extLst>
          </p:cNvPr>
          <p:cNvSpPr>
            <a:spLocks noGrp="1"/>
          </p:cNvSpPr>
          <p:nvPr/>
        </p:nvSpPr>
        <p:spPr>
          <a:xfrm>
            <a:off x="11239500" y="6477000"/>
            <a:ext cx="476250" cy="238125"/>
          </a:xfrm>
          <a:prstGeom prst="rect">
            <a:avLst/>
          </a:prstGeom>
          <a:noFill/>
          <a:ln w="0">
            <a:noFill/>
          </a:ln>
        </p:spPr>
        <p:txBody>
          <a:bodyPr wrap="square" lIns="0" tIns="0" rIns="0" bIns="0" anchor="t">
            <a:noAutofit/>
          </a:bodyPr>
          <a:lstStyle/>
          <a:p>
            <a:pPr algn="r">
              <a:defRPr sz="1275" b="0">
                <a:solidFill>
                  <a:srgbClr val="666666"/>
                </a:solidFill>
                <a:latin typeface="Aptos"/>
                <a:ea typeface="Aptos"/>
                <a:cs typeface="Aptos"/>
              </a:defRPr>
            </a:pPr>
            <a:r>
              <a:rPr sz="1275" b="0">
                <a:solidFill>
                  <a:srgbClr val="666666"/>
                </a:solidFill>
                <a:latin typeface="Aptos"/>
                <a:ea typeface="Aptos"/>
                <a:cs typeface="Aptos"/>
              </a:rPr>
              <a:t>18</a:t>
            </a:r>
          </a:p>
        </p:txBody>
      </p:sp>
    </p:spTree>
    <p:extLst>
      <p:ext uri="{BB962C8B-B14F-4D97-AF65-F5344CB8AC3E}">
        <p14:creationId xmlns:p14="http://schemas.microsoft.com/office/powerpoint/2010/main" val="32813612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9-text-1">
            <a:extLst>
              <a:ext uri="{FF2B5EF4-FFF2-40B4-BE49-F238E27FC236}">
                <a16:creationId xmlns:a16="http://schemas.microsoft.com/office/drawing/2014/main" id="{59381325-8C02-4031-BA11-A0AC3D2FB8F0}"/>
              </a:ext>
            </a:extLst>
          </p:cNvPr>
          <p:cNvSpPr>
            <a:spLocks noGrp="1"/>
          </p:cNvSpPr>
          <p:nvPr/>
        </p:nvSpPr>
        <p:spPr>
          <a:xfrm>
            <a:off x="430816" y="1038225"/>
            <a:ext cx="11293412" cy="78105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What the imbalance establishes</a:t>
            </a:r>
          </a:p>
        </p:txBody>
      </p:sp>
      <p:sp>
        <p:nvSpPr>
          <p:cNvPr id="2" name="s19-rect-2">
            <a:extLst>
              <a:ext uri="{FF2B5EF4-FFF2-40B4-BE49-F238E27FC236}">
                <a16:creationId xmlns:a16="http://schemas.microsoft.com/office/drawing/2014/main" id="{39B131C5-8CAA-4FDD-B052-BCE2122A3A50}"/>
              </a:ext>
            </a:extLst>
          </p:cNvPr>
          <p:cNvSpPr>
            <a:spLocks noGrp="1"/>
          </p:cNvSpPr>
          <p:nvPr/>
        </p:nvSpPr>
        <p:spPr>
          <a:xfrm>
            <a:off x="8734425" y="476250"/>
            <a:ext cx="3000375" cy="400050"/>
          </a:xfrm>
          <a:prstGeom prst="rect">
            <a:avLst/>
          </a:prstGeom>
          <a:solidFill>
            <a:srgbClr val="D6171D"/>
          </a:solidFill>
          <a:ln w="0">
            <a:noFill/>
          </a:ln>
        </p:spPr>
        <p:txBody>
          <a:bodyPr/>
          <a:lstStyle/>
          <a:p>
            <a:endParaRPr lang="en-US"/>
          </a:p>
        </p:txBody>
      </p:sp>
      <p:sp>
        <p:nvSpPr>
          <p:cNvPr id="3" name="s19-text-3">
            <a:extLst>
              <a:ext uri="{FF2B5EF4-FFF2-40B4-BE49-F238E27FC236}">
                <a16:creationId xmlns:a16="http://schemas.microsoft.com/office/drawing/2014/main" id="{165AABDB-FEE7-4DDA-AF24-7A80E811559B}"/>
              </a:ext>
            </a:extLst>
          </p:cNvPr>
          <p:cNvSpPr>
            <a:spLocks noGrp="1"/>
          </p:cNvSpPr>
          <p:nvPr/>
        </p:nvSpPr>
        <p:spPr>
          <a:xfrm>
            <a:off x="8829675" y="533400"/>
            <a:ext cx="2809875" cy="323850"/>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C3.4</a:t>
            </a:r>
          </a:p>
        </p:txBody>
      </p:sp>
      <p:graphicFrame>
        <p:nvGraphicFramePr>
          <p:cNvPr id="13" name="Chart"/>
          <p:cNvGraphicFramePr/>
          <p:nvPr/>
        </p:nvGraphicFramePr>
        <p:xfrm>
          <a:off x="457200" y="2095500"/>
          <a:ext cx="6096000" cy="2800350"/>
        </p:xfrm>
        <a:graphic>
          <a:graphicData uri="http://schemas.openxmlformats.org/drawingml/2006/chart">
            <c:chart xmlns:c="http://schemas.openxmlformats.org/drawingml/2006/chart" xmlns:r="http://schemas.openxmlformats.org/officeDocument/2006/relationships" r:id="rId3"/>
          </a:graphicData>
        </a:graphic>
      </p:graphicFrame>
      <p:sp>
        <p:nvSpPr>
          <p:cNvPr id="5" name="s19-text-4">
            <a:extLst>
              <a:ext uri="{FF2B5EF4-FFF2-40B4-BE49-F238E27FC236}">
                <a16:creationId xmlns:a16="http://schemas.microsoft.com/office/drawing/2014/main" id="{FDE49CCF-855F-49B5-8A64-8F63EB3A5916}"/>
              </a:ext>
            </a:extLst>
          </p:cNvPr>
          <p:cNvSpPr>
            <a:spLocks noGrp="1"/>
          </p:cNvSpPr>
          <p:nvPr/>
        </p:nvSpPr>
        <p:spPr>
          <a:xfrm>
            <a:off x="7191375" y="2114550"/>
            <a:ext cx="4400550" cy="1133475"/>
          </a:xfrm>
          <a:prstGeom prst="rect">
            <a:avLst/>
          </a:prstGeom>
          <a:noFill/>
          <a:ln w="0">
            <a:noFill/>
          </a:ln>
        </p:spPr>
        <p:txBody>
          <a:bodyPr wrap="square" lIns="0" tIns="0" rIns="0" bIns="0" anchor="t">
            <a:noAutofit/>
          </a:bodyPr>
          <a:lstStyle/>
          <a:p>
            <a:pPr algn="l">
              <a:defRPr sz="2400" b="1">
                <a:solidFill>
                  <a:srgbClr val="111111"/>
                </a:solidFill>
                <a:latin typeface="Aptos"/>
                <a:ea typeface="Aptos"/>
                <a:cs typeface="Aptos"/>
              </a:defRPr>
            </a:pPr>
            <a:r>
              <a:rPr sz="2400" b="1">
                <a:solidFill>
                  <a:srgbClr val="111111"/>
                </a:solidFill>
                <a:latin typeface="Aptos"/>
                <a:ea typeface="Aptos"/>
                <a:cs typeface="Aptos"/>
              </a:rPr>
              <a:t>Engineering is underrepresented</a:t>
            </a:r>
          </a:p>
          <a:p>
            <a:pPr algn="l">
              <a:defRPr sz="2400" b="1">
                <a:solidFill>
                  <a:srgbClr val="111111"/>
                </a:solidFill>
                <a:latin typeface="Aptos"/>
                <a:ea typeface="Aptos"/>
                <a:cs typeface="Aptos"/>
              </a:defRPr>
            </a:pPr>
            <a:r>
              <a:rPr sz="2400" b="1">
                <a:solidFill>
                  <a:srgbClr val="111111"/>
                </a:solidFill>
                <a:latin typeface="Aptos"/>
                <a:ea typeface="Aptos"/>
                <a:cs typeface="Aptos"/>
              </a:rPr>
              <a:t>in this particular draw.</a:t>
            </a:r>
          </a:p>
        </p:txBody>
      </p:sp>
      <p:sp>
        <p:nvSpPr>
          <p:cNvPr id="6" name="s19-text-5">
            <a:extLst>
              <a:ext uri="{FF2B5EF4-FFF2-40B4-BE49-F238E27FC236}">
                <a16:creationId xmlns:a16="http://schemas.microsoft.com/office/drawing/2014/main" id="{E688A711-ED41-4E4C-B530-D9877D4DF4CA}"/>
              </a:ext>
            </a:extLst>
          </p:cNvPr>
          <p:cNvSpPr>
            <a:spLocks noGrp="1"/>
          </p:cNvSpPr>
          <p:nvPr/>
        </p:nvSpPr>
        <p:spPr>
          <a:xfrm>
            <a:off x="7191375" y="3619500"/>
            <a:ext cx="4400550" cy="1438275"/>
          </a:xfrm>
          <a:prstGeom prst="rect">
            <a:avLst/>
          </a:prstGeom>
          <a:noFill/>
          <a:ln w="0">
            <a:noFill/>
          </a:ln>
        </p:spPr>
        <p:txBody>
          <a:bodyPr wrap="square" lIns="0" tIns="0" rIns="0" bIns="0" anchor="t">
            <a:noAutofit/>
          </a:bodyPr>
          <a:lstStyle/>
          <a:p>
            <a:pPr algn="l">
              <a:defRPr sz="2175" b="0">
                <a:solidFill>
                  <a:srgbClr val="111111"/>
                </a:solidFill>
                <a:latin typeface="Aptos"/>
                <a:ea typeface="Aptos"/>
                <a:cs typeface="Aptos"/>
              </a:defRPr>
            </a:pPr>
            <a:r>
              <a:rPr sz="2175" b="0">
                <a:solidFill>
                  <a:srgbClr val="111111"/>
                </a:solidFill>
                <a:latin typeface="Aptos"/>
                <a:ea typeface="Aptos"/>
                <a:cs typeface="Aptos"/>
              </a:rPr>
              <a:t>Randomly selecting whole classes</a:t>
            </a:r>
          </a:p>
          <a:p>
            <a:pPr algn="l">
              <a:defRPr sz="2175" b="0">
                <a:solidFill>
                  <a:srgbClr val="111111"/>
                </a:solidFill>
                <a:latin typeface="Aptos"/>
                <a:ea typeface="Aptos"/>
                <a:cs typeface="Aptos"/>
              </a:defRPr>
            </a:pPr>
            <a:r>
              <a:rPr sz="2175" b="0">
                <a:solidFill>
                  <a:srgbClr val="111111"/>
                </a:solidFill>
                <a:latin typeface="Aptos"/>
                <a:ea typeface="Aptos"/>
                <a:cs typeface="Aptos"/>
              </a:rPr>
              <a:t>can produce imbalanced samples.</a:t>
            </a:r>
          </a:p>
          <a:p>
            <a:pPr algn="l">
              <a:defRPr sz="2175" b="0">
                <a:solidFill>
                  <a:srgbClr val="111111"/>
                </a:solidFill>
                <a:latin typeface="Aptos"/>
                <a:ea typeface="Aptos"/>
                <a:cs typeface="Aptos"/>
              </a:defRPr>
            </a:pPr>
            <a:r>
              <a:rPr sz="2175" b="0">
                <a:solidFill>
                  <a:srgbClr val="111111"/>
                </a:solidFill>
                <a:latin typeface="Aptos"/>
                <a:ea typeface="Aptos"/>
                <a:cs typeface="Aptos"/>
              </a:rPr>
              <a:t>This one result does not prove bias.</a:t>
            </a:r>
          </a:p>
        </p:txBody>
      </p:sp>
      <p:sp>
        <p:nvSpPr>
          <p:cNvPr id="7" name="s19-text-6">
            <a:extLst>
              <a:ext uri="{FF2B5EF4-FFF2-40B4-BE49-F238E27FC236}">
                <a16:creationId xmlns:a16="http://schemas.microsoft.com/office/drawing/2014/main" id="{6E1DD88B-7A32-4D71-8A5F-FEC6CCE13DF9}"/>
              </a:ext>
            </a:extLst>
          </p:cNvPr>
          <p:cNvSpPr>
            <a:spLocks noGrp="1"/>
          </p:cNvSpPr>
          <p:nvPr/>
        </p:nvSpPr>
        <p:spPr>
          <a:xfrm>
            <a:off x="457200" y="5391150"/>
            <a:ext cx="11239500" cy="895350"/>
          </a:xfrm>
          <a:prstGeom prst="rect">
            <a:avLst/>
          </a:prstGeom>
          <a:noFill/>
          <a:ln w="0">
            <a:noFill/>
          </a:ln>
        </p:spPr>
        <p:txBody>
          <a:bodyPr wrap="square" lIns="0" tIns="0" rIns="0" bIns="0" anchor="t">
            <a:noAutofit/>
          </a:bodyPr>
          <a:lstStyle/>
          <a:p>
            <a:pPr algn="l">
              <a:defRPr sz="2250" b="1">
                <a:solidFill>
                  <a:srgbClr val="111111"/>
                </a:solidFill>
                <a:latin typeface="Aptos"/>
                <a:ea typeface="Aptos"/>
                <a:cs typeface="Aptos"/>
              </a:defRPr>
            </a:pPr>
            <a:r>
              <a:rPr sz="2250" b="1">
                <a:solidFill>
                  <a:srgbClr val="111111"/>
                </a:solidFill>
                <a:latin typeface="Aptos"/>
                <a:ea typeface="Aptos"/>
                <a:cs typeface="Aptos"/>
              </a:rPr>
              <a:t>For the next collection, invite 103 Business and 73 Engineering students,</a:t>
            </a:r>
          </a:p>
          <a:p>
            <a:pPr algn="l">
              <a:defRPr sz="2250" b="1">
                <a:solidFill>
                  <a:srgbClr val="111111"/>
                </a:solidFill>
                <a:latin typeface="Aptos"/>
                <a:ea typeface="Aptos"/>
                <a:cs typeface="Aptos"/>
              </a:defRPr>
            </a:pPr>
            <a:r>
              <a:rPr sz="2250" b="1">
                <a:solidFill>
                  <a:srgbClr val="111111"/>
                </a:solidFill>
                <a:latin typeface="Aptos"/>
                <a:ea typeface="Aptos"/>
                <a:cs typeface="Aptos"/>
              </a:rPr>
              <a:t>with random selection within each programme.</a:t>
            </a:r>
          </a:p>
        </p:txBody>
      </p:sp>
      <p:sp>
        <p:nvSpPr>
          <p:cNvPr id="8" name="s19-text-7">
            <a:extLst>
              <a:ext uri="{FF2B5EF4-FFF2-40B4-BE49-F238E27FC236}">
                <a16:creationId xmlns:a16="http://schemas.microsoft.com/office/drawing/2014/main" id="{2EE364E8-29BA-499F-9D10-8A9E7AD10AC8}"/>
              </a:ext>
            </a:extLst>
          </p:cNvPr>
          <p:cNvSpPr>
            <a:spLocks noGrp="1"/>
          </p:cNvSpPr>
          <p:nvPr/>
        </p:nvSpPr>
        <p:spPr>
          <a:xfrm>
            <a:off x="457200" y="6477000"/>
            <a:ext cx="10763250" cy="238125"/>
          </a:xfrm>
          <a:prstGeom prst="rect">
            <a:avLst/>
          </a:prstGeom>
          <a:noFill/>
          <a:ln w="0">
            <a:noFill/>
          </a:ln>
        </p:spPr>
        <p:txBody>
          <a:bodyPr wrap="square" lIns="0" tIns="0" rIns="0" bIns="0" anchor="t">
            <a:noAutofit/>
          </a:bodyPr>
          <a:lstStyle/>
          <a:p>
            <a:endParaRPr/>
          </a:p>
        </p:txBody>
      </p:sp>
      <p:sp>
        <p:nvSpPr>
          <p:cNvPr id="9" name="s19-text-8">
            <a:extLst>
              <a:ext uri="{FF2B5EF4-FFF2-40B4-BE49-F238E27FC236}">
                <a16:creationId xmlns:a16="http://schemas.microsoft.com/office/drawing/2014/main" id="{79A951D3-F5F1-4901-846A-1870DA170DCB}"/>
              </a:ext>
            </a:extLst>
          </p:cNvPr>
          <p:cNvSpPr>
            <a:spLocks noGrp="1"/>
          </p:cNvSpPr>
          <p:nvPr/>
        </p:nvSpPr>
        <p:spPr>
          <a:xfrm>
            <a:off x="11239500" y="6477000"/>
            <a:ext cx="476250" cy="238125"/>
          </a:xfrm>
          <a:prstGeom prst="rect">
            <a:avLst/>
          </a:prstGeom>
          <a:noFill/>
          <a:ln w="0">
            <a:noFill/>
          </a:ln>
        </p:spPr>
        <p:txBody>
          <a:bodyPr wrap="square" lIns="0" tIns="0" rIns="0" bIns="0" anchor="t">
            <a:noAutofit/>
          </a:bodyPr>
          <a:lstStyle/>
          <a:p>
            <a:pPr algn="r">
              <a:defRPr sz="1275" b="0">
                <a:solidFill>
                  <a:srgbClr val="666666"/>
                </a:solidFill>
                <a:latin typeface="Aptos"/>
                <a:ea typeface="Aptos"/>
                <a:cs typeface="Aptos"/>
              </a:defRPr>
            </a:pPr>
            <a:r>
              <a:rPr sz="1275" b="0">
                <a:solidFill>
                  <a:srgbClr val="666666"/>
                </a:solidFill>
                <a:latin typeface="Aptos"/>
                <a:ea typeface="Aptos"/>
                <a:cs typeface="Aptos"/>
              </a:rPr>
              <a:t>19</a:t>
            </a:r>
          </a:p>
        </p:txBody>
      </p:sp>
    </p:spTree>
    <p:extLst>
      <p:ext uri="{BB962C8B-B14F-4D97-AF65-F5344CB8AC3E}">
        <p14:creationId xmlns:p14="http://schemas.microsoft.com/office/powerpoint/2010/main" val="32813612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20-text-1">
            <a:extLst>
              <a:ext uri="{FF2B5EF4-FFF2-40B4-BE49-F238E27FC236}">
                <a16:creationId xmlns:a16="http://schemas.microsoft.com/office/drawing/2014/main" id="{B7F5C246-2EC1-4826-B9C2-60C503187EC1}"/>
              </a:ext>
            </a:extLst>
          </p:cNvPr>
          <p:cNvSpPr>
            <a:spLocks noGrp="1"/>
          </p:cNvSpPr>
          <p:nvPr/>
        </p:nvSpPr>
        <p:spPr>
          <a:xfrm>
            <a:off x="430816" y="1038225"/>
            <a:ext cx="11293412" cy="78105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Who replied to the repaired survey?</a:t>
            </a:r>
          </a:p>
        </p:txBody>
      </p:sp>
      <p:sp>
        <p:nvSpPr>
          <p:cNvPr id="2" name="s20-rect-2">
            <a:extLst>
              <a:ext uri="{FF2B5EF4-FFF2-40B4-BE49-F238E27FC236}">
                <a16:creationId xmlns:a16="http://schemas.microsoft.com/office/drawing/2014/main" id="{0C04E71E-9C68-4C28-90E2-16843A215F51}"/>
              </a:ext>
            </a:extLst>
          </p:cNvPr>
          <p:cNvSpPr>
            <a:spLocks noGrp="1"/>
          </p:cNvSpPr>
          <p:nvPr/>
        </p:nvSpPr>
        <p:spPr>
          <a:xfrm>
            <a:off x="8734425" y="476250"/>
            <a:ext cx="3000375" cy="400050"/>
          </a:xfrm>
          <a:prstGeom prst="rect">
            <a:avLst/>
          </a:prstGeom>
          <a:solidFill>
            <a:srgbClr val="D6171D"/>
          </a:solidFill>
          <a:ln w="0">
            <a:noFill/>
          </a:ln>
        </p:spPr>
        <p:txBody>
          <a:bodyPr/>
          <a:lstStyle/>
          <a:p>
            <a:endParaRPr lang="en-US"/>
          </a:p>
        </p:txBody>
      </p:sp>
      <p:sp>
        <p:nvSpPr>
          <p:cNvPr id="3" name="s20-text-3">
            <a:extLst>
              <a:ext uri="{FF2B5EF4-FFF2-40B4-BE49-F238E27FC236}">
                <a16:creationId xmlns:a16="http://schemas.microsoft.com/office/drawing/2014/main" id="{9AE967E1-5904-4F5D-8C2F-974BF58E42F3}"/>
              </a:ext>
            </a:extLst>
          </p:cNvPr>
          <p:cNvSpPr>
            <a:spLocks noGrp="1"/>
          </p:cNvSpPr>
          <p:nvPr/>
        </p:nvSpPr>
        <p:spPr>
          <a:xfrm>
            <a:off x="8829675" y="533400"/>
            <a:ext cx="2809875" cy="323850"/>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C3.5</a:t>
            </a:r>
          </a:p>
        </p:txBody>
      </p:sp>
      <p:sp>
        <p:nvSpPr>
          <p:cNvPr id="4" name="s20-text-4">
            <a:extLst>
              <a:ext uri="{FF2B5EF4-FFF2-40B4-BE49-F238E27FC236}">
                <a16:creationId xmlns:a16="http://schemas.microsoft.com/office/drawing/2014/main" id="{9378FDB3-09A0-4B40-893C-59584215C1C7}"/>
              </a:ext>
            </a:extLst>
          </p:cNvPr>
          <p:cNvSpPr>
            <a:spLocks noGrp="1"/>
          </p:cNvSpPr>
          <p:nvPr/>
        </p:nvSpPr>
        <p:spPr>
          <a:xfrm>
            <a:off x="457200" y="1981200"/>
            <a:ext cx="11239500" cy="666750"/>
          </a:xfrm>
          <a:prstGeom prst="rect">
            <a:avLst/>
          </a:prstGeom>
          <a:noFill/>
          <a:ln w="0">
            <a:noFill/>
          </a:ln>
        </p:spPr>
        <p:txBody>
          <a:bodyPr wrap="square" lIns="0" tIns="0" rIns="0" bIns="0" anchor="t">
            <a:noAutofit/>
          </a:bodyPr>
          <a:lstStyle/>
          <a:p>
            <a:pPr algn="l">
              <a:defRPr sz="2250" b="0">
                <a:solidFill>
                  <a:srgbClr val="111111"/>
                </a:solidFill>
                <a:latin typeface="Aptos"/>
                <a:ea typeface="Aptos"/>
                <a:cs typeface="Aptos"/>
              </a:defRPr>
            </a:pPr>
            <a:r>
              <a:rPr sz="2250" b="0">
                <a:solidFill>
                  <a:srgbClr val="111111"/>
                </a:solidFill>
                <a:latin typeface="Aptos"/>
                <a:ea typeface="Aptos"/>
                <a:cs typeface="Aptos"/>
              </a:rPr>
              <a:t>The team uses the stratified plan. These questionnaires come back:</a:t>
            </a:r>
          </a:p>
        </p:txBody>
      </p:sp>
      <p:graphicFrame>
        <p:nvGraphicFramePr>
          <p:cNvPr id="16" name="Table 15"/>
          <p:cNvGraphicFramePr/>
          <p:nvPr/>
        </p:nvGraphicFramePr>
        <p:xfrm>
          <a:off x="457200" y="2809875"/>
          <a:ext cx="11239500" cy="1905000"/>
        </p:xfrm>
        <a:graphic>
          <a:graphicData uri="http://schemas.openxmlformats.org/drawingml/2006/table">
            <a:tbl>
              <a:tblPr firstRow="1"/>
              <a:tblGrid>
                <a:gridCol w="4953000">
                  <a:extLst>
                    <a:ext uri="{9D8B030D-6E8A-4147-A177-3AD203B41FA5}">
                      <a16:colId xmlns:a16="http://schemas.microsoft.com/office/drawing/2014/main" val="20000"/>
                    </a:ext>
                  </a:extLst>
                </a:gridCol>
                <a:gridCol w="3143250">
                  <a:extLst>
                    <a:ext uri="{9D8B030D-6E8A-4147-A177-3AD203B41FA5}">
                      <a16:colId xmlns:a16="http://schemas.microsoft.com/office/drawing/2014/main" val="20001"/>
                    </a:ext>
                  </a:extLst>
                </a:gridCol>
                <a:gridCol w="3143250">
                  <a:extLst>
                    <a:ext uri="{9D8B030D-6E8A-4147-A177-3AD203B41FA5}">
                      <a16:colId xmlns:a16="http://schemas.microsoft.com/office/drawing/2014/main" val="20002"/>
                    </a:ext>
                  </a:extLst>
                </a:gridCol>
              </a:tblGrid>
              <a:tr h="476250">
                <a:tc>
                  <a:txBody>
                    <a:bodyPr/>
                    <a:lstStyle/>
                    <a:p>
                      <a:pPr algn="l"/>
                      <a:r>
                        <a:rPr sz="2100" b="1">
                          <a:solidFill>
                            <a:srgbClr val="FFFFFF"/>
                          </a:solidFill>
                          <a:latin typeface="Aptos"/>
                          <a:ea typeface="Aptos"/>
                          <a:cs typeface="Aptos"/>
                        </a:rPr>
                        <a:t>Programme</a:t>
                      </a:r>
                    </a:p>
                  </a:txBody>
                  <a:tcPr marL="95250" marR="95250" marT="19050" marB="19050" anchor="ctr">
                    <a:solidFill>
                      <a:srgbClr val="D6171D"/>
                    </a:solidFill>
                  </a:tcPr>
                </a:tc>
                <a:tc>
                  <a:txBody>
                    <a:bodyPr/>
                    <a:lstStyle/>
                    <a:p>
                      <a:pPr algn="ctr"/>
                      <a:r>
                        <a:rPr sz="2100" b="1">
                          <a:solidFill>
                            <a:srgbClr val="FFFFFF"/>
                          </a:solidFill>
                          <a:latin typeface="Aptos"/>
                          <a:ea typeface="Aptos"/>
                          <a:cs typeface="Aptos"/>
                        </a:rPr>
                        <a:t>Invited</a:t>
                      </a:r>
                    </a:p>
                  </a:txBody>
                  <a:tcPr marL="95250" marR="95250" marT="19050" marB="19050" anchor="ctr">
                    <a:solidFill>
                      <a:srgbClr val="D6171D"/>
                    </a:solidFill>
                  </a:tcPr>
                </a:tc>
                <a:tc>
                  <a:txBody>
                    <a:bodyPr/>
                    <a:lstStyle/>
                    <a:p>
                      <a:pPr algn="ctr"/>
                      <a:r>
                        <a:rPr sz="2100" b="1">
                          <a:solidFill>
                            <a:srgbClr val="FFFFFF"/>
                          </a:solidFill>
                          <a:latin typeface="Aptos"/>
                          <a:ea typeface="Aptos"/>
                          <a:cs typeface="Aptos"/>
                        </a:rPr>
                        <a:t>Replied</a:t>
                      </a:r>
                    </a:p>
                  </a:txBody>
                  <a:tcPr marL="95250" marR="95250" marT="19050" marB="19050" anchor="ctr">
                    <a:solidFill>
                      <a:srgbClr val="D6171D"/>
                    </a:solidFill>
                  </a:tcPr>
                </a:tc>
                <a:extLst>
                  <a:ext uri="{0D108BD9-81ED-4DB2-BD59-A6C34878D82A}">
                    <a16:rowId xmlns:a16="http://schemas.microsoft.com/office/drawing/2014/main" val="10000"/>
                  </a:ext>
                </a:extLst>
              </a:tr>
              <a:tr h="476250">
                <a:tc>
                  <a:txBody>
                    <a:bodyPr/>
                    <a:lstStyle/>
                    <a:p>
                      <a:pPr algn="l"/>
                      <a:r>
                        <a:rPr sz="2100" b="0">
                          <a:solidFill>
                            <a:srgbClr val="111111"/>
                          </a:solidFill>
                          <a:latin typeface="Aptos"/>
                          <a:ea typeface="Aptos"/>
                          <a:cs typeface="Aptos"/>
                        </a:rPr>
                        <a:t>Business</a:t>
                      </a:r>
                    </a:p>
                  </a:txBody>
                  <a:tcPr marL="95250" marR="95250" marT="19050" marB="19050" anchor="ctr">
                    <a:solidFill>
                      <a:srgbClr val="FFFFFF"/>
                    </a:solidFill>
                  </a:tcPr>
                </a:tc>
                <a:tc>
                  <a:txBody>
                    <a:bodyPr/>
                    <a:lstStyle/>
                    <a:p>
                      <a:pPr algn="ctr"/>
                      <a:r>
                        <a:rPr sz="2100" b="0">
                          <a:solidFill>
                            <a:srgbClr val="111111"/>
                          </a:solidFill>
                          <a:latin typeface="Aptos"/>
                          <a:ea typeface="Aptos"/>
                          <a:cs typeface="Aptos"/>
                        </a:rPr>
                        <a:t>103</a:t>
                      </a:r>
                    </a:p>
                  </a:txBody>
                  <a:tcPr marL="95250" marR="95250" marT="19050" marB="19050" anchor="ctr">
                    <a:solidFill>
                      <a:srgbClr val="FFFFFF"/>
                    </a:solidFill>
                  </a:tcPr>
                </a:tc>
                <a:tc>
                  <a:txBody>
                    <a:bodyPr/>
                    <a:lstStyle/>
                    <a:p>
                      <a:pPr algn="ctr"/>
                      <a:r>
                        <a:rPr sz="2100" b="0">
                          <a:solidFill>
                            <a:srgbClr val="111111"/>
                          </a:solidFill>
                          <a:latin typeface="Aptos"/>
                          <a:ea typeface="Aptos"/>
                          <a:cs typeface="Aptos"/>
                        </a:rPr>
                        <a:t>84</a:t>
                      </a:r>
                    </a:p>
                  </a:txBody>
                  <a:tcPr marL="95250" marR="95250" marT="19050" marB="19050" anchor="ctr">
                    <a:solidFill>
                      <a:srgbClr val="FFFFFF"/>
                    </a:solidFill>
                  </a:tcPr>
                </a:tc>
                <a:extLst>
                  <a:ext uri="{0D108BD9-81ED-4DB2-BD59-A6C34878D82A}">
                    <a16:rowId xmlns:a16="http://schemas.microsoft.com/office/drawing/2014/main" val="10001"/>
                  </a:ext>
                </a:extLst>
              </a:tr>
              <a:tr h="476250">
                <a:tc>
                  <a:txBody>
                    <a:bodyPr/>
                    <a:lstStyle/>
                    <a:p>
                      <a:pPr algn="l"/>
                      <a:r>
                        <a:rPr sz="2100" b="0">
                          <a:solidFill>
                            <a:srgbClr val="111111"/>
                          </a:solidFill>
                          <a:latin typeface="Aptos"/>
                          <a:ea typeface="Aptos"/>
                          <a:cs typeface="Aptos"/>
                        </a:rPr>
                        <a:t>Engineering</a:t>
                      </a:r>
                    </a:p>
                  </a:txBody>
                  <a:tcPr marL="95250" marR="95250" marT="19050" marB="19050" anchor="ctr">
                    <a:solidFill>
                      <a:srgbClr val="EFF8FF"/>
                    </a:solidFill>
                  </a:tcPr>
                </a:tc>
                <a:tc>
                  <a:txBody>
                    <a:bodyPr/>
                    <a:lstStyle/>
                    <a:p>
                      <a:pPr algn="ctr"/>
                      <a:r>
                        <a:rPr sz="2100" b="0">
                          <a:solidFill>
                            <a:srgbClr val="111111"/>
                          </a:solidFill>
                          <a:latin typeface="Aptos"/>
                          <a:ea typeface="Aptos"/>
                          <a:cs typeface="Aptos"/>
                        </a:rPr>
                        <a:t>73</a:t>
                      </a:r>
                    </a:p>
                  </a:txBody>
                  <a:tcPr marL="95250" marR="95250" marT="19050" marB="19050" anchor="ctr">
                    <a:solidFill>
                      <a:srgbClr val="EFF8FF"/>
                    </a:solidFill>
                  </a:tcPr>
                </a:tc>
                <a:tc>
                  <a:txBody>
                    <a:bodyPr/>
                    <a:lstStyle/>
                    <a:p>
                      <a:pPr algn="ctr"/>
                      <a:r>
                        <a:rPr sz="2100" b="0">
                          <a:solidFill>
                            <a:srgbClr val="111111"/>
                          </a:solidFill>
                          <a:latin typeface="Aptos"/>
                          <a:ea typeface="Aptos"/>
                          <a:cs typeface="Aptos"/>
                        </a:rPr>
                        <a:t>24</a:t>
                      </a:r>
                    </a:p>
                  </a:txBody>
                  <a:tcPr marL="95250" marR="95250" marT="19050" marB="19050" anchor="ctr">
                    <a:solidFill>
                      <a:srgbClr val="EFF8FF"/>
                    </a:solidFill>
                  </a:tcPr>
                </a:tc>
                <a:extLst>
                  <a:ext uri="{0D108BD9-81ED-4DB2-BD59-A6C34878D82A}">
                    <a16:rowId xmlns:a16="http://schemas.microsoft.com/office/drawing/2014/main" val="10002"/>
                  </a:ext>
                </a:extLst>
              </a:tr>
              <a:tr h="476250">
                <a:tc>
                  <a:txBody>
                    <a:bodyPr/>
                    <a:lstStyle/>
                    <a:p>
                      <a:pPr algn="l"/>
                      <a:r>
                        <a:rPr sz="2100" b="0">
                          <a:solidFill>
                            <a:srgbClr val="111111"/>
                          </a:solidFill>
                          <a:latin typeface="Aptos"/>
                          <a:ea typeface="Aptos"/>
                          <a:cs typeface="Aptos"/>
                        </a:rPr>
                        <a:t>Total</a:t>
                      </a:r>
                    </a:p>
                  </a:txBody>
                  <a:tcPr marL="95250" marR="95250" marT="19050" marB="19050" anchor="ctr">
                    <a:solidFill>
                      <a:srgbClr val="FFFFFF"/>
                    </a:solidFill>
                  </a:tcPr>
                </a:tc>
                <a:tc>
                  <a:txBody>
                    <a:bodyPr/>
                    <a:lstStyle/>
                    <a:p>
                      <a:pPr algn="ctr"/>
                      <a:r>
                        <a:rPr sz="2100" b="0">
                          <a:solidFill>
                            <a:srgbClr val="111111"/>
                          </a:solidFill>
                          <a:latin typeface="Aptos"/>
                          <a:ea typeface="Aptos"/>
                          <a:cs typeface="Aptos"/>
                        </a:rPr>
                        <a:t>176</a:t>
                      </a:r>
                    </a:p>
                  </a:txBody>
                  <a:tcPr marL="95250" marR="95250" marT="19050" marB="19050" anchor="ctr">
                    <a:solidFill>
                      <a:srgbClr val="FFFFFF"/>
                    </a:solidFill>
                  </a:tcPr>
                </a:tc>
                <a:tc>
                  <a:txBody>
                    <a:bodyPr/>
                    <a:lstStyle/>
                    <a:p>
                      <a:pPr algn="ctr"/>
                      <a:r>
                        <a:rPr sz="2100" b="0">
                          <a:solidFill>
                            <a:srgbClr val="111111"/>
                          </a:solidFill>
                          <a:latin typeface="Aptos"/>
                          <a:ea typeface="Aptos"/>
                          <a:cs typeface="Aptos"/>
                        </a:rPr>
                        <a:t>108</a:t>
                      </a:r>
                    </a:p>
                  </a:txBody>
                  <a:tcPr marL="95250" marR="95250" marT="19050" marB="19050" anchor="ctr">
                    <a:solidFill>
                      <a:srgbClr val="FFFFFF"/>
                    </a:solidFill>
                  </a:tcPr>
                </a:tc>
                <a:extLst>
                  <a:ext uri="{0D108BD9-81ED-4DB2-BD59-A6C34878D82A}">
                    <a16:rowId xmlns:a16="http://schemas.microsoft.com/office/drawing/2014/main" val="10003"/>
                  </a:ext>
                </a:extLst>
              </a:tr>
            </a:tbl>
          </a:graphicData>
        </a:graphic>
      </p:graphicFrame>
      <p:sp>
        <p:nvSpPr>
          <p:cNvPr id="6" name="s20-text-5">
            <a:extLst>
              <a:ext uri="{FF2B5EF4-FFF2-40B4-BE49-F238E27FC236}">
                <a16:creationId xmlns:a16="http://schemas.microsoft.com/office/drawing/2014/main" id="{826931DC-DFB5-4555-93A6-79AB8889F1D8}"/>
              </a:ext>
            </a:extLst>
          </p:cNvPr>
          <p:cNvSpPr>
            <a:spLocks noGrp="1"/>
          </p:cNvSpPr>
          <p:nvPr/>
        </p:nvSpPr>
        <p:spPr>
          <a:xfrm>
            <a:off x="457200" y="4953000"/>
            <a:ext cx="11239500" cy="619125"/>
          </a:xfrm>
          <a:prstGeom prst="rect">
            <a:avLst/>
          </a:prstGeom>
          <a:noFill/>
          <a:ln w="0">
            <a:noFill/>
          </a:ln>
        </p:spPr>
        <p:txBody>
          <a:bodyPr wrap="square" lIns="0" tIns="0" rIns="0" bIns="0" anchor="t">
            <a:noAutofit/>
          </a:bodyPr>
          <a:lstStyle/>
          <a:p>
            <a:pPr algn="l">
              <a:defRPr sz="2175" b="0">
                <a:solidFill>
                  <a:srgbClr val="111111"/>
                </a:solidFill>
                <a:latin typeface="Aptos"/>
                <a:ea typeface="Aptos"/>
                <a:cs typeface="Aptos"/>
              </a:defRPr>
            </a:pPr>
            <a:r>
              <a:rPr sz="2175" b="0">
                <a:solidFill>
                  <a:srgbClr val="111111"/>
                </a:solidFill>
                <a:latin typeface="Aptos"/>
                <a:ea typeface="Aptos"/>
                <a:cs typeface="Aptos"/>
              </a:rPr>
              <a:t>a) Find each response rate and Engineering’s share of respondents.</a:t>
            </a:r>
          </a:p>
        </p:txBody>
      </p:sp>
      <p:sp>
        <p:nvSpPr>
          <p:cNvPr id="7" name="s20-rect-6">
            <a:extLst>
              <a:ext uri="{FF2B5EF4-FFF2-40B4-BE49-F238E27FC236}">
                <a16:creationId xmlns:a16="http://schemas.microsoft.com/office/drawing/2014/main" id="{B94105B7-A2BD-49BA-B736-3E707FD0D3FB}"/>
              </a:ext>
            </a:extLst>
          </p:cNvPr>
          <p:cNvSpPr>
            <a:spLocks noGrp="1"/>
          </p:cNvSpPr>
          <p:nvPr/>
        </p:nvSpPr>
        <p:spPr>
          <a:xfrm>
            <a:off x="428625" y="5857875"/>
            <a:ext cx="2762250" cy="400050"/>
          </a:xfrm>
          <a:prstGeom prst="rect">
            <a:avLst/>
          </a:prstGeom>
          <a:solidFill>
            <a:srgbClr val="D6171D"/>
          </a:solidFill>
          <a:ln w="0">
            <a:noFill/>
          </a:ln>
        </p:spPr>
        <p:txBody>
          <a:bodyPr/>
          <a:lstStyle/>
          <a:p>
            <a:endParaRPr lang="en-US"/>
          </a:p>
        </p:txBody>
      </p:sp>
      <p:sp>
        <p:nvSpPr>
          <p:cNvPr id="8" name="s20-text-7">
            <a:extLst>
              <a:ext uri="{FF2B5EF4-FFF2-40B4-BE49-F238E27FC236}">
                <a16:creationId xmlns:a16="http://schemas.microsoft.com/office/drawing/2014/main" id="{82158596-13C7-4AC2-A5A1-0E86391FDE4C}"/>
              </a:ext>
            </a:extLst>
          </p:cNvPr>
          <p:cNvSpPr>
            <a:spLocks noGrp="1"/>
          </p:cNvSpPr>
          <p:nvPr/>
        </p:nvSpPr>
        <p:spPr>
          <a:xfrm>
            <a:off x="523875" y="5915025"/>
            <a:ext cx="2571750" cy="323850"/>
          </a:xfrm>
          <a:prstGeom prst="rect">
            <a:avLst/>
          </a:prstGeom>
          <a:noFill/>
          <a:ln w="0">
            <a:noFill/>
          </a:ln>
        </p:spPr>
        <p:txBody>
          <a:bodyPr wrap="square" lIns="0" tIns="0" rIns="0" bIns="0" anchor="t">
            <a:noAutofit/>
          </a:bodyPr>
          <a:lstStyle/>
          <a:p>
            <a:pPr algn="ctr">
              <a:defRPr sz="1800" b="1">
                <a:solidFill>
                  <a:srgbClr val="FFFFFF"/>
                </a:solidFill>
                <a:latin typeface="Aptos"/>
                <a:ea typeface="Aptos"/>
                <a:cs typeface="Aptos"/>
              </a:defRPr>
            </a:pPr>
            <a:r>
              <a:rPr sz="1800" b="1">
                <a:solidFill>
                  <a:srgbClr val="FFFFFF"/>
                </a:solidFill>
                <a:latin typeface="Aptos"/>
                <a:ea typeface="Aptos"/>
                <a:cs typeface="Aptos"/>
              </a:rPr>
              <a:t>DISCUSS   3 MIN</a:t>
            </a:r>
          </a:p>
        </p:txBody>
      </p:sp>
      <p:sp>
        <p:nvSpPr>
          <p:cNvPr id="9" name="s20-text-8">
            <a:extLst>
              <a:ext uri="{FF2B5EF4-FFF2-40B4-BE49-F238E27FC236}">
                <a16:creationId xmlns:a16="http://schemas.microsoft.com/office/drawing/2014/main" id="{E0DD8A58-3234-4F8C-B1BF-E154A1D2C037}"/>
              </a:ext>
            </a:extLst>
          </p:cNvPr>
          <p:cNvSpPr>
            <a:spLocks noGrp="1"/>
          </p:cNvSpPr>
          <p:nvPr/>
        </p:nvSpPr>
        <p:spPr>
          <a:xfrm>
            <a:off x="3381375" y="5867400"/>
            <a:ext cx="8286750" cy="457200"/>
          </a:xfrm>
          <a:prstGeom prst="rect">
            <a:avLst/>
          </a:prstGeom>
          <a:noFill/>
          <a:ln w="0">
            <a:noFill/>
          </a:ln>
        </p:spPr>
        <p:txBody>
          <a:bodyPr wrap="square" lIns="0" tIns="0" rIns="0" bIns="0" anchor="t">
            <a:noAutofit/>
          </a:bodyPr>
          <a:lstStyle/>
          <a:p>
            <a:pPr algn="l">
              <a:defRPr sz="2100" b="1">
                <a:solidFill>
                  <a:srgbClr val="111111"/>
                </a:solidFill>
                <a:latin typeface="Aptos"/>
                <a:ea typeface="Aptos"/>
                <a:cs typeface="Aptos"/>
              </a:defRPr>
            </a:pPr>
            <a:r>
              <a:rPr sz="2100" b="1">
                <a:solidFill>
                  <a:srgbClr val="111111"/>
                </a:solidFill>
                <a:latin typeface="Aptos"/>
                <a:ea typeface="Aptos"/>
                <a:cs typeface="Aptos"/>
              </a:rPr>
              <a:t>Propose a follow-up based on the pattern you find.</a:t>
            </a:r>
          </a:p>
        </p:txBody>
      </p:sp>
      <p:sp>
        <p:nvSpPr>
          <p:cNvPr id="10" name="s20-text-9">
            <a:extLst>
              <a:ext uri="{FF2B5EF4-FFF2-40B4-BE49-F238E27FC236}">
                <a16:creationId xmlns:a16="http://schemas.microsoft.com/office/drawing/2014/main" id="{B7EA9E42-B8FC-4BBD-8904-FB9EC40BB0C1}"/>
              </a:ext>
            </a:extLst>
          </p:cNvPr>
          <p:cNvSpPr>
            <a:spLocks noGrp="1"/>
          </p:cNvSpPr>
          <p:nvPr/>
        </p:nvSpPr>
        <p:spPr>
          <a:xfrm>
            <a:off x="457200" y="6477000"/>
            <a:ext cx="10763250" cy="238125"/>
          </a:xfrm>
          <a:prstGeom prst="rect">
            <a:avLst/>
          </a:prstGeom>
          <a:noFill/>
          <a:ln w="0">
            <a:noFill/>
          </a:ln>
        </p:spPr>
        <p:txBody>
          <a:bodyPr wrap="square" lIns="0" tIns="0" rIns="0" bIns="0" anchor="t">
            <a:noAutofit/>
          </a:bodyPr>
          <a:lstStyle/>
          <a:p>
            <a:endParaRPr/>
          </a:p>
        </p:txBody>
      </p:sp>
      <p:sp>
        <p:nvSpPr>
          <p:cNvPr id="11" name="s20-text-10">
            <a:extLst>
              <a:ext uri="{FF2B5EF4-FFF2-40B4-BE49-F238E27FC236}">
                <a16:creationId xmlns:a16="http://schemas.microsoft.com/office/drawing/2014/main" id="{B03EC692-3265-4277-8499-F98EC4EF41A2}"/>
              </a:ext>
            </a:extLst>
          </p:cNvPr>
          <p:cNvSpPr>
            <a:spLocks noGrp="1"/>
          </p:cNvSpPr>
          <p:nvPr/>
        </p:nvSpPr>
        <p:spPr>
          <a:xfrm>
            <a:off x="11239500" y="6477000"/>
            <a:ext cx="476250" cy="238125"/>
          </a:xfrm>
          <a:prstGeom prst="rect">
            <a:avLst/>
          </a:prstGeom>
          <a:noFill/>
          <a:ln w="0">
            <a:noFill/>
          </a:ln>
        </p:spPr>
        <p:txBody>
          <a:bodyPr wrap="square" lIns="0" tIns="0" rIns="0" bIns="0" anchor="t">
            <a:noAutofit/>
          </a:bodyPr>
          <a:lstStyle/>
          <a:p>
            <a:pPr algn="r">
              <a:defRPr sz="1275" b="0">
                <a:solidFill>
                  <a:srgbClr val="666666"/>
                </a:solidFill>
                <a:latin typeface="Aptos"/>
                <a:ea typeface="Aptos"/>
                <a:cs typeface="Aptos"/>
              </a:defRPr>
            </a:pPr>
            <a:r>
              <a:rPr sz="1275" b="0">
                <a:solidFill>
                  <a:srgbClr val="666666"/>
                </a:solidFill>
                <a:latin typeface="Aptos"/>
                <a:ea typeface="Aptos"/>
                <a:cs typeface="Aptos"/>
              </a:rPr>
              <a:t>20</a:t>
            </a:r>
          </a:p>
        </p:txBody>
      </p:sp>
    </p:spTree>
    <p:extLst>
      <p:ext uri="{BB962C8B-B14F-4D97-AF65-F5344CB8AC3E}">
        <p14:creationId xmlns:p14="http://schemas.microsoft.com/office/powerpoint/2010/main" val="32813612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21-text-1">
            <a:extLst>
              <a:ext uri="{FF2B5EF4-FFF2-40B4-BE49-F238E27FC236}">
                <a16:creationId xmlns:a16="http://schemas.microsoft.com/office/drawing/2014/main" id="{5982FF02-3ABC-4849-A282-9FDB94F1EAEC}"/>
              </a:ext>
            </a:extLst>
          </p:cNvPr>
          <p:cNvSpPr>
            <a:spLocks noGrp="1"/>
          </p:cNvSpPr>
          <p:nvPr/>
        </p:nvSpPr>
        <p:spPr>
          <a:xfrm>
            <a:off x="430816" y="1038225"/>
            <a:ext cx="11293412" cy="78105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A new problem after selection</a:t>
            </a:r>
          </a:p>
        </p:txBody>
      </p:sp>
      <p:sp>
        <p:nvSpPr>
          <p:cNvPr id="2" name="s21-rect-2">
            <a:extLst>
              <a:ext uri="{FF2B5EF4-FFF2-40B4-BE49-F238E27FC236}">
                <a16:creationId xmlns:a16="http://schemas.microsoft.com/office/drawing/2014/main" id="{9B763970-8881-436B-A506-EF83D30AC6A9}"/>
              </a:ext>
            </a:extLst>
          </p:cNvPr>
          <p:cNvSpPr>
            <a:spLocks noGrp="1"/>
          </p:cNvSpPr>
          <p:nvPr/>
        </p:nvSpPr>
        <p:spPr>
          <a:xfrm>
            <a:off x="8734425" y="476250"/>
            <a:ext cx="3000375" cy="400050"/>
          </a:xfrm>
          <a:prstGeom prst="rect">
            <a:avLst/>
          </a:prstGeom>
          <a:solidFill>
            <a:srgbClr val="D6171D"/>
          </a:solidFill>
          <a:ln w="0">
            <a:noFill/>
          </a:ln>
        </p:spPr>
        <p:txBody>
          <a:bodyPr/>
          <a:lstStyle/>
          <a:p>
            <a:endParaRPr lang="en-US"/>
          </a:p>
        </p:txBody>
      </p:sp>
      <p:sp>
        <p:nvSpPr>
          <p:cNvPr id="3" name="s21-text-3">
            <a:extLst>
              <a:ext uri="{FF2B5EF4-FFF2-40B4-BE49-F238E27FC236}">
                <a16:creationId xmlns:a16="http://schemas.microsoft.com/office/drawing/2014/main" id="{D9DCDF95-1B36-4085-8996-8D0A547F6B92}"/>
              </a:ext>
            </a:extLst>
          </p:cNvPr>
          <p:cNvSpPr>
            <a:spLocks noGrp="1"/>
          </p:cNvSpPr>
          <p:nvPr/>
        </p:nvSpPr>
        <p:spPr>
          <a:xfrm>
            <a:off x="8829675" y="533400"/>
            <a:ext cx="2809875" cy="323850"/>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C3.5</a:t>
            </a:r>
          </a:p>
        </p:txBody>
      </p:sp>
      <p:graphicFrame>
        <p:nvGraphicFramePr>
          <p:cNvPr id="17" name="Chart"/>
          <p:cNvGraphicFramePr/>
          <p:nvPr/>
        </p:nvGraphicFramePr>
        <p:xfrm>
          <a:off x="457200" y="2085975"/>
          <a:ext cx="6191250" cy="2752725"/>
        </p:xfrm>
        <a:graphic>
          <a:graphicData uri="http://schemas.openxmlformats.org/drawingml/2006/chart">
            <c:chart xmlns:c="http://schemas.openxmlformats.org/drawingml/2006/chart" xmlns:r="http://schemas.openxmlformats.org/officeDocument/2006/relationships" r:id="rId3"/>
          </a:graphicData>
        </a:graphic>
      </p:graphicFrame>
      <p:sp>
        <p:nvSpPr>
          <p:cNvPr id="5" name="s21-text-4">
            <a:extLst>
              <a:ext uri="{FF2B5EF4-FFF2-40B4-BE49-F238E27FC236}">
                <a16:creationId xmlns:a16="http://schemas.microsoft.com/office/drawing/2014/main" id="{031328CF-44D3-4680-ABB2-2EB469893EAD}"/>
              </a:ext>
            </a:extLst>
          </p:cNvPr>
          <p:cNvSpPr>
            <a:spLocks noGrp="1"/>
          </p:cNvSpPr>
          <p:nvPr/>
        </p:nvSpPr>
        <p:spPr>
          <a:xfrm>
            <a:off x="7191375" y="2114550"/>
            <a:ext cx="4391025" cy="933450"/>
          </a:xfrm>
          <a:prstGeom prst="rect">
            <a:avLst/>
          </a:prstGeom>
          <a:noFill/>
          <a:ln w="0">
            <a:noFill/>
          </a:ln>
        </p:spPr>
        <p:txBody>
          <a:bodyPr wrap="square" lIns="0" tIns="0" rIns="0" bIns="0" anchor="t">
            <a:noAutofit/>
          </a:bodyPr>
          <a:lstStyle/>
          <a:p>
            <a:pPr algn="l">
              <a:defRPr sz="2250" b="1">
                <a:solidFill>
                  <a:srgbClr val="111111"/>
                </a:solidFill>
                <a:latin typeface="Aptos"/>
                <a:ea typeface="Aptos"/>
                <a:cs typeface="Aptos"/>
              </a:defRPr>
            </a:pPr>
            <a:r>
              <a:rPr sz="2250" b="1">
                <a:solidFill>
                  <a:srgbClr val="111111"/>
                </a:solidFill>
                <a:latin typeface="Aptos"/>
                <a:ea typeface="Aptos"/>
                <a:cs typeface="Aptos"/>
              </a:rPr>
              <a:t>Engineering’s share</a:t>
            </a:r>
          </a:p>
          <a:p>
            <a:pPr algn="l">
              <a:defRPr sz="2250" b="1">
                <a:solidFill>
                  <a:srgbClr val="111111"/>
                </a:solidFill>
                <a:latin typeface="Aptos"/>
                <a:ea typeface="Aptos"/>
                <a:cs typeface="Aptos"/>
              </a:defRPr>
            </a:pPr>
            <a:r>
              <a:rPr sz="2250" b="1">
                <a:solidFill>
                  <a:srgbClr val="111111"/>
                </a:solidFill>
                <a:latin typeface="Aptos"/>
                <a:ea typeface="Aptos"/>
                <a:cs typeface="Aptos"/>
              </a:rPr>
              <a:t>of all 108 respondents</a:t>
            </a:r>
          </a:p>
        </p:txBody>
      </p:sp>
      <p:sp>
        <p:nvSpPr>
          <p:cNvPr id="6" name="s21-text-5">
            <a:extLst>
              <a:ext uri="{FF2B5EF4-FFF2-40B4-BE49-F238E27FC236}">
                <a16:creationId xmlns:a16="http://schemas.microsoft.com/office/drawing/2014/main" id="{4F2BDF27-3F88-443B-B712-2BB7356688BF}"/>
              </a:ext>
            </a:extLst>
          </p:cNvPr>
          <p:cNvSpPr>
            <a:spLocks noGrp="1"/>
          </p:cNvSpPr>
          <p:nvPr/>
        </p:nvSpPr>
        <p:spPr>
          <a:xfrm>
            <a:off x="7191375" y="3248025"/>
            <a:ext cx="1238250" cy="333375"/>
          </a:xfrm>
          <a:prstGeom prst="rect">
            <a:avLst/>
          </a:prstGeom>
          <a:noFill/>
          <a:ln w="0">
            <a:noFill/>
          </a:ln>
        </p:spPr>
        <p:txBody>
          <a:bodyPr wrap="square" lIns="0" tIns="0" rIns="0" bIns="0" anchor="t">
            <a:noAutofit/>
          </a:bodyPr>
          <a:lstStyle/>
          <a:p>
            <a:pPr algn="ctr">
              <a:defRPr sz="2175" b="0">
                <a:solidFill>
                  <a:srgbClr val="111111"/>
                </a:solidFill>
                <a:latin typeface="Aptos"/>
                <a:ea typeface="Aptos"/>
                <a:cs typeface="Aptos"/>
              </a:defRPr>
            </a:pPr>
            <a:r>
              <a:rPr sz="2175" b="0">
                <a:solidFill>
                  <a:srgbClr val="111111"/>
                </a:solidFill>
                <a:latin typeface="Aptos"/>
                <a:ea typeface="Aptos"/>
                <a:cs typeface="Aptos"/>
              </a:rPr>
              <a:t>24</a:t>
            </a:r>
          </a:p>
        </p:txBody>
      </p:sp>
      <p:sp>
        <p:nvSpPr>
          <p:cNvPr id="7" name="s21-line-6">
            <a:extLst>
              <a:ext uri="{FF2B5EF4-FFF2-40B4-BE49-F238E27FC236}">
                <a16:creationId xmlns:a16="http://schemas.microsoft.com/office/drawing/2014/main" id="{DD563D89-C735-4943-B895-58B47C0F5924}"/>
              </a:ext>
            </a:extLst>
          </p:cNvPr>
          <p:cNvSpPr>
            <a:spLocks noGrp="1"/>
          </p:cNvSpPr>
          <p:nvPr/>
        </p:nvSpPr>
        <p:spPr>
          <a:xfrm>
            <a:off x="7191375" y="3619500"/>
            <a:ext cx="1238250" cy="0"/>
          </a:xfrm>
          <a:prstGeom prst="line">
            <a:avLst/>
          </a:prstGeom>
          <a:noFill/>
          <a:ln w="19050">
            <a:solidFill>
              <a:srgbClr val="111111"/>
            </a:solidFill>
          </a:ln>
        </p:spPr>
        <p:txBody>
          <a:bodyPr/>
          <a:lstStyle/>
          <a:p>
            <a:endParaRPr lang="en-US"/>
          </a:p>
        </p:txBody>
      </p:sp>
      <p:sp>
        <p:nvSpPr>
          <p:cNvPr id="8" name="s21-text-7">
            <a:extLst>
              <a:ext uri="{FF2B5EF4-FFF2-40B4-BE49-F238E27FC236}">
                <a16:creationId xmlns:a16="http://schemas.microsoft.com/office/drawing/2014/main" id="{1CD784E7-E2CB-4A7D-B118-82EDA42EFBC4}"/>
              </a:ext>
            </a:extLst>
          </p:cNvPr>
          <p:cNvSpPr>
            <a:spLocks noGrp="1"/>
          </p:cNvSpPr>
          <p:nvPr/>
        </p:nvSpPr>
        <p:spPr>
          <a:xfrm>
            <a:off x="7191375" y="3714750"/>
            <a:ext cx="1238250" cy="352425"/>
          </a:xfrm>
          <a:prstGeom prst="rect">
            <a:avLst/>
          </a:prstGeom>
          <a:noFill/>
          <a:ln w="0">
            <a:noFill/>
          </a:ln>
        </p:spPr>
        <p:txBody>
          <a:bodyPr wrap="square" lIns="0" tIns="0" rIns="0" bIns="0" anchor="t">
            <a:noAutofit/>
          </a:bodyPr>
          <a:lstStyle/>
          <a:p>
            <a:pPr algn="ctr">
              <a:defRPr sz="2175" b="0">
                <a:solidFill>
                  <a:srgbClr val="111111"/>
                </a:solidFill>
                <a:latin typeface="Aptos"/>
                <a:ea typeface="Aptos"/>
                <a:cs typeface="Aptos"/>
              </a:defRPr>
            </a:pPr>
            <a:r>
              <a:rPr sz="2175" b="0">
                <a:solidFill>
                  <a:srgbClr val="111111"/>
                </a:solidFill>
                <a:latin typeface="Aptos"/>
                <a:ea typeface="Aptos"/>
                <a:cs typeface="Aptos"/>
              </a:rPr>
              <a:t>108</a:t>
            </a:r>
          </a:p>
        </p:txBody>
      </p:sp>
      <p:sp>
        <p:nvSpPr>
          <p:cNvPr id="9" name="s21-text-8">
            <a:extLst>
              <a:ext uri="{FF2B5EF4-FFF2-40B4-BE49-F238E27FC236}">
                <a16:creationId xmlns:a16="http://schemas.microsoft.com/office/drawing/2014/main" id="{5117CD5A-4E67-4743-AFF4-C68EA3CEF3E6}"/>
              </a:ext>
            </a:extLst>
          </p:cNvPr>
          <p:cNvSpPr>
            <a:spLocks noGrp="1"/>
          </p:cNvSpPr>
          <p:nvPr/>
        </p:nvSpPr>
        <p:spPr>
          <a:xfrm>
            <a:off x="8658225" y="3486150"/>
            <a:ext cx="3076575" cy="590550"/>
          </a:xfrm>
          <a:prstGeom prst="rect">
            <a:avLst/>
          </a:prstGeom>
          <a:noFill/>
          <a:ln w="0">
            <a:noFill/>
          </a:ln>
        </p:spPr>
        <p:txBody>
          <a:bodyPr wrap="square" lIns="0" tIns="0" rIns="0" bIns="0" anchor="t">
            <a:noAutofit/>
          </a:bodyPr>
          <a:lstStyle/>
          <a:p>
            <a:pPr algn="l">
              <a:defRPr sz="2175" b="1">
                <a:solidFill>
                  <a:srgbClr val="111111"/>
                </a:solidFill>
                <a:latin typeface="Aptos"/>
                <a:ea typeface="Aptos"/>
                <a:cs typeface="Aptos"/>
              </a:defRPr>
            </a:pPr>
            <a:r>
              <a:rPr sz="2175" b="1">
                <a:solidFill>
                  <a:srgbClr val="111111"/>
                </a:solidFill>
                <a:latin typeface="Aptos"/>
                <a:ea typeface="Aptos"/>
                <a:cs typeface="Aptos"/>
              </a:rPr>
              <a:t>× 100 = 22.22%</a:t>
            </a:r>
          </a:p>
        </p:txBody>
      </p:sp>
      <p:sp>
        <p:nvSpPr>
          <p:cNvPr id="10" name="s21-text-9">
            <a:extLst>
              <a:ext uri="{FF2B5EF4-FFF2-40B4-BE49-F238E27FC236}">
                <a16:creationId xmlns:a16="http://schemas.microsoft.com/office/drawing/2014/main" id="{3F34E9DD-9451-49A1-800F-3017C39F975B}"/>
              </a:ext>
            </a:extLst>
          </p:cNvPr>
          <p:cNvSpPr>
            <a:spLocks noGrp="1"/>
          </p:cNvSpPr>
          <p:nvPr/>
        </p:nvSpPr>
        <p:spPr>
          <a:xfrm>
            <a:off x="457200" y="5191125"/>
            <a:ext cx="11239500" cy="895350"/>
          </a:xfrm>
          <a:prstGeom prst="rect">
            <a:avLst/>
          </a:prstGeom>
          <a:noFill/>
          <a:ln w="0">
            <a:noFill/>
          </a:ln>
        </p:spPr>
        <p:txBody>
          <a:bodyPr wrap="square" lIns="0" tIns="0" rIns="0" bIns="0" anchor="t">
            <a:noAutofit/>
          </a:bodyPr>
          <a:lstStyle/>
          <a:p>
            <a:pPr algn="l">
              <a:defRPr sz="2175" b="0">
                <a:solidFill>
                  <a:srgbClr val="111111"/>
                </a:solidFill>
                <a:latin typeface="Aptos"/>
                <a:ea typeface="Aptos"/>
                <a:cs typeface="Aptos"/>
              </a:defRPr>
            </a:pPr>
            <a:r>
              <a:rPr sz="2175" b="0">
                <a:solidFill>
                  <a:srgbClr val="111111"/>
                </a:solidFill>
                <a:latin typeface="Aptos"/>
                <a:ea typeface="Aptos"/>
                <a:cs typeface="Aptos"/>
              </a:rPr>
              <a:t>Follow up originally selected Engineering nonrespondents first.</a:t>
            </a:r>
          </a:p>
          <a:p>
            <a:pPr algn="l">
              <a:defRPr sz="2175" b="0">
                <a:solidFill>
                  <a:srgbClr val="111111"/>
                </a:solidFill>
                <a:latin typeface="Aptos"/>
                <a:ea typeface="Aptos"/>
                <a:cs typeface="Aptos"/>
              </a:defRPr>
            </a:pPr>
            <a:r>
              <a:rPr sz="2175" b="0">
                <a:solidFill>
                  <a:srgbClr val="111111"/>
                </a:solidFill>
                <a:latin typeface="Aptos"/>
                <a:ea typeface="Aptos"/>
                <a:cs typeface="Aptos"/>
              </a:rPr>
              <a:t>Offer an accessible way to respond, then continue other follow-ups.</a:t>
            </a:r>
          </a:p>
        </p:txBody>
      </p:sp>
      <p:sp>
        <p:nvSpPr>
          <p:cNvPr id="11" name="s21-text-10">
            <a:extLst>
              <a:ext uri="{FF2B5EF4-FFF2-40B4-BE49-F238E27FC236}">
                <a16:creationId xmlns:a16="http://schemas.microsoft.com/office/drawing/2014/main" id="{1FB24B28-ABD8-4B4E-9C68-4A0EE8F7FFB7}"/>
              </a:ext>
            </a:extLst>
          </p:cNvPr>
          <p:cNvSpPr>
            <a:spLocks noGrp="1"/>
          </p:cNvSpPr>
          <p:nvPr/>
        </p:nvSpPr>
        <p:spPr>
          <a:xfrm>
            <a:off x="457200" y="6000750"/>
            <a:ext cx="11239500" cy="266700"/>
          </a:xfrm>
          <a:prstGeom prst="rect">
            <a:avLst/>
          </a:prstGeom>
          <a:noFill/>
          <a:ln w="0">
            <a:noFill/>
          </a:ln>
        </p:spPr>
        <p:txBody>
          <a:bodyPr wrap="square" lIns="0" tIns="0" rIns="0" bIns="0" anchor="t">
            <a:noAutofit/>
          </a:bodyPr>
          <a:lstStyle/>
          <a:p>
            <a:pPr algn="l">
              <a:defRPr sz="1800" b="0">
                <a:solidFill>
                  <a:srgbClr val="111111"/>
                </a:solidFill>
                <a:latin typeface="Aptos"/>
                <a:ea typeface="Aptos"/>
                <a:cs typeface="Aptos"/>
              </a:defRPr>
            </a:pPr>
            <a:r>
              <a:rPr sz="1800" b="0">
                <a:solidFill>
                  <a:srgbClr val="111111"/>
                </a:solidFill>
                <a:latin typeface="Aptos"/>
                <a:ea typeface="Aptos"/>
                <a:cs typeface="Aptos"/>
              </a:rPr>
              <a:t>Bias depends on whether missing students hold different relevant views.</a:t>
            </a:r>
          </a:p>
        </p:txBody>
      </p:sp>
      <p:sp>
        <p:nvSpPr>
          <p:cNvPr id="12" name="s21-text-11">
            <a:extLst>
              <a:ext uri="{FF2B5EF4-FFF2-40B4-BE49-F238E27FC236}">
                <a16:creationId xmlns:a16="http://schemas.microsoft.com/office/drawing/2014/main" id="{8E1A77A7-18FB-4E9C-BB53-EA12174FCBB6}"/>
              </a:ext>
            </a:extLst>
          </p:cNvPr>
          <p:cNvSpPr>
            <a:spLocks noGrp="1"/>
          </p:cNvSpPr>
          <p:nvPr/>
        </p:nvSpPr>
        <p:spPr>
          <a:xfrm>
            <a:off x="457200" y="6477000"/>
            <a:ext cx="10763250" cy="238125"/>
          </a:xfrm>
          <a:prstGeom prst="rect">
            <a:avLst/>
          </a:prstGeom>
          <a:noFill/>
          <a:ln w="0">
            <a:noFill/>
          </a:ln>
        </p:spPr>
        <p:txBody>
          <a:bodyPr wrap="square" lIns="0" tIns="0" rIns="0" bIns="0" anchor="t">
            <a:noAutofit/>
          </a:bodyPr>
          <a:lstStyle/>
          <a:p>
            <a:endParaRPr/>
          </a:p>
        </p:txBody>
      </p:sp>
      <p:sp>
        <p:nvSpPr>
          <p:cNvPr id="13" name="s21-text-12">
            <a:extLst>
              <a:ext uri="{FF2B5EF4-FFF2-40B4-BE49-F238E27FC236}">
                <a16:creationId xmlns:a16="http://schemas.microsoft.com/office/drawing/2014/main" id="{0EFEAD1A-F9FD-485D-9C80-EA19996F03A5}"/>
              </a:ext>
            </a:extLst>
          </p:cNvPr>
          <p:cNvSpPr>
            <a:spLocks noGrp="1"/>
          </p:cNvSpPr>
          <p:nvPr/>
        </p:nvSpPr>
        <p:spPr>
          <a:xfrm>
            <a:off x="11239500" y="6477000"/>
            <a:ext cx="476250" cy="238125"/>
          </a:xfrm>
          <a:prstGeom prst="rect">
            <a:avLst/>
          </a:prstGeom>
          <a:noFill/>
          <a:ln w="0">
            <a:noFill/>
          </a:ln>
        </p:spPr>
        <p:txBody>
          <a:bodyPr wrap="square" lIns="0" tIns="0" rIns="0" bIns="0" anchor="t">
            <a:noAutofit/>
          </a:bodyPr>
          <a:lstStyle/>
          <a:p>
            <a:pPr algn="r">
              <a:defRPr sz="1275" b="0">
                <a:solidFill>
                  <a:srgbClr val="666666"/>
                </a:solidFill>
                <a:latin typeface="Aptos"/>
                <a:ea typeface="Aptos"/>
                <a:cs typeface="Aptos"/>
              </a:defRPr>
            </a:pPr>
            <a:r>
              <a:rPr sz="1275" b="0">
                <a:solidFill>
                  <a:srgbClr val="666666"/>
                </a:solidFill>
                <a:latin typeface="Aptos"/>
                <a:ea typeface="Aptos"/>
                <a:cs typeface="Aptos"/>
              </a:rPr>
              <a:t>21</a:t>
            </a:r>
          </a:p>
        </p:txBody>
      </p:sp>
    </p:spTree>
    <p:extLst>
      <p:ext uri="{BB962C8B-B14F-4D97-AF65-F5344CB8AC3E}">
        <p14:creationId xmlns:p14="http://schemas.microsoft.com/office/powerpoint/2010/main" val="32813612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22-text-1">
            <a:extLst>
              <a:ext uri="{FF2B5EF4-FFF2-40B4-BE49-F238E27FC236}">
                <a16:creationId xmlns:a16="http://schemas.microsoft.com/office/drawing/2014/main" id="{ED999530-1D4F-4B81-9A65-69F24A86C10F}"/>
              </a:ext>
            </a:extLst>
          </p:cNvPr>
          <p:cNvSpPr>
            <a:spLocks noGrp="1"/>
          </p:cNvSpPr>
          <p:nvPr/>
        </p:nvSpPr>
        <p:spPr>
          <a:xfrm>
            <a:off x="430816" y="1038225"/>
            <a:ext cx="11293412" cy="78105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The canteen data record</a:t>
            </a:r>
          </a:p>
        </p:txBody>
      </p:sp>
      <p:sp>
        <p:nvSpPr>
          <p:cNvPr id="2" name="s22-rect-2">
            <a:extLst>
              <a:ext uri="{FF2B5EF4-FFF2-40B4-BE49-F238E27FC236}">
                <a16:creationId xmlns:a16="http://schemas.microsoft.com/office/drawing/2014/main" id="{6E41AF96-FD27-43B9-ADE2-7831F023C4E7}"/>
              </a:ext>
            </a:extLst>
          </p:cNvPr>
          <p:cNvSpPr>
            <a:spLocks noGrp="1"/>
          </p:cNvSpPr>
          <p:nvPr/>
        </p:nvSpPr>
        <p:spPr>
          <a:xfrm>
            <a:off x="8734425" y="476250"/>
            <a:ext cx="3000375" cy="400050"/>
          </a:xfrm>
          <a:prstGeom prst="rect">
            <a:avLst/>
          </a:prstGeom>
          <a:solidFill>
            <a:srgbClr val="D6171D"/>
          </a:solidFill>
          <a:ln w="0">
            <a:noFill/>
          </a:ln>
        </p:spPr>
        <p:txBody>
          <a:bodyPr/>
          <a:lstStyle/>
          <a:p>
            <a:endParaRPr lang="en-US"/>
          </a:p>
        </p:txBody>
      </p:sp>
      <p:sp>
        <p:nvSpPr>
          <p:cNvPr id="3" name="s22-text-3">
            <a:extLst>
              <a:ext uri="{FF2B5EF4-FFF2-40B4-BE49-F238E27FC236}">
                <a16:creationId xmlns:a16="http://schemas.microsoft.com/office/drawing/2014/main" id="{A92752B9-09A1-4C63-8106-8A51F705D987}"/>
              </a:ext>
            </a:extLst>
          </p:cNvPr>
          <p:cNvSpPr>
            <a:spLocks noGrp="1"/>
          </p:cNvSpPr>
          <p:nvPr/>
        </p:nvSpPr>
        <p:spPr>
          <a:xfrm>
            <a:off x="8829675" y="533400"/>
            <a:ext cx="2809875" cy="323850"/>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C4.1</a:t>
            </a:r>
          </a:p>
        </p:txBody>
      </p:sp>
      <p:sp>
        <p:nvSpPr>
          <p:cNvPr id="4" name="s22-text-4">
            <a:extLst>
              <a:ext uri="{FF2B5EF4-FFF2-40B4-BE49-F238E27FC236}">
                <a16:creationId xmlns:a16="http://schemas.microsoft.com/office/drawing/2014/main" id="{9A2532DA-F327-444B-A026-2503EC1A0CF8}"/>
              </a:ext>
            </a:extLst>
          </p:cNvPr>
          <p:cNvSpPr>
            <a:spLocks noGrp="1"/>
          </p:cNvSpPr>
          <p:nvPr/>
        </p:nvSpPr>
        <p:spPr>
          <a:xfrm>
            <a:off x="457200" y="1933575"/>
            <a:ext cx="11239500" cy="638175"/>
          </a:xfrm>
          <a:prstGeom prst="rect">
            <a:avLst/>
          </a:prstGeom>
          <a:noFill/>
          <a:ln w="0">
            <a:noFill/>
          </a:ln>
        </p:spPr>
        <p:txBody>
          <a:bodyPr wrap="square" lIns="0" tIns="0" rIns="0" bIns="0" anchor="t">
            <a:noAutofit/>
          </a:bodyPr>
          <a:lstStyle/>
          <a:p>
            <a:pPr algn="l">
              <a:defRPr sz="2025" b="0">
                <a:solidFill>
                  <a:srgbClr val="111111"/>
                </a:solidFill>
                <a:latin typeface="Aptos"/>
                <a:ea typeface="Aptos"/>
                <a:cs typeface="Aptos"/>
              </a:defRPr>
            </a:pPr>
            <a:r>
              <a:rPr sz="2025" b="0">
                <a:solidFill>
                  <a:srgbClr val="111111"/>
                </a:solidFill>
                <a:latin typeface="Aptos"/>
                <a:ea typeface="Aptos"/>
                <a:cs typeface="Aptos"/>
              </a:rPr>
              <a:t>Categorical or quantitative? If quantitative: discrete or continuous.</a:t>
            </a:r>
          </a:p>
          <a:p>
            <a:pPr algn="l">
              <a:defRPr sz="2025" b="0">
                <a:solidFill>
                  <a:srgbClr val="111111"/>
                </a:solidFill>
                <a:latin typeface="Aptos"/>
                <a:ea typeface="Aptos"/>
                <a:cs typeface="Aptos"/>
              </a:defRPr>
            </a:pPr>
            <a:r>
              <a:rPr sz="2025" b="0">
                <a:solidFill>
                  <a:srgbClr val="111111"/>
                </a:solidFill>
                <a:latin typeface="Aptos"/>
                <a:ea typeface="Aptos"/>
                <a:cs typeface="Aptos"/>
              </a:rPr>
              <a:t>Explain C, D and G. Which variable directly measures food waste?</a:t>
            </a:r>
          </a:p>
        </p:txBody>
      </p:sp>
      <p:graphicFrame>
        <p:nvGraphicFramePr>
          <p:cNvPr id="12" name="Table 11"/>
          <p:cNvGraphicFramePr/>
          <p:nvPr/>
        </p:nvGraphicFramePr>
        <p:xfrm>
          <a:off x="457200" y="2657475"/>
          <a:ext cx="11239500" cy="3514725"/>
        </p:xfrm>
        <a:graphic>
          <a:graphicData uri="http://schemas.openxmlformats.org/drawingml/2006/table">
            <a:tbl>
              <a:tblPr firstRow="1"/>
              <a:tblGrid>
                <a:gridCol w="1000125">
                  <a:extLst>
                    <a:ext uri="{9D8B030D-6E8A-4147-A177-3AD203B41FA5}">
                      <a16:colId xmlns:a16="http://schemas.microsoft.com/office/drawing/2014/main" val="20000"/>
                    </a:ext>
                  </a:extLst>
                </a:gridCol>
                <a:gridCol w="10239375">
                  <a:extLst>
                    <a:ext uri="{9D8B030D-6E8A-4147-A177-3AD203B41FA5}">
                      <a16:colId xmlns:a16="http://schemas.microsoft.com/office/drawing/2014/main" val="20001"/>
                    </a:ext>
                  </a:extLst>
                </a:gridCol>
              </a:tblGrid>
              <a:tr h="390525">
                <a:tc>
                  <a:txBody>
                    <a:bodyPr/>
                    <a:lstStyle/>
                    <a:p>
                      <a:pPr algn="l"/>
                      <a:r>
                        <a:rPr sz="1913" b="1">
                          <a:solidFill>
                            <a:srgbClr val="FFFFFF"/>
                          </a:solidFill>
                          <a:latin typeface="Aptos"/>
                          <a:ea typeface="Aptos"/>
                          <a:cs typeface="Aptos"/>
                        </a:rPr>
                        <a:t>Item</a:t>
                      </a:r>
                    </a:p>
                  </a:txBody>
                  <a:tcPr marL="95250" marR="95250" marT="0" marB="0" anchor="ctr">
                    <a:solidFill>
                      <a:srgbClr val="D6171D"/>
                    </a:solidFill>
                  </a:tcPr>
                </a:tc>
                <a:tc>
                  <a:txBody>
                    <a:bodyPr/>
                    <a:lstStyle/>
                    <a:p>
                      <a:pPr algn="ctr"/>
                      <a:r>
                        <a:rPr sz="1913" b="1">
                          <a:solidFill>
                            <a:srgbClr val="FFFFFF"/>
                          </a:solidFill>
                          <a:latin typeface="Aptos"/>
                          <a:ea typeface="Aptos"/>
                          <a:cs typeface="Aptos"/>
                        </a:rPr>
                        <a:t>Recorded variable</a:t>
                      </a:r>
                    </a:p>
                  </a:txBody>
                  <a:tcPr marL="95250" marR="95250" marT="0" marB="0" anchor="ctr">
                    <a:solidFill>
                      <a:srgbClr val="D6171D"/>
                    </a:solidFill>
                  </a:tcPr>
                </a:tc>
                <a:extLst>
                  <a:ext uri="{0D108BD9-81ED-4DB2-BD59-A6C34878D82A}">
                    <a16:rowId xmlns:a16="http://schemas.microsoft.com/office/drawing/2014/main" val="10000"/>
                  </a:ext>
                </a:extLst>
              </a:tr>
              <a:tr h="390525">
                <a:tc>
                  <a:txBody>
                    <a:bodyPr/>
                    <a:lstStyle/>
                    <a:p>
                      <a:pPr algn="l"/>
                      <a:r>
                        <a:rPr sz="1913" b="0">
                          <a:solidFill>
                            <a:srgbClr val="111111"/>
                          </a:solidFill>
                          <a:latin typeface="Aptos"/>
                          <a:ea typeface="Aptos"/>
                          <a:cs typeface="Aptos"/>
                        </a:rPr>
                        <a:t>A</a:t>
                      </a:r>
                    </a:p>
                  </a:txBody>
                  <a:tcPr marL="95250" marR="95250" marT="0" marB="0" anchor="ctr">
                    <a:solidFill>
                      <a:srgbClr val="FFFFFF"/>
                    </a:solidFill>
                  </a:tcPr>
                </a:tc>
                <a:tc>
                  <a:txBody>
                    <a:bodyPr/>
                    <a:lstStyle/>
                    <a:p>
                      <a:pPr algn="ctr"/>
                      <a:r>
                        <a:rPr sz="1913" b="0">
                          <a:solidFill>
                            <a:srgbClr val="111111"/>
                          </a:solidFill>
                          <a:latin typeface="Aptos"/>
                          <a:ea typeface="Aptos"/>
                          <a:cs typeface="Aptos"/>
                        </a:rPr>
                        <a:t>Student ID: 03752</a:t>
                      </a:r>
                    </a:p>
                  </a:txBody>
                  <a:tcPr marL="95250" marR="95250" marT="0" marB="0" anchor="ctr">
                    <a:solidFill>
                      <a:srgbClr val="FFFFFF"/>
                    </a:solidFill>
                  </a:tcPr>
                </a:tc>
                <a:extLst>
                  <a:ext uri="{0D108BD9-81ED-4DB2-BD59-A6C34878D82A}">
                    <a16:rowId xmlns:a16="http://schemas.microsoft.com/office/drawing/2014/main" val="10001"/>
                  </a:ext>
                </a:extLst>
              </a:tr>
              <a:tr h="390525">
                <a:tc>
                  <a:txBody>
                    <a:bodyPr/>
                    <a:lstStyle/>
                    <a:p>
                      <a:pPr algn="l"/>
                      <a:r>
                        <a:rPr sz="1913" b="0">
                          <a:solidFill>
                            <a:srgbClr val="111111"/>
                          </a:solidFill>
                          <a:latin typeface="Aptos"/>
                          <a:ea typeface="Aptos"/>
                          <a:cs typeface="Aptos"/>
                        </a:rPr>
                        <a:t>B</a:t>
                      </a:r>
                    </a:p>
                  </a:txBody>
                  <a:tcPr marL="95250" marR="95250" marT="0" marB="0" anchor="ctr">
                    <a:solidFill>
                      <a:srgbClr val="EFF8FF"/>
                    </a:solidFill>
                  </a:tcPr>
                </a:tc>
                <a:tc>
                  <a:txBody>
                    <a:bodyPr/>
                    <a:lstStyle/>
                    <a:p>
                      <a:pPr algn="ctr"/>
                      <a:r>
                        <a:rPr sz="1913" b="0">
                          <a:solidFill>
                            <a:srgbClr val="111111"/>
                          </a:solidFill>
                          <a:latin typeface="Aptos"/>
                          <a:ea typeface="Aptos"/>
                          <a:cs typeface="Aptos"/>
                        </a:rPr>
                        <a:t>Programme code: 1 Business / 2 Engineering</a:t>
                      </a:r>
                    </a:p>
                  </a:txBody>
                  <a:tcPr marL="95250" marR="95250" marT="0" marB="0" anchor="ctr">
                    <a:solidFill>
                      <a:srgbClr val="EFF8FF"/>
                    </a:solidFill>
                  </a:tcPr>
                </a:tc>
                <a:extLst>
                  <a:ext uri="{0D108BD9-81ED-4DB2-BD59-A6C34878D82A}">
                    <a16:rowId xmlns:a16="http://schemas.microsoft.com/office/drawing/2014/main" val="10002"/>
                  </a:ext>
                </a:extLst>
              </a:tr>
              <a:tr h="390525">
                <a:tc>
                  <a:txBody>
                    <a:bodyPr/>
                    <a:lstStyle/>
                    <a:p>
                      <a:pPr algn="l"/>
                      <a:r>
                        <a:rPr sz="1913" b="0">
                          <a:solidFill>
                            <a:srgbClr val="111111"/>
                          </a:solidFill>
                          <a:latin typeface="Aptos"/>
                          <a:ea typeface="Aptos"/>
                          <a:cs typeface="Aptos"/>
                        </a:rPr>
                        <a:t>C</a:t>
                      </a:r>
                    </a:p>
                  </a:txBody>
                  <a:tcPr marL="95250" marR="95250" marT="0" marB="0" anchor="ctr">
                    <a:solidFill>
                      <a:srgbClr val="FFFFFF"/>
                    </a:solidFill>
                  </a:tcPr>
                </a:tc>
                <a:tc>
                  <a:txBody>
                    <a:bodyPr/>
                    <a:lstStyle/>
                    <a:p>
                      <a:pPr algn="ctr"/>
                      <a:r>
                        <a:rPr sz="1913" b="0">
                          <a:solidFill>
                            <a:srgbClr val="111111"/>
                          </a:solidFill>
                          <a:latin typeface="Aptos"/>
                          <a:ea typeface="Aptos"/>
                          <a:cs typeface="Aptos"/>
                        </a:rPr>
                        <a:t>Meals bought in seven days: 8</a:t>
                      </a:r>
                    </a:p>
                  </a:txBody>
                  <a:tcPr marL="95250" marR="95250" marT="0" marB="0" anchor="ctr">
                    <a:solidFill>
                      <a:srgbClr val="FFFFFF"/>
                    </a:solidFill>
                  </a:tcPr>
                </a:tc>
                <a:extLst>
                  <a:ext uri="{0D108BD9-81ED-4DB2-BD59-A6C34878D82A}">
                    <a16:rowId xmlns:a16="http://schemas.microsoft.com/office/drawing/2014/main" val="10003"/>
                  </a:ext>
                </a:extLst>
              </a:tr>
              <a:tr h="390525">
                <a:tc>
                  <a:txBody>
                    <a:bodyPr/>
                    <a:lstStyle/>
                    <a:p>
                      <a:pPr algn="l"/>
                      <a:r>
                        <a:rPr sz="1913" b="0">
                          <a:solidFill>
                            <a:srgbClr val="111111"/>
                          </a:solidFill>
                          <a:latin typeface="Aptos"/>
                          <a:ea typeface="Aptos"/>
                          <a:cs typeface="Aptos"/>
                        </a:rPr>
                        <a:t>D</a:t>
                      </a:r>
                    </a:p>
                  </a:txBody>
                  <a:tcPr marL="95250" marR="95250" marT="0" marB="0" anchor="ctr">
                    <a:solidFill>
                      <a:srgbClr val="EFF8FF"/>
                    </a:solidFill>
                  </a:tcPr>
                </a:tc>
                <a:tc>
                  <a:txBody>
                    <a:bodyPr/>
                    <a:lstStyle/>
                    <a:p>
                      <a:pPr algn="ctr"/>
                      <a:r>
                        <a:rPr sz="1913" b="0">
                          <a:solidFill>
                            <a:srgbClr val="111111"/>
                          </a:solidFill>
                          <a:latin typeface="Aptos"/>
                          <a:ea typeface="Aptos"/>
                          <a:cs typeface="Aptos"/>
                        </a:rPr>
                        <a:t>Portion mass rounded to the nearest gram: 315 g</a:t>
                      </a:r>
                    </a:p>
                  </a:txBody>
                  <a:tcPr marL="95250" marR="95250" marT="0" marB="0" anchor="ctr">
                    <a:solidFill>
                      <a:srgbClr val="EFF8FF"/>
                    </a:solidFill>
                  </a:tcPr>
                </a:tc>
                <a:extLst>
                  <a:ext uri="{0D108BD9-81ED-4DB2-BD59-A6C34878D82A}">
                    <a16:rowId xmlns:a16="http://schemas.microsoft.com/office/drawing/2014/main" val="10004"/>
                  </a:ext>
                </a:extLst>
              </a:tr>
              <a:tr h="390525">
                <a:tc>
                  <a:txBody>
                    <a:bodyPr/>
                    <a:lstStyle/>
                    <a:p>
                      <a:pPr algn="l"/>
                      <a:r>
                        <a:rPr sz="1913" b="0">
                          <a:solidFill>
                            <a:srgbClr val="111111"/>
                          </a:solidFill>
                          <a:latin typeface="Aptos"/>
                          <a:ea typeface="Aptos"/>
                          <a:cs typeface="Aptos"/>
                        </a:rPr>
                        <a:t>E</a:t>
                      </a:r>
                    </a:p>
                  </a:txBody>
                  <a:tcPr marL="95250" marR="95250" marT="0" marB="0" anchor="ctr">
                    <a:solidFill>
                      <a:srgbClr val="FFFFFF"/>
                    </a:solidFill>
                  </a:tcPr>
                </a:tc>
                <a:tc>
                  <a:txBody>
                    <a:bodyPr/>
                    <a:lstStyle/>
                    <a:p>
                      <a:pPr algn="ctr"/>
                      <a:r>
                        <a:rPr sz="1913" b="0">
                          <a:solidFill>
                            <a:srgbClr val="111111"/>
                          </a:solidFill>
                          <a:latin typeface="Aptos"/>
                          <a:ea typeface="Aptos"/>
                          <a:cs typeface="Aptos"/>
                        </a:rPr>
                        <a:t>Exact waiting time, recorded as 7.3 minutes</a:t>
                      </a:r>
                    </a:p>
                  </a:txBody>
                  <a:tcPr marL="95250" marR="95250" marT="0" marB="0" anchor="ctr">
                    <a:solidFill>
                      <a:srgbClr val="FFFFFF"/>
                    </a:solidFill>
                  </a:tcPr>
                </a:tc>
                <a:extLst>
                  <a:ext uri="{0D108BD9-81ED-4DB2-BD59-A6C34878D82A}">
                    <a16:rowId xmlns:a16="http://schemas.microsoft.com/office/drawing/2014/main" val="10005"/>
                  </a:ext>
                </a:extLst>
              </a:tr>
              <a:tr h="390525">
                <a:tc>
                  <a:txBody>
                    <a:bodyPr/>
                    <a:lstStyle/>
                    <a:p>
                      <a:pPr algn="l"/>
                      <a:r>
                        <a:rPr sz="1913" b="0">
                          <a:solidFill>
                            <a:srgbClr val="111111"/>
                          </a:solidFill>
                          <a:latin typeface="Aptos"/>
                          <a:ea typeface="Aptos"/>
                          <a:cs typeface="Aptos"/>
                        </a:rPr>
                        <a:t>F</a:t>
                      </a:r>
                    </a:p>
                  </a:txBody>
                  <a:tcPr marL="95250" marR="95250" marT="0" marB="0" anchor="ctr">
                    <a:solidFill>
                      <a:srgbClr val="EFF8FF"/>
                    </a:solidFill>
                  </a:tcPr>
                </a:tc>
                <a:tc>
                  <a:txBody>
                    <a:bodyPr/>
                    <a:lstStyle/>
                    <a:p>
                      <a:pPr algn="ctr"/>
                      <a:r>
                        <a:rPr sz="1913" b="0">
                          <a:solidFill>
                            <a:srgbClr val="111111"/>
                          </a:solidFill>
                          <a:latin typeface="Aptos"/>
                          <a:ea typeface="Aptos"/>
                          <a:cs typeface="Aptos"/>
                        </a:rPr>
                        <a:t>Waiting-time band: under 5 / 5–10 / over 10 min</a:t>
                      </a:r>
                    </a:p>
                  </a:txBody>
                  <a:tcPr marL="95250" marR="95250" marT="0" marB="0" anchor="ctr">
                    <a:solidFill>
                      <a:srgbClr val="EFF8FF"/>
                    </a:solidFill>
                  </a:tcPr>
                </a:tc>
                <a:extLst>
                  <a:ext uri="{0D108BD9-81ED-4DB2-BD59-A6C34878D82A}">
                    <a16:rowId xmlns:a16="http://schemas.microsoft.com/office/drawing/2014/main" val="10006"/>
                  </a:ext>
                </a:extLst>
              </a:tr>
              <a:tr h="390525">
                <a:tc>
                  <a:txBody>
                    <a:bodyPr/>
                    <a:lstStyle/>
                    <a:p>
                      <a:pPr algn="l"/>
                      <a:r>
                        <a:rPr sz="1913" b="0">
                          <a:solidFill>
                            <a:srgbClr val="111111"/>
                          </a:solidFill>
                          <a:latin typeface="Aptos"/>
                          <a:ea typeface="Aptos"/>
                          <a:cs typeface="Aptos"/>
                        </a:rPr>
                        <a:t>G</a:t>
                      </a:r>
                    </a:p>
                  </a:txBody>
                  <a:tcPr marL="95250" marR="95250" marT="0" marB="0" anchor="ctr">
                    <a:solidFill>
                      <a:srgbClr val="FFFFFF"/>
                    </a:solidFill>
                  </a:tcPr>
                </a:tc>
                <a:tc>
                  <a:txBody>
                    <a:bodyPr/>
                    <a:lstStyle/>
                    <a:p>
                      <a:pPr algn="ctr"/>
                      <a:r>
                        <a:rPr sz="1913" b="0">
                          <a:solidFill>
                            <a:srgbClr val="111111"/>
                          </a:solidFill>
                          <a:latin typeface="Aptos"/>
                          <a:ea typeface="Aptos"/>
                          <a:cs typeface="Aptos"/>
                        </a:rPr>
                        <a:t>Opinion code: 1 Support / 2 Oppose / 3 Unsure</a:t>
                      </a:r>
                    </a:p>
                  </a:txBody>
                  <a:tcPr marL="95250" marR="95250" marT="0" marB="0" anchor="ctr">
                    <a:solidFill>
                      <a:srgbClr val="FFFFFF"/>
                    </a:solidFill>
                  </a:tcPr>
                </a:tc>
                <a:extLst>
                  <a:ext uri="{0D108BD9-81ED-4DB2-BD59-A6C34878D82A}">
                    <a16:rowId xmlns:a16="http://schemas.microsoft.com/office/drawing/2014/main" val="10007"/>
                  </a:ext>
                </a:extLst>
              </a:tr>
              <a:tr h="390525">
                <a:tc>
                  <a:txBody>
                    <a:bodyPr/>
                    <a:lstStyle/>
                    <a:p>
                      <a:pPr algn="l"/>
                      <a:r>
                        <a:rPr sz="1913" b="0">
                          <a:solidFill>
                            <a:srgbClr val="111111"/>
                          </a:solidFill>
                          <a:latin typeface="Aptos"/>
                          <a:ea typeface="Aptos"/>
                          <a:cs typeface="Aptos"/>
                        </a:rPr>
                        <a:t>H</a:t>
                      </a:r>
                    </a:p>
                  </a:txBody>
                  <a:tcPr marL="95250" marR="95250" marT="0" marB="0" anchor="ctr">
                    <a:solidFill>
                      <a:srgbClr val="EFF8FF"/>
                    </a:solidFill>
                  </a:tcPr>
                </a:tc>
                <a:tc>
                  <a:txBody>
                    <a:bodyPr/>
                    <a:lstStyle/>
                    <a:p>
                      <a:pPr algn="ctr"/>
                      <a:r>
                        <a:rPr sz="1913" b="0">
                          <a:solidFill>
                            <a:srgbClr val="111111"/>
                          </a:solidFill>
                          <a:latin typeface="Aptos"/>
                          <a:ea typeface="Aptos"/>
                          <a:cs typeface="Aptos"/>
                        </a:rPr>
                        <a:t>Leftover mass rounded to the nearest gram: 84 g</a:t>
                      </a:r>
                    </a:p>
                  </a:txBody>
                  <a:tcPr marL="95250" marR="95250" marT="0" marB="0" anchor="ctr">
                    <a:solidFill>
                      <a:srgbClr val="EFF8FF"/>
                    </a:solidFill>
                  </a:tcPr>
                </a:tc>
                <a:extLst>
                  <a:ext uri="{0D108BD9-81ED-4DB2-BD59-A6C34878D82A}">
                    <a16:rowId xmlns:a16="http://schemas.microsoft.com/office/drawing/2014/main" val="10008"/>
                  </a:ext>
                </a:extLst>
              </a:tr>
            </a:tbl>
          </a:graphicData>
        </a:graphic>
      </p:graphicFrame>
      <p:sp>
        <p:nvSpPr>
          <p:cNvPr id="6" name="s22-text-5">
            <a:extLst>
              <a:ext uri="{FF2B5EF4-FFF2-40B4-BE49-F238E27FC236}">
                <a16:creationId xmlns:a16="http://schemas.microsoft.com/office/drawing/2014/main" id="{81720B3A-FB31-4667-BE96-B61D1E8CD1C5}"/>
              </a:ext>
            </a:extLst>
          </p:cNvPr>
          <p:cNvSpPr>
            <a:spLocks noGrp="1"/>
          </p:cNvSpPr>
          <p:nvPr/>
        </p:nvSpPr>
        <p:spPr>
          <a:xfrm>
            <a:off x="457200" y="6477000"/>
            <a:ext cx="10763250" cy="238125"/>
          </a:xfrm>
          <a:prstGeom prst="rect">
            <a:avLst/>
          </a:prstGeom>
          <a:noFill/>
          <a:ln w="0">
            <a:noFill/>
          </a:ln>
        </p:spPr>
        <p:txBody>
          <a:bodyPr wrap="square" lIns="0" tIns="0" rIns="0" bIns="0" anchor="t">
            <a:noAutofit/>
          </a:bodyPr>
          <a:lstStyle/>
          <a:p>
            <a:endParaRPr/>
          </a:p>
        </p:txBody>
      </p:sp>
      <p:sp>
        <p:nvSpPr>
          <p:cNvPr id="7" name="s22-text-6">
            <a:extLst>
              <a:ext uri="{FF2B5EF4-FFF2-40B4-BE49-F238E27FC236}">
                <a16:creationId xmlns:a16="http://schemas.microsoft.com/office/drawing/2014/main" id="{D93E19D5-AC03-4E68-80A3-5E7BFE0FA4D9}"/>
              </a:ext>
            </a:extLst>
          </p:cNvPr>
          <p:cNvSpPr>
            <a:spLocks noGrp="1"/>
          </p:cNvSpPr>
          <p:nvPr/>
        </p:nvSpPr>
        <p:spPr>
          <a:xfrm>
            <a:off x="11239500" y="6477000"/>
            <a:ext cx="476250" cy="238125"/>
          </a:xfrm>
          <a:prstGeom prst="rect">
            <a:avLst/>
          </a:prstGeom>
          <a:noFill/>
          <a:ln w="0">
            <a:noFill/>
          </a:ln>
        </p:spPr>
        <p:txBody>
          <a:bodyPr wrap="square" lIns="0" tIns="0" rIns="0" bIns="0" anchor="t">
            <a:noAutofit/>
          </a:bodyPr>
          <a:lstStyle/>
          <a:p>
            <a:pPr algn="r">
              <a:defRPr sz="1275" b="0">
                <a:solidFill>
                  <a:srgbClr val="666666"/>
                </a:solidFill>
                <a:latin typeface="Aptos"/>
                <a:ea typeface="Aptos"/>
                <a:cs typeface="Aptos"/>
              </a:defRPr>
            </a:pPr>
            <a:r>
              <a:rPr sz="1275" b="0">
                <a:solidFill>
                  <a:srgbClr val="666666"/>
                </a:solidFill>
                <a:latin typeface="Aptos"/>
                <a:ea typeface="Aptos"/>
                <a:cs typeface="Aptos"/>
              </a:rPr>
              <a:t>22</a:t>
            </a:r>
          </a:p>
        </p:txBody>
      </p:sp>
    </p:spTree>
    <p:extLst>
      <p:ext uri="{BB962C8B-B14F-4D97-AF65-F5344CB8AC3E}">
        <p14:creationId xmlns:p14="http://schemas.microsoft.com/office/powerpoint/2010/main" val="32813612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23-text-1">
            <a:extLst>
              <a:ext uri="{FF2B5EF4-FFF2-40B4-BE49-F238E27FC236}">
                <a16:creationId xmlns:a16="http://schemas.microsoft.com/office/drawing/2014/main" id="{7E9DBD98-C6A6-416F-BAAE-67DB9140A8B2}"/>
              </a:ext>
            </a:extLst>
          </p:cNvPr>
          <p:cNvSpPr>
            <a:spLocks noGrp="1"/>
          </p:cNvSpPr>
          <p:nvPr/>
        </p:nvSpPr>
        <p:spPr>
          <a:xfrm>
            <a:off x="430816" y="1038225"/>
            <a:ext cx="11293412" cy="78105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Recording choices and data types</a:t>
            </a:r>
          </a:p>
        </p:txBody>
      </p:sp>
      <p:sp>
        <p:nvSpPr>
          <p:cNvPr id="2" name="s23-rect-2">
            <a:extLst>
              <a:ext uri="{FF2B5EF4-FFF2-40B4-BE49-F238E27FC236}">
                <a16:creationId xmlns:a16="http://schemas.microsoft.com/office/drawing/2014/main" id="{5B3CE770-7F83-42DA-87D9-5D33C0C6FEAE}"/>
              </a:ext>
            </a:extLst>
          </p:cNvPr>
          <p:cNvSpPr>
            <a:spLocks noGrp="1"/>
          </p:cNvSpPr>
          <p:nvPr/>
        </p:nvSpPr>
        <p:spPr>
          <a:xfrm>
            <a:off x="8734425" y="476250"/>
            <a:ext cx="3000375" cy="400050"/>
          </a:xfrm>
          <a:prstGeom prst="rect">
            <a:avLst/>
          </a:prstGeom>
          <a:solidFill>
            <a:srgbClr val="D6171D"/>
          </a:solidFill>
          <a:ln w="0">
            <a:noFill/>
          </a:ln>
        </p:spPr>
        <p:txBody>
          <a:bodyPr/>
          <a:lstStyle/>
          <a:p>
            <a:endParaRPr lang="en-US"/>
          </a:p>
        </p:txBody>
      </p:sp>
      <p:sp>
        <p:nvSpPr>
          <p:cNvPr id="3" name="s23-text-3">
            <a:extLst>
              <a:ext uri="{FF2B5EF4-FFF2-40B4-BE49-F238E27FC236}">
                <a16:creationId xmlns:a16="http://schemas.microsoft.com/office/drawing/2014/main" id="{B54D3183-29BE-46A2-A30A-A4C31FC3FB71}"/>
              </a:ext>
            </a:extLst>
          </p:cNvPr>
          <p:cNvSpPr>
            <a:spLocks noGrp="1"/>
          </p:cNvSpPr>
          <p:nvPr/>
        </p:nvSpPr>
        <p:spPr>
          <a:xfrm>
            <a:off x="8829675" y="533400"/>
            <a:ext cx="2809875" cy="323850"/>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C4.1</a:t>
            </a:r>
          </a:p>
        </p:txBody>
      </p:sp>
      <p:graphicFrame>
        <p:nvGraphicFramePr>
          <p:cNvPr id="11" name="Table 10"/>
          <p:cNvGraphicFramePr/>
          <p:nvPr/>
        </p:nvGraphicFramePr>
        <p:xfrm>
          <a:off x="457200" y="2076450"/>
          <a:ext cx="11239500" cy="3686175"/>
        </p:xfrm>
        <a:graphic>
          <a:graphicData uri="http://schemas.openxmlformats.org/drawingml/2006/table">
            <a:tbl>
              <a:tblPr firstRow="1"/>
              <a:tblGrid>
                <a:gridCol w="857250">
                  <a:extLst>
                    <a:ext uri="{9D8B030D-6E8A-4147-A177-3AD203B41FA5}">
                      <a16:colId xmlns:a16="http://schemas.microsoft.com/office/drawing/2014/main" val="20000"/>
                    </a:ext>
                  </a:extLst>
                </a:gridCol>
                <a:gridCol w="4333875">
                  <a:extLst>
                    <a:ext uri="{9D8B030D-6E8A-4147-A177-3AD203B41FA5}">
                      <a16:colId xmlns:a16="http://schemas.microsoft.com/office/drawing/2014/main" val="20001"/>
                    </a:ext>
                  </a:extLst>
                </a:gridCol>
                <a:gridCol w="6048375">
                  <a:extLst>
                    <a:ext uri="{9D8B030D-6E8A-4147-A177-3AD203B41FA5}">
                      <a16:colId xmlns:a16="http://schemas.microsoft.com/office/drawing/2014/main" val="20002"/>
                    </a:ext>
                  </a:extLst>
                </a:gridCol>
              </a:tblGrid>
              <a:tr h="409575">
                <a:tc>
                  <a:txBody>
                    <a:bodyPr/>
                    <a:lstStyle/>
                    <a:p>
                      <a:pPr algn="l"/>
                      <a:r>
                        <a:rPr sz="1913" b="1">
                          <a:solidFill>
                            <a:srgbClr val="FFFFFF"/>
                          </a:solidFill>
                          <a:latin typeface="Aptos"/>
                          <a:ea typeface="Aptos"/>
                          <a:cs typeface="Aptos"/>
                        </a:rPr>
                        <a:t>Item</a:t>
                      </a:r>
                    </a:p>
                  </a:txBody>
                  <a:tcPr marL="95250" marR="95250" marT="0" marB="0" anchor="ctr">
                    <a:solidFill>
                      <a:srgbClr val="D6171D"/>
                    </a:solidFill>
                  </a:tcPr>
                </a:tc>
                <a:tc>
                  <a:txBody>
                    <a:bodyPr/>
                    <a:lstStyle/>
                    <a:p>
                      <a:pPr algn="ctr"/>
                      <a:r>
                        <a:rPr sz="1913" b="1">
                          <a:solidFill>
                            <a:srgbClr val="FFFFFF"/>
                          </a:solidFill>
                          <a:latin typeface="Aptos"/>
                          <a:ea typeface="Aptos"/>
                          <a:cs typeface="Aptos"/>
                        </a:rPr>
                        <a:t>Classification</a:t>
                      </a:r>
                    </a:p>
                  </a:txBody>
                  <a:tcPr marL="95250" marR="95250" marT="0" marB="0" anchor="ctr">
                    <a:solidFill>
                      <a:srgbClr val="D6171D"/>
                    </a:solidFill>
                  </a:tcPr>
                </a:tc>
                <a:tc>
                  <a:txBody>
                    <a:bodyPr/>
                    <a:lstStyle/>
                    <a:p>
                      <a:pPr algn="ctr"/>
                      <a:r>
                        <a:rPr sz="1913" b="1">
                          <a:solidFill>
                            <a:srgbClr val="FFFFFF"/>
                          </a:solidFill>
                          <a:latin typeface="Aptos"/>
                          <a:ea typeface="Aptos"/>
                          <a:cs typeface="Aptos"/>
                        </a:rPr>
                        <a:t>Reason</a:t>
                      </a:r>
                    </a:p>
                  </a:txBody>
                  <a:tcPr marL="95250" marR="95250" marT="0" marB="0" anchor="ctr">
                    <a:solidFill>
                      <a:srgbClr val="D6171D"/>
                    </a:solidFill>
                  </a:tcPr>
                </a:tc>
                <a:extLst>
                  <a:ext uri="{0D108BD9-81ED-4DB2-BD59-A6C34878D82A}">
                    <a16:rowId xmlns:a16="http://schemas.microsoft.com/office/drawing/2014/main" val="10000"/>
                  </a:ext>
                </a:extLst>
              </a:tr>
              <a:tr h="409575">
                <a:tc>
                  <a:txBody>
                    <a:bodyPr/>
                    <a:lstStyle/>
                    <a:p>
                      <a:pPr algn="l"/>
                      <a:r>
                        <a:rPr sz="1913" b="0">
                          <a:solidFill>
                            <a:srgbClr val="111111"/>
                          </a:solidFill>
                          <a:latin typeface="Aptos"/>
                          <a:ea typeface="Aptos"/>
                          <a:cs typeface="Aptos"/>
                        </a:rPr>
                        <a:t>A</a:t>
                      </a:r>
                    </a:p>
                  </a:txBody>
                  <a:tcPr marL="95250" marR="95250" marT="0" marB="0" anchor="ctr">
                    <a:solidFill>
                      <a:srgbClr val="FFFFFF"/>
                    </a:solidFill>
                  </a:tcPr>
                </a:tc>
                <a:tc>
                  <a:txBody>
                    <a:bodyPr/>
                    <a:lstStyle/>
                    <a:p>
                      <a:pPr algn="ctr"/>
                      <a:r>
                        <a:rPr sz="1913" b="0">
                          <a:solidFill>
                            <a:srgbClr val="111111"/>
                          </a:solidFill>
                          <a:latin typeface="Aptos"/>
                          <a:ea typeface="Aptos"/>
                          <a:cs typeface="Aptos"/>
                        </a:rPr>
                        <a:t>Categorical</a:t>
                      </a:r>
                    </a:p>
                  </a:txBody>
                  <a:tcPr marL="95250" marR="95250" marT="0" marB="0" anchor="ctr">
                    <a:solidFill>
                      <a:srgbClr val="FFFFFF"/>
                    </a:solidFill>
                  </a:tcPr>
                </a:tc>
                <a:tc>
                  <a:txBody>
                    <a:bodyPr/>
                    <a:lstStyle/>
                    <a:p>
                      <a:pPr algn="ctr"/>
                      <a:r>
                        <a:rPr sz="1913" b="0">
                          <a:solidFill>
                            <a:srgbClr val="111111"/>
                          </a:solidFill>
                          <a:latin typeface="Aptos"/>
                          <a:ea typeface="Aptos"/>
                          <a:cs typeface="Aptos"/>
                        </a:rPr>
                        <a:t>An identifier.</a:t>
                      </a:r>
                    </a:p>
                  </a:txBody>
                  <a:tcPr marL="95250" marR="95250" marT="0" marB="0" anchor="ctr">
                    <a:solidFill>
                      <a:srgbClr val="FFFFFF"/>
                    </a:solidFill>
                  </a:tcPr>
                </a:tc>
                <a:extLst>
                  <a:ext uri="{0D108BD9-81ED-4DB2-BD59-A6C34878D82A}">
                    <a16:rowId xmlns:a16="http://schemas.microsoft.com/office/drawing/2014/main" val="10001"/>
                  </a:ext>
                </a:extLst>
              </a:tr>
              <a:tr h="409575">
                <a:tc>
                  <a:txBody>
                    <a:bodyPr/>
                    <a:lstStyle/>
                    <a:p>
                      <a:pPr algn="l"/>
                      <a:r>
                        <a:rPr sz="1913" b="0">
                          <a:solidFill>
                            <a:srgbClr val="111111"/>
                          </a:solidFill>
                          <a:latin typeface="Aptos"/>
                          <a:ea typeface="Aptos"/>
                          <a:cs typeface="Aptos"/>
                        </a:rPr>
                        <a:t>B</a:t>
                      </a:r>
                    </a:p>
                  </a:txBody>
                  <a:tcPr marL="95250" marR="95250" marT="0" marB="0" anchor="ctr">
                    <a:solidFill>
                      <a:srgbClr val="EFF8FF"/>
                    </a:solidFill>
                  </a:tcPr>
                </a:tc>
                <a:tc>
                  <a:txBody>
                    <a:bodyPr/>
                    <a:lstStyle/>
                    <a:p>
                      <a:pPr algn="ctr"/>
                      <a:r>
                        <a:rPr sz="1913" b="0">
                          <a:solidFill>
                            <a:srgbClr val="111111"/>
                          </a:solidFill>
                          <a:latin typeface="Aptos"/>
                          <a:ea typeface="Aptos"/>
                          <a:cs typeface="Aptos"/>
                        </a:rPr>
                        <a:t>Categorical</a:t>
                      </a:r>
                    </a:p>
                  </a:txBody>
                  <a:tcPr marL="95250" marR="95250" marT="0" marB="0" anchor="ctr">
                    <a:solidFill>
                      <a:srgbClr val="EFF8FF"/>
                    </a:solidFill>
                  </a:tcPr>
                </a:tc>
                <a:tc>
                  <a:txBody>
                    <a:bodyPr/>
                    <a:lstStyle/>
                    <a:p>
                      <a:pPr algn="ctr"/>
                      <a:r>
                        <a:rPr sz="1913" b="0">
                          <a:solidFill>
                            <a:srgbClr val="111111"/>
                          </a:solidFill>
                          <a:latin typeface="Aptos"/>
                          <a:ea typeface="Aptos"/>
                          <a:cs typeface="Aptos"/>
                        </a:rPr>
                        <a:t>Numbers stand for programmes.</a:t>
                      </a:r>
                    </a:p>
                  </a:txBody>
                  <a:tcPr marL="95250" marR="95250" marT="0" marB="0" anchor="ctr">
                    <a:solidFill>
                      <a:srgbClr val="EFF8FF"/>
                    </a:solidFill>
                  </a:tcPr>
                </a:tc>
                <a:extLst>
                  <a:ext uri="{0D108BD9-81ED-4DB2-BD59-A6C34878D82A}">
                    <a16:rowId xmlns:a16="http://schemas.microsoft.com/office/drawing/2014/main" val="10002"/>
                  </a:ext>
                </a:extLst>
              </a:tr>
              <a:tr h="409575">
                <a:tc>
                  <a:txBody>
                    <a:bodyPr/>
                    <a:lstStyle/>
                    <a:p>
                      <a:pPr algn="l"/>
                      <a:r>
                        <a:rPr sz="1913" b="0">
                          <a:solidFill>
                            <a:srgbClr val="111111"/>
                          </a:solidFill>
                          <a:latin typeface="Aptos"/>
                          <a:ea typeface="Aptos"/>
                          <a:cs typeface="Aptos"/>
                        </a:rPr>
                        <a:t>C</a:t>
                      </a:r>
                    </a:p>
                  </a:txBody>
                  <a:tcPr marL="95250" marR="95250" marT="0" marB="0" anchor="ctr">
                    <a:solidFill>
                      <a:srgbClr val="FFFFFF"/>
                    </a:solidFill>
                  </a:tcPr>
                </a:tc>
                <a:tc>
                  <a:txBody>
                    <a:bodyPr/>
                    <a:lstStyle/>
                    <a:p>
                      <a:pPr algn="ctr"/>
                      <a:r>
                        <a:rPr sz="1913" b="0">
                          <a:solidFill>
                            <a:srgbClr val="111111"/>
                          </a:solidFill>
                          <a:latin typeface="Aptos"/>
                          <a:ea typeface="Aptos"/>
                          <a:cs typeface="Aptos"/>
                        </a:rPr>
                        <a:t>Quantitative, discrete</a:t>
                      </a:r>
                    </a:p>
                  </a:txBody>
                  <a:tcPr marL="95250" marR="95250" marT="0" marB="0" anchor="ctr">
                    <a:solidFill>
                      <a:srgbClr val="FFFFFF"/>
                    </a:solidFill>
                  </a:tcPr>
                </a:tc>
                <a:tc>
                  <a:txBody>
                    <a:bodyPr/>
                    <a:lstStyle/>
                    <a:p>
                      <a:pPr algn="ctr"/>
                      <a:r>
                        <a:rPr sz="1913" b="0">
                          <a:solidFill>
                            <a:srgbClr val="111111"/>
                          </a:solidFill>
                          <a:latin typeface="Aptos"/>
                          <a:ea typeface="Aptos"/>
                          <a:cs typeface="Aptos"/>
                        </a:rPr>
                        <a:t>A count of meals.</a:t>
                      </a:r>
                    </a:p>
                  </a:txBody>
                  <a:tcPr marL="95250" marR="95250" marT="0" marB="0" anchor="ctr">
                    <a:solidFill>
                      <a:srgbClr val="FFFFFF"/>
                    </a:solidFill>
                  </a:tcPr>
                </a:tc>
                <a:extLst>
                  <a:ext uri="{0D108BD9-81ED-4DB2-BD59-A6C34878D82A}">
                    <a16:rowId xmlns:a16="http://schemas.microsoft.com/office/drawing/2014/main" val="10003"/>
                  </a:ext>
                </a:extLst>
              </a:tr>
              <a:tr h="409575">
                <a:tc>
                  <a:txBody>
                    <a:bodyPr/>
                    <a:lstStyle/>
                    <a:p>
                      <a:pPr algn="l"/>
                      <a:r>
                        <a:rPr sz="1913" b="0">
                          <a:solidFill>
                            <a:srgbClr val="111111"/>
                          </a:solidFill>
                          <a:latin typeface="Aptos"/>
                          <a:ea typeface="Aptos"/>
                          <a:cs typeface="Aptos"/>
                        </a:rPr>
                        <a:t>D</a:t>
                      </a:r>
                    </a:p>
                  </a:txBody>
                  <a:tcPr marL="95250" marR="95250" marT="0" marB="0" anchor="ctr">
                    <a:solidFill>
                      <a:srgbClr val="EFF8FF"/>
                    </a:solidFill>
                  </a:tcPr>
                </a:tc>
                <a:tc>
                  <a:txBody>
                    <a:bodyPr/>
                    <a:lstStyle/>
                    <a:p>
                      <a:pPr algn="ctr"/>
                      <a:r>
                        <a:rPr sz="1913" b="0">
                          <a:solidFill>
                            <a:srgbClr val="111111"/>
                          </a:solidFill>
                          <a:latin typeface="Aptos"/>
                          <a:ea typeface="Aptos"/>
                          <a:cs typeface="Aptos"/>
                        </a:rPr>
                        <a:t>Quantitative, continuous</a:t>
                      </a:r>
                    </a:p>
                  </a:txBody>
                  <a:tcPr marL="95250" marR="95250" marT="0" marB="0" anchor="ctr">
                    <a:solidFill>
                      <a:srgbClr val="EFF8FF"/>
                    </a:solidFill>
                  </a:tcPr>
                </a:tc>
                <a:tc>
                  <a:txBody>
                    <a:bodyPr/>
                    <a:lstStyle/>
                    <a:p>
                      <a:pPr algn="ctr"/>
                      <a:r>
                        <a:rPr sz="1913" b="0">
                          <a:solidFill>
                            <a:srgbClr val="111111"/>
                          </a:solidFill>
                          <a:latin typeface="Aptos"/>
                          <a:ea typeface="Aptos"/>
                          <a:cs typeface="Aptos"/>
                        </a:rPr>
                        <a:t>Mass is measured, then rounded.</a:t>
                      </a:r>
                    </a:p>
                  </a:txBody>
                  <a:tcPr marL="95250" marR="95250" marT="0" marB="0" anchor="ctr">
                    <a:solidFill>
                      <a:srgbClr val="EFF8FF"/>
                    </a:solidFill>
                  </a:tcPr>
                </a:tc>
                <a:extLst>
                  <a:ext uri="{0D108BD9-81ED-4DB2-BD59-A6C34878D82A}">
                    <a16:rowId xmlns:a16="http://schemas.microsoft.com/office/drawing/2014/main" val="10004"/>
                  </a:ext>
                </a:extLst>
              </a:tr>
              <a:tr h="409575">
                <a:tc>
                  <a:txBody>
                    <a:bodyPr/>
                    <a:lstStyle/>
                    <a:p>
                      <a:pPr algn="l"/>
                      <a:r>
                        <a:rPr sz="1913" b="0">
                          <a:solidFill>
                            <a:srgbClr val="111111"/>
                          </a:solidFill>
                          <a:latin typeface="Aptos"/>
                          <a:ea typeface="Aptos"/>
                          <a:cs typeface="Aptos"/>
                        </a:rPr>
                        <a:t>E</a:t>
                      </a:r>
                    </a:p>
                  </a:txBody>
                  <a:tcPr marL="95250" marR="95250" marT="0" marB="0" anchor="ctr">
                    <a:solidFill>
                      <a:srgbClr val="FFFFFF"/>
                    </a:solidFill>
                  </a:tcPr>
                </a:tc>
                <a:tc>
                  <a:txBody>
                    <a:bodyPr/>
                    <a:lstStyle/>
                    <a:p>
                      <a:pPr algn="ctr"/>
                      <a:r>
                        <a:rPr sz="1913" b="0">
                          <a:solidFill>
                            <a:srgbClr val="111111"/>
                          </a:solidFill>
                          <a:latin typeface="Aptos"/>
                          <a:ea typeface="Aptos"/>
                          <a:cs typeface="Aptos"/>
                        </a:rPr>
                        <a:t>Quantitative, continuous</a:t>
                      </a:r>
                    </a:p>
                  </a:txBody>
                  <a:tcPr marL="95250" marR="95250" marT="0" marB="0" anchor="ctr">
                    <a:solidFill>
                      <a:srgbClr val="FFFFFF"/>
                    </a:solidFill>
                  </a:tcPr>
                </a:tc>
                <a:tc>
                  <a:txBody>
                    <a:bodyPr/>
                    <a:lstStyle/>
                    <a:p>
                      <a:pPr algn="ctr"/>
                      <a:r>
                        <a:rPr sz="1913" b="0">
                          <a:solidFill>
                            <a:srgbClr val="111111"/>
                          </a:solidFill>
                          <a:latin typeface="Aptos"/>
                          <a:ea typeface="Aptos"/>
                          <a:cs typeface="Aptos"/>
                        </a:rPr>
                        <a:t>Time is measured.</a:t>
                      </a:r>
                    </a:p>
                  </a:txBody>
                  <a:tcPr marL="95250" marR="95250" marT="0" marB="0" anchor="ctr">
                    <a:solidFill>
                      <a:srgbClr val="FFFFFF"/>
                    </a:solidFill>
                  </a:tcPr>
                </a:tc>
                <a:extLst>
                  <a:ext uri="{0D108BD9-81ED-4DB2-BD59-A6C34878D82A}">
                    <a16:rowId xmlns:a16="http://schemas.microsoft.com/office/drawing/2014/main" val="10005"/>
                  </a:ext>
                </a:extLst>
              </a:tr>
              <a:tr h="409575">
                <a:tc>
                  <a:txBody>
                    <a:bodyPr/>
                    <a:lstStyle/>
                    <a:p>
                      <a:pPr algn="l"/>
                      <a:r>
                        <a:rPr sz="1913" b="0">
                          <a:solidFill>
                            <a:srgbClr val="111111"/>
                          </a:solidFill>
                          <a:latin typeface="Aptos"/>
                          <a:ea typeface="Aptos"/>
                          <a:cs typeface="Aptos"/>
                        </a:rPr>
                        <a:t>F</a:t>
                      </a:r>
                    </a:p>
                  </a:txBody>
                  <a:tcPr marL="95250" marR="95250" marT="0" marB="0" anchor="ctr">
                    <a:solidFill>
                      <a:srgbClr val="EFF8FF"/>
                    </a:solidFill>
                  </a:tcPr>
                </a:tc>
                <a:tc>
                  <a:txBody>
                    <a:bodyPr/>
                    <a:lstStyle/>
                    <a:p>
                      <a:pPr algn="ctr"/>
                      <a:r>
                        <a:rPr sz="1913" b="0">
                          <a:solidFill>
                            <a:srgbClr val="111111"/>
                          </a:solidFill>
                          <a:latin typeface="Aptos"/>
                          <a:ea typeface="Aptos"/>
                          <a:cs typeface="Aptos"/>
                        </a:rPr>
                        <a:t>Categorical</a:t>
                      </a:r>
                    </a:p>
                  </a:txBody>
                  <a:tcPr marL="95250" marR="95250" marT="0" marB="0" anchor="ctr">
                    <a:solidFill>
                      <a:srgbClr val="EFF8FF"/>
                    </a:solidFill>
                  </a:tcPr>
                </a:tc>
                <a:tc>
                  <a:txBody>
                    <a:bodyPr/>
                    <a:lstStyle/>
                    <a:p>
                      <a:pPr algn="ctr"/>
                      <a:r>
                        <a:rPr sz="1913" b="0">
                          <a:solidFill>
                            <a:srgbClr val="111111"/>
                          </a:solidFill>
                          <a:latin typeface="Aptos"/>
                          <a:ea typeface="Aptos"/>
                          <a:cs typeface="Aptos"/>
                        </a:rPr>
                        <a:t>The recorded result is a band.</a:t>
                      </a:r>
                    </a:p>
                  </a:txBody>
                  <a:tcPr marL="95250" marR="95250" marT="0" marB="0" anchor="ctr">
                    <a:solidFill>
                      <a:srgbClr val="EFF8FF"/>
                    </a:solidFill>
                  </a:tcPr>
                </a:tc>
                <a:extLst>
                  <a:ext uri="{0D108BD9-81ED-4DB2-BD59-A6C34878D82A}">
                    <a16:rowId xmlns:a16="http://schemas.microsoft.com/office/drawing/2014/main" val="10006"/>
                  </a:ext>
                </a:extLst>
              </a:tr>
              <a:tr h="409575">
                <a:tc>
                  <a:txBody>
                    <a:bodyPr/>
                    <a:lstStyle/>
                    <a:p>
                      <a:pPr algn="l"/>
                      <a:r>
                        <a:rPr sz="1913" b="0">
                          <a:solidFill>
                            <a:srgbClr val="111111"/>
                          </a:solidFill>
                          <a:latin typeface="Aptos"/>
                          <a:ea typeface="Aptos"/>
                          <a:cs typeface="Aptos"/>
                        </a:rPr>
                        <a:t>G</a:t>
                      </a:r>
                    </a:p>
                  </a:txBody>
                  <a:tcPr marL="95250" marR="95250" marT="0" marB="0" anchor="ctr">
                    <a:solidFill>
                      <a:srgbClr val="FFFFFF"/>
                    </a:solidFill>
                  </a:tcPr>
                </a:tc>
                <a:tc>
                  <a:txBody>
                    <a:bodyPr/>
                    <a:lstStyle/>
                    <a:p>
                      <a:pPr algn="ctr"/>
                      <a:r>
                        <a:rPr sz="1913" b="0">
                          <a:solidFill>
                            <a:srgbClr val="111111"/>
                          </a:solidFill>
                          <a:latin typeface="Aptos"/>
                          <a:ea typeface="Aptos"/>
                          <a:cs typeface="Aptos"/>
                        </a:rPr>
                        <a:t>Categorical</a:t>
                      </a:r>
                    </a:p>
                  </a:txBody>
                  <a:tcPr marL="95250" marR="95250" marT="0" marB="0" anchor="ctr">
                    <a:solidFill>
                      <a:srgbClr val="FFFFFF"/>
                    </a:solidFill>
                  </a:tcPr>
                </a:tc>
                <a:tc>
                  <a:txBody>
                    <a:bodyPr/>
                    <a:lstStyle/>
                    <a:p>
                      <a:pPr algn="ctr"/>
                      <a:r>
                        <a:rPr sz="1913" b="0">
                          <a:solidFill>
                            <a:srgbClr val="111111"/>
                          </a:solidFill>
                          <a:latin typeface="Aptos"/>
                          <a:ea typeface="Aptos"/>
                          <a:cs typeface="Aptos"/>
                        </a:rPr>
                        <a:t>Numbers stand for opinion labels.</a:t>
                      </a:r>
                    </a:p>
                  </a:txBody>
                  <a:tcPr marL="95250" marR="95250" marT="0" marB="0" anchor="ctr">
                    <a:solidFill>
                      <a:srgbClr val="FFFFFF"/>
                    </a:solidFill>
                  </a:tcPr>
                </a:tc>
                <a:extLst>
                  <a:ext uri="{0D108BD9-81ED-4DB2-BD59-A6C34878D82A}">
                    <a16:rowId xmlns:a16="http://schemas.microsoft.com/office/drawing/2014/main" val="10007"/>
                  </a:ext>
                </a:extLst>
              </a:tr>
              <a:tr h="409575">
                <a:tc>
                  <a:txBody>
                    <a:bodyPr/>
                    <a:lstStyle/>
                    <a:p>
                      <a:pPr algn="l"/>
                      <a:r>
                        <a:rPr sz="1913" b="0">
                          <a:solidFill>
                            <a:srgbClr val="111111"/>
                          </a:solidFill>
                          <a:latin typeface="Aptos"/>
                          <a:ea typeface="Aptos"/>
                          <a:cs typeface="Aptos"/>
                        </a:rPr>
                        <a:t>H</a:t>
                      </a:r>
                    </a:p>
                  </a:txBody>
                  <a:tcPr marL="95250" marR="95250" marT="0" marB="0" anchor="ctr">
                    <a:solidFill>
                      <a:srgbClr val="EFF8FF"/>
                    </a:solidFill>
                  </a:tcPr>
                </a:tc>
                <a:tc>
                  <a:txBody>
                    <a:bodyPr/>
                    <a:lstStyle/>
                    <a:p>
                      <a:pPr algn="ctr"/>
                      <a:r>
                        <a:rPr sz="1913" b="0">
                          <a:solidFill>
                            <a:srgbClr val="111111"/>
                          </a:solidFill>
                          <a:latin typeface="Aptos"/>
                          <a:ea typeface="Aptos"/>
                          <a:cs typeface="Aptos"/>
                        </a:rPr>
                        <a:t>Quantitative, continuous</a:t>
                      </a:r>
                    </a:p>
                  </a:txBody>
                  <a:tcPr marL="95250" marR="95250" marT="0" marB="0" anchor="ctr">
                    <a:solidFill>
                      <a:srgbClr val="EFF8FF"/>
                    </a:solidFill>
                  </a:tcPr>
                </a:tc>
                <a:tc>
                  <a:txBody>
                    <a:bodyPr/>
                    <a:lstStyle/>
                    <a:p>
                      <a:pPr algn="ctr"/>
                      <a:r>
                        <a:rPr sz="1913" b="0">
                          <a:solidFill>
                            <a:srgbClr val="111111"/>
                          </a:solidFill>
                          <a:latin typeface="Aptos"/>
                          <a:ea typeface="Aptos"/>
                          <a:cs typeface="Aptos"/>
                        </a:rPr>
                        <a:t>Mass is measured, then rounded.</a:t>
                      </a:r>
                    </a:p>
                  </a:txBody>
                  <a:tcPr marL="95250" marR="95250" marT="0" marB="0" anchor="ctr">
                    <a:solidFill>
                      <a:srgbClr val="EFF8FF"/>
                    </a:solidFill>
                  </a:tcPr>
                </a:tc>
                <a:extLst>
                  <a:ext uri="{0D108BD9-81ED-4DB2-BD59-A6C34878D82A}">
                    <a16:rowId xmlns:a16="http://schemas.microsoft.com/office/drawing/2014/main" val="10008"/>
                  </a:ext>
                </a:extLst>
              </a:tr>
            </a:tbl>
          </a:graphicData>
        </a:graphic>
      </p:graphicFrame>
      <p:sp>
        <p:nvSpPr>
          <p:cNvPr id="5" name="s23-text-4">
            <a:extLst>
              <a:ext uri="{FF2B5EF4-FFF2-40B4-BE49-F238E27FC236}">
                <a16:creationId xmlns:a16="http://schemas.microsoft.com/office/drawing/2014/main" id="{0C87B47F-0F49-405A-A8FC-A07E4B4EF65C}"/>
              </a:ext>
            </a:extLst>
          </p:cNvPr>
          <p:cNvSpPr>
            <a:spLocks noGrp="1"/>
          </p:cNvSpPr>
          <p:nvPr/>
        </p:nvSpPr>
        <p:spPr>
          <a:xfrm>
            <a:off x="457200" y="5953125"/>
            <a:ext cx="11239500" cy="371475"/>
          </a:xfrm>
          <a:prstGeom prst="rect">
            <a:avLst/>
          </a:prstGeom>
          <a:noFill/>
          <a:ln w="0">
            <a:noFill/>
          </a:ln>
        </p:spPr>
        <p:txBody>
          <a:bodyPr wrap="square" lIns="0" tIns="0" rIns="0" bIns="0" anchor="t">
            <a:noAutofit/>
          </a:bodyPr>
          <a:lstStyle/>
          <a:p>
            <a:pPr algn="l">
              <a:defRPr sz="2175" b="1">
                <a:solidFill>
                  <a:srgbClr val="111111"/>
                </a:solidFill>
                <a:latin typeface="Aptos"/>
                <a:ea typeface="Aptos"/>
                <a:cs typeface="Aptos"/>
              </a:defRPr>
            </a:pPr>
            <a:r>
              <a:rPr sz="2175" b="1">
                <a:solidFill>
                  <a:srgbClr val="111111"/>
                </a:solidFill>
                <a:latin typeface="Aptos"/>
                <a:ea typeface="Aptos"/>
                <a:cs typeface="Aptos"/>
              </a:rPr>
              <a:t>H measures waste. D measures the amount served.</a:t>
            </a:r>
          </a:p>
        </p:txBody>
      </p:sp>
      <p:sp>
        <p:nvSpPr>
          <p:cNvPr id="6" name="s23-text-5">
            <a:extLst>
              <a:ext uri="{FF2B5EF4-FFF2-40B4-BE49-F238E27FC236}">
                <a16:creationId xmlns:a16="http://schemas.microsoft.com/office/drawing/2014/main" id="{D948F3C6-0E96-47A3-B4A8-3836024FA003}"/>
              </a:ext>
            </a:extLst>
          </p:cNvPr>
          <p:cNvSpPr>
            <a:spLocks noGrp="1"/>
          </p:cNvSpPr>
          <p:nvPr/>
        </p:nvSpPr>
        <p:spPr>
          <a:xfrm>
            <a:off x="457200" y="6477000"/>
            <a:ext cx="10763250" cy="238125"/>
          </a:xfrm>
          <a:prstGeom prst="rect">
            <a:avLst/>
          </a:prstGeom>
          <a:noFill/>
          <a:ln w="0">
            <a:noFill/>
          </a:ln>
        </p:spPr>
        <p:txBody>
          <a:bodyPr wrap="square" lIns="0" tIns="0" rIns="0" bIns="0" anchor="t">
            <a:noAutofit/>
          </a:bodyPr>
          <a:lstStyle/>
          <a:p>
            <a:endParaRPr/>
          </a:p>
        </p:txBody>
      </p:sp>
      <p:sp>
        <p:nvSpPr>
          <p:cNvPr id="7" name="s23-text-6">
            <a:extLst>
              <a:ext uri="{FF2B5EF4-FFF2-40B4-BE49-F238E27FC236}">
                <a16:creationId xmlns:a16="http://schemas.microsoft.com/office/drawing/2014/main" id="{1F484877-56FC-4BA8-A8BC-A58B7C37074F}"/>
              </a:ext>
            </a:extLst>
          </p:cNvPr>
          <p:cNvSpPr>
            <a:spLocks noGrp="1"/>
          </p:cNvSpPr>
          <p:nvPr/>
        </p:nvSpPr>
        <p:spPr>
          <a:xfrm>
            <a:off x="11239500" y="6477000"/>
            <a:ext cx="476250" cy="238125"/>
          </a:xfrm>
          <a:prstGeom prst="rect">
            <a:avLst/>
          </a:prstGeom>
          <a:noFill/>
          <a:ln w="0">
            <a:noFill/>
          </a:ln>
        </p:spPr>
        <p:txBody>
          <a:bodyPr wrap="square" lIns="0" tIns="0" rIns="0" bIns="0" anchor="t">
            <a:noAutofit/>
          </a:bodyPr>
          <a:lstStyle/>
          <a:p>
            <a:pPr algn="r">
              <a:defRPr sz="1275" b="0">
                <a:solidFill>
                  <a:srgbClr val="666666"/>
                </a:solidFill>
                <a:latin typeface="Aptos"/>
                <a:ea typeface="Aptos"/>
                <a:cs typeface="Aptos"/>
              </a:defRPr>
            </a:pPr>
            <a:r>
              <a:rPr sz="1275" b="0">
                <a:solidFill>
                  <a:srgbClr val="666666"/>
                </a:solidFill>
                <a:latin typeface="Aptos"/>
                <a:ea typeface="Aptos"/>
                <a:cs typeface="Aptos"/>
              </a:rPr>
              <a:t>23</a:t>
            </a:r>
          </a:p>
        </p:txBody>
      </p:sp>
    </p:spTree>
    <p:extLst>
      <p:ext uri="{BB962C8B-B14F-4D97-AF65-F5344CB8AC3E}">
        <p14:creationId xmlns:p14="http://schemas.microsoft.com/office/powerpoint/2010/main" val="32813612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24-text-1">
            <a:extLst>
              <a:ext uri="{FF2B5EF4-FFF2-40B4-BE49-F238E27FC236}">
                <a16:creationId xmlns:a16="http://schemas.microsoft.com/office/drawing/2014/main" id="{48D93816-E242-417A-9E6B-2BDFAF19C835}"/>
              </a:ext>
            </a:extLst>
          </p:cNvPr>
          <p:cNvSpPr>
            <a:spLocks noGrp="1"/>
          </p:cNvSpPr>
          <p:nvPr/>
        </p:nvSpPr>
        <p:spPr>
          <a:xfrm>
            <a:off x="430816" y="1038225"/>
            <a:ext cx="11293412" cy="78105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The college needs a corrected report</a:t>
            </a:r>
          </a:p>
        </p:txBody>
      </p:sp>
      <p:sp>
        <p:nvSpPr>
          <p:cNvPr id="2" name="s24-rect-2">
            <a:extLst>
              <a:ext uri="{FF2B5EF4-FFF2-40B4-BE49-F238E27FC236}">
                <a16:creationId xmlns:a16="http://schemas.microsoft.com/office/drawing/2014/main" id="{19FBD3DB-AC64-4A15-99CB-60A218DC8051}"/>
              </a:ext>
            </a:extLst>
          </p:cNvPr>
          <p:cNvSpPr>
            <a:spLocks noGrp="1"/>
          </p:cNvSpPr>
          <p:nvPr/>
        </p:nvSpPr>
        <p:spPr>
          <a:xfrm>
            <a:off x="8734425" y="476250"/>
            <a:ext cx="3000375" cy="400050"/>
          </a:xfrm>
          <a:prstGeom prst="rect">
            <a:avLst/>
          </a:prstGeom>
          <a:solidFill>
            <a:srgbClr val="D6171D"/>
          </a:solidFill>
          <a:ln w="0">
            <a:noFill/>
          </a:ln>
        </p:spPr>
        <p:txBody>
          <a:bodyPr/>
          <a:lstStyle/>
          <a:p>
            <a:endParaRPr lang="en-US"/>
          </a:p>
        </p:txBody>
      </p:sp>
      <p:sp>
        <p:nvSpPr>
          <p:cNvPr id="3" name="s24-text-3">
            <a:extLst>
              <a:ext uri="{FF2B5EF4-FFF2-40B4-BE49-F238E27FC236}">
                <a16:creationId xmlns:a16="http://schemas.microsoft.com/office/drawing/2014/main" id="{64BA69E7-E906-4879-BC28-090D0E50FFD3}"/>
              </a:ext>
            </a:extLst>
          </p:cNvPr>
          <p:cNvSpPr>
            <a:spLocks noGrp="1"/>
          </p:cNvSpPr>
          <p:nvPr/>
        </p:nvSpPr>
        <p:spPr>
          <a:xfrm>
            <a:off x="8829675" y="533400"/>
            <a:ext cx="2809875" cy="323850"/>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C4.2</a:t>
            </a:r>
          </a:p>
        </p:txBody>
      </p:sp>
      <p:sp>
        <p:nvSpPr>
          <p:cNvPr id="4" name="s24-text-4">
            <a:extLst>
              <a:ext uri="{FF2B5EF4-FFF2-40B4-BE49-F238E27FC236}">
                <a16:creationId xmlns:a16="http://schemas.microsoft.com/office/drawing/2014/main" id="{0392AAF6-1969-43E0-8AC3-F7DB38DA2ED6}"/>
              </a:ext>
            </a:extLst>
          </p:cNvPr>
          <p:cNvSpPr>
            <a:spLocks noGrp="1"/>
          </p:cNvSpPr>
          <p:nvPr/>
        </p:nvSpPr>
        <p:spPr>
          <a:xfrm>
            <a:off x="457200" y="2009775"/>
            <a:ext cx="11239500" cy="685800"/>
          </a:xfrm>
          <a:prstGeom prst="rect">
            <a:avLst/>
          </a:prstGeom>
          <a:noFill/>
          <a:ln w="0">
            <a:noFill/>
          </a:ln>
        </p:spPr>
        <p:txBody>
          <a:bodyPr wrap="square" lIns="0" tIns="0" rIns="0" bIns="0" anchor="t">
            <a:noAutofit/>
          </a:bodyPr>
          <a:lstStyle/>
          <a:p>
            <a:pPr algn="l">
              <a:defRPr sz="2475" b="1">
                <a:solidFill>
                  <a:srgbClr val="111111"/>
                </a:solidFill>
                <a:latin typeface="Aptos"/>
                <a:ea typeface="Aptos"/>
                <a:cs typeface="Aptos"/>
              </a:defRPr>
            </a:pPr>
            <a:r>
              <a:rPr sz="2475" b="1">
                <a:solidFill>
                  <a:srgbClr val="111111"/>
                </a:solidFill>
                <a:latin typeface="Aptos"/>
                <a:ea typeface="Aptos"/>
                <a:cs typeface="Aptos"/>
              </a:rPr>
              <a:t>Write a corrected report in three sentences, up to 75 words.</a:t>
            </a:r>
          </a:p>
        </p:txBody>
      </p:sp>
      <p:sp>
        <p:nvSpPr>
          <p:cNvPr id="5" name="s24-text-5">
            <a:extLst>
              <a:ext uri="{FF2B5EF4-FFF2-40B4-BE49-F238E27FC236}">
                <a16:creationId xmlns:a16="http://schemas.microsoft.com/office/drawing/2014/main" id="{DD04D048-0424-4A0B-B897-9EC6E79B7FFD}"/>
              </a:ext>
            </a:extLst>
          </p:cNvPr>
          <p:cNvSpPr>
            <a:spLocks noGrp="1"/>
          </p:cNvSpPr>
          <p:nvPr/>
        </p:nvSpPr>
        <p:spPr>
          <a:xfrm>
            <a:off x="457200" y="3171825"/>
            <a:ext cx="11239500" cy="68580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sz="2325" b="0">
                <a:solidFill>
                  <a:srgbClr val="111111"/>
                </a:solidFill>
                <a:latin typeface="Aptos"/>
                <a:ea typeface="Aptos"/>
                <a:cs typeface="Aptos"/>
              </a:rPr>
              <a:t>1. State what the original support figures establish.</a:t>
            </a:r>
          </a:p>
        </p:txBody>
      </p:sp>
      <p:sp>
        <p:nvSpPr>
          <p:cNvPr id="6" name="s24-text-6">
            <a:extLst>
              <a:ext uri="{FF2B5EF4-FFF2-40B4-BE49-F238E27FC236}">
                <a16:creationId xmlns:a16="http://schemas.microsoft.com/office/drawing/2014/main" id="{0DFD8CF2-63CE-4A42-AB39-45EAE82A9D43}"/>
              </a:ext>
            </a:extLst>
          </p:cNvPr>
          <p:cNvSpPr>
            <a:spLocks noGrp="1"/>
          </p:cNvSpPr>
          <p:nvPr/>
        </p:nvSpPr>
        <p:spPr>
          <a:xfrm>
            <a:off x="457200" y="3933825"/>
            <a:ext cx="11239500" cy="68580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sz="2325" b="0">
                <a:solidFill>
                  <a:srgbClr val="111111"/>
                </a:solidFill>
                <a:latin typeface="Aptos"/>
                <a:ea typeface="Aptos"/>
                <a:cs typeface="Aptos"/>
              </a:rPr>
              <a:t>2. State what the pilot establishes about portions and waste.</a:t>
            </a:r>
          </a:p>
        </p:txBody>
      </p:sp>
      <p:sp>
        <p:nvSpPr>
          <p:cNvPr id="7" name="s24-text-7">
            <a:extLst>
              <a:ext uri="{FF2B5EF4-FFF2-40B4-BE49-F238E27FC236}">
                <a16:creationId xmlns:a16="http://schemas.microsoft.com/office/drawing/2014/main" id="{C844748B-836D-4AAD-8D54-342747C7EA18}"/>
              </a:ext>
            </a:extLst>
          </p:cNvPr>
          <p:cNvSpPr>
            <a:spLocks noGrp="1"/>
          </p:cNvSpPr>
          <p:nvPr/>
        </p:nvSpPr>
        <p:spPr>
          <a:xfrm>
            <a:off x="457200" y="4695825"/>
            <a:ext cx="11239500" cy="68580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sz="2325" b="0">
                <a:solidFill>
                  <a:srgbClr val="111111"/>
                </a:solidFill>
                <a:latin typeface="Aptos"/>
                <a:ea typeface="Aptos"/>
                <a:cs typeface="Aptos"/>
              </a:rPr>
              <a:t>3. Explain what further evidence or action the college needs.</a:t>
            </a:r>
          </a:p>
        </p:txBody>
      </p:sp>
      <p:sp>
        <p:nvSpPr>
          <p:cNvPr id="8" name="s24-rect-8">
            <a:extLst>
              <a:ext uri="{FF2B5EF4-FFF2-40B4-BE49-F238E27FC236}">
                <a16:creationId xmlns:a16="http://schemas.microsoft.com/office/drawing/2014/main" id="{991AC319-2EF9-49D9-9EE1-07D791FFDCCA}"/>
              </a:ext>
            </a:extLst>
          </p:cNvPr>
          <p:cNvSpPr>
            <a:spLocks noGrp="1"/>
          </p:cNvSpPr>
          <p:nvPr/>
        </p:nvSpPr>
        <p:spPr>
          <a:xfrm>
            <a:off x="428625" y="5857875"/>
            <a:ext cx="2762250" cy="400050"/>
          </a:xfrm>
          <a:prstGeom prst="rect">
            <a:avLst/>
          </a:prstGeom>
          <a:solidFill>
            <a:srgbClr val="D6171D"/>
          </a:solidFill>
          <a:ln w="0">
            <a:noFill/>
          </a:ln>
        </p:spPr>
        <p:txBody>
          <a:bodyPr/>
          <a:lstStyle/>
          <a:p>
            <a:endParaRPr lang="en-US"/>
          </a:p>
        </p:txBody>
      </p:sp>
      <p:sp>
        <p:nvSpPr>
          <p:cNvPr id="9" name="s24-text-9">
            <a:extLst>
              <a:ext uri="{FF2B5EF4-FFF2-40B4-BE49-F238E27FC236}">
                <a16:creationId xmlns:a16="http://schemas.microsoft.com/office/drawing/2014/main" id="{B688BB02-92DB-424B-8DF0-A034948A6F43}"/>
              </a:ext>
            </a:extLst>
          </p:cNvPr>
          <p:cNvSpPr>
            <a:spLocks noGrp="1"/>
          </p:cNvSpPr>
          <p:nvPr/>
        </p:nvSpPr>
        <p:spPr>
          <a:xfrm>
            <a:off x="523875" y="5915025"/>
            <a:ext cx="2571750" cy="323850"/>
          </a:xfrm>
          <a:prstGeom prst="rect">
            <a:avLst/>
          </a:prstGeom>
          <a:noFill/>
          <a:ln w="0">
            <a:noFill/>
          </a:ln>
        </p:spPr>
        <p:txBody>
          <a:bodyPr wrap="square" lIns="0" tIns="0" rIns="0" bIns="0" anchor="t">
            <a:noAutofit/>
          </a:bodyPr>
          <a:lstStyle/>
          <a:p>
            <a:pPr algn="ctr">
              <a:defRPr sz="1800" b="1">
                <a:solidFill>
                  <a:srgbClr val="FFFFFF"/>
                </a:solidFill>
                <a:latin typeface="Aptos"/>
                <a:ea typeface="Aptos"/>
                <a:cs typeface="Aptos"/>
              </a:defRPr>
            </a:pPr>
            <a:r>
              <a:rPr sz="1800" b="1">
                <a:solidFill>
                  <a:srgbClr val="FFFFFF"/>
                </a:solidFill>
                <a:latin typeface="Aptos"/>
                <a:ea typeface="Aptos"/>
                <a:cs typeface="Aptos"/>
              </a:rPr>
              <a:t>DISCUSS   3 MIN</a:t>
            </a:r>
          </a:p>
        </p:txBody>
      </p:sp>
      <p:sp>
        <p:nvSpPr>
          <p:cNvPr id="10" name="s24-text-10">
            <a:extLst>
              <a:ext uri="{FF2B5EF4-FFF2-40B4-BE49-F238E27FC236}">
                <a16:creationId xmlns:a16="http://schemas.microsoft.com/office/drawing/2014/main" id="{F1AADB87-F2CB-41CB-BEAD-28B81831F2D7}"/>
              </a:ext>
            </a:extLst>
          </p:cNvPr>
          <p:cNvSpPr>
            <a:spLocks noGrp="1"/>
          </p:cNvSpPr>
          <p:nvPr/>
        </p:nvSpPr>
        <p:spPr>
          <a:xfrm>
            <a:off x="3381375" y="5867400"/>
            <a:ext cx="8286750" cy="457200"/>
          </a:xfrm>
          <a:prstGeom prst="rect">
            <a:avLst/>
          </a:prstGeom>
          <a:noFill/>
          <a:ln w="0">
            <a:noFill/>
          </a:ln>
        </p:spPr>
        <p:txBody>
          <a:bodyPr wrap="square" lIns="0" tIns="0" rIns="0" bIns="0" anchor="t">
            <a:noAutofit/>
          </a:bodyPr>
          <a:lstStyle/>
          <a:p>
            <a:pPr algn="l">
              <a:defRPr sz="2100" b="1">
                <a:solidFill>
                  <a:srgbClr val="111111"/>
                </a:solidFill>
                <a:latin typeface="Aptos"/>
                <a:ea typeface="Aptos"/>
                <a:cs typeface="Aptos"/>
              </a:defRPr>
            </a:pPr>
            <a:r>
              <a:rPr sz="2100" b="1">
                <a:solidFill>
                  <a:srgbClr val="111111"/>
                </a:solidFill>
                <a:latin typeface="Aptos"/>
                <a:ea typeface="Aptos"/>
                <a:cs typeface="Aptos"/>
              </a:rPr>
              <a:t>Use the evidence already calculated. Keep the claims precise.</a:t>
            </a:r>
          </a:p>
        </p:txBody>
      </p:sp>
      <p:sp>
        <p:nvSpPr>
          <p:cNvPr id="11" name="s24-text-11">
            <a:extLst>
              <a:ext uri="{FF2B5EF4-FFF2-40B4-BE49-F238E27FC236}">
                <a16:creationId xmlns:a16="http://schemas.microsoft.com/office/drawing/2014/main" id="{53B6DB61-7A0C-417E-8AD3-3E028836EBEF}"/>
              </a:ext>
            </a:extLst>
          </p:cNvPr>
          <p:cNvSpPr>
            <a:spLocks noGrp="1"/>
          </p:cNvSpPr>
          <p:nvPr/>
        </p:nvSpPr>
        <p:spPr>
          <a:xfrm>
            <a:off x="457200" y="6477000"/>
            <a:ext cx="10763250" cy="238125"/>
          </a:xfrm>
          <a:prstGeom prst="rect">
            <a:avLst/>
          </a:prstGeom>
          <a:noFill/>
          <a:ln w="0">
            <a:noFill/>
          </a:ln>
        </p:spPr>
        <p:txBody>
          <a:bodyPr wrap="square" lIns="0" tIns="0" rIns="0" bIns="0" anchor="t">
            <a:noAutofit/>
          </a:bodyPr>
          <a:lstStyle/>
          <a:p>
            <a:endParaRPr/>
          </a:p>
        </p:txBody>
      </p:sp>
      <p:sp>
        <p:nvSpPr>
          <p:cNvPr id="12" name="s24-text-12">
            <a:extLst>
              <a:ext uri="{FF2B5EF4-FFF2-40B4-BE49-F238E27FC236}">
                <a16:creationId xmlns:a16="http://schemas.microsoft.com/office/drawing/2014/main" id="{2DF0F453-28BD-4DA3-BBB0-A47BC20A8089}"/>
              </a:ext>
            </a:extLst>
          </p:cNvPr>
          <p:cNvSpPr>
            <a:spLocks noGrp="1"/>
          </p:cNvSpPr>
          <p:nvPr/>
        </p:nvSpPr>
        <p:spPr>
          <a:xfrm>
            <a:off x="11239500" y="6477000"/>
            <a:ext cx="476250" cy="238125"/>
          </a:xfrm>
          <a:prstGeom prst="rect">
            <a:avLst/>
          </a:prstGeom>
          <a:noFill/>
          <a:ln w="0">
            <a:noFill/>
          </a:ln>
        </p:spPr>
        <p:txBody>
          <a:bodyPr wrap="square" lIns="0" tIns="0" rIns="0" bIns="0" anchor="t">
            <a:noAutofit/>
          </a:bodyPr>
          <a:lstStyle/>
          <a:p>
            <a:pPr algn="r">
              <a:defRPr sz="1275" b="0">
                <a:solidFill>
                  <a:srgbClr val="666666"/>
                </a:solidFill>
                <a:latin typeface="Aptos"/>
                <a:ea typeface="Aptos"/>
                <a:cs typeface="Aptos"/>
              </a:defRPr>
            </a:pPr>
            <a:r>
              <a:rPr sz="1275" b="0">
                <a:solidFill>
                  <a:srgbClr val="666666"/>
                </a:solidFill>
                <a:latin typeface="Aptos"/>
                <a:ea typeface="Aptos"/>
                <a:cs typeface="Aptos"/>
              </a:rPr>
              <a:t>24</a:t>
            </a:r>
          </a:p>
        </p:txBody>
      </p:sp>
    </p:spTree>
    <p:extLst>
      <p:ext uri="{BB962C8B-B14F-4D97-AF65-F5344CB8AC3E}">
        <p14:creationId xmlns:p14="http://schemas.microsoft.com/office/powerpoint/2010/main" val="32813612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25-text-1">
            <a:extLst>
              <a:ext uri="{FF2B5EF4-FFF2-40B4-BE49-F238E27FC236}">
                <a16:creationId xmlns:a16="http://schemas.microsoft.com/office/drawing/2014/main" id="{2ECC252A-65CC-4AE6-9B14-7DBA14EF8579}"/>
              </a:ext>
            </a:extLst>
          </p:cNvPr>
          <p:cNvSpPr>
            <a:spLocks noGrp="1"/>
          </p:cNvSpPr>
          <p:nvPr/>
        </p:nvSpPr>
        <p:spPr>
          <a:xfrm>
            <a:off x="430816" y="1038225"/>
            <a:ext cx="11293412" cy="78105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A defensible report</a:t>
            </a:r>
          </a:p>
        </p:txBody>
      </p:sp>
      <p:sp>
        <p:nvSpPr>
          <p:cNvPr id="2" name="s25-rect-2">
            <a:extLst>
              <a:ext uri="{FF2B5EF4-FFF2-40B4-BE49-F238E27FC236}">
                <a16:creationId xmlns:a16="http://schemas.microsoft.com/office/drawing/2014/main" id="{4C27A9DD-D39C-42C5-8012-ED85D69D1D07}"/>
              </a:ext>
            </a:extLst>
          </p:cNvPr>
          <p:cNvSpPr>
            <a:spLocks noGrp="1"/>
          </p:cNvSpPr>
          <p:nvPr/>
        </p:nvSpPr>
        <p:spPr>
          <a:xfrm>
            <a:off x="8734425" y="476250"/>
            <a:ext cx="3000375" cy="400050"/>
          </a:xfrm>
          <a:prstGeom prst="rect">
            <a:avLst/>
          </a:prstGeom>
          <a:solidFill>
            <a:srgbClr val="D6171D"/>
          </a:solidFill>
          <a:ln w="0">
            <a:noFill/>
          </a:ln>
        </p:spPr>
        <p:txBody>
          <a:bodyPr/>
          <a:lstStyle/>
          <a:p>
            <a:endParaRPr lang="en-US"/>
          </a:p>
        </p:txBody>
      </p:sp>
      <p:sp>
        <p:nvSpPr>
          <p:cNvPr id="3" name="s25-text-3">
            <a:extLst>
              <a:ext uri="{FF2B5EF4-FFF2-40B4-BE49-F238E27FC236}">
                <a16:creationId xmlns:a16="http://schemas.microsoft.com/office/drawing/2014/main" id="{FA9224DB-7E6A-451C-AAF7-B01FCAF3318D}"/>
              </a:ext>
            </a:extLst>
          </p:cNvPr>
          <p:cNvSpPr>
            <a:spLocks noGrp="1"/>
          </p:cNvSpPr>
          <p:nvPr/>
        </p:nvSpPr>
        <p:spPr>
          <a:xfrm>
            <a:off x="8829675" y="533400"/>
            <a:ext cx="2809875" cy="323850"/>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C4.2</a:t>
            </a:r>
          </a:p>
        </p:txBody>
      </p:sp>
      <p:sp>
        <p:nvSpPr>
          <p:cNvPr id="4" name="s25-text-4">
            <a:extLst>
              <a:ext uri="{FF2B5EF4-FFF2-40B4-BE49-F238E27FC236}">
                <a16:creationId xmlns:a16="http://schemas.microsoft.com/office/drawing/2014/main" id="{BE730E0C-5638-42ED-84B3-A883A79CD1B1}"/>
              </a:ext>
            </a:extLst>
          </p:cNvPr>
          <p:cNvSpPr>
            <a:spLocks noGrp="1"/>
          </p:cNvSpPr>
          <p:nvPr/>
        </p:nvSpPr>
        <p:spPr>
          <a:xfrm>
            <a:off x="457200" y="2009775"/>
            <a:ext cx="11239500" cy="1152525"/>
          </a:xfrm>
          <a:prstGeom prst="rect">
            <a:avLst/>
          </a:prstGeom>
          <a:noFill/>
          <a:ln w="0">
            <a:noFill/>
          </a:ln>
        </p:spPr>
        <p:txBody>
          <a:bodyPr wrap="square" lIns="0" tIns="0" rIns="0" bIns="0" anchor="t">
            <a:noAutofit/>
          </a:bodyPr>
          <a:lstStyle/>
          <a:p>
            <a:pPr algn="l">
              <a:defRPr sz="2400" b="0">
                <a:solidFill>
                  <a:srgbClr val="111111"/>
                </a:solidFill>
                <a:latin typeface="Aptos"/>
                <a:ea typeface="Aptos"/>
                <a:cs typeface="Aptos"/>
              </a:defRPr>
            </a:pPr>
            <a:r>
              <a:rPr sz="2400" b="0">
                <a:solidFill>
                  <a:srgbClr val="111111"/>
                </a:solidFill>
                <a:latin typeface="Aptos"/>
                <a:ea typeface="Aptos"/>
                <a:cs typeface="Aptos"/>
              </a:rPr>
              <a:t>“Among the 143 club respondents, 67.83% supported the option,</a:t>
            </a:r>
          </a:p>
          <a:p>
            <a:pPr algn="l">
              <a:defRPr sz="2400" b="0">
                <a:solidFill>
                  <a:srgbClr val="111111"/>
                </a:solidFill>
                <a:latin typeface="Aptos"/>
                <a:ea typeface="Aptos"/>
                <a:cs typeface="Aptos"/>
              </a:defRPr>
            </a:pPr>
            <a:r>
              <a:rPr sz="2400" b="0">
                <a:solidFill>
                  <a:srgbClr val="111111"/>
                </a:solidFill>
                <a:latin typeface="Aptos"/>
                <a:ea typeface="Aptos"/>
                <a:cs typeface="Aptos"/>
              </a:rPr>
              <a:t>while support across all 3,696 students remains unknown.</a:t>
            </a:r>
          </a:p>
        </p:txBody>
      </p:sp>
      <p:sp>
        <p:nvSpPr>
          <p:cNvPr id="5" name="s25-text-5">
            <a:extLst>
              <a:ext uri="{FF2B5EF4-FFF2-40B4-BE49-F238E27FC236}">
                <a16:creationId xmlns:a16="http://schemas.microsoft.com/office/drawing/2014/main" id="{B79DDCC2-2E68-480D-B9D6-BFB86E5BAEE3}"/>
              </a:ext>
            </a:extLst>
          </p:cNvPr>
          <p:cNvSpPr>
            <a:spLocks noGrp="1"/>
          </p:cNvSpPr>
          <p:nvPr/>
        </p:nvSpPr>
        <p:spPr>
          <a:xfrm>
            <a:off x="457200" y="3581400"/>
            <a:ext cx="11239500" cy="1019175"/>
          </a:xfrm>
          <a:prstGeom prst="rect">
            <a:avLst/>
          </a:prstGeom>
          <a:noFill/>
          <a:ln w="0">
            <a:noFill/>
          </a:ln>
        </p:spPr>
        <p:txBody>
          <a:bodyPr wrap="square" lIns="0" tIns="0" rIns="0" bIns="0" anchor="t">
            <a:noAutofit/>
          </a:bodyPr>
          <a:lstStyle/>
          <a:p>
            <a:pPr algn="l">
              <a:defRPr sz="2400" b="0">
                <a:solidFill>
                  <a:srgbClr val="111111"/>
                </a:solidFill>
                <a:latin typeface="Aptos"/>
                <a:ea typeface="Aptos"/>
                <a:cs typeface="Aptos"/>
              </a:defRPr>
            </a:pPr>
            <a:r>
              <a:rPr sz="2400" b="0">
                <a:solidFill>
                  <a:srgbClr val="111111"/>
                </a:solidFill>
                <a:latin typeface="Aptos"/>
                <a:ea typeface="Aptos"/>
                <a:cs typeface="Aptos"/>
              </a:rPr>
              <a:t>The portion was 25.88% smaller, while leftovers rose 8.54%</a:t>
            </a:r>
          </a:p>
          <a:p>
            <a:pPr algn="l">
              <a:defRPr sz="2400" b="0">
                <a:solidFill>
                  <a:srgbClr val="111111"/>
                </a:solidFill>
                <a:latin typeface="Aptos"/>
                <a:ea typeface="Aptos"/>
                <a:cs typeface="Aptos"/>
              </a:defRPr>
            </a:pPr>
            <a:r>
              <a:rPr sz="2400" b="0">
                <a:solidFill>
                  <a:srgbClr val="111111"/>
                </a:solidFill>
                <a:latin typeface="Aptos"/>
                <a:ea typeface="Aptos"/>
                <a:cs typeface="Aptos"/>
              </a:rPr>
              <a:t>in the two-day pilot.</a:t>
            </a:r>
          </a:p>
        </p:txBody>
      </p:sp>
      <p:sp>
        <p:nvSpPr>
          <p:cNvPr id="6" name="s25-text-6">
            <a:extLst>
              <a:ext uri="{FF2B5EF4-FFF2-40B4-BE49-F238E27FC236}">
                <a16:creationId xmlns:a16="http://schemas.microsoft.com/office/drawing/2014/main" id="{6BF93D98-F31D-4AC2-BDD2-4DF6EA427B4B}"/>
              </a:ext>
            </a:extLst>
          </p:cNvPr>
          <p:cNvSpPr>
            <a:spLocks noGrp="1"/>
          </p:cNvSpPr>
          <p:nvPr/>
        </p:nvSpPr>
        <p:spPr>
          <a:xfrm>
            <a:off x="457200" y="5010150"/>
            <a:ext cx="11239500" cy="1304925"/>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sz="2325" b="0">
                <a:solidFill>
                  <a:srgbClr val="111111"/>
                </a:solidFill>
                <a:latin typeface="Aptos"/>
                <a:ea typeface="Aptos"/>
                <a:cs typeface="Aptos"/>
              </a:rPr>
              <a:t>Before a college-wide decision, collect waste measurements</a:t>
            </a:r>
          </a:p>
          <a:p>
            <a:pPr algn="l">
              <a:defRPr sz="2325" b="0">
                <a:solidFill>
                  <a:srgbClr val="111111"/>
                </a:solidFill>
                <a:latin typeface="Aptos"/>
                <a:ea typeface="Aptos"/>
                <a:cs typeface="Aptos"/>
              </a:defRPr>
            </a:pPr>
            <a:r>
              <a:rPr sz="2325" b="0">
                <a:solidFill>
                  <a:srgbClr val="111111"/>
                </a:solidFill>
                <a:latin typeface="Aptos"/>
                <a:ea typeface="Aptos"/>
                <a:cs typeface="Aptos"/>
              </a:rPr>
              <a:t>over more comparable days and complete the repaired survey</a:t>
            </a:r>
          </a:p>
          <a:p>
            <a:pPr algn="l">
              <a:defRPr sz="2325" b="0">
                <a:solidFill>
                  <a:srgbClr val="111111"/>
                </a:solidFill>
                <a:latin typeface="Aptos"/>
                <a:ea typeface="Aptos"/>
                <a:cs typeface="Aptos"/>
              </a:defRPr>
            </a:pPr>
            <a:r>
              <a:rPr sz="2325" b="0">
                <a:solidFill>
                  <a:srgbClr val="111111"/>
                </a:solidFill>
                <a:latin typeface="Aptos"/>
                <a:ea typeface="Aptos"/>
                <a:cs typeface="Aptos"/>
              </a:rPr>
              <a:t>with follow-up of selected nonrespondents.”</a:t>
            </a:r>
          </a:p>
        </p:txBody>
      </p:sp>
      <p:sp>
        <p:nvSpPr>
          <p:cNvPr id="7" name="s25-text-7">
            <a:extLst>
              <a:ext uri="{FF2B5EF4-FFF2-40B4-BE49-F238E27FC236}">
                <a16:creationId xmlns:a16="http://schemas.microsoft.com/office/drawing/2014/main" id="{024EAC1A-2B85-4E99-B7E1-27BA8434427D}"/>
              </a:ext>
            </a:extLst>
          </p:cNvPr>
          <p:cNvSpPr>
            <a:spLocks noGrp="1"/>
          </p:cNvSpPr>
          <p:nvPr/>
        </p:nvSpPr>
        <p:spPr>
          <a:xfrm>
            <a:off x="457200" y="6477000"/>
            <a:ext cx="10763250" cy="238125"/>
          </a:xfrm>
          <a:prstGeom prst="rect">
            <a:avLst/>
          </a:prstGeom>
          <a:noFill/>
          <a:ln w="0">
            <a:noFill/>
          </a:ln>
        </p:spPr>
        <p:txBody>
          <a:bodyPr wrap="square" lIns="0" tIns="0" rIns="0" bIns="0" anchor="t">
            <a:noAutofit/>
          </a:bodyPr>
          <a:lstStyle/>
          <a:p>
            <a:endParaRPr/>
          </a:p>
        </p:txBody>
      </p:sp>
      <p:sp>
        <p:nvSpPr>
          <p:cNvPr id="8" name="s25-text-8">
            <a:extLst>
              <a:ext uri="{FF2B5EF4-FFF2-40B4-BE49-F238E27FC236}">
                <a16:creationId xmlns:a16="http://schemas.microsoft.com/office/drawing/2014/main" id="{CDEAA613-BFCB-4C8E-AD8F-5A8E73EC9F4B}"/>
              </a:ext>
            </a:extLst>
          </p:cNvPr>
          <p:cNvSpPr>
            <a:spLocks noGrp="1"/>
          </p:cNvSpPr>
          <p:nvPr/>
        </p:nvSpPr>
        <p:spPr>
          <a:xfrm>
            <a:off x="11239500" y="6477000"/>
            <a:ext cx="476250" cy="238125"/>
          </a:xfrm>
          <a:prstGeom prst="rect">
            <a:avLst/>
          </a:prstGeom>
          <a:noFill/>
          <a:ln w="0">
            <a:noFill/>
          </a:ln>
        </p:spPr>
        <p:txBody>
          <a:bodyPr wrap="square" lIns="0" tIns="0" rIns="0" bIns="0" anchor="t">
            <a:noAutofit/>
          </a:bodyPr>
          <a:lstStyle/>
          <a:p>
            <a:pPr algn="r">
              <a:defRPr sz="1275" b="0">
                <a:solidFill>
                  <a:srgbClr val="666666"/>
                </a:solidFill>
                <a:latin typeface="Aptos"/>
                <a:ea typeface="Aptos"/>
                <a:cs typeface="Aptos"/>
              </a:defRPr>
            </a:pPr>
            <a:r>
              <a:rPr sz="1275" b="0">
                <a:solidFill>
                  <a:srgbClr val="666666"/>
                </a:solidFill>
                <a:latin typeface="Aptos"/>
                <a:ea typeface="Aptos"/>
                <a:cs typeface="Aptos"/>
              </a:rPr>
              <a:t>25</a:t>
            </a:r>
          </a:p>
        </p:txBody>
      </p:sp>
    </p:spTree>
    <p:extLst>
      <p:ext uri="{BB962C8B-B14F-4D97-AF65-F5344CB8AC3E}">
        <p14:creationId xmlns:p14="http://schemas.microsoft.com/office/powerpoint/2010/main" val="32813612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26-text-1">
            <a:extLst>
              <a:ext uri="{FF2B5EF4-FFF2-40B4-BE49-F238E27FC236}">
                <a16:creationId xmlns:a16="http://schemas.microsoft.com/office/drawing/2014/main" id="{A17C81A7-08B3-4767-BF5D-92353FF18C5A}"/>
              </a:ext>
            </a:extLst>
          </p:cNvPr>
          <p:cNvSpPr>
            <a:spLocks noGrp="1"/>
          </p:cNvSpPr>
          <p:nvPr/>
        </p:nvSpPr>
        <p:spPr>
          <a:xfrm>
            <a:off x="361950" y="2667000"/>
            <a:ext cx="5734050" cy="2381250"/>
          </a:xfrm>
          <a:prstGeom prst="rect">
            <a:avLst/>
          </a:prstGeom>
          <a:noFill/>
          <a:ln w="0">
            <a:noFill/>
          </a:ln>
        </p:spPr>
        <p:txBody>
          <a:bodyPr wrap="square" lIns="0" tIns="0" rIns="0" bIns="0" anchor="t">
            <a:noAutofit/>
          </a:bodyPr>
          <a:lstStyle/>
          <a:p>
            <a:pPr algn="l">
              <a:defRPr sz="5400" b="0">
                <a:solidFill>
                  <a:srgbClr val="FFFFFF"/>
                </a:solidFill>
                <a:latin typeface="Aptos Display"/>
                <a:ea typeface="Aptos Display"/>
                <a:cs typeface="Aptos Display"/>
              </a:defRPr>
            </a:pPr>
            <a:r>
              <a:rPr sz="5400" b="0">
                <a:solidFill>
                  <a:srgbClr val="FFFFFF"/>
                </a:solidFill>
                <a:latin typeface="Aptos Display"/>
                <a:ea typeface="Aptos Display"/>
                <a:cs typeface="Aptos Display"/>
              </a:rPr>
              <a:t>Seven short</a:t>
            </a:r>
          </a:p>
          <a:p>
            <a:pPr algn="l">
              <a:defRPr sz="5400" b="0">
                <a:solidFill>
                  <a:srgbClr val="FFFFFF"/>
                </a:solidFill>
                <a:latin typeface="Aptos Display"/>
                <a:ea typeface="Aptos Display"/>
                <a:cs typeface="Aptos Display"/>
              </a:defRPr>
            </a:pPr>
            <a:r>
              <a:rPr sz="5400" b="0">
                <a:solidFill>
                  <a:srgbClr val="FFFFFF"/>
                </a:solidFill>
                <a:latin typeface="Aptos Display"/>
                <a:ea typeface="Aptos Display"/>
                <a:cs typeface="Aptos Display"/>
              </a:rPr>
              <a:t>discussions</a:t>
            </a:r>
          </a:p>
        </p:txBody>
      </p:sp>
      <p:sp>
        <p:nvSpPr>
          <p:cNvPr id="2" name="s26-text-2">
            <a:extLst>
              <a:ext uri="{FF2B5EF4-FFF2-40B4-BE49-F238E27FC236}">
                <a16:creationId xmlns:a16="http://schemas.microsoft.com/office/drawing/2014/main" id="{B600F456-BF0B-4707-AC9A-3C40E16C08AF}"/>
              </a:ext>
            </a:extLst>
          </p:cNvPr>
          <p:cNvSpPr>
            <a:spLocks noGrp="1"/>
          </p:cNvSpPr>
          <p:nvPr/>
        </p:nvSpPr>
        <p:spPr>
          <a:xfrm>
            <a:off x="400050" y="5095875"/>
            <a:ext cx="5476875" cy="1190625"/>
          </a:xfrm>
          <a:prstGeom prst="rect">
            <a:avLst/>
          </a:prstGeom>
          <a:noFill/>
          <a:ln w="0">
            <a:noFill/>
          </a:ln>
        </p:spPr>
        <p:txBody>
          <a:bodyPr wrap="square" lIns="0" tIns="0" rIns="0" bIns="0" anchor="t">
            <a:noAutofit/>
          </a:bodyPr>
          <a:lstStyle/>
          <a:p>
            <a:pPr algn="l">
              <a:defRPr sz="2100" b="0">
                <a:solidFill>
                  <a:srgbClr val="FFFFFF"/>
                </a:solidFill>
                <a:latin typeface="Aptos"/>
                <a:ea typeface="Aptos"/>
                <a:cs typeface="Aptos"/>
              </a:defRPr>
            </a:pPr>
            <a:r>
              <a:rPr sz="2100" b="0">
                <a:solidFill>
                  <a:srgbClr val="FFFFFF"/>
                </a:solidFill>
                <a:latin typeface="Aptos"/>
                <a:ea typeface="Aptos"/>
                <a:cs typeface="Aptos"/>
              </a:rPr>
              <a:t>All tables answer the same question.</a:t>
            </a:r>
          </a:p>
          <a:p>
            <a:pPr algn="l">
              <a:defRPr sz="2100" b="0">
                <a:solidFill>
                  <a:srgbClr val="FFFFFF"/>
                </a:solidFill>
                <a:latin typeface="Aptos"/>
                <a:ea typeface="Aptos"/>
                <a:cs typeface="Aptos"/>
              </a:defRPr>
            </a:pPr>
            <a:r>
              <a:rPr sz="2100" b="0">
                <a:solidFill>
                  <a:srgbClr val="FFFFFF"/>
                </a:solidFill>
                <a:latin typeface="Aptos"/>
                <a:ea typeface="Aptos"/>
                <a:cs typeface="Aptos"/>
              </a:rPr>
              <a:t>Discuss for 2–3 minutes.</a:t>
            </a:r>
          </a:p>
          <a:p>
            <a:pPr algn="l">
              <a:defRPr sz="2100" b="0">
                <a:solidFill>
                  <a:srgbClr val="FFFFFF"/>
                </a:solidFill>
                <a:latin typeface="Aptos"/>
                <a:ea typeface="Aptos"/>
                <a:cs typeface="Aptos"/>
              </a:defRPr>
            </a:pPr>
            <a:r>
              <a:rPr sz="2100" b="0">
                <a:solidFill>
                  <a:srgbClr val="FFFFFF"/>
                </a:solidFill>
                <a:latin typeface="Aptos"/>
                <a:ea typeface="Aptos"/>
                <a:cs typeface="Aptos"/>
              </a:rPr>
              <a:t>Then check the potential answer.</a:t>
            </a:r>
          </a:p>
        </p:txBody>
      </p:sp>
    </p:spTree>
    <p:extLst>
      <p:ext uri="{BB962C8B-B14F-4D97-AF65-F5344CB8AC3E}">
        <p14:creationId xmlns:p14="http://schemas.microsoft.com/office/powerpoint/2010/main" val="32813612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27-text-1">
            <a:extLst>
              <a:ext uri="{FF2B5EF4-FFF2-40B4-BE49-F238E27FC236}">
                <a16:creationId xmlns:a16="http://schemas.microsoft.com/office/drawing/2014/main" id="{F827DFF1-E4D6-44AB-8EA4-B66047DF38C5}"/>
              </a:ext>
            </a:extLst>
          </p:cNvPr>
          <p:cNvSpPr>
            <a:spLocks noGrp="1"/>
          </p:cNvSpPr>
          <p:nvPr/>
        </p:nvSpPr>
        <p:spPr>
          <a:xfrm>
            <a:off x="430816" y="1038225"/>
            <a:ext cx="11293412" cy="78105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1. Whose population?</a:t>
            </a:r>
          </a:p>
        </p:txBody>
      </p:sp>
      <p:sp>
        <p:nvSpPr>
          <p:cNvPr id="2" name="s27-rect-2">
            <a:extLst>
              <a:ext uri="{FF2B5EF4-FFF2-40B4-BE49-F238E27FC236}">
                <a16:creationId xmlns:a16="http://schemas.microsoft.com/office/drawing/2014/main" id="{799D9893-AD88-4D73-A85F-BD1C90C622C1}"/>
              </a:ext>
            </a:extLst>
          </p:cNvPr>
          <p:cNvSpPr>
            <a:spLocks noGrp="1"/>
          </p:cNvSpPr>
          <p:nvPr/>
        </p:nvSpPr>
        <p:spPr>
          <a:xfrm>
            <a:off x="8734425" y="476250"/>
            <a:ext cx="3000375" cy="400050"/>
          </a:xfrm>
          <a:prstGeom prst="rect">
            <a:avLst/>
          </a:prstGeom>
          <a:solidFill>
            <a:srgbClr val="D6171D"/>
          </a:solidFill>
          <a:ln w="0">
            <a:noFill/>
          </a:ln>
        </p:spPr>
        <p:txBody>
          <a:bodyPr/>
          <a:lstStyle/>
          <a:p>
            <a:endParaRPr lang="en-US"/>
          </a:p>
        </p:txBody>
      </p:sp>
      <p:sp>
        <p:nvSpPr>
          <p:cNvPr id="3" name="s27-text-3">
            <a:extLst>
              <a:ext uri="{FF2B5EF4-FFF2-40B4-BE49-F238E27FC236}">
                <a16:creationId xmlns:a16="http://schemas.microsoft.com/office/drawing/2014/main" id="{396B18A3-2B60-447F-8EBE-F1F4C718A5F7}"/>
              </a:ext>
            </a:extLst>
          </p:cNvPr>
          <p:cNvSpPr>
            <a:spLocks noGrp="1"/>
          </p:cNvSpPr>
          <p:nvPr/>
        </p:nvSpPr>
        <p:spPr>
          <a:xfrm>
            <a:off x="8829675" y="533400"/>
            <a:ext cx="2809875" cy="323850"/>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C5.1</a:t>
            </a:r>
          </a:p>
        </p:txBody>
      </p:sp>
      <p:sp>
        <p:nvSpPr>
          <p:cNvPr id="4" name="s27-text-4">
            <a:extLst>
              <a:ext uri="{FF2B5EF4-FFF2-40B4-BE49-F238E27FC236}">
                <a16:creationId xmlns:a16="http://schemas.microsoft.com/office/drawing/2014/main" id="{05F64B9D-99B3-4A68-8FA4-7A5EF3291594}"/>
              </a:ext>
            </a:extLst>
          </p:cNvPr>
          <p:cNvSpPr>
            <a:spLocks noGrp="1"/>
          </p:cNvSpPr>
          <p:nvPr/>
        </p:nvSpPr>
        <p:spPr>
          <a:xfrm>
            <a:off x="457200" y="1990725"/>
            <a:ext cx="11239500" cy="981075"/>
          </a:xfrm>
          <a:prstGeom prst="rect">
            <a:avLst/>
          </a:prstGeom>
          <a:noFill/>
          <a:ln w="0">
            <a:noFill/>
          </a:ln>
        </p:spPr>
        <p:txBody>
          <a:bodyPr wrap="square" lIns="0" tIns="0" rIns="0" bIns="0" anchor="t">
            <a:noAutofit/>
          </a:bodyPr>
          <a:lstStyle/>
          <a:p>
            <a:pPr algn="l">
              <a:defRPr sz="2400" b="0">
                <a:solidFill>
                  <a:srgbClr val="111111"/>
                </a:solidFill>
                <a:latin typeface="Aptos"/>
                <a:ea typeface="Aptos"/>
                <a:cs typeface="Aptos"/>
              </a:defRPr>
            </a:pPr>
            <a:r>
              <a:rPr sz="2400" b="0">
                <a:solidFill>
                  <a:srgbClr val="111111"/>
                </a:solidFill>
                <a:latin typeface="Aptos"/>
                <a:ea typeface="Aptos"/>
                <a:cs typeface="Aptos"/>
              </a:rPr>
              <a:t>Warehouse A inspects all 60,000 units in its current stock.</a:t>
            </a:r>
          </a:p>
          <a:p>
            <a:pPr algn="l">
              <a:defRPr sz="2400" b="0">
                <a:solidFill>
                  <a:srgbClr val="111111"/>
                </a:solidFill>
                <a:latin typeface="Aptos"/>
                <a:ea typeface="Aptos"/>
                <a:cs typeface="Aptos"/>
              </a:defRPr>
            </a:pPr>
            <a:r>
              <a:rPr sz="2400" b="0">
                <a:solidFill>
                  <a:srgbClr val="111111"/>
                </a:solidFill>
                <a:latin typeface="Aptos"/>
                <a:ea typeface="Aptos"/>
                <a:cs typeface="Aptos"/>
              </a:rPr>
              <a:t>5,000 are defective: 8.33%. The company has eight warehouses.</a:t>
            </a:r>
          </a:p>
        </p:txBody>
      </p:sp>
      <p:graphicFrame>
        <p:nvGraphicFramePr>
          <p:cNvPr id="15" name="Table 14"/>
          <p:cNvGraphicFramePr/>
          <p:nvPr/>
        </p:nvGraphicFramePr>
        <p:xfrm>
          <a:off x="457200" y="3457575"/>
          <a:ext cx="11239500" cy="2181225"/>
        </p:xfrm>
        <a:graphic>
          <a:graphicData uri="http://schemas.openxmlformats.org/drawingml/2006/table">
            <a:tbl>
              <a:tblPr firstRow="1"/>
              <a:tblGrid>
                <a:gridCol w="5572125">
                  <a:extLst>
                    <a:ext uri="{9D8B030D-6E8A-4147-A177-3AD203B41FA5}">
                      <a16:colId xmlns:a16="http://schemas.microsoft.com/office/drawing/2014/main" val="20000"/>
                    </a:ext>
                  </a:extLst>
                </a:gridCol>
                <a:gridCol w="5667375">
                  <a:extLst>
                    <a:ext uri="{9D8B030D-6E8A-4147-A177-3AD203B41FA5}">
                      <a16:colId xmlns:a16="http://schemas.microsoft.com/office/drawing/2014/main" val="20001"/>
                    </a:ext>
                  </a:extLst>
                </a:gridCol>
              </a:tblGrid>
              <a:tr h="571500">
                <a:tc>
                  <a:txBody>
                    <a:bodyPr/>
                    <a:lstStyle/>
                    <a:p>
                      <a:pPr algn="l"/>
                      <a:r>
                        <a:rPr sz="2100" b="1">
                          <a:solidFill>
                            <a:srgbClr val="FFFFFF"/>
                          </a:solidFill>
                          <a:latin typeface="Aptos"/>
                          <a:ea typeface="Aptos"/>
                          <a:cs typeface="Aptos"/>
                        </a:rPr>
                        <a:t>Research concerns</a:t>
                      </a:r>
                    </a:p>
                  </a:txBody>
                  <a:tcPr marL="95250" marR="95250" marT="19050" marB="19050" anchor="ctr">
                    <a:solidFill>
                      <a:srgbClr val="D6171D"/>
                    </a:solidFill>
                  </a:tcPr>
                </a:tc>
                <a:tc>
                  <a:txBody>
                    <a:bodyPr/>
                    <a:lstStyle/>
                    <a:p>
                      <a:pPr algn="ctr"/>
                      <a:r>
                        <a:rPr sz="2100" b="1">
                          <a:solidFill>
                            <a:srgbClr val="FFFFFF"/>
                          </a:solidFill>
                          <a:latin typeface="Aptos"/>
                          <a:ea typeface="Aptos"/>
                          <a:cs typeface="Aptos"/>
                        </a:rPr>
                        <a:t>How should we describe the evidence?</a:t>
                      </a:r>
                    </a:p>
                  </a:txBody>
                  <a:tcPr marL="95250" marR="95250" marT="19050" marB="19050" anchor="ctr">
                    <a:solidFill>
                      <a:srgbClr val="D6171D"/>
                    </a:solidFill>
                  </a:tcPr>
                </a:tc>
                <a:extLst>
                  <a:ext uri="{0D108BD9-81ED-4DB2-BD59-A6C34878D82A}">
                    <a16:rowId xmlns:a16="http://schemas.microsoft.com/office/drawing/2014/main" val="10000"/>
                  </a:ext>
                </a:extLst>
              </a:tr>
              <a:tr h="742950">
                <a:tc>
                  <a:txBody>
                    <a:bodyPr/>
                    <a:lstStyle/>
                    <a:p>
                      <a:pPr algn="l"/>
                      <a:r>
                        <a:rPr sz="2100" b="0">
                          <a:solidFill>
                            <a:srgbClr val="111111"/>
                          </a:solidFill>
                          <a:latin typeface="Aptos"/>
                          <a:ea typeface="Aptos"/>
                          <a:cs typeface="Aptos"/>
                        </a:rPr>
                        <a:t>Warehouse A’s current stock</a:t>
                      </a:r>
                    </a:p>
                  </a:txBody>
                  <a:tcPr marL="95250" marR="95250" marT="19050" marB="19050" anchor="ctr">
                    <a:solidFill>
                      <a:srgbClr val="FFFFFF"/>
                    </a:solidFill>
                  </a:tcPr>
                </a:tc>
                <a:tc>
                  <a:txBody>
                    <a:bodyPr/>
                    <a:lstStyle/>
                    <a:p>
                      <a:pPr algn="ctr"/>
                      <a:r>
                        <a:rPr sz="2100" b="0">
                          <a:solidFill>
                            <a:srgbClr val="111111"/>
                          </a:solidFill>
                          <a:latin typeface="Aptos"/>
                          <a:ea typeface="Aptos"/>
                          <a:cs typeface="Aptos"/>
                        </a:rPr>
                        <a:t>Population or sample? Parameter or statistic?</a:t>
                      </a:r>
                    </a:p>
                  </a:txBody>
                  <a:tcPr marL="95250" marR="95250" marT="19050" marB="19050" anchor="ctr">
                    <a:solidFill>
                      <a:srgbClr val="FFFFFF"/>
                    </a:solidFill>
                  </a:tcPr>
                </a:tc>
                <a:extLst>
                  <a:ext uri="{0D108BD9-81ED-4DB2-BD59-A6C34878D82A}">
                    <a16:rowId xmlns:a16="http://schemas.microsoft.com/office/drawing/2014/main" val="10001"/>
                  </a:ext>
                </a:extLst>
              </a:tr>
              <a:tr h="866775">
                <a:tc>
                  <a:txBody>
                    <a:bodyPr/>
                    <a:lstStyle/>
                    <a:p>
                      <a:pPr algn="l"/>
                      <a:r>
                        <a:rPr sz="2100" b="0">
                          <a:solidFill>
                            <a:srgbClr val="111111"/>
                          </a:solidFill>
                          <a:latin typeface="Aptos"/>
                          <a:ea typeface="Aptos"/>
                          <a:cs typeface="Aptos"/>
                        </a:rPr>
                        <a:t>Current stock across all eight warehouses</a:t>
                      </a:r>
                    </a:p>
                  </a:txBody>
                  <a:tcPr marL="95250" marR="95250" marT="19050" marB="19050" anchor="ctr">
                    <a:solidFill>
                      <a:srgbClr val="EFF8FF"/>
                    </a:solidFill>
                  </a:tcPr>
                </a:tc>
                <a:tc>
                  <a:txBody>
                    <a:bodyPr/>
                    <a:lstStyle/>
                    <a:p>
                      <a:pPr algn="ctr"/>
                      <a:r>
                        <a:rPr sz="2100" b="0">
                          <a:solidFill>
                            <a:srgbClr val="111111"/>
                          </a:solidFill>
                          <a:latin typeface="Aptos"/>
                          <a:ea typeface="Aptos"/>
                          <a:cs typeface="Aptos"/>
                        </a:rPr>
                        <a:t>Population or sample? Parameter or statistic?</a:t>
                      </a:r>
                    </a:p>
                  </a:txBody>
                  <a:tcPr marL="95250" marR="95250" marT="19050" marB="19050" anchor="ctr">
                    <a:solidFill>
                      <a:srgbClr val="EFF8FF"/>
                    </a:solidFill>
                  </a:tcPr>
                </a:tc>
                <a:extLst>
                  <a:ext uri="{0D108BD9-81ED-4DB2-BD59-A6C34878D82A}">
                    <a16:rowId xmlns:a16="http://schemas.microsoft.com/office/drawing/2014/main" val="10002"/>
                  </a:ext>
                </a:extLst>
              </a:tr>
            </a:tbl>
          </a:graphicData>
        </a:graphic>
      </p:graphicFrame>
      <p:sp>
        <p:nvSpPr>
          <p:cNvPr id="6" name="s27-rect-5">
            <a:extLst>
              <a:ext uri="{FF2B5EF4-FFF2-40B4-BE49-F238E27FC236}">
                <a16:creationId xmlns:a16="http://schemas.microsoft.com/office/drawing/2014/main" id="{DB5FBB11-FF61-414D-B562-294B252CA201}"/>
              </a:ext>
            </a:extLst>
          </p:cNvPr>
          <p:cNvSpPr>
            <a:spLocks noGrp="1"/>
          </p:cNvSpPr>
          <p:nvPr/>
        </p:nvSpPr>
        <p:spPr>
          <a:xfrm>
            <a:off x="428625" y="5905500"/>
            <a:ext cx="2762250" cy="400050"/>
          </a:xfrm>
          <a:prstGeom prst="rect">
            <a:avLst/>
          </a:prstGeom>
          <a:solidFill>
            <a:srgbClr val="D6171D"/>
          </a:solidFill>
          <a:ln w="0">
            <a:noFill/>
          </a:ln>
        </p:spPr>
        <p:txBody>
          <a:bodyPr/>
          <a:lstStyle/>
          <a:p>
            <a:endParaRPr lang="en-US"/>
          </a:p>
        </p:txBody>
      </p:sp>
      <p:sp>
        <p:nvSpPr>
          <p:cNvPr id="7" name="s27-text-6">
            <a:extLst>
              <a:ext uri="{FF2B5EF4-FFF2-40B4-BE49-F238E27FC236}">
                <a16:creationId xmlns:a16="http://schemas.microsoft.com/office/drawing/2014/main" id="{1EEB26A7-53BA-4096-A78B-7E84DD50A8EA}"/>
              </a:ext>
            </a:extLst>
          </p:cNvPr>
          <p:cNvSpPr>
            <a:spLocks noGrp="1"/>
          </p:cNvSpPr>
          <p:nvPr/>
        </p:nvSpPr>
        <p:spPr>
          <a:xfrm>
            <a:off x="523875" y="5962650"/>
            <a:ext cx="2571750" cy="323850"/>
          </a:xfrm>
          <a:prstGeom prst="rect">
            <a:avLst/>
          </a:prstGeom>
          <a:noFill/>
          <a:ln w="0">
            <a:noFill/>
          </a:ln>
        </p:spPr>
        <p:txBody>
          <a:bodyPr wrap="square" lIns="0" tIns="0" rIns="0" bIns="0" anchor="t">
            <a:noAutofit/>
          </a:bodyPr>
          <a:lstStyle/>
          <a:p>
            <a:pPr algn="ctr">
              <a:defRPr sz="1800" b="1">
                <a:solidFill>
                  <a:srgbClr val="FFFFFF"/>
                </a:solidFill>
                <a:latin typeface="Aptos"/>
                <a:ea typeface="Aptos"/>
                <a:cs typeface="Aptos"/>
              </a:defRPr>
            </a:pPr>
            <a:r>
              <a:rPr sz="1800" b="1">
                <a:solidFill>
                  <a:srgbClr val="FFFFFF"/>
                </a:solidFill>
                <a:latin typeface="Aptos"/>
                <a:ea typeface="Aptos"/>
                <a:cs typeface="Aptos"/>
              </a:rPr>
              <a:t>DISCUSS   2 MIN</a:t>
            </a:r>
          </a:p>
        </p:txBody>
      </p:sp>
      <p:sp>
        <p:nvSpPr>
          <p:cNvPr id="8" name="s27-text-7">
            <a:extLst>
              <a:ext uri="{FF2B5EF4-FFF2-40B4-BE49-F238E27FC236}">
                <a16:creationId xmlns:a16="http://schemas.microsoft.com/office/drawing/2014/main" id="{E22808CD-9BBA-467F-A5A1-DDA74F38A82A}"/>
              </a:ext>
            </a:extLst>
          </p:cNvPr>
          <p:cNvSpPr>
            <a:spLocks noGrp="1"/>
          </p:cNvSpPr>
          <p:nvPr/>
        </p:nvSpPr>
        <p:spPr>
          <a:xfrm>
            <a:off x="3381375" y="5915025"/>
            <a:ext cx="8286750" cy="457200"/>
          </a:xfrm>
          <a:prstGeom prst="rect">
            <a:avLst/>
          </a:prstGeom>
          <a:noFill/>
          <a:ln w="0">
            <a:noFill/>
          </a:ln>
        </p:spPr>
        <p:txBody>
          <a:bodyPr wrap="square" lIns="0" tIns="0" rIns="0" bIns="0" anchor="t">
            <a:noAutofit/>
          </a:bodyPr>
          <a:lstStyle/>
          <a:p>
            <a:pPr algn="l">
              <a:defRPr sz="2100" b="1">
                <a:solidFill>
                  <a:srgbClr val="111111"/>
                </a:solidFill>
                <a:latin typeface="Aptos"/>
                <a:ea typeface="Aptos"/>
                <a:cs typeface="Aptos"/>
              </a:defRPr>
            </a:pPr>
            <a:r>
              <a:rPr sz="2100" b="1">
                <a:solidFill>
                  <a:srgbClr val="111111"/>
                </a:solidFill>
                <a:latin typeface="Aptos"/>
                <a:ea typeface="Aptos"/>
                <a:cs typeface="Aptos"/>
              </a:rPr>
              <a:t>Explain why the same records can have different labels.</a:t>
            </a:r>
          </a:p>
        </p:txBody>
      </p:sp>
      <p:sp>
        <p:nvSpPr>
          <p:cNvPr id="9" name="s27-text-8">
            <a:extLst>
              <a:ext uri="{FF2B5EF4-FFF2-40B4-BE49-F238E27FC236}">
                <a16:creationId xmlns:a16="http://schemas.microsoft.com/office/drawing/2014/main" id="{DAFF8FD8-4A08-436C-8A66-3FFBEE62341A}"/>
              </a:ext>
            </a:extLst>
          </p:cNvPr>
          <p:cNvSpPr>
            <a:spLocks noGrp="1"/>
          </p:cNvSpPr>
          <p:nvPr/>
        </p:nvSpPr>
        <p:spPr>
          <a:xfrm>
            <a:off x="457200" y="6477000"/>
            <a:ext cx="10763250" cy="238125"/>
          </a:xfrm>
          <a:prstGeom prst="rect">
            <a:avLst/>
          </a:prstGeom>
          <a:noFill/>
          <a:ln w="0">
            <a:noFill/>
          </a:ln>
        </p:spPr>
        <p:txBody>
          <a:bodyPr wrap="square" lIns="0" tIns="0" rIns="0" bIns="0" anchor="t">
            <a:noAutofit/>
          </a:bodyPr>
          <a:lstStyle/>
          <a:p>
            <a:endParaRPr/>
          </a:p>
        </p:txBody>
      </p:sp>
      <p:sp>
        <p:nvSpPr>
          <p:cNvPr id="10" name="s27-text-9">
            <a:extLst>
              <a:ext uri="{FF2B5EF4-FFF2-40B4-BE49-F238E27FC236}">
                <a16:creationId xmlns:a16="http://schemas.microsoft.com/office/drawing/2014/main" id="{E84225ED-29F9-4CCD-AF47-8CE29246B03D}"/>
              </a:ext>
            </a:extLst>
          </p:cNvPr>
          <p:cNvSpPr>
            <a:spLocks noGrp="1"/>
          </p:cNvSpPr>
          <p:nvPr/>
        </p:nvSpPr>
        <p:spPr>
          <a:xfrm>
            <a:off x="11239500" y="6477000"/>
            <a:ext cx="476250" cy="238125"/>
          </a:xfrm>
          <a:prstGeom prst="rect">
            <a:avLst/>
          </a:prstGeom>
          <a:noFill/>
          <a:ln w="0">
            <a:noFill/>
          </a:ln>
        </p:spPr>
        <p:txBody>
          <a:bodyPr wrap="square" lIns="0" tIns="0" rIns="0" bIns="0" anchor="t">
            <a:noAutofit/>
          </a:bodyPr>
          <a:lstStyle/>
          <a:p>
            <a:pPr algn="r">
              <a:defRPr sz="1275" b="0">
                <a:solidFill>
                  <a:srgbClr val="666666"/>
                </a:solidFill>
                <a:latin typeface="Aptos"/>
                <a:ea typeface="Aptos"/>
                <a:cs typeface="Aptos"/>
              </a:defRPr>
            </a:pPr>
            <a:r>
              <a:rPr sz="1275" b="0">
                <a:solidFill>
                  <a:srgbClr val="666666"/>
                </a:solidFill>
                <a:latin typeface="Aptos"/>
                <a:ea typeface="Aptos"/>
                <a:cs typeface="Aptos"/>
              </a:rPr>
              <a:t>27</a:t>
            </a:r>
          </a:p>
        </p:txBody>
      </p:sp>
    </p:spTree>
    <p:extLst>
      <p:ext uri="{BB962C8B-B14F-4D97-AF65-F5344CB8AC3E}">
        <p14:creationId xmlns:p14="http://schemas.microsoft.com/office/powerpoint/2010/main" val="32813612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28-text-1">
            <a:extLst>
              <a:ext uri="{FF2B5EF4-FFF2-40B4-BE49-F238E27FC236}">
                <a16:creationId xmlns:a16="http://schemas.microsoft.com/office/drawing/2014/main" id="{6834EFC5-B427-4A78-99AE-2BDCDFE4873A}"/>
              </a:ext>
            </a:extLst>
          </p:cNvPr>
          <p:cNvSpPr>
            <a:spLocks noGrp="1"/>
          </p:cNvSpPr>
          <p:nvPr/>
        </p:nvSpPr>
        <p:spPr>
          <a:xfrm>
            <a:off x="430816" y="1038225"/>
            <a:ext cx="11293412" cy="78105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1. Potential answer</a:t>
            </a:r>
          </a:p>
        </p:txBody>
      </p:sp>
      <p:sp>
        <p:nvSpPr>
          <p:cNvPr id="2" name="s28-rect-2">
            <a:extLst>
              <a:ext uri="{FF2B5EF4-FFF2-40B4-BE49-F238E27FC236}">
                <a16:creationId xmlns:a16="http://schemas.microsoft.com/office/drawing/2014/main" id="{0E3C9A27-CB59-4417-877A-931C4F759C1A}"/>
              </a:ext>
            </a:extLst>
          </p:cNvPr>
          <p:cNvSpPr>
            <a:spLocks noGrp="1"/>
          </p:cNvSpPr>
          <p:nvPr/>
        </p:nvSpPr>
        <p:spPr>
          <a:xfrm>
            <a:off x="8734425" y="476250"/>
            <a:ext cx="3000375" cy="400050"/>
          </a:xfrm>
          <a:prstGeom prst="rect">
            <a:avLst/>
          </a:prstGeom>
          <a:solidFill>
            <a:srgbClr val="D6171D"/>
          </a:solidFill>
          <a:ln w="0">
            <a:noFill/>
          </a:ln>
        </p:spPr>
        <p:txBody>
          <a:bodyPr/>
          <a:lstStyle/>
          <a:p>
            <a:endParaRPr lang="en-US"/>
          </a:p>
        </p:txBody>
      </p:sp>
      <p:sp>
        <p:nvSpPr>
          <p:cNvPr id="3" name="s28-text-3">
            <a:extLst>
              <a:ext uri="{FF2B5EF4-FFF2-40B4-BE49-F238E27FC236}">
                <a16:creationId xmlns:a16="http://schemas.microsoft.com/office/drawing/2014/main" id="{5C61893D-CF2B-4F50-98A3-CD6553AA8830}"/>
              </a:ext>
            </a:extLst>
          </p:cNvPr>
          <p:cNvSpPr>
            <a:spLocks noGrp="1"/>
          </p:cNvSpPr>
          <p:nvPr/>
        </p:nvSpPr>
        <p:spPr>
          <a:xfrm>
            <a:off x="8829675" y="533400"/>
            <a:ext cx="2809875" cy="323850"/>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C5.1</a:t>
            </a:r>
          </a:p>
        </p:txBody>
      </p:sp>
      <p:graphicFrame>
        <p:nvGraphicFramePr>
          <p:cNvPr id="11" name="Table 10"/>
          <p:cNvGraphicFramePr/>
          <p:nvPr/>
        </p:nvGraphicFramePr>
        <p:xfrm>
          <a:off x="457200" y="2143125"/>
          <a:ext cx="11239500" cy="2514600"/>
        </p:xfrm>
        <a:graphic>
          <a:graphicData uri="http://schemas.openxmlformats.org/drawingml/2006/table">
            <a:tbl>
              <a:tblPr firstRow="1"/>
              <a:tblGrid>
                <a:gridCol w="5000625">
                  <a:extLst>
                    <a:ext uri="{9D8B030D-6E8A-4147-A177-3AD203B41FA5}">
                      <a16:colId xmlns:a16="http://schemas.microsoft.com/office/drawing/2014/main" val="20000"/>
                    </a:ext>
                  </a:extLst>
                </a:gridCol>
                <a:gridCol w="3762375">
                  <a:extLst>
                    <a:ext uri="{9D8B030D-6E8A-4147-A177-3AD203B41FA5}">
                      <a16:colId xmlns:a16="http://schemas.microsoft.com/office/drawing/2014/main" val="20001"/>
                    </a:ext>
                  </a:extLst>
                </a:gridCol>
                <a:gridCol w="2476500">
                  <a:extLst>
                    <a:ext uri="{9D8B030D-6E8A-4147-A177-3AD203B41FA5}">
                      <a16:colId xmlns:a16="http://schemas.microsoft.com/office/drawing/2014/main" val="20002"/>
                    </a:ext>
                  </a:extLst>
                </a:gridCol>
              </a:tblGrid>
              <a:tr h="581025">
                <a:tc>
                  <a:txBody>
                    <a:bodyPr/>
                    <a:lstStyle/>
                    <a:p>
                      <a:pPr algn="l"/>
                      <a:r>
                        <a:rPr sz="2100" b="1">
                          <a:solidFill>
                            <a:srgbClr val="FFFFFF"/>
                          </a:solidFill>
                          <a:latin typeface="Aptos"/>
                          <a:ea typeface="Aptos"/>
                          <a:cs typeface="Aptos"/>
                        </a:rPr>
                        <a:t>Defined population</a:t>
                      </a:r>
                    </a:p>
                  </a:txBody>
                  <a:tcPr marL="95250" marR="95250" marT="19050" marB="19050" anchor="ctr">
                    <a:solidFill>
                      <a:srgbClr val="D6171D"/>
                    </a:solidFill>
                  </a:tcPr>
                </a:tc>
                <a:tc>
                  <a:txBody>
                    <a:bodyPr/>
                    <a:lstStyle/>
                    <a:p>
                      <a:pPr algn="ctr"/>
                      <a:r>
                        <a:rPr sz="2100" b="1">
                          <a:solidFill>
                            <a:srgbClr val="FFFFFF"/>
                          </a:solidFill>
                          <a:latin typeface="Aptos"/>
                          <a:ea typeface="Aptos"/>
                          <a:cs typeface="Aptos"/>
                        </a:rPr>
                        <a:t>The inspected units</a:t>
                      </a:r>
                    </a:p>
                  </a:txBody>
                  <a:tcPr marL="95250" marR="95250" marT="19050" marB="19050" anchor="ctr">
                    <a:solidFill>
                      <a:srgbClr val="D6171D"/>
                    </a:solidFill>
                  </a:tcPr>
                </a:tc>
                <a:tc>
                  <a:txBody>
                    <a:bodyPr/>
                    <a:lstStyle/>
                    <a:p>
                      <a:pPr algn="ctr"/>
                      <a:r>
                        <a:rPr sz="2100" b="1">
                          <a:solidFill>
                            <a:srgbClr val="FFFFFF"/>
                          </a:solidFill>
                          <a:latin typeface="Aptos"/>
                          <a:ea typeface="Aptos"/>
                          <a:cs typeface="Aptos"/>
                        </a:rPr>
                        <a:t>The 8.33%</a:t>
                      </a:r>
                    </a:p>
                  </a:txBody>
                  <a:tcPr marL="95250" marR="95250" marT="19050" marB="19050" anchor="ctr">
                    <a:solidFill>
                      <a:srgbClr val="D6171D"/>
                    </a:solidFill>
                  </a:tcPr>
                </a:tc>
                <a:extLst>
                  <a:ext uri="{0D108BD9-81ED-4DB2-BD59-A6C34878D82A}">
                    <a16:rowId xmlns:a16="http://schemas.microsoft.com/office/drawing/2014/main" val="10000"/>
                  </a:ext>
                </a:extLst>
              </a:tr>
              <a:tr h="895350">
                <a:tc>
                  <a:txBody>
                    <a:bodyPr/>
                    <a:lstStyle/>
                    <a:p>
                      <a:pPr algn="l"/>
                      <a:r>
                        <a:rPr sz="2100" b="0">
                          <a:solidFill>
                            <a:srgbClr val="111111"/>
                          </a:solidFill>
                          <a:latin typeface="Aptos"/>
                          <a:ea typeface="Aptos"/>
                          <a:cs typeface="Aptos"/>
                        </a:rPr>
                        <a:t>Warehouse A’s current stock</a:t>
                      </a:r>
                    </a:p>
                  </a:txBody>
                  <a:tcPr marL="95250" marR="95250" marT="19050" marB="19050" anchor="ctr">
                    <a:solidFill>
                      <a:srgbClr val="FFFFFF"/>
                    </a:solidFill>
                  </a:tcPr>
                </a:tc>
                <a:tc>
                  <a:txBody>
                    <a:bodyPr/>
                    <a:lstStyle/>
                    <a:p>
                      <a:pPr algn="ctr"/>
                      <a:r>
                        <a:rPr sz="2100" b="0">
                          <a:solidFill>
                            <a:srgbClr val="111111"/>
                          </a:solidFill>
                          <a:latin typeface="Aptos"/>
                          <a:ea typeface="Aptos"/>
                          <a:cs typeface="Aptos"/>
                        </a:rPr>
                        <a:t>The whole population</a:t>
                      </a:r>
                    </a:p>
                  </a:txBody>
                  <a:tcPr marL="95250" marR="95250" marT="19050" marB="19050" anchor="ctr">
                    <a:solidFill>
                      <a:srgbClr val="FFFFFF"/>
                    </a:solidFill>
                  </a:tcPr>
                </a:tc>
                <a:tc>
                  <a:txBody>
                    <a:bodyPr/>
                    <a:lstStyle/>
                    <a:p>
                      <a:pPr algn="ctr"/>
                      <a:r>
                        <a:rPr sz="2100" b="0">
                          <a:solidFill>
                            <a:srgbClr val="111111"/>
                          </a:solidFill>
                          <a:latin typeface="Aptos"/>
                          <a:ea typeface="Aptos"/>
                          <a:cs typeface="Aptos"/>
                        </a:rPr>
                        <a:t>A parameter</a:t>
                      </a:r>
                    </a:p>
                  </a:txBody>
                  <a:tcPr marL="95250" marR="95250" marT="19050" marB="19050" anchor="ctr">
                    <a:solidFill>
                      <a:srgbClr val="FFFFFF"/>
                    </a:solidFill>
                  </a:tcPr>
                </a:tc>
                <a:extLst>
                  <a:ext uri="{0D108BD9-81ED-4DB2-BD59-A6C34878D82A}">
                    <a16:rowId xmlns:a16="http://schemas.microsoft.com/office/drawing/2014/main" val="10001"/>
                  </a:ext>
                </a:extLst>
              </a:tr>
              <a:tr h="1038225">
                <a:tc>
                  <a:txBody>
                    <a:bodyPr/>
                    <a:lstStyle/>
                    <a:p>
                      <a:pPr algn="l"/>
                      <a:r>
                        <a:rPr sz="2100" b="0">
                          <a:solidFill>
                            <a:srgbClr val="111111"/>
                          </a:solidFill>
                          <a:latin typeface="Aptos"/>
                          <a:ea typeface="Aptos"/>
                          <a:cs typeface="Aptos"/>
                        </a:rPr>
                        <a:t>All eight warehouses’ current stock</a:t>
                      </a:r>
                    </a:p>
                  </a:txBody>
                  <a:tcPr marL="95250" marR="95250" marT="19050" marB="19050" anchor="ctr">
                    <a:solidFill>
                      <a:srgbClr val="EFF8FF"/>
                    </a:solidFill>
                  </a:tcPr>
                </a:tc>
                <a:tc>
                  <a:txBody>
                    <a:bodyPr/>
                    <a:lstStyle/>
                    <a:p>
                      <a:pPr algn="ctr"/>
                      <a:r>
                        <a:rPr sz="2100" b="0">
                          <a:solidFill>
                            <a:srgbClr val="111111"/>
                          </a:solidFill>
                          <a:latin typeface="Aptos"/>
                          <a:ea typeface="Aptos"/>
                          <a:cs typeface="Aptos"/>
                        </a:rPr>
                        <a:t>A sample of that population</a:t>
                      </a:r>
                    </a:p>
                  </a:txBody>
                  <a:tcPr marL="95250" marR="95250" marT="19050" marB="19050" anchor="ctr">
                    <a:solidFill>
                      <a:srgbClr val="EFF8FF"/>
                    </a:solidFill>
                  </a:tcPr>
                </a:tc>
                <a:tc>
                  <a:txBody>
                    <a:bodyPr/>
                    <a:lstStyle/>
                    <a:p>
                      <a:pPr algn="ctr"/>
                      <a:r>
                        <a:rPr sz="2100" b="0">
                          <a:solidFill>
                            <a:srgbClr val="111111"/>
                          </a:solidFill>
                          <a:latin typeface="Aptos"/>
                          <a:ea typeface="Aptos"/>
                          <a:cs typeface="Aptos"/>
                        </a:rPr>
                        <a:t>A statistic</a:t>
                      </a:r>
                    </a:p>
                  </a:txBody>
                  <a:tcPr marL="95250" marR="95250" marT="19050" marB="19050" anchor="ctr">
                    <a:solidFill>
                      <a:srgbClr val="EFF8FF"/>
                    </a:solidFill>
                  </a:tcPr>
                </a:tc>
                <a:extLst>
                  <a:ext uri="{0D108BD9-81ED-4DB2-BD59-A6C34878D82A}">
                    <a16:rowId xmlns:a16="http://schemas.microsoft.com/office/drawing/2014/main" val="10002"/>
                  </a:ext>
                </a:extLst>
              </a:tr>
            </a:tbl>
          </a:graphicData>
        </a:graphic>
      </p:graphicFrame>
      <p:sp>
        <p:nvSpPr>
          <p:cNvPr id="5" name="s28-text-4">
            <a:extLst>
              <a:ext uri="{FF2B5EF4-FFF2-40B4-BE49-F238E27FC236}">
                <a16:creationId xmlns:a16="http://schemas.microsoft.com/office/drawing/2014/main" id="{03DC7558-2C94-4148-AF0E-35DDD75C82FB}"/>
              </a:ext>
            </a:extLst>
          </p:cNvPr>
          <p:cNvSpPr>
            <a:spLocks noGrp="1"/>
          </p:cNvSpPr>
          <p:nvPr/>
        </p:nvSpPr>
        <p:spPr>
          <a:xfrm>
            <a:off x="457200" y="5238750"/>
            <a:ext cx="11239500" cy="1047750"/>
          </a:xfrm>
          <a:prstGeom prst="rect">
            <a:avLst/>
          </a:prstGeom>
          <a:noFill/>
          <a:ln w="0">
            <a:noFill/>
          </a:ln>
        </p:spPr>
        <p:txBody>
          <a:bodyPr wrap="square" lIns="0" tIns="0" rIns="0" bIns="0" anchor="t">
            <a:noAutofit/>
          </a:bodyPr>
          <a:lstStyle/>
          <a:p>
            <a:pPr algn="l">
              <a:defRPr sz="2400" b="1">
                <a:solidFill>
                  <a:srgbClr val="111111"/>
                </a:solidFill>
                <a:latin typeface="Aptos"/>
                <a:ea typeface="Aptos"/>
                <a:cs typeface="Aptos"/>
              </a:defRPr>
            </a:pPr>
            <a:r>
              <a:rPr sz="2400" b="1">
                <a:solidFill>
                  <a:srgbClr val="111111"/>
                </a:solidFill>
                <a:latin typeface="Aptos"/>
                <a:ea typeface="Aptos"/>
                <a:cs typeface="Aptos"/>
              </a:rPr>
              <a:t>Inspecting one complete warehouse does not establish</a:t>
            </a:r>
          </a:p>
          <a:p>
            <a:pPr algn="l">
              <a:defRPr sz="2400" b="1">
                <a:solidFill>
                  <a:srgbClr val="111111"/>
                </a:solidFill>
                <a:latin typeface="Aptos"/>
                <a:ea typeface="Aptos"/>
                <a:cs typeface="Aptos"/>
              </a:defRPr>
            </a:pPr>
            <a:r>
              <a:rPr sz="2400" b="1">
                <a:solidFill>
                  <a:srgbClr val="111111"/>
                </a:solidFill>
                <a:latin typeface="Aptos"/>
                <a:ea typeface="Aptos"/>
                <a:cs typeface="Aptos"/>
              </a:rPr>
              <a:t>the defective percentage across the entire company.</a:t>
            </a:r>
          </a:p>
        </p:txBody>
      </p:sp>
      <p:sp>
        <p:nvSpPr>
          <p:cNvPr id="6" name="s28-text-5">
            <a:extLst>
              <a:ext uri="{FF2B5EF4-FFF2-40B4-BE49-F238E27FC236}">
                <a16:creationId xmlns:a16="http://schemas.microsoft.com/office/drawing/2014/main" id="{0AA6D2D2-9671-4EB4-BD83-0020ECDB96D2}"/>
              </a:ext>
            </a:extLst>
          </p:cNvPr>
          <p:cNvSpPr>
            <a:spLocks noGrp="1"/>
          </p:cNvSpPr>
          <p:nvPr/>
        </p:nvSpPr>
        <p:spPr>
          <a:xfrm>
            <a:off x="457200" y="6477000"/>
            <a:ext cx="10763250" cy="238125"/>
          </a:xfrm>
          <a:prstGeom prst="rect">
            <a:avLst/>
          </a:prstGeom>
          <a:noFill/>
          <a:ln w="0">
            <a:noFill/>
          </a:ln>
        </p:spPr>
        <p:txBody>
          <a:bodyPr wrap="square" lIns="0" tIns="0" rIns="0" bIns="0" anchor="t">
            <a:noAutofit/>
          </a:bodyPr>
          <a:lstStyle/>
          <a:p>
            <a:endParaRPr/>
          </a:p>
        </p:txBody>
      </p:sp>
      <p:sp>
        <p:nvSpPr>
          <p:cNvPr id="7" name="s28-text-6">
            <a:extLst>
              <a:ext uri="{FF2B5EF4-FFF2-40B4-BE49-F238E27FC236}">
                <a16:creationId xmlns:a16="http://schemas.microsoft.com/office/drawing/2014/main" id="{2BAC57C7-C5B2-4558-A76E-DD1B1910FAC1}"/>
              </a:ext>
            </a:extLst>
          </p:cNvPr>
          <p:cNvSpPr>
            <a:spLocks noGrp="1"/>
          </p:cNvSpPr>
          <p:nvPr/>
        </p:nvSpPr>
        <p:spPr>
          <a:xfrm>
            <a:off x="11239500" y="6477000"/>
            <a:ext cx="476250" cy="238125"/>
          </a:xfrm>
          <a:prstGeom prst="rect">
            <a:avLst/>
          </a:prstGeom>
          <a:noFill/>
          <a:ln w="0">
            <a:noFill/>
          </a:ln>
        </p:spPr>
        <p:txBody>
          <a:bodyPr wrap="square" lIns="0" tIns="0" rIns="0" bIns="0" anchor="t">
            <a:noAutofit/>
          </a:bodyPr>
          <a:lstStyle/>
          <a:p>
            <a:pPr algn="r">
              <a:defRPr sz="1275" b="0">
                <a:solidFill>
                  <a:srgbClr val="666666"/>
                </a:solidFill>
                <a:latin typeface="Aptos"/>
                <a:ea typeface="Aptos"/>
                <a:cs typeface="Aptos"/>
              </a:defRPr>
            </a:pPr>
            <a:r>
              <a:rPr sz="1275" b="0">
                <a:solidFill>
                  <a:srgbClr val="666666"/>
                </a:solidFill>
                <a:latin typeface="Aptos"/>
                <a:ea typeface="Aptos"/>
                <a:cs typeface="Aptos"/>
              </a:rPr>
              <a:t>28</a:t>
            </a:r>
          </a:p>
        </p:txBody>
      </p:sp>
    </p:spTree>
    <p:extLst>
      <p:ext uri="{BB962C8B-B14F-4D97-AF65-F5344CB8AC3E}">
        <p14:creationId xmlns:p14="http://schemas.microsoft.com/office/powerpoint/2010/main" val="32813612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29-text-1">
            <a:extLst>
              <a:ext uri="{FF2B5EF4-FFF2-40B4-BE49-F238E27FC236}">
                <a16:creationId xmlns:a16="http://schemas.microsoft.com/office/drawing/2014/main" id="{AFB39676-2987-4A7A-A00F-37FC64D8B1A0}"/>
              </a:ext>
            </a:extLst>
          </p:cNvPr>
          <p:cNvSpPr>
            <a:spLocks noGrp="1"/>
          </p:cNvSpPr>
          <p:nvPr/>
        </p:nvSpPr>
        <p:spPr>
          <a:xfrm>
            <a:off x="430816" y="1038225"/>
            <a:ext cx="11293412" cy="78105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2. A cleaner streaming dataset?</a:t>
            </a:r>
          </a:p>
        </p:txBody>
      </p:sp>
      <p:sp>
        <p:nvSpPr>
          <p:cNvPr id="2" name="s29-rect-2">
            <a:extLst>
              <a:ext uri="{FF2B5EF4-FFF2-40B4-BE49-F238E27FC236}">
                <a16:creationId xmlns:a16="http://schemas.microsoft.com/office/drawing/2014/main" id="{1636F4DD-53B0-49E1-8913-8EFD23EAA028}"/>
              </a:ext>
            </a:extLst>
          </p:cNvPr>
          <p:cNvSpPr>
            <a:spLocks noGrp="1"/>
          </p:cNvSpPr>
          <p:nvPr/>
        </p:nvSpPr>
        <p:spPr>
          <a:xfrm>
            <a:off x="8734425" y="476250"/>
            <a:ext cx="3000375" cy="400050"/>
          </a:xfrm>
          <a:prstGeom prst="rect">
            <a:avLst/>
          </a:prstGeom>
          <a:solidFill>
            <a:srgbClr val="D6171D"/>
          </a:solidFill>
          <a:ln w="0">
            <a:noFill/>
          </a:ln>
        </p:spPr>
        <p:txBody>
          <a:bodyPr/>
          <a:lstStyle/>
          <a:p>
            <a:endParaRPr lang="en-US"/>
          </a:p>
        </p:txBody>
      </p:sp>
      <p:sp>
        <p:nvSpPr>
          <p:cNvPr id="3" name="s29-text-3">
            <a:extLst>
              <a:ext uri="{FF2B5EF4-FFF2-40B4-BE49-F238E27FC236}">
                <a16:creationId xmlns:a16="http://schemas.microsoft.com/office/drawing/2014/main" id="{63E76204-E5E5-4718-B91D-1B670FE16E38}"/>
              </a:ext>
            </a:extLst>
          </p:cNvPr>
          <p:cNvSpPr>
            <a:spLocks noGrp="1"/>
          </p:cNvSpPr>
          <p:nvPr/>
        </p:nvSpPr>
        <p:spPr>
          <a:xfrm>
            <a:off x="8829675" y="533400"/>
            <a:ext cx="2809875" cy="323850"/>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C5.2</a:t>
            </a:r>
          </a:p>
        </p:txBody>
      </p:sp>
      <p:sp>
        <p:nvSpPr>
          <p:cNvPr id="4" name="s29-text-4">
            <a:extLst>
              <a:ext uri="{FF2B5EF4-FFF2-40B4-BE49-F238E27FC236}">
                <a16:creationId xmlns:a16="http://schemas.microsoft.com/office/drawing/2014/main" id="{C7EAC4A2-4DFE-438C-8C8F-8B638830C8FF}"/>
              </a:ext>
            </a:extLst>
          </p:cNvPr>
          <p:cNvSpPr>
            <a:spLocks noGrp="1"/>
          </p:cNvSpPr>
          <p:nvPr/>
        </p:nvSpPr>
        <p:spPr>
          <a:xfrm>
            <a:off x="457200" y="1971675"/>
            <a:ext cx="8334375" cy="952500"/>
          </a:xfrm>
          <a:prstGeom prst="rect">
            <a:avLst/>
          </a:prstGeom>
          <a:noFill/>
          <a:ln w="0">
            <a:noFill/>
          </a:ln>
        </p:spPr>
        <p:txBody>
          <a:bodyPr wrap="square" lIns="0" tIns="0" rIns="0" bIns="0" anchor="t">
            <a:noAutofit/>
          </a:bodyPr>
          <a:lstStyle/>
          <a:p>
            <a:pPr algn="l">
              <a:defRPr sz="2400" b="0">
                <a:solidFill>
                  <a:srgbClr val="111111"/>
                </a:solidFill>
                <a:latin typeface="Aptos"/>
                <a:ea typeface="Aptos"/>
                <a:cs typeface="Aptos"/>
              </a:defRPr>
            </a:pPr>
            <a:r>
              <a:rPr sz="2400" b="0">
                <a:solidFill>
                  <a:srgbClr val="111111"/>
                </a:solidFill>
                <a:latin typeface="Aptos"/>
                <a:ea typeface="Aptos"/>
                <a:cs typeface="Aptos"/>
              </a:rPr>
              <a:t>A streaming survey randomly selects 157 students.</a:t>
            </a:r>
          </a:p>
          <a:p>
            <a:pPr algn="l">
              <a:defRPr sz="2400" b="0">
                <a:solidFill>
                  <a:srgbClr val="111111"/>
                </a:solidFill>
                <a:latin typeface="Aptos"/>
                <a:ea typeface="Aptos"/>
                <a:cs typeface="Aptos"/>
              </a:defRPr>
            </a:pPr>
            <a:r>
              <a:rPr sz="2400" b="0">
                <a:solidFill>
                  <a:srgbClr val="111111"/>
                </a:solidFill>
                <a:latin typeface="Aptos"/>
                <a:ea typeface="Aptos"/>
                <a:cs typeface="Aptos"/>
              </a:rPr>
              <a:t>117 reply. Of those, 19 report zero spending.</a:t>
            </a:r>
          </a:p>
        </p:txBody>
      </p:sp>
      <p:sp>
        <p:nvSpPr>
          <p:cNvPr id="5" name="s29-text-5">
            <a:extLst>
              <a:ext uri="{FF2B5EF4-FFF2-40B4-BE49-F238E27FC236}">
                <a16:creationId xmlns:a16="http://schemas.microsoft.com/office/drawing/2014/main" id="{399D1CA7-46ED-4EBF-BBAC-A9EB60711F38}"/>
              </a:ext>
            </a:extLst>
          </p:cNvPr>
          <p:cNvSpPr>
            <a:spLocks noGrp="1"/>
          </p:cNvSpPr>
          <p:nvPr/>
        </p:nvSpPr>
        <p:spPr>
          <a:xfrm>
            <a:off x="457200" y="3295650"/>
            <a:ext cx="8191500" cy="1095375"/>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sz="2325" b="0">
                <a:solidFill>
                  <a:srgbClr val="111111"/>
                </a:solidFill>
                <a:latin typeface="Aptos"/>
                <a:ea typeface="Aptos"/>
                <a:cs typeface="Aptos"/>
              </a:rPr>
              <a:t>The analyst removes the 19 zeros and adds 40 volunteers</a:t>
            </a:r>
          </a:p>
          <a:p>
            <a:pPr algn="l">
              <a:defRPr sz="2325" b="0">
                <a:solidFill>
                  <a:srgbClr val="111111"/>
                </a:solidFill>
                <a:latin typeface="Aptos"/>
                <a:ea typeface="Aptos"/>
                <a:cs typeface="Aptos"/>
              </a:defRPr>
            </a:pPr>
            <a:r>
              <a:rPr sz="2325" b="0">
                <a:solidFill>
                  <a:srgbClr val="111111"/>
                </a:solidFill>
                <a:latin typeface="Aptos"/>
                <a:ea typeface="Aptos"/>
                <a:cs typeface="Aptos"/>
              </a:rPr>
              <a:t>to replace the students who did not reply.</a:t>
            </a:r>
          </a:p>
        </p:txBody>
      </p:sp>
      <p:sp>
        <p:nvSpPr>
          <p:cNvPr id="6" name="s29-text-6">
            <a:extLst>
              <a:ext uri="{FF2B5EF4-FFF2-40B4-BE49-F238E27FC236}">
                <a16:creationId xmlns:a16="http://schemas.microsoft.com/office/drawing/2014/main" id="{0271C742-F712-46D9-9A2A-C27FE5A47DA6}"/>
              </a:ext>
            </a:extLst>
          </p:cNvPr>
          <p:cNvSpPr>
            <a:spLocks noGrp="1"/>
          </p:cNvSpPr>
          <p:nvPr/>
        </p:nvSpPr>
        <p:spPr>
          <a:xfrm>
            <a:off x="457200" y="4733925"/>
            <a:ext cx="8286750" cy="1066800"/>
          </a:xfrm>
          <a:prstGeom prst="rect">
            <a:avLst/>
          </a:prstGeom>
          <a:noFill/>
          <a:ln w="0">
            <a:noFill/>
          </a:ln>
        </p:spPr>
        <p:txBody>
          <a:bodyPr wrap="square" lIns="0" tIns="0" rIns="0" bIns="0" anchor="t">
            <a:noAutofit/>
          </a:bodyPr>
          <a:lstStyle/>
          <a:p>
            <a:pPr algn="l">
              <a:defRPr sz="2175" b="0">
                <a:solidFill>
                  <a:srgbClr val="111111"/>
                </a:solidFill>
                <a:latin typeface="Aptos"/>
                <a:ea typeface="Aptos"/>
                <a:cs typeface="Aptos"/>
              </a:defRPr>
            </a:pPr>
            <a:r>
              <a:rPr sz="2175" b="0">
                <a:solidFill>
                  <a:srgbClr val="111111"/>
                </a:solidFill>
                <a:latin typeface="Aptos"/>
                <a:ea typeface="Aptos"/>
                <a:cs typeface="Aptos"/>
              </a:rPr>
              <a:t>1. How many records are in the final dataset?</a:t>
            </a:r>
          </a:p>
          <a:p>
            <a:pPr algn="l">
              <a:defRPr sz="2175" b="0">
                <a:solidFill>
                  <a:srgbClr val="111111"/>
                </a:solidFill>
                <a:latin typeface="Aptos"/>
                <a:ea typeface="Aptos"/>
                <a:cs typeface="Aptos"/>
              </a:defRPr>
            </a:pPr>
            <a:r>
              <a:rPr sz="2175" b="0">
                <a:solidFill>
                  <a:srgbClr val="111111"/>
                </a:solidFill>
                <a:latin typeface="Aptos"/>
                <a:ea typeface="Aptos"/>
                <a:cs typeface="Aptos"/>
              </a:rPr>
              <a:t>2. Identify two problems with these changes.</a:t>
            </a:r>
          </a:p>
          <a:p>
            <a:pPr algn="l">
              <a:defRPr sz="2175" b="0">
                <a:solidFill>
                  <a:srgbClr val="111111"/>
                </a:solidFill>
                <a:latin typeface="Aptos"/>
                <a:ea typeface="Aptos"/>
                <a:cs typeface="Aptos"/>
              </a:defRPr>
            </a:pPr>
            <a:r>
              <a:rPr sz="2175" b="0">
                <a:solidFill>
                  <a:srgbClr val="111111"/>
                </a:solidFill>
                <a:latin typeface="Aptos"/>
                <a:ea typeface="Aptos"/>
                <a:cs typeface="Aptos"/>
              </a:rPr>
              <a:t>3. Explain how to repair the process.</a:t>
            </a:r>
          </a:p>
        </p:txBody>
      </p:sp>
      <p:pic>
        <p:nvPicPr>
          <p:cNvPr id="20" name="Picture 19"/>
          <p:cNvPicPr>
            <a:picLocks noChangeAspect="1"/>
          </p:cNvPicPr>
          <p:nvPr/>
        </p:nvPicPr>
        <p:blipFill>
          <a:blip r:embed="rId3"/>
          <a:stretch/>
        </p:blipFill>
        <p:spPr>
          <a:xfrm>
            <a:off x="9372600" y="2407890"/>
            <a:ext cx="2143125" cy="2842320"/>
          </a:xfrm>
          <a:prstGeom prst="rect">
            <a:avLst/>
          </a:prstGeom>
        </p:spPr>
      </p:pic>
      <p:sp>
        <p:nvSpPr>
          <p:cNvPr id="8" name="s29-text-7">
            <a:extLst>
              <a:ext uri="{FF2B5EF4-FFF2-40B4-BE49-F238E27FC236}">
                <a16:creationId xmlns:a16="http://schemas.microsoft.com/office/drawing/2014/main" id="{17B02036-4E41-4614-B3C1-E51CA0D4DFDA}"/>
              </a:ext>
            </a:extLst>
          </p:cNvPr>
          <p:cNvSpPr>
            <a:spLocks noGrp="1"/>
          </p:cNvSpPr>
          <p:nvPr/>
        </p:nvSpPr>
        <p:spPr>
          <a:xfrm>
            <a:off x="8982075" y="5362575"/>
            <a:ext cx="2857500" cy="304800"/>
          </a:xfrm>
          <a:prstGeom prst="rect">
            <a:avLst/>
          </a:prstGeom>
          <a:noFill/>
          <a:ln w="0">
            <a:noFill/>
          </a:ln>
        </p:spPr>
        <p:txBody>
          <a:bodyPr wrap="square" lIns="0" tIns="0" rIns="0" bIns="0" anchor="t">
            <a:noAutofit/>
          </a:bodyPr>
          <a:lstStyle/>
          <a:p>
            <a:pPr algn="ctr">
              <a:defRPr sz="1500" b="0">
                <a:solidFill>
                  <a:srgbClr val="666666"/>
                </a:solidFill>
                <a:latin typeface="Aptos"/>
                <a:ea typeface="Aptos"/>
                <a:cs typeface="Aptos"/>
              </a:defRPr>
            </a:pPr>
            <a:r>
              <a:rPr sz="1500" b="0">
                <a:solidFill>
                  <a:srgbClr val="666666"/>
                </a:solidFill>
                <a:latin typeface="Aptos"/>
                <a:ea typeface="Aptos"/>
                <a:cs typeface="Aptos"/>
              </a:rPr>
              <a:t>Illustrative photograph</a:t>
            </a:r>
          </a:p>
        </p:txBody>
      </p:sp>
      <p:sp>
        <p:nvSpPr>
          <p:cNvPr id="9" name="s29-rect-8">
            <a:extLst>
              <a:ext uri="{FF2B5EF4-FFF2-40B4-BE49-F238E27FC236}">
                <a16:creationId xmlns:a16="http://schemas.microsoft.com/office/drawing/2014/main" id="{67196A5D-2AAC-434B-AACB-5B3C33F59819}"/>
              </a:ext>
            </a:extLst>
          </p:cNvPr>
          <p:cNvSpPr>
            <a:spLocks noGrp="1"/>
          </p:cNvSpPr>
          <p:nvPr/>
        </p:nvSpPr>
        <p:spPr>
          <a:xfrm>
            <a:off x="428625" y="5915025"/>
            <a:ext cx="2762250" cy="400050"/>
          </a:xfrm>
          <a:prstGeom prst="rect">
            <a:avLst/>
          </a:prstGeom>
          <a:solidFill>
            <a:srgbClr val="D6171D"/>
          </a:solidFill>
          <a:ln w="0">
            <a:noFill/>
          </a:ln>
        </p:spPr>
        <p:txBody>
          <a:bodyPr/>
          <a:lstStyle/>
          <a:p>
            <a:endParaRPr lang="en-US"/>
          </a:p>
        </p:txBody>
      </p:sp>
      <p:sp>
        <p:nvSpPr>
          <p:cNvPr id="10" name="s29-text-9">
            <a:extLst>
              <a:ext uri="{FF2B5EF4-FFF2-40B4-BE49-F238E27FC236}">
                <a16:creationId xmlns:a16="http://schemas.microsoft.com/office/drawing/2014/main" id="{0093B38A-6F9E-4135-A3B3-D237748C360D}"/>
              </a:ext>
            </a:extLst>
          </p:cNvPr>
          <p:cNvSpPr>
            <a:spLocks noGrp="1"/>
          </p:cNvSpPr>
          <p:nvPr/>
        </p:nvSpPr>
        <p:spPr>
          <a:xfrm>
            <a:off x="523875" y="5972175"/>
            <a:ext cx="2571750" cy="323850"/>
          </a:xfrm>
          <a:prstGeom prst="rect">
            <a:avLst/>
          </a:prstGeom>
          <a:noFill/>
          <a:ln w="0">
            <a:noFill/>
          </a:ln>
        </p:spPr>
        <p:txBody>
          <a:bodyPr wrap="square" lIns="0" tIns="0" rIns="0" bIns="0" anchor="t">
            <a:noAutofit/>
          </a:bodyPr>
          <a:lstStyle/>
          <a:p>
            <a:pPr algn="ctr">
              <a:defRPr sz="1800" b="1">
                <a:solidFill>
                  <a:srgbClr val="FFFFFF"/>
                </a:solidFill>
                <a:latin typeface="Aptos"/>
                <a:ea typeface="Aptos"/>
                <a:cs typeface="Aptos"/>
              </a:defRPr>
            </a:pPr>
            <a:r>
              <a:rPr sz="1800" b="1">
                <a:solidFill>
                  <a:srgbClr val="FFFFFF"/>
                </a:solidFill>
                <a:latin typeface="Aptos"/>
                <a:ea typeface="Aptos"/>
                <a:cs typeface="Aptos"/>
              </a:rPr>
              <a:t>DISCUSS   3 MIN</a:t>
            </a:r>
          </a:p>
        </p:txBody>
      </p:sp>
      <p:sp>
        <p:nvSpPr>
          <p:cNvPr id="11" name="s29-text-10">
            <a:extLst>
              <a:ext uri="{FF2B5EF4-FFF2-40B4-BE49-F238E27FC236}">
                <a16:creationId xmlns:a16="http://schemas.microsoft.com/office/drawing/2014/main" id="{214C3DEA-9053-4EE6-B238-A1A1FBD4C81F}"/>
              </a:ext>
            </a:extLst>
          </p:cNvPr>
          <p:cNvSpPr>
            <a:spLocks noGrp="1"/>
          </p:cNvSpPr>
          <p:nvPr/>
        </p:nvSpPr>
        <p:spPr>
          <a:xfrm>
            <a:off x="3381375" y="5924550"/>
            <a:ext cx="8286750" cy="457200"/>
          </a:xfrm>
          <a:prstGeom prst="rect">
            <a:avLst/>
          </a:prstGeom>
          <a:noFill/>
          <a:ln w="0">
            <a:noFill/>
          </a:ln>
        </p:spPr>
        <p:txBody>
          <a:bodyPr wrap="square" lIns="0" tIns="0" rIns="0" bIns="0" anchor="t">
            <a:noAutofit/>
          </a:bodyPr>
          <a:lstStyle/>
          <a:p>
            <a:pPr algn="l">
              <a:defRPr sz="2100" b="1">
                <a:solidFill>
                  <a:srgbClr val="111111"/>
                </a:solidFill>
                <a:latin typeface="Aptos"/>
                <a:ea typeface="Aptos"/>
                <a:cs typeface="Aptos"/>
              </a:defRPr>
            </a:pPr>
            <a:r>
              <a:rPr sz="2100" b="1">
                <a:solidFill>
                  <a:srgbClr val="111111"/>
                </a:solidFill>
                <a:latin typeface="Aptos"/>
                <a:ea typeface="Aptos"/>
                <a:cs typeface="Aptos"/>
              </a:rPr>
              <a:t>Explain which records should remain and whom to contact.</a:t>
            </a:r>
          </a:p>
        </p:txBody>
      </p:sp>
      <p:sp>
        <p:nvSpPr>
          <p:cNvPr id="12" name="s29-text-11">
            <a:extLst>
              <a:ext uri="{FF2B5EF4-FFF2-40B4-BE49-F238E27FC236}">
                <a16:creationId xmlns:a16="http://schemas.microsoft.com/office/drawing/2014/main" id="{AF583923-E2FD-44FA-8290-4625AA5F7E5E}"/>
              </a:ext>
            </a:extLst>
          </p:cNvPr>
          <p:cNvSpPr>
            <a:spLocks noGrp="1"/>
          </p:cNvSpPr>
          <p:nvPr/>
        </p:nvSpPr>
        <p:spPr>
          <a:xfrm>
            <a:off x="457200" y="6477000"/>
            <a:ext cx="10763250" cy="238125"/>
          </a:xfrm>
          <a:prstGeom prst="rect">
            <a:avLst/>
          </a:prstGeom>
          <a:noFill/>
          <a:ln w="0">
            <a:noFill/>
          </a:ln>
        </p:spPr>
        <p:txBody>
          <a:bodyPr wrap="square" lIns="0" tIns="0" rIns="0" bIns="0" anchor="t">
            <a:noAutofit/>
          </a:bodyPr>
          <a:lstStyle/>
          <a:p>
            <a:endParaRPr/>
          </a:p>
        </p:txBody>
      </p:sp>
      <p:sp>
        <p:nvSpPr>
          <p:cNvPr id="13" name="s29-text-12">
            <a:extLst>
              <a:ext uri="{FF2B5EF4-FFF2-40B4-BE49-F238E27FC236}">
                <a16:creationId xmlns:a16="http://schemas.microsoft.com/office/drawing/2014/main" id="{7CAA019F-44D0-453D-B58E-3812CA96844A}"/>
              </a:ext>
            </a:extLst>
          </p:cNvPr>
          <p:cNvSpPr>
            <a:spLocks noGrp="1"/>
          </p:cNvSpPr>
          <p:nvPr/>
        </p:nvSpPr>
        <p:spPr>
          <a:xfrm>
            <a:off x="11239500" y="6477000"/>
            <a:ext cx="476250" cy="238125"/>
          </a:xfrm>
          <a:prstGeom prst="rect">
            <a:avLst/>
          </a:prstGeom>
          <a:noFill/>
          <a:ln w="0">
            <a:noFill/>
          </a:ln>
        </p:spPr>
        <p:txBody>
          <a:bodyPr wrap="square" lIns="0" tIns="0" rIns="0" bIns="0" anchor="t">
            <a:noAutofit/>
          </a:bodyPr>
          <a:lstStyle/>
          <a:p>
            <a:pPr algn="r">
              <a:defRPr sz="1275" b="0">
                <a:solidFill>
                  <a:srgbClr val="666666"/>
                </a:solidFill>
                <a:latin typeface="Aptos"/>
                <a:ea typeface="Aptos"/>
                <a:cs typeface="Aptos"/>
              </a:defRPr>
            </a:pPr>
            <a:r>
              <a:rPr sz="1275" b="0">
                <a:solidFill>
                  <a:srgbClr val="666666"/>
                </a:solidFill>
                <a:latin typeface="Aptos"/>
                <a:ea typeface="Aptos"/>
                <a:cs typeface="Aptos"/>
              </a:rPr>
              <a:t>29</a:t>
            </a:r>
          </a:p>
        </p:txBody>
      </p:sp>
    </p:spTree>
    <p:extLst>
      <p:ext uri="{BB962C8B-B14F-4D97-AF65-F5344CB8AC3E}">
        <p14:creationId xmlns:p14="http://schemas.microsoft.com/office/powerpoint/2010/main" val="32813612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30-text-1">
            <a:extLst>
              <a:ext uri="{FF2B5EF4-FFF2-40B4-BE49-F238E27FC236}">
                <a16:creationId xmlns:a16="http://schemas.microsoft.com/office/drawing/2014/main" id="{E02E2FE7-F1CB-44E3-B96D-7543C127B4B9}"/>
              </a:ext>
            </a:extLst>
          </p:cNvPr>
          <p:cNvSpPr>
            <a:spLocks noGrp="1"/>
          </p:cNvSpPr>
          <p:nvPr/>
        </p:nvSpPr>
        <p:spPr>
          <a:xfrm>
            <a:off x="430816" y="1038225"/>
            <a:ext cx="11293412" cy="78105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2. Potential answer</a:t>
            </a:r>
          </a:p>
        </p:txBody>
      </p:sp>
      <p:sp>
        <p:nvSpPr>
          <p:cNvPr id="2" name="s30-rect-2">
            <a:extLst>
              <a:ext uri="{FF2B5EF4-FFF2-40B4-BE49-F238E27FC236}">
                <a16:creationId xmlns:a16="http://schemas.microsoft.com/office/drawing/2014/main" id="{6A1D5CDE-6BC9-4E3F-9D7C-46E4559165FA}"/>
              </a:ext>
            </a:extLst>
          </p:cNvPr>
          <p:cNvSpPr>
            <a:spLocks noGrp="1"/>
          </p:cNvSpPr>
          <p:nvPr/>
        </p:nvSpPr>
        <p:spPr>
          <a:xfrm>
            <a:off x="8734425" y="476250"/>
            <a:ext cx="3000375" cy="400050"/>
          </a:xfrm>
          <a:prstGeom prst="rect">
            <a:avLst/>
          </a:prstGeom>
          <a:solidFill>
            <a:srgbClr val="D6171D"/>
          </a:solidFill>
          <a:ln w="0">
            <a:noFill/>
          </a:ln>
        </p:spPr>
        <p:txBody>
          <a:bodyPr/>
          <a:lstStyle/>
          <a:p>
            <a:endParaRPr lang="en-US"/>
          </a:p>
        </p:txBody>
      </p:sp>
      <p:sp>
        <p:nvSpPr>
          <p:cNvPr id="3" name="s30-text-3">
            <a:extLst>
              <a:ext uri="{FF2B5EF4-FFF2-40B4-BE49-F238E27FC236}">
                <a16:creationId xmlns:a16="http://schemas.microsoft.com/office/drawing/2014/main" id="{885F4AAC-64BA-4A5A-9C23-F85D78E39DA6}"/>
              </a:ext>
            </a:extLst>
          </p:cNvPr>
          <p:cNvSpPr>
            <a:spLocks noGrp="1"/>
          </p:cNvSpPr>
          <p:nvPr/>
        </p:nvSpPr>
        <p:spPr>
          <a:xfrm>
            <a:off x="8829675" y="533400"/>
            <a:ext cx="2809875" cy="323850"/>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C5.2</a:t>
            </a:r>
          </a:p>
        </p:txBody>
      </p:sp>
      <p:sp>
        <p:nvSpPr>
          <p:cNvPr id="4" name="s30-text-4">
            <a:extLst>
              <a:ext uri="{FF2B5EF4-FFF2-40B4-BE49-F238E27FC236}">
                <a16:creationId xmlns:a16="http://schemas.microsoft.com/office/drawing/2014/main" id="{C5BAEB54-1A98-491C-9613-8EA282EEB9EF}"/>
              </a:ext>
            </a:extLst>
          </p:cNvPr>
          <p:cNvSpPr>
            <a:spLocks noGrp="1"/>
          </p:cNvSpPr>
          <p:nvPr/>
        </p:nvSpPr>
        <p:spPr>
          <a:xfrm>
            <a:off x="457200" y="2009775"/>
            <a:ext cx="11239500" cy="609600"/>
          </a:xfrm>
          <a:prstGeom prst="rect">
            <a:avLst/>
          </a:prstGeom>
          <a:noFill/>
          <a:ln w="0">
            <a:noFill/>
          </a:ln>
        </p:spPr>
        <p:txBody>
          <a:bodyPr wrap="square" lIns="0" tIns="0" rIns="0" bIns="0" anchor="t">
            <a:noAutofit/>
          </a:bodyPr>
          <a:lstStyle/>
          <a:p>
            <a:pPr algn="l">
              <a:defRPr sz="3000" b="1">
                <a:solidFill>
                  <a:srgbClr val="111111"/>
                </a:solidFill>
                <a:latin typeface="Aptos"/>
                <a:ea typeface="Aptos"/>
                <a:cs typeface="Aptos"/>
              </a:defRPr>
            </a:pPr>
            <a:r>
              <a:rPr sz="3000" b="1">
                <a:solidFill>
                  <a:srgbClr val="111111"/>
                </a:solidFill>
                <a:latin typeface="Aptos"/>
                <a:ea typeface="Aptos"/>
                <a:cs typeface="Aptos"/>
              </a:rPr>
              <a:t>117 − 19 + 40 = 138 records</a:t>
            </a:r>
          </a:p>
        </p:txBody>
      </p:sp>
      <p:graphicFrame>
        <p:nvGraphicFramePr>
          <p:cNvPr id="13" name="Table 12"/>
          <p:cNvGraphicFramePr/>
          <p:nvPr/>
        </p:nvGraphicFramePr>
        <p:xfrm>
          <a:off x="457200" y="3133725"/>
          <a:ext cx="11239500" cy="2533650"/>
        </p:xfrm>
        <a:graphic>
          <a:graphicData uri="http://schemas.openxmlformats.org/drawingml/2006/table">
            <a:tbl>
              <a:tblPr firstRow="1"/>
              <a:tblGrid>
                <a:gridCol w="3048000">
                  <a:extLst>
                    <a:ext uri="{9D8B030D-6E8A-4147-A177-3AD203B41FA5}">
                      <a16:colId xmlns:a16="http://schemas.microsoft.com/office/drawing/2014/main" val="20000"/>
                    </a:ext>
                  </a:extLst>
                </a:gridCol>
                <a:gridCol w="4095750">
                  <a:extLst>
                    <a:ext uri="{9D8B030D-6E8A-4147-A177-3AD203B41FA5}">
                      <a16:colId xmlns:a16="http://schemas.microsoft.com/office/drawing/2014/main" val="20001"/>
                    </a:ext>
                  </a:extLst>
                </a:gridCol>
                <a:gridCol w="4095750">
                  <a:extLst>
                    <a:ext uri="{9D8B030D-6E8A-4147-A177-3AD203B41FA5}">
                      <a16:colId xmlns:a16="http://schemas.microsoft.com/office/drawing/2014/main" val="20002"/>
                    </a:ext>
                  </a:extLst>
                </a:gridCol>
              </a:tblGrid>
              <a:tr h="533400">
                <a:tc>
                  <a:txBody>
                    <a:bodyPr/>
                    <a:lstStyle/>
                    <a:p>
                      <a:pPr algn="l"/>
                      <a:r>
                        <a:rPr sz="2100" b="1">
                          <a:solidFill>
                            <a:srgbClr val="FFFFFF"/>
                          </a:solidFill>
                          <a:latin typeface="Aptos"/>
                          <a:ea typeface="Aptos"/>
                          <a:cs typeface="Aptos"/>
                        </a:rPr>
                        <a:t>Change</a:t>
                      </a:r>
                    </a:p>
                  </a:txBody>
                  <a:tcPr marL="95250" marR="95250" marT="19050" marB="19050" anchor="ctr">
                    <a:solidFill>
                      <a:srgbClr val="D6171D"/>
                    </a:solidFill>
                  </a:tcPr>
                </a:tc>
                <a:tc>
                  <a:txBody>
                    <a:bodyPr/>
                    <a:lstStyle/>
                    <a:p>
                      <a:pPr algn="ctr"/>
                      <a:r>
                        <a:rPr sz="2100" b="1">
                          <a:solidFill>
                            <a:srgbClr val="FFFFFF"/>
                          </a:solidFill>
                          <a:latin typeface="Aptos"/>
                          <a:ea typeface="Aptos"/>
                          <a:cs typeface="Aptos"/>
                        </a:rPr>
                        <a:t>Problem</a:t>
                      </a:r>
                    </a:p>
                  </a:txBody>
                  <a:tcPr marL="95250" marR="95250" marT="19050" marB="19050" anchor="ctr">
                    <a:solidFill>
                      <a:srgbClr val="D6171D"/>
                    </a:solidFill>
                  </a:tcPr>
                </a:tc>
                <a:tc>
                  <a:txBody>
                    <a:bodyPr/>
                    <a:lstStyle/>
                    <a:p>
                      <a:pPr algn="ctr"/>
                      <a:r>
                        <a:rPr sz="2100" b="1">
                          <a:solidFill>
                            <a:srgbClr val="FFFFFF"/>
                          </a:solidFill>
                          <a:latin typeface="Aptos"/>
                          <a:ea typeface="Aptos"/>
                          <a:cs typeface="Aptos"/>
                        </a:rPr>
                        <a:t>Repair</a:t>
                      </a:r>
                    </a:p>
                  </a:txBody>
                  <a:tcPr marL="95250" marR="95250" marT="19050" marB="19050" anchor="ctr">
                    <a:solidFill>
                      <a:srgbClr val="D6171D"/>
                    </a:solidFill>
                  </a:tcPr>
                </a:tc>
                <a:extLst>
                  <a:ext uri="{0D108BD9-81ED-4DB2-BD59-A6C34878D82A}">
                    <a16:rowId xmlns:a16="http://schemas.microsoft.com/office/drawing/2014/main" val="10000"/>
                  </a:ext>
                </a:extLst>
              </a:tr>
              <a:tr h="942975">
                <a:tc>
                  <a:txBody>
                    <a:bodyPr/>
                    <a:lstStyle/>
                    <a:p>
                      <a:pPr algn="l"/>
                      <a:r>
                        <a:rPr sz="2100" b="0">
                          <a:solidFill>
                            <a:srgbClr val="111111"/>
                          </a:solidFill>
                          <a:latin typeface="Aptos"/>
                          <a:ea typeface="Aptos"/>
                          <a:cs typeface="Aptos"/>
                        </a:rPr>
                        <a:t>Remove 19 zeros</a:t>
                      </a:r>
                    </a:p>
                  </a:txBody>
                  <a:tcPr marL="95250" marR="95250" marT="19050" marB="19050" anchor="ctr">
                    <a:solidFill>
                      <a:srgbClr val="FFFFFF"/>
                    </a:solidFill>
                  </a:tcPr>
                </a:tc>
                <a:tc>
                  <a:txBody>
                    <a:bodyPr/>
                    <a:lstStyle/>
                    <a:p>
                      <a:pPr algn="ctr"/>
                      <a:r>
                        <a:rPr sz="2100" b="0">
                          <a:solidFill>
                            <a:srgbClr val="111111"/>
                          </a:solidFill>
                          <a:latin typeface="Aptos"/>
                          <a:ea typeface="Aptos"/>
                          <a:cs typeface="Aptos"/>
                        </a:rPr>
                        <a:t>Zero spending is valid data.</a:t>
                      </a:r>
                    </a:p>
                  </a:txBody>
                  <a:tcPr marL="95250" marR="95250" marT="19050" marB="19050" anchor="ctr">
                    <a:solidFill>
                      <a:srgbClr val="FFFFFF"/>
                    </a:solidFill>
                  </a:tcPr>
                </a:tc>
                <a:tc>
                  <a:txBody>
                    <a:bodyPr/>
                    <a:lstStyle/>
                    <a:p>
                      <a:pPr algn="ctr"/>
                      <a:r>
                        <a:rPr sz="2100" b="0">
                          <a:solidFill>
                            <a:srgbClr val="111111"/>
                          </a:solidFill>
                          <a:latin typeface="Aptos"/>
                          <a:ea typeface="Aptos"/>
                          <a:cs typeface="Aptos"/>
                        </a:rPr>
                        <a:t>Keep all 117 original valid replies.</a:t>
                      </a:r>
                    </a:p>
                  </a:txBody>
                  <a:tcPr marL="95250" marR="95250" marT="19050" marB="19050" anchor="ctr">
                    <a:solidFill>
                      <a:srgbClr val="FFFFFF"/>
                    </a:solidFill>
                  </a:tcPr>
                </a:tc>
                <a:extLst>
                  <a:ext uri="{0D108BD9-81ED-4DB2-BD59-A6C34878D82A}">
                    <a16:rowId xmlns:a16="http://schemas.microsoft.com/office/drawing/2014/main" val="10001"/>
                  </a:ext>
                </a:extLst>
              </a:tr>
              <a:tr h="1057275">
                <a:tc>
                  <a:txBody>
                    <a:bodyPr/>
                    <a:lstStyle/>
                    <a:p>
                      <a:pPr algn="l"/>
                      <a:r>
                        <a:rPr sz="2100" b="0">
                          <a:solidFill>
                            <a:srgbClr val="111111"/>
                          </a:solidFill>
                          <a:latin typeface="Aptos"/>
                          <a:ea typeface="Aptos"/>
                          <a:cs typeface="Aptos"/>
                        </a:rPr>
                        <a:t>Add 40 volunteers</a:t>
                      </a:r>
                    </a:p>
                  </a:txBody>
                  <a:tcPr marL="95250" marR="95250" marT="19050" marB="19050" anchor="ctr">
                    <a:solidFill>
                      <a:srgbClr val="EFF8FF"/>
                    </a:solidFill>
                  </a:tcPr>
                </a:tc>
                <a:tc>
                  <a:txBody>
                    <a:bodyPr/>
                    <a:lstStyle/>
                    <a:p>
                      <a:pPr algn="ctr"/>
                      <a:r>
                        <a:rPr sz="2100" b="0">
                          <a:solidFill>
                            <a:srgbClr val="111111"/>
                          </a:solidFill>
                          <a:latin typeface="Aptos"/>
                          <a:ea typeface="Aptos"/>
                          <a:cs typeface="Aptos"/>
                        </a:rPr>
                        <a:t>Volunteers enter by a different selection process.</a:t>
                      </a:r>
                    </a:p>
                  </a:txBody>
                  <a:tcPr marL="95250" marR="95250" marT="19050" marB="19050" anchor="ctr">
                    <a:solidFill>
                      <a:srgbClr val="EFF8FF"/>
                    </a:solidFill>
                  </a:tcPr>
                </a:tc>
                <a:tc>
                  <a:txBody>
                    <a:bodyPr/>
                    <a:lstStyle/>
                    <a:p>
                      <a:pPr algn="ctr"/>
                      <a:r>
                        <a:rPr sz="2100" b="0">
                          <a:solidFill>
                            <a:srgbClr val="111111"/>
                          </a:solidFill>
                          <a:latin typeface="Aptos"/>
                          <a:ea typeface="Aptos"/>
                          <a:cs typeface="Aptos"/>
                        </a:rPr>
                        <a:t>Follow up the 40 originally selected nonrespondents.</a:t>
                      </a:r>
                    </a:p>
                  </a:txBody>
                  <a:tcPr marL="95250" marR="95250" marT="19050" marB="19050" anchor="ctr">
                    <a:solidFill>
                      <a:srgbClr val="EFF8FF"/>
                    </a:solidFill>
                  </a:tcPr>
                </a:tc>
                <a:extLst>
                  <a:ext uri="{0D108BD9-81ED-4DB2-BD59-A6C34878D82A}">
                    <a16:rowId xmlns:a16="http://schemas.microsoft.com/office/drawing/2014/main" val="10002"/>
                  </a:ext>
                </a:extLst>
              </a:tr>
            </a:tbl>
          </a:graphicData>
        </a:graphic>
      </p:graphicFrame>
      <p:sp>
        <p:nvSpPr>
          <p:cNvPr id="6" name="s30-text-5">
            <a:extLst>
              <a:ext uri="{FF2B5EF4-FFF2-40B4-BE49-F238E27FC236}">
                <a16:creationId xmlns:a16="http://schemas.microsoft.com/office/drawing/2014/main" id="{81F01511-52F1-4868-89FB-13411A2E4A6C}"/>
              </a:ext>
            </a:extLst>
          </p:cNvPr>
          <p:cNvSpPr>
            <a:spLocks noGrp="1"/>
          </p:cNvSpPr>
          <p:nvPr/>
        </p:nvSpPr>
        <p:spPr>
          <a:xfrm>
            <a:off x="457200" y="5953125"/>
            <a:ext cx="11239500" cy="371475"/>
          </a:xfrm>
          <a:prstGeom prst="rect">
            <a:avLst/>
          </a:prstGeom>
          <a:noFill/>
          <a:ln w="0">
            <a:noFill/>
          </a:ln>
        </p:spPr>
        <p:txBody>
          <a:bodyPr wrap="square" lIns="0" tIns="0" rIns="0" bIns="0" anchor="t">
            <a:noAutofit/>
          </a:bodyPr>
          <a:lstStyle/>
          <a:p>
            <a:pPr algn="l">
              <a:defRPr sz="2100" b="0">
                <a:solidFill>
                  <a:srgbClr val="111111"/>
                </a:solidFill>
                <a:latin typeface="Aptos"/>
                <a:ea typeface="Aptos"/>
                <a:cs typeface="Aptos"/>
              </a:defRPr>
            </a:pPr>
            <a:r>
              <a:rPr sz="2100" b="0">
                <a:solidFill>
                  <a:srgbClr val="111111"/>
                </a:solidFill>
                <a:latin typeface="Aptos"/>
                <a:ea typeface="Aptos"/>
                <a:cs typeface="Aptos"/>
              </a:rPr>
              <a:t>The final dataset contains 98 original respondents and 40 volunteers.</a:t>
            </a:r>
          </a:p>
        </p:txBody>
      </p:sp>
      <p:sp>
        <p:nvSpPr>
          <p:cNvPr id="7" name="s30-text-6">
            <a:extLst>
              <a:ext uri="{FF2B5EF4-FFF2-40B4-BE49-F238E27FC236}">
                <a16:creationId xmlns:a16="http://schemas.microsoft.com/office/drawing/2014/main" id="{E48A5B72-D16F-4954-A03E-03EC1F4B38D7}"/>
              </a:ext>
            </a:extLst>
          </p:cNvPr>
          <p:cNvSpPr>
            <a:spLocks noGrp="1"/>
          </p:cNvSpPr>
          <p:nvPr/>
        </p:nvSpPr>
        <p:spPr>
          <a:xfrm>
            <a:off x="457200" y="6477000"/>
            <a:ext cx="10763250" cy="238125"/>
          </a:xfrm>
          <a:prstGeom prst="rect">
            <a:avLst/>
          </a:prstGeom>
          <a:noFill/>
          <a:ln w="0">
            <a:noFill/>
          </a:ln>
        </p:spPr>
        <p:txBody>
          <a:bodyPr wrap="square" lIns="0" tIns="0" rIns="0" bIns="0" anchor="t">
            <a:noAutofit/>
          </a:bodyPr>
          <a:lstStyle/>
          <a:p>
            <a:endParaRPr/>
          </a:p>
        </p:txBody>
      </p:sp>
      <p:sp>
        <p:nvSpPr>
          <p:cNvPr id="8" name="s30-text-7">
            <a:extLst>
              <a:ext uri="{FF2B5EF4-FFF2-40B4-BE49-F238E27FC236}">
                <a16:creationId xmlns:a16="http://schemas.microsoft.com/office/drawing/2014/main" id="{F49A8A6A-340B-4D0F-B116-B7DD71A5B4AF}"/>
              </a:ext>
            </a:extLst>
          </p:cNvPr>
          <p:cNvSpPr>
            <a:spLocks noGrp="1"/>
          </p:cNvSpPr>
          <p:nvPr/>
        </p:nvSpPr>
        <p:spPr>
          <a:xfrm>
            <a:off x="11239500" y="6477000"/>
            <a:ext cx="476250" cy="238125"/>
          </a:xfrm>
          <a:prstGeom prst="rect">
            <a:avLst/>
          </a:prstGeom>
          <a:noFill/>
          <a:ln w="0">
            <a:noFill/>
          </a:ln>
        </p:spPr>
        <p:txBody>
          <a:bodyPr wrap="square" lIns="0" tIns="0" rIns="0" bIns="0" anchor="t">
            <a:noAutofit/>
          </a:bodyPr>
          <a:lstStyle/>
          <a:p>
            <a:pPr algn="r">
              <a:defRPr sz="1275" b="0">
                <a:solidFill>
                  <a:srgbClr val="666666"/>
                </a:solidFill>
                <a:latin typeface="Aptos"/>
                <a:ea typeface="Aptos"/>
                <a:cs typeface="Aptos"/>
              </a:defRPr>
            </a:pPr>
            <a:r>
              <a:rPr sz="1275" b="0">
                <a:solidFill>
                  <a:srgbClr val="666666"/>
                </a:solidFill>
                <a:latin typeface="Aptos"/>
                <a:ea typeface="Aptos"/>
                <a:cs typeface="Aptos"/>
              </a:rPr>
              <a:t>30</a:t>
            </a:r>
          </a:p>
        </p:txBody>
      </p:sp>
    </p:spTree>
    <p:extLst>
      <p:ext uri="{BB962C8B-B14F-4D97-AF65-F5344CB8AC3E}">
        <p14:creationId xmlns:p14="http://schemas.microsoft.com/office/powerpoint/2010/main" val="32813612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31-text-1">
            <a:extLst>
              <a:ext uri="{FF2B5EF4-FFF2-40B4-BE49-F238E27FC236}">
                <a16:creationId xmlns:a16="http://schemas.microsoft.com/office/drawing/2014/main" id="{FA710176-8A86-4A81-9C19-92CC6E5025EC}"/>
              </a:ext>
            </a:extLst>
          </p:cNvPr>
          <p:cNvSpPr>
            <a:spLocks noGrp="1"/>
          </p:cNvSpPr>
          <p:nvPr/>
        </p:nvSpPr>
        <p:spPr>
          <a:xfrm>
            <a:off x="430816" y="1038225"/>
            <a:ext cx="11293412" cy="78105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3. Equal numbers, equal chances?</a:t>
            </a:r>
          </a:p>
        </p:txBody>
      </p:sp>
      <p:sp>
        <p:nvSpPr>
          <p:cNvPr id="2" name="s31-rect-2">
            <a:extLst>
              <a:ext uri="{FF2B5EF4-FFF2-40B4-BE49-F238E27FC236}">
                <a16:creationId xmlns:a16="http://schemas.microsoft.com/office/drawing/2014/main" id="{58679C0E-1C47-484E-8831-4B30CEC57C65}"/>
              </a:ext>
            </a:extLst>
          </p:cNvPr>
          <p:cNvSpPr>
            <a:spLocks noGrp="1"/>
          </p:cNvSpPr>
          <p:nvPr/>
        </p:nvSpPr>
        <p:spPr>
          <a:xfrm>
            <a:off x="8734425" y="476250"/>
            <a:ext cx="3000375" cy="400050"/>
          </a:xfrm>
          <a:prstGeom prst="rect">
            <a:avLst/>
          </a:prstGeom>
          <a:solidFill>
            <a:srgbClr val="D6171D"/>
          </a:solidFill>
          <a:ln w="0">
            <a:noFill/>
          </a:ln>
        </p:spPr>
        <p:txBody>
          <a:bodyPr/>
          <a:lstStyle/>
          <a:p>
            <a:endParaRPr lang="en-US"/>
          </a:p>
        </p:txBody>
      </p:sp>
      <p:sp>
        <p:nvSpPr>
          <p:cNvPr id="3" name="s31-text-3">
            <a:extLst>
              <a:ext uri="{FF2B5EF4-FFF2-40B4-BE49-F238E27FC236}">
                <a16:creationId xmlns:a16="http://schemas.microsoft.com/office/drawing/2014/main" id="{8A9D6320-CEF5-48FD-BFDE-BCF2AD15E5F9}"/>
              </a:ext>
            </a:extLst>
          </p:cNvPr>
          <p:cNvSpPr>
            <a:spLocks noGrp="1"/>
          </p:cNvSpPr>
          <p:nvPr/>
        </p:nvSpPr>
        <p:spPr>
          <a:xfrm>
            <a:off x="8829675" y="533400"/>
            <a:ext cx="2809875" cy="323850"/>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C5.3</a:t>
            </a:r>
          </a:p>
        </p:txBody>
      </p:sp>
      <p:sp>
        <p:nvSpPr>
          <p:cNvPr id="4" name="s31-text-4">
            <a:extLst>
              <a:ext uri="{FF2B5EF4-FFF2-40B4-BE49-F238E27FC236}">
                <a16:creationId xmlns:a16="http://schemas.microsoft.com/office/drawing/2014/main" id="{07FC95BD-6779-4EB4-B162-5BF34D8152AB}"/>
              </a:ext>
            </a:extLst>
          </p:cNvPr>
          <p:cNvSpPr>
            <a:spLocks noGrp="1"/>
          </p:cNvSpPr>
          <p:nvPr/>
        </p:nvSpPr>
        <p:spPr>
          <a:xfrm>
            <a:off x="457200" y="1971675"/>
            <a:ext cx="11239500" cy="62865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sz="2325" b="0">
                <a:solidFill>
                  <a:srgbClr val="111111"/>
                </a:solidFill>
                <a:latin typeface="Aptos"/>
                <a:ea typeface="Aptos"/>
                <a:cs typeface="Aptos"/>
              </a:rPr>
              <a:t>The city randomly selects 50 residents from each age group.</a:t>
            </a:r>
          </a:p>
        </p:txBody>
      </p:sp>
      <p:graphicFrame>
        <p:nvGraphicFramePr>
          <p:cNvPr id="17" name="Table 16"/>
          <p:cNvGraphicFramePr/>
          <p:nvPr/>
        </p:nvGraphicFramePr>
        <p:xfrm>
          <a:off x="457200" y="2714625"/>
          <a:ext cx="11239500" cy="1866900"/>
        </p:xfrm>
        <a:graphic>
          <a:graphicData uri="http://schemas.openxmlformats.org/drawingml/2006/table">
            <a:tbl>
              <a:tblPr firstRow="1"/>
              <a:tblGrid>
                <a:gridCol w="552450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tblGrid>
              <a:tr h="466725">
                <a:tc>
                  <a:txBody>
                    <a:bodyPr/>
                    <a:lstStyle/>
                    <a:p>
                      <a:pPr algn="l"/>
                      <a:r>
                        <a:rPr sz="2025" b="1">
                          <a:solidFill>
                            <a:srgbClr val="FFFFFF"/>
                          </a:solidFill>
                          <a:latin typeface="Aptos"/>
                          <a:ea typeface="Aptos"/>
                          <a:cs typeface="Aptos"/>
                        </a:rPr>
                        <a:t>Age in completed years</a:t>
                      </a:r>
                    </a:p>
                  </a:txBody>
                  <a:tcPr marL="95250" marR="95250" marT="19050" marB="19050" anchor="ctr">
                    <a:solidFill>
                      <a:srgbClr val="D6171D"/>
                    </a:solidFill>
                  </a:tcPr>
                </a:tc>
                <a:tc>
                  <a:txBody>
                    <a:bodyPr/>
                    <a:lstStyle/>
                    <a:p>
                      <a:pPr algn="ctr"/>
                      <a:r>
                        <a:rPr sz="2025" b="1">
                          <a:solidFill>
                            <a:srgbClr val="FFFFFF"/>
                          </a:solidFill>
                          <a:latin typeface="Aptos"/>
                          <a:ea typeface="Aptos"/>
                          <a:cs typeface="Aptos"/>
                        </a:rPr>
                        <a:t>Population</a:t>
                      </a:r>
                    </a:p>
                  </a:txBody>
                  <a:tcPr marL="95250" marR="95250" marT="19050" marB="19050" anchor="ctr">
                    <a:solidFill>
                      <a:srgbClr val="D6171D"/>
                    </a:solidFill>
                  </a:tcPr>
                </a:tc>
                <a:tc>
                  <a:txBody>
                    <a:bodyPr/>
                    <a:lstStyle/>
                    <a:p>
                      <a:pPr algn="ctr"/>
                      <a:r>
                        <a:rPr sz="2025" b="1">
                          <a:solidFill>
                            <a:srgbClr val="FFFFFF"/>
                          </a:solidFill>
                          <a:latin typeface="Aptos"/>
                          <a:ea typeface="Aptos"/>
                          <a:cs typeface="Aptos"/>
                        </a:rPr>
                        <a:t>Selected</a:t>
                      </a:r>
                    </a:p>
                  </a:txBody>
                  <a:tcPr marL="95250" marR="95250" marT="19050" marB="19050" anchor="ctr">
                    <a:solidFill>
                      <a:srgbClr val="D6171D"/>
                    </a:solidFill>
                  </a:tcPr>
                </a:tc>
                <a:extLst>
                  <a:ext uri="{0D108BD9-81ED-4DB2-BD59-A6C34878D82A}">
                    <a16:rowId xmlns:a16="http://schemas.microsoft.com/office/drawing/2014/main" val="10000"/>
                  </a:ext>
                </a:extLst>
              </a:tr>
              <a:tr h="466725">
                <a:tc>
                  <a:txBody>
                    <a:bodyPr/>
                    <a:lstStyle/>
                    <a:p>
                      <a:pPr algn="l"/>
                      <a:r>
                        <a:rPr sz="2025" b="0">
                          <a:solidFill>
                            <a:srgbClr val="111111"/>
                          </a:solidFill>
                          <a:latin typeface="Aptos"/>
                          <a:ea typeface="Aptos"/>
                          <a:cs typeface="Aptos"/>
                        </a:rPr>
                        <a:t>0–18</a:t>
                      </a:r>
                    </a:p>
                  </a:txBody>
                  <a:tcPr marL="95250" marR="95250" marT="19050" marB="19050" anchor="ctr">
                    <a:solidFill>
                      <a:srgbClr val="FFFFFF"/>
                    </a:solidFill>
                  </a:tcPr>
                </a:tc>
                <a:tc>
                  <a:txBody>
                    <a:bodyPr/>
                    <a:lstStyle/>
                    <a:p>
                      <a:pPr algn="ctr"/>
                      <a:r>
                        <a:rPr sz="2025" b="0">
                          <a:solidFill>
                            <a:srgbClr val="111111"/>
                          </a:solidFill>
                          <a:latin typeface="Aptos"/>
                          <a:ea typeface="Aptos"/>
                          <a:cs typeface="Aptos"/>
                        </a:rPr>
                        <a:t>1,846</a:t>
                      </a:r>
                    </a:p>
                  </a:txBody>
                  <a:tcPr marL="95250" marR="95250" marT="19050" marB="19050" anchor="ctr">
                    <a:solidFill>
                      <a:srgbClr val="FFFFFF"/>
                    </a:solidFill>
                  </a:tcPr>
                </a:tc>
                <a:tc>
                  <a:txBody>
                    <a:bodyPr/>
                    <a:lstStyle/>
                    <a:p>
                      <a:pPr algn="ctr"/>
                      <a:r>
                        <a:rPr sz="2025" b="0">
                          <a:solidFill>
                            <a:srgbClr val="111111"/>
                          </a:solidFill>
                          <a:latin typeface="Aptos"/>
                          <a:ea typeface="Aptos"/>
                          <a:cs typeface="Aptos"/>
                        </a:rPr>
                        <a:t>50</a:t>
                      </a:r>
                    </a:p>
                  </a:txBody>
                  <a:tcPr marL="95250" marR="95250" marT="19050" marB="19050" anchor="ctr">
                    <a:solidFill>
                      <a:srgbClr val="FFFFFF"/>
                    </a:solidFill>
                  </a:tcPr>
                </a:tc>
                <a:extLst>
                  <a:ext uri="{0D108BD9-81ED-4DB2-BD59-A6C34878D82A}">
                    <a16:rowId xmlns:a16="http://schemas.microsoft.com/office/drawing/2014/main" val="10001"/>
                  </a:ext>
                </a:extLst>
              </a:tr>
              <a:tr h="466725">
                <a:tc>
                  <a:txBody>
                    <a:bodyPr/>
                    <a:lstStyle/>
                    <a:p>
                      <a:pPr algn="l"/>
                      <a:r>
                        <a:rPr sz="2025" b="0">
                          <a:solidFill>
                            <a:srgbClr val="111111"/>
                          </a:solidFill>
                          <a:latin typeface="Aptos"/>
                          <a:ea typeface="Aptos"/>
                          <a:cs typeface="Aptos"/>
                        </a:rPr>
                        <a:t>19–40</a:t>
                      </a:r>
                    </a:p>
                  </a:txBody>
                  <a:tcPr marL="95250" marR="95250" marT="19050" marB="19050" anchor="ctr">
                    <a:solidFill>
                      <a:srgbClr val="EFF8FF"/>
                    </a:solidFill>
                  </a:tcPr>
                </a:tc>
                <a:tc>
                  <a:txBody>
                    <a:bodyPr/>
                    <a:lstStyle/>
                    <a:p>
                      <a:pPr algn="ctr"/>
                      <a:r>
                        <a:rPr sz="2025" b="0">
                          <a:solidFill>
                            <a:srgbClr val="111111"/>
                          </a:solidFill>
                          <a:latin typeface="Aptos"/>
                          <a:ea typeface="Aptos"/>
                          <a:cs typeface="Aptos"/>
                        </a:rPr>
                        <a:t>3,927</a:t>
                      </a:r>
                    </a:p>
                  </a:txBody>
                  <a:tcPr marL="95250" marR="95250" marT="19050" marB="19050" anchor="ctr">
                    <a:solidFill>
                      <a:srgbClr val="EFF8FF"/>
                    </a:solidFill>
                  </a:tcPr>
                </a:tc>
                <a:tc>
                  <a:txBody>
                    <a:bodyPr/>
                    <a:lstStyle/>
                    <a:p>
                      <a:pPr algn="ctr"/>
                      <a:r>
                        <a:rPr sz="2025" b="0">
                          <a:solidFill>
                            <a:srgbClr val="111111"/>
                          </a:solidFill>
                          <a:latin typeface="Aptos"/>
                          <a:ea typeface="Aptos"/>
                          <a:cs typeface="Aptos"/>
                        </a:rPr>
                        <a:t>50</a:t>
                      </a:r>
                    </a:p>
                  </a:txBody>
                  <a:tcPr marL="95250" marR="95250" marT="19050" marB="19050" anchor="ctr">
                    <a:solidFill>
                      <a:srgbClr val="EFF8FF"/>
                    </a:solidFill>
                  </a:tcPr>
                </a:tc>
                <a:extLst>
                  <a:ext uri="{0D108BD9-81ED-4DB2-BD59-A6C34878D82A}">
                    <a16:rowId xmlns:a16="http://schemas.microsoft.com/office/drawing/2014/main" val="10002"/>
                  </a:ext>
                </a:extLst>
              </a:tr>
              <a:tr h="466725">
                <a:tc>
                  <a:txBody>
                    <a:bodyPr/>
                    <a:lstStyle/>
                    <a:p>
                      <a:pPr algn="l"/>
                      <a:r>
                        <a:rPr sz="2025" b="0">
                          <a:solidFill>
                            <a:srgbClr val="111111"/>
                          </a:solidFill>
                          <a:latin typeface="Aptos"/>
                          <a:ea typeface="Aptos"/>
                          <a:cs typeface="Aptos"/>
                        </a:rPr>
                        <a:t>41 and above</a:t>
                      </a:r>
                    </a:p>
                  </a:txBody>
                  <a:tcPr marL="95250" marR="95250" marT="19050" marB="19050" anchor="ctr">
                    <a:solidFill>
                      <a:srgbClr val="FFFFFF"/>
                    </a:solidFill>
                  </a:tcPr>
                </a:tc>
                <a:tc>
                  <a:txBody>
                    <a:bodyPr/>
                    <a:lstStyle/>
                    <a:p>
                      <a:pPr algn="ctr"/>
                      <a:r>
                        <a:rPr sz="2025" b="0">
                          <a:solidFill>
                            <a:srgbClr val="111111"/>
                          </a:solidFill>
                          <a:latin typeface="Aptos"/>
                          <a:ea typeface="Aptos"/>
                          <a:cs typeface="Aptos"/>
                        </a:rPr>
                        <a:t>2,615</a:t>
                      </a:r>
                    </a:p>
                  </a:txBody>
                  <a:tcPr marL="95250" marR="95250" marT="19050" marB="19050" anchor="ctr">
                    <a:solidFill>
                      <a:srgbClr val="FFFFFF"/>
                    </a:solidFill>
                  </a:tcPr>
                </a:tc>
                <a:tc>
                  <a:txBody>
                    <a:bodyPr/>
                    <a:lstStyle/>
                    <a:p>
                      <a:pPr algn="ctr"/>
                      <a:r>
                        <a:rPr sz="2025" b="0">
                          <a:solidFill>
                            <a:srgbClr val="111111"/>
                          </a:solidFill>
                          <a:latin typeface="Aptos"/>
                          <a:ea typeface="Aptos"/>
                          <a:cs typeface="Aptos"/>
                        </a:rPr>
                        <a:t>50</a:t>
                      </a:r>
                    </a:p>
                  </a:txBody>
                  <a:tcPr marL="95250" marR="95250" marT="19050" marB="19050" anchor="ctr">
                    <a:solidFill>
                      <a:srgbClr val="FFFFFF"/>
                    </a:solidFill>
                  </a:tcPr>
                </a:tc>
                <a:extLst>
                  <a:ext uri="{0D108BD9-81ED-4DB2-BD59-A6C34878D82A}">
                    <a16:rowId xmlns:a16="http://schemas.microsoft.com/office/drawing/2014/main" val="10003"/>
                  </a:ext>
                </a:extLst>
              </a:tr>
            </a:tbl>
          </a:graphicData>
        </a:graphic>
      </p:graphicFrame>
      <p:sp>
        <p:nvSpPr>
          <p:cNvPr id="6" name="s31-text-5">
            <a:extLst>
              <a:ext uri="{FF2B5EF4-FFF2-40B4-BE49-F238E27FC236}">
                <a16:creationId xmlns:a16="http://schemas.microsoft.com/office/drawing/2014/main" id="{1B3DC8A9-C5BB-4E6F-A8DD-B6B63BAFE7A6}"/>
              </a:ext>
            </a:extLst>
          </p:cNvPr>
          <p:cNvSpPr>
            <a:spLocks noGrp="1"/>
          </p:cNvSpPr>
          <p:nvPr/>
        </p:nvSpPr>
        <p:spPr>
          <a:xfrm>
            <a:off x="457200" y="4781550"/>
            <a:ext cx="11239500" cy="390525"/>
          </a:xfrm>
          <a:prstGeom prst="rect">
            <a:avLst/>
          </a:prstGeom>
          <a:noFill/>
          <a:ln w="0">
            <a:noFill/>
          </a:ln>
        </p:spPr>
        <p:txBody>
          <a:bodyPr wrap="square" lIns="0" tIns="0" rIns="0" bIns="0" anchor="t">
            <a:noAutofit/>
          </a:bodyPr>
          <a:lstStyle/>
          <a:p>
            <a:pPr algn="l">
              <a:defRPr sz="2175" b="0">
                <a:solidFill>
                  <a:srgbClr val="111111"/>
                </a:solidFill>
                <a:latin typeface="Aptos"/>
                <a:ea typeface="Aptos"/>
                <a:cs typeface="Aptos"/>
              </a:defRPr>
            </a:pPr>
            <a:r>
              <a:rPr sz="2175" b="0">
                <a:solidFill>
                  <a:srgbClr val="111111"/>
                </a:solidFill>
                <a:latin typeface="Aptos"/>
                <a:ea typeface="Aptos"/>
                <a:cs typeface="Aptos"/>
              </a:rPr>
              <a:t>a) Is the plan stratified? Is it proportional?</a:t>
            </a:r>
          </a:p>
        </p:txBody>
      </p:sp>
      <p:sp>
        <p:nvSpPr>
          <p:cNvPr id="7" name="s31-text-6">
            <a:extLst>
              <a:ext uri="{FF2B5EF4-FFF2-40B4-BE49-F238E27FC236}">
                <a16:creationId xmlns:a16="http://schemas.microsoft.com/office/drawing/2014/main" id="{FADAEDBB-ADB8-491D-9478-5B89D87DDF96}"/>
              </a:ext>
            </a:extLst>
          </p:cNvPr>
          <p:cNvSpPr>
            <a:spLocks noGrp="1"/>
          </p:cNvSpPr>
          <p:nvPr/>
        </p:nvSpPr>
        <p:spPr>
          <a:xfrm>
            <a:off x="457200" y="5276850"/>
            <a:ext cx="11239500" cy="561975"/>
          </a:xfrm>
          <a:prstGeom prst="rect">
            <a:avLst/>
          </a:prstGeom>
          <a:noFill/>
          <a:ln w="0">
            <a:noFill/>
          </a:ln>
        </p:spPr>
        <p:txBody>
          <a:bodyPr wrap="square" lIns="0" tIns="0" rIns="0" bIns="0" anchor="t">
            <a:noAutofit/>
          </a:bodyPr>
          <a:lstStyle/>
          <a:p>
            <a:pPr algn="l">
              <a:defRPr sz="2175" b="0">
                <a:solidFill>
                  <a:srgbClr val="111111"/>
                </a:solidFill>
                <a:latin typeface="Aptos"/>
                <a:ea typeface="Aptos"/>
                <a:cs typeface="Aptos"/>
              </a:defRPr>
            </a:pPr>
            <a:r>
              <a:rPr sz="2175" b="0">
                <a:solidFill>
                  <a:srgbClr val="111111"/>
                </a:solidFill>
                <a:latin typeface="Aptos"/>
                <a:ea typeface="Aptos"/>
                <a:cs typeface="Aptos"/>
              </a:rPr>
              <a:t>b) Find each selection chance. Compare the highest with the lowest.</a:t>
            </a:r>
          </a:p>
        </p:txBody>
      </p:sp>
      <p:sp>
        <p:nvSpPr>
          <p:cNvPr id="8" name="s31-rect-7">
            <a:extLst>
              <a:ext uri="{FF2B5EF4-FFF2-40B4-BE49-F238E27FC236}">
                <a16:creationId xmlns:a16="http://schemas.microsoft.com/office/drawing/2014/main" id="{2AA42487-3211-44F9-B17E-BCE955E2CD2B}"/>
              </a:ext>
            </a:extLst>
          </p:cNvPr>
          <p:cNvSpPr>
            <a:spLocks noGrp="1"/>
          </p:cNvSpPr>
          <p:nvPr/>
        </p:nvSpPr>
        <p:spPr>
          <a:xfrm>
            <a:off x="428625" y="5915025"/>
            <a:ext cx="2762250" cy="400050"/>
          </a:xfrm>
          <a:prstGeom prst="rect">
            <a:avLst/>
          </a:prstGeom>
          <a:solidFill>
            <a:srgbClr val="D6171D"/>
          </a:solidFill>
          <a:ln w="0">
            <a:noFill/>
          </a:ln>
        </p:spPr>
        <p:txBody>
          <a:bodyPr/>
          <a:lstStyle/>
          <a:p>
            <a:endParaRPr lang="en-US"/>
          </a:p>
        </p:txBody>
      </p:sp>
      <p:sp>
        <p:nvSpPr>
          <p:cNvPr id="9" name="s31-text-8">
            <a:extLst>
              <a:ext uri="{FF2B5EF4-FFF2-40B4-BE49-F238E27FC236}">
                <a16:creationId xmlns:a16="http://schemas.microsoft.com/office/drawing/2014/main" id="{E0361175-FFB0-456D-9C7E-805ECE782188}"/>
              </a:ext>
            </a:extLst>
          </p:cNvPr>
          <p:cNvSpPr>
            <a:spLocks noGrp="1"/>
          </p:cNvSpPr>
          <p:nvPr/>
        </p:nvSpPr>
        <p:spPr>
          <a:xfrm>
            <a:off x="523875" y="5972175"/>
            <a:ext cx="2571750" cy="323850"/>
          </a:xfrm>
          <a:prstGeom prst="rect">
            <a:avLst/>
          </a:prstGeom>
          <a:noFill/>
          <a:ln w="0">
            <a:noFill/>
          </a:ln>
        </p:spPr>
        <p:txBody>
          <a:bodyPr wrap="square" lIns="0" tIns="0" rIns="0" bIns="0" anchor="t">
            <a:noAutofit/>
          </a:bodyPr>
          <a:lstStyle/>
          <a:p>
            <a:pPr algn="ctr">
              <a:defRPr sz="1800" b="1">
                <a:solidFill>
                  <a:srgbClr val="FFFFFF"/>
                </a:solidFill>
                <a:latin typeface="Aptos"/>
                <a:ea typeface="Aptos"/>
                <a:cs typeface="Aptos"/>
              </a:defRPr>
            </a:pPr>
            <a:r>
              <a:rPr sz="1800" b="1">
                <a:solidFill>
                  <a:srgbClr val="FFFFFF"/>
                </a:solidFill>
                <a:latin typeface="Aptos"/>
                <a:ea typeface="Aptos"/>
                <a:cs typeface="Aptos"/>
              </a:rPr>
              <a:t>DISCUSS   3 MIN</a:t>
            </a:r>
          </a:p>
        </p:txBody>
      </p:sp>
      <p:sp>
        <p:nvSpPr>
          <p:cNvPr id="10" name="s31-text-9">
            <a:extLst>
              <a:ext uri="{FF2B5EF4-FFF2-40B4-BE49-F238E27FC236}">
                <a16:creationId xmlns:a16="http://schemas.microsoft.com/office/drawing/2014/main" id="{598CA745-2FFC-404A-9034-373EF4047601}"/>
              </a:ext>
            </a:extLst>
          </p:cNvPr>
          <p:cNvSpPr>
            <a:spLocks noGrp="1"/>
          </p:cNvSpPr>
          <p:nvPr/>
        </p:nvSpPr>
        <p:spPr>
          <a:xfrm>
            <a:off x="3381375" y="5924550"/>
            <a:ext cx="8286750" cy="457200"/>
          </a:xfrm>
          <a:prstGeom prst="rect">
            <a:avLst/>
          </a:prstGeom>
          <a:noFill/>
          <a:ln w="0">
            <a:noFill/>
          </a:ln>
        </p:spPr>
        <p:txBody>
          <a:bodyPr wrap="square" lIns="0" tIns="0" rIns="0" bIns="0" anchor="t">
            <a:noAutofit/>
          </a:bodyPr>
          <a:lstStyle/>
          <a:p>
            <a:pPr algn="l">
              <a:defRPr sz="2100" b="1">
                <a:solidFill>
                  <a:srgbClr val="111111"/>
                </a:solidFill>
                <a:latin typeface="Aptos"/>
                <a:ea typeface="Aptos"/>
                <a:cs typeface="Aptos"/>
              </a:defRPr>
            </a:pPr>
            <a:r>
              <a:rPr sz="2100" b="1">
                <a:solidFill>
                  <a:srgbClr val="111111"/>
                </a:solidFill>
                <a:latin typeface="Aptos"/>
                <a:ea typeface="Aptos"/>
                <a:cs typeface="Aptos"/>
              </a:rPr>
              <a:t>Compare the highest and lowest chances using a ratio.</a:t>
            </a:r>
          </a:p>
        </p:txBody>
      </p:sp>
      <p:sp>
        <p:nvSpPr>
          <p:cNvPr id="11" name="s31-text-10">
            <a:extLst>
              <a:ext uri="{FF2B5EF4-FFF2-40B4-BE49-F238E27FC236}">
                <a16:creationId xmlns:a16="http://schemas.microsoft.com/office/drawing/2014/main" id="{92D44DF4-90E7-4EAF-B7D8-71BD55F482EB}"/>
              </a:ext>
            </a:extLst>
          </p:cNvPr>
          <p:cNvSpPr>
            <a:spLocks noGrp="1"/>
          </p:cNvSpPr>
          <p:nvPr/>
        </p:nvSpPr>
        <p:spPr>
          <a:xfrm>
            <a:off x="457200" y="6477000"/>
            <a:ext cx="10763250" cy="238125"/>
          </a:xfrm>
          <a:prstGeom prst="rect">
            <a:avLst/>
          </a:prstGeom>
          <a:noFill/>
          <a:ln w="0">
            <a:noFill/>
          </a:ln>
        </p:spPr>
        <p:txBody>
          <a:bodyPr wrap="square" lIns="0" tIns="0" rIns="0" bIns="0" anchor="t">
            <a:noAutofit/>
          </a:bodyPr>
          <a:lstStyle/>
          <a:p>
            <a:endParaRPr/>
          </a:p>
        </p:txBody>
      </p:sp>
      <p:sp>
        <p:nvSpPr>
          <p:cNvPr id="12" name="s31-text-11">
            <a:extLst>
              <a:ext uri="{FF2B5EF4-FFF2-40B4-BE49-F238E27FC236}">
                <a16:creationId xmlns:a16="http://schemas.microsoft.com/office/drawing/2014/main" id="{D4A3892B-8C34-449C-9D69-158DD6C60F76}"/>
              </a:ext>
            </a:extLst>
          </p:cNvPr>
          <p:cNvSpPr>
            <a:spLocks noGrp="1"/>
          </p:cNvSpPr>
          <p:nvPr/>
        </p:nvSpPr>
        <p:spPr>
          <a:xfrm>
            <a:off x="11239500" y="6477000"/>
            <a:ext cx="476250" cy="238125"/>
          </a:xfrm>
          <a:prstGeom prst="rect">
            <a:avLst/>
          </a:prstGeom>
          <a:noFill/>
          <a:ln w="0">
            <a:noFill/>
          </a:ln>
        </p:spPr>
        <p:txBody>
          <a:bodyPr wrap="square" lIns="0" tIns="0" rIns="0" bIns="0" anchor="t">
            <a:noAutofit/>
          </a:bodyPr>
          <a:lstStyle/>
          <a:p>
            <a:pPr algn="r">
              <a:defRPr sz="1275" b="0">
                <a:solidFill>
                  <a:srgbClr val="666666"/>
                </a:solidFill>
                <a:latin typeface="Aptos"/>
                <a:ea typeface="Aptos"/>
                <a:cs typeface="Aptos"/>
              </a:defRPr>
            </a:pPr>
            <a:r>
              <a:rPr sz="1275" b="0">
                <a:solidFill>
                  <a:srgbClr val="666666"/>
                </a:solidFill>
                <a:latin typeface="Aptos"/>
                <a:ea typeface="Aptos"/>
                <a:cs typeface="Aptos"/>
              </a:rPr>
              <a:t>31</a:t>
            </a:r>
          </a:p>
        </p:txBody>
      </p:sp>
    </p:spTree>
    <p:extLst>
      <p:ext uri="{BB962C8B-B14F-4D97-AF65-F5344CB8AC3E}">
        <p14:creationId xmlns:p14="http://schemas.microsoft.com/office/powerpoint/2010/main" val="32813612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32-text-1">
            <a:extLst>
              <a:ext uri="{FF2B5EF4-FFF2-40B4-BE49-F238E27FC236}">
                <a16:creationId xmlns:a16="http://schemas.microsoft.com/office/drawing/2014/main" id="{8731C9F5-D790-4C64-9BB7-746F08EE1419}"/>
              </a:ext>
            </a:extLst>
          </p:cNvPr>
          <p:cNvSpPr>
            <a:spLocks noGrp="1"/>
          </p:cNvSpPr>
          <p:nvPr/>
        </p:nvSpPr>
        <p:spPr>
          <a:xfrm>
            <a:off x="430816" y="1038225"/>
            <a:ext cx="11293412" cy="78105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3. Potential answer</a:t>
            </a:r>
          </a:p>
        </p:txBody>
      </p:sp>
      <p:sp>
        <p:nvSpPr>
          <p:cNvPr id="2" name="s32-rect-2">
            <a:extLst>
              <a:ext uri="{FF2B5EF4-FFF2-40B4-BE49-F238E27FC236}">
                <a16:creationId xmlns:a16="http://schemas.microsoft.com/office/drawing/2014/main" id="{5900F46C-DCC6-4A23-90FF-D608B1215158}"/>
              </a:ext>
            </a:extLst>
          </p:cNvPr>
          <p:cNvSpPr>
            <a:spLocks noGrp="1"/>
          </p:cNvSpPr>
          <p:nvPr/>
        </p:nvSpPr>
        <p:spPr>
          <a:xfrm>
            <a:off x="8734425" y="476250"/>
            <a:ext cx="3000375" cy="400050"/>
          </a:xfrm>
          <a:prstGeom prst="rect">
            <a:avLst/>
          </a:prstGeom>
          <a:solidFill>
            <a:srgbClr val="D6171D"/>
          </a:solidFill>
          <a:ln w="0">
            <a:noFill/>
          </a:ln>
        </p:spPr>
        <p:txBody>
          <a:bodyPr/>
          <a:lstStyle/>
          <a:p>
            <a:endParaRPr lang="en-US"/>
          </a:p>
        </p:txBody>
      </p:sp>
      <p:sp>
        <p:nvSpPr>
          <p:cNvPr id="3" name="s32-text-3">
            <a:extLst>
              <a:ext uri="{FF2B5EF4-FFF2-40B4-BE49-F238E27FC236}">
                <a16:creationId xmlns:a16="http://schemas.microsoft.com/office/drawing/2014/main" id="{7569F1B0-EBE9-4B2C-B50F-C5C2B14DEBFD}"/>
              </a:ext>
            </a:extLst>
          </p:cNvPr>
          <p:cNvSpPr>
            <a:spLocks noGrp="1"/>
          </p:cNvSpPr>
          <p:nvPr/>
        </p:nvSpPr>
        <p:spPr>
          <a:xfrm>
            <a:off x="8829675" y="533400"/>
            <a:ext cx="2809875" cy="323850"/>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C5.3</a:t>
            </a:r>
          </a:p>
        </p:txBody>
      </p:sp>
      <p:sp>
        <p:nvSpPr>
          <p:cNvPr id="4" name="s32-text-4">
            <a:extLst>
              <a:ext uri="{FF2B5EF4-FFF2-40B4-BE49-F238E27FC236}">
                <a16:creationId xmlns:a16="http://schemas.microsoft.com/office/drawing/2014/main" id="{FD0CD07B-BD74-4FC9-A184-8812D42B868E}"/>
              </a:ext>
            </a:extLst>
          </p:cNvPr>
          <p:cNvSpPr>
            <a:spLocks noGrp="1"/>
          </p:cNvSpPr>
          <p:nvPr/>
        </p:nvSpPr>
        <p:spPr>
          <a:xfrm>
            <a:off x="457200" y="1971675"/>
            <a:ext cx="11239500" cy="714375"/>
          </a:xfrm>
          <a:prstGeom prst="rect">
            <a:avLst/>
          </a:prstGeom>
          <a:noFill/>
          <a:ln w="0">
            <a:noFill/>
          </a:ln>
        </p:spPr>
        <p:txBody>
          <a:bodyPr wrap="square" lIns="0" tIns="0" rIns="0" bIns="0" anchor="t">
            <a:noAutofit/>
          </a:bodyPr>
          <a:lstStyle/>
          <a:p>
            <a:pPr algn="l">
              <a:defRPr sz="2325" b="1">
                <a:solidFill>
                  <a:srgbClr val="111111"/>
                </a:solidFill>
                <a:latin typeface="Aptos"/>
                <a:ea typeface="Aptos"/>
                <a:cs typeface="Aptos"/>
              </a:defRPr>
            </a:pPr>
            <a:r>
              <a:rPr sz="2325" b="1">
                <a:solidFill>
                  <a:srgbClr val="111111"/>
                </a:solidFill>
                <a:latin typeface="Aptos"/>
                <a:ea typeface="Aptos"/>
                <a:cs typeface="Aptos"/>
              </a:rPr>
              <a:t>Stratified: yes. Proportional: no, because group sizes differ.</a:t>
            </a:r>
          </a:p>
        </p:txBody>
      </p:sp>
      <p:graphicFrame>
        <p:nvGraphicFramePr>
          <p:cNvPr id="17" name="Table 16"/>
          <p:cNvGraphicFramePr/>
          <p:nvPr/>
        </p:nvGraphicFramePr>
        <p:xfrm>
          <a:off x="457200" y="2895600"/>
          <a:ext cx="11239500" cy="1866900"/>
        </p:xfrm>
        <a:graphic>
          <a:graphicData uri="http://schemas.openxmlformats.org/drawingml/2006/table">
            <a:tbl>
              <a:tblPr firstRow="1"/>
              <a:tblGrid>
                <a:gridCol w="361950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466725">
                <a:tc>
                  <a:txBody>
                    <a:bodyPr/>
                    <a:lstStyle/>
                    <a:p>
                      <a:pPr algn="l"/>
                      <a:r>
                        <a:rPr sz="2100" b="1">
                          <a:solidFill>
                            <a:srgbClr val="FFFFFF"/>
                          </a:solidFill>
                          <a:latin typeface="Aptos"/>
                          <a:ea typeface="Aptos"/>
                          <a:cs typeface="Aptos"/>
                        </a:rPr>
                        <a:t>Age group</a:t>
                      </a:r>
                    </a:p>
                  </a:txBody>
                  <a:tcPr marL="95250" marR="95250" marT="19050" marB="19050" anchor="ctr">
                    <a:solidFill>
                      <a:srgbClr val="D6171D"/>
                    </a:solidFill>
                  </a:tcPr>
                </a:tc>
                <a:tc>
                  <a:txBody>
                    <a:bodyPr/>
                    <a:lstStyle/>
                    <a:p>
                      <a:pPr algn="ctr"/>
                      <a:r>
                        <a:rPr sz="2100" b="1">
                          <a:solidFill>
                            <a:srgbClr val="FFFFFF"/>
                          </a:solidFill>
                          <a:latin typeface="Aptos"/>
                          <a:ea typeface="Aptos"/>
                          <a:cs typeface="Aptos"/>
                        </a:rPr>
                        <a:t>Calculation</a:t>
                      </a:r>
                    </a:p>
                  </a:txBody>
                  <a:tcPr marL="95250" marR="95250" marT="19050" marB="19050" anchor="ctr">
                    <a:solidFill>
                      <a:srgbClr val="D6171D"/>
                    </a:solidFill>
                  </a:tcPr>
                </a:tc>
                <a:tc>
                  <a:txBody>
                    <a:bodyPr/>
                    <a:lstStyle/>
                    <a:p>
                      <a:pPr algn="ctr"/>
                      <a:r>
                        <a:rPr sz="2100" b="1">
                          <a:solidFill>
                            <a:srgbClr val="FFFFFF"/>
                          </a:solidFill>
                          <a:latin typeface="Aptos"/>
                          <a:ea typeface="Aptos"/>
                          <a:cs typeface="Aptos"/>
                        </a:rPr>
                        <a:t>Selection chance</a:t>
                      </a:r>
                    </a:p>
                  </a:txBody>
                  <a:tcPr marL="95250" marR="95250" marT="19050" marB="19050" anchor="ctr">
                    <a:solidFill>
                      <a:srgbClr val="D6171D"/>
                    </a:solidFill>
                  </a:tcPr>
                </a:tc>
                <a:extLst>
                  <a:ext uri="{0D108BD9-81ED-4DB2-BD59-A6C34878D82A}">
                    <a16:rowId xmlns:a16="http://schemas.microsoft.com/office/drawing/2014/main" val="10000"/>
                  </a:ext>
                </a:extLst>
              </a:tr>
              <a:tr h="466725">
                <a:tc>
                  <a:txBody>
                    <a:bodyPr/>
                    <a:lstStyle/>
                    <a:p>
                      <a:pPr algn="l"/>
                      <a:r>
                        <a:rPr sz="2100" b="0">
                          <a:solidFill>
                            <a:srgbClr val="111111"/>
                          </a:solidFill>
                          <a:latin typeface="Aptos"/>
                          <a:ea typeface="Aptos"/>
                          <a:cs typeface="Aptos"/>
                        </a:rPr>
                        <a:t>0–18</a:t>
                      </a:r>
                    </a:p>
                  </a:txBody>
                  <a:tcPr marL="95250" marR="95250" marT="19050" marB="19050" anchor="ctr">
                    <a:solidFill>
                      <a:srgbClr val="FFFFFF"/>
                    </a:solidFill>
                  </a:tcPr>
                </a:tc>
                <a:tc>
                  <a:txBody>
                    <a:bodyPr/>
                    <a:lstStyle/>
                    <a:p>
                      <a:pPr algn="ctr"/>
                      <a:r>
                        <a:rPr sz="2100" b="0">
                          <a:solidFill>
                            <a:srgbClr val="111111"/>
                          </a:solidFill>
                          <a:latin typeface="Aptos"/>
                          <a:ea typeface="Aptos"/>
                          <a:cs typeface="Aptos"/>
                        </a:rPr>
                        <a:t>50 ÷ 1,846</a:t>
                      </a:r>
                    </a:p>
                  </a:txBody>
                  <a:tcPr marL="95250" marR="95250" marT="19050" marB="19050" anchor="ctr">
                    <a:solidFill>
                      <a:srgbClr val="FFFFFF"/>
                    </a:solidFill>
                  </a:tcPr>
                </a:tc>
                <a:tc>
                  <a:txBody>
                    <a:bodyPr/>
                    <a:lstStyle/>
                    <a:p>
                      <a:pPr algn="ctr"/>
                      <a:r>
                        <a:rPr sz="2100" b="0">
                          <a:solidFill>
                            <a:srgbClr val="111111"/>
                          </a:solidFill>
                          <a:latin typeface="Aptos"/>
                          <a:ea typeface="Aptos"/>
                          <a:cs typeface="Aptos"/>
                        </a:rPr>
                        <a:t>2.71%</a:t>
                      </a:r>
                    </a:p>
                  </a:txBody>
                  <a:tcPr marL="95250" marR="95250" marT="19050" marB="19050" anchor="ctr">
                    <a:solidFill>
                      <a:srgbClr val="FFFFFF"/>
                    </a:solidFill>
                  </a:tcPr>
                </a:tc>
                <a:extLst>
                  <a:ext uri="{0D108BD9-81ED-4DB2-BD59-A6C34878D82A}">
                    <a16:rowId xmlns:a16="http://schemas.microsoft.com/office/drawing/2014/main" val="10001"/>
                  </a:ext>
                </a:extLst>
              </a:tr>
              <a:tr h="466725">
                <a:tc>
                  <a:txBody>
                    <a:bodyPr/>
                    <a:lstStyle/>
                    <a:p>
                      <a:pPr algn="l"/>
                      <a:r>
                        <a:rPr sz="2100" b="0">
                          <a:solidFill>
                            <a:srgbClr val="111111"/>
                          </a:solidFill>
                          <a:latin typeface="Aptos"/>
                          <a:ea typeface="Aptos"/>
                          <a:cs typeface="Aptos"/>
                        </a:rPr>
                        <a:t>19–40</a:t>
                      </a:r>
                    </a:p>
                  </a:txBody>
                  <a:tcPr marL="95250" marR="95250" marT="19050" marB="19050" anchor="ctr">
                    <a:solidFill>
                      <a:srgbClr val="EFF8FF"/>
                    </a:solidFill>
                  </a:tcPr>
                </a:tc>
                <a:tc>
                  <a:txBody>
                    <a:bodyPr/>
                    <a:lstStyle/>
                    <a:p>
                      <a:pPr algn="ctr"/>
                      <a:r>
                        <a:rPr sz="2100" b="0">
                          <a:solidFill>
                            <a:srgbClr val="111111"/>
                          </a:solidFill>
                          <a:latin typeface="Aptos"/>
                          <a:ea typeface="Aptos"/>
                          <a:cs typeface="Aptos"/>
                        </a:rPr>
                        <a:t>50 ÷ 3,927</a:t>
                      </a:r>
                    </a:p>
                  </a:txBody>
                  <a:tcPr marL="95250" marR="95250" marT="19050" marB="19050" anchor="ctr">
                    <a:solidFill>
                      <a:srgbClr val="EFF8FF"/>
                    </a:solidFill>
                  </a:tcPr>
                </a:tc>
                <a:tc>
                  <a:txBody>
                    <a:bodyPr/>
                    <a:lstStyle/>
                    <a:p>
                      <a:pPr algn="ctr"/>
                      <a:r>
                        <a:rPr sz="2100" b="0">
                          <a:solidFill>
                            <a:srgbClr val="111111"/>
                          </a:solidFill>
                          <a:latin typeface="Aptos"/>
                          <a:ea typeface="Aptos"/>
                          <a:cs typeface="Aptos"/>
                        </a:rPr>
                        <a:t>1.27%</a:t>
                      </a:r>
                    </a:p>
                  </a:txBody>
                  <a:tcPr marL="95250" marR="95250" marT="19050" marB="19050" anchor="ctr">
                    <a:solidFill>
                      <a:srgbClr val="EFF8FF"/>
                    </a:solidFill>
                  </a:tcPr>
                </a:tc>
                <a:extLst>
                  <a:ext uri="{0D108BD9-81ED-4DB2-BD59-A6C34878D82A}">
                    <a16:rowId xmlns:a16="http://schemas.microsoft.com/office/drawing/2014/main" val="10002"/>
                  </a:ext>
                </a:extLst>
              </a:tr>
              <a:tr h="466725">
                <a:tc>
                  <a:txBody>
                    <a:bodyPr/>
                    <a:lstStyle/>
                    <a:p>
                      <a:pPr algn="l"/>
                      <a:r>
                        <a:rPr sz="2100" b="0">
                          <a:solidFill>
                            <a:srgbClr val="111111"/>
                          </a:solidFill>
                          <a:latin typeface="Aptos"/>
                          <a:ea typeface="Aptos"/>
                          <a:cs typeface="Aptos"/>
                        </a:rPr>
                        <a:t>41 and above</a:t>
                      </a:r>
                    </a:p>
                  </a:txBody>
                  <a:tcPr marL="95250" marR="95250" marT="19050" marB="19050" anchor="ctr">
                    <a:solidFill>
                      <a:srgbClr val="FFFFFF"/>
                    </a:solidFill>
                  </a:tcPr>
                </a:tc>
                <a:tc>
                  <a:txBody>
                    <a:bodyPr/>
                    <a:lstStyle/>
                    <a:p>
                      <a:pPr algn="ctr"/>
                      <a:r>
                        <a:rPr sz="2100" b="0">
                          <a:solidFill>
                            <a:srgbClr val="111111"/>
                          </a:solidFill>
                          <a:latin typeface="Aptos"/>
                          <a:ea typeface="Aptos"/>
                          <a:cs typeface="Aptos"/>
                        </a:rPr>
                        <a:t>50 ÷ 2,615</a:t>
                      </a:r>
                    </a:p>
                  </a:txBody>
                  <a:tcPr marL="95250" marR="95250" marT="19050" marB="19050" anchor="ctr">
                    <a:solidFill>
                      <a:srgbClr val="FFFFFF"/>
                    </a:solidFill>
                  </a:tcPr>
                </a:tc>
                <a:tc>
                  <a:txBody>
                    <a:bodyPr/>
                    <a:lstStyle/>
                    <a:p>
                      <a:pPr algn="ctr"/>
                      <a:r>
                        <a:rPr sz="2100" b="0">
                          <a:solidFill>
                            <a:srgbClr val="111111"/>
                          </a:solidFill>
                          <a:latin typeface="Aptos"/>
                          <a:ea typeface="Aptos"/>
                          <a:cs typeface="Aptos"/>
                        </a:rPr>
                        <a:t>1.91%</a:t>
                      </a:r>
                    </a:p>
                  </a:txBody>
                  <a:tcPr marL="95250" marR="95250" marT="19050" marB="19050" anchor="ctr">
                    <a:solidFill>
                      <a:srgbClr val="FFFFFF"/>
                    </a:solidFill>
                  </a:tcPr>
                </a:tc>
                <a:extLst>
                  <a:ext uri="{0D108BD9-81ED-4DB2-BD59-A6C34878D82A}">
                    <a16:rowId xmlns:a16="http://schemas.microsoft.com/office/drawing/2014/main" val="10003"/>
                  </a:ext>
                </a:extLst>
              </a:tr>
            </a:tbl>
          </a:graphicData>
        </a:graphic>
      </p:graphicFrame>
      <p:sp>
        <p:nvSpPr>
          <p:cNvPr id="6" name="s32-text-5">
            <a:extLst>
              <a:ext uri="{FF2B5EF4-FFF2-40B4-BE49-F238E27FC236}">
                <a16:creationId xmlns:a16="http://schemas.microsoft.com/office/drawing/2014/main" id="{0E442CE6-182A-4BFF-BE44-4A2F6AE0121B}"/>
              </a:ext>
            </a:extLst>
          </p:cNvPr>
          <p:cNvSpPr>
            <a:spLocks noGrp="1"/>
          </p:cNvSpPr>
          <p:nvPr/>
        </p:nvSpPr>
        <p:spPr>
          <a:xfrm>
            <a:off x="457200" y="5162550"/>
            <a:ext cx="6477000" cy="704850"/>
          </a:xfrm>
          <a:prstGeom prst="rect">
            <a:avLst/>
          </a:prstGeom>
          <a:noFill/>
          <a:ln w="0">
            <a:noFill/>
          </a:ln>
        </p:spPr>
        <p:txBody>
          <a:bodyPr wrap="square" lIns="0" tIns="0" rIns="0" bIns="0" anchor="t">
            <a:noAutofit/>
          </a:bodyPr>
          <a:lstStyle/>
          <a:p>
            <a:pPr algn="l">
              <a:defRPr sz="2400" b="1">
                <a:solidFill>
                  <a:srgbClr val="111111"/>
                </a:solidFill>
                <a:latin typeface="Aptos"/>
                <a:ea typeface="Aptos"/>
                <a:cs typeface="Aptos"/>
              </a:defRPr>
            </a:pPr>
            <a:r>
              <a:rPr sz="2400" b="1">
                <a:solidFill>
                  <a:srgbClr val="111111"/>
                </a:solidFill>
                <a:latin typeface="Aptos"/>
                <a:ea typeface="Aptos"/>
                <a:cs typeface="Aptos"/>
              </a:rPr>
              <a:t>Highest: 0–18. Lowest: 19–40.</a:t>
            </a:r>
          </a:p>
        </p:txBody>
      </p:sp>
      <p:sp>
        <p:nvSpPr>
          <p:cNvPr id="7" name="s32-text-6">
            <a:extLst>
              <a:ext uri="{FF2B5EF4-FFF2-40B4-BE49-F238E27FC236}">
                <a16:creationId xmlns:a16="http://schemas.microsoft.com/office/drawing/2014/main" id="{6CB5B8D2-40A4-446A-8415-D96AE0D55002}"/>
              </a:ext>
            </a:extLst>
          </p:cNvPr>
          <p:cNvSpPr>
            <a:spLocks noGrp="1"/>
          </p:cNvSpPr>
          <p:nvPr/>
        </p:nvSpPr>
        <p:spPr>
          <a:xfrm>
            <a:off x="7324725" y="5095875"/>
            <a:ext cx="1619250" cy="342900"/>
          </a:xfrm>
          <a:prstGeom prst="rect">
            <a:avLst/>
          </a:prstGeom>
          <a:noFill/>
          <a:ln w="0">
            <a:noFill/>
          </a:ln>
        </p:spPr>
        <p:txBody>
          <a:bodyPr wrap="square" lIns="0" tIns="0" rIns="0" bIns="0" anchor="t">
            <a:noAutofit/>
          </a:bodyPr>
          <a:lstStyle/>
          <a:p>
            <a:pPr algn="ctr">
              <a:defRPr sz="2250" b="0">
                <a:solidFill>
                  <a:srgbClr val="111111"/>
                </a:solidFill>
                <a:latin typeface="Aptos"/>
                <a:ea typeface="Aptos"/>
                <a:cs typeface="Aptos"/>
              </a:defRPr>
            </a:pPr>
            <a:r>
              <a:rPr sz="2250" b="0">
                <a:solidFill>
                  <a:srgbClr val="111111"/>
                </a:solidFill>
                <a:latin typeface="Aptos"/>
                <a:ea typeface="Aptos"/>
                <a:cs typeface="Aptos"/>
              </a:rPr>
              <a:t>3,927</a:t>
            </a:r>
          </a:p>
        </p:txBody>
      </p:sp>
      <p:sp>
        <p:nvSpPr>
          <p:cNvPr id="8" name="s32-line-7">
            <a:extLst>
              <a:ext uri="{FF2B5EF4-FFF2-40B4-BE49-F238E27FC236}">
                <a16:creationId xmlns:a16="http://schemas.microsoft.com/office/drawing/2014/main" id="{3915F255-155B-4F3F-8A8B-F0DF1E830FC9}"/>
              </a:ext>
            </a:extLst>
          </p:cNvPr>
          <p:cNvSpPr>
            <a:spLocks noGrp="1"/>
          </p:cNvSpPr>
          <p:nvPr/>
        </p:nvSpPr>
        <p:spPr>
          <a:xfrm>
            <a:off x="7324725" y="5476875"/>
            <a:ext cx="1619250" cy="0"/>
          </a:xfrm>
          <a:prstGeom prst="line">
            <a:avLst/>
          </a:prstGeom>
          <a:noFill/>
          <a:ln w="19050">
            <a:solidFill>
              <a:srgbClr val="111111"/>
            </a:solidFill>
          </a:ln>
        </p:spPr>
        <p:txBody>
          <a:bodyPr/>
          <a:lstStyle/>
          <a:p>
            <a:endParaRPr lang="en-US"/>
          </a:p>
        </p:txBody>
      </p:sp>
      <p:sp>
        <p:nvSpPr>
          <p:cNvPr id="9" name="s32-text-8">
            <a:extLst>
              <a:ext uri="{FF2B5EF4-FFF2-40B4-BE49-F238E27FC236}">
                <a16:creationId xmlns:a16="http://schemas.microsoft.com/office/drawing/2014/main" id="{194DFC55-51EE-4CC9-AC65-AE83B77A2845}"/>
              </a:ext>
            </a:extLst>
          </p:cNvPr>
          <p:cNvSpPr>
            <a:spLocks noGrp="1"/>
          </p:cNvSpPr>
          <p:nvPr/>
        </p:nvSpPr>
        <p:spPr>
          <a:xfrm>
            <a:off x="7324725" y="5572125"/>
            <a:ext cx="1619250" cy="361950"/>
          </a:xfrm>
          <a:prstGeom prst="rect">
            <a:avLst/>
          </a:prstGeom>
          <a:noFill/>
          <a:ln w="0">
            <a:noFill/>
          </a:ln>
        </p:spPr>
        <p:txBody>
          <a:bodyPr wrap="square" lIns="0" tIns="0" rIns="0" bIns="0" anchor="t">
            <a:noAutofit/>
          </a:bodyPr>
          <a:lstStyle/>
          <a:p>
            <a:pPr algn="ctr">
              <a:defRPr sz="2250" b="0">
                <a:solidFill>
                  <a:srgbClr val="111111"/>
                </a:solidFill>
                <a:latin typeface="Aptos"/>
                <a:ea typeface="Aptos"/>
                <a:cs typeface="Aptos"/>
              </a:defRPr>
            </a:pPr>
            <a:r>
              <a:rPr sz="2250" b="0">
                <a:solidFill>
                  <a:srgbClr val="111111"/>
                </a:solidFill>
                <a:latin typeface="Aptos"/>
                <a:ea typeface="Aptos"/>
                <a:cs typeface="Aptos"/>
              </a:rPr>
              <a:t>1,846</a:t>
            </a:r>
          </a:p>
        </p:txBody>
      </p:sp>
      <p:sp>
        <p:nvSpPr>
          <p:cNvPr id="10" name="s32-text-9">
            <a:extLst>
              <a:ext uri="{FF2B5EF4-FFF2-40B4-BE49-F238E27FC236}">
                <a16:creationId xmlns:a16="http://schemas.microsoft.com/office/drawing/2014/main" id="{656BEDAF-C087-4CF8-A336-D27000730708}"/>
              </a:ext>
            </a:extLst>
          </p:cNvPr>
          <p:cNvSpPr>
            <a:spLocks noGrp="1"/>
          </p:cNvSpPr>
          <p:nvPr/>
        </p:nvSpPr>
        <p:spPr>
          <a:xfrm>
            <a:off x="9172575" y="5334000"/>
            <a:ext cx="2562225" cy="590550"/>
          </a:xfrm>
          <a:prstGeom prst="rect">
            <a:avLst/>
          </a:prstGeom>
          <a:noFill/>
          <a:ln w="0">
            <a:noFill/>
          </a:ln>
        </p:spPr>
        <p:txBody>
          <a:bodyPr wrap="square" lIns="0" tIns="0" rIns="0" bIns="0" anchor="t">
            <a:noAutofit/>
          </a:bodyPr>
          <a:lstStyle/>
          <a:p>
            <a:pPr algn="l">
              <a:defRPr sz="2250" b="1">
                <a:solidFill>
                  <a:srgbClr val="111111"/>
                </a:solidFill>
                <a:latin typeface="Aptos"/>
                <a:ea typeface="Aptos"/>
                <a:cs typeface="Aptos"/>
              </a:defRPr>
            </a:pPr>
            <a:r>
              <a:rPr sz="2250" b="1">
                <a:solidFill>
                  <a:srgbClr val="111111"/>
                </a:solidFill>
                <a:latin typeface="Aptos"/>
                <a:ea typeface="Aptos"/>
                <a:cs typeface="Aptos"/>
              </a:rPr>
              <a:t>≈ 2.13 times</a:t>
            </a:r>
          </a:p>
        </p:txBody>
      </p:sp>
      <p:sp>
        <p:nvSpPr>
          <p:cNvPr id="11" name="s32-text-10">
            <a:extLst>
              <a:ext uri="{FF2B5EF4-FFF2-40B4-BE49-F238E27FC236}">
                <a16:creationId xmlns:a16="http://schemas.microsoft.com/office/drawing/2014/main" id="{9C0FE8F8-CF34-490E-A35D-FDE9CA24B9E4}"/>
              </a:ext>
            </a:extLst>
          </p:cNvPr>
          <p:cNvSpPr>
            <a:spLocks noGrp="1"/>
          </p:cNvSpPr>
          <p:nvPr/>
        </p:nvSpPr>
        <p:spPr>
          <a:xfrm>
            <a:off x="457200" y="6477000"/>
            <a:ext cx="10763250" cy="238125"/>
          </a:xfrm>
          <a:prstGeom prst="rect">
            <a:avLst/>
          </a:prstGeom>
          <a:noFill/>
          <a:ln w="0">
            <a:noFill/>
          </a:ln>
        </p:spPr>
        <p:txBody>
          <a:bodyPr wrap="square" lIns="0" tIns="0" rIns="0" bIns="0" anchor="t">
            <a:noAutofit/>
          </a:bodyPr>
          <a:lstStyle/>
          <a:p>
            <a:endParaRPr/>
          </a:p>
        </p:txBody>
      </p:sp>
      <p:sp>
        <p:nvSpPr>
          <p:cNvPr id="12" name="s32-text-11">
            <a:extLst>
              <a:ext uri="{FF2B5EF4-FFF2-40B4-BE49-F238E27FC236}">
                <a16:creationId xmlns:a16="http://schemas.microsoft.com/office/drawing/2014/main" id="{F7BE12B4-1044-475C-A364-6AC8832FC05B}"/>
              </a:ext>
            </a:extLst>
          </p:cNvPr>
          <p:cNvSpPr>
            <a:spLocks noGrp="1"/>
          </p:cNvSpPr>
          <p:nvPr/>
        </p:nvSpPr>
        <p:spPr>
          <a:xfrm>
            <a:off x="11239500" y="6477000"/>
            <a:ext cx="476250" cy="238125"/>
          </a:xfrm>
          <a:prstGeom prst="rect">
            <a:avLst/>
          </a:prstGeom>
          <a:noFill/>
          <a:ln w="0">
            <a:noFill/>
          </a:ln>
        </p:spPr>
        <p:txBody>
          <a:bodyPr wrap="square" lIns="0" tIns="0" rIns="0" bIns="0" anchor="t">
            <a:noAutofit/>
          </a:bodyPr>
          <a:lstStyle/>
          <a:p>
            <a:pPr algn="r">
              <a:defRPr sz="1275" b="0">
                <a:solidFill>
                  <a:srgbClr val="666666"/>
                </a:solidFill>
                <a:latin typeface="Aptos"/>
                <a:ea typeface="Aptos"/>
                <a:cs typeface="Aptos"/>
              </a:defRPr>
            </a:pPr>
            <a:r>
              <a:rPr sz="1275" b="0">
                <a:solidFill>
                  <a:srgbClr val="666666"/>
                </a:solidFill>
                <a:latin typeface="Aptos"/>
                <a:ea typeface="Aptos"/>
                <a:cs typeface="Aptos"/>
              </a:rPr>
              <a:t>32</a:t>
            </a:r>
          </a:p>
        </p:txBody>
      </p:sp>
    </p:spTree>
    <p:extLst>
      <p:ext uri="{BB962C8B-B14F-4D97-AF65-F5344CB8AC3E}">
        <p14:creationId xmlns:p14="http://schemas.microsoft.com/office/powerpoint/2010/main" val="32813612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33-text-1">
            <a:extLst>
              <a:ext uri="{FF2B5EF4-FFF2-40B4-BE49-F238E27FC236}">
                <a16:creationId xmlns:a16="http://schemas.microsoft.com/office/drawing/2014/main" id="{3392B1F0-3CAE-4AE2-A62F-A6EAA8B8291B}"/>
              </a:ext>
            </a:extLst>
          </p:cNvPr>
          <p:cNvSpPr>
            <a:spLocks noGrp="1"/>
          </p:cNvSpPr>
          <p:nvPr/>
        </p:nvSpPr>
        <p:spPr>
          <a:xfrm>
            <a:off x="430816" y="1038225"/>
            <a:ext cx="11293412" cy="78105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4. Who is at home?</a:t>
            </a:r>
          </a:p>
        </p:txBody>
      </p:sp>
      <p:sp>
        <p:nvSpPr>
          <p:cNvPr id="2" name="s33-rect-2">
            <a:extLst>
              <a:ext uri="{FF2B5EF4-FFF2-40B4-BE49-F238E27FC236}">
                <a16:creationId xmlns:a16="http://schemas.microsoft.com/office/drawing/2014/main" id="{EF125F36-7585-41C0-A43F-AB05BB1A314C}"/>
              </a:ext>
            </a:extLst>
          </p:cNvPr>
          <p:cNvSpPr>
            <a:spLocks noGrp="1"/>
          </p:cNvSpPr>
          <p:nvPr/>
        </p:nvSpPr>
        <p:spPr>
          <a:xfrm>
            <a:off x="8734425" y="476250"/>
            <a:ext cx="3000375" cy="400050"/>
          </a:xfrm>
          <a:prstGeom prst="rect">
            <a:avLst/>
          </a:prstGeom>
          <a:solidFill>
            <a:srgbClr val="D6171D"/>
          </a:solidFill>
          <a:ln w="0">
            <a:noFill/>
          </a:ln>
        </p:spPr>
        <p:txBody>
          <a:bodyPr/>
          <a:lstStyle/>
          <a:p>
            <a:endParaRPr lang="en-US"/>
          </a:p>
        </p:txBody>
      </p:sp>
      <p:sp>
        <p:nvSpPr>
          <p:cNvPr id="3" name="s33-text-3">
            <a:extLst>
              <a:ext uri="{FF2B5EF4-FFF2-40B4-BE49-F238E27FC236}">
                <a16:creationId xmlns:a16="http://schemas.microsoft.com/office/drawing/2014/main" id="{C06F4134-1877-4020-BA67-C0607FD9975D}"/>
              </a:ext>
            </a:extLst>
          </p:cNvPr>
          <p:cNvSpPr>
            <a:spLocks noGrp="1"/>
          </p:cNvSpPr>
          <p:nvPr/>
        </p:nvSpPr>
        <p:spPr>
          <a:xfrm>
            <a:off x="8829675" y="533400"/>
            <a:ext cx="2809875" cy="323850"/>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C5.4</a:t>
            </a:r>
          </a:p>
        </p:txBody>
      </p:sp>
      <p:sp>
        <p:nvSpPr>
          <p:cNvPr id="4" name="s33-text-4">
            <a:extLst>
              <a:ext uri="{FF2B5EF4-FFF2-40B4-BE49-F238E27FC236}">
                <a16:creationId xmlns:a16="http://schemas.microsoft.com/office/drawing/2014/main" id="{9036DBBA-ADF1-4F50-938D-3723D5126E7C}"/>
              </a:ext>
            </a:extLst>
          </p:cNvPr>
          <p:cNvSpPr>
            <a:spLocks noGrp="1"/>
          </p:cNvSpPr>
          <p:nvPr/>
        </p:nvSpPr>
        <p:spPr>
          <a:xfrm>
            <a:off x="457200" y="1971675"/>
            <a:ext cx="11239500" cy="99060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sz="2325" b="0">
                <a:solidFill>
                  <a:srgbClr val="111111"/>
                </a:solidFill>
                <a:latin typeface="Aptos"/>
                <a:ea typeface="Aptos"/>
                <a:cs typeface="Aptos"/>
              </a:rPr>
              <a:t>A health survey randomly selects 10 neighbourhoods.</a:t>
            </a:r>
          </a:p>
          <a:p>
            <a:pPr algn="l">
              <a:defRPr sz="2325" b="0">
                <a:solidFill>
                  <a:srgbClr val="111111"/>
                </a:solidFill>
                <a:latin typeface="Aptos"/>
                <a:ea typeface="Aptos"/>
                <a:cs typeface="Aptos"/>
              </a:defRPr>
            </a:pPr>
            <a:r>
              <a:rPr sz="2325" b="0">
                <a:solidFill>
                  <a:srgbClr val="111111"/>
                </a:solidFill>
                <a:latin typeface="Aptos"/>
                <a:ea typeface="Aptos"/>
                <a:cs typeface="Aptos"/>
              </a:rPr>
              <a:t>Interviewers attempt every household on the complete lists.</a:t>
            </a:r>
          </a:p>
        </p:txBody>
      </p:sp>
      <p:sp>
        <p:nvSpPr>
          <p:cNvPr id="5" name="s33-text-5">
            <a:extLst>
              <a:ext uri="{FF2B5EF4-FFF2-40B4-BE49-F238E27FC236}">
                <a16:creationId xmlns:a16="http://schemas.microsoft.com/office/drawing/2014/main" id="{08D76325-4800-4862-845D-2F6185F2BED4}"/>
              </a:ext>
            </a:extLst>
          </p:cNvPr>
          <p:cNvSpPr>
            <a:spLocks noGrp="1"/>
          </p:cNvSpPr>
          <p:nvPr/>
        </p:nvSpPr>
        <p:spPr>
          <a:xfrm>
            <a:off x="457200" y="3305175"/>
            <a:ext cx="11239500" cy="942975"/>
          </a:xfrm>
          <a:prstGeom prst="rect">
            <a:avLst/>
          </a:prstGeom>
          <a:noFill/>
          <a:ln w="0">
            <a:noFill/>
          </a:ln>
        </p:spPr>
        <p:txBody>
          <a:bodyPr wrap="square" lIns="0" tIns="0" rIns="0" bIns="0" anchor="t">
            <a:noAutofit/>
          </a:bodyPr>
          <a:lstStyle/>
          <a:p>
            <a:pPr algn="l">
              <a:defRPr sz="2550" b="1">
                <a:solidFill>
                  <a:srgbClr val="111111"/>
                </a:solidFill>
                <a:latin typeface="Aptos"/>
                <a:ea typeface="Aptos"/>
                <a:cs typeface="Aptos"/>
              </a:defRPr>
            </a:pPr>
            <a:r>
              <a:rPr sz="2550" b="1">
                <a:solidFill>
                  <a:srgbClr val="111111"/>
                </a:solidFill>
                <a:latin typeface="Aptos"/>
                <a:ea typeface="Aptos"/>
                <a:cs typeface="Aptos"/>
              </a:rPr>
              <a:t>They visit only between 9 and 11 am on Tuesday.</a:t>
            </a:r>
          </a:p>
          <a:p>
            <a:pPr algn="l">
              <a:defRPr sz="2550" b="1">
                <a:solidFill>
                  <a:srgbClr val="111111"/>
                </a:solidFill>
                <a:latin typeface="Aptos"/>
                <a:ea typeface="Aptos"/>
                <a:cs typeface="Aptos"/>
              </a:defRPr>
            </a:pPr>
            <a:r>
              <a:rPr sz="2550" b="1">
                <a:solidFill>
                  <a:srgbClr val="111111"/>
                </a:solidFill>
                <a:latin typeface="Aptos"/>
                <a:ea typeface="Aptos"/>
                <a:cs typeface="Aptos"/>
              </a:rPr>
              <a:t>They make no return visits.</a:t>
            </a:r>
          </a:p>
        </p:txBody>
      </p:sp>
      <p:sp>
        <p:nvSpPr>
          <p:cNvPr id="6" name="s33-text-6">
            <a:extLst>
              <a:ext uri="{FF2B5EF4-FFF2-40B4-BE49-F238E27FC236}">
                <a16:creationId xmlns:a16="http://schemas.microsoft.com/office/drawing/2014/main" id="{961A8CCB-CCC7-4D3F-860D-50DA2CC45EC7}"/>
              </a:ext>
            </a:extLst>
          </p:cNvPr>
          <p:cNvSpPr>
            <a:spLocks noGrp="1"/>
          </p:cNvSpPr>
          <p:nvPr/>
        </p:nvSpPr>
        <p:spPr>
          <a:xfrm>
            <a:off x="457200" y="4772025"/>
            <a:ext cx="11239500" cy="1000125"/>
          </a:xfrm>
          <a:prstGeom prst="rect">
            <a:avLst/>
          </a:prstGeom>
          <a:noFill/>
          <a:ln w="0">
            <a:noFill/>
          </a:ln>
        </p:spPr>
        <p:txBody>
          <a:bodyPr wrap="square" lIns="0" tIns="0" rIns="0" bIns="0" anchor="t">
            <a:noAutofit/>
          </a:bodyPr>
          <a:lstStyle/>
          <a:p>
            <a:pPr algn="l">
              <a:defRPr sz="2250" b="0">
                <a:solidFill>
                  <a:srgbClr val="111111"/>
                </a:solidFill>
                <a:latin typeface="Aptos"/>
                <a:ea typeface="Aptos"/>
                <a:cs typeface="Aptos"/>
              </a:defRPr>
            </a:pPr>
            <a:r>
              <a:rPr sz="2250" b="0">
                <a:solidFill>
                  <a:srgbClr val="111111"/>
                </a:solidFill>
                <a:latin typeface="Aptos"/>
                <a:ea typeface="Aptos"/>
                <a:cs typeface="Aptos"/>
              </a:rPr>
              <a:t>Who might be missed? When could this distort the health findings?</a:t>
            </a:r>
          </a:p>
          <a:p>
            <a:pPr algn="l">
              <a:defRPr sz="2250" b="0">
                <a:solidFill>
                  <a:srgbClr val="111111"/>
                </a:solidFill>
                <a:latin typeface="Aptos"/>
                <a:ea typeface="Aptos"/>
                <a:cs typeface="Aptos"/>
              </a:defRPr>
            </a:pPr>
            <a:r>
              <a:rPr sz="2250" b="0">
                <a:solidFill>
                  <a:srgbClr val="111111"/>
                </a:solidFill>
                <a:latin typeface="Aptos"/>
                <a:ea typeface="Aptos"/>
                <a:cs typeface="Aptos"/>
              </a:rPr>
              <a:t>Can you predict the direction? Give one practical repair.</a:t>
            </a:r>
          </a:p>
        </p:txBody>
      </p:sp>
      <p:sp>
        <p:nvSpPr>
          <p:cNvPr id="7" name="s33-rect-7">
            <a:extLst>
              <a:ext uri="{FF2B5EF4-FFF2-40B4-BE49-F238E27FC236}">
                <a16:creationId xmlns:a16="http://schemas.microsoft.com/office/drawing/2014/main" id="{0706D9F5-19A2-45BD-A106-AE17672DB3A6}"/>
              </a:ext>
            </a:extLst>
          </p:cNvPr>
          <p:cNvSpPr>
            <a:spLocks noGrp="1"/>
          </p:cNvSpPr>
          <p:nvPr/>
        </p:nvSpPr>
        <p:spPr>
          <a:xfrm>
            <a:off x="428625" y="5915025"/>
            <a:ext cx="2762250" cy="400050"/>
          </a:xfrm>
          <a:prstGeom prst="rect">
            <a:avLst/>
          </a:prstGeom>
          <a:solidFill>
            <a:srgbClr val="D6171D"/>
          </a:solidFill>
          <a:ln w="0">
            <a:noFill/>
          </a:ln>
        </p:spPr>
        <p:txBody>
          <a:bodyPr/>
          <a:lstStyle/>
          <a:p>
            <a:endParaRPr lang="en-US"/>
          </a:p>
        </p:txBody>
      </p:sp>
      <p:sp>
        <p:nvSpPr>
          <p:cNvPr id="8" name="s33-text-8">
            <a:extLst>
              <a:ext uri="{FF2B5EF4-FFF2-40B4-BE49-F238E27FC236}">
                <a16:creationId xmlns:a16="http://schemas.microsoft.com/office/drawing/2014/main" id="{F2181A63-FAB5-4EB4-98ED-4C9E0DDFFDAB}"/>
              </a:ext>
            </a:extLst>
          </p:cNvPr>
          <p:cNvSpPr>
            <a:spLocks noGrp="1"/>
          </p:cNvSpPr>
          <p:nvPr/>
        </p:nvSpPr>
        <p:spPr>
          <a:xfrm>
            <a:off x="523875" y="5972175"/>
            <a:ext cx="2571750" cy="323850"/>
          </a:xfrm>
          <a:prstGeom prst="rect">
            <a:avLst/>
          </a:prstGeom>
          <a:noFill/>
          <a:ln w="0">
            <a:noFill/>
          </a:ln>
        </p:spPr>
        <p:txBody>
          <a:bodyPr wrap="square" lIns="0" tIns="0" rIns="0" bIns="0" anchor="t">
            <a:noAutofit/>
          </a:bodyPr>
          <a:lstStyle/>
          <a:p>
            <a:pPr algn="ctr">
              <a:defRPr sz="1800" b="1">
                <a:solidFill>
                  <a:srgbClr val="FFFFFF"/>
                </a:solidFill>
                <a:latin typeface="Aptos"/>
                <a:ea typeface="Aptos"/>
                <a:cs typeface="Aptos"/>
              </a:defRPr>
            </a:pPr>
            <a:r>
              <a:rPr sz="1800" b="1">
                <a:solidFill>
                  <a:srgbClr val="FFFFFF"/>
                </a:solidFill>
                <a:latin typeface="Aptos"/>
                <a:ea typeface="Aptos"/>
                <a:cs typeface="Aptos"/>
              </a:rPr>
              <a:t>DISCUSS   2 MIN</a:t>
            </a:r>
          </a:p>
        </p:txBody>
      </p:sp>
      <p:sp>
        <p:nvSpPr>
          <p:cNvPr id="9" name="s33-text-9">
            <a:extLst>
              <a:ext uri="{FF2B5EF4-FFF2-40B4-BE49-F238E27FC236}">
                <a16:creationId xmlns:a16="http://schemas.microsoft.com/office/drawing/2014/main" id="{081B0336-1C59-467D-A22C-D066E2FB0240}"/>
              </a:ext>
            </a:extLst>
          </p:cNvPr>
          <p:cNvSpPr>
            <a:spLocks noGrp="1"/>
          </p:cNvSpPr>
          <p:nvPr/>
        </p:nvSpPr>
        <p:spPr>
          <a:xfrm>
            <a:off x="3381375" y="5924550"/>
            <a:ext cx="8286750" cy="457200"/>
          </a:xfrm>
          <a:prstGeom prst="rect">
            <a:avLst/>
          </a:prstGeom>
          <a:noFill/>
          <a:ln w="0">
            <a:noFill/>
          </a:ln>
        </p:spPr>
        <p:txBody>
          <a:bodyPr wrap="square" lIns="0" tIns="0" rIns="0" bIns="0" anchor="t">
            <a:noAutofit/>
          </a:bodyPr>
          <a:lstStyle/>
          <a:p>
            <a:pPr algn="l">
              <a:defRPr sz="2100" b="1">
                <a:solidFill>
                  <a:srgbClr val="111111"/>
                </a:solidFill>
                <a:latin typeface="Aptos"/>
                <a:ea typeface="Aptos"/>
                <a:cs typeface="Aptos"/>
              </a:defRPr>
            </a:pPr>
            <a:r>
              <a:rPr sz="2100" b="1">
                <a:solidFill>
                  <a:srgbClr val="111111"/>
                </a:solidFill>
                <a:latin typeface="Aptos"/>
                <a:ea typeface="Aptos"/>
                <a:cs typeface="Aptos"/>
              </a:rPr>
              <a:t>Connect the missing households to the survey topic.</a:t>
            </a:r>
          </a:p>
        </p:txBody>
      </p:sp>
      <p:sp>
        <p:nvSpPr>
          <p:cNvPr id="10" name="s33-text-10">
            <a:extLst>
              <a:ext uri="{FF2B5EF4-FFF2-40B4-BE49-F238E27FC236}">
                <a16:creationId xmlns:a16="http://schemas.microsoft.com/office/drawing/2014/main" id="{E87E0840-53D3-495E-BDA6-9C67735C7FEB}"/>
              </a:ext>
            </a:extLst>
          </p:cNvPr>
          <p:cNvSpPr>
            <a:spLocks noGrp="1"/>
          </p:cNvSpPr>
          <p:nvPr/>
        </p:nvSpPr>
        <p:spPr>
          <a:xfrm>
            <a:off x="457200" y="6477000"/>
            <a:ext cx="10763250" cy="238125"/>
          </a:xfrm>
          <a:prstGeom prst="rect">
            <a:avLst/>
          </a:prstGeom>
          <a:noFill/>
          <a:ln w="0">
            <a:noFill/>
          </a:ln>
        </p:spPr>
        <p:txBody>
          <a:bodyPr wrap="square" lIns="0" tIns="0" rIns="0" bIns="0" anchor="t">
            <a:noAutofit/>
          </a:bodyPr>
          <a:lstStyle/>
          <a:p>
            <a:endParaRPr/>
          </a:p>
        </p:txBody>
      </p:sp>
      <p:sp>
        <p:nvSpPr>
          <p:cNvPr id="11" name="s33-text-11">
            <a:extLst>
              <a:ext uri="{FF2B5EF4-FFF2-40B4-BE49-F238E27FC236}">
                <a16:creationId xmlns:a16="http://schemas.microsoft.com/office/drawing/2014/main" id="{38D38A8E-EB48-4DE9-92E6-394B503073C3}"/>
              </a:ext>
            </a:extLst>
          </p:cNvPr>
          <p:cNvSpPr>
            <a:spLocks noGrp="1"/>
          </p:cNvSpPr>
          <p:nvPr/>
        </p:nvSpPr>
        <p:spPr>
          <a:xfrm>
            <a:off x="11239500" y="6477000"/>
            <a:ext cx="476250" cy="238125"/>
          </a:xfrm>
          <a:prstGeom prst="rect">
            <a:avLst/>
          </a:prstGeom>
          <a:noFill/>
          <a:ln w="0">
            <a:noFill/>
          </a:ln>
        </p:spPr>
        <p:txBody>
          <a:bodyPr wrap="square" lIns="0" tIns="0" rIns="0" bIns="0" anchor="t">
            <a:noAutofit/>
          </a:bodyPr>
          <a:lstStyle/>
          <a:p>
            <a:pPr algn="r">
              <a:defRPr sz="1275" b="0">
                <a:solidFill>
                  <a:srgbClr val="666666"/>
                </a:solidFill>
                <a:latin typeface="Aptos"/>
                <a:ea typeface="Aptos"/>
                <a:cs typeface="Aptos"/>
              </a:defRPr>
            </a:pPr>
            <a:r>
              <a:rPr sz="1275" b="0">
                <a:solidFill>
                  <a:srgbClr val="666666"/>
                </a:solidFill>
                <a:latin typeface="Aptos"/>
                <a:ea typeface="Aptos"/>
                <a:cs typeface="Aptos"/>
              </a:rPr>
              <a:t>33</a:t>
            </a:r>
          </a:p>
        </p:txBody>
      </p:sp>
    </p:spTree>
    <p:extLst>
      <p:ext uri="{BB962C8B-B14F-4D97-AF65-F5344CB8AC3E}">
        <p14:creationId xmlns:p14="http://schemas.microsoft.com/office/powerpoint/2010/main" val="32813612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34-text-1">
            <a:extLst>
              <a:ext uri="{FF2B5EF4-FFF2-40B4-BE49-F238E27FC236}">
                <a16:creationId xmlns:a16="http://schemas.microsoft.com/office/drawing/2014/main" id="{3071F28E-A982-4BF3-ABBD-569833088CC2}"/>
              </a:ext>
            </a:extLst>
          </p:cNvPr>
          <p:cNvSpPr>
            <a:spLocks noGrp="1"/>
          </p:cNvSpPr>
          <p:nvPr/>
        </p:nvSpPr>
        <p:spPr>
          <a:xfrm>
            <a:off x="430816" y="1038225"/>
            <a:ext cx="11293412" cy="78105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4. Potential answer</a:t>
            </a:r>
          </a:p>
        </p:txBody>
      </p:sp>
      <p:sp>
        <p:nvSpPr>
          <p:cNvPr id="2" name="s34-rect-2">
            <a:extLst>
              <a:ext uri="{FF2B5EF4-FFF2-40B4-BE49-F238E27FC236}">
                <a16:creationId xmlns:a16="http://schemas.microsoft.com/office/drawing/2014/main" id="{CAF2E965-B936-4771-94D0-550682E638DD}"/>
              </a:ext>
            </a:extLst>
          </p:cNvPr>
          <p:cNvSpPr>
            <a:spLocks noGrp="1"/>
          </p:cNvSpPr>
          <p:nvPr/>
        </p:nvSpPr>
        <p:spPr>
          <a:xfrm>
            <a:off x="8734425" y="476250"/>
            <a:ext cx="3000375" cy="400050"/>
          </a:xfrm>
          <a:prstGeom prst="rect">
            <a:avLst/>
          </a:prstGeom>
          <a:solidFill>
            <a:srgbClr val="D6171D"/>
          </a:solidFill>
          <a:ln w="0">
            <a:noFill/>
          </a:ln>
        </p:spPr>
        <p:txBody>
          <a:bodyPr/>
          <a:lstStyle/>
          <a:p>
            <a:endParaRPr lang="en-US"/>
          </a:p>
        </p:txBody>
      </p:sp>
      <p:sp>
        <p:nvSpPr>
          <p:cNvPr id="3" name="s34-text-3">
            <a:extLst>
              <a:ext uri="{FF2B5EF4-FFF2-40B4-BE49-F238E27FC236}">
                <a16:creationId xmlns:a16="http://schemas.microsoft.com/office/drawing/2014/main" id="{EBDA58ED-1EA2-40DD-B9FA-8C9732BB86FF}"/>
              </a:ext>
            </a:extLst>
          </p:cNvPr>
          <p:cNvSpPr>
            <a:spLocks noGrp="1"/>
          </p:cNvSpPr>
          <p:nvPr/>
        </p:nvSpPr>
        <p:spPr>
          <a:xfrm>
            <a:off x="8829675" y="533400"/>
            <a:ext cx="2809875" cy="323850"/>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C5.4</a:t>
            </a:r>
          </a:p>
        </p:txBody>
      </p:sp>
      <p:sp>
        <p:nvSpPr>
          <p:cNvPr id="4" name="s34-text-4">
            <a:extLst>
              <a:ext uri="{FF2B5EF4-FFF2-40B4-BE49-F238E27FC236}">
                <a16:creationId xmlns:a16="http://schemas.microsoft.com/office/drawing/2014/main" id="{7C61F550-3C26-4BAB-873D-83350262BC34}"/>
              </a:ext>
            </a:extLst>
          </p:cNvPr>
          <p:cNvSpPr>
            <a:spLocks noGrp="1"/>
          </p:cNvSpPr>
          <p:nvPr/>
        </p:nvSpPr>
        <p:spPr>
          <a:xfrm>
            <a:off x="457200" y="2057400"/>
            <a:ext cx="11239500" cy="81915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sz="2325" b="0">
                <a:solidFill>
                  <a:srgbClr val="111111"/>
                </a:solidFill>
                <a:latin typeface="Aptos"/>
                <a:ea typeface="Aptos"/>
                <a:cs typeface="Aptos"/>
              </a:rPr>
              <a:t>Daytime workers or students may be absent.</a:t>
            </a:r>
          </a:p>
        </p:txBody>
      </p:sp>
      <p:sp>
        <p:nvSpPr>
          <p:cNvPr id="5" name="s34-text-5">
            <a:extLst>
              <a:ext uri="{FF2B5EF4-FFF2-40B4-BE49-F238E27FC236}">
                <a16:creationId xmlns:a16="http://schemas.microsoft.com/office/drawing/2014/main" id="{68658C6D-04E0-4324-AF1F-7307BA49AD57}"/>
              </a:ext>
            </a:extLst>
          </p:cNvPr>
          <p:cNvSpPr>
            <a:spLocks noGrp="1"/>
          </p:cNvSpPr>
          <p:nvPr/>
        </p:nvSpPr>
        <p:spPr>
          <a:xfrm>
            <a:off x="457200" y="2943225"/>
            <a:ext cx="11239500" cy="81915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sz="2325" b="0">
                <a:solidFill>
                  <a:srgbClr val="111111"/>
                </a:solidFill>
                <a:latin typeface="Aptos"/>
                <a:ea typeface="Aptos"/>
                <a:cs typeface="Aptos"/>
              </a:rPr>
              <a:t>Bias can occur if missing households have different health outcomes.</a:t>
            </a:r>
          </a:p>
        </p:txBody>
      </p:sp>
      <p:sp>
        <p:nvSpPr>
          <p:cNvPr id="6" name="s34-text-6">
            <a:extLst>
              <a:ext uri="{FF2B5EF4-FFF2-40B4-BE49-F238E27FC236}">
                <a16:creationId xmlns:a16="http://schemas.microsoft.com/office/drawing/2014/main" id="{14A93DD7-BA8C-4ED9-B936-2A32D953562A}"/>
              </a:ext>
            </a:extLst>
          </p:cNvPr>
          <p:cNvSpPr>
            <a:spLocks noGrp="1"/>
          </p:cNvSpPr>
          <p:nvPr/>
        </p:nvSpPr>
        <p:spPr>
          <a:xfrm>
            <a:off x="457200" y="3829050"/>
            <a:ext cx="11239500" cy="81915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sz="2325" b="0">
                <a:solidFill>
                  <a:srgbClr val="111111"/>
                </a:solidFill>
                <a:latin typeface="Aptos"/>
                <a:ea typeface="Aptos"/>
                <a:cs typeface="Aptos"/>
              </a:rPr>
              <a:t>The facts do not show whether health would look better or worse.</a:t>
            </a:r>
          </a:p>
        </p:txBody>
      </p:sp>
      <p:sp>
        <p:nvSpPr>
          <p:cNvPr id="7" name="s34-text-7">
            <a:extLst>
              <a:ext uri="{FF2B5EF4-FFF2-40B4-BE49-F238E27FC236}">
                <a16:creationId xmlns:a16="http://schemas.microsoft.com/office/drawing/2014/main" id="{B2DBCC95-B367-4BE8-BDB7-78B1CDFC2A84}"/>
              </a:ext>
            </a:extLst>
          </p:cNvPr>
          <p:cNvSpPr>
            <a:spLocks noGrp="1"/>
          </p:cNvSpPr>
          <p:nvPr/>
        </p:nvSpPr>
        <p:spPr>
          <a:xfrm>
            <a:off x="457200" y="5210175"/>
            <a:ext cx="11239500" cy="1047750"/>
          </a:xfrm>
          <a:prstGeom prst="rect">
            <a:avLst/>
          </a:prstGeom>
          <a:noFill/>
          <a:ln w="0">
            <a:noFill/>
          </a:ln>
        </p:spPr>
        <p:txBody>
          <a:bodyPr wrap="square" lIns="0" tIns="0" rIns="0" bIns="0" anchor="t">
            <a:noAutofit/>
          </a:bodyPr>
          <a:lstStyle/>
          <a:p>
            <a:pPr algn="l">
              <a:defRPr sz="2325" b="1">
                <a:solidFill>
                  <a:srgbClr val="111111"/>
                </a:solidFill>
                <a:latin typeface="Aptos"/>
                <a:ea typeface="Aptos"/>
                <a:cs typeface="Aptos"/>
              </a:defRPr>
            </a:pPr>
            <a:r>
              <a:rPr sz="2325" b="1">
                <a:solidFill>
                  <a:srgbClr val="111111"/>
                </a:solidFill>
                <a:latin typeface="Aptos"/>
                <a:ea typeface="Aptos"/>
                <a:cs typeface="Aptos"/>
              </a:rPr>
              <a:t>Repair: return to the same households in the evening or at weekends.</a:t>
            </a:r>
          </a:p>
          <a:p>
            <a:pPr algn="l">
              <a:defRPr sz="2325" b="1">
                <a:solidFill>
                  <a:srgbClr val="111111"/>
                </a:solidFill>
                <a:latin typeface="Aptos"/>
                <a:ea typeface="Aptos"/>
                <a:cs typeface="Aptos"/>
              </a:defRPr>
            </a:pPr>
            <a:r>
              <a:rPr sz="2325" b="1">
                <a:solidFill>
                  <a:srgbClr val="111111"/>
                </a:solidFill>
                <a:latin typeface="Aptos"/>
                <a:ea typeface="Aptos"/>
                <a:cs typeface="Aptos"/>
              </a:rPr>
              <a:t>Offer another accessible way to respond.</a:t>
            </a:r>
          </a:p>
        </p:txBody>
      </p:sp>
      <p:sp>
        <p:nvSpPr>
          <p:cNvPr id="8" name="s34-text-8">
            <a:extLst>
              <a:ext uri="{FF2B5EF4-FFF2-40B4-BE49-F238E27FC236}">
                <a16:creationId xmlns:a16="http://schemas.microsoft.com/office/drawing/2014/main" id="{FF36F065-4893-446B-8EE5-CFB1EEE93DBC}"/>
              </a:ext>
            </a:extLst>
          </p:cNvPr>
          <p:cNvSpPr>
            <a:spLocks noGrp="1"/>
          </p:cNvSpPr>
          <p:nvPr/>
        </p:nvSpPr>
        <p:spPr>
          <a:xfrm>
            <a:off x="457200" y="6477000"/>
            <a:ext cx="10763250" cy="238125"/>
          </a:xfrm>
          <a:prstGeom prst="rect">
            <a:avLst/>
          </a:prstGeom>
          <a:noFill/>
          <a:ln w="0">
            <a:noFill/>
          </a:ln>
        </p:spPr>
        <p:txBody>
          <a:bodyPr wrap="square" lIns="0" tIns="0" rIns="0" bIns="0" anchor="t">
            <a:noAutofit/>
          </a:bodyPr>
          <a:lstStyle/>
          <a:p>
            <a:endParaRPr/>
          </a:p>
        </p:txBody>
      </p:sp>
      <p:sp>
        <p:nvSpPr>
          <p:cNvPr id="9" name="s34-text-9">
            <a:extLst>
              <a:ext uri="{FF2B5EF4-FFF2-40B4-BE49-F238E27FC236}">
                <a16:creationId xmlns:a16="http://schemas.microsoft.com/office/drawing/2014/main" id="{7FA489B9-7990-400F-BD4F-59665D197C35}"/>
              </a:ext>
            </a:extLst>
          </p:cNvPr>
          <p:cNvSpPr>
            <a:spLocks noGrp="1"/>
          </p:cNvSpPr>
          <p:nvPr/>
        </p:nvSpPr>
        <p:spPr>
          <a:xfrm>
            <a:off x="11239500" y="6477000"/>
            <a:ext cx="476250" cy="238125"/>
          </a:xfrm>
          <a:prstGeom prst="rect">
            <a:avLst/>
          </a:prstGeom>
          <a:noFill/>
          <a:ln w="0">
            <a:noFill/>
          </a:ln>
        </p:spPr>
        <p:txBody>
          <a:bodyPr wrap="square" lIns="0" tIns="0" rIns="0" bIns="0" anchor="t">
            <a:noAutofit/>
          </a:bodyPr>
          <a:lstStyle/>
          <a:p>
            <a:pPr algn="r">
              <a:defRPr sz="1275" b="0">
                <a:solidFill>
                  <a:srgbClr val="666666"/>
                </a:solidFill>
                <a:latin typeface="Aptos"/>
                <a:ea typeface="Aptos"/>
                <a:cs typeface="Aptos"/>
              </a:defRPr>
            </a:pPr>
            <a:r>
              <a:rPr sz="1275" b="0">
                <a:solidFill>
                  <a:srgbClr val="666666"/>
                </a:solidFill>
                <a:latin typeface="Aptos"/>
                <a:ea typeface="Aptos"/>
                <a:cs typeface="Aptos"/>
              </a:rPr>
              <a:t>34</a:t>
            </a:r>
          </a:p>
        </p:txBody>
      </p:sp>
    </p:spTree>
    <p:extLst>
      <p:ext uri="{BB962C8B-B14F-4D97-AF65-F5344CB8AC3E}">
        <p14:creationId xmlns:p14="http://schemas.microsoft.com/office/powerpoint/2010/main" val="32813612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35-text-1">
            <a:extLst>
              <a:ext uri="{FF2B5EF4-FFF2-40B4-BE49-F238E27FC236}">
                <a16:creationId xmlns:a16="http://schemas.microsoft.com/office/drawing/2014/main" id="{F3B704C6-BEF4-4CE3-9041-5C9856E7CB39}"/>
              </a:ext>
            </a:extLst>
          </p:cNvPr>
          <p:cNvSpPr>
            <a:spLocks noGrp="1"/>
          </p:cNvSpPr>
          <p:nvPr/>
        </p:nvSpPr>
        <p:spPr>
          <a:xfrm>
            <a:off x="430816" y="1038225"/>
            <a:ext cx="11293412" cy="78105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5. Which headline is justified?</a:t>
            </a:r>
          </a:p>
        </p:txBody>
      </p:sp>
      <p:sp>
        <p:nvSpPr>
          <p:cNvPr id="2" name="s35-rect-2">
            <a:extLst>
              <a:ext uri="{FF2B5EF4-FFF2-40B4-BE49-F238E27FC236}">
                <a16:creationId xmlns:a16="http://schemas.microsoft.com/office/drawing/2014/main" id="{C021874D-8591-42E2-8C44-D0BF5A61B5C5}"/>
              </a:ext>
            </a:extLst>
          </p:cNvPr>
          <p:cNvSpPr>
            <a:spLocks noGrp="1"/>
          </p:cNvSpPr>
          <p:nvPr/>
        </p:nvSpPr>
        <p:spPr>
          <a:xfrm>
            <a:off x="8734425" y="476250"/>
            <a:ext cx="3000375" cy="400050"/>
          </a:xfrm>
          <a:prstGeom prst="rect">
            <a:avLst/>
          </a:prstGeom>
          <a:solidFill>
            <a:srgbClr val="D6171D"/>
          </a:solidFill>
          <a:ln w="0">
            <a:noFill/>
          </a:ln>
        </p:spPr>
        <p:txBody>
          <a:bodyPr/>
          <a:lstStyle/>
          <a:p>
            <a:endParaRPr lang="en-US"/>
          </a:p>
        </p:txBody>
      </p:sp>
      <p:sp>
        <p:nvSpPr>
          <p:cNvPr id="3" name="s35-text-3">
            <a:extLst>
              <a:ext uri="{FF2B5EF4-FFF2-40B4-BE49-F238E27FC236}">
                <a16:creationId xmlns:a16="http://schemas.microsoft.com/office/drawing/2014/main" id="{EE5F326E-D36A-49BE-B917-658017633CC4}"/>
              </a:ext>
            </a:extLst>
          </p:cNvPr>
          <p:cNvSpPr>
            <a:spLocks noGrp="1"/>
          </p:cNvSpPr>
          <p:nvPr/>
        </p:nvSpPr>
        <p:spPr>
          <a:xfrm>
            <a:off x="8829675" y="533400"/>
            <a:ext cx="2809875" cy="323850"/>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C5.5</a:t>
            </a:r>
          </a:p>
        </p:txBody>
      </p:sp>
      <p:sp>
        <p:nvSpPr>
          <p:cNvPr id="4" name="s35-text-4">
            <a:extLst>
              <a:ext uri="{FF2B5EF4-FFF2-40B4-BE49-F238E27FC236}">
                <a16:creationId xmlns:a16="http://schemas.microsoft.com/office/drawing/2014/main" id="{24AB7546-D0C9-4D3A-9A71-36CBD512EAA2}"/>
              </a:ext>
            </a:extLst>
          </p:cNvPr>
          <p:cNvSpPr>
            <a:spLocks noGrp="1"/>
          </p:cNvSpPr>
          <p:nvPr/>
        </p:nvSpPr>
        <p:spPr>
          <a:xfrm>
            <a:off x="457200" y="1971675"/>
            <a:ext cx="11239500" cy="657225"/>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sz="2325" b="0">
                <a:solidFill>
                  <a:srgbClr val="111111"/>
                </a:solidFill>
                <a:latin typeface="Aptos"/>
                <a:ea typeface="Aptos"/>
                <a:cs typeface="Aptos"/>
              </a:rPr>
              <a:t>120 Boston residents report their holiday preferences.</a:t>
            </a:r>
          </a:p>
        </p:txBody>
      </p:sp>
      <p:graphicFrame>
        <p:nvGraphicFramePr>
          <p:cNvPr id="18" name="Chart"/>
          <p:cNvGraphicFramePr/>
          <p:nvPr/>
        </p:nvGraphicFramePr>
        <p:xfrm>
          <a:off x="457200" y="2933700"/>
          <a:ext cx="5619750" cy="2714625"/>
        </p:xfrm>
        <a:graphic>
          <a:graphicData uri="http://schemas.openxmlformats.org/drawingml/2006/chart">
            <c:chart xmlns:c="http://schemas.openxmlformats.org/drawingml/2006/chart" xmlns:r="http://schemas.openxmlformats.org/officeDocument/2006/relationships" r:id="rId3"/>
          </a:graphicData>
        </a:graphic>
      </p:graphicFrame>
      <p:sp>
        <p:nvSpPr>
          <p:cNvPr id="6" name="s35-text-5">
            <a:extLst>
              <a:ext uri="{FF2B5EF4-FFF2-40B4-BE49-F238E27FC236}">
                <a16:creationId xmlns:a16="http://schemas.microsoft.com/office/drawing/2014/main" id="{63234EB3-78EC-48D3-AE92-2636916D2956}"/>
              </a:ext>
            </a:extLst>
          </p:cNvPr>
          <p:cNvSpPr>
            <a:spLocks noGrp="1"/>
          </p:cNvSpPr>
          <p:nvPr/>
        </p:nvSpPr>
        <p:spPr>
          <a:xfrm>
            <a:off x="6810375" y="2924175"/>
            <a:ext cx="4810125" cy="895350"/>
          </a:xfrm>
          <a:prstGeom prst="rect">
            <a:avLst/>
          </a:prstGeom>
          <a:noFill/>
          <a:ln w="0">
            <a:noFill/>
          </a:ln>
        </p:spPr>
        <p:txBody>
          <a:bodyPr wrap="square" lIns="0" tIns="0" rIns="0" bIns="0" anchor="t">
            <a:noAutofit/>
          </a:bodyPr>
          <a:lstStyle/>
          <a:p>
            <a:pPr algn="l">
              <a:defRPr sz="2100" b="0">
                <a:solidFill>
                  <a:srgbClr val="111111"/>
                </a:solidFill>
                <a:latin typeface="Aptos"/>
                <a:ea typeface="Aptos"/>
                <a:cs typeface="Aptos"/>
              </a:defRPr>
            </a:pPr>
            <a:r>
              <a:rPr sz="2100" b="0">
                <a:solidFill>
                  <a:srgbClr val="111111"/>
                </a:solidFill>
                <a:latin typeface="Aptos"/>
                <a:ea typeface="Aptos"/>
                <a:cs typeface="Aptos"/>
              </a:rPr>
              <a:t>A. “35% of Boston residents</a:t>
            </a:r>
          </a:p>
          <a:p>
            <a:pPr algn="l">
              <a:defRPr sz="2100" b="0">
                <a:solidFill>
                  <a:srgbClr val="111111"/>
                </a:solidFill>
                <a:latin typeface="Aptos"/>
                <a:ea typeface="Aptos"/>
                <a:cs typeface="Aptos"/>
              </a:defRPr>
            </a:pPr>
            <a:r>
              <a:rPr sz="2100" b="0">
                <a:solidFill>
                  <a:srgbClr val="111111"/>
                </a:solidFill>
                <a:latin typeface="Aptos"/>
                <a:ea typeface="Aptos"/>
                <a:cs typeface="Aptos"/>
              </a:rPr>
              <a:t>     prefer Massachusetts.”</a:t>
            </a:r>
          </a:p>
        </p:txBody>
      </p:sp>
      <p:sp>
        <p:nvSpPr>
          <p:cNvPr id="7" name="s35-text-6">
            <a:extLst>
              <a:ext uri="{FF2B5EF4-FFF2-40B4-BE49-F238E27FC236}">
                <a16:creationId xmlns:a16="http://schemas.microsoft.com/office/drawing/2014/main" id="{C1943B29-1E53-46C1-BA39-5694EB97DAED}"/>
              </a:ext>
            </a:extLst>
          </p:cNvPr>
          <p:cNvSpPr>
            <a:spLocks noGrp="1"/>
          </p:cNvSpPr>
          <p:nvPr/>
        </p:nvSpPr>
        <p:spPr>
          <a:xfrm>
            <a:off x="6810375" y="4000500"/>
            <a:ext cx="4810125" cy="933450"/>
          </a:xfrm>
          <a:prstGeom prst="rect">
            <a:avLst/>
          </a:prstGeom>
          <a:noFill/>
          <a:ln w="0">
            <a:noFill/>
          </a:ln>
        </p:spPr>
        <p:txBody>
          <a:bodyPr wrap="square" lIns="0" tIns="0" rIns="0" bIns="0" anchor="t">
            <a:noAutofit/>
          </a:bodyPr>
          <a:lstStyle/>
          <a:p>
            <a:pPr algn="l">
              <a:defRPr sz="2100" b="0">
                <a:solidFill>
                  <a:srgbClr val="111111"/>
                </a:solidFill>
                <a:latin typeface="Aptos"/>
                <a:ea typeface="Aptos"/>
                <a:cs typeface="Aptos"/>
              </a:defRPr>
            </a:pPr>
            <a:r>
              <a:rPr sz="2100" b="0">
                <a:solidFill>
                  <a:srgbClr val="111111"/>
                </a:solidFill>
                <a:latin typeface="Aptos"/>
                <a:ea typeface="Aptos"/>
                <a:cs typeface="Aptos"/>
              </a:rPr>
              <a:t>B. “Massachusetts is the top choice</a:t>
            </a:r>
          </a:p>
          <a:p>
            <a:pPr algn="l">
              <a:defRPr sz="2100" b="0">
                <a:solidFill>
                  <a:srgbClr val="111111"/>
                </a:solidFill>
                <a:latin typeface="Aptos"/>
                <a:ea typeface="Aptos"/>
                <a:cs typeface="Aptos"/>
              </a:defRPr>
            </a:pPr>
            <a:r>
              <a:rPr sz="2100" b="0">
                <a:solidFill>
                  <a:srgbClr val="111111"/>
                </a:solidFill>
                <a:latin typeface="Aptos"/>
                <a:ea typeface="Aptos"/>
                <a:cs typeface="Aptos"/>
              </a:rPr>
              <a:t>     among the 120 respondents.”</a:t>
            </a:r>
          </a:p>
        </p:txBody>
      </p:sp>
      <p:sp>
        <p:nvSpPr>
          <p:cNvPr id="8" name="s35-text-7">
            <a:extLst>
              <a:ext uri="{FF2B5EF4-FFF2-40B4-BE49-F238E27FC236}">
                <a16:creationId xmlns:a16="http://schemas.microsoft.com/office/drawing/2014/main" id="{B0FD12F8-6CF5-4CEB-9923-8E641183A6C0}"/>
              </a:ext>
            </a:extLst>
          </p:cNvPr>
          <p:cNvSpPr>
            <a:spLocks noGrp="1"/>
          </p:cNvSpPr>
          <p:nvPr/>
        </p:nvSpPr>
        <p:spPr>
          <a:xfrm>
            <a:off x="6810375" y="5038725"/>
            <a:ext cx="4810125" cy="819150"/>
          </a:xfrm>
          <a:prstGeom prst="rect">
            <a:avLst/>
          </a:prstGeom>
          <a:noFill/>
          <a:ln w="0">
            <a:noFill/>
          </a:ln>
        </p:spPr>
        <p:txBody>
          <a:bodyPr wrap="square" lIns="0" tIns="0" rIns="0" bIns="0" anchor="t">
            <a:noAutofit/>
          </a:bodyPr>
          <a:lstStyle/>
          <a:p>
            <a:pPr algn="l">
              <a:defRPr sz="2025" b="0">
                <a:solidFill>
                  <a:srgbClr val="111111"/>
                </a:solidFill>
                <a:latin typeface="Aptos"/>
                <a:ea typeface="Aptos"/>
                <a:cs typeface="Aptos"/>
              </a:defRPr>
            </a:pPr>
            <a:r>
              <a:rPr sz="2025" b="0">
                <a:solidFill>
                  <a:srgbClr val="111111"/>
                </a:solidFill>
                <a:latin typeface="Aptos"/>
                <a:ea typeface="Aptos"/>
                <a:cs typeface="Aptos"/>
              </a:rPr>
              <a:t>C. “The sample is representative</a:t>
            </a:r>
          </a:p>
          <a:p>
            <a:pPr algn="l">
              <a:defRPr sz="2025" b="0">
                <a:solidFill>
                  <a:srgbClr val="111111"/>
                </a:solidFill>
                <a:latin typeface="Aptos"/>
                <a:ea typeface="Aptos"/>
                <a:cs typeface="Aptos"/>
              </a:defRPr>
            </a:pPr>
            <a:r>
              <a:rPr sz="2025" b="0">
                <a:solidFill>
                  <a:srgbClr val="111111"/>
                </a:solidFill>
                <a:latin typeface="Aptos"/>
                <a:ea typeface="Aptos"/>
                <a:cs typeface="Aptos"/>
              </a:rPr>
              <a:t>     because the percentages total 100.”</a:t>
            </a:r>
          </a:p>
        </p:txBody>
      </p:sp>
      <p:sp>
        <p:nvSpPr>
          <p:cNvPr id="9" name="s35-rect-8">
            <a:extLst>
              <a:ext uri="{FF2B5EF4-FFF2-40B4-BE49-F238E27FC236}">
                <a16:creationId xmlns:a16="http://schemas.microsoft.com/office/drawing/2014/main" id="{990D5F72-10F5-46F0-A83F-FC567C73127C}"/>
              </a:ext>
            </a:extLst>
          </p:cNvPr>
          <p:cNvSpPr>
            <a:spLocks noGrp="1"/>
          </p:cNvSpPr>
          <p:nvPr/>
        </p:nvSpPr>
        <p:spPr>
          <a:xfrm>
            <a:off x="428625" y="5895975"/>
            <a:ext cx="2762250" cy="400050"/>
          </a:xfrm>
          <a:prstGeom prst="rect">
            <a:avLst/>
          </a:prstGeom>
          <a:solidFill>
            <a:srgbClr val="D6171D"/>
          </a:solidFill>
          <a:ln w="0">
            <a:noFill/>
          </a:ln>
        </p:spPr>
        <p:txBody>
          <a:bodyPr/>
          <a:lstStyle/>
          <a:p>
            <a:endParaRPr lang="en-US"/>
          </a:p>
        </p:txBody>
      </p:sp>
      <p:sp>
        <p:nvSpPr>
          <p:cNvPr id="10" name="s35-text-9">
            <a:extLst>
              <a:ext uri="{FF2B5EF4-FFF2-40B4-BE49-F238E27FC236}">
                <a16:creationId xmlns:a16="http://schemas.microsoft.com/office/drawing/2014/main" id="{03E9F9CF-6D47-4A08-BC4B-802BFCF3CA01}"/>
              </a:ext>
            </a:extLst>
          </p:cNvPr>
          <p:cNvSpPr>
            <a:spLocks noGrp="1"/>
          </p:cNvSpPr>
          <p:nvPr/>
        </p:nvSpPr>
        <p:spPr>
          <a:xfrm>
            <a:off x="523875" y="5953125"/>
            <a:ext cx="2571750" cy="323850"/>
          </a:xfrm>
          <a:prstGeom prst="rect">
            <a:avLst/>
          </a:prstGeom>
          <a:noFill/>
          <a:ln w="0">
            <a:noFill/>
          </a:ln>
        </p:spPr>
        <p:txBody>
          <a:bodyPr wrap="square" lIns="0" tIns="0" rIns="0" bIns="0" anchor="t">
            <a:noAutofit/>
          </a:bodyPr>
          <a:lstStyle/>
          <a:p>
            <a:pPr algn="ctr">
              <a:defRPr sz="1800" b="1">
                <a:solidFill>
                  <a:srgbClr val="FFFFFF"/>
                </a:solidFill>
                <a:latin typeface="Aptos"/>
                <a:ea typeface="Aptos"/>
                <a:cs typeface="Aptos"/>
              </a:defRPr>
            </a:pPr>
            <a:r>
              <a:rPr sz="1800" b="1">
                <a:solidFill>
                  <a:srgbClr val="FFFFFF"/>
                </a:solidFill>
                <a:latin typeface="Aptos"/>
                <a:ea typeface="Aptos"/>
                <a:cs typeface="Aptos"/>
              </a:rPr>
              <a:t>DISCUSS   2 MIN</a:t>
            </a:r>
          </a:p>
        </p:txBody>
      </p:sp>
      <p:sp>
        <p:nvSpPr>
          <p:cNvPr id="11" name="s35-text-10">
            <a:extLst>
              <a:ext uri="{FF2B5EF4-FFF2-40B4-BE49-F238E27FC236}">
                <a16:creationId xmlns:a16="http://schemas.microsoft.com/office/drawing/2014/main" id="{F45304B5-B7B3-48E6-A765-7FDB3BB5574F}"/>
              </a:ext>
            </a:extLst>
          </p:cNvPr>
          <p:cNvSpPr>
            <a:spLocks noGrp="1"/>
          </p:cNvSpPr>
          <p:nvPr/>
        </p:nvSpPr>
        <p:spPr>
          <a:xfrm>
            <a:off x="3381375" y="5905500"/>
            <a:ext cx="8286750" cy="457200"/>
          </a:xfrm>
          <a:prstGeom prst="rect">
            <a:avLst/>
          </a:prstGeom>
          <a:noFill/>
          <a:ln w="0">
            <a:noFill/>
          </a:ln>
        </p:spPr>
        <p:txBody>
          <a:bodyPr wrap="square" lIns="0" tIns="0" rIns="0" bIns="0" anchor="t">
            <a:noAutofit/>
          </a:bodyPr>
          <a:lstStyle/>
          <a:p>
            <a:pPr algn="l">
              <a:defRPr sz="2100" b="1">
                <a:solidFill>
                  <a:srgbClr val="111111"/>
                </a:solidFill>
                <a:latin typeface="Aptos"/>
                <a:ea typeface="Aptos"/>
                <a:cs typeface="Aptos"/>
              </a:defRPr>
            </a:pPr>
            <a:r>
              <a:rPr sz="2100" b="1">
                <a:solidFill>
                  <a:srgbClr val="111111"/>
                </a:solidFill>
                <a:latin typeface="Aptos"/>
                <a:ea typeface="Aptos"/>
                <a:cs typeface="Aptos"/>
              </a:rPr>
              <a:t>Choose a supported headline. Rewrite an unsupported one.</a:t>
            </a:r>
          </a:p>
        </p:txBody>
      </p:sp>
      <p:sp>
        <p:nvSpPr>
          <p:cNvPr id="12" name="s35-text-11">
            <a:extLst>
              <a:ext uri="{FF2B5EF4-FFF2-40B4-BE49-F238E27FC236}">
                <a16:creationId xmlns:a16="http://schemas.microsoft.com/office/drawing/2014/main" id="{5554970B-EF1D-4B43-BBF5-42F47889C308}"/>
              </a:ext>
            </a:extLst>
          </p:cNvPr>
          <p:cNvSpPr>
            <a:spLocks noGrp="1"/>
          </p:cNvSpPr>
          <p:nvPr/>
        </p:nvSpPr>
        <p:spPr>
          <a:xfrm>
            <a:off x="457200" y="6477000"/>
            <a:ext cx="10763250" cy="238125"/>
          </a:xfrm>
          <a:prstGeom prst="rect">
            <a:avLst/>
          </a:prstGeom>
          <a:noFill/>
          <a:ln w="0">
            <a:noFill/>
          </a:ln>
        </p:spPr>
        <p:txBody>
          <a:bodyPr wrap="square" lIns="0" tIns="0" rIns="0" bIns="0" anchor="t">
            <a:noAutofit/>
          </a:bodyPr>
          <a:lstStyle/>
          <a:p>
            <a:endParaRPr/>
          </a:p>
        </p:txBody>
      </p:sp>
      <p:sp>
        <p:nvSpPr>
          <p:cNvPr id="13" name="s35-text-12">
            <a:extLst>
              <a:ext uri="{FF2B5EF4-FFF2-40B4-BE49-F238E27FC236}">
                <a16:creationId xmlns:a16="http://schemas.microsoft.com/office/drawing/2014/main" id="{396696B3-B351-4403-A4DC-C4053B1305E0}"/>
              </a:ext>
            </a:extLst>
          </p:cNvPr>
          <p:cNvSpPr>
            <a:spLocks noGrp="1"/>
          </p:cNvSpPr>
          <p:nvPr/>
        </p:nvSpPr>
        <p:spPr>
          <a:xfrm>
            <a:off x="11239500" y="6477000"/>
            <a:ext cx="476250" cy="238125"/>
          </a:xfrm>
          <a:prstGeom prst="rect">
            <a:avLst/>
          </a:prstGeom>
          <a:noFill/>
          <a:ln w="0">
            <a:noFill/>
          </a:ln>
        </p:spPr>
        <p:txBody>
          <a:bodyPr wrap="square" lIns="0" tIns="0" rIns="0" bIns="0" anchor="t">
            <a:noAutofit/>
          </a:bodyPr>
          <a:lstStyle/>
          <a:p>
            <a:pPr algn="r">
              <a:defRPr sz="1275" b="0">
                <a:solidFill>
                  <a:srgbClr val="666666"/>
                </a:solidFill>
                <a:latin typeface="Aptos"/>
                <a:ea typeface="Aptos"/>
                <a:cs typeface="Aptos"/>
              </a:defRPr>
            </a:pPr>
            <a:r>
              <a:rPr sz="1275" b="0">
                <a:solidFill>
                  <a:srgbClr val="666666"/>
                </a:solidFill>
                <a:latin typeface="Aptos"/>
                <a:ea typeface="Aptos"/>
                <a:cs typeface="Aptos"/>
              </a:rPr>
              <a:t>35</a:t>
            </a:r>
          </a:p>
        </p:txBody>
      </p:sp>
    </p:spTree>
    <p:extLst>
      <p:ext uri="{BB962C8B-B14F-4D97-AF65-F5344CB8AC3E}">
        <p14:creationId xmlns:p14="http://schemas.microsoft.com/office/powerpoint/2010/main" val="32813612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36-text-1">
            <a:extLst>
              <a:ext uri="{FF2B5EF4-FFF2-40B4-BE49-F238E27FC236}">
                <a16:creationId xmlns:a16="http://schemas.microsoft.com/office/drawing/2014/main" id="{B54850B4-514D-4FE6-B382-115898DE54E1}"/>
              </a:ext>
            </a:extLst>
          </p:cNvPr>
          <p:cNvSpPr>
            <a:spLocks noGrp="1"/>
          </p:cNvSpPr>
          <p:nvPr/>
        </p:nvSpPr>
        <p:spPr>
          <a:xfrm>
            <a:off x="430816" y="1038225"/>
            <a:ext cx="11293412" cy="78105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5. Potential answer</a:t>
            </a:r>
          </a:p>
        </p:txBody>
      </p:sp>
      <p:sp>
        <p:nvSpPr>
          <p:cNvPr id="2" name="s36-rect-2">
            <a:extLst>
              <a:ext uri="{FF2B5EF4-FFF2-40B4-BE49-F238E27FC236}">
                <a16:creationId xmlns:a16="http://schemas.microsoft.com/office/drawing/2014/main" id="{EFAC63C4-B1CE-4765-96E5-9FE4C47C3E31}"/>
              </a:ext>
            </a:extLst>
          </p:cNvPr>
          <p:cNvSpPr>
            <a:spLocks noGrp="1"/>
          </p:cNvSpPr>
          <p:nvPr/>
        </p:nvSpPr>
        <p:spPr>
          <a:xfrm>
            <a:off x="8734425" y="476250"/>
            <a:ext cx="3000375" cy="400050"/>
          </a:xfrm>
          <a:prstGeom prst="rect">
            <a:avLst/>
          </a:prstGeom>
          <a:solidFill>
            <a:srgbClr val="D6171D"/>
          </a:solidFill>
          <a:ln w="0">
            <a:noFill/>
          </a:ln>
        </p:spPr>
        <p:txBody>
          <a:bodyPr/>
          <a:lstStyle/>
          <a:p>
            <a:endParaRPr lang="en-US"/>
          </a:p>
        </p:txBody>
      </p:sp>
      <p:sp>
        <p:nvSpPr>
          <p:cNvPr id="3" name="s36-text-3">
            <a:extLst>
              <a:ext uri="{FF2B5EF4-FFF2-40B4-BE49-F238E27FC236}">
                <a16:creationId xmlns:a16="http://schemas.microsoft.com/office/drawing/2014/main" id="{C591ED64-E08B-4C93-8AEB-60CB8B009832}"/>
              </a:ext>
            </a:extLst>
          </p:cNvPr>
          <p:cNvSpPr>
            <a:spLocks noGrp="1"/>
          </p:cNvSpPr>
          <p:nvPr/>
        </p:nvSpPr>
        <p:spPr>
          <a:xfrm>
            <a:off x="8829675" y="533400"/>
            <a:ext cx="2809875" cy="323850"/>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C5.5</a:t>
            </a:r>
          </a:p>
        </p:txBody>
      </p:sp>
      <p:sp>
        <p:nvSpPr>
          <p:cNvPr id="4" name="s36-text-4">
            <a:extLst>
              <a:ext uri="{FF2B5EF4-FFF2-40B4-BE49-F238E27FC236}">
                <a16:creationId xmlns:a16="http://schemas.microsoft.com/office/drawing/2014/main" id="{87F182A0-BC5C-43D1-9777-B7792F86EB2A}"/>
              </a:ext>
            </a:extLst>
          </p:cNvPr>
          <p:cNvSpPr>
            <a:spLocks noGrp="1"/>
          </p:cNvSpPr>
          <p:nvPr/>
        </p:nvSpPr>
        <p:spPr>
          <a:xfrm>
            <a:off x="457200" y="1971675"/>
            <a:ext cx="11239500" cy="685800"/>
          </a:xfrm>
          <a:prstGeom prst="rect">
            <a:avLst/>
          </a:prstGeom>
          <a:noFill/>
          <a:ln w="0">
            <a:noFill/>
          </a:ln>
        </p:spPr>
        <p:txBody>
          <a:bodyPr wrap="square" lIns="0" tIns="0" rIns="0" bIns="0" anchor="t">
            <a:noAutofit/>
          </a:bodyPr>
          <a:lstStyle/>
          <a:p>
            <a:pPr algn="l">
              <a:defRPr sz="2550" b="1">
                <a:solidFill>
                  <a:srgbClr val="111111"/>
                </a:solidFill>
                <a:latin typeface="Aptos"/>
                <a:ea typeface="Aptos"/>
                <a:cs typeface="Aptos"/>
              </a:defRPr>
            </a:pPr>
            <a:r>
              <a:rPr sz="2550" b="1">
                <a:solidFill>
                  <a:srgbClr val="111111"/>
                </a:solidFill>
                <a:latin typeface="Aptos"/>
                <a:ea typeface="Aptos"/>
                <a:cs typeface="Aptos"/>
              </a:rPr>
              <a:t>B is supported: 35% is the largest reported category.</a:t>
            </a:r>
          </a:p>
        </p:txBody>
      </p:sp>
      <p:sp>
        <p:nvSpPr>
          <p:cNvPr id="5" name="s36-text-5">
            <a:extLst>
              <a:ext uri="{FF2B5EF4-FFF2-40B4-BE49-F238E27FC236}">
                <a16:creationId xmlns:a16="http://schemas.microsoft.com/office/drawing/2014/main" id="{3CBB25C3-F8F5-4E10-8AFD-134B894B59D6}"/>
              </a:ext>
            </a:extLst>
          </p:cNvPr>
          <p:cNvSpPr>
            <a:spLocks noGrp="1"/>
          </p:cNvSpPr>
          <p:nvPr/>
        </p:nvSpPr>
        <p:spPr>
          <a:xfrm>
            <a:off x="457200" y="3190875"/>
            <a:ext cx="11239500" cy="1095375"/>
          </a:xfrm>
          <a:prstGeom prst="rect">
            <a:avLst/>
          </a:prstGeom>
          <a:noFill/>
          <a:ln w="0">
            <a:noFill/>
          </a:ln>
        </p:spPr>
        <p:txBody>
          <a:bodyPr wrap="square" lIns="0" tIns="0" rIns="0" bIns="0" anchor="t">
            <a:noAutofit/>
          </a:bodyPr>
          <a:lstStyle/>
          <a:p>
            <a:pPr algn="l">
              <a:defRPr sz="2400" b="0">
                <a:solidFill>
                  <a:srgbClr val="111111"/>
                </a:solidFill>
                <a:latin typeface="Aptos"/>
                <a:ea typeface="Aptos"/>
                <a:cs typeface="Aptos"/>
              </a:defRPr>
            </a:pPr>
            <a:r>
              <a:rPr sz="2400" b="0">
                <a:solidFill>
                  <a:srgbClr val="111111"/>
                </a:solidFill>
                <a:latin typeface="Aptos"/>
                <a:ea typeface="Aptos"/>
                <a:cs typeface="Aptos"/>
              </a:rPr>
              <a:t>A can become:</a:t>
            </a:r>
          </a:p>
          <a:p>
            <a:pPr algn="l">
              <a:defRPr sz="2400" b="0">
                <a:solidFill>
                  <a:srgbClr val="111111"/>
                </a:solidFill>
                <a:latin typeface="Aptos"/>
                <a:ea typeface="Aptos"/>
                <a:cs typeface="Aptos"/>
              </a:defRPr>
            </a:pPr>
            <a:r>
              <a:rPr sz="2400" b="0">
                <a:solidFill>
                  <a:srgbClr val="111111"/>
                </a:solidFill>
                <a:latin typeface="Aptos"/>
                <a:ea typeface="Aptos"/>
                <a:cs typeface="Aptos"/>
              </a:rPr>
              <a:t>“Among the 120 surveyed residents, 35% selected Massachusetts.”</a:t>
            </a:r>
          </a:p>
        </p:txBody>
      </p:sp>
      <p:sp>
        <p:nvSpPr>
          <p:cNvPr id="6" name="s36-text-6">
            <a:extLst>
              <a:ext uri="{FF2B5EF4-FFF2-40B4-BE49-F238E27FC236}">
                <a16:creationId xmlns:a16="http://schemas.microsoft.com/office/drawing/2014/main" id="{78D9F4EC-DF93-4AA7-8E42-800D791CF981}"/>
              </a:ext>
            </a:extLst>
          </p:cNvPr>
          <p:cNvSpPr>
            <a:spLocks noGrp="1"/>
          </p:cNvSpPr>
          <p:nvPr/>
        </p:nvSpPr>
        <p:spPr>
          <a:xfrm>
            <a:off x="457200" y="4638675"/>
            <a:ext cx="11239500" cy="66675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sz="2325" b="0">
                <a:solidFill>
                  <a:srgbClr val="111111"/>
                </a:solidFill>
                <a:latin typeface="Aptos"/>
                <a:ea typeface="Aptos"/>
                <a:cs typeface="Aptos"/>
              </a:rPr>
              <a:t>A total of 100% does not establish representativeness.</a:t>
            </a:r>
          </a:p>
        </p:txBody>
      </p:sp>
      <p:sp>
        <p:nvSpPr>
          <p:cNvPr id="7" name="s36-text-7">
            <a:extLst>
              <a:ext uri="{FF2B5EF4-FFF2-40B4-BE49-F238E27FC236}">
                <a16:creationId xmlns:a16="http://schemas.microsoft.com/office/drawing/2014/main" id="{30817441-9698-4560-BDF8-3561969F18F5}"/>
              </a:ext>
            </a:extLst>
          </p:cNvPr>
          <p:cNvSpPr>
            <a:spLocks noGrp="1"/>
          </p:cNvSpPr>
          <p:nvPr/>
        </p:nvSpPr>
        <p:spPr>
          <a:xfrm>
            <a:off x="457200" y="5591175"/>
            <a:ext cx="11239500" cy="647700"/>
          </a:xfrm>
          <a:prstGeom prst="rect">
            <a:avLst/>
          </a:prstGeom>
          <a:noFill/>
          <a:ln w="0">
            <a:noFill/>
          </a:ln>
        </p:spPr>
        <p:txBody>
          <a:bodyPr wrap="square" lIns="0" tIns="0" rIns="0" bIns="0" anchor="t">
            <a:noAutofit/>
          </a:bodyPr>
          <a:lstStyle/>
          <a:p>
            <a:pPr algn="l">
              <a:defRPr sz="2175" b="1">
                <a:solidFill>
                  <a:srgbClr val="111111"/>
                </a:solidFill>
                <a:latin typeface="Aptos"/>
                <a:ea typeface="Aptos"/>
                <a:cs typeface="Aptos"/>
              </a:defRPr>
            </a:pPr>
            <a:r>
              <a:rPr sz="2175" b="1">
                <a:solidFill>
                  <a:srgbClr val="111111"/>
                </a:solidFill>
                <a:latin typeface="Aptos"/>
                <a:ea typeface="Aptos"/>
                <a:cs typeface="Aptos"/>
              </a:rPr>
              <a:t>We still need the selection process, coverage and response information.</a:t>
            </a:r>
          </a:p>
        </p:txBody>
      </p:sp>
      <p:sp>
        <p:nvSpPr>
          <p:cNvPr id="8" name="s36-text-8">
            <a:extLst>
              <a:ext uri="{FF2B5EF4-FFF2-40B4-BE49-F238E27FC236}">
                <a16:creationId xmlns:a16="http://schemas.microsoft.com/office/drawing/2014/main" id="{0A885CAF-03BD-40AF-8203-723CD00377FB}"/>
              </a:ext>
            </a:extLst>
          </p:cNvPr>
          <p:cNvSpPr>
            <a:spLocks noGrp="1"/>
          </p:cNvSpPr>
          <p:nvPr/>
        </p:nvSpPr>
        <p:spPr>
          <a:xfrm>
            <a:off x="457200" y="6477000"/>
            <a:ext cx="10763250" cy="238125"/>
          </a:xfrm>
          <a:prstGeom prst="rect">
            <a:avLst/>
          </a:prstGeom>
          <a:noFill/>
          <a:ln w="0">
            <a:noFill/>
          </a:ln>
        </p:spPr>
        <p:txBody>
          <a:bodyPr wrap="square" lIns="0" tIns="0" rIns="0" bIns="0" anchor="t">
            <a:noAutofit/>
          </a:bodyPr>
          <a:lstStyle/>
          <a:p>
            <a:endParaRPr/>
          </a:p>
        </p:txBody>
      </p:sp>
      <p:sp>
        <p:nvSpPr>
          <p:cNvPr id="9" name="s36-text-9">
            <a:extLst>
              <a:ext uri="{FF2B5EF4-FFF2-40B4-BE49-F238E27FC236}">
                <a16:creationId xmlns:a16="http://schemas.microsoft.com/office/drawing/2014/main" id="{AFBE2D97-2306-4C37-A2FF-323AB84D1267}"/>
              </a:ext>
            </a:extLst>
          </p:cNvPr>
          <p:cNvSpPr>
            <a:spLocks noGrp="1"/>
          </p:cNvSpPr>
          <p:nvPr/>
        </p:nvSpPr>
        <p:spPr>
          <a:xfrm>
            <a:off x="11239500" y="6477000"/>
            <a:ext cx="476250" cy="238125"/>
          </a:xfrm>
          <a:prstGeom prst="rect">
            <a:avLst/>
          </a:prstGeom>
          <a:noFill/>
          <a:ln w="0">
            <a:noFill/>
          </a:ln>
        </p:spPr>
        <p:txBody>
          <a:bodyPr wrap="square" lIns="0" tIns="0" rIns="0" bIns="0" anchor="t">
            <a:noAutofit/>
          </a:bodyPr>
          <a:lstStyle/>
          <a:p>
            <a:pPr algn="r">
              <a:defRPr sz="1275" b="0">
                <a:solidFill>
                  <a:srgbClr val="666666"/>
                </a:solidFill>
                <a:latin typeface="Aptos"/>
                <a:ea typeface="Aptos"/>
                <a:cs typeface="Aptos"/>
              </a:defRPr>
            </a:pPr>
            <a:r>
              <a:rPr sz="1275" b="0">
                <a:solidFill>
                  <a:srgbClr val="666666"/>
                </a:solidFill>
                <a:latin typeface="Aptos"/>
                <a:ea typeface="Aptos"/>
                <a:cs typeface="Aptos"/>
              </a:rPr>
              <a:t>36</a:t>
            </a:r>
          </a:p>
        </p:txBody>
      </p:sp>
    </p:spTree>
    <p:extLst>
      <p:ext uri="{BB962C8B-B14F-4D97-AF65-F5344CB8AC3E}">
        <p14:creationId xmlns:p14="http://schemas.microsoft.com/office/powerpoint/2010/main" val="32813612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37-text-1">
            <a:extLst>
              <a:ext uri="{FF2B5EF4-FFF2-40B4-BE49-F238E27FC236}">
                <a16:creationId xmlns:a16="http://schemas.microsoft.com/office/drawing/2014/main" id="{97118655-13A9-4CC8-B6DF-B935934EEEC5}"/>
              </a:ext>
            </a:extLst>
          </p:cNvPr>
          <p:cNvSpPr>
            <a:spLocks noGrp="1"/>
          </p:cNvSpPr>
          <p:nvPr/>
        </p:nvSpPr>
        <p:spPr>
          <a:xfrm>
            <a:off x="430816" y="1038225"/>
            <a:ext cx="11293412" cy="78105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6. A pattern in the register</a:t>
            </a:r>
          </a:p>
        </p:txBody>
      </p:sp>
      <p:sp>
        <p:nvSpPr>
          <p:cNvPr id="2" name="s37-rect-2">
            <a:extLst>
              <a:ext uri="{FF2B5EF4-FFF2-40B4-BE49-F238E27FC236}">
                <a16:creationId xmlns:a16="http://schemas.microsoft.com/office/drawing/2014/main" id="{157EA16E-7E12-4580-8F09-CDDE00C13AD4}"/>
              </a:ext>
            </a:extLst>
          </p:cNvPr>
          <p:cNvSpPr>
            <a:spLocks noGrp="1"/>
          </p:cNvSpPr>
          <p:nvPr/>
        </p:nvSpPr>
        <p:spPr>
          <a:xfrm>
            <a:off x="8734425" y="476250"/>
            <a:ext cx="3000375" cy="400050"/>
          </a:xfrm>
          <a:prstGeom prst="rect">
            <a:avLst/>
          </a:prstGeom>
          <a:solidFill>
            <a:srgbClr val="D6171D"/>
          </a:solidFill>
          <a:ln w="0">
            <a:noFill/>
          </a:ln>
        </p:spPr>
        <p:txBody>
          <a:bodyPr/>
          <a:lstStyle/>
          <a:p>
            <a:endParaRPr lang="en-US"/>
          </a:p>
        </p:txBody>
      </p:sp>
      <p:sp>
        <p:nvSpPr>
          <p:cNvPr id="3" name="s37-text-3">
            <a:extLst>
              <a:ext uri="{FF2B5EF4-FFF2-40B4-BE49-F238E27FC236}">
                <a16:creationId xmlns:a16="http://schemas.microsoft.com/office/drawing/2014/main" id="{08F814BA-A267-4B7A-BD48-24B25CA0D6E3}"/>
              </a:ext>
            </a:extLst>
          </p:cNvPr>
          <p:cNvSpPr>
            <a:spLocks noGrp="1"/>
          </p:cNvSpPr>
          <p:nvPr/>
        </p:nvSpPr>
        <p:spPr>
          <a:xfrm>
            <a:off x="8829675" y="533400"/>
            <a:ext cx="2809875" cy="323850"/>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C5.6</a:t>
            </a:r>
          </a:p>
        </p:txBody>
      </p:sp>
      <p:sp>
        <p:nvSpPr>
          <p:cNvPr id="4" name="s37-text-4">
            <a:extLst>
              <a:ext uri="{FF2B5EF4-FFF2-40B4-BE49-F238E27FC236}">
                <a16:creationId xmlns:a16="http://schemas.microsoft.com/office/drawing/2014/main" id="{67F94679-084E-45D0-B276-8972FF1403EE}"/>
              </a:ext>
            </a:extLst>
          </p:cNvPr>
          <p:cNvSpPr>
            <a:spLocks noGrp="1"/>
          </p:cNvSpPr>
          <p:nvPr/>
        </p:nvSpPr>
        <p:spPr>
          <a:xfrm>
            <a:off x="457200" y="1971675"/>
            <a:ext cx="11239500" cy="942975"/>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sz="2325" b="0">
                <a:solidFill>
                  <a:srgbClr val="111111"/>
                </a:solidFill>
                <a:latin typeface="Aptos"/>
                <a:ea typeface="Aptos"/>
                <a:cs typeface="Aptos"/>
              </a:rPr>
              <a:t>Each block of 21 register positions has 20 day students,</a:t>
            </a:r>
          </a:p>
          <a:p>
            <a:pPr algn="l">
              <a:defRPr sz="2325" b="0">
                <a:solidFill>
                  <a:srgbClr val="111111"/>
                </a:solidFill>
                <a:latin typeface="Aptos"/>
                <a:ea typeface="Aptos"/>
                <a:cs typeface="Aptos"/>
              </a:defRPr>
            </a:pPr>
            <a:r>
              <a:rPr sz="2325" b="0">
                <a:solidFill>
                  <a:srgbClr val="111111"/>
                </a:solidFill>
                <a:latin typeface="Aptos"/>
                <a:ea typeface="Aptos"/>
                <a:cs typeface="Aptos"/>
              </a:rPr>
              <a:t>then one evening student. Select every 21st student.</a:t>
            </a:r>
          </a:p>
        </p:txBody>
      </p:sp>
      <p:graphicFrame>
        <p:nvGraphicFramePr>
          <p:cNvPr id="16" name="Table 15"/>
          <p:cNvGraphicFramePr/>
          <p:nvPr/>
        </p:nvGraphicFramePr>
        <p:xfrm>
          <a:off x="457200" y="3171825"/>
          <a:ext cx="11239500" cy="1828800"/>
        </p:xfrm>
        <a:graphic>
          <a:graphicData uri="http://schemas.openxmlformats.org/drawingml/2006/table">
            <a:tbl>
              <a:tblPr firstRow="1"/>
              <a:tblGrid>
                <a:gridCol w="2476500">
                  <a:extLst>
                    <a:ext uri="{9D8B030D-6E8A-4147-A177-3AD203B41FA5}">
                      <a16:colId xmlns:a16="http://schemas.microsoft.com/office/drawing/2014/main" val="20000"/>
                    </a:ext>
                  </a:extLst>
                </a:gridCol>
                <a:gridCol w="4381500">
                  <a:extLst>
                    <a:ext uri="{9D8B030D-6E8A-4147-A177-3AD203B41FA5}">
                      <a16:colId xmlns:a16="http://schemas.microsoft.com/office/drawing/2014/main" val="20001"/>
                    </a:ext>
                  </a:extLst>
                </a:gridCol>
                <a:gridCol w="4381500">
                  <a:extLst>
                    <a:ext uri="{9D8B030D-6E8A-4147-A177-3AD203B41FA5}">
                      <a16:colId xmlns:a16="http://schemas.microsoft.com/office/drawing/2014/main" val="20002"/>
                    </a:ext>
                  </a:extLst>
                </a:gridCol>
              </a:tblGrid>
              <a:tr h="457200">
                <a:tc>
                  <a:txBody>
                    <a:bodyPr/>
                    <a:lstStyle/>
                    <a:p>
                      <a:pPr algn="l"/>
                      <a:r>
                        <a:rPr sz="2025" b="1">
                          <a:solidFill>
                            <a:srgbClr val="FFFFFF"/>
                          </a:solidFill>
                          <a:latin typeface="Aptos"/>
                          <a:ea typeface="Aptos"/>
                          <a:cs typeface="Aptos"/>
                        </a:rPr>
                        <a:t>Block</a:t>
                      </a:r>
                    </a:p>
                  </a:txBody>
                  <a:tcPr marL="95250" marR="95250" marT="19050" marB="19050" anchor="ctr">
                    <a:solidFill>
                      <a:srgbClr val="D6171D"/>
                    </a:solidFill>
                  </a:tcPr>
                </a:tc>
                <a:tc>
                  <a:txBody>
                    <a:bodyPr/>
                    <a:lstStyle/>
                    <a:p>
                      <a:pPr algn="ctr"/>
                      <a:r>
                        <a:rPr sz="2025" b="1">
                          <a:solidFill>
                            <a:srgbClr val="FFFFFF"/>
                          </a:solidFill>
                          <a:latin typeface="Aptos"/>
                          <a:ea typeface="Aptos"/>
                          <a:cs typeface="Aptos"/>
                        </a:rPr>
                        <a:t>Day students</a:t>
                      </a:r>
                    </a:p>
                  </a:txBody>
                  <a:tcPr marL="95250" marR="95250" marT="19050" marB="19050" anchor="ctr">
                    <a:solidFill>
                      <a:srgbClr val="D6171D"/>
                    </a:solidFill>
                  </a:tcPr>
                </a:tc>
                <a:tc>
                  <a:txBody>
                    <a:bodyPr/>
                    <a:lstStyle/>
                    <a:p>
                      <a:pPr algn="ctr"/>
                      <a:r>
                        <a:rPr sz="2025" b="1">
                          <a:solidFill>
                            <a:srgbClr val="FFFFFF"/>
                          </a:solidFill>
                          <a:latin typeface="Aptos"/>
                          <a:ea typeface="Aptos"/>
                          <a:cs typeface="Aptos"/>
                        </a:rPr>
                        <a:t>Evening student</a:t>
                      </a:r>
                    </a:p>
                  </a:txBody>
                  <a:tcPr marL="95250" marR="95250" marT="19050" marB="19050" anchor="ctr">
                    <a:solidFill>
                      <a:srgbClr val="D6171D"/>
                    </a:solidFill>
                  </a:tcPr>
                </a:tc>
                <a:extLst>
                  <a:ext uri="{0D108BD9-81ED-4DB2-BD59-A6C34878D82A}">
                    <a16:rowId xmlns:a16="http://schemas.microsoft.com/office/drawing/2014/main" val="10000"/>
                  </a:ext>
                </a:extLst>
              </a:tr>
              <a:tr h="457200">
                <a:tc>
                  <a:txBody>
                    <a:bodyPr/>
                    <a:lstStyle/>
                    <a:p>
                      <a:pPr algn="l"/>
                      <a:r>
                        <a:rPr sz="2025" b="0">
                          <a:solidFill>
                            <a:srgbClr val="111111"/>
                          </a:solidFill>
                          <a:latin typeface="Aptos"/>
                          <a:ea typeface="Aptos"/>
                          <a:cs typeface="Aptos"/>
                        </a:rPr>
                        <a:t>1</a:t>
                      </a:r>
                    </a:p>
                  </a:txBody>
                  <a:tcPr marL="95250" marR="95250" marT="19050" marB="19050" anchor="ctr">
                    <a:solidFill>
                      <a:srgbClr val="FFFFFF"/>
                    </a:solidFill>
                  </a:tcPr>
                </a:tc>
                <a:tc>
                  <a:txBody>
                    <a:bodyPr/>
                    <a:lstStyle/>
                    <a:p>
                      <a:pPr algn="ctr"/>
                      <a:r>
                        <a:rPr sz="2025" b="0">
                          <a:solidFill>
                            <a:srgbClr val="111111"/>
                          </a:solidFill>
                          <a:latin typeface="Aptos"/>
                          <a:ea typeface="Aptos"/>
                          <a:cs typeface="Aptos"/>
                        </a:rPr>
                        <a:t>Positions 1–20</a:t>
                      </a:r>
                    </a:p>
                  </a:txBody>
                  <a:tcPr marL="95250" marR="95250" marT="19050" marB="19050" anchor="ctr">
                    <a:solidFill>
                      <a:srgbClr val="FFFFFF"/>
                    </a:solidFill>
                  </a:tcPr>
                </a:tc>
                <a:tc>
                  <a:txBody>
                    <a:bodyPr/>
                    <a:lstStyle/>
                    <a:p>
                      <a:pPr algn="ctr"/>
                      <a:r>
                        <a:rPr sz="2025" b="0">
                          <a:solidFill>
                            <a:srgbClr val="111111"/>
                          </a:solidFill>
                          <a:latin typeface="Aptos"/>
                          <a:ea typeface="Aptos"/>
                          <a:cs typeface="Aptos"/>
                        </a:rPr>
                        <a:t>Position 21</a:t>
                      </a:r>
                    </a:p>
                  </a:txBody>
                  <a:tcPr marL="95250" marR="95250" marT="19050" marB="19050" anchor="ctr">
                    <a:solidFill>
                      <a:srgbClr val="FFFFFF"/>
                    </a:solidFill>
                  </a:tcPr>
                </a:tc>
                <a:extLst>
                  <a:ext uri="{0D108BD9-81ED-4DB2-BD59-A6C34878D82A}">
                    <a16:rowId xmlns:a16="http://schemas.microsoft.com/office/drawing/2014/main" val="10001"/>
                  </a:ext>
                </a:extLst>
              </a:tr>
              <a:tr h="457200">
                <a:tc>
                  <a:txBody>
                    <a:bodyPr/>
                    <a:lstStyle/>
                    <a:p>
                      <a:pPr algn="l"/>
                      <a:r>
                        <a:rPr sz="2025" b="0">
                          <a:solidFill>
                            <a:srgbClr val="111111"/>
                          </a:solidFill>
                          <a:latin typeface="Aptos"/>
                          <a:ea typeface="Aptos"/>
                          <a:cs typeface="Aptos"/>
                        </a:rPr>
                        <a:t>2</a:t>
                      </a:r>
                    </a:p>
                  </a:txBody>
                  <a:tcPr marL="95250" marR="95250" marT="19050" marB="19050" anchor="ctr">
                    <a:solidFill>
                      <a:srgbClr val="EFF8FF"/>
                    </a:solidFill>
                  </a:tcPr>
                </a:tc>
                <a:tc>
                  <a:txBody>
                    <a:bodyPr/>
                    <a:lstStyle/>
                    <a:p>
                      <a:pPr algn="ctr"/>
                      <a:r>
                        <a:rPr sz="2025" b="0">
                          <a:solidFill>
                            <a:srgbClr val="111111"/>
                          </a:solidFill>
                          <a:latin typeface="Aptos"/>
                          <a:ea typeface="Aptos"/>
                          <a:cs typeface="Aptos"/>
                        </a:rPr>
                        <a:t>Positions 22–41</a:t>
                      </a:r>
                    </a:p>
                  </a:txBody>
                  <a:tcPr marL="95250" marR="95250" marT="19050" marB="19050" anchor="ctr">
                    <a:solidFill>
                      <a:srgbClr val="EFF8FF"/>
                    </a:solidFill>
                  </a:tcPr>
                </a:tc>
                <a:tc>
                  <a:txBody>
                    <a:bodyPr/>
                    <a:lstStyle/>
                    <a:p>
                      <a:pPr algn="ctr"/>
                      <a:r>
                        <a:rPr sz="2025" b="0">
                          <a:solidFill>
                            <a:srgbClr val="111111"/>
                          </a:solidFill>
                          <a:latin typeface="Aptos"/>
                          <a:ea typeface="Aptos"/>
                          <a:cs typeface="Aptos"/>
                        </a:rPr>
                        <a:t>Position 42</a:t>
                      </a:r>
                    </a:p>
                  </a:txBody>
                  <a:tcPr marL="95250" marR="95250" marT="19050" marB="19050" anchor="ctr">
                    <a:solidFill>
                      <a:srgbClr val="EFF8FF"/>
                    </a:solidFill>
                  </a:tcPr>
                </a:tc>
                <a:extLst>
                  <a:ext uri="{0D108BD9-81ED-4DB2-BD59-A6C34878D82A}">
                    <a16:rowId xmlns:a16="http://schemas.microsoft.com/office/drawing/2014/main" val="10002"/>
                  </a:ext>
                </a:extLst>
              </a:tr>
              <a:tr h="457200">
                <a:tc>
                  <a:txBody>
                    <a:bodyPr/>
                    <a:lstStyle/>
                    <a:p>
                      <a:pPr algn="l"/>
                      <a:r>
                        <a:rPr sz="2025" b="0">
                          <a:solidFill>
                            <a:srgbClr val="111111"/>
                          </a:solidFill>
                          <a:latin typeface="Aptos"/>
                          <a:ea typeface="Aptos"/>
                          <a:cs typeface="Aptos"/>
                        </a:rPr>
                        <a:t>3</a:t>
                      </a:r>
                    </a:p>
                  </a:txBody>
                  <a:tcPr marL="95250" marR="95250" marT="19050" marB="19050" anchor="ctr">
                    <a:solidFill>
                      <a:srgbClr val="FFFFFF"/>
                    </a:solidFill>
                  </a:tcPr>
                </a:tc>
                <a:tc>
                  <a:txBody>
                    <a:bodyPr/>
                    <a:lstStyle/>
                    <a:p>
                      <a:pPr algn="ctr"/>
                      <a:r>
                        <a:rPr sz="2025" b="0">
                          <a:solidFill>
                            <a:srgbClr val="111111"/>
                          </a:solidFill>
                          <a:latin typeface="Aptos"/>
                          <a:ea typeface="Aptos"/>
                          <a:cs typeface="Aptos"/>
                        </a:rPr>
                        <a:t>Positions 43–62</a:t>
                      </a:r>
                    </a:p>
                  </a:txBody>
                  <a:tcPr marL="95250" marR="95250" marT="19050" marB="19050" anchor="ctr">
                    <a:solidFill>
                      <a:srgbClr val="FFFFFF"/>
                    </a:solidFill>
                  </a:tcPr>
                </a:tc>
                <a:tc>
                  <a:txBody>
                    <a:bodyPr/>
                    <a:lstStyle/>
                    <a:p>
                      <a:pPr algn="ctr"/>
                      <a:r>
                        <a:rPr sz="2025" b="0">
                          <a:solidFill>
                            <a:srgbClr val="111111"/>
                          </a:solidFill>
                          <a:latin typeface="Aptos"/>
                          <a:ea typeface="Aptos"/>
                          <a:cs typeface="Aptos"/>
                        </a:rPr>
                        <a:t>Position 63</a:t>
                      </a:r>
                    </a:p>
                  </a:txBody>
                  <a:tcPr marL="95250" marR="95250" marT="19050" marB="19050" anchor="ctr">
                    <a:solidFill>
                      <a:srgbClr val="FFFFFF"/>
                    </a:solidFill>
                  </a:tcPr>
                </a:tc>
                <a:extLst>
                  <a:ext uri="{0D108BD9-81ED-4DB2-BD59-A6C34878D82A}">
                    <a16:rowId xmlns:a16="http://schemas.microsoft.com/office/drawing/2014/main" val="10003"/>
                  </a:ext>
                </a:extLst>
              </a:tr>
            </a:tbl>
          </a:graphicData>
        </a:graphic>
      </p:graphicFrame>
      <p:sp>
        <p:nvSpPr>
          <p:cNvPr id="6" name="s37-text-5">
            <a:extLst>
              <a:ext uri="{FF2B5EF4-FFF2-40B4-BE49-F238E27FC236}">
                <a16:creationId xmlns:a16="http://schemas.microsoft.com/office/drawing/2014/main" id="{C8356BD6-31F2-46AE-892D-2F5A14168861}"/>
              </a:ext>
            </a:extLst>
          </p:cNvPr>
          <p:cNvSpPr>
            <a:spLocks noGrp="1"/>
          </p:cNvSpPr>
          <p:nvPr/>
        </p:nvSpPr>
        <p:spPr>
          <a:xfrm>
            <a:off x="457200" y="5257800"/>
            <a:ext cx="11239500" cy="571500"/>
          </a:xfrm>
          <a:prstGeom prst="rect">
            <a:avLst/>
          </a:prstGeom>
          <a:noFill/>
          <a:ln w="0">
            <a:noFill/>
          </a:ln>
        </p:spPr>
        <p:txBody>
          <a:bodyPr wrap="square" lIns="0" tIns="0" rIns="0" bIns="0" anchor="t">
            <a:noAutofit/>
          </a:bodyPr>
          <a:lstStyle/>
          <a:p>
            <a:pPr algn="l">
              <a:defRPr sz="2175" b="0">
                <a:solidFill>
                  <a:srgbClr val="111111"/>
                </a:solidFill>
                <a:latin typeface="Aptos"/>
                <a:ea typeface="Aptos"/>
                <a:cs typeface="Aptos"/>
              </a:defRPr>
            </a:pPr>
            <a:r>
              <a:rPr sz="2175" b="0">
                <a:solidFill>
                  <a:srgbClr val="111111"/>
                </a:solidFill>
                <a:latin typeface="Aptos"/>
                <a:ea typeface="Aptos"/>
                <a:cs typeface="Aptos"/>
              </a:rPr>
              <a:t>a) What happens with random start 13? With random start 21?</a:t>
            </a:r>
          </a:p>
        </p:txBody>
      </p:sp>
      <p:sp>
        <p:nvSpPr>
          <p:cNvPr id="7" name="s37-rect-6">
            <a:extLst>
              <a:ext uri="{FF2B5EF4-FFF2-40B4-BE49-F238E27FC236}">
                <a16:creationId xmlns:a16="http://schemas.microsoft.com/office/drawing/2014/main" id="{4AA7F06E-506C-41EE-9A5B-59425CC0602C}"/>
              </a:ext>
            </a:extLst>
          </p:cNvPr>
          <p:cNvSpPr>
            <a:spLocks noGrp="1"/>
          </p:cNvSpPr>
          <p:nvPr/>
        </p:nvSpPr>
        <p:spPr>
          <a:xfrm>
            <a:off x="428625" y="5915025"/>
            <a:ext cx="2762250" cy="400050"/>
          </a:xfrm>
          <a:prstGeom prst="rect">
            <a:avLst/>
          </a:prstGeom>
          <a:solidFill>
            <a:srgbClr val="D6171D"/>
          </a:solidFill>
          <a:ln w="0">
            <a:noFill/>
          </a:ln>
        </p:spPr>
        <p:txBody>
          <a:bodyPr/>
          <a:lstStyle/>
          <a:p>
            <a:endParaRPr lang="en-US"/>
          </a:p>
        </p:txBody>
      </p:sp>
      <p:sp>
        <p:nvSpPr>
          <p:cNvPr id="8" name="s37-text-7">
            <a:extLst>
              <a:ext uri="{FF2B5EF4-FFF2-40B4-BE49-F238E27FC236}">
                <a16:creationId xmlns:a16="http://schemas.microsoft.com/office/drawing/2014/main" id="{C799932A-8F06-49AE-89AD-F3EB6FC85F42}"/>
              </a:ext>
            </a:extLst>
          </p:cNvPr>
          <p:cNvSpPr>
            <a:spLocks noGrp="1"/>
          </p:cNvSpPr>
          <p:nvPr/>
        </p:nvSpPr>
        <p:spPr>
          <a:xfrm>
            <a:off x="523875" y="5972175"/>
            <a:ext cx="2571750" cy="323850"/>
          </a:xfrm>
          <a:prstGeom prst="rect">
            <a:avLst/>
          </a:prstGeom>
          <a:noFill/>
          <a:ln w="0">
            <a:noFill/>
          </a:ln>
        </p:spPr>
        <p:txBody>
          <a:bodyPr wrap="square" lIns="0" tIns="0" rIns="0" bIns="0" anchor="t">
            <a:noAutofit/>
          </a:bodyPr>
          <a:lstStyle/>
          <a:p>
            <a:pPr algn="ctr">
              <a:defRPr sz="1800" b="1">
                <a:solidFill>
                  <a:srgbClr val="FFFFFF"/>
                </a:solidFill>
                <a:latin typeface="Aptos"/>
                <a:ea typeface="Aptos"/>
                <a:cs typeface="Aptos"/>
              </a:defRPr>
            </a:pPr>
            <a:r>
              <a:rPr sz="1800" b="1">
                <a:solidFill>
                  <a:srgbClr val="FFFFFF"/>
                </a:solidFill>
                <a:latin typeface="Aptos"/>
                <a:ea typeface="Aptos"/>
                <a:cs typeface="Aptos"/>
              </a:rPr>
              <a:t>DISCUSS   3 MIN</a:t>
            </a:r>
          </a:p>
        </p:txBody>
      </p:sp>
      <p:sp>
        <p:nvSpPr>
          <p:cNvPr id="9" name="s37-text-8">
            <a:extLst>
              <a:ext uri="{FF2B5EF4-FFF2-40B4-BE49-F238E27FC236}">
                <a16:creationId xmlns:a16="http://schemas.microsoft.com/office/drawing/2014/main" id="{58F60322-0FD4-4776-BEBF-8F05D381A8F0}"/>
              </a:ext>
            </a:extLst>
          </p:cNvPr>
          <p:cNvSpPr>
            <a:spLocks noGrp="1"/>
          </p:cNvSpPr>
          <p:nvPr/>
        </p:nvSpPr>
        <p:spPr>
          <a:xfrm>
            <a:off x="3381375" y="5924550"/>
            <a:ext cx="8286750" cy="457200"/>
          </a:xfrm>
          <a:prstGeom prst="rect">
            <a:avLst/>
          </a:prstGeom>
          <a:noFill/>
          <a:ln w="0">
            <a:noFill/>
          </a:ln>
        </p:spPr>
        <p:txBody>
          <a:bodyPr wrap="square" lIns="0" tIns="0" rIns="0" bIns="0" anchor="t">
            <a:noAutofit/>
          </a:bodyPr>
          <a:lstStyle/>
          <a:p>
            <a:pPr algn="l">
              <a:defRPr sz="2100" b="1">
                <a:solidFill>
                  <a:srgbClr val="111111"/>
                </a:solidFill>
                <a:latin typeface="Aptos"/>
                <a:ea typeface="Aptos"/>
                <a:cs typeface="Aptos"/>
              </a:defRPr>
            </a:pPr>
            <a:r>
              <a:rPr sz="2100" b="1">
                <a:solidFill>
                  <a:srgbClr val="111111"/>
                </a:solidFill>
                <a:latin typeface="Aptos"/>
                <a:ea typeface="Aptos"/>
                <a:cs typeface="Aptos"/>
              </a:rPr>
              <a:t>Does a random start solve this pattern? Suggest a change.</a:t>
            </a:r>
          </a:p>
        </p:txBody>
      </p:sp>
      <p:sp>
        <p:nvSpPr>
          <p:cNvPr id="10" name="s37-text-9">
            <a:extLst>
              <a:ext uri="{FF2B5EF4-FFF2-40B4-BE49-F238E27FC236}">
                <a16:creationId xmlns:a16="http://schemas.microsoft.com/office/drawing/2014/main" id="{7404FD4D-E6B4-417B-9659-4CE75AA5104B}"/>
              </a:ext>
            </a:extLst>
          </p:cNvPr>
          <p:cNvSpPr>
            <a:spLocks noGrp="1"/>
          </p:cNvSpPr>
          <p:nvPr/>
        </p:nvSpPr>
        <p:spPr>
          <a:xfrm>
            <a:off x="457200" y="6477000"/>
            <a:ext cx="10763250" cy="238125"/>
          </a:xfrm>
          <a:prstGeom prst="rect">
            <a:avLst/>
          </a:prstGeom>
          <a:noFill/>
          <a:ln w="0">
            <a:noFill/>
          </a:ln>
        </p:spPr>
        <p:txBody>
          <a:bodyPr wrap="square" lIns="0" tIns="0" rIns="0" bIns="0" anchor="t">
            <a:noAutofit/>
          </a:bodyPr>
          <a:lstStyle/>
          <a:p>
            <a:endParaRPr/>
          </a:p>
        </p:txBody>
      </p:sp>
      <p:sp>
        <p:nvSpPr>
          <p:cNvPr id="11" name="s37-text-10">
            <a:extLst>
              <a:ext uri="{FF2B5EF4-FFF2-40B4-BE49-F238E27FC236}">
                <a16:creationId xmlns:a16="http://schemas.microsoft.com/office/drawing/2014/main" id="{8EB319B4-2E0B-4288-A82F-9CC4B8CCCAA3}"/>
              </a:ext>
            </a:extLst>
          </p:cNvPr>
          <p:cNvSpPr>
            <a:spLocks noGrp="1"/>
          </p:cNvSpPr>
          <p:nvPr/>
        </p:nvSpPr>
        <p:spPr>
          <a:xfrm>
            <a:off x="11239500" y="6477000"/>
            <a:ext cx="476250" cy="238125"/>
          </a:xfrm>
          <a:prstGeom prst="rect">
            <a:avLst/>
          </a:prstGeom>
          <a:noFill/>
          <a:ln w="0">
            <a:noFill/>
          </a:ln>
        </p:spPr>
        <p:txBody>
          <a:bodyPr wrap="square" lIns="0" tIns="0" rIns="0" bIns="0" anchor="t">
            <a:noAutofit/>
          </a:bodyPr>
          <a:lstStyle/>
          <a:p>
            <a:pPr algn="r">
              <a:defRPr sz="1275" b="0">
                <a:solidFill>
                  <a:srgbClr val="666666"/>
                </a:solidFill>
                <a:latin typeface="Aptos"/>
                <a:ea typeface="Aptos"/>
                <a:cs typeface="Aptos"/>
              </a:defRPr>
            </a:pPr>
            <a:r>
              <a:rPr sz="1275" b="0">
                <a:solidFill>
                  <a:srgbClr val="666666"/>
                </a:solidFill>
                <a:latin typeface="Aptos"/>
                <a:ea typeface="Aptos"/>
                <a:cs typeface="Aptos"/>
              </a:rPr>
              <a:t>37</a:t>
            </a:r>
          </a:p>
        </p:txBody>
      </p:sp>
    </p:spTree>
    <p:extLst>
      <p:ext uri="{BB962C8B-B14F-4D97-AF65-F5344CB8AC3E}">
        <p14:creationId xmlns:p14="http://schemas.microsoft.com/office/powerpoint/2010/main" val="32813612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38-text-1">
            <a:extLst>
              <a:ext uri="{FF2B5EF4-FFF2-40B4-BE49-F238E27FC236}">
                <a16:creationId xmlns:a16="http://schemas.microsoft.com/office/drawing/2014/main" id="{9DAF22B4-F774-4B51-A45F-D70930C8D0C1}"/>
              </a:ext>
            </a:extLst>
          </p:cNvPr>
          <p:cNvSpPr>
            <a:spLocks noGrp="1"/>
          </p:cNvSpPr>
          <p:nvPr/>
        </p:nvSpPr>
        <p:spPr>
          <a:xfrm>
            <a:off x="430816" y="1038225"/>
            <a:ext cx="11293412" cy="78105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6. Potential answer</a:t>
            </a:r>
          </a:p>
        </p:txBody>
      </p:sp>
      <p:sp>
        <p:nvSpPr>
          <p:cNvPr id="2" name="s38-rect-2">
            <a:extLst>
              <a:ext uri="{FF2B5EF4-FFF2-40B4-BE49-F238E27FC236}">
                <a16:creationId xmlns:a16="http://schemas.microsoft.com/office/drawing/2014/main" id="{31A1D0FE-DCFB-481E-AA1B-E37EE9D251B2}"/>
              </a:ext>
            </a:extLst>
          </p:cNvPr>
          <p:cNvSpPr>
            <a:spLocks noGrp="1"/>
          </p:cNvSpPr>
          <p:nvPr/>
        </p:nvSpPr>
        <p:spPr>
          <a:xfrm>
            <a:off x="8734425" y="476250"/>
            <a:ext cx="3000375" cy="400050"/>
          </a:xfrm>
          <a:prstGeom prst="rect">
            <a:avLst/>
          </a:prstGeom>
          <a:solidFill>
            <a:srgbClr val="D6171D"/>
          </a:solidFill>
          <a:ln w="0">
            <a:noFill/>
          </a:ln>
        </p:spPr>
        <p:txBody>
          <a:bodyPr/>
          <a:lstStyle/>
          <a:p>
            <a:endParaRPr lang="en-US"/>
          </a:p>
        </p:txBody>
      </p:sp>
      <p:sp>
        <p:nvSpPr>
          <p:cNvPr id="3" name="s38-text-3">
            <a:extLst>
              <a:ext uri="{FF2B5EF4-FFF2-40B4-BE49-F238E27FC236}">
                <a16:creationId xmlns:a16="http://schemas.microsoft.com/office/drawing/2014/main" id="{877417E8-0FF4-4A86-A763-B73E2BD77CEE}"/>
              </a:ext>
            </a:extLst>
          </p:cNvPr>
          <p:cNvSpPr>
            <a:spLocks noGrp="1"/>
          </p:cNvSpPr>
          <p:nvPr/>
        </p:nvSpPr>
        <p:spPr>
          <a:xfrm>
            <a:off x="8829675" y="533400"/>
            <a:ext cx="2809875" cy="323850"/>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C5.6</a:t>
            </a:r>
          </a:p>
        </p:txBody>
      </p:sp>
      <p:graphicFrame>
        <p:nvGraphicFramePr>
          <p:cNvPr id="12" name="Table 11"/>
          <p:cNvGraphicFramePr/>
          <p:nvPr/>
        </p:nvGraphicFramePr>
        <p:xfrm>
          <a:off x="457200" y="2085975"/>
          <a:ext cx="11239500" cy="1819275"/>
        </p:xfrm>
        <a:graphic>
          <a:graphicData uri="http://schemas.openxmlformats.org/drawingml/2006/table">
            <a:tbl>
              <a:tblPr firstRow="1"/>
              <a:tblGrid>
                <a:gridCol w="2762250">
                  <a:extLst>
                    <a:ext uri="{9D8B030D-6E8A-4147-A177-3AD203B41FA5}">
                      <a16:colId xmlns:a16="http://schemas.microsoft.com/office/drawing/2014/main" val="20000"/>
                    </a:ext>
                  </a:extLst>
                </a:gridCol>
                <a:gridCol w="4667250">
                  <a:extLst>
                    <a:ext uri="{9D8B030D-6E8A-4147-A177-3AD203B41FA5}">
                      <a16:colId xmlns:a16="http://schemas.microsoft.com/office/drawing/2014/main" val="20001"/>
                    </a:ext>
                  </a:extLst>
                </a:gridCol>
                <a:gridCol w="3810000">
                  <a:extLst>
                    <a:ext uri="{9D8B030D-6E8A-4147-A177-3AD203B41FA5}">
                      <a16:colId xmlns:a16="http://schemas.microsoft.com/office/drawing/2014/main" val="20002"/>
                    </a:ext>
                  </a:extLst>
                </a:gridCol>
              </a:tblGrid>
              <a:tr h="542925">
                <a:tc>
                  <a:txBody>
                    <a:bodyPr/>
                    <a:lstStyle/>
                    <a:p>
                      <a:pPr algn="l"/>
                      <a:r>
                        <a:rPr sz="2100" b="1">
                          <a:solidFill>
                            <a:srgbClr val="FFFFFF"/>
                          </a:solidFill>
                          <a:latin typeface="Aptos"/>
                          <a:ea typeface="Aptos"/>
                          <a:cs typeface="Aptos"/>
                        </a:rPr>
                        <a:t>Random start</a:t>
                      </a:r>
                    </a:p>
                  </a:txBody>
                  <a:tcPr marL="95250" marR="95250" marT="19050" marB="19050" anchor="ctr">
                    <a:solidFill>
                      <a:srgbClr val="D6171D"/>
                    </a:solidFill>
                  </a:tcPr>
                </a:tc>
                <a:tc>
                  <a:txBody>
                    <a:bodyPr/>
                    <a:lstStyle/>
                    <a:p>
                      <a:pPr algn="ctr"/>
                      <a:r>
                        <a:rPr sz="2100" b="1">
                          <a:solidFill>
                            <a:srgbClr val="FFFFFF"/>
                          </a:solidFill>
                          <a:latin typeface="Aptos"/>
                          <a:ea typeface="Aptos"/>
                          <a:cs typeface="Aptos"/>
                        </a:rPr>
                        <a:t>First selected positions</a:t>
                      </a:r>
                    </a:p>
                  </a:txBody>
                  <a:tcPr marL="95250" marR="95250" marT="19050" marB="19050" anchor="ctr">
                    <a:solidFill>
                      <a:srgbClr val="D6171D"/>
                    </a:solidFill>
                  </a:tcPr>
                </a:tc>
                <a:tc>
                  <a:txBody>
                    <a:bodyPr/>
                    <a:lstStyle/>
                    <a:p>
                      <a:pPr algn="ctr"/>
                      <a:r>
                        <a:rPr sz="2100" b="1">
                          <a:solidFill>
                            <a:srgbClr val="FFFFFF"/>
                          </a:solidFill>
                          <a:latin typeface="Aptos"/>
                          <a:ea typeface="Aptos"/>
                          <a:cs typeface="Aptos"/>
                        </a:rPr>
                        <a:t>Who enters?</a:t>
                      </a:r>
                    </a:p>
                  </a:txBody>
                  <a:tcPr marL="95250" marR="95250" marT="19050" marB="19050" anchor="ctr">
                    <a:solidFill>
                      <a:srgbClr val="D6171D"/>
                    </a:solidFill>
                  </a:tcPr>
                </a:tc>
                <a:extLst>
                  <a:ext uri="{0D108BD9-81ED-4DB2-BD59-A6C34878D82A}">
                    <a16:rowId xmlns:a16="http://schemas.microsoft.com/office/drawing/2014/main" val="10000"/>
                  </a:ext>
                </a:extLst>
              </a:tr>
              <a:tr h="638175">
                <a:tc>
                  <a:txBody>
                    <a:bodyPr/>
                    <a:lstStyle/>
                    <a:p>
                      <a:pPr algn="l"/>
                      <a:r>
                        <a:rPr sz="2100" b="0">
                          <a:solidFill>
                            <a:srgbClr val="111111"/>
                          </a:solidFill>
                          <a:latin typeface="Aptos"/>
                          <a:ea typeface="Aptos"/>
                          <a:cs typeface="Aptos"/>
                        </a:rPr>
                        <a:t>13</a:t>
                      </a:r>
                    </a:p>
                  </a:txBody>
                  <a:tcPr marL="95250" marR="95250" marT="19050" marB="19050" anchor="ctr">
                    <a:solidFill>
                      <a:srgbClr val="FFFFFF"/>
                    </a:solidFill>
                  </a:tcPr>
                </a:tc>
                <a:tc>
                  <a:txBody>
                    <a:bodyPr/>
                    <a:lstStyle/>
                    <a:p>
                      <a:pPr algn="ctr"/>
                      <a:r>
                        <a:rPr sz="2100" b="0">
                          <a:solidFill>
                            <a:srgbClr val="111111"/>
                          </a:solidFill>
                          <a:latin typeface="Aptos"/>
                          <a:ea typeface="Aptos"/>
                          <a:cs typeface="Aptos"/>
                        </a:rPr>
                        <a:t>13, 34, 55, 76, …</a:t>
                      </a:r>
                    </a:p>
                  </a:txBody>
                  <a:tcPr marL="95250" marR="95250" marT="19050" marB="19050" anchor="ctr">
                    <a:solidFill>
                      <a:srgbClr val="FFFFFF"/>
                    </a:solidFill>
                  </a:tcPr>
                </a:tc>
                <a:tc>
                  <a:txBody>
                    <a:bodyPr/>
                    <a:lstStyle/>
                    <a:p>
                      <a:pPr algn="ctr"/>
                      <a:r>
                        <a:rPr sz="2100" b="0">
                          <a:solidFill>
                            <a:srgbClr val="111111"/>
                          </a:solidFill>
                          <a:latin typeface="Aptos"/>
                          <a:ea typeface="Aptos"/>
                          <a:cs typeface="Aptos"/>
                        </a:rPr>
                        <a:t>Day students only</a:t>
                      </a:r>
                    </a:p>
                  </a:txBody>
                  <a:tcPr marL="95250" marR="95250" marT="19050" marB="19050" anchor="ctr">
                    <a:solidFill>
                      <a:srgbClr val="FFFFFF"/>
                    </a:solidFill>
                  </a:tcPr>
                </a:tc>
                <a:extLst>
                  <a:ext uri="{0D108BD9-81ED-4DB2-BD59-A6C34878D82A}">
                    <a16:rowId xmlns:a16="http://schemas.microsoft.com/office/drawing/2014/main" val="10001"/>
                  </a:ext>
                </a:extLst>
              </a:tr>
              <a:tr h="638175">
                <a:tc>
                  <a:txBody>
                    <a:bodyPr/>
                    <a:lstStyle/>
                    <a:p>
                      <a:pPr algn="l"/>
                      <a:r>
                        <a:rPr sz="2100" b="0">
                          <a:solidFill>
                            <a:srgbClr val="111111"/>
                          </a:solidFill>
                          <a:latin typeface="Aptos"/>
                          <a:ea typeface="Aptos"/>
                          <a:cs typeface="Aptos"/>
                        </a:rPr>
                        <a:t>21</a:t>
                      </a:r>
                    </a:p>
                  </a:txBody>
                  <a:tcPr marL="95250" marR="95250" marT="19050" marB="19050" anchor="ctr">
                    <a:solidFill>
                      <a:srgbClr val="EFF8FF"/>
                    </a:solidFill>
                  </a:tcPr>
                </a:tc>
                <a:tc>
                  <a:txBody>
                    <a:bodyPr/>
                    <a:lstStyle/>
                    <a:p>
                      <a:pPr algn="ctr"/>
                      <a:r>
                        <a:rPr sz="2100" b="0">
                          <a:solidFill>
                            <a:srgbClr val="111111"/>
                          </a:solidFill>
                          <a:latin typeface="Aptos"/>
                          <a:ea typeface="Aptos"/>
                          <a:cs typeface="Aptos"/>
                        </a:rPr>
                        <a:t>21, 42, 63, 84, …</a:t>
                      </a:r>
                    </a:p>
                  </a:txBody>
                  <a:tcPr marL="95250" marR="95250" marT="19050" marB="19050" anchor="ctr">
                    <a:solidFill>
                      <a:srgbClr val="EFF8FF"/>
                    </a:solidFill>
                  </a:tcPr>
                </a:tc>
                <a:tc>
                  <a:txBody>
                    <a:bodyPr/>
                    <a:lstStyle/>
                    <a:p>
                      <a:pPr algn="ctr"/>
                      <a:r>
                        <a:rPr sz="2100" b="0">
                          <a:solidFill>
                            <a:srgbClr val="111111"/>
                          </a:solidFill>
                          <a:latin typeface="Aptos"/>
                          <a:ea typeface="Aptos"/>
                          <a:cs typeface="Aptos"/>
                        </a:rPr>
                        <a:t>Evening students only</a:t>
                      </a:r>
                    </a:p>
                  </a:txBody>
                  <a:tcPr marL="95250" marR="95250" marT="19050" marB="19050" anchor="ctr">
                    <a:solidFill>
                      <a:srgbClr val="EFF8FF"/>
                    </a:solidFill>
                  </a:tcPr>
                </a:tc>
                <a:extLst>
                  <a:ext uri="{0D108BD9-81ED-4DB2-BD59-A6C34878D82A}">
                    <a16:rowId xmlns:a16="http://schemas.microsoft.com/office/drawing/2014/main" val="10002"/>
                  </a:ext>
                </a:extLst>
              </a:tr>
            </a:tbl>
          </a:graphicData>
        </a:graphic>
      </p:graphicFrame>
      <p:sp>
        <p:nvSpPr>
          <p:cNvPr id="5" name="s38-text-4">
            <a:extLst>
              <a:ext uri="{FF2B5EF4-FFF2-40B4-BE49-F238E27FC236}">
                <a16:creationId xmlns:a16="http://schemas.microsoft.com/office/drawing/2014/main" id="{80E13C3C-84B4-4432-9844-5573BEC504BE}"/>
              </a:ext>
            </a:extLst>
          </p:cNvPr>
          <p:cNvSpPr>
            <a:spLocks noGrp="1"/>
          </p:cNvSpPr>
          <p:nvPr/>
        </p:nvSpPr>
        <p:spPr>
          <a:xfrm>
            <a:off x="457200" y="4324350"/>
            <a:ext cx="11239500" cy="981075"/>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sz="2325" b="0">
                <a:solidFill>
                  <a:srgbClr val="111111"/>
                </a:solidFill>
                <a:latin typeface="Aptos"/>
                <a:ea typeface="Aptos"/>
                <a:cs typeface="Aptos"/>
              </a:rPr>
              <a:t>The interval keeps selecting the same position in each block.</a:t>
            </a:r>
          </a:p>
          <a:p>
            <a:pPr algn="l">
              <a:defRPr sz="2325" b="0">
                <a:solidFill>
                  <a:srgbClr val="111111"/>
                </a:solidFill>
                <a:latin typeface="Aptos"/>
                <a:ea typeface="Aptos"/>
                <a:cs typeface="Aptos"/>
              </a:defRPr>
            </a:pPr>
            <a:r>
              <a:rPr sz="2325" b="0">
                <a:solidFill>
                  <a:srgbClr val="111111"/>
                </a:solidFill>
                <a:latin typeface="Aptos"/>
                <a:ea typeface="Aptos"/>
                <a:cs typeface="Aptos"/>
              </a:rPr>
              <a:t>Sample composition varies sharply with the random start.</a:t>
            </a:r>
          </a:p>
        </p:txBody>
      </p:sp>
      <p:sp>
        <p:nvSpPr>
          <p:cNvPr id="6" name="s38-text-5">
            <a:extLst>
              <a:ext uri="{FF2B5EF4-FFF2-40B4-BE49-F238E27FC236}">
                <a16:creationId xmlns:a16="http://schemas.microsoft.com/office/drawing/2014/main" id="{30B0BB21-913B-45F8-809E-6191F37D0CD3}"/>
              </a:ext>
            </a:extLst>
          </p:cNvPr>
          <p:cNvSpPr>
            <a:spLocks noGrp="1"/>
          </p:cNvSpPr>
          <p:nvPr/>
        </p:nvSpPr>
        <p:spPr>
          <a:xfrm>
            <a:off x="457200" y="5743575"/>
            <a:ext cx="11239500" cy="523875"/>
          </a:xfrm>
          <a:prstGeom prst="rect">
            <a:avLst/>
          </a:prstGeom>
          <a:noFill/>
          <a:ln w="0">
            <a:noFill/>
          </a:ln>
        </p:spPr>
        <p:txBody>
          <a:bodyPr wrap="square" lIns="0" tIns="0" rIns="0" bIns="0" anchor="t">
            <a:noAutofit/>
          </a:bodyPr>
          <a:lstStyle/>
          <a:p>
            <a:pPr algn="l">
              <a:defRPr sz="2175" b="1">
                <a:solidFill>
                  <a:srgbClr val="111111"/>
                </a:solidFill>
                <a:latin typeface="Aptos"/>
                <a:ea typeface="Aptos"/>
                <a:cs typeface="Aptos"/>
              </a:defRPr>
            </a:pPr>
            <a:r>
              <a:rPr sz="2175" b="1">
                <a:solidFill>
                  <a:srgbClr val="111111"/>
                </a:solidFill>
                <a:latin typeface="Aptos"/>
                <a:ea typeface="Aptos"/>
                <a:cs typeface="Aptos"/>
              </a:rPr>
              <a:t>Randomly shuffle the list first, or use strata if both groups must appear.</a:t>
            </a:r>
          </a:p>
        </p:txBody>
      </p:sp>
      <p:sp>
        <p:nvSpPr>
          <p:cNvPr id="7" name="s38-text-6">
            <a:extLst>
              <a:ext uri="{FF2B5EF4-FFF2-40B4-BE49-F238E27FC236}">
                <a16:creationId xmlns:a16="http://schemas.microsoft.com/office/drawing/2014/main" id="{CD836DC5-FE12-4AFA-96A4-94F795501177}"/>
              </a:ext>
            </a:extLst>
          </p:cNvPr>
          <p:cNvSpPr>
            <a:spLocks noGrp="1"/>
          </p:cNvSpPr>
          <p:nvPr/>
        </p:nvSpPr>
        <p:spPr>
          <a:xfrm>
            <a:off x="457200" y="6477000"/>
            <a:ext cx="10763250" cy="238125"/>
          </a:xfrm>
          <a:prstGeom prst="rect">
            <a:avLst/>
          </a:prstGeom>
          <a:noFill/>
          <a:ln w="0">
            <a:noFill/>
          </a:ln>
        </p:spPr>
        <p:txBody>
          <a:bodyPr wrap="square" lIns="0" tIns="0" rIns="0" bIns="0" anchor="t">
            <a:noAutofit/>
          </a:bodyPr>
          <a:lstStyle/>
          <a:p>
            <a:endParaRPr/>
          </a:p>
        </p:txBody>
      </p:sp>
      <p:sp>
        <p:nvSpPr>
          <p:cNvPr id="8" name="s38-text-7">
            <a:extLst>
              <a:ext uri="{FF2B5EF4-FFF2-40B4-BE49-F238E27FC236}">
                <a16:creationId xmlns:a16="http://schemas.microsoft.com/office/drawing/2014/main" id="{ED170D2F-14F9-4D0F-9F1C-982D9792A06F}"/>
              </a:ext>
            </a:extLst>
          </p:cNvPr>
          <p:cNvSpPr>
            <a:spLocks noGrp="1"/>
          </p:cNvSpPr>
          <p:nvPr/>
        </p:nvSpPr>
        <p:spPr>
          <a:xfrm>
            <a:off x="11239500" y="6477000"/>
            <a:ext cx="476250" cy="238125"/>
          </a:xfrm>
          <a:prstGeom prst="rect">
            <a:avLst/>
          </a:prstGeom>
          <a:noFill/>
          <a:ln w="0">
            <a:noFill/>
          </a:ln>
        </p:spPr>
        <p:txBody>
          <a:bodyPr wrap="square" lIns="0" tIns="0" rIns="0" bIns="0" anchor="t">
            <a:noAutofit/>
          </a:bodyPr>
          <a:lstStyle/>
          <a:p>
            <a:pPr algn="r">
              <a:defRPr sz="1275" b="0">
                <a:solidFill>
                  <a:srgbClr val="666666"/>
                </a:solidFill>
                <a:latin typeface="Aptos"/>
                <a:ea typeface="Aptos"/>
                <a:cs typeface="Aptos"/>
              </a:defRPr>
            </a:pPr>
            <a:r>
              <a:rPr sz="1275" b="0">
                <a:solidFill>
                  <a:srgbClr val="666666"/>
                </a:solidFill>
                <a:latin typeface="Aptos"/>
                <a:ea typeface="Aptos"/>
                <a:cs typeface="Aptos"/>
              </a:rPr>
              <a:t>38</a:t>
            </a:r>
          </a:p>
        </p:txBody>
      </p:sp>
    </p:spTree>
    <p:extLst>
      <p:ext uri="{BB962C8B-B14F-4D97-AF65-F5344CB8AC3E}">
        <p14:creationId xmlns:p14="http://schemas.microsoft.com/office/powerpoint/2010/main" val="32813612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39-text-1">
            <a:extLst>
              <a:ext uri="{FF2B5EF4-FFF2-40B4-BE49-F238E27FC236}">
                <a16:creationId xmlns:a16="http://schemas.microsoft.com/office/drawing/2014/main" id="{80A14105-7B1B-4C1F-96B7-C9A40DA4AA71}"/>
              </a:ext>
            </a:extLst>
          </p:cNvPr>
          <p:cNvSpPr>
            <a:spLocks noGrp="1"/>
          </p:cNvSpPr>
          <p:nvPr/>
        </p:nvSpPr>
        <p:spPr>
          <a:xfrm>
            <a:off x="430816" y="1038225"/>
            <a:ext cx="11293412" cy="78105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7. A method that fits the job</a:t>
            </a:r>
          </a:p>
        </p:txBody>
      </p:sp>
      <p:sp>
        <p:nvSpPr>
          <p:cNvPr id="2" name="s39-rect-2">
            <a:extLst>
              <a:ext uri="{FF2B5EF4-FFF2-40B4-BE49-F238E27FC236}">
                <a16:creationId xmlns:a16="http://schemas.microsoft.com/office/drawing/2014/main" id="{C631E79C-A3BD-4F5D-8D45-AE81D972C854}"/>
              </a:ext>
            </a:extLst>
          </p:cNvPr>
          <p:cNvSpPr>
            <a:spLocks noGrp="1"/>
          </p:cNvSpPr>
          <p:nvPr/>
        </p:nvSpPr>
        <p:spPr>
          <a:xfrm>
            <a:off x="8734425" y="476250"/>
            <a:ext cx="3000375" cy="400050"/>
          </a:xfrm>
          <a:prstGeom prst="rect">
            <a:avLst/>
          </a:prstGeom>
          <a:solidFill>
            <a:srgbClr val="D6171D"/>
          </a:solidFill>
          <a:ln w="0">
            <a:noFill/>
          </a:ln>
        </p:spPr>
        <p:txBody>
          <a:bodyPr/>
          <a:lstStyle/>
          <a:p>
            <a:endParaRPr lang="en-US"/>
          </a:p>
        </p:txBody>
      </p:sp>
      <p:sp>
        <p:nvSpPr>
          <p:cNvPr id="3" name="s39-text-3">
            <a:extLst>
              <a:ext uri="{FF2B5EF4-FFF2-40B4-BE49-F238E27FC236}">
                <a16:creationId xmlns:a16="http://schemas.microsoft.com/office/drawing/2014/main" id="{FB8D48A3-FF6E-4C0D-86F1-11BF8DB52CFC}"/>
              </a:ext>
            </a:extLst>
          </p:cNvPr>
          <p:cNvSpPr>
            <a:spLocks noGrp="1"/>
          </p:cNvSpPr>
          <p:nvPr/>
        </p:nvSpPr>
        <p:spPr>
          <a:xfrm>
            <a:off x="8829675" y="533400"/>
            <a:ext cx="2809875" cy="323850"/>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C5.7</a:t>
            </a:r>
          </a:p>
        </p:txBody>
      </p:sp>
      <p:sp>
        <p:nvSpPr>
          <p:cNvPr id="4" name="s39-text-4">
            <a:extLst>
              <a:ext uri="{FF2B5EF4-FFF2-40B4-BE49-F238E27FC236}">
                <a16:creationId xmlns:a16="http://schemas.microsoft.com/office/drawing/2014/main" id="{A55CCD2E-A961-4FA1-906A-BF5D3ABBE2A7}"/>
              </a:ext>
            </a:extLst>
          </p:cNvPr>
          <p:cNvSpPr>
            <a:spLocks noGrp="1"/>
          </p:cNvSpPr>
          <p:nvPr/>
        </p:nvSpPr>
        <p:spPr>
          <a:xfrm>
            <a:off x="457200" y="1971675"/>
            <a:ext cx="11239500" cy="60960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sz="2325" b="0">
                <a:solidFill>
                  <a:srgbClr val="111111"/>
                </a:solidFill>
                <a:latin typeface="Aptos"/>
                <a:ea typeface="Aptos"/>
                <a:cs typeface="Aptos"/>
              </a:rPr>
              <a:t>Choose a method and one clear selection step for each case.</a:t>
            </a:r>
          </a:p>
        </p:txBody>
      </p:sp>
      <p:graphicFrame>
        <p:nvGraphicFramePr>
          <p:cNvPr id="15" name="Table 14"/>
          <p:cNvGraphicFramePr/>
          <p:nvPr/>
        </p:nvGraphicFramePr>
        <p:xfrm>
          <a:off x="457200" y="2771775"/>
          <a:ext cx="11239500" cy="2971800"/>
        </p:xfrm>
        <a:graphic>
          <a:graphicData uri="http://schemas.openxmlformats.org/drawingml/2006/table">
            <a:tbl>
              <a:tblPr firstRow="1"/>
              <a:tblGrid>
                <a:gridCol w="3619500">
                  <a:extLst>
                    <a:ext uri="{9D8B030D-6E8A-4147-A177-3AD203B41FA5}">
                      <a16:colId xmlns:a16="http://schemas.microsoft.com/office/drawing/2014/main" val="20000"/>
                    </a:ext>
                  </a:extLst>
                </a:gridCol>
                <a:gridCol w="7620000">
                  <a:extLst>
                    <a:ext uri="{9D8B030D-6E8A-4147-A177-3AD203B41FA5}">
                      <a16:colId xmlns:a16="http://schemas.microsoft.com/office/drawing/2014/main" val="20001"/>
                    </a:ext>
                  </a:extLst>
                </a:gridCol>
              </a:tblGrid>
              <a:tr h="514350">
                <a:tc>
                  <a:txBody>
                    <a:bodyPr/>
                    <a:lstStyle/>
                    <a:p>
                      <a:pPr algn="l"/>
                      <a:r>
                        <a:rPr sz="2100" b="1">
                          <a:solidFill>
                            <a:srgbClr val="FFFFFF"/>
                          </a:solidFill>
                          <a:latin typeface="Aptos"/>
                          <a:ea typeface="Aptos"/>
                          <a:cs typeface="Aptos"/>
                        </a:rPr>
                        <a:t>Case</a:t>
                      </a:r>
                    </a:p>
                  </a:txBody>
                  <a:tcPr marL="95250" marR="95250" marT="19050" marB="19050" anchor="ctr">
                    <a:solidFill>
                      <a:srgbClr val="D6171D"/>
                    </a:solidFill>
                  </a:tcPr>
                </a:tc>
                <a:tc>
                  <a:txBody>
                    <a:bodyPr/>
                    <a:lstStyle/>
                    <a:p>
                      <a:pPr algn="ctr"/>
                      <a:r>
                        <a:rPr sz="2100" b="1">
                          <a:solidFill>
                            <a:srgbClr val="FFFFFF"/>
                          </a:solidFill>
                          <a:latin typeface="Aptos"/>
                          <a:ea typeface="Aptos"/>
                          <a:cs typeface="Aptos"/>
                        </a:rPr>
                        <a:t>Practical requirements</a:t>
                      </a:r>
                    </a:p>
                  </a:txBody>
                  <a:tcPr marL="95250" marR="95250" marT="19050" marB="19050" anchor="ctr">
                    <a:solidFill>
                      <a:srgbClr val="D6171D"/>
                    </a:solidFill>
                  </a:tcPr>
                </a:tc>
                <a:extLst>
                  <a:ext uri="{0D108BD9-81ED-4DB2-BD59-A6C34878D82A}">
                    <a16:rowId xmlns:a16="http://schemas.microsoft.com/office/drawing/2014/main" val="10000"/>
                  </a:ext>
                </a:extLst>
              </a:tr>
              <a:tr h="619125">
                <a:tc>
                  <a:txBody>
                    <a:bodyPr/>
                    <a:lstStyle/>
                    <a:p>
                      <a:pPr algn="l"/>
                      <a:r>
                        <a:rPr sz="2100" b="0">
                          <a:solidFill>
                            <a:srgbClr val="111111"/>
                          </a:solidFill>
                          <a:latin typeface="Aptos"/>
                          <a:ea typeface="Aptos"/>
                          <a:cs typeface="Aptos"/>
                        </a:rPr>
                        <a:t>A. Online university survey</a:t>
                      </a:r>
                    </a:p>
                  </a:txBody>
                  <a:tcPr marL="95250" marR="95250" marT="19050" marB="19050" anchor="ctr">
                    <a:solidFill>
                      <a:srgbClr val="FFFFFF"/>
                    </a:solidFill>
                  </a:tcPr>
                </a:tc>
                <a:tc>
                  <a:txBody>
                    <a:bodyPr/>
                    <a:lstStyle/>
                    <a:p>
                      <a:pPr algn="ctr"/>
                      <a:r>
                        <a:rPr sz="2100" b="0">
                          <a:solidFill>
                            <a:srgbClr val="111111"/>
                          </a:solidFill>
                          <a:latin typeface="Aptos"/>
                          <a:ea typeface="Aptos"/>
                          <a:cs typeface="Aptos"/>
                        </a:rPr>
                        <a:t>Complete contact list. Select 157 of 4,286 students.</a:t>
                      </a:r>
                    </a:p>
                  </a:txBody>
                  <a:tcPr marL="95250" marR="95250" marT="19050" marB="19050" anchor="ctr">
                    <a:solidFill>
                      <a:srgbClr val="FFFFFF"/>
                    </a:solidFill>
                  </a:tcPr>
                </a:tc>
                <a:extLst>
                  <a:ext uri="{0D108BD9-81ED-4DB2-BD59-A6C34878D82A}">
                    <a16:rowId xmlns:a16="http://schemas.microsoft.com/office/drawing/2014/main" val="10001"/>
                  </a:ext>
                </a:extLst>
              </a:tr>
              <a:tr h="981075">
                <a:tc>
                  <a:txBody>
                    <a:bodyPr/>
                    <a:lstStyle/>
                    <a:p>
                      <a:pPr algn="l"/>
                      <a:r>
                        <a:rPr sz="2100" b="0">
                          <a:solidFill>
                            <a:srgbClr val="111111"/>
                          </a:solidFill>
                          <a:latin typeface="Aptos"/>
                          <a:ea typeface="Aptos"/>
                          <a:cs typeface="Aptos"/>
                        </a:rPr>
                        <a:t>B. Programme comparison</a:t>
                      </a:r>
                    </a:p>
                  </a:txBody>
                  <a:tcPr marL="95250" marR="95250" marT="19050" marB="19050" anchor="ctr">
                    <a:solidFill>
                      <a:srgbClr val="EFF8FF"/>
                    </a:solidFill>
                  </a:tcPr>
                </a:tc>
                <a:tc>
                  <a:txBody>
                    <a:bodyPr/>
                    <a:lstStyle/>
                    <a:p>
                      <a:pPr algn="ctr"/>
                      <a:r>
                        <a:rPr sz="2100" b="0">
                          <a:solidFill>
                            <a:srgbClr val="111111"/>
                          </a:solidFill>
                          <a:latin typeface="Aptos"/>
                          <a:ea typeface="Aptos"/>
                          <a:cs typeface="Aptos"/>
                        </a:rPr>
                        <a:t>3,287 students, including 148 Engineers. Of 173 invitations, at least 40 must go to Engineers.</a:t>
                      </a:r>
                    </a:p>
                  </a:txBody>
                  <a:tcPr marL="95250" marR="95250" marT="19050" marB="19050" anchor="ctr">
                    <a:solidFill>
                      <a:srgbClr val="EFF8FF"/>
                    </a:solidFill>
                  </a:tcPr>
                </a:tc>
                <a:extLst>
                  <a:ext uri="{0D108BD9-81ED-4DB2-BD59-A6C34878D82A}">
                    <a16:rowId xmlns:a16="http://schemas.microsoft.com/office/drawing/2014/main" val="10002"/>
                  </a:ext>
                </a:extLst>
              </a:tr>
              <a:tr h="857250">
                <a:tc>
                  <a:txBody>
                    <a:bodyPr/>
                    <a:lstStyle/>
                    <a:p>
                      <a:pPr algn="l"/>
                      <a:r>
                        <a:rPr sz="2100" b="0">
                          <a:solidFill>
                            <a:srgbClr val="111111"/>
                          </a:solidFill>
                          <a:latin typeface="Aptos"/>
                          <a:ea typeface="Aptos"/>
                          <a:cs typeface="Aptos"/>
                        </a:rPr>
                        <a:t>C. In-person health study</a:t>
                      </a:r>
                    </a:p>
                  </a:txBody>
                  <a:tcPr marL="95250" marR="95250" marT="19050" marB="19050" anchor="ctr">
                    <a:solidFill>
                      <a:srgbClr val="FFFFFF"/>
                    </a:solidFill>
                  </a:tcPr>
                </a:tc>
                <a:tc>
                  <a:txBody>
                    <a:bodyPr/>
                    <a:lstStyle/>
                    <a:p>
                      <a:pPr algn="ctr"/>
                      <a:r>
                        <a:rPr sz="2100" b="0">
                          <a:solidFill>
                            <a:srgbClr val="111111"/>
                          </a:solidFill>
                          <a:latin typeface="Aptos"/>
                          <a:ea typeface="Aptos"/>
                          <a:cs typeface="Aptos"/>
                        </a:rPr>
                        <a:t>137 villages. The team can visit six villages and contact every household there.</a:t>
                      </a:r>
                    </a:p>
                  </a:txBody>
                  <a:tcPr marL="95250" marR="95250" marT="19050" marB="19050" anchor="ctr">
                    <a:solidFill>
                      <a:srgbClr val="FFFFFF"/>
                    </a:solidFill>
                  </a:tcPr>
                </a:tc>
                <a:extLst>
                  <a:ext uri="{0D108BD9-81ED-4DB2-BD59-A6C34878D82A}">
                    <a16:rowId xmlns:a16="http://schemas.microsoft.com/office/drawing/2014/main" val="10003"/>
                  </a:ext>
                </a:extLst>
              </a:tr>
            </a:tbl>
          </a:graphicData>
        </a:graphic>
      </p:graphicFrame>
      <p:sp>
        <p:nvSpPr>
          <p:cNvPr id="6" name="s39-rect-5">
            <a:extLst>
              <a:ext uri="{FF2B5EF4-FFF2-40B4-BE49-F238E27FC236}">
                <a16:creationId xmlns:a16="http://schemas.microsoft.com/office/drawing/2014/main" id="{A6650657-052F-41ED-8D14-8166678A84CB}"/>
              </a:ext>
            </a:extLst>
          </p:cNvPr>
          <p:cNvSpPr>
            <a:spLocks noGrp="1"/>
          </p:cNvSpPr>
          <p:nvPr/>
        </p:nvSpPr>
        <p:spPr>
          <a:xfrm>
            <a:off x="428625" y="5876925"/>
            <a:ext cx="2762250" cy="400050"/>
          </a:xfrm>
          <a:prstGeom prst="rect">
            <a:avLst/>
          </a:prstGeom>
          <a:solidFill>
            <a:srgbClr val="D6171D"/>
          </a:solidFill>
          <a:ln w="0">
            <a:noFill/>
          </a:ln>
        </p:spPr>
        <p:txBody>
          <a:bodyPr/>
          <a:lstStyle/>
          <a:p>
            <a:endParaRPr lang="en-US"/>
          </a:p>
        </p:txBody>
      </p:sp>
      <p:sp>
        <p:nvSpPr>
          <p:cNvPr id="7" name="s39-text-6">
            <a:extLst>
              <a:ext uri="{FF2B5EF4-FFF2-40B4-BE49-F238E27FC236}">
                <a16:creationId xmlns:a16="http://schemas.microsoft.com/office/drawing/2014/main" id="{CF1A5FDF-E0E8-4EB8-BA20-721966146694}"/>
              </a:ext>
            </a:extLst>
          </p:cNvPr>
          <p:cNvSpPr>
            <a:spLocks noGrp="1"/>
          </p:cNvSpPr>
          <p:nvPr/>
        </p:nvSpPr>
        <p:spPr>
          <a:xfrm>
            <a:off x="523875" y="5934075"/>
            <a:ext cx="2571750" cy="323850"/>
          </a:xfrm>
          <a:prstGeom prst="rect">
            <a:avLst/>
          </a:prstGeom>
          <a:noFill/>
          <a:ln w="0">
            <a:noFill/>
          </a:ln>
        </p:spPr>
        <p:txBody>
          <a:bodyPr wrap="square" lIns="0" tIns="0" rIns="0" bIns="0" anchor="t">
            <a:noAutofit/>
          </a:bodyPr>
          <a:lstStyle/>
          <a:p>
            <a:pPr algn="ctr">
              <a:defRPr sz="1800" b="1">
                <a:solidFill>
                  <a:srgbClr val="FFFFFF"/>
                </a:solidFill>
                <a:latin typeface="Aptos"/>
                <a:ea typeface="Aptos"/>
                <a:cs typeface="Aptos"/>
              </a:defRPr>
            </a:pPr>
            <a:r>
              <a:rPr sz="1800" b="1">
                <a:solidFill>
                  <a:srgbClr val="FFFFFF"/>
                </a:solidFill>
                <a:latin typeface="Aptos"/>
                <a:ea typeface="Aptos"/>
                <a:cs typeface="Aptos"/>
              </a:rPr>
              <a:t>DISCUSS   3 MIN</a:t>
            </a:r>
          </a:p>
        </p:txBody>
      </p:sp>
      <p:sp>
        <p:nvSpPr>
          <p:cNvPr id="8" name="s39-text-7">
            <a:extLst>
              <a:ext uri="{FF2B5EF4-FFF2-40B4-BE49-F238E27FC236}">
                <a16:creationId xmlns:a16="http://schemas.microsoft.com/office/drawing/2014/main" id="{C1A362E0-9B80-464D-8FAB-D5A8ECB7076A}"/>
              </a:ext>
            </a:extLst>
          </p:cNvPr>
          <p:cNvSpPr>
            <a:spLocks noGrp="1"/>
          </p:cNvSpPr>
          <p:nvPr/>
        </p:nvSpPr>
        <p:spPr>
          <a:xfrm>
            <a:off x="3381375" y="5886450"/>
            <a:ext cx="8286750" cy="457200"/>
          </a:xfrm>
          <a:prstGeom prst="rect">
            <a:avLst/>
          </a:prstGeom>
          <a:noFill/>
          <a:ln w="0">
            <a:noFill/>
          </a:ln>
        </p:spPr>
        <p:txBody>
          <a:bodyPr wrap="square" lIns="0" tIns="0" rIns="0" bIns="0" anchor="t">
            <a:noAutofit/>
          </a:bodyPr>
          <a:lstStyle/>
          <a:p>
            <a:pPr algn="l">
              <a:defRPr sz="2100" b="1">
                <a:solidFill>
                  <a:srgbClr val="111111"/>
                </a:solidFill>
                <a:latin typeface="Aptos"/>
                <a:ea typeface="Aptos"/>
                <a:cs typeface="Aptos"/>
              </a:defRPr>
            </a:pPr>
            <a:r>
              <a:rPr sz="2100" b="1">
                <a:solidFill>
                  <a:srgbClr val="111111"/>
                </a:solidFill>
                <a:latin typeface="Aptos"/>
                <a:ea typeface="Aptos"/>
                <a:cs typeface="Aptos"/>
              </a:rPr>
              <a:t>Make each procedure meet the stated constraints.</a:t>
            </a:r>
          </a:p>
        </p:txBody>
      </p:sp>
      <p:sp>
        <p:nvSpPr>
          <p:cNvPr id="9" name="s39-text-8">
            <a:extLst>
              <a:ext uri="{FF2B5EF4-FFF2-40B4-BE49-F238E27FC236}">
                <a16:creationId xmlns:a16="http://schemas.microsoft.com/office/drawing/2014/main" id="{28119498-7CC6-497A-A8AA-1206DA70D718}"/>
              </a:ext>
            </a:extLst>
          </p:cNvPr>
          <p:cNvSpPr>
            <a:spLocks noGrp="1"/>
          </p:cNvSpPr>
          <p:nvPr/>
        </p:nvSpPr>
        <p:spPr>
          <a:xfrm>
            <a:off x="457200" y="6477000"/>
            <a:ext cx="10763250" cy="238125"/>
          </a:xfrm>
          <a:prstGeom prst="rect">
            <a:avLst/>
          </a:prstGeom>
          <a:noFill/>
          <a:ln w="0">
            <a:noFill/>
          </a:ln>
        </p:spPr>
        <p:txBody>
          <a:bodyPr wrap="square" lIns="0" tIns="0" rIns="0" bIns="0" anchor="t">
            <a:noAutofit/>
          </a:bodyPr>
          <a:lstStyle/>
          <a:p>
            <a:endParaRPr/>
          </a:p>
        </p:txBody>
      </p:sp>
      <p:sp>
        <p:nvSpPr>
          <p:cNvPr id="10" name="s39-text-9">
            <a:extLst>
              <a:ext uri="{FF2B5EF4-FFF2-40B4-BE49-F238E27FC236}">
                <a16:creationId xmlns:a16="http://schemas.microsoft.com/office/drawing/2014/main" id="{E6C0683D-61A2-4AEA-814D-30F8E242AF16}"/>
              </a:ext>
            </a:extLst>
          </p:cNvPr>
          <p:cNvSpPr>
            <a:spLocks noGrp="1"/>
          </p:cNvSpPr>
          <p:nvPr/>
        </p:nvSpPr>
        <p:spPr>
          <a:xfrm>
            <a:off x="11239500" y="6477000"/>
            <a:ext cx="476250" cy="238125"/>
          </a:xfrm>
          <a:prstGeom prst="rect">
            <a:avLst/>
          </a:prstGeom>
          <a:noFill/>
          <a:ln w="0">
            <a:noFill/>
          </a:ln>
        </p:spPr>
        <p:txBody>
          <a:bodyPr wrap="square" lIns="0" tIns="0" rIns="0" bIns="0" anchor="t">
            <a:noAutofit/>
          </a:bodyPr>
          <a:lstStyle/>
          <a:p>
            <a:pPr algn="r">
              <a:defRPr sz="1275" b="0">
                <a:solidFill>
                  <a:srgbClr val="666666"/>
                </a:solidFill>
                <a:latin typeface="Aptos"/>
                <a:ea typeface="Aptos"/>
                <a:cs typeface="Aptos"/>
              </a:defRPr>
            </a:pPr>
            <a:r>
              <a:rPr sz="1275" b="0">
                <a:solidFill>
                  <a:srgbClr val="666666"/>
                </a:solidFill>
                <a:latin typeface="Aptos"/>
                <a:ea typeface="Aptos"/>
                <a:cs typeface="Aptos"/>
              </a:rPr>
              <a:t>39</a:t>
            </a:r>
          </a:p>
        </p:txBody>
      </p:sp>
    </p:spTree>
    <p:extLst>
      <p:ext uri="{BB962C8B-B14F-4D97-AF65-F5344CB8AC3E}">
        <p14:creationId xmlns:p14="http://schemas.microsoft.com/office/powerpoint/2010/main" val="32813612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40-text-1">
            <a:extLst>
              <a:ext uri="{FF2B5EF4-FFF2-40B4-BE49-F238E27FC236}">
                <a16:creationId xmlns:a16="http://schemas.microsoft.com/office/drawing/2014/main" id="{DF90F308-8F96-4F5E-AA4D-AF78FCF0B5D8}"/>
              </a:ext>
            </a:extLst>
          </p:cNvPr>
          <p:cNvSpPr>
            <a:spLocks noGrp="1"/>
          </p:cNvSpPr>
          <p:nvPr/>
        </p:nvSpPr>
        <p:spPr>
          <a:xfrm>
            <a:off x="430816" y="1038225"/>
            <a:ext cx="11293412" cy="78105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7. Potential answers</a:t>
            </a:r>
          </a:p>
        </p:txBody>
      </p:sp>
      <p:sp>
        <p:nvSpPr>
          <p:cNvPr id="2" name="s40-rect-2">
            <a:extLst>
              <a:ext uri="{FF2B5EF4-FFF2-40B4-BE49-F238E27FC236}">
                <a16:creationId xmlns:a16="http://schemas.microsoft.com/office/drawing/2014/main" id="{375D7B0F-7BB9-4C89-99D8-FE0F694A8F91}"/>
              </a:ext>
            </a:extLst>
          </p:cNvPr>
          <p:cNvSpPr>
            <a:spLocks noGrp="1"/>
          </p:cNvSpPr>
          <p:nvPr/>
        </p:nvSpPr>
        <p:spPr>
          <a:xfrm>
            <a:off x="8734425" y="476250"/>
            <a:ext cx="3000375" cy="400050"/>
          </a:xfrm>
          <a:prstGeom prst="rect">
            <a:avLst/>
          </a:prstGeom>
          <a:solidFill>
            <a:srgbClr val="D6171D"/>
          </a:solidFill>
          <a:ln w="0">
            <a:noFill/>
          </a:ln>
        </p:spPr>
        <p:txBody>
          <a:bodyPr/>
          <a:lstStyle/>
          <a:p>
            <a:endParaRPr lang="en-US"/>
          </a:p>
        </p:txBody>
      </p:sp>
      <p:sp>
        <p:nvSpPr>
          <p:cNvPr id="3" name="s40-text-3">
            <a:extLst>
              <a:ext uri="{FF2B5EF4-FFF2-40B4-BE49-F238E27FC236}">
                <a16:creationId xmlns:a16="http://schemas.microsoft.com/office/drawing/2014/main" id="{5FF84F99-15FB-41C0-B6F6-7FB6E7C91861}"/>
              </a:ext>
            </a:extLst>
          </p:cNvPr>
          <p:cNvSpPr>
            <a:spLocks noGrp="1"/>
          </p:cNvSpPr>
          <p:nvPr/>
        </p:nvSpPr>
        <p:spPr>
          <a:xfrm>
            <a:off x="8829675" y="533400"/>
            <a:ext cx="2809875" cy="323850"/>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C5.7</a:t>
            </a:r>
          </a:p>
        </p:txBody>
      </p:sp>
      <p:graphicFrame>
        <p:nvGraphicFramePr>
          <p:cNvPr id="11" name="Table 10"/>
          <p:cNvGraphicFramePr/>
          <p:nvPr/>
        </p:nvGraphicFramePr>
        <p:xfrm>
          <a:off x="457200" y="2076450"/>
          <a:ext cx="11239500" cy="3314700"/>
        </p:xfrm>
        <a:graphic>
          <a:graphicData uri="http://schemas.openxmlformats.org/drawingml/2006/table">
            <a:tbl>
              <a:tblPr firstRow="1"/>
              <a:tblGrid>
                <a:gridCol w="1428750">
                  <a:extLst>
                    <a:ext uri="{9D8B030D-6E8A-4147-A177-3AD203B41FA5}">
                      <a16:colId xmlns:a16="http://schemas.microsoft.com/office/drawing/2014/main" val="20000"/>
                    </a:ext>
                  </a:extLst>
                </a:gridCol>
                <a:gridCol w="3238500">
                  <a:extLst>
                    <a:ext uri="{9D8B030D-6E8A-4147-A177-3AD203B41FA5}">
                      <a16:colId xmlns:a16="http://schemas.microsoft.com/office/drawing/2014/main" val="20001"/>
                    </a:ext>
                  </a:extLst>
                </a:gridCol>
                <a:gridCol w="6572250">
                  <a:extLst>
                    <a:ext uri="{9D8B030D-6E8A-4147-A177-3AD203B41FA5}">
                      <a16:colId xmlns:a16="http://schemas.microsoft.com/office/drawing/2014/main" val="20002"/>
                    </a:ext>
                  </a:extLst>
                </a:gridCol>
              </a:tblGrid>
              <a:tr h="542925">
                <a:tc>
                  <a:txBody>
                    <a:bodyPr/>
                    <a:lstStyle/>
                    <a:p>
                      <a:pPr algn="l"/>
                      <a:r>
                        <a:rPr sz="2100" b="1">
                          <a:solidFill>
                            <a:srgbClr val="FFFFFF"/>
                          </a:solidFill>
                          <a:latin typeface="Aptos"/>
                          <a:ea typeface="Aptos"/>
                          <a:cs typeface="Aptos"/>
                        </a:rPr>
                        <a:t>Case</a:t>
                      </a:r>
                    </a:p>
                  </a:txBody>
                  <a:tcPr marL="95250" marR="95250" marT="19050" marB="19050" anchor="ctr">
                    <a:solidFill>
                      <a:srgbClr val="D6171D"/>
                    </a:solidFill>
                  </a:tcPr>
                </a:tc>
                <a:tc>
                  <a:txBody>
                    <a:bodyPr/>
                    <a:lstStyle/>
                    <a:p>
                      <a:pPr algn="ctr"/>
                      <a:r>
                        <a:rPr sz="2100" b="1">
                          <a:solidFill>
                            <a:srgbClr val="FFFFFF"/>
                          </a:solidFill>
                          <a:latin typeface="Aptos"/>
                          <a:ea typeface="Aptos"/>
                          <a:cs typeface="Aptos"/>
                        </a:rPr>
                        <a:t>Suitable method</a:t>
                      </a:r>
                    </a:p>
                  </a:txBody>
                  <a:tcPr marL="95250" marR="95250" marT="19050" marB="19050" anchor="ctr">
                    <a:solidFill>
                      <a:srgbClr val="D6171D"/>
                    </a:solidFill>
                  </a:tcPr>
                </a:tc>
                <a:tc>
                  <a:txBody>
                    <a:bodyPr/>
                    <a:lstStyle/>
                    <a:p>
                      <a:pPr algn="ctr"/>
                      <a:r>
                        <a:rPr sz="2100" b="1">
                          <a:solidFill>
                            <a:srgbClr val="FFFFFF"/>
                          </a:solidFill>
                          <a:latin typeface="Aptos"/>
                          <a:ea typeface="Aptos"/>
                          <a:cs typeface="Aptos"/>
                        </a:rPr>
                        <a:t>Selection step</a:t>
                      </a:r>
                    </a:p>
                  </a:txBody>
                  <a:tcPr marL="95250" marR="95250" marT="19050" marB="19050" anchor="ctr">
                    <a:solidFill>
                      <a:srgbClr val="D6171D"/>
                    </a:solidFill>
                  </a:tcPr>
                </a:tc>
                <a:extLst>
                  <a:ext uri="{0D108BD9-81ED-4DB2-BD59-A6C34878D82A}">
                    <a16:rowId xmlns:a16="http://schemas.microsoft.com/office/drawing/2014/main" val="10000"/>
                  </a:ext>
                </a:extLst>
              </a:tr>
              <a:tr h="752475">
                <a:tc>
                  <a:txBody>
                    <a:bodyPr/>
                    <a:lstStyle/>
                    <a:p>
                      <a:pPr algn="l"/>
                      <a:r>
                        <a:rPr sz="2100" b="0">
                          <a:solidFill>
                            <a:srgbClr val="111111"/>
                          </a:solidFill>
                          <a:latin typeface="Aptos"/>
                          <a:ea typeface="Aptos"/>
                          <a:cs typeface="Aptos"/>
                        </a:rPr>
                        <a:t>A</a:t>
                      </a:r>
                    </a:p>
                  </a:txBody>
                  <a:tcPr marL="95250" marR="95250" marT="19050" marB="19050" anchor="ctr">
                    <a:solidFill>
                      <a:srgbClr val="FFFFFF"/>
                    </a:solidFill>
                  </a:tcPr>
                </a:tc>
                <a:tc>
                  <a:txBody>
                    <a:bodyPr/>
                    <a:lstStyle/>
                    <a:p>
                      <a:pPr algn="ctr"/>
                      <a:r>
                        <a:rPr sz="2100" b="0">
                          <a:solidFill>
                            <a:srgbClr val="111111"/>
                          </a:solidFill>
                          <a:latin typeface="Aptos"/>
                          <a:ea typeface="Aptos"/>
                          <a:cs typeface="Aptos"/>
                        </a:rPr>
                        <a:t>Simple random</a:t>
                      </a:r>
                    </a:p>
                  </a:txBody>
                  <a:tcPr marL="95250" marR="95250" marT="19050" marB="19050" anchor="ctr">
                    <a:solidFill>
                      <a:srgbClr val="FFFFFF"/>
                    </a:solidFill>
                  </a:tcPr>
                </a:tc>
                <a:tc>
                  <a:txBody>
                    <a:bodyPr/>
                    <a:lstStyle/>
                    <a:p>
                      <a:pPr algn="ctr"/>
                      <a:r>
                        <a:rPr sz="2100" b="0">
                          <a:solidFill>
                            <a:srgbClr val="111111"/>
                          </a:solidFill>
                          <a:latin typeface="Aptos"/>
                          <a:ea typeface="Aptos"/>
                          <a:cs typeface="Aptos"/>
                        </a:rPr>
                        <a:t>Select 157 distinct student IDs uniformly.</a:t>
                      </a:r>
                    </a:p>
                  </a:txBody>
                  <a:tcPr marL="95250" marR="95250" marT="19050" marB="19050" anchor="ctr">
                    <a:solidFill>
                      <a:srgbClr val="FFFFFF"/>
                    </a:solidFill>
                  </a:tcPr>
                </a:tc>
                <a:extLst>
                  <a:ext uri="{0D108BD9-81ED-4DB2-BD59-A6C34878D82A}">
                    <a16:rowId xmlns:a16="http://schemas.microsoft.com/office/drawing/2014/main" val="10001"/>
                  </a:ext>
                </a:extLst>
              </a:tr>
              <a:tr h="1009650">
                <a:tc>
                  <a:txBody>
                    <a:bodyPr/>
                    <a:lstStyle/>
                    <a:p>
                      <a:pPr algn="l"/>
                      <a:r>
                        <a:rPr sz="2100" b="0">
                          <a:solidFill>
                            <a:srgbClr val="111111"/>
                          </a:solidFill>
                          <a:latin typeface="Aptos"/>
                          <a:ea typeface="Aptos"/>
                          <a:cs typeface="Aptos"/>
                        </a:rPr>
                        <a:t>B</a:t>
                      </a:r>
                    </a:p>
                  </a:txBody>
                  <a:tcPr marL="95250" marR="95250" marT="19050" marB="19050" anchor="ctr">
                    <a:solidFill>
                      <a:srgbClr val="EFF8FF"/>
                    </a:solidFill>
                  </a:tcPr>
                </a:tc>
                <a:tc>
                  <a:txBody>
                    <a:bodyPr/>
                    <a:lstStyle/>
                    <a:p>
                      <a:pPr algn="ctr"/>
                      <a:r>
                        <a:rPr sz="2100" b="0">
                          <a:solidFill>
                            <a:srgbClr val="111111"/>
                          </a:solidFill>
                          <a:latin typeface="Aptos"/>
                          <a:ea typeface="Aptos"/>
                          <a:cs typeface="Aptos"/>
                        </a:rPr>
                        <a:t>Stratified</a:t>
                      </a:r>
                    </a:p>
                  </a:txBody>
                  <a:tcPr marL="95250" marR="95250" marT="19050" marB="19050" anchor="ctr">
                    <a:solidFill>
                      <a:srgbClr val="EFF8FF"/>
                    </a:solidFill>
                  </a:tcPr>
                </a:tc>
                <a:tc>
                  <a:txBody>
                    <a:bodyPr/>
                    <a:lstStyle/>
                    <a:p>
                      <a:pPr algn="ctr"/>
                      <a:r>
                        <a:rPr sz="2100" b="0">
                          <a:solidFill>
                            <a:srgbClr val="111111"/>
                          </a:solidFill>
                          <a:latin typeface="Aptos"/>
                          <a:ea typeface="Aptos"/>
                          <a:cs typeface="Aptos"/>
                        </a:rPr>
                        <a:t>Randomly select 40 Engineers and 133 other students from separate lists.</a:t>
                      </a:r>
                    </a:p>
                  </a:txBody>
                  <a:tcPr marL="95250" marR="95250" marT="19050" marB="19050" anchor="ctr">
                    <a:solidFill>
                      <a:srgbClr val="EFF8FF"/>
                    </a:solidFill>
                  </a:tcPr>
                </a:tc>
                <a:extLst>
                  <a:ext uri="{0D108BD9-81ED-4DB2-BD59-A6C34878D82A}">
                    <a16:rowId xmlns:a16="http://schemas.microsoft.com/office/drawing/2014/main" val="10002"/>
                  </a:ext>
                </a:extLst>
              </a:tr>
              <a:tr h="1009650">
                <a:tc>
                  <a:txBody>
                    <a:bodyPr/>
                    <a:lstStyle/>
                    <a:p>
                      <a:pPr algn="l"/>
                      <a:r>
                        <a:rPr sz="2100" b="0">
                          <a:solidFill>
                            <a:srgbClr val="111111"/>
                          </a:solidFill>
                          <a:latin typeface="Aptos"/>
                          <a:ea typeface="Aptos"/>
                          <a:cs typeface="Aptos"/>
                        </a:rPr>
                        <a:t>C</a:t>
                      </a:r>
                    </a:p>
                  </a:txBody>
                  <a:tcPr marL="95250" marR="95250" marT="19050" marB="19050" anchor="ctr">
                    <a:solidFill>
                      <a:srgbClr val="FFFFFF"/>
                    </a:solidFill>
                  </a:tcPr>
                </a:tc>
                <a:tc>
                  <a:txBody>
                    <a:bodyPr/>
                    <a:lstStyle/>
                    <a:p>
                      <a:pPr algn="ctr"/>
                      <a:r>
                        <a:rPr sz="2100" b="0">
                          <a:solidFill>
                            <a:srgbClr val="111111"/>
                          </a:solidFill>
                          <a:latin typeface="Aptos"/>
                          <a:ea typeface="Aptos"/>
                          <a:cs typeface="Aptos"/>
                        </a:rPr>
                        <a:t>Cluster</a:t>
                      </a:r>
                    </a:p>
                  </a:txBody>
                  <a:tcPr marL="95250" marR="95250" marT="19050" marB="19050" anchor="ctr">
                    <a:solidFill>
                      <a:srgbClr val="FFFFFF"/>
                    </a:solidFill>
                  </a:tcPr>
                </a:tc>
                <a:tc>
                  <a:txBody>
                    <a:bodyPr/>
                    <a:lstStyle/>
                    <a:p>
                      <a:pPr algn="ctr"/>
                      <a:r>
                        <a:rPr sz="2100" b="0">
                          <a:solidFill>
                            <a:srgbClr val="111111"/>
                          </a:solidFill>
                          <a:latin typeface="Aptos"/>
                          <a:ea typeface="Aptos"/>
                          <a:cs typeface="Aptos"/>
                        </a:rPr>
                        <a:t>Randomly select six villages, then attempt every household within them.</a:t>
                      </a:r>
                    </a:p>
                  </a:txBody>
                  <a:tcPr marL="95250" marR="95250" marT="19050" marB="19050" anchor="ctr">
                    <a:solidFill>
                      <a:srgbClr val="FFFFFF"/>
                    </a:solidFill>
                  </a:tcPr>
                </a:tc>
                <a:extLst>
                  <a:ext uri="{0D108BD9-81ED-4DB2-BD59-A6C34878D82A}">
                    <a16:rowId xmlns:a16="http://schemas.microsoft.com/office/drawing/2014/main" val="10003"/>
                  </a:ext>
                </a:extLst>
              </a:tr>
            </a:tbl>
          </a:graphicData>
        </a:graphic>
      </p:graphicFrame>
      <p:sp>
        <p:nvSpPr>
          <p:cNvPr id="5" name="s40-text-4">
            <a:extLst>
              <a:ext uri="{FF2B5EF4-FFF2-40B4-BE49-F238E27FC236}">
                <a16:creationId xmlns:a16="http://schemas.microsoft.com/office/drawing/2014/main" id="{590D2954-807D-439F-8E09-767097BED61E}"/>
              </a:ext>
            </a:extLst>
          </p:cNvPr>
          <p:cNvSpPr>
            <a:spLocks noGrp="1"/>
          </p:cNvSpPr>
          <p:nvPr/>
        </p:nvSpPr>
        <p:spPr>
          <a:xfrm>
            <a:off x="457200" y="5724525"/>
            <a:ext cx="11239500" cy="533400"/>
          </a:xfrm>
          <a:prstGeom prst="rect">
            <a:avLst/>
          </a:prstGeom>
          <a:noFill/>
          <a:ln w="0">
            <a:noFill/>
          </a:ln>
        </p:spPr>
        <p:txBody>
          <a:bodyPr wrap="square" lIns="0" tIns="0" rIns="0" bIns="0" anchor="t">
            <a:noAutofit/>
          </a:bodyPr>
          <a:lstStyle/>
          <a:p>
            <a:pPr algn="l">
              <a:defRPr sz="2175" b="1">
                <a:solidFill>
                  <a:srgbClr val="111111"/>
                </a:solidFill>
                <a:latin typeface="Aptos"/>
                <a:ea typeface="Aptos"/>
                <a:cs typeface="Aptos"/>
              </a:defRPr>
            </a:pPr>
            <a:r>
              <a:rPr sz="2175" b="1">
                <a:solidFill>
                  <a:srgbClr val="111111"/>
                </a:solidFill>
                <a:latin typeface="Aptos"/>
                <a:ea typeface="Aptos"/>
                <a:cs typeface="Aptos"/>
              </a:rPr>
              <a:t>B deliberately uses unequal selection chances to include the smaller group.</a:t>
            </a:r>
          </a:p>
        </p:txBody>
      </p:sp>
      <p:sp>
        <p:nvSpPr>
          <p:cNvPr id="6" name="s40-text-5">
            <a:extLst>
              <a:ext uri="{FF2B5EF4-FFF2-40B4-BE49-F238E27FC236}">
                <a16:creationId xmlns:a16="http://schemas.microsoft.com/office/drawing/2014/main" id="{DB638AC6-61F3-474F-B03C-233FF4841968}"/>
              </a:ext>
            </a:extLst>
          </p:cNvPr>
          <p:cNvSpPr>
            <a:spLocks noGrp="1"/>
          </p:cNvSpPr>
          <p:nvPr/>
        </p:nvSpPr>
        <p:spPr>
          <a:xfrm>
            <a:off x="457200" y="6477000"/>
            <a:ext cx="10763250" cy="238125"/>
          </a:xfrm>
          <a:prstGeom prst="rect">
            <a:avLst/>
          </a:prstGeom>
          <a:noFill/>
          <a:ln w="0">
            <a:noFill/>
          </a:ln>
        </p:spPr>
        <p:txBody>
          <a:bodyPr wrap="square" lIns="0" tIns="0" rIns="0" bIns="0" anchor="t">
            <a:noAutofit/>
          </a:bodyPr>
          <a:lstStyle/>
          <a:p>
            <a:endParaRPr/>
          </a:p>
        </p:txBody>
      </p:sp>
      <p:sp>
        <p:nvSpPr>
          <p:cNvPr id="7" name="s40-text-6">
            <a:extLst>
              <a:ext uri="{FF2B5EF4-FFF2-40B4-BE49-F238E27FC236}">
                <a16:creationId xmlns:a16="http://schemas.microsoft.com/office/drawing/2014/main" id="{1916656F-C1AE-46E2-8E9E-F679B99DD473}"/>
              </a:ext>
            </a:extLst>
          </p:cNvPr>
          <p:cNvSpPr>
            <a:spLocks noGrp="1"/>
          </p:cNvSpPr>
          <p:nvPr/>
        </p:nvSpPr>
        <p:spPr>
          <a:xfrm>
            <a:off x="11239500" y="6477000"/>
            <a:ext cx="476250" cy="238125"/>
          </a:xfrm>
          <a:prstGeom prst="rect">
            <a:avLst/>
          </a:prstGeom>
          <a:noFill/>
          <a:ln w="0">
            <a:noFill/>
          </a:ln>
        </p:spPr>
        <p:txBody>
          <a:bodyPr wrap="square" lIns="0" tIns="0" rIns="0" bIns="0" anchor="t">
            <a:noAutofit/>
          </a:bodyPr>
          <a:lstStyle/>
          <a:p>
            <a:pPr algn="r">
              <a:defRPr sz="1275" b="0">
                <a:solidFill>
                  <a:srgbClr val="666666"/>
                </a:solidFill>
                <a:latin typeface="Aptos"/>
                <a:ea typeface="Aptos"/>
                <a:cs typeface="Aptos"/>
              </a:defRPr>
            </a:pPr>
            <a:r>
              <a:rPr sz="1275" b="0">
                <a:solidFill>
                  <a:srgbClr val="666666"/>
                </a:solidFill>
                <a:latin typeface="Aptos"/>
                <a:ea typeface="Aptos"/>
                <a:cs typeface="Aptos"/>
              </a:rPr>
              <a:t>40</a:t>
            </a:r>
          </a:p>
        </p:txBody>
      </p:sp>
    </p:spTree>
    <p:extLst>
      <p:ext uri="{BB962C8B-B14F-4D97-AF65-F5344CB8AC3E}">
        <p14:creationId xmlns:p14="http://schemas.microsoft.com/office/powerpoint/2010/main" val="32813612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41-text-1">
            <a:extLst>
              <a:ext uri="{FF2B5EF4-FFF2-40B4-BE49-F238E27FC236}">
                <a16:creationId xmlns:a16="http://schemas.microsoft.com/office/drawing/2014/main" id="{0ADB76BB-8969-4D17-A429-5FDC61B5D87F}"/>
              </a:ext>
            </a:extLst>
          </p:cNvPr>
          <p:cNvSpPr>
            <a:spLocks noGrp="1"/>
          </p:cNvSpPr>
          <p:nvPr/>
        </p:nvSpPr>
        <p:spPr>
          <a:xfrm>
            <a:off x="430816" y="1038225"/>
            <a:ext cx="11293412" cy="78105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What can this report tell you?</a:t>
            </a:r>
          </a:p>
        </p:txBody>
      </p:sp>
      <p:sp>
        <p:nvSpPr>
          <p:cNvPr id="2" name="s41-rect-2">
            <a:extLst>
              <a:ext uri="{FF2B5EF4-FFF2-40B4-BE49-F238E27FC236}">
                <a16:creationId xmlns:a16="http://schemas.microsoft.com/office/drawing/2014/main" id="{312ACD77-915A-4C94-B71A-BEEEF77D5AD4}"/>
              </a:ext>
            </a:extLst>
          </p:cNvPr>
          <p:cNvSpPr>
            <a:spLocks noGrp="1"/>
          </p:cNvSpPr>
          <p:nvPr/>
        </p:nvSpPr>
        <p:spPr>
          <a:xfrm>
            <a:off x="8734425" y="476250"/>
            <a:ext cx="3000375" cy="400050"/>
          </a:xfrm>
          <a:prstGeom prst="rect">
            <a:avLst/>
          </a:prstGeom>
          <a:solidFill>
            <a:srgbClr val="D6171D"/>
          </a:solidFill>
          <a:ln w="0">
            <a:noFill/>
          </a:ln>
        </p:spPr>
        <p:txBody>
          <a:bodyPr/>
          <a:lstStyle/>
          <a:p>
            <a:endParaRPr lang="en-US"/>
          </a:p>
        </p:txBody>
      </p:sp>
      <p:sp>
        <p:nvSpPr>
          <p:cNvPr id="3" name="s41-text-3">
            <a:extLst>
              <a:ext uri="{FF2B5EF4-FFF2-40B4-BE49-F238E27FC236}">
                <a16:creationId xmlns:a16="http://schemas.microsoft.com/office/drawing/2014/main" id="{14B3A91A-4A5A-4EE1-93B2-F03277C95108}"/>
              </a:ext>
            </a:extLst>
          </p:cNvPr>
          <p:cNvSpPr>
            <a:spLocks noGrp="1"/>
          </p:cNvSpPr>
          <p:nvPr/>
        </p:nvSpPr>
        <p:spPr>
          <a:xfrm>
            <a:off x="8829675" y="533400"/>
            <a:ext cx="2809875" cy="323850"/>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C6</a:t>
            </a:r>
          </a:p>
        </p:txBody>
      </p:sp>
      <p:sp>
        <p:nvSpPr>
          <p:cNvPr id="4" name="s41-text-4">
            <a:extLst>
              <a:ext uri="{FF2B5EF4-FFF2-40B4-BE49-F238E27FC236}">
                <a16:creationId xmlns:a16="http://schemas.microsoft.com/office/drawing/2014/main" id="{AB6A7551-51E3-4813-876C-E29B072C8094}"/>
              </a:ext>
            </a:extLst>
          </p:cNvPr>
          <p:cNvSpPr>
            <a:spLocks noGrp="1"/>
          </p:cNvSpPr>
          <p:nvPr/>
        </p:nvSpPr>
        <p:spPr>
          <a:xfrm>
            <a:off x="457200" y="1990725"/>
            <a:ext cx="11239500" cy="704850"/>
          </a:xfrm>
          <a:prstGeom prst="rect">
            <a:avLst/>
          </a:prstGeom>
          <a:noFill/>
          <a:ln w="0">
            <a:noFill/>
          </a:ln>
        </p:spPr>
        <p:txBody>
          <a:bodyPr wrap="square" lIns="0" tIns="0" rIns="0" bIns="0" anchor="t">
            <a:noAutofit/>
          </a:bodyPr>
          <a:lstStyle/>
          <a:p>
            <a:pPr algn="l">
              <a:defRPr sz="2325" b="0">
                <a:solidFill>
                  <a:srgbClr val="111111"/>
                </a:solidFill>
                <a:latin typeface="Aptos"/>
                <a:ea typeface="Aptos"/>
                <a:cs typeface="Aptos"/>
              </a:defRPr>
            </a:pPr>
            <a:r>
              <a:rPr sz="2325" b="0">
                <a:solidFill>
                  <a:srgbClr val="111111"/>
                </a:solidFill>
                <a:latin typeface="Aptos"/>
                <a:ea typeface="Aptos"/>
                <a:cs typeface="Aptos"/>
              </a:rPr>
              <a:t>Another college numbers its student register from 1 to N.</a:t>
            </a:r>
          </a:p>
        </p:txBody>
      </p:sp>
      <p:sp>
        <p:nvSpPr>
          <p:cNvPr id="5" name="s41-text-5">
            <a:extLst>
              <a:ext uri="{FF2B5EF4-FFF2-40B4-BE49-F238E27FC236}">
                <a16:creationId xmlns:a16="http://schemas.microsoft.com/office/drawing/2014/main" id="{E374B598-0A1B-4834-BA52-34C013F1712B}"/>
              </a:ext>
            </a:extLst>
          </p:cNvPr>
          <p:cNvSpPr>
            <a:spLocks noGrp="1"/>
          </p:cNvSpPr>
          <p:nvPr/>
        </p:nvSpPr>
        <p:spPr>
          <a:xfrm>
            <a:off x="457200" y="2914650"/>
            <a:ext cx="11239500" cy="866775"/>
          </a:xfrm>
          <a:prstGeom prst="rect">
            <a:avLst/>
          </a:prstGeom>
          <a:noFill/>
          <a:ln w="0">
            <a:noFill/>
          </a:ln>
        </p:spPr>
        <p:txBody>
          <a:bodyPr wrap="square" lIns="0" tIns="0" rIns="0" bIns="0" anchor="t">
            <a:noAutofit/>
          </a:bodyPr>
          <a:lstStyle/>
          <a:p>
            <a:pPr algn="l">
              <a:defRPr sz="2550" b="1">
                <a:solidFill>
                  <a:srgbClr val="111111"/>
                </a:solidFill>
                <a:latin typeface="Aptos"/>
                <a:ea typeface="Aptos"/>
                <a:cs typeface="Aptos"/>
              </a:defRPr>
            </a:pPr>
            <a:r>
              <a:rPr sz="2550" b="1">
                <a:solidFill>
                  <a:srgbClr val="111111"/>
                </a:solidFill>
                <a:latin typeface="Aptos"/>
                <a:ea typeface="Aptos"/>
                <a:cs typeface="Aptos"/>
              </a:rPr>
              <a:t>“We selected every 39th student. The fifth selected ID was 184.”</a:t>
            </a:r>
          </a:p>
        </p:txBody>
      </p:sp>
      <p:sp>
        <p:nvSpPr>
          <p:cNvPr id="6" name="s41-text-6">
            <a:extLst>
              <a:ext uri="{FF2B5EF4-FFF2-40B4-BE49-F238E27FC236}">
                <a16:creationId xmlns:a16="http://schemas.microsoft.com/office/drawing/2014/main" id="{06B8069F-2DDD-4DF6-84F4-E1705CE25769}"/>
              </a:ext>
            </a:extLst>
          </p:cNvPr>
          <p:cNvSpPr>
            <a:spLocks noGrp="1"/>
          </p:cNvSpPr>
          <p:nvPr/>
        </p:nvSpPr>
        <p:spPr>
          <a:xfrm>
            <a:off x="457200" y="4181475"/>
            <a:ext cx="11239500" cy="752475"/>
          </a:xfrm>
          <a:prstGeom prst="rect">
            <a:avLst/>
          </a:prstGeom>
          <a:noFill/>
          <a:ln w="0">
            <a:noFill/>
          </a:ln>
        </p:spPr>
        <p:txBody>
          <a:bodyPr wrap="square" lIns="0" tIns="0" rIns="0" bIns="0" anchor="t">
            <a:noAutofit/>
          </a:bodyPr>
          <a:lstStyle/>
          <a:p>
            <a:pPr algn="l">
              <a:defRPr sz="2250" b="0">
                <a:solidFill>
                  <a:srgbClr val="111111"/>
                </a:solidFill>
                <a:latin typeface="Aptos"/>
                <a:ea typeface="Aptos"/>
                <a:cs typeface="Aptos"/>
              </a:defRPr>
            </a:pPr>
            <a:r>
              <a:rPr sz="2250" b="0">
                <a:solidFill>
                  <a:srgbClr val="111111"/>
                </a:solidFill>
                <a:latin typeface="Aptos"/>
                <a:ea typeface="Aptos"/>
                <a:cs typeface="Aptos"/>
              </a:rPr>
              <a:t>a) Find the starting ID. Show your reasoning.</a:t>
            </a:r>
          </a:p>
        </p:txBody>
      </p:sp>
      <p:sp>
        <p:nvSpPr>
          <p:cNvPr id="7" name="s41-text-7">
            <a:extLst>
              <a:ext uri="{FF2B5EF4-FFF2-40B4-BE49-F238E27FC236}">
                <a16:creationId xmlns:a16="http://schemas.microsoft.com/office/drawing/2014/main" id="{BA9425CB-9F10-4877-8DFC-DD46BD51760E}"/>
              </a:ext>
            </a:extLst>
          </p:cNvPr>
          <p:cNvSpPr>
            <a:spLocks noGrp="1"/>
          </p:cNvSpPr>
          <p:nvPr/>
        </p:nvSpPr>
        <p:spPr>
          <a:xfrm>
            <a:off x="457200" y="4829175"/>
            <a:ext cx="11239500" cy="752475"/>
          </a:xfrm>
          <a:prstGeom prst="rect">
            <a:avLst/>
          </a:prstGeom>
          <a:noFill/>
          <a:ln w="0">
            <a:noFill/>
          </a:ln>
        </p:spPr>
        <p:txBody>
          <a:bodyPr wrap="square" lIns="0" tIns="0" rIns="0" bIns="0" anchor="t">
            <a:noAutofit/>
          </a:bodyPr>
          <a:lstStyle/>
          <a:p>
            <a:pPr algn="l">
              <a:defRPr sz="2250" b="0">
                <a:solidFill>
                  <a:srgbClr val="111111"/>
                </a:solidFill>
                <a:latin typeface="Aptos"/>
                <a:ea typeface="Aptos"/>
                <a:cs typeface="Aptos"/>
              </a:defRPr>
            </a:pPr>
            <a:r>
              <a:rPr sz="2250" b="0">
                <a:solidFill>
                  <a:srgbClr val="111111"/>
                </a:solidFill>
                <a:latin typeface="Aptos"/>
                <a:ea typeface="Aptos"/>
                <a:cs typeface="Aptos"/>
              </a:rPr>
              <a:t>b) Can you determine the exact sample size from this report?</a:t>
            </a:r>
          </a:p>
        </p:txBody>
      </p:sp>
      <p:sp>
        <p:nvSpPr>
          <p:cNvPr id="8" name="s41-text-8">
            <a:extLst>
              <a:ext uri="{FF2B5EF4-FFF2-40B4-BE49-F238E27FC236}">
                <a16:creationId xmlns:a16="http://schemas.microsoft.com/office/drawing/2014/main" id="{79964F58-9913-429A-AB6C-0D9C1B34A837}"/>
              </a:ext>
            </a:extLst>
          </p:cNvPr>
          <p:cNvSpPr>
            <a:spLocks noGrp="1"/>
          </p:cNvSpPr>
          <p:nvPr/>
        </p:nvSpPr>
        <p:spPr>
          <a:xfrm>
            <a:off x="457200" y="5476875"/>
            <a:ext cx="11239500" cy="752475"/>
          </a:xfrm>
          <a:prstGeom prst="rect">
            <a:avLst/>
          </a:prstGeom>
          <a:noFill/>
          <a:ln w="0">
            <a:noFill/>
          </a:ln>
        </p:spPr>
        <p:txBody>
          <a:bodyPr wrap="square" lIns="0" tIns="0" rIns="0" bIns="0" anchor="t">
            <a:noAutofit/>
          </a:bodyPr>
          <a:lstStyle/>
          <a:p>
            <a:pPr algn="l">
              <a:defRPr sz="2250" b="0">
                <a:solidFill>
                  <a:srgbClr val="111111"/>
                </a:solidFill>
                <a:latin typeface="Aptos"/>
                <a:ea typeface="Aptos"/>
                <a:cs typeface="Aptos"/>
              </a:defRPr>
            </a:pPr>
            <a:r>
              <a:rPr sz="2250" b="0">
                <a:solidFill>
                  <a:srgbClr val="111111"/>
                </a:solidFill>
                <a:latin typeface="Aptos"/>
                <a:ea typeface="Aptos"/>
                <a:cs typeface="Aptos"/>
              </a:rPr>
              <a:t>c) Give two possible population sizes consistent with the report</a:t>
            </a:r>
          </a:p>
          <a:p>
            <a:pPr algn="l">
              <a:defRPr sz="2250" b="0">
                <a:solidFill>
                  <a:srgbClr val="111111"/>
                </a:solidFill>
                <a:latin typeface="Aptos"/>
                <a:ea typeface="Aptos"/>
                <a:cs typeface="Aptos"/>
              </a:defRPr>
            </a:pPr>
            <a:r>
              <a:rPr sz="2250" b="0">
                <a:solidFill>
                  <a:srgbClr val="111111"/>
                </a:solidFill>
                <a:latin typeface="Aptos"/>
                <a:ea typeface="Aptos"/>
                <a:cs typeface="Aptos"/>
              </a:rPr>
              <a:t>    that would produce different sample sizes.</a:t>
            </a:r>
          </a:p>
        </p:txBody>
      </p:sp>
      <p:sp>
        <p:nvSpPr>
          <p:cNvPr id="9" name="s41-text-9">
            <a:extLst>
              <a:ext uri="{FF2B5EF4-FFF2-40B4-BE49-F238E27FC236}">
                <a16:creationId xmlns:a16="http://schemas.microsoft.com/office/drawing/2014/main" id="{603DC233-E6E1-4A10-B75D-4D765CF9E8CF}"/>
              </a:ext>
            </a:extLst>
          </p:cNvPr>
          <p:cNvSpPr>
            <a:spLocks noGrp="1"/>
          </p:cNvSpPr>
          <p:nvPr/>
        </p:nvSpPr>
        <p:spPr>
          <a:xfrm>
            <a:off x="457200" y="2571750"/>
            <a:ext cx="11239500" cy="276225"/>
          </a:xfrm>
          <a:prstGeom prst="rect">
            <a:avLst/>
          </a:prstGeom>
          <a:noFill/>
          <a:ln w="0">
            <a:noFill/>
          </a:ln>
        </p:spPr>
        <p:txBody>
          <a:bodyPr wrap="square" lIns="0" tIns="0" rIns="0" bIns="0" anchor="t">
            <a:noAutofit/>
          </a:bodyPr>
          <a:lstStyle/>
          <a:p>
            <a:pPr algn="l">
              <a:defRPr sz="1725" b="0">
                <a:solidFill>
                  <a:srgbClr val="666666"/>
                </a:solidFill>
                <a:latin typeface="Aptos"/>
                <a:ea typeface="Aptos"/>
                <a:cs typeface="Aptos"/>
              </a:defRPr>
            </a:pPr>
            <a:r>
              <a:rPr sz="1725" b="0">
                <a:solidFill>
                  <a:srgbClr val="666666"/>
                </a:solidFill>
                <a:latin typeface="Aptos"/>
                <a:ea typeface="Aptos"/>
                <a:cs typeface="Aptos"/>
              </a:rPr>
              <a:t>Work independently. 4 minutes.</a:t>
            </a:r>
          </a:p>
        </p:txBody>
      </p:sp>
      <p:sp>
        <p:nvSpPr>
          <p:cNvPr id="10" name="s41-text-10">
            <a:extLst>
              <a:ext uri="{FF2B5EF4-FFF2-40B4-BE49-F238E27FC236}">
                <a16:creationId xmlns:a16="http://schemas.microsoft.com/office/drawing/2014/main" id="{8DDEA9B3-0650-418F-9282-597623D6B136}"/>
              </a:ext>
            </a:extLst>
          </p:cNvPr>
          <p:cNvSpPr>
            <a:spLocks noGrp="1"/>
          </p:cNvSpPr>
          <p:nvPr/>
        </p:nvSpPr>
        <p:spPr>
          <a:xfrm>
            <a:off x="457200" y="6477000"/>
            <a:ext cx="10763250" cy="238125"/>
          </a:xfrm>
          <a:prstGeom prst="rect">
            <a:avLst/>
          </a:prstGeom>
          <a:noFill/>
          <a:ln w="0">
            <a:noFill/>
          </a:ln>
        </p:spPr>
        <p:txBody>
          <a:bodyPr wrap="square" lIns="0" tIns="0" rIns="0" bIns="0" anchor="t">
            <a:noAutofit/>
          </a:bodyPr>
          <a:lstStyle/>
          <a:p>
            <a:endParaRPr/>
          </a:p>
        </p:txBody>
      </p:sp>
      <p:sp>
        <p:nvSpPr>
          <p:cNvPr id="11" name="s41-text-11">
            <a:extLst>
              <a:ext uri="{FF2B5EF4-FFF2-40B4-BE49-F238E27FC236}">
                <a16:creationId xmlns:a16="http://schemas.microsoft.com/office/drawing/2014/main" id="{B1E012FF-2087-4193-AF01-95BADDCCE9F1}"/>
              </a:ext>
            </a:extLst>
          </p:cNvPr>
          <p:cNvSpPr>
            <a:spLocks noGrp="1"/>
          </p:cNvSpPr>
          <p:nvPr/>
        </p:nvSpPr>
        <p:spPr>
          <a:xfrm>
            <a:off x="11239500" y="6477000"/>
            <a:ext cx="476250" cy="238125"/>
          </a:xfrm>
          <a:prstGeom prst="rect">
            <a:avLst/>
          </a:prstGeom>
          <a:noFill/>
          <a:ln w="0">
            <a:noFill/>
          </a:ln>
        </p:spPr>
        <p:txBody>
          <a:bodyPr wrap="square" lIns="0" tIns="0" rIns="0" bIns="0" anchor="t">
            <a:noAutofit/>
          </a:bodyPr>
          <a:lstStyle/>
          <a:p>
            <a:pPr algn="r">
              <a:defRPr sz="1275" b="0">
                <a:solidFill>
                  <a:srgbClr val="666666"/>
                </a:solidFill>
                <a:latin typeface="Aptos"/>
                <a:ea typeface="Aptos"/>
                <a:cs typeface="Aptos"/>
              </a:defRPr>
            </a:pPr>
            <a:r>
              <a:rPr sz="1275" b="0">
                <a:solidFill>
                  <a:srgbClr val="666666"/>
                </a:solidFill>
                <a:latin typeface="Aptos"/>
                <a:ea typeface="Aptos"/>
                <a:cs typeface="Aptos"/>
              </a:rPr>
              <a:t>41</a:t>
            </a:r>
          </a:p>
        </p:txBody>
      </p:sp>
    </p:spTree>
    <p:extLst>
      <p:ext uri="{BB962C8B-B14F-4D97-AF65-F5344CB8AC3E}">
        <p14:creationId xmlns:p14="http://schemas.microsoft.com/office/powerpoint/2010/main" val="32813612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s42-text-1">
            <a:extLst>
              <a:ext uri="{FF2B5EF4-FFF2-40B4-BE49-F238E27FC236}">
                <a16:creationId xmlns:a16="http://schemas.microsoft.com/office/drawing/2014/main" id="{B46C5E19-90C3-4C50-93AC-8EE93F0D175B}"/>
              </a:ext>
            </a:extLst>
          </p:cNvPr>
          <p:cNvSpPr>
            <a:spLocks noGrp="1"/>
          </p:cNvSpPr>
          <p:nvPr/>
        </p:nvSpPr>
        <p:spPr>
          <a:xfrm>
            <a:off x="430816" y="1038225"/>
            <a:ext cx="11293412" cy="781050"/>
          </a:xfrm>
          <a:prstGeom prst="rect">
            <a:avLst/>
          </a:prstGeom>
          <a:noFill/>
          <a:ln w="0">
            <a:noFill/>
          </a:ln>
        </p:spPr>
        <p:txBody>
          <a:bodyPr wrap="square" lIns="0" tIns="0" rIns="0" bIns="0"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The starting ID is known</a:t>
            </a:r>
          </a:p>
        </p:txBody>
      </p:sp>
      <p:sp>
        <p:nvSpPr>
          <p:cNvPr id="2" name="s42-rect-2">
            <a:extLst>
              <a:ext uri="{FF2B5EF4-FFF2-40B4-BE49-F238E27FC236}">
                <a16:creationId xmlns:a16="http://schemas.microsoft.com/office/drawing/2014/main" id="{FA2186BB-22F5-4CCF-940F-0608A18778CF}"/>
              </a:ext>
            </a:extLst>
          </p:cNvPr>
          <p:cNvSpPr>
            <a:spLocks noGrp="1"/>
          </p:cNvSpPr>
          <p:nvPr/>
        </p:nvSpPr>
        <p:spPr>
          <a:xfrm>
            <a:off x="8734425" y="476250"/>
            <a:ext cx="3000375" cy="400050"/>
          </a:xfrm>
          <a:prstGeom prst="rect">
            <a:avLst/>
          </a:prstGeom>
          <a:solidFill>
            <a:srgbClr val="D6171D"/>
          </a:solidFill>
          <a:ln w="0">
            <a:noFill/>
          </a:ln>
        </p:spPr>
        <p:txBody>
          <a:bodyPr/>
          <a:lstStyle/>
          <a:p>
            <a:endParaRPr lang="en-US"/>
          </a:p>
        </p:txBody>
      </p:sp>
      <p:sp>
        <p:nvSpPr>
          <p:cNvPr id="3" name="s42-text-3">
            <a:extLst>
              <a:ext uri="{FF2B5EF4-FFF2-40B4-BE49-F238E27FC236}">
                <a16:creationId xmlns:a16="http://schemas.microsoft.com/office/drawing/2014/main" id="{FA76DAE6-0B5B-468C-ABB2-307C09049FA5}"/>
              </a:ext>
            </a:extLst>
          </p:cNvPr>
          <p:cNvSpPr>
            <a:spLocks noGrp="1"/>
          </p:cNvSpPr>
          <p:nvPr/>
        </p:nvSpPr>
        <p:spPr>
          <a:xfrm>
            <a:off x="8829675" y="533400"/>
            <a:ext cx="2809875" cy="323850"/>
          </a:xfrm>
          <a:prstGeom prst="rect">
            <a:avLst/>
          </a:prstGeom>
          <a:noFill/>
          <a:ln w="0">
            <a:noFill/>
          </a:ln>
        </p:spPr>
        <p:txBody>
          <a:bodyPr wrap="square" lIns="0" tIns="0" rIns="0" bIns="0" anchor="t">
            <a:noAutofit/>
          </a:bodyPr>
          <a:lstStyle/>
          <a:p>
            <a:pPr algn="ctr">
              <a:defRPr sz="1725" b="1">
                <a:solidFill>
                  <a:srgbClr val="FFFFFF"/>
                </a:solidFill>
                <a:latin typeface="Aptos"/>
                <a:ea typeface="Aptos"/>
                <a:cs typeface="Aptos"/>
              </a:defRPr>
            </a:pPr>
            <a:r>
              <a:rPr sz="1725" b="1">
                <a:solidFill>
                  <a:srgbClr val="FFFFFF"/>
                </a:solidFill>
                <a:latin typeface="Aptos"/>
                <a:ea typeface="Aptos"/>
                <a:cs typeface="Aptos"/>
              </a:rPr>
              <a:t>HANDOUT  C6</a:t>
            </a:r>
          </a:p>
        </p:txBody>
      </p:sp>
      <p:sp>
        <p:nvSpPr>
          <p:cNvPr id="4" name="s42-text-4">
            <a:extLst>
              <a:ext uri="{FF2B5EF4-FFF2-40B4-BE49-F238E27FC236}">
                <a16:creationId xmlns:a16="http://schemas.microsoft.com/office/drawing/2014/main" id="{12D5E8A3-A355-4BB1-AF07-8586B233D1F7}"/>
              </a:ext>
            </a:extLst>
          </p:cNvPr>
          <p:cNvSpPr>
            <a:spLocks noGrp="1"/>
          </p:cNvSpPr>
          <p:nvPr/>
        </p:nvSpPr>
        <p:spPr>
          <a:xfrm>
            <a:off x="457200" y="2019300"/>
            <a:ext cx="11239500" cy="590550"/>
          </a:xfrm>
          <a:prstGeom prst="rect">
            <a:avLst/>
          </a:prstGeom>
          <a:noFill/>
          <a:ln w="0">
            <a:noFill/>
          </a:ln>
        </p:spPr>
        <p:txBody>
          <a:bodyPr wrap="square" lIns="0" tIns="0" rIns="0" bIns="0" anchor="t">
            <a:noAutofit/>
          </a:bodyPr>
          <a:lstStyle/>
          <a:p>
            <a:pPr algn="l">
              <a:defRPr sz="2925" b="1">
                <a:solidFill>
                  <a:srgbClr val="111111"/>
                </a:solidFill>
                <a:latin typeface="Aptos"/>
                <a:ea typeface="Aptos"/>
                <a:cs typeface="Aptos"/>
              </a:defRPr>
            </a:pPr>
            <a:r>
              <a:rPr sz="2925" b="1">
                <a:solidFill>
                  <a:srgbClr val="111111"/>
                </a:solidFill>
                <a:latin typeface="Aptos"/>
                <a:ea typeface="Aptos"/>
                <a:cs typeface="Aptos"/>
              </a:rPr>
              <a:t>Starting ID = 184 − 4 × 39 = 28</a:t>
            </a:r>
          </a:p>
        </p:txBody>
      </p:sp>
      <p:sp>
        <p:nvSpPr>
          <p:cNvPr id="5" name="s42-line-5">
            <a:extLst>
              <a:ext uri="{FF2B5EF4-FFF2-40B4-BE49-F238E27FC236}">
                <a16:creationId xmlns:a16="http://schemas.microsoft.com/office/drawing/2014/main" id="{6A1961F9-49D5-48ED-A0C4-98DE035D3C62}"/>
              </a:ext>
            </a:extLst>
          </p:cNvPr>
          <p:cNvSpPr>
            <a:spLocks noGrp="1"/>
          </p:cNvSpPr>
          <p:nvPr/>
        </p:nvSpPr>
        <p:spPr>
          <a:xfrm>
            <a:off x="1238250" y="3457575"/>
            <a:ext cx="9525000" cy="0"/>
          </a:xfrm>
          <a:prstGeom prst="line">
            <a:avLst/>
          </a:prstGeom>
          <a:noFill/>
          <a:ln w="19050">
            <a:solidFill>
              <a:srgbClr val="111111"/>
            </a:solidFill>
          </a:ln>
        </p:spPr>
        <p:txBody>
          <a:bodyPr/>
          <a:lstStyle/>
          <a:p>
            <a:endParaRPr lang="en-US"/>
          </a:p>
        </p:txBody>
      </p:sp>
      <p:sp>
        <p:nvSpPr>
          <p:cNvPr id="6" name="s42-line-6">
            <a:extLst>
              <a:ext uri="{FF2B5EF4-FFF2-40B4-BE49-F238E27FC236}">
                <a16:creationId xmlns:a16="http://schemas.microsoft.com/office/drawing/2014/main" id="{97E1BE8C-D097-4848-AD1D-199DBD6DBDF5}"/>
              </a:ext>
            </a:extLst>
          </p:cNvPr>
          <p:cNvSpPr>
            <a:spLocks noGrp="1"/>
          </p:cNvSpPr>
          <p:nvPr/>
        </p:nvSpPr>
        <p:spPr>
          <a:xfrm>
            <a:off x="1238250" y="3362325"/>
            <a:ext cx="0" cy="190500"/>
          </a:xfrm>
          <a:prstGeom prst="line">
            <a:avLst/>
          </a:prstGeom>
          <a:noFill/>
          <a:ln w="19050">
            <a:solidFill>
              <a:srgbClr val="111111"/>
            </a:solidFill>
          </a:ln>
        </p:spPr>
        <p:txBody>
          <a:bodyPr/>
          <a:lstStyle/>
          <a:p>
            <a:endParaRPr lang="en-US"/>
          </a:p>
        </p:txBody>
      </p:sp>
      <p:sp>
        <p:nvSpPr>
          <p:cNvPr id="7" name="s42-text-7">
            <a:extLst>
              <a:ext uri="{FF2B5EF4-FFF2-40B4-BE49-F238E27FC236}">
                <a16:creationId xmlns:a16="http://schemas.microsoft.com/office/drawing/2014/main" id="{15C56185-D5CF-46B7-8D1F-2AF487B2A971}"/>
              </a:ext>
            </a:extLst>
          </p:cNvPr>
          <p:cNvSpPr>
            <a:spLocks noGrp="1"/>
          </p:cNvSpPr>
          <p:nvPr/>
        </p:nvSpPr>
        <p:spPr>
          <a:xfrm>
            <a:off x="771525" y="3676650"/>
            <a:ext cx="933450" cy="381000"/>
          </a:xfrm>
          <a:prstGeom prst="rect">
            <a:avLst/>
          </a:prstGeom>
          <a:noFill/>
          <a:ln w="0">
            <a:noFill/>
          </a:ln>
        </p:spPr>
        <p:txBody>
          <a:bodyPr wrap="square" lIns="0" tIns="0" rIns="0" bIns="0" anchor="t">
            <a:noAutofit/>
          </a:bodyPr>
          <a:lstStyle/>
          <a:p>
            <a:pPr algn="ctr">
              <a:defRPr sz="2325" b="1">
                <a:solidFill>
                  <a:srgbClr val="111111"/>
                </a:solidFill>
                <a:latin typeface="Aptos"/>
                <a:ea typeface="Aptos"/>
                <a:cs typeface="Aptos"/>
              </a:defRPr>
            </a:pPr>
            <a:r>
              <a:rPr sz="2325" b="1">
                <a:solidFill>
                  <a:srgbClr val="111111"/>
                </a:solidFill>
                <a:latin typeface="Aptos"/>
                <a:ea typeface="Aptos"/>
                <a:cs typeface="Aptos"/>
              </a:rPr>
              <a:t>28</a:t>
            </a:r>
          </a:p>
        </p:txBody>
      </p:sp>
      <p:sp>
        <p:nvSpPr>
          <p:cNvPr id="8" name="s42-text-8">
            <a:extLst>
              <a:ext uri="{FF2B5EF4-FFF2-40B4-BE49-F238E27FC236}">
                <a16:creationId xmlns:a16="http://schemas.microsoft.com/office/drawing/2014/main" id="{050600B5-3E37-42C0-A1F5-D2E5F54218FB}"/>
              </a:ext>
            </a:extLst>
          </p:cNvPr>
          <p:cNvSpPr>
            <a:spLocks noGrp="1"/>
          </p:cNvSpPr>
          <p:nvPr/>
        </p:nvSpPr>
        <p:spPr>
          <a:xfrm>
            <a:off x="714375" y="2867025"/>
            <a:ext cx="1047750" cy="381000"/>
          </a:xfrm>
          <a:prstGeom prst="rect">
            <a:avLst/>
          </a:prstGeom>
          <a:noFill/>
          <a:ln w="0">
            <a:noFill/>
          </a:ln>
        </p:spPr>
        <p:txBody>
          <a:bodyPr wrap="square" lIns="0" tIns="0" rIns="0" bIns="0" anchor="t">
            <a:noAutofit/>
          </a:bodyPr>
          <a:lstStyle/>
          <a:p>
            <a:pPr algn="ctr">
              <a:defRPr sz="1725" b="0">
                <a:solidFill>
                  <a:srgbClr val="666666"/>
                </a:solidFill>
                <a:latin typeface="Aptos"/>
                <a:ea typeface="Aptos"/>
                <a:cs typeface="Aptos"/>
              </a:defRPr>
            </a:pPr>
            <a:r>
              <a:rPr sz="1725" b="0">
                <a:solidFill>
                  <a:srgbClr val="666666"/>
                </a:solidFill>
                <a:latin typeface="Aptos"/>
                <a:ea typeface="Aptos"/>
                <a:cs typeface="Aptos"/>
              </a:rPr>
              <a:t>1st</a:t>
            </a:r>
          </a:p>
        </p:txBody>
      </p:sp>
      <p:sp>
        <p:nvSpPr>
          <p:cNvPr id="9" name="s42-text-9">
            <a:extLst>
              <a:ext uri="{FF2B5EF4-FFF2-40B4-BE49-F238E27FC236}">
                <a16:creationId xmlns:a16="http://schemas.microsoft.com/office/drawing/2014/main" id="{40586AD1-EE28-494A-B948-BC5F1F4493B3}"/>
              </a:ext>
            </a:extLst>
          </p:cNvPr>
          <p:cNvSpPr>
            <a:spLocks noGrp="1"/>
          </p:cNvSpPr>
          <p:nvPr/>
        </p:nvSpPr>
        <p:spPr>
          <a:xfrm>
            <a:off x="2047875" y="3028950"/>
            <a:ext cx="762000" cy="333375"/>
          </a:xfrm>
          <a:prstGeom prst="rect">
            <a:avLst/>
          </a:prstGeom>
          <a:noFill/>
          <a:ln w="0">
            <a:noFill/>
          </a:ln>
        </p:spPr>
        <p:txBody>
          <a:bodyPr wrap="square" lIns="0" tIns="0" rIns="0" bIns="0" anchor="t">
            <a:noAutofit/>
          </a:bodyPr>
          <a:lstStyle/>
          <a:p>
            <a:pPr algn="ctr">
              <a:defRPr sz="2025" b="0">
                <a:solidFill>
                  <a:srgbClr val="666666"/>
                </a:solidFill>
                <a:latin typeface="Aptos"/>
                <a:ea typeface="Aptos"/>
                <a:cs typeface="Aptos"/>
              </a:defRPr>
            </a:pPr>
            <a:r>
              <a:rPr sz="2025" b="0">
                <a:solidFill>
                  <a:srgbClr val="666666"/>
                </a:solidFill>
                <a:latin typeface="Aptos"/>
                <a:ea typeface="Aptos"/>
                <a:cs typeface="Aptos"/>
              </a:rPr>
              <a:t>+39</a:t>
            </a:r>
          </a:p>
        </p:txBody>
      </p:sp>
      <p:sp>
        <p:nvSpPr>
          <p:cNvPr id="10" name="s42-line-10">
            <a:extLst>
              <a:ext uri="{FF2B5EF4-FFF2-40B4-BE49-F238E27FC236}">
                <a16:creationId xmlns:a16="http://schemas.microsoft.com/office/drawing/2014/main" id="{84880E82-BBA8-417C-81E6-1748455F24F3}"/>
              </a:ext>
            </a:extLst>
          </p:cNvPr>
          <p:cNvSpPr>
            <a:spLocks noGrp="1"/>
          </p:cNvSpPr>
          <p:nvPr/>
        </p:nvSpPr>
        <p:spPr>
          <a:xfrm>
            <a:off x="3619500" y="3362325"/>
            <a:ext cx="0" cy="190500"/>
          </a:xfrm>
          <a:prstGeom prst="line">
            <a:avLst/>
          </a:prstGeom>
          <a:noFill/>
          <a:ln w="19050">
            <a:solidFill>
              <a:srgbClr val="111111"/>
            </a:solidFill>
          </a:ln>
        </p:spPr>
        <p:txBody>
          <a:bodyPr/>
          <a:lstStyle/>
          <a:p>
            <a:endParaRPr lang="en-US"/>
          </a:p>
        </p:txBody>
      </p:sp>
      <p:sp>
        <p:nvSpPr>
          <p:cNvPr id="11" name="s42-text-11">
            <a:extLst>
              <a:ext uri="{FF2B5EF4-FFF2-40B4-BE49-F238E27FC236}">
                <a16:creationId xmlns:a16="http://schemas.microsoft.com/office/drawing/2014/main" id="{7A61E75E-4058-4123-83A1-BF6D8FFE9A33}"/>
              </a:ext>
            </a:extLst>
          </p:cNvPr>
          <p:cNvSpPr>
            <a:spLocks noGrp="1"/>
          </p:cNvSpPr>
          <p:nvPr/>
        </p:nvSpPr>
        <p:spPr>
          <a:xfrm>
            <a:off x="3152775" y="3676650"/>
            <a:ext cx="933450" cy="381000"/>
          </a:xfrm>
          <a:prstGeom prst="rect">
            <a:avLst/>
          </a:prstGeom>
          <a:noFill/>
          <a:ln w="0">
            <a:noFill/>
          </a:ln>
        </p:spPr>
        <p:txBody>
          <a:bodyPr wrap="square" lIns="0" tIns="0" rIns="0" bIns="0" anchor="t">
            <a:noAutofit/>
          </a:bodyPr>
          <a:lstStyle/>
          <a:p>
            <a:pPr algn="ctr">
              <a:defRPr sz="2325" b="1">
                <a:solidFill>
                  <a:srgbClr val="111111"/>
                </a:solidFill>
                <a:latin typeface="Aptos"/>
                <a:ea typeface="Aptos"/>
                <a:cs typeface="Aptos"/>
              </a:defRPr>
            </a:pPr>
            <a:r>
              <a:rPr sz="2325" b="1">
                <a:solidFill>
                  <a:srgbClr val="111111"/>
                </a:solidFill>
                <a:latin typeface="Aptos"/>
                <a:ea typeface="Aptos"/>
                <a:cs typeface="Aptos"/>
              </a:rPr>
              <a:t>67</a:t>
            </a:r>
          </a:p>
        </p:txBody>
      </p:sp>
      <p:sp>
        <p:nvSpPr>
          <p:cNvPr id="12" name="s42-text-12">
            <a:extLst>
              <a:ext uri="{FF2B5EF4-FFF2-40B4-BE49-F238E27FC236}">
                <a16:creationId xmlns:a16="http://schemas.microsoft.com/office/drawing/2014/main" id="{8BC75A02-AC53-47C5-82A8-1822C7182EC0}"/>
              </a:ext>
            </a:extLst>
          </p:cNvPr>
          <p:cNvSpPr>
            <a:spLocks noGrp="1"/>
          </p:cNvSpPr>
          <p:nvPr/>
        </p:nvSpPr>
        <p:spPr>
          <a:xfrm>
            <a:off x="3095625" y="2867025"/>
            <a:ext cx="1047750" cy="381000"/>
          </a:xfrm>
          <a:prstGeom prst="rect">
            <a:avLst/>
          </a:prstGeom>
          <a:noFill/>
          <a:ln w="0">
            <a:noFill/>
          </a:ln>
        </p:spPr>
        <p:txBody>
          <a:bodyPr wrap="square" lIns="0" tIns="0" rIns="0" bIns="0" anchor="t">
            <a:noAutofit/>
          </a:bodyPr>
          <a:lstStyle/>
          <a:p>
            <a:pPr algn="ctr">
              <a:defRPr sz="1725" b="0">
                <a:solidFill>
                  <a:srgbClr val="666666"/>
                </a:solidFill>
                <a:latin typeface="Aptos"/>
                <a:ea typeface="Aptos"/>
                <a:cs typeface="Aptos"/>
              </a:defRPr>
            </a:pPr>
            <a:r>
              <a:rPr sz="1725" b="0">
                <a:solidFill>
                  <a:srgbClr val="666666"/>
                </a:solidFill>
                <a:latin typeface="Aptos"/>
                <a:ea typeface="Aptos"/>
                <a:cs typeface="Aptos"/>
              </a:rPr>
              <a:t>2nd</a:t>
            </a:r>
          </a:p>
        </p:txBody>
      </p:sp>
      <p:sp>
        <p:nvSpPr>
          <p:cNvPr id="13" name="s42-text-13">
            <a:extLst>
              <a:ext uri="{FF2B5EF4-FFF2-40B4-BE49-F238E27FC236}">
                <a16:creationId xmlns:a16="http://schemas.microsoft.com/office/drawing/2014/main" id="{3203E3DF-6B76-414A-A8D0-11D501A99F0C}"/>
              </a:ext>
            </a:extLst>
          </p:cNvPr>
          <p:cNvSpPr>
            <a:spLocks noGrp="1"/>
          </p:cNvSpPr>
          <p:nvPr/>
        </p:nvSpPr>
        <p:spPr>
          <a:xfrm>
            <a:off x="4429125" y="3028950"/>
            <a:ext cx="762000" cy="333375"/>
          </a:xfrm>
          <a:prstGeom prst="rect">
            <a:avLst/>
          </a:prstGeom>
          <a:noFill/>
          <a:ln w="0">
            <a:noFill/>
          </a:ln>
        </p:spPr>
        <p:txBody>
          <a:bodyPr wrap="square" lIns="0" tIns="0" rIns="0" bIns="0" anchor="t">
            <a:noAutofit/>
          </a:bodyPr>
          <a:lstStyle/>
          <a:p>
            <a:pPr algn="ctr">
              <a:defRPr sz="2025" b="0">
                <a:solidFill>
                  <a:srgbClr val="666666"/>
                </a:solidFill>
                <a:latin typeface="Aptos"/>
                <a:ea typeface="Aptos"/>
                <a:cs typeface="Aptos"/>
              </a:defRPr>
            </a:pPr>
            <a:r>
              <a:rPr sz="2025" b="0">
                <a:solidFill>
                  <a:srgbClr val="666666"/>
                </a:solidFill>
                <a:latin typeface="Aptos"/>
                <a:ea typeface="Aptos"/>
                <a:cs typeface="Aptos"/>
              </a:rPr>
              <a:t>+39</a:t>
            </a:r>
          </a:p>
        </p:txBody>
      </p:sp>
      <p:sp>
        <p:nvSpPr>
          <p:cNvPr id="14" name="s42-line-14">
            <a:extLst>
              <a:ext uri="{FF2B5EF4-FFF2-40B4-BE49-F238E27FC236}">
                <a16:creationId xmlns:a16="http://schemas.microsoft.com/office/drawing/2014/main" id="{E850D802-05C3-4F17-A048-496EFDE7D2BB}"/>
              </a:ext>
            </a:extLst>
          </p:cNvPr>
          <p:cNvSpPr>
            <a:spLocks noGrp="1"/>
          </p:cNvSpPr>
          <p:nvPr/>
        </p:nvSpPr>
        <p:spPr>
          <a:xfrm>
            <a:off x="6000750" y="3362325"/>
            <a:ext cx="0" cy="190500"/>
          </a:xfrm>
          <a:prstGeom prst="line">
            <a:avLst/>
          </a:prstGeom>
          <a:noFill/>
          <a:ln w="19050">
            <a:solidFill>
              <a:srgbClr val="111111"/>
            </a:solidFill>
          </a:ln>
        </p:spPr>
        <p:txBody>
          <a:bodyPr/>
          <a:lstStyle/>
          <a:p>
            <a:endParaRPr lang="en-US"/>
          </a:p>
        </p:txBody>
      </p:sp>
      <p:sp>
        <p:nvSpPr>
          <p:cNvPr id="15" name="s42-text-15">
            <a:extLst>
              <a:ext uri="{FF2B5EF4-FFF2-40B4-BE49-F238E27FC236}">
                <a16:creationId xmlns:a16="http://schemas.microsoft.com/office/drawing/2014/main" id="{FDB220EC-DE0F-4731-87D0-EEA02D996614}"/>
              </a:ext>
            </a:extLst>
          </p:cNvPr>
          <p:cNvSpPr>
            <a:spLocks noGrp="1"/>
          </p:cNvSpPr>
          <p:nvPr/>
        </p:nvSpPr>
        <p:spPr>
          <a:xfrm>
            <a:off x="5534025" y="3676650"/>
            <a:ext cx="933450" cy="381000"/>
          </a:xfrm>
          <a:prstGeom prst="rect">
            <a:avLst/>
          </a:prstGeom>
          <a:noFill/>
          <a:ln w="0">
            <a:noFill/>
          </a:ln>
        </p:spPr>
        <p:txBody>
          <a:bodyPr wrap="square" lIns="0" tIns="0" rIns="0" bIns="0" anchor="t">
            <a:noAutofit/>
          </a:bodyPr>
          <a:lstStyle/>
          <a:p>
            <a:pPr algn="ctr">
              <a:defRPr sz="2325" b="1">
                <a:solidFill>
                  <a:srgbClr val="111111"/>
                </a:solidFill>
                <a:latin typeface="Aptos"/>
                <a:ea typeface="Aptos"/>
                <a:cs typeface="Aptos"/>
              </a:defRPr>
            </a:pPr>
            <a:r>
              <a:rPr sz="2325" b="1">
                <a:solidFill>
                  <a:srgbClr val="111111"/>
                </a:solidFill>
                <a:latin typeface="Aptos"/>
                <a:ea typeface="Aptos"/>
                <a:cs typeface="Aptos"/>
              </a:rPr>
              <a:t>106</a:t>
            </a:r>
          </a:p>
        </p:txBody>
      </p:sp>
      <p:sp>
        <p:nvSpPr>
          <p:cNvPr id="16" name="s42-text-16">
            <a:extLst>
              <a:ext uri="{FF2B5EF4-FFF2-40B4-BE49-F238E27FC236}">
                <a16:creationId xmlns:a16="http://schemas.microsoft.com/office/drawing/2014/main" id="{9EF07ACB-E340-4585-ACD7-23D9A17CDB45}"/>
              </a:ext>
            </a:extLst>
          </p:cNvPr>
          <p:cNvSpPr>
            <a:spLocks noGrp="1"/>
          </p:cNvSpPr>
          <p:nvPr/>
        </p:nvSpPr>
        <p:spPr>
          <a:xfrm>
            <a:off x="5476875" y="2867025"/>
            <a:ext cx="1047750" cy="381000"/>
          </a:xfrm>
          <a:prstGeom prst="rect">
            <a:avLst/>
          </a:prstGeom>
          <a:noFill/>
          <a:ln w="0">
            <a:noFill/>
          </a:ln>
        </p:spPr>
        <p:txBody>
          <a:bodyPr wrap="square" lIns="0" tIns="0" rIns="0" bIns="0" anchor="t">
            <a:noAutofit/>
          </a:bodyPr>
          <a:lstStyle/>
          <a:p>
            <a:pPr algn="ctr">
              <a:defRPr sz="1725" b="0">
                <a:solidFill>
                  <a:srgbClr val="666666"/>
                </a:solidFill>
                <a:latin typeface="Aptos"/>
                <a:ea typeface="Aptos"/>
                <a:cs typeface="Aptos"/>
              </a:defRPr>
            </a:pPr>
            <a:r>
              <a:rPr sz="1725" b="0">
                <a:solidFill>
                  <a:srgbClr val="666666"/>
                </a:solidFill>
                <a:latin typeface="Aptos"/>
                <a:ea typeface="Aptos"/>
                <a:cs typeface="Aptos"/>
              </a:rPr>
              <a:t>3rd</a:t>
            </a:r>
          </a:p>
        </p:txBody>
      </p:sp>
      <p:sp>
        <p:nvSpPr>
          <p:cNvPr id="17" name="s42-text-17">
            <a:extLst>
              <a:ext uri="{FF2B5EF4-FFF2-40B4-BE49-F238E27FC236}">
                <a16:creationId xmlns:a16="http://schemas.microsoft.com/office/drawing/2014/main" id="{EC5EE0C2-8446-4953-8922-C2A11E4F7BFC}"/>
              </a:ext>
            </a:extLst>
          </p:cNvPr>
          <p:cNvSpPr>
            <a:spLocks noGrp="1"/>
          </p:cNvSpPr>
          <p:nvPr/>
        </p:nvSpPr>
        <p:spPr>
          <a:xfrm>
            <a:off x="6810375" y="3028950"/>
            <a:ext cx="762000" cy="333375"/>
          </a:xfrm>
          <a:prstGeom prst="rect">
            <a:avLst/>
          </a:prstGeom>
          <a:noFill/>
          <a:ln w="0">
            <a:noFill/>
          </a:ln>
        </p:spPr>
        <p:txBody>
          <a:bodyPr wrap="square" lIns="0" tIns="0" rIns="0" bIns="0" anchor="t">
            <a:noAutofit/>
          </a:bodyPr>
          <a:lstStyle/>
          <a:p>
            <a:pPr algn="ctr">
              <a:defRPr sz="2025" b="0">
                <a:solidFill>
                  <a:srgbClr val="666666"/>
                </a:solidFill>
                <a:latin typeface="Aptos"/>
                <a:ea typeface="Aptos"/>
                <a:cs typeface="Aptos"/>
              </a:defRPr>
            </a:pPr>
            <a:r>
              <a:rPr sz="2025" b="0">
                <a:solidFill>
                  <a:srgbClr val="666666"/>
                </a:solidFill>
                <a:latin typeface="Aptos"/>
                <a:ea typeface="Aptos"/>
                <a:cs typeface="Aptos"/>
              </a:rPr>
              <a:t>+39</a:t>
            </a:r>
          </a:p>
        </p:txBody>
      </p:sp>
      <p:sp>
        <p:nvSpPr>
          <p:cNvPr id="18" name="s42-line-18">
            <a:extLst>
              <a:ext uri="{FF2B5EF4-FFF2-40B4-BE49-F238E27FC236}">
                <a16:creationId xmlns:a16="http://schemas.microsoft.com/office/drawing/2014/main" id="{A55C1A94-FAA3-44FC-BD98-82FE34C82591}"/>
              </a:ext>
            </a:extLst>
          </p:cNvPr>
          <p:cNvSpPr>
            <a:spLocks noGrp="1"/>
          </p:cNvSpPr>
          <p:nvPr/>
        </p:nvSpPr>
        <p:spPr>
          <a:xfrm>
            <a:off x="8382000" y="3362325"/>
            <a:ext cx="0" cy="190500"/>
          </a:xfrm>
          <a:prstGeom prst="line">
            <a:avLst/>
          </a:prstGeom>
          <a:noFill/>
          <a:ln w="19050">
            <a:solidFill>
              <a:srgbClr val="111111"/>
            </a:solidFill>
          </a:ln>
        </p:spPr>
        <p:txBody>
          <a:bodyPr/>
          <a:lstStyle/>
          <a:p>
            <a:endParaRPr lang="en-US"/>
          </a:p>
        </p:txBody>
      </p:sp>
      <p:sp>
        <p:nvSpPr>
          <p:cNvPr id="19" name="s42-text-19">
            <a:extLst>
              <a:ext uri="{FF2B5EF4-FFF2-40B4-BE49-F238E27FC236}">
                <a16:creationId xmlns:a16="http://schemas.microsoft.com/office/drawing/2014/main" id="{FC0D004A-D0CF-488A-A135-2F720E33B9E2}"/>
              </a:ext>
            </a:extLst>
          </p:cNvPr>
          <p:cNvSpPr>
            <a:spLocks noGrp="1"/>
          </p:cNvSpPr>
          <p:nvPr/>
        </p:nvSpPr>
        <p:spPr>
          <a:xfrm>
            <a:off x="7915275" y="3676650"/>
            <a:ext cx="933450" cy="381000"/>
          </a:xfrm>
          <a:prstGeom prst="rect">
            <a:avLst/>
          </a:prstGeom>
          <a:noFill/>
          <a:ln w="0">
            <a:noFill/>
          </a:ln>
        </p:spPr>
        <p:txBody>
          <a:bodyPr wrap="square" lIns="0" tIns="0" rIns="0" bIns="0" anchor="t">
            <a:noAutofit/>
          </a:bodyPr>
          <a:lstStyle/>
          <a:p>
            <a:pPr algn="ctr">
              <a:defRPr sz="2325" b="1">
                <a:solidFill>
                  <a:srgbClr val="111111"/>
                </a:solidFill>
                <a:latin typeface="Aptos"/>
                <a:ea typeface="Aptos"/>
                <a:cs typeface="Aptos"/>
              </a:defRPr>
            </a:pPr>
            <a:r>
              <a:rPr sz="2325" b="1">
                <a:solidFill>
                  <a:srgbClr val="111111"/>
                </a:solidFill>
                <a:latin typeface="Aptos"/>
                <a:ea typeface="Aptos"/>
                <a:cs typeface="Aptos"/>
              </a:rPr>
              <a:t>145</a:t>
            </a:r>
          </a:p>
        </p:txBody>
      </p:sp>
      <p:sp>
        <p:nvSpPr>
          <p:cNvPr id="20" name="s42-text-20">
            <a:extLst>
              <a:ext uri="{FF2B5EF4-FFF2-40B4-BE49-F238E27FC236}">
                <a16:creationId xmlns:a16="http://schemas.microsoft.com/office/drawing/2014/main" id="{FE2EB623-B4BC-41A1-B410-F78416605F7F}"/>
              </a:ext>
            </a:extLst>
          </p:cNvPr>
          <p:cNvSpPr>
            <a:spLocks noGrp="1"/>
          </p:cNvSpPr>
          <p:nvPr/>
        </p:nvSpPr>
        <p:spPr>
          <a:xfrm>
            <a:off x="7858125" y="2867025"/>
            <a:ext cx="1047750" cy="381000"/>
          </a:xfrm>
          <a:prstGeom prst="rect">
            <a:avLst/>
          </a:prstGeom>
          <a:noFill/>
          <a:ln w="0">
            <a:noFill/>
          </a:ln>
        </p:spPr>
        <p:txBody>
          <a:bodyPr wrap="square" lIns="0" tIns="0" rIns="0" bIns="0" anchor="t">
            <a:noAutofit/>
          </a:bodyPr>
          <a:lstStyle/>
          <a:p>
            <a:pPr algn="ctr">
              <a:defRPr sz="1725" b="0">
                <a:solidFill>
                  <a:srgbClr val="666666"/>
                </a:solidFill>
                <a:latin typeface="Aptos"/>
                <a:ea typeface="Aptos"/>
                <a:cs typeface="Aptos"/>
              </a:defRPr>
            </a:pPr>
            <a:r>
              <a:rPr sz="1725" b="0">
                <a:solidFill>
                  <a:srgbClr val="666666"/>
                </a:solidFill>
                <a:latin typeface="Aptos"/>
                <a:ea typeface="Aptos"/>
                <a:cs typeface="Aptos"/>
              </a:rPr>
              <a:t>4th</a:t>
            </a:r>
          </a:p>
        </p:txBody>
      </p:sp>
      <p:sp>
        <p:nvSpPr>
          <p:cNvPr id="21" name="s42-text-21">
            <a:extLst>
              <a:ext uri="{FF2B5EF4-FFF2-40B4-BE49-F238E27FC236}">
                <a16:creationId xmlns:a16="http://schemas.microsoft.com/office/drawing/2014/main" id="{EB7D8290-A096-449A-A575-2AB2C2B73843}"/>
              </a:ext>
            </a:extLst>
          </p:cNvPr>
          <p:cNvSpPr>
            <a:spLocks noGrp="1"/>
          </p:cNvSpPr>
          <p:nvPr/>
        </p:nvSpPr>
        <p:spPr>
          <a:xfrm>
            <a:off x="9191625" y="3028950"/>
            <a:ext cx="762000" cy="333375"/>
          </a:xfrm>
          <a:prstGeom prst="rect">
            <a:avLst/>
          </a:prstGeom>
          <a:noFill/>
          <a:ln w="0">
            <a:noFill/>
          </a:ln>
        </p:spPr>
        <p:txBody>
          <a:bodyPr wrap="square" lIns="0" tIns="0" rIns="0" bIns="0" anchor="t">
            <a:noAutofit/>
          </a:bodyPr>
          <a:lstStyle/>
          <a:p>
            <a:pPr algn="ctr">
              <a:defRPr sz="2025" b="0">
                <a:solidFill>
                  <a:srgbClr val="666666"/>
                </a:solidFill>
                <a:latin typeface="Aptos"/>
                <a:ea typeface="Aptos"/>
                <a:cs typeface="Aptos"/>
              </a:defRPr>
            </a:pPr>
            <a:r>
              <a:rPr sz="2025" b="0">
                <a:solidFill>
                  <a:srgbClr val="666666"/>
                </a:solidFill>
                <a:latin typeface="Aptos"/>
                <a:ea typeface="Aptos"/>
                <a:cs typeface="Aptos"/>
              </a:rPr>
              <a:t>+39</a:t>
            </a:r>
          </a:p>
        </p:txBody>
      </p:sp>
      <p:sp>
        <p:nvSpPr>
          <p:cNvPr id="22" name="s42-line-22">
            <a:extLst>
              <a:ext uri="{FF2B5EF4-FFF2-40B4-BE49-F238E27FC236}">
                <a16:creationId xmlns:a16="http://schemas.microsoft.com/office/drawing/2014/main" id="{0F7FAE6A-62B3-4634-AA03-6148881D0F1E}"/>
              </a:ext>
            </a:extLst>
          </p:cNvPr>
          <p:cNvSpPr>
            <a:spLocks noGrp="1"/>
          </p:cNvSpPr>
          <p:nvPr/>
        </p:nvSpPr>
        <p:spPr>
          <a:xfrm>
            <a:off x="10763250" y="3362325"/>
            <a:ext cx="0" cy="190500"/>
          </a:xfrm>
          <a:prstGeom prst="line">
            <a:avLst/>
          </a:prstGeom>
          <a:noFill/>
          <a:ln w="19050">
            <a:solidFill>
              <a:srgbClr val="111111"/>
            </a:solidFill>
          </a:ln>
        </p:spPr>
        <p:txBody>
          <a:bodyPr/>
          <a:lstStyle/>
          <a:p>
            <a:endParaRPr lang="en-US"/>
          </a:p>
        </p:txBody>
      </p:sp>
      <p:sp>
        <p:nvSpPr>
          <p:cNvPr id="23" name="s42-text-23">
            <a:extLst>
              <a:ext uri="{FF2B5EF4-FFF2-40B4-BE49-F238E27FC236}">
                <a16:creationId xmlns:a16="http://schemas.microsoft.com/office/drawing/2014/main" id="{83967F5B-28B6-4AC3-8691-6B936F5137CB}"/>
              </a:ext>
            </a:extLst>
          </p:cNvPr>
          <p:cNvSpPr>
            <a:spLocks noGrp="1"/>
          </p:cNvSpPr>
          <p:nvPr/>
        </p:nvSpPr>
        <p:spPr>
          <a:xfrm>
            <a:off x="10296525" y="3676650"/>
            <a:ext cx="933450" cy="381000"/>
          </a:xfrm>
          <a:prstGeom prst="rect">
            <a:avLst/>
          </a:prstGeom>
          <a:noFill/>
          <a:ln w="0">
            <a:noFill/>
          </a:ln>
        </p:spPr>
        <p:txBody>
          <a:bodyPr wrap="square" lIns="0" tIns="0" rIns="0" bIns="0" anchor="t">
            <a:noAutofit/>
          </a:bodyPr>
          <a:lstStyle/>
          <a:p>
            <a:pPr algn="ctr">
              <a:defRPr sz="2325" b="1">
                <a:solidFill>
                  <a:srgbClr val="111111"/>
                </a:solidFill>
                <a:latin typeface="Aptos"/>
                <a:ea typeface="Aptos"/>
                <a:cs typeface="Aptos"/>
              </a:defRPr>
            </a:pPr>
            <a:r>
              <a:rPr sz="2325" b="1">
                <a:solidFill>
                  <a:srgbClr val="111111"/>
                </a:solidFill>
                <a:latin typeface="Aptos"/>
                <a:ea typeface="Aptos"/>
                <a:cs typeface="Aptos"/>
              </a:rPr>
              <a:t>184</a:t>
            </a:r>
          </a:p>
        </p:txBody>
      </p:sp>
      <p:sp>
        <p:nvSpPr>
          <p:cNvPr id="24" name="s42-text-24">
            <a:extLst>
              <a:ext uri="{FF2B5EF4-FFF2-40B4-BE49-F238E27FC236}">
                <a16:creationId xmlns:a16="http://schemas.microsoft.com/office/drawing/2014/main" id="{C5A19192-23E6-461F-8CCB-C20F3CB225C5}"/>
              </a:ext>
            </a:extLst>
          </p:cNvPr>
          <p:cNvSpPr>
            <a:spLocks noGrp="1"/>
          </p:cNvSpPr>
          <p:nvPr/>
        </p:nvSpPr>
        <p:spPr>
          <a:xfrm>
            <a:off x="10239375" y="2867025"/>
            <a:ext cx="1047750" cy="381000"/>
          </a:xfrm>
          <a:prstGeom prst="rect">
            <a:avLst/>
          </a:prstGeom>
          <a:noFill/>
          <a:ln w="0">
            <a:noFill/>
          </a:ln>
        </p:spPr>
        <p:txBody>
          <a:bodyPr wrap="square" lIns="0" tIns="0" rIns="0" bIns="0" anchor="t">
            <a:noAutofit/>
          </a:bodyPr>
          <a:lstStyle/>
          <a:p>
            <a:pPr algn="ctr">
              <a:defRPr sz="1725" b="0">
                <a:solidFill>
                  <a:srgbClr val="666666"/>
                </a:solidFill>
                <a:latin typeface="Aptos"/>
                <a:ea typeface="Aptos"/>
                <a:cs typeface="Aptos"/>
              </a:defRPr>
            </a:pPr>
            <a:r>
              <a:rPr sz="1725" b="0">
                <a:solidFill>
                  <a:srgbClr val="666666"/>
                </a:solidFill>
                <a:latin typeface="Aptos"/>
                <a:ea typeface="Aptos"/>
                <a:cs typeface="Aptos"/>
              </a:rPr>
              <a:t>5th</a:t>
            </a:r>
          </a:p>
        </p:txBody>
      </p:sp>
      <p:graphicFrame>
        <p:nvGraphicFramePr>
          <p:cNvPr id="53" name="Table 52"/>
          <p:cNvGraphicFramePr/>
          <p:nvPr/>
        </p:nvGraphicFramePr>
        <p:xfrm>
          <a:off x="457200" y="4524375"/>
          <a:ext cx="11239500" cy="1400175"/>
        </p:xfrm>
        <a:graphic>
          <a:graphicData uri="http://schemas.openxmlformats.org/drawingml/2006/table">
            <a:tbl>
              <a:tblPr firstRow="1"/>
              <a:tblGrid>
                <a:gridCol w="4381500">
                  <a:extLst>
                    <a:ext uri="{9D8B030D-6E8A-4147-A177-3AD203B41FA5}">
                      <a16:colId xmlns:a16="http://schemas.microsoft.com/office/drawing/2014/main" val="20000"/>
                    </a:ext>
                  </a:extLst>
                </a:gridCol>
                <a:gridCol w="3333750">
                  <a:extLst>
                    <a:ext uri="{9D8B030D-6E8A-4147-A177-3AD203B41FA5}">
                      <a16:colId xmlns:a16="http://schemas.microsoft.com/office/drawing/2014/main" val="20001"/>
                    </a:ext>
                  </a:extLst>
                </a:gridCol>
                <a:gridCol w="3524250">
                  <a:extLst>
                    <a:ext uri="{9D8B030D-6E8A-4147-A177-3AD203B41FA5}">
                      <a16:colId xmlns:a16="http://schemas.microsoft.com/office/drawing/2014/main" val="20002"/>
                    </a:ext>
                  </a:extLst>
                </a:gridCol>
              </a:tblGrid>
              <a:tr h="466725">
                <a:tc>
                  <a:txBody>
                    <a:bodyPr/>
                    <a:lstStyle/>
                    <a:p>
                      <a:pPr algn="l"/>
                      <a:r>
                        <a:rPr sz="2100" b="1">
                          <a:solidFill>
                            <a:srgbClr val="FFFFFF"/>
                          </a:solidFill>
                          <a:latin typeface="Aptos"/>
                          <a:ea typeface="Aptos"/>
                          <a:cs typeface="Aptos"/>
                        </a:rPr>
                        <a:t>Possible population N</a:t>
                      </a:r>
                    </a:p>
                  </a:txBody>
                  <a:tcPr marL="95250" marR="95250" marT="19050" marB="19050" anchor="ctr">
                    <a:solidFill>
                      <a:srgbClr val="D6171D"/>
                    </a:solidFill>
                  </a:tcPr>
                </a:tc>
                <a:tc>
                  <a:txBody>
                    <a:bodyPr/>
                    <a:lstStyle/>
                    <a:p>
                      <a:pPr algn="ctr"/>
                      <a:r>
                        <a:rPr sz="2100" b="1">
                          <a:solidFill>
                            <a:srgbClr val="FFFFFF"/>
                          </a:solidFill>
                          <a:latin typeface="Aptos"/>
                          <a:ea typeface="Aptos"/>
                          <a:cs typeface="Aptos"/>
                        </a:rPr>
                        <a:t>Selected sample size</a:t>
                      </a:r>
                    </a:p>
                  </a:txBody>
                  <a:tcPr marL="95250" marR="95250" marT="19050" marB="19050" anchor="ctr">
                    <a:solidFill>
                      <a:srgbClr val="D6171D"/>
                    </a:solidFill>
                  </a:tcPr>
                </a:tc>
                <a:tc>
                  <a:txBody>
                    <a:bodyPr/>
                    <a:lstStyle/>
                    <a:p>
                      <a:pPr algn="ctr"/>
                      <a:r>
                        <a:rPr sz="2100" b="1">
                          <a:solidFill>
                            <a:srgbClr val="FFFFFF"/>
                          </a:solidFill>
                          <a:latin typeface="Aptos"/>
                          <a:ea typeface="Aptos"/>
                          <a:cs typeface="Aptos"/>
                        </a:rPr>
                        <a:t>Last selected ID</a:t>
                      </a:r>
                    </a:p>
                  </a:txBody>
                  <a:tcPr marL="95250" marR="95250" marT="19050" marB="19050" anchor="ctr">
                    <a:solidFill>
                      <a:srgbClr val="D6171D"/>
                    </a:solidFill>
                  </a:tcPr>
                </a:tc>
                <a:extLst>
                  <a:ext uri="{0D108BD9-81ED-4DB2-BD59-A6C34878D82A}">
                    <a16:rowId xmlns:a16="http://schemas.microsoft.com/office/drawing/2014/main" val="10000"/>
                  </a:ext>
                </a:extLst>
              </a:tr>
              <a:tr h="466725">
                <a:tc>
                  <a:txBody>
                    <a:bodyPr/>
                    <a:lstStyle/>
                    <a:p>
                      <a:pPr algn="l"/>
                      <a:r>
                        <a:rPr sz="2100" b="0">
                          <a:solidFill>
                            <a:srgbClr val="111111"/>
                          </a:solidFill>
                          <a:latin typeface="Aptos"/>
                          <a:ea typeface="Aptos"/>
                          <a:cs typeface="Aptos"/>
                        </a:rPr>
                        <a:t>195</a:t>
                      </a:r>
                    </a:p>
                  </a:txBody>
                  <a:tcPr marL="95250" marR="95250" marT="19050" marB="19050" anchor="ctr">
                    <a:solidFill>
                      <a:srgbClr val="FFFFFF"/>
                    </a:solidFill>
                  </a:tcPr>
                </a:tc>
                <a:tc>
                  <a:txBody>
                    <a:bodyPr/>
                    <a:lstStyle/>
                    <a:p>
                      <a:pPr algn="ctr"/>
                      <a:r>
                        <a:rPr sz="2100" b="0">
                          <a:solidFill>
                            <a:srgbClr val="111111"/>
                          </a:solidFill>
                          <a:latin typeface="Aptos"/>
                          <a:ea typeface="Aptos"/>
                          <a:cs typeface="Aptos"/>
                        </a:rPr>
                        <a:t>5</a:t>
                      </a:r>
                    </a:p>
                  </a:txBody>
                  <a:tcPr marL="95250" marR="95250" marT="19050" marB="19050" anchor="ctr">
                    <a:solidFill>
                      <a:srgbClr val="FFFFFF"/>
                    </a:solidFill>
                  </a:tcPr>
                </a:tc>
                <a:tc>
                  <a:txBody>
                    <a:bodyPr/>
                    <a:lstStyle/>
                    <a:p>
                      <a:pPr algn="ctr"/>
                      <a:r>
                        <a:rPr sz="2100" b="0">
                          <a:solidFill>
                            <a:srgbClr val="111111"/>
                          </a:solidFill>
                          <a:latin typeface="Aptos"/>
                          <a:ea typeface="Aptos"/>
                          <a:cs typeface="Aptos"/>
                        </a:rPr>
                        <a:t>184</a:t>
                      </a:r>
                    </a:p>
                  </a:txBody>
                  <a:tcPr marL="95250" marR="95250" marT="19050" marB="19050" anchor="ctr">
                    <a:solidFill>
                      <a:srgbClr val="FFFFFF"/>
                    </a:solidFill>
                  </a:tcPr>
                </a:tc>
                <a:extLst>
                  <a:ext uri="{0D108BD9-81ED-4DB2-BD59-A6C34878D82A}">
                    <a16:rowId xmlns:a16="http://schemas.microsoft.com/office/drawing/2014/main" val="10001"/>
                  </a:ext>
                </a:extLst>
              </a:tr>
              <a:tr h="466725">
                <a:tc>
                  <a:txBody>
                    <a:bodyPr/>
                    <a:lstStyle/>
                    <a:p>
                      <a:pPr algn="l"/>
                      <a:r>
                        <a:rPr sz="2100" b="0">
                          <a:solidFill>
                            <a:srgbClr val="111111"/>
                          </a:solidFill>
                          <a:latin typeface="Aptos"/>
                          <a:ea typeface="Aptos"/>
                          <a:cs typeface="Aptos"/>
                        </a:rPr>
                        <a:t>390</a:t>
                      </a:r>
                    </a:p>
                  </a:txBody>
                  <a:tcPr marL="95250" marR="95250" marT="19050" marB="19050" anchor="ctr">
                    <a:solidFill>
                      <a:srgbClr val="EFF8FF"/>
                    </a:solidFill>
                  </a:tcPr>
                </a:tc>
                <a:tc>
                  <a:txBody>
                    <a:bodyPr/>
                    <a:lstStyle/>
                    <a:p>
                      <a:pPr algn="ctr"/>
                      <a:r>
                        <a:rPr sz="2100" b="0">
                          <a:solidFill>
                            <a:srgbClr val="111111"/>
                          </a:solidFill>
                          <a:latin typeface="Aptos"/>
                          <a:ea typeface="Aptos"/>
                          <a:cs typeface="Aptos"/>
                        </a:rPr>
                        <a:t>10</a:t>
                      </a:r>
                    </a:p>
                  </a:txBody>
                  <a:tcPr marL="95250" marR="95250" marT="19050" marB="19050" anchor="ctr">
                    <a:solidFill>
                      <a:srgbClr val="EFF8FF"/>
                    </a:solidFill>
                  </a:tcPr>
                </a:tc>
                <a:tc>
                  <a:txBody>
                    <a:bodyPr/>
                    <a:lstStyle/>
                    <a:p>
                      <a:pPr algn="ctr"/>
                      <a:r>
                        <a:rPr sz="2100" b="0">
                          <a:solidFill>
                            <a:srgbClr val="111111"/>
                          </a:solidFill>
                          <a:latin typeface="Aptos"/>
                          <a:ea typeface="Aptos"/>
                          <a:cs typeface="Aptos"/>
                        </a:rPr>
                        <a:t>379</a:t>
                      </a:r>
                    </a:p>
                  </a:txBody>
                  <a:tcPr marL="95250" marR="95250" marT="19050" marB="19050" anchor="ctr">
                    <a:solidFill>
                      <a:srgbClr val="EFF8FF"/>
                    </a:solidFill>
                  </a:tcPr>
                </a:tc>
                <a:extLst>
                  <a:ext uri="{0D108BD9-81ED-4DB2-BD59-A6C34878D82A}">
                    <a16:rowId xmlns:a16="http://schemas.microsoft.com/office/drawing/2014/main" val="10002"/>
                  </a:ext>
                </a:extLst>
              </a:tr>
            </a:tbl>
          </a:graphicData>
        </a:graphic>
      </p:graphicFrame>
      <p:sp>
        <p:nvSpPr>
          <p:cNvPr id="26" name="s42-text-25">
            <a:extLst>
              <a:ext uri="{FF2B5EF4-FFF2-40B4-BE49-F238E27FC236}">
                <a16:creationId xmlns:a16="http://schemas.microsoft.com/office/drawing/2014/main" id="{95C22F82-5370-4215-A5F4-8C0A29F57947}"/>
              </a:ext>
            </a:extLst>
          </p:cNvPr>
          <p:cNvSpPr>
            <a:spLocks noGrp="1"/>
          </p:cNvSpPr>
          <p:nvPr/>
        </p:nvSpPr>
        <p:spPr>
          <a:xfrm>
            <a:off x="457200" y="6048375"/>
            <a:ext cx="11239500" cy="295275"/>
          </a:xfrm>
          <a:prstGeom prst="rect">
            <a:avLst/>
          </a:prstGeom>
          <a:noFill/>
          <a:ln w="0">
            <a:noFill/>
          </a:ln>
        </p:spPr>
        <p:txBody>
          <a:bodyPr wrap="square" lIns="0" tIns="0" rIns="0" bIns="0" anchor="t">
            <a:noAutofit/>
          </a:bodyPr>
          <a:lstStyle/>
          <a:p>
            <a:pPr algn="l">
              <a:defRPr sz="1950" b="1">
                <a:solidFill>
                  <a:srgbClr val="111111"/>
                </a:solidFill>
                <a:latin typeface="Aptos"/>
                <a:ea typeface="Aptos"/>
                <a:cs typeface="Aptos"/>
              </a:defRPr>
            </a:pPr>
            <a:r>
              <a:rPr sz="1950" b="1">
                <a:solidFill>
                  <a:srgbClr val="111111"/>
                </a:solidFill>
                <a:latin typeface="Aptos"/>
                <a:ea typeface="Aptos"/>
                <a:cs typeface="Aptos"/>
              </a:rPr>
              <a:t>At least five were selected. The exact sample size requires N.</a:t>
            </a:r>
          </a:p>
        </p:txBody>
      </p:sp>
      <p:sp>
        <p:nvSpPr>
          <p:cNvPr id="27" name="s42-text-26">
            <a:extLst>
              <a:ext uri="{FF2B5EF4-FFF2-40B4-BE49-F238E27FC236}">
                <a16:creationId xmlns:a16="http://schemas.microsoft.com/office/drawing/2014/main" id="{A652F81F-60C1-4CCE-BEA9-5CF43CE49656}"/>
              </a:ext>
            </a:extLst>
          </p:cNvPr>
          <p:cNvSpPr>
            <a:spLocks noGrp="1"/>
          </p:cNvSpPr>
          <p:nvPr/>
        </p:nvSpPr>
        <p:spPr>
          <a:xfrm>
            <a:off x="457200" y="6477000"/>
            <a:ext cx="10763250" cy="238125"/>
          </a:xfrm>
          <a:prstGeom prst="rect">
            <a:avLst/>
          </a:prstGeom>
          <a:noFill/>
          <a:ln w="0">
            <a:noFill/>
          </a:ln>
        </p:spPr>
        <p:txBody>
          <a:bodyPr wrap="square" lIns="0" tIns="0" rIns="0" bIns="0" anchor="t">
            <a:noAutofit/>
          </a:bodyPr>
          <a:lstStyle/>
          <a:p>
            <a:endParaRPr/>
          </a:p>
        </p:txBody>
      </p:sp>
      <p:sp>
        <p:nvSpPr>
          <p:cNvPr id="28" name="s42-text-27">
            <a:extLst>
              <a:ext uri="{FF2B5EF4-FFF2-40B4-BE49-F238E27FC236}">
                <a16:creationId xmlns:a16="http://schemas.microsoft.com/office/drawing/2014/main" id="{4960222F-D24A-4A86-AC35-4873567D875F}"/>
              </a:ext>
            </a:extLst>
          </p:cNvPr>
          <p:cNvSpPr>
            <a:spLocks noGrp="1"/>
          </p:cNvSpPr>
          <p:nvPr/>
        </p:nvSpPr>
        <p:spPr>
          <a:xfrm>
            <a:off x="11239500" y="6477000"/>
            <a:ext cx="476250" cy="238125"/>
          </a:xfrm>
          <a:prstGeom prst="rect">
            <a:avLst/>
          </a:prstGeom>
          <a:noFill/>
          <a:ln w="0">
            <a:noFill/>
          </a:ln>
        </p:spPr>
        <p:txBody>
          <a:bodyPr wrap="square" lIns="0" tIns="0" rIns="0" bIns="0" anchor="t">
            <a:noAutofit/>
          </a:bodyPr>
          <a:lstStyle/>
          <a:p>
            <a:pPr algn="r">
              <a:defRPr sz="1275" b="0">
                <a:solidFill>
                  <a:srgbClr val="666666"/>
                </a:solidFill>
                <a:latin typeface="Aptos"/>
                <a:ea typeface="Aptos"/>
                <a:cs typeface="Aptos"/>
              </a:defRPr>
            </a:pPr>
            <a:r>
              <a:rPr sz="1275" b="0">
                <a:solidFill>
                  <a:srgbClr val="666666"/>
                </a:solidFill>
                <a:latin typeface="Aptos"/>
                <a:ea typeface="Aptos"/>
                <a:cs typeface="Aptos"/>
              </a:rPr>
              <a:t>42</a:t>
            </a:r>
          </a:p>
        </p:txBody>
      </p:sp>
    </p:spTree>
    <p:extLst>
      <p:ext uri="{BB962C8B-B14F-4D97-AF65-F5344CB8AC3E}">
        <p14:creationId xmlns:p14="http://schemas.microsoft.com/office/powerpoint/2010/main" val="3281361232"/>
      </p:ext>
    </p:extLst>
  </p:cSld>
  <p:clrMapOvr>
    <a:masterClrMapping/>
  </p:clrMapOvr>
</p:sld>
</file>

<file path=ppt/theme/theme1.xml><?xml version="1.0" encoding="utf-8"?>
<a:theme xmlns:a="http://schemas.openxmlformats.org/drawingml/2006/main" name="Office Theme">
  <a:themeElements>
    <a:clrScheme name="Bellerbys">
      <a:dk1>
        <a:srgbClr val="000000"/>
      </a:dk1>
      <a:lt1>
        <a:srgbClr val="FFFFFF"/>
      </a:lt1>
      <a:dk2>
        <a:srgbClr val="0E2841"/>
      </a:dk2>
      <a:lt2>
        <a:srgbClr val="E8E8E8"/>
      </a:lt2>
      <a:accent1>
        <a:srgbClr val="D6171D"/>
      </a:accent1>
      <a:accent2>
        <a:srgbClr val="3F3E3A"/>
      </a:accent2>
      <a:accent3>
        <a:srgbClr val="BA3793"/>
      </a:accent3>
      <a:accent4>
        <a:srgbClr val="ADD8FF"/>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Bellerby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Bellerbys">
      <a:dk1>
        <a:srgbClr val="000000"/>
      </a:dk1>
      <a:lt1>
        <a:srgbClr val="FFFFFF"/>
      </a:lt1>
      <a:dk2>
        <a:srgbClr val="0E2841"/>
      </a:dk2>
      <a:lt2>
        <a:srgbClr val="E8E8E8"/>
      </a:lt2>
      <a:accent1>
        <a:srgbClr val="D6171D"/>
      </a:accent1>
      <a:accent2>
        <a:srgbClr val="3F3E3A"/>
      </a:accent2>
      <a:accent3>
        <a:srgbClr val="BA3793"/>
      </a:accent3>
      <a:accent4>
        <a:srgbClr val="ADD8FF"/>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Bellerby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8877</Words>
  <Application>Microsoft Macintosh PowerPoint</Application>
  <PresentationFormat>Widescreen</PresentationFormat>
  <Paragraphs>847</Paragraphs>
  <Slides>43</Slides>
  <Notes>42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43</vt:i4>
      </vt:variant>
    </vt:vector>
  </HeadingPairs>
  <TitlesOfParts>
    <vt:vector size="47"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Jacob Mlynarski</cp:lastModifiedBy>
  <cp:revision>1</cp:revision>
  <dcterms:created xsi:type="dcterms:W3CDTF">2026-09-23T12:05:54Z</dcterms:created>
  <dcterms:modified xsi:type="dcterms:W3CDTF">2026-09-24T02:49:17Z</dcterms:modified>
</cp:coreProperties>
</file>