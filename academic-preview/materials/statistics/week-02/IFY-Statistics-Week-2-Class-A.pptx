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43582D-4A6A-1946-8AB5-F79BB387F6CA}" v="3" dt="2026-09-20T23:58:18.5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02" d="100"/>
          <a:sy n="102" d="100"/>
        </p:scale>
        <p:origin x="1400"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Mlynarski" userId="5c8c5ce1edfe4dd6" providerId="LiveId" clId="{C91FEEE5-5543-5F5D-804A-A29147691C79}"/>
    <pc:docChg chg="modSld">
      <pc:chgData name="Jacob Mlynarski" userId="5c8c5ce1edfe4dd6" providerId="LiveId" clId="{C91FEEE5-5543-5F5D-804A-A29147691C79}" dt="2026-09-20T23:58:23.234" v="32" actId="20577"/>
      <pc:docMkLst>
        <pc:docMk/>
      </pc:docMkLst>
      <pc:sldChg chg="modSp mod">
        <pc:chgData name="Jacob Mlynarski" userId="5c8c5ce1edfe4dd6" providerId="LiveId" clId="{C91FEEE5-5543-5F5D-804A-A29147691C79}" dt="2026-09-20T23:31:37.552" v="9" actId="20577"/>
        <pc:sldMkLst>
          <pc:docMk/>
          <pc:sldMk cId="3281361232" sldId="269"/>
        </pc:sldMkLst>
        <pc:spChg chg="mod">
          <ac:chgData name="Jacob Mlynarski" userId="5c8c5ce1edfe4dd6" providerId="LiveId" clId="{C91FEEE5-5543-5F5D-804A-A29147691C79}" dt="2026-09-20T23:31:37.552" v="9" actId="20577"/>
          <ac:spMkLst>
            <pc:docMk/>
            <pc:sldMk cId="3281361232" sldId="269"/>
            <ac:spMk id="10" creationId="{FEE02B68-B59D-41C7-9DD0-9397A380D6C1}"/>
          </ac:spMkLst>
        </pc:spChg>
      </pc:sldChg>
      <pc:sldChg chg="modSp mod">
        <pc:chgData name="Jacob Mlynarski" userId="5c8c5ce1edfe4dd6" providerId="LiveId" clId="{C91FEEE5-5543-5F5D-804A-A29147691C79}" dt="2026-09-20T23:37:23.584" v="29" actId="20577"/>
        <pc:sldMkLst>
          <pc:docMk/>
          <pc:sldMk cId="3281361232" sldId="279"/>
        </pc:sldMkLst>
        <pc:spChg chg="mod">
          <ac:chgData name="Jacob Mlynarski" userId="5c8c5ce1edfe4dd6" providerId="LiveId" clId="{C91FEEE5-5543-5F5D-804A-A29147691C79}" dt="2026-09-20T23:37:23.584" v="29" actId="20577"/>
          <ac:spMkLst>
            <pc:docMk/>
            <pc:sldMk cId="3281361232" sldId="279"/>
            <ac:spMk id="11" creationId="{21B7F503-2FC9-4D07-B87B-51185AA64CF5}"/>
          </ac:spMkLst>
        </pc:spChg>
      </pc:sldChg>
      <pc:sldChg chg="modSp mod">
        <pc:chgData name="Jacob Mlynarski" userId="5c8c5ce1edfe4dd6" providerId="LiveId" clId="{C91FEEE5-5543-5F5D-804A-A29147691C79}" dt="2026-09-20T23:58:23.234" v="32" actId="20577"/>
        <pc:sldMkLst>
          <pc:docMk/>
          <pc:sldMk cId="3281361232" sldId="294"/>
        </pc:sldMkLst>
        <pc:spChg chg="mod">
          <ac:chgData name="Jacob Mlynarski" userId="5c8c5ce1edfe4dd6" providerId="LiveId" clId="{C91FEEE5-5543-5F5D-804A-A29147691C79}" dt="2026-09-20T23:58:23.234" v="32" actId="20577"/>
          <ac:spMkLst>
            <pc:docMk/>
            <pc:sldMk cId="3281361232" sldId="294"/>
            <ac:spMk id="12" creationId="{A0E666F5-5ADE-4F70-8133-058982DDE24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90-minute teaching plan: revision 5; population/sample 18; data types 12; simple random sampling explanation 8; systematic sampling 24; integrated application 18; exit check 5. Calculators and blank paper only. No cutting, bags, slips, physical draw or lookup roster is needed. Exercise labels run A1–A5. The Week 1 revision R3(a)/R3(b) split is preserved. The optional five-minute extension follows the summary. Teacher timetable is the final slide. Original Bellerbys visual template retained. New stock image sources appear in the relevant speaker notes.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separator. Pause briefly, then continue.</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a:p>
            <a:r>
              <a:t>Section lead-in: Bring back the key ideas.</a:t>
            </a:r>
          </a:p>
          <a:p>
            <a:r>
              <a:t>[Sources]</a:t>
            </a:r>
          </a:p>
          <a:p>
            <a:r>
              <a:t>Original Bellerby photographic divider inherited from 1_Image divider 1, as in the supplied Week 1 reference decks.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3 minutes. R3 revisits order before sampling. Keep feedback brief.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2 minutes. The same pair in the opposite drawing order still forms the same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separator. Pause briefly, then continue.</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a:p>
            <a:r>
              <a:t>Section lead-in: Start with a question about our university.</a:t>
            </a:r>
          </a:p>
          <a:p>
            <a:r>
              <a:t>[Sources]</a:t>
            </a:r>
          </a:p>
          <a:p>
            <a:r>
              <a:t>Original Bellerby photographic divider inherited from 1_Image divider 1, as in the supplied Week 1 reference decks.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Gather practical reasons why a census may be difficult: time, cost and access. Preserve the source deck’s university context. Image: Alexis Brown / Unsplash, https://unsplash.com/photos/omeaHbEFlN4 ; https://unsplash.com/license . Photograph is illustrative, not a photograph of Eurasia University.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Population = all enrolled students at Xi’an Eurasia University. The sample size 200 is a classroom example, not a real study or a recommended precision target.</a:t>
            </a:r>
          </a:p>
          <a:p>
            <a:r>
              <a:t>[Sources]</a:t>
            </a:r>
          </a:p>
          <a:p>
            <a:r>
              <a:t>https://en.eurasia.edu/About_Us/Introduction_of_the_University.htm (official university introduction; publishes more than 20,000 students; checked 6 September 2026).</a:t>
            </a:r>
          </a:p>
          <a:p>
            <a:r>
              <a:t>Statistics Week 2 Lecture.pptx (user-provided Bellerbys source; content and inherited visual template).</a:t>
            </a:r>
          </a:p>
          <a:p>
            <a:r>
              <a:t>[/Sources]</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to justify census versus sample for a small class and for a city. A census is not automatically error-free; detailed bias is in Class B.</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whole-population target. Do not reveal a fictional population percentage as if known. Introduce the question before the term parameter.</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hypothetical responses sum to 200. The result describes the respondents in this sample, not a proven university-wide percentage.</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a:p>
            <a:r>
              <a:t>A numerical summary can be a percentage, average or other measure. Whether it is a parameter or statistic depends on the group it describes. A parameter may be known after a census; unknown is not its definition.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Use the existing demonstration. Ask all students to think before taking an answer. Avoid implying that the sample percentage cannot ever equal the population percentage.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Sampling variation is introduced here and demonstrated later. A statistic could equal the parameter by coincidence. The point is that this sample alone does not establish exact equality.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4 minutes independent then partner check. A1.3 is compulsory. Label the target population before calculating. Fast finishers explain why classifying a statistic does not show that it represents its target well.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2 minutes including the following short reveal. Students must state the group described, not classify by whether the percentage looks large or small.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Part of the preceding two-minute answer discussion. Club membership may affect representativeness, but leave formal bias analysis for Class 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Allow 3 minutes for individual work then partner reasoning. These are logical limits, not estimates or confidence intervals. Ask students to account for the 76 items already known to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Allow 1 minute. Both extremes are consistent with the observed inspection results. Random selection supports estimation but does not turn the sample count into the exact batch count.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separator. Pause briefly, then continue.</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a:p>
            <a:r>
              <a:t>Section lead-in: What information are we collecting?</a:t>
            </a:r>
          </a:p>
          <a:p>
            <a:r>
              <a:t>[Sources]</a:t>
            </a:r>
          </a:p>
          <a:p>
            <a:r>
              <a:t>Original Bellerby photographic divider inherited from 1_Image divider 1, as in the supplied Week 1 reference decks.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Fictional data. Preview qualitative/categorical versus quantitative/numerical. Ask which columns could be added or averaged meaningfully; student labels cannot.</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Brief explanation. Ask what a numerical code for salad would mean: a label, not a quantity. Image: Anna Pelzer / Unsplash, https://unsplash.com/photos/IGfIGP5ONV0 ; https://unsplash.com/license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This replaces the unexplained rectangles. Point to each of the three bicycles, then identify the variable and recorded count. Ask why 3.5 is not a possible count of whole bicycles. Counts are a familiar example of discrete data; discrete variables in general need not be whole-number counts. Stock graphic: Twemoji bicycle, https://github.com/twitter/twemoji/blob/master/assets/svg/1f6b2.svg ; graphics CC BY 4.0 https://creativecommons.org/licenses/by/4.0/ . Artwork unmodified and repeated to represent the exact count.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Use the interval to show that intermediate times are possible. The example readings are illustrative and do not come from the photograph. The contrast is counting bicycles versus measuring elapsed time. Image: Andrik Langfield / Unsplash, https://unsplash.com/photos/0rTCXZM7Xfo ; https://unsplash.com/license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teach that integers are always discrete or decimals always continuous. The variable, not the written number alone, determines the data type.</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3 minutes individual work. For duration, classify the underlying measured quantity, not the rounded display. Do not infer data type merely from integer or decimal notation.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3 minutes. Age item 8 is the continuous elapsed duration. Item 9 explicitly defines the integer-valued count of completed years. Satisfaction codes remain categories for this introductory classification task. No need to introduce ordinal/nominal labels.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Require one spoken explanation for a coded category or rounded measurement.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A measured quantity does not become inherently discrete merely because we round it. Item 9 deliberately asks about a different, count-valued variable.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separator. Pause briefly, then continue.</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a:p>
            <a:r>
              <a:t>Section lead-in: Give every possible sample the same chance.</a:t>
            </a:r>
          </a:p>
          <a:p>
            <a:r>
              <a:t>[Sources]</a:t>
            </a:r>
          </a:p>
          <a:p>
            <a:r>
              <a:t>Original Bellerby photographic divider inherited from 1_Image divider 1, as in the supplied Week 1 reference decks.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Five people give ten possible unordered pairs. A simple random sample gives every possible sample of the specified size the same chance. Selection order does not make a different sample. Source: original supplied Class A deck and its Statistics Week 2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Explain only: no student ID draw, cutting, materials, device exercise or preparation. A valid simple random procedure gives each remaining ID equal chance at every selection without replacement, so every sample of the chosen size is equally likely. A complete list is a sampling frame, not itself a randomisation mechanism. A repeated ID is rejected or prevented. Spend about 4 minutes explaining; use the slide titled What makes a sample random? for the equally likely sample definition.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separator. Pause briefly, then continue.</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a:p>
            <a:r>
              <a:t>Section lead-in: Start randomly, then follow a regular step.</a:t>
            </a:r>
          </a:p>
          <a:p>
            <a:r>
              <a:t>[Sources]</a:t>
            </a:r>
          </a:p>
          <a:p>
            <a:r>
              <a:t>Original Bellerby photographic divider inherited from 1_Image divider 1, as in the supplied Week 1 reference decks.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temporary blocks explain spacing; they are not strata. The same start position is used throughout the list. Say move forward four positions, not skip four people.</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to each selection before reading the next. Ask students to predict the next ID. The firstblock and blank assets support the progressive explanation on previous slides.</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This is deliberately a small demonstration. Define N population size,n sample size,k interval. Percent selected is100n/N. Under these exact-division examples the fraction is1/k. Larger independent calculations follow.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Allow 6 minutes independent work and 1 minute partner explanation. A3.4 deliberately reverses the process. The fifth ID follows four, not five, intervals. Early finishers: final ID in the alternative plan is 28+55×39=2173.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1.5 minutes. Generate one uniform random integer from 1–26. Keep the interval fixed. There are 84 selections but only 83 gaps between the first and last.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Allow 2 minutes. Check: 2184/39=56; 184−4×39=28. A start of 28 is valid within 1–39. Distinguish the interval from the sampling fraction.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2 minutes in pairs. Student19 could be a valid start if a random mechanism selected it. The fault is deliberately choosing that student, not the number19 itself. Ask students to state the repair, not merely say biased.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Explain why choosing a favourite student is wrong: all other starting sequences have zero chance under that fixed rule. A generator choosing 19 randomly would be valid. The issue is the selection process, not whether the resulting sample happens to look balanced.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minutes. Small demonstration list alternates Business and Engineering. Interval4 and random start3 selects onlyBusiness. Ask learners to explain using positions, then reveal next slide. This explores periodicity without introducing stratified or cluster methods.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A uniformly random start still gives each person equal inclusion probability here. It can nevertheless produce samples dominated by one programme and high sampling variability. Do not claim random-start systematic sampling is automatically biased. Randomly shuffling the list first is one remedy; an SRS is another. Leave formal bias taxonomy and programme stratification to ClassB.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to class: Which is easier to carry out along an ordered list? Systematic can be simpler, but inspect relevant patterns. Do not teach that any ordering automatically creates bias.</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separator. Pause briefly, then continue.</a:t>
            </a:r>
          </a:p>
          <a:p>
            <a:r>
              <a:t>[Sources]</a:t>
            </a:r>
          </a:p>
          <a:p>
            <a:r>
              <a:t>Statistics Week 2 Lecture.pptx (user-provided Bellerbys source; content and inherited visual template).</a:t>
            </a:r>
          </a:p>
          <a:p>
            <a:r>
              <a:t>Sullivan, Statistics: Informed Decisions Using Data, 7th ed., supplied PDF. Printed pp. 5, 7–8, 25, 35, 37 and 42–43: population/sample, data types, sampling methods and sampling error.</a:t>
            </a:r>
          </a:p>
          <a:p>
            <a:r>
              <a:t>All classroom datasets and worked examples are illustrative. Mathematical diagrams created for this lesson from the stated values; no textbook artwork reproduced.</a:t>
            </a:r>
          </a:p>
          <a:p>
            <a:r>
              <a:t>[/Sources]</a:t>
            </a:r>
          </a:p>
          <a:p>
            <a:r>
              <a:t>Section lead-in: Use the whole lesson in one study.</a:t>
            </a:r>
          </a:p>
          <a:p>
            <a:r>
              <a:t>[Sources]</a:t>
            </a:r>
          </a:p>
          <a:p>
            <a:r>
              <a:t>Original Bellerby photographic divider inherited from 1_Image divider 1, as in the supplied Week 1 reference decks.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Allow 1 minute. Make explicit that the sample is selected by a valid random procedure and all selected students respond. For the systematic alternative use a complete register without a problematic repeating pattern. Image: Juan Encalada / Unsplash, https://unsplash.com/photos/6mcVaoGNz1w ; https://unsplash.com/license . Illustrative photograph; not the college or its actual transport.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6 minutes independent work. Students retain the three case numbers at the top of the page. Calculators allowed, percentages to2dp. For A4.4 apply the unrounded sample proportion to population size, assuming the sample is suitable for estimation. Do not silently replace an estimate with an exact census count.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Both partners must explain one calculation. Collect one misconception about denominators before showing the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2 minutes. 44.51% concerns bus travel among respondents. It is not the proportion of the college selected.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3 minutes. Use73/164 rather than the rounded44.51% to estimate1095 exactly from the given ratio. That exact arithmetic result remains a statistical estimate. With a different random sample, the estimate may differ.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Allow 3 minutes. Both random procedures are valid and all selected students respond. Keep the population fixed. Learners calculate before interpreting the difference. No new sample is collected in class.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Allow 1 minute. Contrast an arithmetic error with sampling variation. Do not describe one estimate as biased merely because it differs. No inference about which is closer is justified from these two sample counts alone.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3 minutes without partner help. Collect or scan individual answers. Do not spend remaining time on an optional challenge if these core misconceptions remain.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cases on this slide are fictional classroom examples. Round percentages to two decimal places unless stated otherwise. 1.5 minutes. Have students correct mistakes and write the reason. Topic for reteaching is the most common error, not necessarily the calculation.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 minute. Close the90-minute core here. Next class considers ensuring inclusion of programmes and other sampling methods. Optional extension and teacher resources follow after this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Optional 5-minute reasoning extension outside the core 90 minutes. This is a stated computer-selection scenario, not a class practical. Small numbers make it possible to enumerate the complete sample space.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examples are fictional teaching cases. Original Bellerbys template from the supplied Week 2 Class A deck. Calculators allowed; round percentages to two decimal places unless stated otherwise. Each person has probability 1/3. There are 6×5/2=15 possible unordered pairs, but this procedure can select only three. It is random, but not a simple random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Teacher resource. Suggested 90-minute allocation: 5+18+12+8+24+18+5=90. Timings include explanations, independent thinking, partner reasoning and answer reveals. The random sampling section is explanation only; no physical preparation or student selection practical. Strengthened tasks A1.4, A3.4 and A4.5 use the saved time. Give 3 minutes for A1.4, about 7 for the main A3 task, and 3 for A4.5 before revealing answers. For a fast group, use the optional five-minute sample-space challenge if there is time; do not stretch the explanation to fill time. Stop the projected core at the summary. Handout numbering is now A1–A5 and must be matched in any later handout.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der 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4">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5">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1384914"/>
            <a:ext cx="5012602"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ext and image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ext and image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ext and logo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112934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11293444" cy="4330731"/>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B27F821-23A1-E30C-4CF7-BCB0A54C884C}"/>
              </a:ext>
            </a:extLst>
          </p:cNvPr>
          <p:cNvSpPr>
            <a:spLocks noGrp="1"/>
          </p:cNvSpPr>
          <p:nvPr>
            <p:ph idx="2"/>
          </p:nvPr>
        </p:nvSpPr>
        <p:spPr>
          <a:xfrm>
            <a:off x="6172200" y="1979534"/>
            <a:ext cx="555203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3" y="1979534"/>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Content Placeholder 2">
            <a:extLst>
              <a:ext uri="{FF2B5EF4-FFF2-40B4-BE49-F238E27FC236}">
                <a16:creationId xmlns:a16="http://schemas.microsoft.com/office/drawing/2014/main" id="{39B8B3E1-3E22-853B-33F7-08DB9B6F05C9}"/>
              </a:ext>
            </a:extLst>
          </p:cNvPr>
          <p:cNvSpPr>
            <a:spLocks noGrp="1"/>
          </p:cNvSpPr>
          <p:nvPr>
            <p:ph idx="10"/>
          </p:nvPr>
        </p:nvSpPr>
        <p:spPr>
          <a:xfrm>
            <a:off x="4293873" y="1989591"/>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Content Placeholder 2">
            <a:extLst>
              <a:ext uri="{FF2B5EF4-FFF2-40B4-BE49-F238E27FC236}">
                <a16:creationId xmlns:a16="http://schemas.microsoft.com/office/drawing/2014/main" id="{03F7CAF5-096C-F6FE-105D-033F35B064E8}"/>
              </a:ext>
            </a:extLst>
          </p:cNvPr>
          <p:cNvSpPr>
            <a:spLocks noGrp="1"/>
          </p:cNvSpPr>
          <p:nvPr>
            <p:ph idx="11"/>
          </p:nvPr>
        </p:nvSpPr>
        <p:spPr>
          <a:xfrm>
            <a:off x="8119985" y="1979534"/>
            <a:ext cx="3604253"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ext and stat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8150498"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815049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ext and testimonia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4119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41194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Column with 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Picture Placeholder 4">
            <a:extLst>
              <a:ext uri="{FF2B5EF4-FFF2-40B4-BE49-F238E27FC236}">
                <a16:creationId xmlns:a16="http://schemas.microsoft.com/office/drawing/2014/main" id="{1D4466F3-6EF4-7C6C-700F-D82BD03B0915}"/>
              </a:ext>
            </a:extLst>
          </p:cNvPr>
          <p:cNvSpPr>
            <a:spLocks noGrp="1"/>
          </p:cNvSpPr>
          <p:nvPr>
            <p:ph type="pic" idx="10"/>
          </p:nvPr>
        </p:nvSpPr>
        <p:spPr>
          <a:xfrm>
            <a:off x="6096000" y="1979613"/>
            <a:ext cx="5627688" cy="4351337"/>
          </a:xfrm>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4" name="Chart Placeholder 3">
            <a:extLst>
              <a:ext uri="{FF2B5EF4-FFF2-40B4-BE49-F238E27FC236}">
                <a16:creationId xmlns:a16="http://schemas.microsoft.com/office/drawing/2014/main" id="{06F8C7EE-44FF-25E2-FD85-4A9A4E59F43C}"/>
              </a:ext>
            </a:extLst>
          </p:cNvPr>
          <p:cNvSpPr>
            <a:spLocks noGrp="1"/>
          </p:cNvSpPr>
          <p:nvPr>
            <p:ph type="chart" idx="10"/>
          </p:nvPr>
        </p:nvSpPr>
        <p:spPr>
          <a:xfrm>
            <a:off x="430213" y="1928813"/>
            <a:ext cx="11293475" cy="4354512"/>
          </a:xfrm>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3" name="Table Placeholder 2">
            <a:extLst>
              <a:ext uri="{FF2B5EF4-FFF2-40B4-BE49-F238E27FC236}">
                <a16:creationId xmlns:a16="http://schemas.microsoft.com/office/drawing/2014/main" id="{9F2E8F34-9DD5-6734-21E2-9B7CCAD9F297}"/>
              </a:ext>
            </a:extLst>
          </p:cNvPr>
          <p:cNvSpPr>
            <a:spLocks noGrp="1"/>
          </p:cNvSpPr>
          <p:nvPr>
            <p:ph type="tbl" idx="10"/>
          </p:nvPr>
        </p:nvSpPr>
        <p:spPr>
          <a:xfrm>
            <a:off x="430213" y="1919288"/>
            <a:ext cx="11293475" cy="4391025"/>
          </a:xfrm>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8C7BB9-ED14-2EE7-B747-6D3AC509C6F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C5B5F42-1935-63EA-A56F-BCFFCC5F384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4A4FD98-5FB3-0F33-190B-F09E379EA8D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577B4DDA-DC7A-BA44-95F8-6F5B47B98114}" type="datetimeFigureOut">
              <a:t>9/21/26</a:t>
            </a:fld>
            <a:endParaRPr/>
          </a:p>
        </p:txBody>
      </p:sp>
      <p:sp>
        <p:nvSpPr>
          <p:cNvPr id="5" name="Footer Placeholder 4">
            <a:extLst>
              <a:ext uri="{FF2B5EF4-FFF2-40B4-BE49-F238E27FC236}">
                <a16:creationId xmlns:a16="http://schemas.microsoft.com/office/drawing/2014/main" id="{34199F5F-1ACA-4A1A-5173-27733EE4567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FB4C4A5E-3279-A2E1-BFFA-8259ABF8BC49}"/>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CF9A60C2-D39C-DE40-8B64-BE745D99ECE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24.svg"/></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0EE20-CE2E-3013-3D7D-3F4166CBDECE}"/>
              </a:ext>
            </a:extLst>
          </p:cNvPr>
          <p:cNvSpPr>
            <a:spLocks noGrp="1"/>
          </p:cNvSpPr>
          <p:nvPr>
            <p:ph type="ctrTitle"/>
          </p:nvPr>
        </p:nvSpPr>
        <p:spPr>
          <a:xfrm>
            <a:off x="356140" y="2154460"/>
            <a:ext cx="5626703" cy="4050411"/>
          </a:xfrm>
        </p:spPr>
        <p:txBody>
          <a:bodyPr wrap="square" lIns="91440" tIns="45720" rIns="91440" bIns="45720" anchor="ctr">
            <a:noAutofit/>
          </a:bodyPr>
          <a:lstStyle/>
          <a:p>
            <a:pPr algn="l">
              <a:lnSpc>
                <a:spcPct val="103000"/>
              </a:lnSpc>
              <a:buNone/>
              <a:defRPr sz="4860">
                <a:solidFill>
                  <a:srgbClr val="FFFFFF"/>
                </a:solidFill>
                <a:latin typeface="Aptos Display"/>
                <a:ea typeface="Aptos Display"/>
                <a:cs typeface="Aptos Display"/>
              </a:defRPr>
            </a:pPr>
            <a:r>
              <a:rPr sz="4860">
                <a:solidFill>
                  <a:srgbClr val="FFFFFF"/>
                </a:solidFill>
                <a:latin typeface="Aptos Display"/>
                <a:ea typeface="Aptos Display"/>
                <a:cs typeface="Aptos Display"/>
              </a:rPr>
              <a:t>IFY Statistics</a:t>
            </a:r>
          </a:p>
          <a:p>
            <a:pPr algn="l">
              <a:lnSpc>
                <a:spcPct val="103000"/>
              </a:lnSpc>
              <a:buNone/>
              <a:defRPr sz="4860">
                <a:solidFill>
                  <a:srgbClr val="FFFFFF"/>
                </a:solidFill>
                <a:latin typeface="Aptos Display"/>
                <a:ea typeface="Aptos Display"/>
                <a:cs typeface="Aptos Display"/>
              </a:defRPr>
            </a:pPr>
            <a:r>
              <a:rPr sz="4860">
                <a:solidFill>
                  <a:srgbClr val="FFFFFF"/>
                </a:solidFill>
                <a:latin typeface="Aptos Display"/>
                <a:ea typeface="Aptos Display"/>
                <a:cs typeface="Aptos Display"/>
              </a:rPr>
              <a:t>Week 2 • Class A</a:t>
            </a:r>
          </a:p>
          <a:p>
            <a:endParaRPr sz="4860">
              <a:solidFill>
                <a:srgbClr val="FFFFFF"/>
              </a:solidFill>
              <a:latin typeface="Aptos Display"/>
              <a:ea typeface="Aptos Display"/>
              <a:cs typeface="Aptos Display"/>
            </a:endParaRPr>
          </a:p>
          <a:p>
            <a:pPr algn="l">
              <a:lnSpc>
                <a:spcPct val="103000"/>
              </a:lnSpc>
              <a:buNone/>
              <a:defRPr sz="4860">
                <a:solidFill>
                  <a:srgbClr val="FFFFFF"/>
                </a:solidFill>
                <a:latin typeface="Aptos Display"/>
                <a:ea typeface="Aptos Display"/>
                <a:cs typeface="Aptos Display"/>
              </a:defRPr>
            </a:pPr>
            <a:r>
              <a:rPr sz="4860">
                <a:solidFill>
                  <a:srgbClr val="FFFFFF"/>
                </a:solidFill>
                <a:latin typeface="Aptos Display"/>
                <a:ea typeface="Aptos Display"/>
                <a:cs typeface="Aptos Display"/>
              </a:rPr>
              <a:t>Data and</a:t>
            </a:r>
          </a:p>
          <a:p>
            <a:pPr algn="l">
              <a:lnSpc>
                <a:spcPct val="103000"/>
              </a:lnSpc>
              <a:buNone/>
              <a:defRPr sz="4860">
                <a:solidFill>
                  <a:srgbClr val="FFFFFF"/>
                </a:solidFill>
                <a:latin typeface="Aptos Display"/>
                <a:ea typeface="Aptos Display"/>
                <a:cs typeface="Aptos Display"/>
              </a:defRPr>
            </a:pPr>
            <a:r>
              <a:rPr sz="4860">
                <a:solidFill>
                  <a:srgbClr val="FFFFFF"/>
                </a:solidFill>
                <a:latin typeface="Aptos Display"/>
                <a:ea typeface="Aptos Display"/>
                <a:cs typeface="Aptos Display"/>
              </a:rPr>
              <a:t>Sampling</a:t>
            </a:r>
          </a:p>
        </p:txBody>
      </p:sp>
    </p:spTree>
    <p:extLst>
      <p:ext uri="{BB962C8B-B14F-4D97-AF65-F5344CB8AC3E}">
        <p14:creationId xmlns:p14="http://schemas.microsoft.com/office/powerpoint/2010/main" val="3742239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Revision:</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Week 1</a:t>
            </a:r>
          </a:p>
        </p:txBody>
      </p:sp>
    </p:spTree>
    <p:extLst>
      <p:ext uri="{BB962C8B-B14F-4D97-AF65-F5344CB8AC3E}">
        <p14:creationId xmlns:p14="http://schemas.microsoft.com/office/powerpoint/2010/main" val="3281361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Revision: calculations and counting</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Work with a partner. Show your method. Calculators allowed.</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REVISION</a:t>
            </a:r>
          </a:p>
        </p:txBody>
      </p:sp>
      <p:sp>
        <p:nvSpPr>
          <p:cNvPr id="9" name="Revised-text-1">
            <a:extLst>
              <a:ext uri="{FF2B5EF4-FFF2-40B4-BE49-F238E27FC236}">
                <a16:creationId xmlns:a16="http://schemas.microsoft.com/office/drawing/2014/main" id="{7E82CD5D-64AD-467A-9DA4-0767D588C179}"/>
              </a:ext>
            </a:extLst>
          </p:cNvPr>
          <p:cNvSpPr>
            <a:spLocks noGrp="1"/>
          </p:cNvSpPr>
          <p:nvPr/>
        </p:nvSpPr>
        <p:spPr>
          <a:xfrm>
            <a:off x="619125" y="2857500"/>
            <a:ext cx="10858500" cy="81915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R1  Divide 486 in the ratio 7 : 11.</a:t>
            </a:r>
          </a:p>
        </p:txBody>
      </p:sp>
      <p:sp>
        <p:nvSpPr>
          <p:cNvPr id="10" name="Revised-text-2">
            <a:extLst>
              <a:ext uri="{FF2B5EF4-FFF2-40B4-BE49-F238E27FC236}">
                <a16:creationId xmlns:a16="http://schemas.microsoft.com/office/drawing/2014/main" id="{E463CA33-395A-4FBB-8145-1890A8FFD13E}"/>
              </a:ext>
            </a:extLst>
          </p:cNvPr>
          <p:cNvSpPr>
            <a:spLocks noGrp="1"/>
          </p:cNvSpPr>
          <p:nvPr/>
        </p:nvSpPr>
        <p:spPr>
          <a:xfrm>
            <a:off x="619125" y="3762375"/>
            <a:ext cx="10858500" cy="81915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R2  What percentage is 83 out of 237?</a:t>
            </a:r>
          </a:p>
        </p:txBody>
      </p:sp>
      <p:sp>
        <p:nvSpPr>
          <p:cNvPr id="11" name="Revised-text-3">
            <a:extLst>
              <a:ext uri="{FF2B5EF4-FFF2-40B4-BE49-F238E27FC236}">
                <a16:creationId xmlns:a16="http://schemas.microsoft.com/office/drawing/2014/main" id="{A7C3359C-5877-4086-A966-EB20629E8B99}"/>
              </a:ext>
            </a:extLst>
          </p:cNvPr>
          <p:cNvSpPr>
            <a:spLocks noGrp="1"/>
          </p:cNvSpPr>
          <p:nvPr/>
        </p:nvSpPr>
        <p:spPr>
          <a:xfrm>
            <a:off x="619125" y="4619625"/>
            <a:ext cx="10858500" cy="74295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R3(a)  Choose two representatives from nine students.</a:t>
            </a:r>
          </a:p>
          <a:p>
            <a:pPr algn="l">
              <a:buNone/>
              <a:defRPr sz="2325" b="0">
                <a:solidFill>
                  <a:srgbClr val="111111"/>
                </a:solidFill>
                <a:latin typeface="Aptos"/>
                <a:ea typeface="Aptos"/>
                <a:cs typeface="Aptos"/>
              </a:defRPr>
            </a:pPr>
            <a:r>
              <a:rPr sz="2325" b="0">
                <a:solidFill>
                  <a:srgbClr val="111111"/>
                </a:solidFill>
                <a:latin typeface="Aptos"/>
                <a:ea typeface="Aptos"/>
                <a:cs typeface="Aptos"/>
              </a:rPr>
              <a:t>            Both have the same role. How many pairs are possible?</a:t>
            </a:r>
          </a:p>
        </p:txBody>
      </p:sp>
      <p:sp>
        <p:nvSpPr>
          <p:cNvPr id="12" name="Revision R3(b) captain and deputy">
            <a:extLst>
              <a:ext uri="{FF2B5EF4-FFF2-40B4-BE49-F238E27FC236}">
                <a16:creationId xmlns:a16="http://schemas.microsoft.com/office/drawing/2014/main" id="{26B4836F-DDF9-4923-883A-484A248189BC}"/>
              </a:ext>
            </a:extLst>
          </p:cNvPr>
          <p:cNvSpPr>
            <a:spLocks noGrp="1"/>
          </p:cNvSpPr>
          <p:nvPr/>
        </p:nvSpPr>
        <p:spPr>
          <a:xfrm>
            <a:off x="619125" y="5524500"/>
            <a:ext cx="10858500" cy="742950"/>
          </a:xfrm>
          <a:prstGeom prst="rect">
            <a:avLst/>
          </a:prstGeom>
          <a:noFill/>
          <a:ln w="0">
            <a:noFill/>
          </a:ln>
        </p:spPr>
        <p:txBody>
          <a:bodyPr wrap="square" lIns="0" tIns="0" rIns="0" bIns="0">
            <a:noAutofit/>
          </a:bodyPr>
          <a:lstStyle/>
          <a:p>
            <a:pPr>
              <a:buNone/>
              <a:defRPr sz="2325">
                <a:solidFill>
                  <a:srgbClr val="111111"/>
                </a:solidFill>
                <a:latin typeface="Aptos"/>
                <a:ea typeface="Aptos"/>
                <a:cs typeface="Aptos"/>
              </a:defRPr>
            </a:pPr>
            <a:r>
              <a:rPr sz="2325">
                <a:solidFill>
                  <a:srgbClr val="111111"/>
                </a:solidFill>
                <a:latin typeface="Aptos"/>
                <a:ea typeface="Aptos"/>
                <a:cs typeface="Aptos"/>
              </a:rPr>
              <a:t>R3(b)  From the same nine students, choose a captain and a deputy.</a:t>
            </a:r>
          </a:p>
          <a:p>
            <a:pPr>
              <a:buNone/>
              <a:defRPr sz="2325">
                <a:solidFill>
                  <a:srgbClr val="111111"/>
                </a:solidFill>
                <a:latin typeface="Aptos"/>
                <a:ea typeface="Aptos"/>
                <a:cs typeface="Aptos"/>
              </a:defRPr>
            </a:pPr>
            <a:r>
              <a:rPr sz="2325">
                <a:solidFill>
                  <a:srgbClr val="111111"/>
                </a:solidFill>
                <a:latin typeface="Aptos"/>
                <a:ea typeface="Aptos"/>
                <a:cs typeface="Aptos"/>
              </a:rPr>
              <a:t>            How many ways can two different students fill these roles?</a:t>
            </a:r>
          </a:p>
        </p:txBody>
      </p:sp>
    </p:spTree>
    <p:extLst>
      <p:ext uri="{BB962C8B-B14F-4D97-AF65-F5344CB8AC3E}">
        <p14:creationId xmlns:p14="http://schemas.microsoft.com/office/powerpoint/2010/main" val="3281361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Revision: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Check both the calculation and the meaning.</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REVISION</a:t>
            </a:r>
          </a:p>
        </p:txBody>
      </p:sp>
      <p:sp>
        <p:nvSpPr>
          <p:cNvPr id="9" name="Revised-text-4">
            <a:extLst>
              <a:ext uri="{FF2B5EF4-FFF2-40B4-BE49-F238E27FC236}">
                <a16:creationId xmlns:a16="http://schemas.microsoft.com/office/drawing/2014/main" id="{546EE78C-7AAE-4F9E-9CF8-E052FA137E9B}"/>
              </a:ext>
            </a:extLst>
          </p:cNvPr>
          <p:cNvSpPr>
            <a:spLocks noGrp="1"/>
          </p:cNvSpPr>
          <p:nvPr/>
        </p:nvSpPr>
        <p:spPr>
          <a:xfrm>
            <a:off x="619125" y="2809875"/>
            <a:ext cx="4572000" cy="38100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R1  Ratio 7 : 11</a:t>
            </a:r>
          </a:p>
        </p:txBody>
      </p:sp>
      <p:sp>
        <p:nvSpPr>
          <p:cNvPr id="10" name="Revised-text-5">
            <a:extLst>
              <a:ext uri="{FF2B5EF4-FFF2-40B4-BE49-F238E27FC236}">
                <a16:creationId xmlns:a16="http://schemas.microsoft.com/office/drawing/2014/main" id="{3A4E3AFE-0D64-4F4A-9739-FB67DCB571E5}"/>
              </a:ext>
            </a:extLst>
          </p:cNvPr>
          <p:cNvSpPr>
            <a:spLocks noGrp="1"/>
          </p:cNvSpPr>
          <p:nvPr/>
        </p:nvSpPr>
        <p:spPr>
          <a:xfrm>
            <a:off x="619125" y="3295650"/>
            <a:ext cx="5334000" cy="904875"/>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486 ÷ 18 = 27 per part</a:t>
            </a:r>
          </a:p>
          <a:p>
            <a:pPr algn="l">
              <a:buNone/>
              <a:defRPr sz="2325" b="0">
                <a:solidFill>
                  <a:srgbClr val="111111"/>
                </a:solidFill>
                <a:latin typeface="Aptos"/>
                <a:ea typeface="Aptos"/>
                <a:cs typeface="Aptos"/>
              </a:defRPr>
            </a:pPr>
            <a:r>
              <a:rPr sz="2325" b="0">
                <a:solidFill>
                  <a:srgbClr val="111111"/>
                </a:solidFill>
                <a:latin typeface="Aptos"/>
                <a:ea typeface="Aptos"/>
                <a:cs typeface="Aptos"/>
              </a:rPr>
              <a:t>7 × 27 = 189     11 × 27 = 297</a:t>
            </a:r>
          </a:p>
        </p:txBody>
      </p:sp>
      <p:sp>
        <p:nvSpPr>
          <p:cNvPr id="11" name="Revised-text-6">
            <a:extLst>
              <a:ext uri="{FF2B5EF4-FFF2-40B4-BE49-F238E27FC236}">
                <a16:creationId xmlns:a16="http://schemas.microsoft.com/office/drawing/2014/main" id="{5BAE33BC-0654-4B0A-B361-7406908A94B1}"/>
              </a:ext>
            </a:extLst>
          </p:cNvPr>
          <p:cNvSpPr>
            <a:spLocks noGrp="1"/>
          </p:cNvSpPr>
          <p:nvPr/>
        </p:nvSpPr>
        <p:spPr>
          <a:xfrm>
            <a:off x="6477000" y="2809875"/>
            <a:ext cx="4953000" cy="38100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R2  Percentage</a:t>
            </a:r>
          </a:p>
        </p:txBody>
      </p:sp>
      <p:sp>
        <p:nvSpPr>
          <p:cNvPr id="12" name="Revised-text-7">
            <a:extLst>
              <a:ext uri="{FF2B5EF4-FFF2-40B4-BE49-F238E27FC236}">
                <a16:creationId xmlns:a16="http://schemas.microsoft.com/office/drawing/2014/main" id="{534BA416-9542-4B53-90B8-F1881C980E01}"/>
              </a:ext>
            </a:extLst>
          </p:cNvPr>
          <p:cNvSpPr>
            <a:spLocks noGrp="1"/>
          </p:cNvSpPr>
          <p:nvPr/>
        </p:nvSpPr>
        <p:spPr>
          <a:xfrm>
            <a:off x="6667500" y="3305175"/>
            <a:ext cx="876300" cy="390525"/>
          </a:xfrm>
          <a:prstGeom prst="rect">
            <a:avLst/>
          </a:prstGeom>
          <a:noFill/>
          <a:ln w="0">
            <a:noFill/>
          </a:ln>
        </p:spPr>
        <p:txBody>
          <a:bodyPr wrap="square" lIns="0" tIns="0" rIns="0" bIns="0" anchor="t">
            <a:noAutofit/>
          </a:bodyPr>
          <a:lstStyle/>
          <a:p>
            <a:pPr algn="ctr">
              <a:buNone/>
              <a:defRPr sz="2550" b="0">
                <a:solidFill>
                  <a:srgbClr val="111111"/>
                </a:solidFill>
                <a:latin typeface="Aptos"/>
                <a:ea typeface="Aptos"/>
                <a:cs typeface="Aptos"/>
              </a:defRPr>
            </a:pPr>
            <a:r>
              <a:rPr sz="2550" b="0">
                <a:solidFill>
                  <a:srgbClr val="111111"/>
                </a:solidFill>
                <a:latin typeface="Aptos"/>
                <a:ea typeface="Aptos"/>
                <a:cs typeface="Aptos"/>
              </a:rPr>
              <a:t>83</a:t>
            </a:r>
          </a:p>
        </p:txBody>
      </p:sp>
      <p:sp>
        <p:nvSpPr>
          <p:cNvPr id="13" name="Straight Connector 12">
            <a:extLst>
              <a:ext uri="{FF2B5EF4-FFF2-40B4-BE49-F238E27FC236}">
                <a16:creationId xmlns:a16="http://schemas.microsoft.com/office/drawing/2014/main" id="{C1FE34F4-9F1F-4369-8E8B-EDE55A14346D}"/>
              </a:ext>
            </a:extLst>
          </p:cNvPr>
          <p:cNvSpPr>
            <a:spLocks noGrp="1"/>
          </p:cNvSpPr>
          <p:nvPr/>
        </p:nvSpPr>
        <p:spPr>
          <a:xfrm>
            <a:off x="6667500" y="3686175"/>
            <a:ext cx="876300" cy="0"/>
          </a:xfrm>
          <a:prstGeom prst="line">
            <a:avLst/>
          </a:prstGeom>
          <a:noFill/>
          <a:ln w="15240">
            <a:solidFill>
              <a:srgbClr val="111111"/>
            </a:solidFill>
          </a:ln>
        </p:spPr>
        <p:txBody>
          <a:bodyPr/>
          <a:lstStyle/>
          <a:p>
            <a:endParaRPr lang="en-US"/>
          </a:p>
        </p:txBody>
      </p:sp>
      <p:sp>
        <p:nvSpPr>
          <p:cNvPr id="14" name="Revised-text-8">
            <a:extLst>
              <a:ext uri="{FF2B5EF4-FFF2-40B4-BE49-F238E27FC236}">
                <a16:creationId xmlns:a16="http://schemas.microsoft.com/office/drawing/2014/main" id="{4291F2AC-B538-48A9-9A2A-81CA0FB278B1}"/>
              </a:ext>
            </a:extLst>
          </p:cNvPr>
          <p:cNvSpPr>
            <a:spLocks noGrp="1"/>
          </p:cNvSpPr>
          <p:nvPr/>
        </p:nvSpPr>
        <p:spPr>
          <a:xfrm>
            <a:off x="6667500" y="3733800"/>
            <a:ext cx="876300" cy="409575"/>
          </a:xfrm>
          <a:prstGeom prst="rect">
            <a:avLst/>
          </a:prstGeom>
          <a:noFill/>
          <a:ln w="0">
            <a:noFill/>
          </a:ln>
        </p:spPr>
        <p:txBody>
          <a:bodyPr wrap="square" lIns="0" tIns="0" rIns="0" bIns="0" anchor="t">
            <a:noAutofit/>
          </a:bodyPr>
          <a:lstStyle/>
          <a:p>
            <a:pPr algn="ctr">
              <a:buNone/>
              <a:defRPr sz="2550" b="0">
                <a:solidFill>
                  <a:srgbClr val="111111"/>
                </a:solidFill>
                <a:latin typeface="Aptos"/>
                <a:ea typeface="Aptos"/>
                <a:cs typeface="Aptos"/>
              </a:defRPr>
            </a:pPr>
            <a:r>
              <a:rPr sz="2550" b="0">
                <a:solidFill>
                  <a:srgbClr val="111111"/>
                </a:solidFill>
                <a:latin typeface="Aptos"/>
                <a:ea typeface="Aptos"/>
                <a:cs typeface="Aptos"/>
              </a:rPr>
              <a:t>237</a:t>
            </a:r>
          </a:p>
        </p:txBody>
      </p:sp>
      <p:sp>
        <p:nvSpPr>
          <p:cNvPr id="15" name="Revised-text-9">
            <a:extLst>
              <a:ext uri="{FF2B5EF4-FFF2-40B4-BE49-F238E27FC236}">
                <a16:creationId xmlns:a16="http://schemas.microsoft.com/office/drawing/2014/main" id="{9FBE4C0A-378E-41EE-BEC5-D427EE355CDC}"/>
              </a:ext>
            </a:extLst>
          </p:cNvPr>
          <p:cNvSpPr>
            <a:spLocks noGrp="1"/>
          </p:cNvSpPr>
          <p:nvPr/>
        </p:nvSpPr>
        <p:spPr>
          <a:xfrm>
            <a:off x="7734300" y="3467100"/>
            <a:ext cx="3838575" cy="561975"/>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 100 ≈ 35.02%</a:t>
            </a:r>
          </a:p>
        </p:txBody>
      </p:sp>
      <p:sp>
        <p:nvSpPr>
          <p:cNvPr id="16" name="Revised-text-10">
            <a:extLst>
              <a:ext uri="{FF2B5EF4-FFF2-40B4-BE49-F238E27FC236}">
                <a16:creationId xmlns:a16="http://schemas.microsoft.com/office/drawing/2014/main" id="{B40512A2-0857-4107-8534-4731BF758085}"/>
              </a:ext>
            </a:extLst>
          </p:cNvPr>
          <p:cNvSpPr>
            <a:spLocks noGrp="1"/>
          </p:cNvSpPr>
          <p:nvPr/>
        </p:nvSpPr>
        <p:spPr>
          <a:xfrm>
            <a:off x="619125" y="4572000"/>
            <a:ext cx="5476875" cy="714375"/>
          </a:xfrm>
          <a:prstGeom prst="rect">
            <a:avLst/>
          </a:prstGeom>
          <a:noFill/>
          <a:ln w="0">
            <a:noFill/>
          </a:ln>
        </p:spPr>
        <p:txBody>
          <a:bodyPr wrap="square" lIns="0" tIns="0" rIns="0" bIns="0" anchor="t">
            <a:noAutofit/>
          </a:bodyPr>
          <a:lstStyle/>
          <a:p>
            <a:pPr algn="l">
              <a:buNone/>
              <a:defRPr sz="2175" b="1">
                <a:solidFill>
                  <a:srgbClr val="111111"/>
                </a:solidFill>
                <a:latin typeface="Aptos"/>
                <a:ea typeface="Aptos"/>
                <a:cs typeface="Aptos"/>
              </a:defRPr>
            </a:pPr>
            <a:r>
              <a:rPr sz="2175" b="1">
                <a:solidFill>
                  <a:srgbClr val="111111"/>
                </a:solidFill>
                <a:latin typeface="Aptos"/>
                <a:ea typeface="Aptos"/>
                <a:cs typeface="Aptos"/>
              </a:rPr>
              <a:t>R3(a)  Representatives: order does not matter</a:t>
            </a:r>
          </a:p>
        </p:txBody>
      </p:sp>
      <p:sp>
        <p:nvSpPr>
          <p:cNvPr id="17" name="Revised-text-11">
            <a:extLst>
              <a:ext uri="{FF2B5EF4-FFF2-40B4-BE49-F238E27FC236}">
                <a16:creationId xmlns:a16="http://schemas.microsoft.com/office/drawing/2014/main" id="{DCFBA298-DEA1-49B0-BAA8-3D7123B8F741}"/>
              </a:ext>
            </a:extLst>
          </p:cNvPr>
          <p:cNvSpPr>
            <a:spLocks noGrp="1"/>
          </p:cNvSpPr>
          <p:nvPr/>
        </p:nvSpPr>
        <p:spPr>
          <a:xfrm>
            <a:off x="619125" y="5257800"/>
            <a:ext cx="1238250" cy="390525"/>
          </a:xfrm>
          <a:prstGeom prst="rect">
            <a:avLst/>
          </a:prstGeom>
          <a:noFill/>
          <a:ln w="0">
            <a:noFill/>
          </a:ln>
        </p:spPr>
        <p:txBody>
          <a:bodyPr wrap="square" lIns="0" tIns="0" rIns="0" bIns="0" anchor="t">
            <a:noAutofit/>
          </a:bodyPr>
          <a:lstStyle/>
          <a:p>
            <a:pPr algn="ctr">
              <a:buNone/>
              <a:defRPr sz="2550" b="0">
                <a:solidFill>
                  <a:srgbClr val="111111"/>
                </a:solidFill>
                <a:latin typeface="Aptos"/>
                <a:ea typeface="Aptos"/>
                <a:cs typeface="Aptos"/>
              </a:defRPr>
            </a:pPr>
            <a:r>
              <a:rPr sz="2550" b="0">
                <a:solidFill>
                  <a:srgbClr val="111111"/>
                </a:solidFill>
                <a:latin typeface="Aptos"/>
                <a:ea typeface="Aptos"/>
                <a:cs typeface="Aptos"/>
              </a:rPr>
              <a:t>9 × 8</a:t>
            </a:r>
          </a:p>
        </p:txBody>
      </p:sp>
      <p:sp>
        <p:nvSpPr>
          <p:cNvPr id="18" name="Straight Connector 17">
            <a:extLst>
              <a:ext uri="{FF2B5EF4-FFF2-40B4-BE49-F238E27FC236}">
                <a16:creationId xmlns:a16="http://schemas.microsoft.com/office/drawing/2014/main" id="{917527CA-6F69-4133-99EB-757B00EB6B1B}"/>
              </a:ext>
            </a:extLst>
          </p:cNvPr>
          <p:cNvSpPr>
            <a:spLocks noGrp="1"/>
          </p:cNvSpPr>
          <p:nvPr/>
        </p:nvSpPr>
        <p:spPr>
          <a:xfrm>
            <a:off x="619125" y="5638800"/>
            <a:ext cx="1238250" cy="0"/>
          </a:xfrm>
          <a:prstGeom prst="line">
            <a:avLst/>
          </a:prstGeom>
          <a:noFill/>
          <a:ln w="15240">
            <a:solidFill>
              <a:srgbClr val="111111"/>
            </a:solidFill>
          </a:ln>
        </p:spPr>
        <p:txBody>
          <a:bodyPr/>
          <a:lstStyle/>
          <a:p>
            <a:endParaRPr lang="en-US"/>
          </a:p>
        </p:txBody>
      </p:sp>
      <p:sp>
        <p:nvSpPr>
          <p:cNvPr id="19" name="Revised-text-12">
            <a:extLst>
              <a:ext uri="{FF2B5EF4-FFF2-40B4-BE49-F238E27FC236}">
                <a16:creationId xmlns:a16="http://schemas.microsoft.com/office/drawing/2014/main" id="{D6DF08E7-A57D-4210-9278-2D2C6E2D6B88}"/>
              </a:ext>
            </a:extLst>
          </p:cNvPr>
          <p:cNvSpPr>
            <a:spLocks noGrp="1"/>
          </p:cNvSpPr>
          <p:nvPr/>
        </p:nvSpPr>
        <p:spPr>
          <a:xfrm>
            <a:off x="619125" y="5686425"/>
            <a:ext cx="1238250" cy="409575"/>
          </a:xfrm>
          <a:prstGeom prst="rect">
            <a:avLst/>
          </a:prstGeom>
          <a:noFill/>
          <a:ln w="0">
            <a:noFill/>
          </a:ln>
        </p:spPr>
        <p:txBody>
          <a:bodyPr wrap="square" lIns="0" tIns="0" rIns="0" bIns="0" anchor="t">
            <a:noAutofit/>
          </a:bodyPr>
          <a:lstStyle/>
          <a:p>
            <a:pPr algn="ctr">
              <a:buNone/>
              <a:defRPr sz="2550" b="0">
                <a:solidFill>
                  <a:srgbClr val="111111"/>
                </a:solidFill>
                <a:latin typeface="Aptos"/>
                <a:ea typeface="Aptos"/>
                <a:cs typeface="Aptos"/>
              </a:defRPr>
            </a:pPr>
            <a:r>
              <a:rPr sz="2550" b="0">
                <a:solidFill>
                  <a:srgbClr val="111111"/>
                </a:solidFill>
                <a:latin typeface="Aptos"/>
                <a:ea typeface="Aptos"/>
                <a:cs typeface="Aptos"/>
              </a:rPr>
              <a:t>2</a:t>
            </a:r>
          </a:p>
        </p:txBody>
      </p:sp>
      <p:sp>
        <p:nvSpPr>
          <p:cNvPr id="20" name="Revised-text-13">
            <a:extLst>
              <a:ext uri="{FF2B5EF4-FFF2-40B4-BE49-F238E27FC236}">
                <a16:creationId xmlns:a16="http://schemas.microsoft.com/office/drawing/2014/main" id="{413E46B5-93B3-4850-AE7E-1D3B8D1CACAB}"/>
              </a:ext>
            </a:extLst>
          </p:cNvPr>
          <p:cNvSpPr>
            <a:spLocks noGrp="1"/>
          </p:cNvSpPr>
          <p:nvPr/>
        </p:nvSpPr>
        <p:spPr>
          <a:xfrm>
            <a:off x="2047875" y="5419725"/>
            <a:ext cx="9525000" cy="561975"/>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 36 pairs</a:t>
            </a:r>
          </a:p>
        </p:txBody>
      </p:sp>
      <p:sp>
        <p:nvSpPr>
          <p:cNvPr id="21" name="Revised-text-14">
            <a:extLst>
              <a:ext uri="{FF2B5EF4-FFF2-40B4-BE49-F238E27FC236}">
                <a16:creationId xmlns:a16="http://schemas.microsoft.com/office/drawing/2014/main" id="{8EADFD91-A87D-42B6-B45F-1C4EC87D978E}"/>
              </a:ext>
            </a:extLst>
          </p:cNvPr>
          <p:cNvSpPr>
            <a:spLocks noGrp="1"/>
          </p:cNvSpPr>
          <p:nvPr/>
        </p:nvSpPr>
        <p:spPr>
          <a:xfrm>
            <a:off x="6477000" y="4572000"/>
            <a:ext cx="5048250" cy="714375"/>
          </a:xfrm>
          <a:prstGeom prst="rect">
            <a:avLst/>
          </a:prstGeom>
          <a:noFill/>
          <a:ln w="0">
            <a:noFill/>
          </a:ln>
        </p:spPr>
        <p:txBody>
          <a:bodyPr wrap="square" lIns="0" tIns="0" rIns="0" bIns="0" anchor="t">
            <a:noAutofit/>
          </a:bodyPr>
          <a:lstStyle/>
          <a:p>
            <a:pPr algn="l">
              <a:buNone/>
              <a:defRPr sz="2175" b="1">
                <a:solidFill>
                  <a:srgbClr val="111111"/>
                </a:solidFill>
                <a:latin typeface="Aptos"/>
                <a:ea typeface="Aptos"/>
                <a:cs typeface="Aptos"/>
              </a:defRPr>
            </a:pPr>
            <a:r>
              <a:rPr sz="2175" b="1">
                <a:solidFill>
                  <a:srgbClr val="111111"/>
                </a:solidFill>
                <a:latin typeface="Aptos"/>
                <a:ea typeface="Aptos"/>
                <a:cs typeface="Aptos"/>
              </a:rPr>
              <a:t>R3(b)  Captain and deputy: roles differ</a:t>
            </a:r>
          </a:p>
        </p:txBody>
      </p:sp>
      <p:sp>
        <p:nvSpPr>
          <p:cNvPr id="22" name="Revised-text-15">
            <a:extLst>
              <a:ext uri="{FF2B5EF4-FFF2-40B4-BE49-F238E27FC236}">
                <a16:creationId xmlns:a16="http://schemas.microsoft.com/office/drawing/2014/main" id="{2C97CD48-6ED6-4C15-87CB-D1C47FEB812B}"/>
              </a:ext>
            </a:extLst>
          </p:cNvPr>
          <p:cNvSpPr>
            <a:spLocks noGrp="1"/>
          </p:cNvSpPr>
          <p:nvPr/>
        </p:nvSpPr>
        <p:spPr>
          <a:xfrm>
            <a:off x="6477000" y="5457825"/>
            <a:ext cx="5048250" cy="619125"/>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9 × 8 = 72 arrangements</a:t>
            </a:r>
          </a:p>
        </p:txBody>
      </p:sp>
    </p:spTree>
    <p:extLst>
      <p:ext uri="{BB962C8B-B14F-4D97-AF65-F5344CB8AC3E}">
        <p14:creationId xmlns:p14="http://schemas.microsoft.com/office/powerpoint/2010/main" val="3281361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Section 1:</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Who are we</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studying?</a:t>
            </a:r>
          </a:p>
        </p:txBody>
      </p:sp>
    </p:spTree>
    <p:extLst>
      <p:ext uri="{BB962C8B-B14F-4D97-AF65-F5344CB8AC3E}">
        <p14:creationId xmlns:p14="http://schemas.microsoft.com/office/powerpoint/2010/main" val="3281361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Can we ask everyone?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19125"/>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Xi’an Eurasia University has 20,000+ students.</a:t>
            </a:r>
          </a:p>
        </p:txBody>
      </p:sp>
      <p:sp>
        <p:nvSpPr>
          <p:cNvPr id="4" name="VisualRevision-1">
            <a:extLst>
              <a:ext uri="{FF2B5EF4-FFF2-40B4-BE49-F238E27FC236}">
                <a16:creationId xmlns:a16="http://schemas.microsoft.com/office/drawing/2014/main" id="{2517FDA7-A5FC-4F9E-B41C-D856CF8C4FED}"/>
              </a:ext>
            </a:extLst>
          </p:cNvPr>
          <p:cNvSpPr>
            <a:spLocks noGrp="1"/>
          </p:cNvSpPr>
          <p:nvPr/>
        </p:nvSpPr>
        <p:spPr>
          <a:xfrm>
            <a:off x="619125" y="2933700"/>
            <a:ext cx="6286500" cy="1571625"/>
          </a:xfrm>
          <a:prstGeom prst="rect">
            <a:avLst/>
          </a:prstGeom>
          <a:noFill/>
          <a:ln w="0">
            <a:noFill/>
          </a:ln>
        </p:spPr>
        <p:txBody>
          <a:bodyPr wrap="square" lIns="0" tIns="0" rIns="0" bIns="0" anchor="t">
            <a:noAutofit/>
          </a:bodyPr>
          <a:lstStyle/>
          <a:p>
            <a:pPr algn="l">
              <a:defRPr sz="2400" b="0">
                <a:solidFill>
                  <a:srgbClr val="111111"/>
                </a:solidFill>
                <a:latin typeface="Aptos"/>
                <a:ea typeface="Aptos"/>
                <a:cs typeface="Aptos"/>
              </a:defRPr>
            </a:pPr>
            <a:r>
              <a:rPr sz="2400" b="0">
                <a:solidFill>
                  <a:srgbClr val="111111"/>
                </a:solidFill>
                <a:latin typeface="Aptos"/>
                <a:ea typeface="Aptos"/>
                <a:cs typeface="Aptos"/>
              </a:rPr>
              <a:t>We want to know whether students</a:t>
            </a:r>
          </a:p>
          <a:p>
            <a:pPr algn="l">
              <a:defRPr sz="2400" b="0">
                <a:solidFill>
                  <a:srgbClr val="111111"/>
                </a:solidFill>
                <a:latin typeface="Aptos"/>
                <a:ea typeface="Aptos"/>
                <a:cs typeface="Aptos"/>
              </a:defRPr>
            </a:pPr>
            <a:r>
              <a:rPr sz="2400" b="0">
                <a:solidFill>
                  <a:srgbClr val="111111"/>
                </a:solidFill>
                <a:latin typeface="Aptos"/>
                <a:ea typeface="Aptos"/>
                <a:cs typeface="Aptos"/>
              </a:rPr>
              <a:t>want more vegetarian dishes</a:t>
            </a:r>
          </a:p>
          <a:p>
            <a:pPr algn="l">
              <a:defRPr sz="2400" b="0">
                <a:solidFill>
                  <a:srgbClr val="111111"/>
                </a:solidFill>
                <a:latin typeface="Aptos"/>
                <a:ea typeface="Aptos"/>
                <a:cs typeface="Aptos"/>
              </a:defRPr>
            </a:pPr>
            <a:r>
              <a:rPr sz="2400" b="0">
                <a:solidFill>
                  <a:srgbClr val="111111"/>
                </a:solidFill>
                <a:latin typeface="Aptos"/>
                <a:ea typeface="Aptos"/>
                <a:cs typeface="Aptos"/>
              </a:rPr>
              <a:t>in the canteen.</a:t>
            </a:r>
          </a:p>
        </p:txBody>
      </p:sp>
      <p:sp>
        <p:nvSpPr>
          <p:cNvPr id="5" name="VisualRevision-2">
            <a:extLst>
              <a:ext uri="{FF2B5EF4-FFF2-40B4-BE49-F238E27FC236}">
                <a16:creationId xmlns:a16="http://schemas.microsoft.com/office/drawing/2014/main" id="{555C17E6-E115-4F20-B87F-744F2523614B}"/>
              </a:ext>
            </a:extLst>
          </p:cNvPr>
          <p:cNvSpPr>
            <a:spLocks noGrp="1"/>
          </p:cNvSpPr>
          <p:nvPr/>
        </p:nvSpPr>
        <p:spPr>
          <a:xfrm>
            <a:off x="619125" y="4953000"/>
            <a:ext cx="6477000" cy="95250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D1. What would make asking</a:t>
            </a:r>
          </a:p>
          <a:p>
            <a:pPr algn="l">
              <a:defRPr sz="2400" b="1">
                <a:solidFill>
                  <a:srgbClr val="111111"/>
                </a:solidFill>
                <a:latin typeface="Aptos"/>
                <a:ea typeface="Aptos"/>
                <a:cs typeface="Aptos"/>
              </a:defRPr>
            </a:pPr>
            <a:r>
              <a:rPr sz="2400" b="1">
                <a:solidFill>
                  <a:srgbClr val="111111"/>
                </a:solidFill>
                <a:latin typeface="Aptos"/>
                <a:ea typeface="Aptos"/>
                <a:cs typeface="Aptos"/>
              </a:rPr>
              <a:t>every student difficult?</a:t>
            </a:r>
          </a:p>
        </p:txBody>
      </p:sp>
      <p:pic>
        <p:nvPicPr>
          <p:cNvPr id="12" name="Picture 11"/>
          <p:cNvPicPr>
            <a:picLocks noChangeAspect="1"/>
          </p:cNvPicPr>
          <p:nvPr/>
        </p:nvPicPr>
        <p:blipFill>
          <a:blip r:embed="rId3"/>
          <a:srcRect l="1342" r="1342"/>
          <a:stretch>
            <a:fillRect/>
          </a:stretch>
        </p:blipFill>
        <p:spPr>
          <a:xfrm>
            <a:off x="7381875" y="2857500"/>
            <a:ext cx="4143375" cy="2838450"/>
          </a:xfrm>
          <a:prstGeom prst="rect">
            <a:avLst/>
          </a:prstGeom>
        </p:spPr>
      </p:pic>
      <p:sp>
        <p:nvSpPr>
          <p:cNvPr id="7" name="VisualRevision-3">
            <a:extLst>
              <a:ext uri="{FF2B5EF4-FFF2-40B4-BE49-F238E27FC236}">
                <a16:creationId xmlns:a16="http://schemas.microsoft.com/office/drawing/2014/main" id="{C2A485F5-DC82-4E87-ACCF-65CB2DFEBB4E}"/>
              </a:ext>
            </a:extLst>
          </p:cNvPr>
          <p:cNvSpPr>
            <a:spLocks noGrp="1"/>
          </p:cNvSpPr>
          <p:nvPr/>
        </p:nvSpPr>
        <p:spPr>
          <a:xfrm>
            <a:off x="7381875" y="5772150"/>
            <a:ext cx="4143375" cy="257175"/>
          </a:xfrm>
          <a:prstGeom prst="rect">
            <a:avLst/>
          </a:prstGeom>
          <a:noFill/>
          <a:ln w="0">
            <a:noFill/>
          </a:ln>
        </p:spPr>
        <p:txBody>
          <a:bodyPr wrap="square" lIns="0" tIns="0" rIns="0" bIns="0" anchor="t">
            <a:noAutofit/>
          </a:bodyPr>
          <a:lstStyle/>
          <a:p>
            <a:pPr algn="r">
              <a:defRPr sz="1350" b="0">
                <a:solidFill>
                  <a:srgbClr val="555555"/>
                </a:solidFill>
                <a:latin typeface="Aptos"/>
                <a:ea typeface="Aptos"/>
                <a:cs typeface="Aptos"/>
              </a:defRPr>
            </a:pPr>
            <a:r>
              <a:rPr sz="1350" b="0">
                <a:solidFill>
                  <a:srgbClr val="555555"/>
                </a:solidFill>
                <a:latin typeface="Aptos"/>
                <a:ea typeface="Aptos"/>
                <a:cs typeface="Aptos"/>
              </a:rPr>
              <a:t>Illustrative photograph</a:t>
            </a:r>
          </a:p>
        </p:txBody>
      </p:sp>
    </p:spTree>
    <p:extLst>
      <p:ext uri="{BB962C8B-B14F-4D97-AF65-F5344CB8AC3E}">
        <p14:creationId xmlns:p14="http://schemas.microsoft.com/office/powerpoint/2010/main" val="3281361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Population and sample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571500"/>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We select </a:t>
            </a:r>
            <a:r>
              <a:rPr sz="2325" b="1">
                <a:solidFill>
                  <a:srgbClr val="111111"/>
                </a:solidFill>
                <a:latin typeface="Aptos"/>
                <a:ea typeface="Aptos"/>
                <a:cs typeface="Aptos"/>
              </a:rPr>
              <a:t>200 students</a:t>
            </a:r>
            <a:r>
              <a:rPr sz="2325" b="0">
                <a:solidFill>
                  <a:srgbClr val="111111"/>
                </a:solidFill>
                <a:latin typeface="Aptos"/>
                <a:ea typeface="Aptos"/>
                <a:cs typeface="Aptos"/>
              </a:rPr>
              <a:t> for our survey.</a:t>
            </a:r>
          </a:p>
        </p:txBody>
      </p:sp>
      <p:sp>
        <p:nvSpPr>
          <p:cNvPr id="4" name="S9-diagram-1">
            <a:extLst>
              <a:ext uri="{FF2B5EF4-FFF2-40B4-BE49-F238E27FC236}">
                <a16:creationId xmlns:a16="http://schemas.microsoft.com/office/drawing/2014/main" id="{12C00DF7-403B-4931-9186-E0BD20176A72}"/>
              </a:ext>
            </a:extLst>
          </p:cNvPr>
          <p:cNvSpPr>
            <a:spLocks noGrp="1"/>
          </p:cNvSpPr>
          <p:nvPr/>
        </p:nvSpPr>
        <p:spPr>
          <a:xfrm>
            <a:off x="666750" y="3048000"/>
            <a:ext cx="7810500" cy="2724150"/>
          </a:xfrm>
          <a:prstGeom prst="ellipse">
            <a:avLst/>
          </a:prstGeom>
          <a:noFill/>
          <a:ln w="19050">
            <a:solidFill>
              <a:srgbClr val="444444"/>
            </a:solidFill>
            <a:prstDash val="solid"/>
          </a:ln>
        </p:spPr>
        <p:txBody>
          <a:bodyPr/>
          <a:lstStyle/>
          <a:p>
            <a:endParaRPr/>
          </a:p>
        </p:txBody>
      </p:sp>
      <p:sp>
        <p:nvSpPr>
          <p:cNvPr id="5" name="S9-text-2">
            <a:extLst>
              <a:ext uri="{FF2B5EF4-FFF2-40B4-BE49-F238E27FC236}">
                <a16:creationId xmlns:a16="http://schemas.microsoft.com/office/drawing/2014/main" id="{0E1624EB-3ADD-4DBC-A14F-331764DE5A59}"/>
              </a:ext>
            </a:extLst>
          </p:cNvPr>
          <p:cNvSpPr>
            <a:spLocks noGrp="1"/>
          </p:cNvSpPr>
          <p:nvPr/>
        </p:nvSpPr>
        <p:spPr>
          <a:xfrm>
            <a:off x="1381125" y="3667125"/>
            <a:ext cx="4191000" cy="10953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550">
                <a:solidFill>
                  <a:srgbClr val="111111"/>
                </a:solidFill>
                <a:latin typeface="Aptos"/>
                <a:ea typeface="Aptos"/>
                <a:cs typeface="Aptos"/>
              </a:defRPr>
            </a:pPr>
            <a:r>
              <a:rPr sz="2550" b="1">
                <a:solidFill>
                  <a:srgbClr val="111111"/>
                </a:solidFill>
                <a:latin typeface="Aptos"/>
                <a:ea typeface="Aptos"/>
                <a:cs typeface="Aptos"/>
              </a:rPr>
              <a:t>Population</a:t>
            </a:r>
          </a:p>
          <a:p>
            <a:pPr marL="0" indent="0" algn="l">
              <a:lnSpc>
                <a:spcPct val="106000"/>
              </a:lnSpc>
              <a:spcBef>
                <a:spcPts val="0"/>
              </a:spcBef>
              <a:spcAft>
                <a:spcPts val="0"/>
              </a:spcAft>
              <a:buNone/>
              <a:defRPr sz="2550">
                <a:solidFill>
                  <a:srgbClr val="111111"/>
                </a:solidFill>
                <a:latin typeface="Aptos"/>
                <a:ea typeface="Aptos"/>
                <a:cs typeface="Aptos"/>
              </a:defRPr>
            </a:pPr>
            <a:r>
              <a:rPr sz="2550" b="0">
                <a:solidFill>
                  <a:srgbClr val="111111"/>
                </a:solidFill>
                <a:latin typeface="Aptos"/>
                <a:ea typeface="Aptos"/>
                <a:cs typeface="Aptos"/>
              </a:rPr>
              <a:t>All enrolled Eurasia students</a:t>
            </a:r>
          </a:p>
        </p:txBody>
      </p:sp>
      <p:sp>
        <p:nvSpPr>
          <p:cNvPr id="6" name="S9-diagram-3">
            <a:extLst>
              <a:ext uri="{FF2B5EF4-FFF2-40B4-BE49-F238E27FC236}">
                <a16:creationId xmlns:a16="http://schemas.microsoft.com/office/drawing/2014/main" id="{3F0BA911-3608-4320-8C2E-C5BF81CD27F9}"/>
              </a:ext>
            </a:extLst>
          </p:cNvPr>
          <p:cNvSpPr>
            <a:spLocks noGrp="1"/>
          </p:cNvSpPr>
          <p:nvPr/>
        </p:nvSpPr>
        <p:spPr>
          <a:xfrm>
            <a:off x="5686425" y="3705225"/>
            <a:ext cx="2105025" cy="1400175"/>
          </a:xfrm>
          <a:prstGeom prst="ellipse">
            <a:avLst/>
          </a:prstGeom>
          <a:noFill/>
          <a:ln w="23813">
            <a:solidFill>
              <a:srgbClr val="222222"/>
            </a:solidFill>
            <a:prstDash val="solid"/>
          </a:ln>
        </p:spPr>
        <p:txBody>
          <a:bodyPr/>
          <a:lstStyle/>
          <a:p>
            <a:endParaRPr/>
          </a:p>
        </p:txBody>
      </p:sp>
      <p:sp>
        <p:nvSpPr>
          <p:cNvPr id="7" name="S9-text-4">
            <a:extLst>
              <a:ext uri="{FF2B5EF4-FFF2-40B4-BE49-F238E27FC236}">
                <a16:creationId xmlns:a16="http://schemas.microsoft.com/office/drawing/2014/main" id="{3F6F2CD9-E3F2-47FA-B932-D53C09F55864}"/>
              </a:ext>
            </a:extLst>
          </p:cNvPr>
          <p:cNvSpPr>
            <a:spLocks noGrp="1"/>
          </p:cNvSpPr>
          <p:nvPr/>
        </p:nvSpPr>
        <p:spPr>
          <a:xfrm>
            <a:off x="5905500" y="3971925"/>
            <a:ext cx="1695450" cy="904875"/>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Sample</a:t>
            </a:r>
          </a:p>
          <a:p>
            <a:pPr marL="0" indent="0" algn="ctr">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200 students</a:t>
            </a:r>
          </a:p>
        </p:txBody>
      </p:sp>
      <p:sp>
        <p:nvSpPr>
          <p:cNvPr id="8" name="S9-text-5">
            <a:extLst>
              <a:ext uri="{FF2B5EF4-FFF2-40B4-BE49-F238E27FC236}">
                <a16:creationId xmlns:a16="http://schemas.microsoft.com/office/drawing/2014/main" id="{4E0EE143-FEEC-4EC2-A33C-D4C96B3CED0E}"/>
              </a:ext>
            </a:extLst>
          </p:cNvPr>
          <p:cNvSpPr>
            <a:spLocks noGrp="1"/>
          </p:cNvSpPr>
          <p:nvPr/>
        </p:nvSpPr>
        <p:spPr>
          <a:xfrm>
            <a:off x="8905875" y="3667125"/>
            <a:ext cx="2686050" cy="15240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550">
                <a:solidFill>
                  <a:srgbClr val="111111"/>
                </a:solidFill>
                <a:latin typeface="Aptos"/>
                <a:ea typeface="Aptos"/>
                <a:cs typeface="Aptos"/>
              </a:defRPr>
            </a:pPr>
            <a:r>
              <a:rPr sz="2550" b="0">
                <a:solidFill>
                  <a:srgbClr val="111111"/>
                </a:solidFill>
                <a:latin typeface="Aptos"/>
                <a:ea typeface="Aptos"/>
                <a:cs typeface="Aptos"/>
              </a:rPr>
              <a:t>The sample is</a:t>
            </a:r>
          </a:p>
          <a:p>
            <a:pPr marL="0" indent="0" algn="l">
              <a:lnSpc>
                <a:spcPct val="106000"/>
              </a:lnSpc>
              <a:spcBef>
                <a:spcPts val="0"/>
              </a:spcBef>
              <a:spcAft>
                <a:spcPts val="0"/>
              </a:spcAft>
              <a:buNone/>
              <a:defRPr sz="2550">
                <a:solidFill>
                  <a:srgbClr val="111111"/>
                </a:solidFill>
                <a:latin typeface="Aptos"/>
                <a:ea typeface="Aptos"/>
                <a:cs typeface="Aptos"/>
              </a:defRPr>
            </a:pPr>
            <a:r>
              <a:rPr sz="2550" b="1">
                <a:solidFill>
                  <a:srgbClr val="111111"/>
                </a:solidFill>
                <a:latin typeface="Aptos"/>
                <a:ea typeface="Aptos"/>
                <a:cs typeface="Aptos"/>
              </a:rPr>
              <a:t>part of</a:t>
            </a:r>
          </a:p>
          <a:p>
            <a:pPr marL="0" indent="0" algn="l">
              <a:lnSpc>
                <a:spcPct val="106000"/>
              </a:lnSpc>
              <a:spcBef>
                <a:spcPts val="0"/>
              </a:spcBef>
              <a:spcAft>
                <a:spcPts val="0"/>
              </a:spcAft>
              <a:buNone/>
              <a:defRPr sz="2550">
                <a:solidFill>
                  <a:srgbClr val="111111"/>
                </a:solidFill>
                <a:latin typeface="Aptos"/>
                <a:ea typeface="Aptos"/>
                <a:cs typeface="Aptos"/>
              </a:defRPr>
            </a:pPr>
            <a:r>
              <a:rPr sz="2550" b="0">
                <a:solidFill>
                  <a:srgbClr val="111111"/>
                </a:solidFill>
                <a:latin typeface="Aptos"/>
                <a:ea typeface="Aptos"/>
                <a:cs typeface="Aptos"/>
              </a:rPr>
              <a:t>the population.</a:t>
            </a:r>
          </a:p>
        </p:txBody>
      </p:sp>
    </p:spTree>
    <p:extLst>
      <p:ext uri="{BB962C8B-B14F-4D97-AF65-F5344CB8AC3E}">
        <p14:creationId xmlns:p14="http://schemas.microsoft.com/office/powerpoint/2010/main" val="3281361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Census or sample?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571500"/>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Do we study everyone, or a selected part?</a:t>
            </a:r>
          </a:p>
        </p:txBody>
      </p:sp>
      <p:graphicFrame>
        <p:nvGraphicFramePr>
          <p:cNvPr id="9" name="Table 8"/>
          <p:cNvGraphicFramePr/>
          <p:nvPr/>
        </p:nvGraphicFramePr>
        <p:xfrm>
          <a:off x="619125" y="2905125"/>
          <a:ext cx="10953750" cy="2694307"/>
        </p:xfrm>
        <a:graphic>
          <a:graphicData uri="http://schemas.openxmlformats.org/drawingml/2006/table">
            <a:tbl>
              <a:tblPr/>
              <a:tblGrid>
                <a:gridCol w="2286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tblGrid>
              <a:tr h="642938">
                <a:tc>
                  <a:txBody>
                    <a:bodyPr/>
                    <a:lstStyle/>
                    <a:p>
                      <a:pPr>
                        <a:spcBef>
                          <a:spcPts val="0"/>
                        </a:spcBef>
                        <a:spcAft>
                          <a:spcPts val="0"/>
                        </a:spcAft>
                        <a:buNone/>
                      </a:pPr>
                      <a:endParaRPr/>
                    </a:p>
                  </a:txBody>
                  <a:tcPr anchor="ctr">
                    <a:solidFill>
                      <a:srgbClr val="D6171D"/>
                    </a:solidFill>
                  </a:tcPr>
                </a:tc>
                <a:tc>
                  <a:txBody>
                    <a:bodyPr/>
                    <a:lstStyle/>
                    <a:p>
                      <a:pPr algn="l">
                        <a:lnSpc>
                          <a:spcPct val="103000"/>
                        </a:lnSpc>
                        <a:spcBef>
                          <a:spcPts val="0"/>
                        </a:spcBef>
                        <a:spcAft>
                          <a:spcPts val="0"/>
                        </a:spcAft>
                        <a:buNone/>
                      </a:pPr>
                      <a:r>
                        <a:rPr sz="2175" b="1">
                          <a:solidFill>
                            <a:srgbClr val="FFFFFF"/>
                          </a:solidFill>
                          <a:latin typeface="Aptos"/>
                          <a:ea typeface="Aptos"/>
                          <a:cs typeface="Aptos"/>
                        </a:rPr>
                        <a:t>Census</a:t>
                      </a:r>
                    </a:p>
                  </a:txBody>
                  <a:tcPr anchor="ctr">
                    <a:solidFill>
                      <a:srgbClr val="D6171D"/>
                    </a:solidFill>
                  </a:tcPr>
                </a:tc>
                <a:tc>
                  <a:txBody>
                    <a:bodyPr/>
                    <a:lstStyle/>
                    <a:p>
                      <a:pPr algn="l">
                        <a:lnSpc>
                          <a:spcPct val="103000"/>
                        </a:lnSpc>
                        <a:spcBef>
                          <a:spcPts val="0"/>
                        </a:spcBef>
                        <a:spcAft>
                          <a:spcPts val="0"/>
                        </a:spcAft>
                        <a:buNone/>
                      </a:pPr>
                      <a:r>
                        <a:rPr sz="2175" b="1">
                          <a:solidFill>
                            <a:srgbClr val="FFFFFF"/>
                          </a:solidFill>
                          <a:latin typeface="Aptos"/>
                          <a:ea typeface="Aptos"/>
                          <a:cs typeface="Aptos"/>
                        </a:rPr>
                        <a:t>Sample</a:t>
                      </a:r>
                    </a:p>
                  </a:txBody>
                  <a:tcPr anchor="ctr">
                    <a:solidFill>
                      <a:srgbClr val="D6171D"/>
                    </a:solidFill>
                  </a:tcPr>
                </a:tc>
                <a:extLst>
                  <a:ext uri="{0D108BD9-81ED-4DB2-BD59-A6C34878D82A}">
                    <a16:rowId xmlns:a16="http://schemas.microsoft.com/office/drawing/2014/main" val="10000"/>
                  </a:ext>
                </a:extLst>
              </a:tr>
              <a:tr h="642938">
                <a:tc>
                  <a:txBody>
                    <a:bodyPr/>
                    <a:lstStyle/>
                    <a:p>
                      <a:pPr algn="l">
                        <a:lnSpc>
                          <a:spcPct val="103000"/>
                        </a:lnSpc>
                        <a:spcBef>
                          <a:spcPts val="0"/>
                        </a:spcBef>
                        <a:spcAft>
                          <a:spcPts val="0"/>
                        </a:spcAft>
                        <a:buNone/>
                      </a:pPr>
                      <a:r>
                        <a:rPr sz="2175" b="0">
                          <a:solidFill>
                            <a:srgbClr val="111111"/>
                          </a:solidFill>
                          <a:latin typeface="Aptos"/>
                          <a:ea typeface="Aptos"/>
                          <a:cs typeface="Aptos"/>
                        </a:rPr>
                        <a:t>Who is studied?</a:t>
                      </a:r>
                    </a:p>
                  </a:txBody>
                  <a:tcPr anchor="ctr">
                    <a:solidFill>
                      <a:srgbClr val="FFFF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Every member</a:t>
                      </a:r>
                    </a:p>
                  </a:txBody>
                  <a:tcPr anchor="ctr">
                    <a:solidFill>
                      <a:srgbClr val="FFFF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Part of the population</a:t>
                      </a:r>
                    </a:p>
                  </a:txBody>
                  <a:tcPr anchor="ctr">
                    <a:solidFill>
                      <a:srgbClr val="FFFFFF"/>
                    </a:solidFill>
                  </a:tcPr>
                </a:tc>
                <a:extLst>
                  <a:ext uri="{0D108BD9-81ED-4DB2-BD59-A6C34878D82A}">
                    <a16:rowId xmlns:a16="http://schemas.microsoft.com/office/drawing/2014/main" val="10001"/>
                  </a:ext>
                </a:extLst>
              </a:tr>
              <a:tr h="642938">
                <a:tc>
                  <a:txBody>
                    <a:bodyPr/>
                    <a:lstStyle/>
                    <a:p>
                      <a:pPr algn="l">
                        <a:lnSpc>
                          <a:spcPct val="103000"/>
                        </a:lnSpc>
                        <a:spcBef>
                          <a:spcPts val="0"/>
                        </a:spcBef>
                        <a:spcAft>
                          <a:spcPts val="0"/>
                        </a:spcAft>
                        <a:buNone/>
                      </a:pPr>
                      <a:r>
                        <a:rPr sz="2175" b="0">
                          <a:solidFill>
                            <a:srgbClr val="111111"/>
                          </a:solidFill>
                          <a:latin typeface="Aptos"/>
                          <a:ea typeface="Aptos"/>
                          <a:cs typeface="Aptos"/>
                        </a:rPr>
                        <a:t>Time and cost</a:t>
                      </a:r>
                    </a:p>
                  </a:txBody>
                  <a:tcPr anchor="ctr">
                    <a:solidFill>
                      <a:srgbClr val="EFF8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Often greater</a:t>
                      </a:r>
                    </a:p>
                  </a:txBody>
                  <a:tcPr anchor="ctr">
                    <a:solidFill>
                      <a:srgbClr val="EFF8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Often lower</a:t>
                      </a:r>
                    </a:p>
                  </a:txBody>
                  <a:tcPr anchor="ctr">
                    <a:solidFill>
                      <a:srgbClr val="EFF8FF"/>
                    </a:solidFill>
                  </a:tcPr>
                </a:tc>
                <a:extLst>
                  <a:ext uri="{0D108BD9-81ED-4DB2-BD59-A6C34878D82A}">
                    <a16:rowId xmlns:a16="http://schemas.microsoft.com/office/drawing/2014/main" val="10002"/>
                  </a:ext>
                </a:extLst>
              </a:tr>
              <a:tr h="642938">
                <a:tc>
                  <a:txBody>
                    <a:bodyPr/>
                    <a:lstStyle/>
                    <a:p>
                      <a:pPr algn="l">
                        <a:lnSpc>
                          <a:spcPct val="103000"/>
                        </a:lnSpc>
                        <a:spcBef>
                          <a:spcPts val="0"/>
                        </a:spcBef>
                        <a:spcAft>
                          <a:spcPts val="0"/>
                        </a:spcAft>
                        <a:buNone/>
                      </a:pPr>
                      <a:r>
                        <a:rPr sz="2175" b="0">
                          <a:solidFill>
                            <a:srgbClr val="111111"/>
                          </a:solidFill>
                          <a:latin typeface="Aptos"/>
                          <a:ea typeface="Aptos"/>
                          <a:cs typeface="Aptos"/>
                        </a:rPr>
                        <a:t>Practical example</a:t>
                      </a:r>
                    </a:p>
                  </a:txBody>
                  <a:tcPr anchor="ctr">
                    <a:solidFill>
                      <a:srgbClr val="FFFF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Ask all 8 students</a:t>
                      </a:r>
                    </a:p>
                    <a:p>
                      <a:pPr algn="l">
                        <a:lnSpc>
                          <a:spcPct val="103000"/>
                        </a:lnSpc>
                        <a:spcBef>
                          <a:spcPts val="0"/>
                        </a:spcBef>
                        <a:spcAft>
                          <a:spcPts val="0"/>
                        </a:spcAft>
                        <a:buNone/>
                      </a:pPr>
                      <a:r>
                        <a:rPr sz="2175" b="0">
                          <a:solidFill>
                            <a:srgbClr val="111111"/>
                          </a:solidFill>
                          <a:latin typeface="Aptos"/>
                          <a:ea typeface="Aptos"/>
                          <a:cs typeface="Aptos"/>
                        </a:rPr>
                        <a:t>in a small class</a:t>
                      </a:r>
                    </a:p>
                  </a:txBody>
                  <a:tcPr anchor="ctr">
                    <a:solidFill>
                      <a:srgbClr val="FFFF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Survey selected students</a:t>
                      </a:r>
                    </a:p>
                    <a:p>
                      <a:pPr algn="l">
                        <a:lnSpc>
                          <a:spcPct val="103000"/>
                        </a:lnSpc>
                        <a:spcBef>
                          <a:spcPts val="0"/>
                        </a:spcBef>
                        <a:spcAft>
                          <a:spcPts val="0"/>
                        </a:spcAft>
                        <a:buNone/>
                      </a:pPr>
                      <a:r>
                        <a:rPr sz="2175" b="0">
                          <a:solidFill>
                            <a:srgbClr val="111111"/>
                          </a:solidFill>
                          <a:latin typeface="Aptos"/>
                          <a:ea typeface="Aptos"/>
                          <a:cs typeface="Aptos"/>
                        </a:rPr>
                        <a:t>across a university</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S10-text-2">
            <a:extLst>
              <a:ext uri="{FF2B5EF4-FFF2-40B4-BE49-F238E27FC236}">
                <a16:creationId xmlns:a16="http://schemas.microsoft.com/office/drawing/2014/main" id="{2647F900-F99A-4033-B78A-462EAF3AB74C}"/>
              </a:ext>
            </a:extLst>
          </p:cNvPr>
          <p:cNvSpPr>
            <a:spLocks noGrp="1"/>
          </p:cNvSpPr>
          <p:nvPr/>
        </p:nvSpPr>
        <p:spPr>
          <a:xfrm>
            <a:off x="523875" y="5953125"/>
            <a:ext cx="11049000" cy="2857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a:solidFill>
                  <a:srgbClr val="111111"/>
                </a:solidFill>
                <a:latin typeface="Aptos"/>
                <a:ea typeface="Aptos"/>
                <a:cs typeface="Aptos"/>
              </a:defRPr>
            </a:pPr>
            <a:r>
              <a:rPr sz="1575" b="0">
                <a:solidFill>
                  <a:srgbClr val="111111"/>
                </a:solidFill>
                <a:latin typeface="Aptos"/>
                <a:ea typeface="Aptos"/>
                <a:cs typeface="Aptos"/>
              </a:rPr>
              <a:t>A census can be practical when the population is small.</a:t>
            </a:r>
          </a:p>
        </p:txBody>
      </p:sp>
    </p:spTree>
    <p:extLst>
      <p:ext uri="{BB962C8B-B14F-4D97-AF65-F5344CB8AC3E}">
        <p14:creationId xmlns:p14="http://schemas.microsoft.com/office/powerpoint/2010/main" val="3281361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What do we want to know?</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1047750"/>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What percentage of </a:t>
            </a:r>
            <a:r>
              <a:rPr sz="2325" b="1">
                <a:solidFill>
                  <a:srgbClr val="111111"/>
                </a:solidFill>
                <a:latin typeface="Aptos"/>
                <a:ea typeface="Aptos"/>
                <a:cs typeface="Aptos"/>
              </a:rPr>
              <a:t>all Eurasia students</a:t>
            </a:r>
          </a:p>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want more vegetarian dishes?</a:t>
            </a:r>
          </a:p>
        </p:txBody>
      </p:sp>
      <p:sp>
        <p:nvSpPr>
          <p:cNvPr id="4" name="S11-diagram-1">
            <a:extLst>
              <a:ext uri="{FF2B5EF4-FFF2-40B4-BE49-F238E27FC236}">
                <a16:creationId xmlns:a16="http://schemas.microsoft.com/office/drawing/2014/main" id="{C622FD07-7491-440A-9200-3645BD728ADB}"/>
              </a:ext>
            </a:extLst>
          </p:cNvPr>
          <p:cNvSpPr>
            <a:spLocks noGrp="1"/>
          </p:cNvSpPr>
          <p:nvPr/>
        </p:nvSpPr>
        <p:spPr>
          <a:xfrm>
            <a:off x="1143000" y="3343275"/>
            <a:ext cx="4191000" cy="2238375"/>
          </a:xfrm>
          <a:prstGeom prst="ellipse">
            <a:avLst/>
          </a:prstGeom>
          <a:noFill/>
          <a:ln w="19050">
            <a:solidFill>
              <a:srgbClr val="333333"/>
            </a:solidFill>
            <a:prstDash val="solid"/>
          </a:ln>
        </p:spPr>
        <p:txBody>
          <a:bodyPr/>
          <a:lstStyle/>
          <a:p>
            <a:endParaRPr/>
          </a:p>
        </p:txBody>
      </p:sp>
      <p:sp>
        <p:nvSpPr>
          <p:cNvPr id="5" name="S11-text-2">
            <a:extLst>
              <a:ext uri="{FF2B5EF4-FFF2-40B4-BE49-F238E27FC236}">
                <a16:creationId xmlns:a16="http://schemas.microsoft.com/office/drawing/2014/main" id="{1E421F55-1C99-498B-BE18-23ABDFD77992}"/>
              </a:ext>
            </a:extLst>
          </p:cNvPr>
          <p:cNvSpPr>
            <a:spLocks noGrp="1"/>
          </p:cNvSpPr>
          <p:nvPr/>
        </p:nvSpPr>
        <p:spPr>
          <a:xfrm>
            <a:off x="1504950" y="3914775"/>
            <a:ext cx="3476625" cy="1190625"/>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3150">
                <a:solidFill>
                  <a:srgbClr val="111111"/>
                </a:solidFill>
                <a:latin typeface="Aptos"/>
                <a:ea typeface="Aptos"/>
                <a:cs typeface="Aptos"/>
              </a:defRPr>
            </a:pPr>
            <a:r>
              <a:rPr sz="3150" b="1">
                <a:solidFill>
                  <a:srgbClr val="111111"/>
                </a:solidFill>
                <a:latin typeface="Aptos"/>
                <a:ea typeface="Aptos"/>
                <a:cs typeface="Aptos"/>
              </a:rPr>
              <a:t>All enrolled</a:t>
            </a:r>
          </a:p>
          <a:p>
            <a:pPr marL="0" indent="0" algn="ctr">
              <a:lnSpc>
                <a:spcPct val="106000"/>
              </a:lnSpc>
              <a:spcBef>
                <a:spcPts val="0"/>
              </a:spcBef>
              <a:spcAft>
                <a:spcPts val="0"/>
              </a:spcAft>
              <a:buNone/>
              <a:defRPr sz="3150">
                <a:solidFill>
                  <a:srgbClr val="111111"/>
                </a:solidFill>
                <a:latin typeface="Aptos"/>
                <a:ea typeface="Aptos"/>
                <a:cs typeface="Aptos"/>
              </a:defRPr>
            </a:pPr>
            <a:r>
              <a:rPr sz="3150" b="1">
                <a:solidFill>
                  <a:srgbClr val="111111"/>
                </a:solidFill>
                <a:latin typeface="Aptos"/>
                <a:ea typeface="Aptos"/>
                <a:cs typeface="Aptos"/>
              </a:rPr>
              <a:t>students</a:t>
            </a:r>
          </a:p>
        </p:txBody>
      </p:sp>
      <p:sp>
        <p:nvSpPr>
          <p:cNvPr id="6" name="S11-text-3">
            <a:extLst>
              <a:ext uri="{FF2B5EF4-FFF2-40B4-BE49-F238E27FC236}">
                <a16:creationId xmlns:a16="http://schemas.microsoft.com/office/drawing/2014/main" id="{5EA804C4-C1BE-4EA6-A7FA-266044204409}"/>
              </a:ext>
            </a:extLst>
          </p:cNvPr>
          <p:cNvSpPr>
            <a:spLocks noGrp="1"/>
          </p:cNvSpPr>
          <p:nvPr/>
        </p:nvSpPr>
        <p:spPr>
          <a:xfrm>
            <a:off x="7315200" y="3371850"/>
            <a:ext cx="2476500" cy="1190625"/>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7050">
                <a:solidFill>
                  <a:srgbClr val="111111"/>
                </a:solidFill>
                <a:latin typeface="Aptos"/>
                <a:ea typeface="Aptos"/>
                <a:cs typeface="Aptos"/>
              </a:defRPr>
            </a:pPr>
            <a:r>
              <a:rPr sz="7050" b="1">
                <a:solidFill>
                  <a:srgbClr val="111111"/>
                </a:solidFill>
                <a:latin typeface="Aptos"/>
                <a:ea typeface="Aptos"/>
                <a:cs typeface="Aptos"/>
              </a:rPr>
              <a:t>?%</a:t>
            </a:r>
          </a:p>
        </p:txBody>
      </p:sp>
      <p:sp>
        <p:nvSpPr>
          <p:cNvPr id="7" name="S11-text-4">
            <a:extLst>
              <a:ext uri="{FF2B5EF4-FFF2-40B4-BE49-F238E27FC236}">
                <a16:creationId xmlns:a16="http://schemas.microsoft.com/office/drawing/2014/main" id="{0A08DD88-AEA9-4D8D-9274-80BD7720F295}"/>
              </a:ext>
            </a:extLst>
          </p:cNvPr>
          <p:cNvSpPr>
            <a:spLocks noGrp="1"/>
          </p:cNvSpPr>
          <p:nvPr/>
        </p:nvSpPr>
        <p:spPr>
          <a:xfrm>
            <a:off x="6191250" y="4810125"/>
            <a:ext cx="4714875" cy="904875"/>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The percentage for</a:t>
            </a:r>
          </a:p>
          <a:p>
            <a:pPr marL="0" indent="0" algn="ctr">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the whole population</a:t>
            </a:r>
          </a:p>
        </p:txBody>
      </p:sp>
      <p:sp>
        <p:nvSpPr>
          <p:cNvPr id="8" name="S11-text-5">
            <a:extLst>
              <a:ext uri="{FF2B5EF4-FFF2-40B4-BE49-F238E27FC236}">
                <a16:creationId xmlns:a16="http://schemas.microsoft.com/office/drawing/2014/main" id="{48FA91A5-C847-416D-9618-D59041FCCA9D}"/>
              </a:ext>
            </a:extLst>
          </p:cNvPr>
          <p:cNvSpPr>
            <a:spLocks noGrp="1"/>
          </p:cNvSpPr>
          <p:nvPr/>
        </p:nvSpPr>
        <p:spPr>
          <a:xfrm>
            <a:off x="523875" y="5953125"/>
            <a:ext cx="11049000" cy="2857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a:solidFill>
                  <a:srgbClr val="111111"/>
                </a:solidFill>
                <a:latin typeface="Aptos"/>
                <a:ea typeface="Aptos"/>
                <a:cs typeface="Aptos"/>
              </a:defRPr>
            </a:pPr>
            <a:r>
              <a:rPr sz="1575" b="0">
                <a:solidFill>
                  <a:srgbClr val="111111"/>
                </a:solidFill>
                <a:latin typeface="Aptos"/>
                <a:ea typeface="Aptos"/>
                <a:cs typeface="Aptos"/>
              </a:rPr>
              <a:t>We do not know this percentage yet.</a:t>
            </a:r>
          </a:p>
        </p:txBody>
      </p:sp>
    </p:spTree>
    <p:extLst>
      <p:ext uri="{BB962C8B-B14F-4D97-AF65-F5344CB8AC3E}">
        <p14:creationId xmlns:p14="http://schemas.microsoft.com/office/powerpoint/2010/main" val="3281361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What did our survey find?</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19125"/>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Classroom example: we survey </a:t>
            </a:r>
            <a:r>
              <a:rPr sz="2325" b="1">
                <a:solidFill>
                  <a:srgbClr val="111111"/>
                </a:solidFill>
                <a:latin typeface="Aptos"/>
                <a:ea typeface="Aptos"/>
                <a:cs typeface="Aptos"/>
              </a:rPr>
              <a:t>200 students</a:t>
            </a:r>
            <a:r>
              <a:rPr sz="2325" b="0">
                <a:solidFill>
                  <a:srgbClr val="111111"/>
                </a:solidFill>
                <a:latin typeface="Aptos"/>
                <a:ea typeface="Aptos"/>
                <a:cs typeface="Aptos"/>
              </a:rPr>
              <a:t>.</a:t>
            </a:r>
          </a:p>
        </p:txBody>
      </p:sp>
      <p:graphicFrame>
        <p:nvGraphicFramePr>
          <p:cNvPr id="11" name="Table 10"/>
          <p:cNvGraphicFramePr/>
          <p:nvPr/>
        </p:nvGraphicFramePr>
        <p:xfrm>
          <a:off x="619125" y="3048000"/>
          <a:ext cx="4191000" cy="2638424"/>
        </p:xfrm>
        <a:graphic>
          <a:graphicData uri="http://schemas.openxmlformats.org/drawingml/2006/table">
            <a:tbl>
              <a:tblPr/>
              <a:tblGrid>
                <a:gridCol w="2667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659606">
                <a:tc>
                  <a:txBody>
                    <a:bodyPr/>
                    <a:lstStyle/>
                    <a:p>
                      <a:pPr algn="l">
                        <a:lnSpc>
                          <a:spcPct val="103000"/>
                        </a:lnSpc>
                        <a:spcBef>
                          <a:spcPts val="0"/>
                        </a:spcBef>
                        <a:spcAft>
                          <a:spcPts val="0"/>
                        </a:spcAft>
                        <a:buNone/>
                      </a:pPr>
                      <a:r>
                        <a:rPr sz="2400" b="1">
                          <a:solidFill>
                            <a:srgbClr val="FFFFFF"/>
                          </a:solidFill>
                          <a:latin typeface="Aptos"/>
                          <a:ea typeface="Aptos"/>
                          <a:cs typeface="Aptos"/>
                        </a:rPr>
                        <a:t>Response</a:t>
                      </a:r>
                    </a:p>
                  </a:txBody>
                  <a:tcPr anchor="ctr">
                    <a:solidFill>
                      <a:srgbClr val="D6171D"/>
                    </a:solidFill>
                  </a:tcPr>
                </a:tc>
                <a:tc>
                  <a:txBody>
                    <a:bodyPr/>
                    <a:lstStyle/>
                    <a:p>
                      <a:pPr algn="l">
                        <a:lnSpc>
                          <a:spcPct val="103000"/>
                        </a:lnSpc>
                        <a:spcBef>
                          <a:spcPts val="0"/>
                        </a:spcBef>
                        <a:spcAft>
                          <a:spcPts val="0"/>
                        </a:spcAft>
                        <a:buNone/>
                      </a:pPr>
                      <a:r>
                        <a:rPr sz="2400" b="1">
                          <a:solidFill>
                            <a:srgbClr val="FFFFFF"/>
                          </a:solidFill>
                          <a:latin typeface="Aptos"/>
                          <a:ea typeface="Aptos"/>
                          <a:cs typeface="Aptos"/>
                        </a:rPr>
                        <a:t>Students</a:t>
                      </a:r>
                    </a:p>
                  </a:txBody>
                  <a:tcPr anchor="ctr">
                    <a:solidFill>
                      <a:srgbClr val="D6171D"/>
                    </a:solidFill>
                  </a:tcPr>
                </a:tc>
                <a:extLst>
                  <a:ext uri="{0D108BD9-81ED-4DB2-BD59-A6C34878D82A}">
                    <a16:rowId xmlns:a16="http://schemas.microsoft.com/office/drawing/2014/main" val="10000"/>
                  </a:ext>
                </a:extLst>
              </a:tr>
              <a:tr h="659606">
                <a:tc>
                  <a:txBody>
                    <a:bodyPr/>
                    <a:lstStyle/>
                    <a:p>
                      <a:pPr algn="l">
                        <a:lnSpc>
                          <a:spcPct val="103000"/>
                        </a:lnSpc>
                        <a:spcBef>
                          <a:spcPts val="0"/>
                        </a:spcBef>
                        <a:spcAft>
                          <a:spcPts val="0"/>
                        </a:spcAft>
                        <a:buNone/>
                      </a:pPr>
                      <a:r>
                        <a:rPr sz="2400" b="0">
                          <a:solidFill>
                            <a:srgbClr val="111111"/>
                          </a:solidFill>
                          <a:latin typeface="Aptos"/>
                          <a:ea typeface="Aptos"/>
                          <a:cs typeface="Aptos"/>
                        </a:rPr>
                        <a:t>Yes</a:t>
                      </a:r>
                    </a:p>
                  </a:txBody>
                  <a:tcPr anchor="ctr">
                    <a:solidFill>
                      <a:srgbClr val="FFFFFF"/>
                    </a:solidFill>
                  </a:tcPr>
                </a:tc>
                <a:tc>
                  <a:txBody>
                    <a:bodyPr/>
                    <a:lstStyle/>
                    <a:p>
                      <a:pPr algn="l">
                        <a:lnSpc>
                          <a:spcPct val="103000"/>
                        </a:lnSpc>
                        <a:spcBef>
                          <a:spcPts val="0"/>
                        </a:spcBef>
                        <a:spcAft>
                          <a:spcPts val="0"/>
                        </a:spcAft>
                        <a:buNone/>
                      </a:pPr>
                      <a:r>
                        <a:rPr sz="2400" b="0">
                          <a:solidFill>
                            <a:srgbClr val="111111"/>
                          </a:solidFill>
                          <a:latin typeface="Aptos"/>
                          <a:ea typeface="Aptos"/>
                          <a:cs typeface="Aptos"/>
                        </a:rPr>
                        <a:t>140</a:t>
                      </a:r>
                    </a:p>
                  </a:txBody>
                  <a:tcPr anchor="ctr">
                    <a:solidFill>
                      <a:srgbClr val="FFFFFF"/>
                    </a:solidFill>
                  </a:tcPr>
                </a:tc>
                <a:extLst>
                  <a:ext uri="{0D108BD9-81ED-4DB2-BD59-A6C34878D82A}">
                    <a16:rowId xmlns:a16="http://schemas.microsoft.com/office/drawing/2014/main" val="10001"/>
                  </a:ext>
                </a:extLst>
              </a:tr>
              <a:tr h="659606">
                <a:tc>
                  <a:txBody>
                    <a:bodyPr/>
                    <a:lstStyle/>
                    <a:p>
                      <a:pPr algn="l">
                        <a:lnSpc>
                          <a:spcPct val="103000"/>
                        </a:lnSpc>
                        <a:spcBef>
                          <a:spcPts val="0"/>
                        </a:spcBef>
                        <a:spcAft>
                          <a:spcPts val="0"/>
                        </a:spcAft>
                        <a:buNone/>
                      </a:pPr>
                      <a:r>
                        <a:rPr sz="2400" b="0">
                          <a:solidFill>
                            <a:srgbClr val="111111"/>
                          </a:solidFill>
                          <a:latin typeface="Aptos"/>
                          <a:ea typeface="Aptos"/>
                          <a:cs typeface="Aptos"/>
                        </a:rPr>
                        <a:t>No</a:t>
                      </a:r>
                    </a:p>
                  </a:txBody>
                  <a:tcPr anchor="ctr">
                    <a:solidFill>
                      <a:srgbClr val="EFF8FF"/>
                    </a:solidFill>
                  </a:tcPr>
                </a:tc>
                <a:tc>
                  <a:txBody>
                    <a:bodyPr/>
                    <a:lstStyle/>
                    <a:p>
                      <a:pPr algn="l">
                        <a:lnSpc>
                          <a:spcPct val="103000"/>
                        </a:lnSpc>
                        <a:spcBef>
                          <a:spcPts val="0"/>
                        </a:spcBef>
                        <a:spcAft>
                          <a:spcPts val="0"/>
                        </a:spcAft>
                        <a:buNone/>
                      </a:pPr>
                      <a:r>
                        <a:rPr sz="2400" b="0">
                          <a:solidFill>
                            <a:srgbClr val="111111"/>
                          </a:solidFill>
                          <a:latin typeface="Aptos"/>
                          <a:ea typeface="Aptos"/>
                          <a:cs typeface="Aptos"/>
                        </a:rPr>
                        <a:t>60</a:t>
                      </a:r>
                    </a:p>
                  </a:txBody>
                  <a:tcPr anchor="ctr">
                    <a:solidFill>
                      <a:srgbClr val="EFF8FF"/>
                    </a:solidFill>
                  </a:tcPr>
                </a:tc>
                <a:extLst>
                  <a:ext uri="{0D108BD9-81ED-4DB2-BD59-A6C34878D82A}">
                    <a16:rowId xmlns:a16="http://schemas.microsoft.com/office/drawing/2014/main" val="10002"/>
                  </a:ext>
                </a:extLst>
              </a:tr>
              <a:tr h="659606">
                <a:tc>
                  <a:txBody>
                    <a:bodyPr/>
                    <a:lstStyle/>
                    <a:p>
                      <a:pPr algn="l">
                        <a:lnSpc>
                          <a:spcPct val="103000"/>
                        </a:lnSpc>
                        <a:spcBef>
                          <a:spcPts val="0"/>
                        </a:spcBef>
                        <a:spcAft>
                          <a:spcPts val="0"/>
                        </a:spcAft>
                        <a:buNone/>
                      </a:pPr>
                      <a:r>
                        <a:rPr sz="2400" b="0">
                          <a:solidFill>
                            <a:srgbClr val="111111"/>
                          </a:solidFill>
                          <a:latin typeface="Aptos"/>
                          <a:ea typeface="Aptos"/>
                          <a:cs typeface="Aptos"/>
                        </a:rPr>
                        <a:t>Total</a:t>
                      </a:r>
                    </a:p>
                  </a:txBody>
                  <a:tcPr anchor="ctr">
                    <a:solidFill>
                      <a:srgbClr val="FFFFFF"/>
                    </a:solidFill>
                  </a:tcPr>
                </a:tc>
                <a:tc>
                  <a:txBody>
                    <a:bodyPr/>
                    <a:lstStyle/>
                    <a:p>
                      <a:pPr algn="l">
                        <a:lnSpc>
                          <a:spcPct val="103000"/>
                        </a:lnSpc>
                        <a:spcBef>
                          <a:spcPts val="0"/>
                        </a:spcBef>
                        <a:spcAft>
                          <a:spcPts val="0"/>
                        </a:spcAft>
                        <a:buNone/>
                      </a:pPr>
                      <a:r>
                        <a:rPr sz="2400" b="0">
                          <a:solidFill>
                            <a:srgbClr val="111111"/>
                          </a:solidFill>
                          <a:latin typeface="Aptos"/>
                          <a:ea typeface="Aptos"/>
                          <a:cs typeface="Aptos"/>
                        </a:rPr>
                        <a:t>200</a:t>
                      </a:r>
                    </a:p>
                  </a:txBody>
                  <a:tcPr anchor="ctr">
                    <a:solidFill>
                      <a:srgbClr val="FFFFFF"/>
                    </a:solidFill>
                  </a:tcPr>
                </a:tc>
                <a:extLst>
                  <a:ext uri="{0D108BD9-81ED-4DB2-BD59-A6C34878D82A}">
                    <a16:rowId xmlns:a16="http://schemas.microsoft.com/office/drawing/2014/main" val="10003"/>
                  </a:ext>
                </a:extLst>
              </a:tr>
            </a:tbl>
          </a:graphicData>
        </a:graphic>
      </p:graphicFrame>
      <p:pic>
        <p:nvPicPr>
          <p:cNvPr id="12" name="Picture 11"/>
          <p:cNvPicPr>
            <a:picLocks noChangeAspect="1"/>
          </p:cNvPicPr>
          <p:nvPr/>
        </p:nvPicPr>
        <p:blipFill>
          <a:blip r:embed="rId3"/>
          <a:stretch/>
        </p:blipFill>
        <p:spPr>
          <a:xfrm>
            <a:off x="6118993" y="3314700"/>
            <a:ext cx="4621264" cy="1123950"/>
          </a:xfrm>
          <a:prstGeom prst="rect">
            <a:avLst/>
          </a:prstGeom>
        </p:spPr>
      </p:pic>
      <p:sp>
        <p:nvSpPr>
          <p:cNvPr id="6" name="S12-text-3">
            <a:extLst>
              <a:ext uri="{FF2B5EF4-FFF2-40B4-BE49-F238E27FC236}">
                <a16:creationId xmlns:a16="http://schemas.microsoft.com/office/drawing/2014/main" id="{BE16CED8-5F4D-400D-8A10-6CA57B1ABC16}"/>
              </a:ext>
            </a:extLst>
          </p:cNvPr>
          <p:cNvSpPr>
            <a:spLocks noGrp="1"/>
          </p:cNvSpPr>
          <p:nvPr/>
        </p:nvSpPr>
        <p:spPr>
          <a:xfrm>
            <a:off x="5619750" y="4838700"/>
            <a:ext cx="5619750" cy="9525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70% of the surveyed students</a:t>
            </a:r>
          </a:p>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said yes.</a:t>
            </a:r>
          </a:p>
        </p:txBody>
      </p:sp>
    </p:spTree>
    <p:extLst>
      <p:ext uri="{BB962C8B-B14F-4D97-AF65-F5344CB8AC3E}">
        <p14:creationId xmlns:p14="http://schemas.microsoft.com/office/powerpoint/2010/main" val="3281361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Groups and their numbers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752475"/>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Parameter:</a:t>
            </a:r>
            <a:r>
              <a:rPr sz="2325" b="0">
                <a:solidFill>
                  <a:srgbClr val="111111"/>
                </a:solidFill>
                <a:latin typeface="Aptos"/>
                <a:ea typeface="Aptos"/>
                <a:cs typeface="Aptos"/>
              </a:rPr>
              <a:t> a numerical summary of the whole population.</a:t>
            </a:r>
          </a:p>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Statistic:</a:t>
            </a:r>
            <a:r>
              <a:rPr sz="2325" b="0">
                <a:solidFill>
                  <a:srgbClr val="111111"/>
                </a:solidFill>
                <a:latin typeface="Aptos"/>
                <a:ea typeface="Aptos"/>
                <a:cs typeface="Aptos"/>
              </a:rPr>
              <a:t> a numerical summary of a sample.</a:t>
            </a:r>
          </a:p>
        </p:txBody>
      </p:sp>
      <p:graphicFrame>
        <p:nvGraphicFramePr>
          <p:cNvPr id="9" name="Table 8"/>
          <p:cNvGraphicFramePr/>
          <p:nvPr/>
        </p:nvGraphicFramePr>
        <p:xfrm>
          <a:off x="619125" y="2838450"/>
          <a:ext cx="10953750" cy="2952750"/>
        </p:xfrm>
        <a:graphic>
          <a:graphicData uri="http://schemas.openxmlformats.org/drawingml/2006/table">
            <a:tbl>
              <a:tblPr/>
              <a:tblGrid>
                <a:gridCol w="309562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tblGrid>
              <a:tr h="590550">
                <a:tc>
                  <a:txBody>
                    <a:bodyPr/>
                    <a:lstStyle/>
                    <a:p>
                      <a:pPr>
                        <a:spcBef>
                          <a:spcPts val="0"/>
                        </a:spcBef>
                        <a:spcAft>
                          <a:spcPts val="0"/>
                        </a:spcAft>
                        <a:buNone/>
                      </a:pPr>
                      <a:endParaRPr/>
                    </a:p>
                  </a:txBody>
                  <a:tcPr anchor="ctr">
                    <a:solidFill>
                      <a:srgbClr val="D6171D"/>
                    </a:solidFill>
                  </a:tcPr>
                </a:tc>
                <a:tc>
                  <a:txBody>
                    <a:bodyPr/>
                    <a:lstStyle/>
                    <a:p>
                      <a:pPr algn="l">
                        <a:lnSpc>
                          <a:spcPct val="103000"/>
                        </a:lnSpc>
                        <a:spcBef>
                          <a:spcPts val="0"/>
                        </a:spcBef>
                        <a:spcAft>
                          <a:spcPts val="0"/>
                        </a:spcAft>
                        <a:buNone/>
                      </a:pPr>
                      <a:r>
                        <a:rPr sz="2175" b="1">
                          <a:solidFill>
                            <a:srgbClr val="FFFFFF"/>
                          </a:solidFill>
                          <a:latin typeface="Aptos"/>
                          <a:ea typeface="Aptos"/>
                          <a:cs typeface="Aptos"/>
                        </a:rPr>
                        <a:t>Whole university</a:t>
                      </a:r>
                    </a:p>
                  </a:txBody>
                  <a:tcPr anchor="ctr">
                    <a:solidFill>
                      <a:srgbClr val="D6171D"/>
                    </a:solidFill>
                  </a:tcPr>
                </a:tc>
                <a:tc>
                  <a:txBody>
                    <a:bodyPr/>
                    <a:lstStyle/>
                    <a:p>
                      <a:pPr algn="l">
                        <a:lnSpc>
                          <a:spcPct val="103000"/>
                        </a:lnSpc>
                        <a:spcBef>
                          <a:spcPts val="0"/>
                        </a:spcBef>
                        <a:spcAft>
                          <a:spcPts val="0"/>
                        </a:spcAft>
                        <a:buNone/>
                      </a:pPr>
                      <a:r>
                        <a:rPr sz="2175" b="1">
                          <a:solidFill>
                            <a:srgbClr val="FFFFFF"/>
                          </a:solidFill>
                          <a:latin typeface="Aptos"/>
                          <a:ea typeface="Aptos"/>
                          <a:cs typeface="Aptos"/>
                        </a:rPr>
                        <a:t>Our survey</a:t>
                      </a:r>
                    </a:p>
                  </a:txBody>
                  <a:tcPr anchor="ctr">
                    <a:solidFill>
                      <a:srgbClr val="D6171D"/>
                    </a:solidFill>
                  </a:tcPr>
                </a:tc>
                <a:extLst>
                  <a:ext uri="{0D108BD9-81ED-4DB2-BD59-A6C34878D82A}">
                    <a16:rowId xmlns:a16="http://schemas.microsoft.com/office/drawing/2014/main" val="10000"/>
                  </a:ext>
                </a:extLst>
              </a:tr>
              <a:tr h="590550">
                <a:tc>
                  <a:txBody>
                    <a:bodyPr/>
                    <a:lstStyle/>
                    <a:p>
                      <a:pPr algn="l">
                        <a:lnSpc>
                          <a:spcPct val="103000"/>
                        </a:lnSpc>
                        <a:spcBef>
                          <a:spcPts val="0"/>
                        </a:spcBef>
                        <a:spcAft>
                          <a:spcPts val="0"/>
                        </a:spcAft>
                        <a:buNone/>
                      </a:pPr>
                      <a:r>
                        <a:rPr sz="2175" b="0">
                          <a:solidFill>
                            <a:srgbClr val="111111"/>
                          </a:solidFill>
                          <a:latin typeface="Aptos"/>
                          <a:ea typeface="Aptos"/>
                          <a:cs typeface="Aptos"/>
                        </a:rPr>
                        <a:t>Group name</a:t>
                      </a:r>
                    </a:p>
                  </a:txBody>
                  <a:tcPr anchor="ctr">
                    <a:solidFill>
                      <a:srgbClr val="FFFF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Population</a:t>
                      </a:r>
                    </a:p>
                  </a:txBody>
                  <a:tcPr anchor="ctr">
                    <a:solidFill>
                      <a:srgbClr val="FFFF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Sample</a:t>
                      </a:r>
                    </a:p>
                  </a:txBody>
                  <a:tcPr anchor="ctr">
                    <a:solidFill>
                      <a:srgbClr val="FFFFFF"/>
                    </a:solidFill>
                  </a:tcPr>
                </a:tc>
                <a:extLst>
                  <a:ext uri="{0D108BD9-81ED-4DB2-BD59-A6C34878D82A}">
                    <a16:rowId xmlns:a16="http://schemas.microsoft.com/office/drawing/2014/main" val="10001"/>
                  </a:ext>
                </a:extLst>
              </a:tr>
              <a:tr h="590550">
                <a:tc>
                  <a:txBody>
                    <a:bodyPr/>
                    <a:lstStyle/>
                    <a:p>
                      <a:pPr algn="l">
                        <a:lnSpc>
                          <a:spcPct val="103000"/>
                        </a:lnSpc>
                        <a:spcBef>
                          <a:spcPts val="0"/>
                        </a:spcBef>
                        <a:spcAft>
                          <a:spcPts val="0"/>
                        </a:spcAft>
                        <a:buNone/>
                      </a:pPr>
                      <a:r>
                        <a:rPr sz="2175" b="0">
                          <a:solidFill>
                            <a:srgbClr val="111111"/>
                          </a:solidFill>
                          <a:latin typeface="Aptos"/>
                          <a:ea typeface="Aptos"/>
                          <a:cs typeface="Aptos"/>
                        </a:rPr>
                        <a:t>People</a:t>
                      </a:r>
                    </a:p>
                  </a:txBody>
                  <a:tcPr anchor="ctr">
                    <a:solidFill>
                      <a:srgbClr val="EFF8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All enrolled students</a:t>
                      </a:r>
                    </a:p>
                  </a:txBody>
                  <a:tcPr anchor="ctr">
                    <a:solidFill>
                      <a:srgbClr val="EFF8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200 surveyed students</a:t>
                      </a:r>
                    </a:p>
                  </a:txBody>
                  <a:tcPr anchor="ctr">
                    <a:solidFill>
                      <a:srgbClr val="EFF8FF"/>
                    </a:solidFill>
                  </a:tcPr>
                </a:tc>
                <a:extLst>
                  <a:ext uri="{0D108BD9-81ED-4DB2-BD59-A6C34878D82A}">
                    <a16:rowId xmlns:a16="http://schemas.microsoft.com/office/drawing/2014/main" val="10002"/>
                  </a:ext>
                </a:extLst>
              </a:tr>
              <a:tr h="590550">
                <a:tc>
                  <a:txBody>
                    <a:bodyPr/>
                    <a:lstStyle/>
                    <a:p>
                      <a:pPr algn="l">
                        <a:lnSpc>
                          <a:spcPct val="103000"/>
                        </a:lnSpc>
                        <a:spcBef>
                          <a:spcPts val="0"/>
                        </a:spcBef>
                        <a:spcAft>
                          <a:spcPts val="0"/>
                        </a:spcAft>
                        <a:buNone/>
                      </a:pPr>
                      <a:r>
                        <a:rPr sz="2175" b="0">
                          <a:solidFill>
                            <a:srgbClr val="111111"/>
                          </a:solidFill>
                          <a:latin typeface="Aptos"/>
                          <a:ea typeface="Aptos"/>
                          <a:cs typeface="Aptos"/>
                        </a:rPr>
                        <a:t>Percentage saying yes</a:t>
                      </a:r>
                    </a:p>
                  </a:txBody>
                  <a:tcPr anchor="ctr">
                    <a:solidFill>
                      <a:srgbClr val="FFFF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Unknown here</a:t>
                      </a:r>
                    </a:p>
                  </a:txBody>
                  <a:tcPr anchor="ctr">
                    <a:solidFill>
                      <a:srgbClr val="FFFF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70%</a:t>
                      </a:r>
                    </a:p>
                  </a:txBody>
                  <a:tcPr anchor="ctr">
                    <a:solidFill>
                      <a:srgbClr val="FFFFFF"/>
                    </a:solidFill>
                  </a:tcPr>
                </a:tc>
                <a:extLst>
                  <a:ext uri="{0D108BD9-81ED-4DB2-BD59-A6C34878D82A}">
                    <a16:rowId xmlns:a16="http://schemas.microsoft.com/office/drawing/2014/main" val="10003"/>
                  </a:ext>
                </a:extLst>
              </a:tr>
              <a:tr h="590550">
                <a:tc>
                  <a:txBody>
                    <a:bodyPr/>
                    <a:lstStyle/>
                    <a:p>
                      <a:pPr algn="l">
                        <a:lnSpc>
                          <a:spcPct val="103000"/>
                        </a:lnSpc>
                        <a:spcBef>
                          <a:spcPts val="0"/>
                        </a:spcBef>
                        <a:spcAft>
                          <a:spcPts val="0"/>
                        </a:spcAft>
                        <a:buNone/>
                      </a:pPr>
                      <a:r>
                        <a:rPr sz="2175" b="0">
                          <a:solidFill>
                            <a:srgbClr val="111111"/>
                          </a:solidFill>
                          <a:latin typeface="Aptos"/>
                          <a:ea typeface="Aptos"/>
                          <a:cs typeface="Aptos"/>
                        </a:rPr>
                        <a:t>Percentage name</a:t>
                      </a:r>
                    </a:p>
                  </a:txBody>
                  <a:tcPr anchor="ctr">
                    <a:solidFill>
                      <a:srgbClr val="EFF8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Parameter</a:t>
                      </a:r>
                    </a:p>
                  </a:txBody>
                  <a:tcPr anchor="ctr">
                    <a:solidFill>
                      <a:srgbClr val="EFF8FF"/>
                    </a:solidFill>
                  </a:tcPr>
                </a:tc>
                <a:tc>
                  <a:txBody>
                    <a:bodyPr/>
                    <a:lstStyle/>
                    <a:p>
                      <a:pPr algn="l">
                        <a:lnSpc>
                          <a:spcPct val="103000"/>
                        </a:lnSpc>
                        <a:spcBef>
                          <a:spcPts val="0"/>
                        </a:spcBef>
                        <a:spcAft>
                          <a:spcPts val="0"/>
                        </a:spcAft>
                        <a:buNone/>
                      </a:pPr>
                      <a:r>
                        <a:rPr sz="2175" b="0">
                          <a:solidFill>
                            <a:srgbClr val="111111"/>
                          </a:solidFill>
                          <a:latin typeface="Aptos"/>
                          <a:ea typeface="Aptos"/>
                          <a:cs typeface="Aptos"/>
                        </a:rPr>
                        <a:t>Statistic</a:t>
                      </a:r>
                    </a:p>
                  </a:txBody>
                  <a:tcPr anchor="ctr">
                    <a:solidFill>
                      <a:srgbClr val="EFF8FF"/>
                    </a:solidFill>
                  </a:tcPr>
                </a:tc>
                <a:extLst>
                  <a:ext uri="{0D108BD9-81ED-4DB2-BD59-A6C34878D82A}">
                    <a16:rowId xmlns:a16="http://schemas.microsoft.com/office/drawing/2014/main" val="10004"/>
                  </a:ext>
                </a:extLst>
              </a:tr>
            </a:tbl>
          </a:graphicData>
        </a:graphic>
      </p:graphicFrame>
      <p:sp>
        <p:nvSpPr>
          <p:cNvPr id="5" name="S13-text-2">
            <a:extLst>
              <a:ext uri="{FF2B5EF4-FFF2-40B4-BE49-F238E27FC236}">
                <a16:creationId xmlns:a16="http://schemas.microsoft.com/office/drawing/2014/main" id="{64E93CF4-4461-4CC8-BF81-23F144EE4523}"/>
              </a:ext>
            </a:extLst>
          </p:cNvPr>
          <p:cNvSpPr>
            <a:spLocks noGrp="1"/>
          </p:cNvSpPr>
          <p:nvPr/>
        </p:nvSpPr>
        <p:spPr>
          <a:xfrm>
            <a:off x="523875" y="5953125"/>
            <a:ext cx="11049000" cy="31432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950">
                <a:solidFill>
                  <a:srgbClr val="111111"/>
                </a:solidFill>
                <a:latin typeface="Aptos"/>
                <a:ea typeface="Aptos"/>
                <a:cs typeface="Aptos"/>
              </a:defRPr>
            </a:pPr>
            <a:r>
              <a:rPr sz="1950" b="0">
                <a:solidFill>
                  <a:srgbClr val="111111"/>
                </a:solidFill>
                <a:latin typeface="Aptos"/>
                <a:ea typeface="Aptos"/>
                <a:cs typeface="Aptos"/>
              </a:rPr>
              <a:t>Average height: </a:t>
            </a:r>
            <a:r>
              <a:rPr sz="1950" b="1">
                <a:solidFill>
                  <a:srgbClr val="111111"/>
                </a:solidFill>
                <a:latin typeface="Aptos"/>
                <a:ea typeface="Aptos"/>
                <a:cs typeface="Aptos"/>
              </a:rPr>
              <a:t>whole population</a:t>
            </a:r>
            <a:r>
              <a:rPr sz="1950" b="0">
                <a:solidFill>
                  <a:srgbClr val="111111"/>
                </a:solidFill>
                <a:latin typeface="Aptos"/>
                <a:ea typeface="Aptos"/>
                <a:cs typeface="Aptos"/>
              </a:rPr>
              <a:t> → parameter; </a:t>
            </a:r>
            <a:r>
              <a:rPr sz="1950" b="1">
                <a:solidFill>
                  <a:srgbClr val="111111"/>
                </a:solidFill>
                <a:latin typeface="Aptos"/>
                <a:ea typeface="Aptos"/>
                <a:cs typeface="Aptos"/>
              </a:rPr>
              <a:t>sample</a:t>
            </a:r>
            <a:r>
              <a:rPr sz="1950" b="0">
                <a:solidFill>
                  <a:srgbClr val="111111"/>
                </a:solidFill>
                <a:latin typeface="Aptos"/>
                <a:ea typeface="Aptos"/>
                <a:cs typeface="Aptos"/>
              </a:rPr>
              <a:t> → statistic.</a:t>
            </a:r>
          </a:p>
        </p:txBody>
      </p:sp>
    </p:spTree>
    <p:extLst>
      <p:ext uri="{BB962C8B-B14F-4D97-AF65-F5344CB8AC3E}">
        <p14:creationId xmlns:p14="http://schemas.microsoft.com/office/powerpoint/2010/main" val="3281361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What can the sample tell us?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In our demonstration, 140 of 200 students said yes.</a:t>
            </a:r>
          </a:p>
        </p:txBody>
      </p:sp>
      <p:sp>
        <p:nvSpPr>
          <p:cNvPr id="4" name="Revised-text-16">
            <a:extLst>
              <a:ext uri="{FF2B5EF4-FFF2-40B4-BE49-F238E27FC236}">
                <a16:creationId xmlns:a16="http://schemas.microsoft.com/office/drawing/2014/main" id="{C8AC2EE1-DC0E-4725-8436-3F135FF5A2CA}"/>
              </a:ext>
            </a:extLst>
          </p:cNvPr>
          <p:cNvSpPr>
            <a:spLocks noGrp="1"/>
          </p:cNvSpPr>
          <p:nvPr/>
        </p:nvSpPr>
        <p:spPr>
          <a:xfrm>
            <a:off x="619125" y="3048000"/>
            <a:ext cx="5429250" cy="619125"/>
          </a:xfrm>
          <a:prstGeom prst="rect">
            <a:avLst/>
          </a:prstGeom>
          <a:noFill/>
          <a:ln w="0">
            <a:noFill/>
          </a:ln>
        </p:spPr>
        <p:txBody>
          <a:bodyPr wrap="square" lIns="0" tIns="0" rIns="0" bIns="0" anchor="t">
            <a:noAutofit/>
          </a:bodyPr>
          <a:lstStyle/>
          <a:p>
            <a:pPr algn="l">
              <a:buNone/>
              <a:defRPr sz="3225" b="1">
                <a:solidFill>
                  <a:srgbClr val="111111"/>
                </a:solidFill>
                <a:latin typeface="Aptos"/>
                <a:ea typeface="Aptos"/>
                <a:cs typeface="Aptos"/>
              </a:defRPr>
            </a:pPr>
            <a:r>
              <a:rPr sz="3225" b="1">
                <a:solidFill>
                  <a:srgbClr val="111111"/>
                </a:solidFill>
                <a:latin typeface="Aptos"/>
                <a:ea typeface="Aptos"/>
                <a:cs typeface="Aptos"/>
              </a:rPr>
              <a:t>Sample result: 70%</a:t>
            </a:r>
          </a:p>
        </p:txBody>
      </p:sp>
      <p:sp>
        <p:nvSpPr>
          <p:cNvPr id="5" name="Revised-text-17">
            <a:extLst>
              <a:ext uri="{FF2B5EF4-FFF2-40B4-BE49-F238E27FC236}">
                <a16:creationId xmlns:a16="http://schemas.microsoft.com/office/drawing/2014/main" id="{E770F22E-1CD5-4A25-BFF3-510AB6926E05}"/>
              </a:ext>
            </a:extLst>
          </p:cNvPr>
          <p:cNvSpPr>
            <a:spLocks noGrp="1"/>
          </p:cNvSpPr>
          <p:nvPr/>
        </p:nvSpPr>
        <p:spPr>
          <a:xfrm>
            <a:off x="619125" y="4048125"/>
            <a:ext cx="10477500" cy="952500"/>
          </a:xfrm>
          <a:prstGeom prst="rect">
            <a:avLst/>
          </a:prstGeom>
          <a:noFill/>
          <a:ln w="0">
            <a:noFill/>
          </a:ln>
        </p:spPr>
        <p:txBody>
          <a:bodyPr wrap="square" lIns="0" tIns="0" rIns="0" bIns="0" anchor="t">
            <a:noAutofit/>
          </a:bodyPr>
          <a:lstStyle/>
          <a:p>
            <a:pPr algn="l">
              <a:buNone/>
              <a:defRPr sz="3000" b="1">
                <a:solidFill>
                  <a:srgbClr val="111111"/>
                </a:solidFill>
                <a:latin typeface="Aptos"/>
                <a:ea typeface="Aptos"/>
                <a:cs typeface="Aptos"/>
              </a:defRPr>
            </a:pPr>
            <a:r>
              <a:rPr sz="3000" b="1">
                <a:solidFill>
                  <a:srgbClr val="111111"/>
                </a:solidFill>
                <a:latin typeface="Aptos"/>
                <a:ea typeface="Aptos"/>
                <a:cs typeface="Aptos"/>
              </a:rPr>
              <a:t>Can we conclude that exactly 70%</a:t>
            </a:r>
          </a:p>
          <a:p>
            <a:pPr algn="l">
              <a:buNone/>
              <a:defRPr sz="3000" b="1">
                <a:solidFill>
                  <a:srgbClr val="111111"/>
                </a:solidFill>
                <a:latin typeface="Aptos"/>
                <a:ea typeface="Aptos"/>
                <a:cs typeface="Aptos"/>
              </a:defRPr>
            </a:pPr>
            <a:r>
              <a:rPr sz="3000" b="1">
                <a:solidFill>
                  <a:srgbClr val="111111"/>
                </a:solidFill>
                <a:latin typeface="Aptos"/>
                <a:ea typeface="Aptos"/>
                <a:cs typeface="Aptos"/>
              </a:rPr>
              <a:t>of the whole university would say yes?</a:t>
            </a:r>
          </a:p>
        </p:txBody>
      </p:sp>
      <p:sp>
        <p:nvSpPr>
          <p:cNvPr id="6" name="Revised-text-18">
            <a:extLst>
              <a:ext uri="{FF2B5EF4-FFF2-40B4-BE49-F238E27FC236}">
                <a16:creationId xmlns:a16="http://schemas.microsoft.com/office/drawing/2014/main" id="{BA46A622-D3E8-4FAE-BA0B-98D70FF69A0B}"/>
              </a:ext>
            </a:extLst>
          </p:cNvPr>
          <p:cNvSpPr>
            <a:spLocks noGrp="1"/>
          </p:cNvSpPr>
          <p:nvPr/>
        </p:nvSpPr>
        <p:spPr>
          <a:xfrm>
            <a:off x="619125" y="5524500"/>
            <a:ext cx="10572750" cy="428625"/>
          </a:xfrm>
          <a:prstGeom prst="rect">
            <a:avLst/>
          </a:prstGeom>
          <a:noFill/>
          <a:ln w="0">
            <a:noFill/>
          </a:ln>
        </p:spPr>
        <p:txBody>
          <a:bodyPr wrap="square" lIns="0" tIns="0" rIns="0" bIns="0" anchor="t">
            <a:noAutofit/>
          </a:bodyPr>
          <a:lstStyle/>
          <a:p>
            <a:pPr algn="l">
              <a:buNone/>
              <a:defRPr sz="2100" b="0">
                <a:solidFill>
                  <a:srgbClr val="111111"/>
                </a:solidFill>
                <a:latin typeface="Aptos"/>
                <a:ea typeface="Aptos"/>
                <a:cs typeface="Aptos"/>
              </a:defRPr>
            </a:pPr>
            <a:r>
              <a:rPr sz="2100" b="0">
                <a:solidFill>
                  <a:srgbClr val="111111"/>
                </a:solidFill>
                <a:latin typeface="Aptos"/>
                <a:ea typeface="Aptos"/>
                <a:cs typeface="Aptos"/>
              </a:rPr>
              <a:t>Discuss your reason before the answer appears.</a:t>
            </a:r>
          </a:p>
        </p:txBody>
      </p:sp>
    </p:spTree>
    <p:extLst>
      <p:ext uri="{BB962C8B-B14F-4D97-AF65-F5344CB8AC3E}">
        <p14:creationId xmlns:p14="http://schemas.microsoft.com/office/powerpoint/2010/main" val="3281361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An estimate for the population</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 sample gives evidence about the wider group.</a:t>
            </a:r>
          </a:p>
        </p:txBody>
      </p:sp>
      <p:sp>
        <p:nvSpPr>
          <p:cNvPr id="4" name="Revised-text-19">
            <a:extLst>
              <a:ext uri="{FF2B5EF4-FFF2-40B4-BE49-F238E27FC236}">
                <a16:creationId xmlns:a16="http://schemas.microsoft.com/office/drawing/2014/main" id="{1EE07FB5-E145-4A61-836C-03C1012D5A28}"/>
              </a:ext>
            </a:extLst>
          </p:cNvPr>
          <p:cNvSpPr>
            <a:spLocks noGrp="1"/>
          </p:cNvSpPr>
          <p:nvPr/>
        </p:nvSpPr>
        <p:spPr>
          <a:xfrm>
            <a:off x="619125" y="3000375"/>
            <a:ext cx="10668000" cy="571500"/>
          </a:xfrm>
          <a:prstGeom prst="rect">
            <a:avLst/>
          </a:prstGeom>
          <a:noFill/>
          <a:ln w="0">
            <a:noFill/>
          </a:ln>
        </p:spPr>
        <p:txBody>
          <a:bodyPr wrap="square" lIns="0" tIns="0" rIns="0" bIns="0" anchor="t">
            <a:noAutofit/>
          </a:bodyPr>
          <a:lstStyle/>
          <a:p>
            <a:pPr algn="l">
              <a:buNone/>
              <a:defRPr sz="2775" b="1">
                <a:solidFill>
                  <a:srgbClr val="111111"/>
                </a:solidFill>
                <a:latin typeface="Aptos"/>
                <a:ea typeface="Aptos"/>
                <a:cs typeface="Aptos"/>
              </a:defRPr>
            </a:pPr>
            <a:r>
              <a:rPr sz="2775" b="1">
                <a:solidFill>
                  <a:srgbClr val="111111"/>
                </a:solidFill>
                <a:latin typeface="Aptos"/>
                <a:ea typeface="Aptos"/>
                <a:cs typeface="Aptos"/>
              </a:rPr>
              <a:t>70% describes the 200 surveyed students.</a:t>
            </a:r>
          </a:p>
        </p:txBody>
      </p:sp>
      <p:sp>
        <p:nvSpPr>
          <p:cNvPr id="5" name="Revised-text-20">
            <a:extLst>
              <a:ext uri="{FF2B5EF4-FFF2-40B4-BE49-F238E27FC236}">
                <a16:creationId xmlns:a16="http://schemas.microsoft.com/office/drawing/2014/main" id="{F5117304-4533-49B8-BD1A-DAC0459DB7BD}"/>
              </a:ext>
            </a:extLst>
          </p:cNvPr>
          <p:cNvSpPr>
            <a:spLocks noGrp="1"/>
          </p:cNvSpPr>
          <p:nvPr/>
        </p:nvSpPr>
        <p:spPr>
          <a:xfrm>
            <a:off x="619125" y="3924300"/>
            <a:ext cx="10763250" cy="1095375"/>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We may use it to estimate the population percentage.</a:t>
            </a:r>
          </a:p>
          <a:p>
            <a:pPr algn="l">
              <a:buNone/>
              <a:defRPr sz="2550" b="0">
                <a:solidFill>
                  <a:srgbClr val="111111"/>
                </a:solidFill>
                <a:latin typeface="Aptos"/>
                <a:ea typeface="Aptos"/>
                <a:cs typeface="Aptos"/>
              </a:defRPr>
            </a:pPr>
            <a:r>
              <a:rPr sz="2550" b="0">
                <a:solidFill>
                  <a:srgbClr val="111111"/>
                </a:solidFill>
                <a:latin typeface="Aptos"/>
                <a:ea typeface="Aptos"/>
                <a:cs typeface="Aptos"/>
              </a:rPr>
              <a:t>The survey does not establish the exact population value.</a:t>
            </a:r>
          </a:p>
        </p:txBody>
      </p:sp>
      <p:sp>
        <p:nvSpPr>
          <p:cNvPr id="6" name="Revised-text-21">
            <a:extLst>
              <a:ext uri="{FF2B5EF4-FFF2-40B4-BE49-F238E27FC236}">
                <a16:creationId xmlns:a16="http://schemas.microsoft.com/office/drawing/2014/main" id="{B612A0E1-98D5-4C70-8D0B-0D60ACA41CF4}"/>
              </a:ext>
            </a:extLst>
          </p:cNvPr>
          <p:cNvSpPr>
            <a:spLocks noGrp="1"/>
          </p:cNvSpPr>
          <p:nvPr/>
        </p:nvSpPr>
        <p:spPr>
          <a:xfrm>
            <a:off x="619125" y="5619750"/>
            <a:ext cx="10858500" cy="476250"/>
          </a:xfrm>
          <a:prstGeom prst="rect">
            <a:avLst/>
          </a:prstGeom>
          <a:noFill/>
          <a:ln w="0">
            <a:noFill/>
          </a:ln>
        </p:spPr>
        <p:txBody>
          <a:bodyPr wrap="square" lIns="0" tIns="0" rIns="0" bIns="0" anchor="t">
            <a:noAutofit/>
          </a:bodyPr>
          <a:lstStyle/>
          <a:p>
            <a:pPr algn="l">
              <a:buNone/>
              <a:defRPr sz="2175" b="0">
                <a:solidFill>
                  <a:srgbClr val="111111"/>
                </a:solidFill>
                <a:latin typeface="Aptos"/>
                <a:ea typeface="Aptos"/>
                <a:cs typeface="Aptos"/>
              </a:defRPr>
            </a:pPr>
            <a:r>
              <a:rPr sz="2175" b="0">
                <a:solidFill>
                  <a:srgbClr val="111111"/>
                </a:solidFill>
                <a:latin typeface="Aptos"/>
                <a:ea typeface="Aptos"/>
                <a:cs typeface="Aptos"/>
              </a:rPr>
              <a:t>Another valid random sample could give a different percentage.</a:t>
            </a:r>
          </a:p>
        </p:txBody>
      </p:sp>
    </p:spTree>
    <p:extLst>
      <p:ext uri="{BB962C8B-B14F-4D97-AF65-F5344CB8AC3E}">
        <p14:creationId xmlns:p14="http://schemas.microsoft.com/office/powerpoint/2010/main" val="3281361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A1: Which group does it describe?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Calculate each percentage, then classify it as a parameter or statistic.</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A1</a:t>
            </a:r>
          </a:p>
        </p:txBody>
      </p:sp>
      <p:sp>
        <p:nvSpPr>
          <p:cNvPr id="9" name="Revised-text-22">
            <a:extLst>
              <a:ext uri="{FF2B5EF4-FFF2-40B4-BE49-F238E27FC236}">
                <a16:creationId xmlns:a16="http://schemas.microsoft.com/office/drawing/2014/main" id="{6CC5A939-0C4F-4CFD-825D-5DAB84BB0D6D}"/>
              </a:ext>
            </a:extLst>
          </p:cNvPr>
          <p:cNvSpPr>
            <a:spLocks noGrp="1"/>
          </p:cNvSpPr>
          <p:nvPr/>
        </p:nvSpPr>
        <p:spPr>
          <a:xfrm>
            <a:off x="619125" y="2809875"/>
            <a:ext cx="10858500" cy="9906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A1.1  A club has 148 members. All reply. 53 prefer Friday.</a:t>
            </a:r>
          </a:p>
          <a:p>
            <a:pPr algn="l">
              <a:buNone/>
              <a:defRPr sz="2325" b="0">
                <a:solidFill>
                  <a:srgbClr val="111111"/>
                </a:solidFill>
                <a:latin typeface="Aptos"/>
                <a:ea typeface="Aptos"/>
                <a:cs typeface="Aptos"/>
              </a:defRPr>
            </a:pPr>
            <a:r>
              <a:rPr sz="2325" b="0">
                <a:solidFill>
                  <a:srgbClr val="111111"/>
                </a:solidFill>
                <a:latin typeface="Aptos"/>
                <a:ea typeface="Aptos"/>
                <a:cs typeface="Aptos"/>
              </a:rPr>
              <a:t>           The research concerns this club only.</a:t>
            </a:r>
          </a:p>
        </p:txBody>
      </p:sp>
      <p:sp>
        <p:nvSpPr>
          <p:cNvPr id="10" name="Revised-text-23">
            <a:extLst>
              <a:ext uri="{FF2B5EF4-FFF2-40B4-BE49-F238E27FC236}">
                <a16:creationId xmlns:a16="http://schemas.microsoft.com/office/drawing/2014/main" id="{FEE02B68-B59D-41C7-9DD0-9397A380D6C1}"/>
              </a:ext>
            </a:extLst>
          </p:cNvPr>
          <p:cNvSpPr>
            <a:spLocks noGrp="1"/>
          </p:cNvSpPr>
          <p:nvPr/>
        </p:nvSpPr>
        <p:spPr>
          <a:xfrm>
            <a:off x="619125" y="3886200"/>
            <a:ext cx="10858500" cy="9906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dirty="0">
                <a:solidFill>
                  <a:srgbClr val="111111"/>
                </a:solidFill>
                <a:latin typeface="Aptos"/>
                <a:ea typeface="Aptos"/>
                <a:cs typeface="Aptos"/>
              </a:rPr>
              <a:t>A1.2  A factory has 1,825 items. It randomly tests 87.</a:t>
            </a:r>
          </a:p>
          <a:p>
            <a:pPr algn="l">
              <a:buNone/>
              <a:defRPr sz="2325" b="0">
                <a:solidFill>
                  <a:srgbClr val="111111"/>
                </a:solidFill>
                <a:latin typeface="Aptos"/>
                <a:ea typeface="Aptos"/>
                <a:cs typeface="Aptos"/>
              </a:defRPr>
            </a:pPr>
            <a:r>
              <a:rPr sz="2325" b="0" dirty="0">
                <a:solidFill>
                  <a:srgbClr val="111111"/>
                </a:solidFill>
                <a:latin typeface="Aptos"/>
                <a:ea typeface="Aptos"/>
                <a:cs typeface="Aptos"/>
              </a:rPr>
              <a:t>           11 fail. The research concerns the </a:t>
            </a:r>
            <a:r>
              <a:rPr lang="en-US" sz="2325" dirty="0">
                <a:solidFill>
                  <a:srgbClr val="111111"/>
                </a:solidFill>
                <a:latin typeface="Aptos"/>
                <a:ea typeface="Aptos"/>
                <a:cs typeface="Aptos"/>
              </a:rPr>
              <a:t>tested</a:t>
            </a:r>
            <a:r>
              <a:rPr sz="2325" b="0" dirty="0">
                <a:solidFill>
                  <a:srgbClr val="111111"/>
                </a:solidFill>
                <a:latin typeface="Aptos"/>
                <a:ea typeface="Aptos"/>
                <a:cs typeface="Aptos"/>
              </a:rPr>
              <a:t> batch.</a:t>
            </a:r>
          </a:p>
        </p:txBody>
      </p:sp>
      <p:sp>
        <p:nvSpPr>
          <p:cNvPr id="11" name="Revised-text-24">
            <a:extLst>
              <a:ext uri="{FF2B5EF4-FFF2-40B4-BE49-F238E27FC236}">
                <a16:creationId xmlns:a16="http://schemas.microsoft.com/office/drawing/2014/main" id="{CB6A6E18-9A8F-499A-83AB-70717ED7A123}"/>
              </a:ext>
            </a:extLst>
          </p:cNvPr>
          <p:cNvSpPr>
            <a:spLocks noGrp="1"/>
          </p:cNvSpPr>
          <p:nvPr/>
        </p:nvSpPr>
        <p:spPr>
          <a:xfrm>
            <a:off x="619125" y="4962525"/>
            <a:ext cx="10858500" cy="9906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dirty="0">
                <a:solidFill>
                  <a:srgbClr val="111111"/>
                </a:solidFill>
                <a:latin typeface="Aptos"/>
                <a:ea typeface="Aptos"/>
                <a:cs typeface="Aptos"/>
              </a:rPr>
              <a:t>A1.3  We now use the same club result to describe the</a:t>
            </a:r>
          </a:p>
          <a:p>
            <a:pPr algn="l">
              <a:buNone/>
              <a:defRPr sz="2325" b="0">
                <a:solidFill>
                  <a:srgbClr val="111111"/>
                </a:solidFill>
                <a:latin typeface="Aptos"/>
                <a:ea typeface="Aptos"/>
                <a:cs typeface="Aptos"/>
              </a:defRPr>
            </a:pPr>
            <a:r>
              <a:rPr sz="2325" b="0" dirty="0">
                <a:solidFill>
                  <a:srgbClr val="111111"/>
                </a:solidFill>
                <a:latin typeface="Aptos"/>
                <a:ea typeface="Aptos"/>
                <a:cs typeface="Aptos"/>
              </a:rPr>
              <a:t>           whole university. Does its classification change? Why?</a:t>
            </a:r>
          </a:p>
        </p:txBody>
      </p:sp>
    </p:spTree>
    <p:extLst>
      <p:ext uri="{BB962C8B-B14F-4D97-AF65-F5344CB8AC3E}">
        <p14:creationId xmlns:p14="http://schemas.microsoft.com/office/powerpoint/2010/main" val="3281361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A1: Answers and reasons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 target population determines the classification.</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A1</a:t>
            </a:r>
          </a:p>
        </p:txBody>
      </p:sp>
      <p:sp>
        <p:nvSpPr>
          <p:cNvPr id="9" name="Revised-text-25">
            <a:extLst>
              <a:ext uri="{FF2B5EF4-FFF2-40B4-BE49-F238E27FC236}">
                <a16:creationId xmlns:a16="http://schemas.microsoft.com/office/drawing/2014/main" id="{4C8DB30E-3569-42F8-95FB-34470C11AE0D}"/>
              </a:ext>
            </a:extLst>
          </p:cNvPr>
          <p:cNvSpPr>
            <a:spLocks noGrp="1"/>
          </p:cNvSpPr>
          <p:nvPr/>
        </p:nvSpPr>
        <p:spPr>
          <a:xfrm>
            <a:off x="619125" y="2781300"/>
            <a:ext cx="5905500" cy="409575"/>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A1.1  All 148 club members</a:t>
            </a:r>
          </a:p>
        </p:txBody>
      </p:sp>
      <p:sp>
        <p:nvSpPr>
          <p:cNvPr id="10" name="Revised-text-26">
            <a:extLst>
              <a:ext uri="{FF2B5EF4-FFF2-40B4-BE49-F238E27FC236}">
                <a16:creationId xmlns:a16="http://schemas.microsoft.com/office/drawing/2014/main" id="{812626B4-1C00-4944-8B43-35B274C75F58}"/>
              </a:ext>
            </a:extLst>
          </p:cNvPr>
          <p:cNvSpPr>
            <a:spLocks noGrp="1"/>
          </p:cNvSpPr>
          <p:nvPr/>
        </p:nvSpPr>
        <p:spPr>
          <a:xfrm>
            <a:off x="619125" y="3333750"/>
            <a:ext cx="971550" cy="390525"/>
          </a:xfrm>
          <a:prstGeom prst="rect">
            <a:avLst/>
          </a:prstGeom>
          <a:noFill/>
          <a:ln w="0">
            <a:noFill/>
          </a:ln>
        </p:spPr>
        <p:txBody>
          <a:bodyPr wrap="square" lIns="0" tIns="0" rIns="0" bIns="0" anchor="t">
            <a:noAutofit/>
          </a:bodyPr>
          <a:lstStyle/>
          <a:p>
            <a:pPr algn="ctr">
              <a:buNone/>
              <a:defRPr sz="2550" b="0">
                <a:solidFill>
                  <a:srgbClr val="111111"/>
                </a:solidFill>
                <a:latin typeface="Aptos"/>
                <a:ea typeface="Aptos"/>
                <a:cs typeface="Aptos"/>
              </a:defRPr>
            </a:pPr>
            <a:r>
              <a:rPr sz="2550" b="0">
                <a:solidFill>
                  <a:srgbClr val="111111"/>
                </a:solidFill>
                <a:latin typeface="Aptos"/>
                <a:ea typeface="Aptos"/>
                <a:cs typeface="Aptos"/>
              </a:rPr>
              <a:t>53</a:t>
            </a:r>
          </a:p>
        </p:txBody>
      </p:sp>
      <p:sp>
        <p:nvSpPr>
          <p:cNvPr id="11" name="Straight Connector 10">
            <a:extLst>
              <a:ext uri="{FF2B5EF4-FFF2-40B4-BE49-F238E27FC236}">
                <a16:creationId xmlns:a16="http://schemas.microsoft.com/office/drawing/2014/main" id="{ECB6F333-5194-4D0B-8F87-100C7B6DDC14}"/>
              </a:ext>
            </a:extLst>
          </p:cNvPr>
          <p:cNvSpPr>
            <a:spLocks noGrp="1"/>
          </p:cNvSpPr>
          <p:nvPr/>
        </p:nvSpPr>
        <p:spPr>
          <a:xfrm>
            <a:off x="619125" y="3714750"/>
            <a:ext cx="971550" cy="0"/>
          </a:xfrm>
          <a:prstGeom prst="line">
            <a:avLst/>
          </a:prstGeom>
          <a:noFill/>
          <a:ln w="15240">
            <a:solidFill>
              <a:srgbClr val="111111"/>
            </a:solidFill>
          </a:ln>
        </p:spPr>
        <p:txBody>
          <a:bodyPr/>
          <a:lstStyle/>
          <a:p>
            <a:endParaRPr lang="en-US"/>
          </a:p>
        </p:txBody>
      </p:sp>
      <p:sp>
        <p:nvSpPr>
          <p:cNvPr id="12" name="Revised-text-27">
            <a:extLst>
              <a:ext uri="{FF2B5EF4-FFF2-40B4-BE49-F238E27FC236}">
                <a16:creationId xmlns:a16="http://schemas.microsoft.com/office/drawing/2014/main" id="{6DEEEB16-DFB5-4256-A510-D5324124C5B0}"/>
              </a:ext>
            </a:extLst>
          </p:cNvPr>
          <p:cNvSpPr>
            <a:spLocks noGrp="1"/>
          </p:cNvSpPr>
          <p:nvPr/>
        </p:nvSpPr>
        <p:spPr>
          <a:xfrm>
            <a:off x="619125" y="3762375"/>
            <a:ext cx="971550" cy="409575"/>
          </a:xfrm>
          <a:prstGeom prst="rect">
            <a:avLst/>
          </a:prstGeom>
          <a:noFill/>
          <a:ln w="0">
            <a:noFill/>
          </a:ln>
        </p:spPr>
        <p:txBody>
          <a:bodyPr wrap="square" lIns="0" tIns="0" rIns="0" bIns="0" anchor="t">
            <a:noAutofit/>
          </a:bodyPr>
          <a:lstStyle/>
          <a:p>
            <a:pPr algn="ctr">
              <a:buNone/>
              <a:defRPr sz="2550" b="0">
                <a:solidFill>
                  <a:srgbClr val="111111"/>
                </a:solidFill>
                <a:latin typeface="Aptos"/>
                <a:ea typeface="Aptos"/>
                <a:cs typeface="Aptos"/>
              </a:defRPr>
            </a:pPr>
            <a:r>
              <a:rPr sz="2550" b="0">
                <a:solidFill>
                  <a:srgbClr val="111111"/>
                </a:solidFill>
                <a:latin typeface="Aptos"/>
                <a:ea typeface="Aptos"/>
                <a:cs typeface="Aptos"/>
              </a:rPr>
              <a:t>148</a:t>
            </a:r>
          </a:p>
        </p:txBody>
      </p:sp>
      <p:sp>
        <p:nvSpPr>
          <p:cNvPr id="13" name="Revised-text-28">
            <a:extLst>
              <a:ext uri="{FF2B5EF4-FFF2-40B4-BE49-F238E27FC236}">
                <a16:creationId xmlns:a16="http://schemas.microsoft.com/office/drawing/2014/main" id="{29157441-C07A-4914-889A-ADEEF090A109}"/>
              </a:ext>
            </a:extLst>
          </p:cNvPr>
          <p:cNvSpPr>
            <a:spLocks noGrp="1"/>
          </p:cNvSpPr>
          <p:nvPr/>
        </p:nvSpPr>
        <p:spPr>
          <a:xfrm>
            <a:off x="1781175" y="3495675"/>
            <a:ext cx="9791700" cy="561975"/>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 100 ≈ 35.81%</a:t>
            </a:r>
          </a:p>
        </p:txBody>
      </p:sp>
      <p:sp>
        <p:nvSpPr>
          <p:cNvPr id="14" name="Revised-text-29">
            <a:extLst>
              <a:ext uri="{FF2B5EF4-FFF2-40B4-BE49-F238E27FC236}">
                <a16:creationId xmlns:a16="http://schemas.microsoft.com/office/drawing/2014/main" id="{4C8D51B9-DD11-40CB-803B-CB7E4F66DF06}"/>
              </a:ext>
            </a:extLst>
          </p:cNvPr>
          <p:cNvSpPr>
            <a:spLocks noGrp="1"/>
          </p:cNvSpPr>
          <p:nvPr/>
        </p:nvSpPr>
        <p:spPr>
          <a:xfrm>
            <a:off x="7143750" y="3333750"/>
            <a:ext cx="4095750" cy="9048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Parameter</a:t>
            </a:r>
          </a:p>
          <a:p>
            <a:pPr algn="l">
              <a:buNone/>
              <a:defRPr sz="2400" b="1">
                <a:solidFill>
                  <a:srgbClr val="111111"/>
                </a:solidFill>
                <a:latin typeface="Aptos"/>
                <a:ea typeface="Aptos"/>
                <a:cs typeface="Aptos"/>
              </a:defRPr>
            </a:pPr>
            <a:r>
              <a:rPr sz="2400" b="1">
                <a:solidFill>
                  <a:srgbClr val="111111"/>
                </a:solidFill>
                <a:latin typeface="Aptos"/>
                <a:ea typeface="Aptos"/>
                <a:cs typeface="Aptos"/>
              </a:rPr>
              <a:t>The whole club replied.</a:t>
            </a:r>
          </a:p>
        </p:txBody>
      </p:sp>
      <p:sp>
        <p:nvSpPr>
          <p:cNvPr id="15" name="Revised-text-30">
            <a:extLst>
              <a:ext uri="{FF2B5EF4-FFF2-40B4-BE49-F238E27FC236}">
                <a16:creationId xmlns:a16="http://schemas.microsoft.com/office/drawing/2014/main" id="{1AB42E8A-3CC5-424B-A215-AF4A145AE39C}"/>
              </a:ext>
            </a:extLst>
          </p:cNvPr>
          <p:cNvSpPr>
            <a:spLocks noGrp="1"/>
          </p:cNvSpPr>
          <p:nvPr/>
        </p:nvSpPr>
        <p:spPr>
          <a:xfrm>
            <a:off x="619125" y="4524375"/>
            <a:ext cx="5905500" cy="409575"/>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A1.2  The 87 tested items</a:t>
            </a:r>
          </a:p>
        </p:txBody>
      </p:sp>
      <p:sp>
        <p:nvSpPr>
          <p:cNvPr id="16" name="Revised-text-31">
            <a:extLst>
              <a:ext uri="{FF2B5EF4-FFF2-40B4-BE49-F238E27FC236}">
                <a16:creationId xmlns:a16="http://schemas.microsoft.com/office/drawing/2014/main" id="{C2F044CC-F218-451F-A80D-D165EEB6C976}"/>
              </a:ext>
            </a:extLst>
          </p:cNvPr>
          <p:cNvSpPr>
            <a:spLocks noGrp="1"/>
          </p:cNvSpPr>
          <p:nvPr/>
        </p:nvSpPr>
        <p:spPr>
          <a:xfrm>
            <a:off x="619125" y="5000625"/>
            <a:ext cx="971550" cy="390525"/>
          </a:xfrm>
          <a:prstGeom prst="rect">
            <a:avLst/>
          </a:prstGeom>
          <a:noFill/>
          <a:ln w="0">
            <a:noFill/>
          </a:ln>
        </p:spPr>
        <p:txBody>
          <a:bodyPr wrap="square" lIns="0" tIns="0" rIns="0" bIns="0" anchor="t">
            <a:noAutofit/>
          </a:bodyPr>
          <a:lstStyle/>
          <a:p>
            <a:pPr algn="ctr">
              <a:buNone/>
              <a:defRPr sz="2550" b="0">
                <a:solidFill>
                  <a:srgbClr val="111111"/>
                </a:solidFill>
                <a:latin typeface="Aptos"/>
                <a:ea typeface="Aptos"/>
                <a:cs typeface="Aptos"/>
              </a:defRPr>
            </a:pPr>
            <a:r>
              <a:rPr sz="2550" b="0">
                <a:solidFill>
                  <a:srgbClr val="111111"/>
                </a:solidFill>
                <a:latin typeface="Aptos"/>
                <a:ea typeface="Aptos"/>
                <a:cs typeface="Aptos"/>
              </a:rPr>
              <a:t>11</a:t>
            </a:r>
          </a:p>
        </p:txBody>
      </p:sp>
      <p:sp>
        <p:nvSpPr>
          <p:cNvPr id="17" name="Straight Connector 16">
            <a:extLst>
              <a:ext uri="{FF2B5EF4-FFF2-40B4-BE49-F238E27FC236}">
                <a16:creationId xmlns:a16="http://schemas.microsoft.com/office/drawing/2014/main" id="{B7E3C568-A828-4427-ACAA-34A5ECCA0BC3}"/>
              </a:ext>
            </a:extLst>
          </p:cNvPr>
          <p:cNvSpPr>
            <a:spLocks noGrp="1"/>
          </p:cNvSpPr>
          <p:nvPr/>
        </p:nvSpPr>
        <p:spPr>
          <a:xfrm>
            <a:off x="619125" y="5381625"/>
            <a:ext cx="971550" cy="0"/>
          </a:xfrm>
          <a:prstGeom prst="line">
            <a:avLst/>
          </a:prstGeom>
          <a:noFill/>
          <a:ln w="15240">
            <a:solidFill>
              <a:srgbClr val="111111"/>
            </a:solidFill>
          </a:ln>
        </p:spPr>
        <p:txBody>
          <a:bodyPr/>
          <a:lstStyle/>
          <a:p>
            <a:endParaRPr lang="en-US"/>
          </a:p>
        </p:txBody>
      </p:sp>
      <p:sp>
        <p:nvSpPr>
          <p:cNvPr id="18" name="Revised-text-32">
            <a:extLst>
              <a:ext uri="{FF2B5EF4-FFF2-40B4-BE49-F238E27FC236}">
                <a16:creationId xmlns:a16="http://schemas.microsoft.com/office/drawing/2014/main" id="{8032C461-449A-4AF9-9DB3-7201F06590FE}"/>
              </a:ext>
            </a:extLst>
          </p:cNvPr>
          <p:cNvSpPr>
            <a:spLocks noGrp="1"/>
          </p:cNvSpPr>
          <p:nvPr/>
        </p:nvSpPr>
        <p:spPr>
          <a:xfrm>
            <a:off x="619125" y="5429250"/>
            <a:ext cx="971550" cy="409575"/>
          </a:xfrm>
          <a:prstGeom prst="rect">
            <a:avLst/>
          </a:prstGeom>
          <a:noFill/>
          <a:ln w="0">
            <a:noFill/>
          </a:ln>
        </p:spPr>
        <p:txBody>
          <a:bodyPr wrap="square" lIns="0" tIns="0" rIns="0" bIns="0" anchor="t">
            <a:noAutofit/>
          </a:bodyPr>
          <a:lstStyle/>
          <a:p>
            <a:pPr algn="ctr">
              <a:buNone/>
              <a:defRPr sz="2550" b="0">
                <a:solidFill>
                  <a:srgbClr val="111111"/>
                </a:solidFill>
                <a:latin typeface="Aptos"/>
                <a:ea typeface="Aptos"/>
                <a:cs typeface="Aptos"/>
              </a:defRPr>
            </a:pPr>
            <a:r>
              <a:rPr sz="2550" b="0">
                <a:solidFill>
                  <a:srgbClr val="111111"/>
                </a:solidFill>
                <a:latin typeface="Aptos"/>
                <a:ea typeface="Aptos"/>
                <a:cs typeface="Aptos"/>
              </a:rPr>
              <a:t>87</a:t>
            </a:r>
          </a:p>
        </p:txBody>
      </p:sp>
      <p:sp>
        <p:nvSpPr>
          <p:cNvPr id="19" name="Revised-text-33">
            <a:extLst>
              <a:ext uri="{FF2B5EF4-FFF2-40B4-BE49-F238E27FC236}">
                <a16:creationId xmlns:a16="http://schemas.microsoft.com/office/drawing/2014/main" id="{6CB368A6-4EBB-42E2-8F26-0F31A98FF2B9}"/>
              </a:ext>
            </a:extLst>
          </p:cNvPr>
          <p:cNvSpPr>
            <a:spLocks noGrp="1"/>
          </p:cNvSpPr>
          <p:nvPr/>
        </p:nvSpPr>
        <p:spPr>
          <a:xfrm>
            <a:off x="1781175" y="5162550"/>
            <a:ext cx="9791700" cy="561975"/>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 100 ≈ 12.64%</a:t>
            </a:r>
          </a:p>
        </p:txBody>
      </p:sp>
      <p:sp>
        <p:nvSpPr>
          <p:cNvPr id="20" name="Revised-text-34">
            <a:extLst>
              <a:ext uri="{FF2B5EF4-FFF2-40B4-BE49-F238E27FC236}">
                <a16:creationId xmlns:a16="http://schemas.microsoft.com/office/drawing/2014/main" id="{E8ECAB13-1C18-4F41-9F93-2E35CF7E7401}"/>
              </a:ext>
            </a:extLst>
          </p:cNvPr>
          <p:cNvSpPr>
            <a:spLocks noGrp="1"/>
          </p:cNvSpPr>
          <p:nvPr/>
        </p:nvSpPr>
        <p:spPr>
          <a:xfrm>
            <a:off x="7143750" y="5000625"/>
            <a:ext cx="4095750" cy="9048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Statistic</a:t>
            </a:r>
          </a:p>
          <a:p>
            <a:pPr algn="l">
              <a:buNone/>
              <a:defRPr sz="2400" b="1">
                <a:solidFill>
                  <a:srgbClr val="111111"/>
                </a:solidFill>
                <a:latin typeface="Aptos"/>
                <a:ea typeface="Aptos"/>
                <a:cs typeface="Aptos"/>
              </a:defRPr>
            </a:pPr>
            <a:r>
              <a:rPr sz="2400" b="1">
                <a:solidFill>
                  <a:srgbClr val="111111"/>
                </a:solidFill>
                <a:latin typeface="Aptos"/>
                <a:ea typeface="Aptos"/>
                <a:cs typeface="Aptos"/>
              </a:rPr>
              <a:t>Only part of the batch.</a:t>
            </a:r>
          </a:p>
        </p:txBody>
      </p:sp>
    </p:spTree>
    <p:extLst>
      <p:ext uri="{BB962C8B-B14F-4D97-AF65-F5344CB8AC3E}">
        <p14:creationId xmlns:p14="http://schemas.microsoft.com/office/powerpoint/2010/main" val="3281361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A1.3: The research question changes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 same 35.81% can play a different role.</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A1</a:t>
            </a:r>
          </a:p>
        </p:txBody>
      </p:sp>
      <p:graphicFrame>
        <p:nvGraphicFramePr>
          <p:cNvPr id="15" name="Table 14"/>
          <p:cNvGraphicFramePr/>
          <p:nvPr/>
        </p:nvGraphicFramePr>
        <p:xfrm>
          <a:off x="571500" y="3000375"/>
          <a:ext cx="11049000" cy="2143125"/>
        </p:xfrm>
        <a:graphic>
          <a:graphicData uri="http://schemas.openxmlformats.org/drawingml/2006/table">
            <a:tbl>
              <a:tblPr/>
              <a:tblGrid>
                <a:gridCol w="4429125">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tblGrid>
              <a:tr h="714375">
                <a:tc>
                  <a:txBody>
                    <a:bodyPr/>
                    <a:lstStyle/>
                    <a:p>
                      <a:r>
                        <a:rPr sz="2250" b="1">
                          <a:solidFill>
                            <a:srgbClr val="FFFFFF"/>
                          </a:solidFill>
                          <a:latin typeface="Aptos"/>
                          <a:ea typeface="Aptos"/>
                          <a:cs typeface="Aptos"/>
                        </a:rPr>
                        <a:t>Research concerns…</a:t>
                      </a:r>
                    </a:p>
                  </a:txBody>
                  <a:tcPr marL="95250" marR="95250" marT="28575" marB="28575" anchor="ctr">
                    <a:solidFill>
                      <a:srgbClr val="D6171D"/>
                    </a:solidFill>
                  </a:tcPr>
                </a:tc>
                <a:tc>
                  <a:txBody>
                    <a:bodyPr/>
                    <a:lstStyle/>
                    <a:p>
                      <a:r>
                        <a:rPr sz="2250" b="1">
                          <a:solidFill>
                            <a:srgbClr val="FFFFFF"/>
                          </a:solidFill>
                          <a:latin typeface="Aptos"/>
                          <a:ea typeface="Aptos"/>
                          <a:cs typeface="Aptos"/>
                        </a:rPr>
                        <a:t>The 148 members are…</a:t>
                      </a:r>
                    </a:p>
                  </a:txBody>
                  <a:tcPr marL="95250" marR="95250" marT="28575" marB="28575" anchor="ctr">
                    <a:solidFill>
                      <a:srgbClr val="D6171D"/>
                    </a:solidFill>
                  </a:tcPr>
                </a:tc>
                <a:tc>
                  <a:txBody>
                    <a:bodyPr/>
                    <a:lstStyle/>
                    <a:p>
                      <a:r>
                        <a:rPr sz="2250" b="1">
                          <a:solidFill>
                            <a:srgbClr val="FFFFFF"/>
                          </a:solidFill>
                          <a:latin typeface="Aptos"/>
                          <a:ea typeface="Aptos"/>
                          <a:cs typeface="Aptos"/>
                        </a:rPr>
                        <a:t>35.81% is a…</a:t>
                      </a:r>
                    </a:p>
                  </a:txBody>
                  <a:tcPr marL="95250" marR="95250" marT="28575" marB="28575" anchor="ctr">
                    <a:solidFill>
                      <a:srgbClr val="D6171D"/>
                    </a:solidFill>
                  </a:tcPr>
                </a:tc>
                <a:extLst>
                  <a:ext uri="{0D108BD9-81ED-4DB2-BD59-A6C34878D82A}">
                    <a16:rowId xmlns:a16="http://schemas.microsoft.com/office/drawing/2014/main" val="10000"/>
                  </a:ext>
                </a:extLst>
              </a:tr>
              <a:tr h="714375">
                <a:tc>
                  <a:txBody>
                    <a:bodyPr/>
                    <a:lstStyle/>
                    <a:p>
                      <a:r>
                        <a:rPr sz="2250" b="0">
                          <a:solidFill>
                            <a:srgbClr val="111111"/>
                          </a:solidFill>
                          <a:latin typeface="Aptos"/>
                          <a:ea typeface="Aptos"/>
                          <a:cs typeface="Aptos"/>
                        </a:rPr>
                        <a:t>This club only</a:t>
                      </a:r>
                    </a:p>
                  </a:txBody>
                  <a:tcPr marL="95250" marR="95250" marT="28575" marB="28575" anchor="ctr">
                    <a:solidFill>
                      <a:srgbClr val="FFFFFF"/>
                    </a:solidFill>
                  </a:tcPr>
                </a:tc>
                <a:tc>
                  <a:txBody>
                    <a:bodyPr/>
                    <a:lstStyle/>
                    <a:p>
                      <a:r>
                        <a:rPr sz="2250" b="0">
                          <a:solidFill>
                            <a:srgbClr val="111111"/>
                          </a:solidFill>
                          <a:latin typeface="Aptos"/>
                          <a:ea typeface="Aptos"/>
                          <a:cs typeface="Aptos"/>
                        </a:rPr>
                        <a:t>The population</a:t>
                      </a:r>
                    </a:p>
                  </a:txBody>
                  <a:tcPr marL="95250" marR="95250" marT="28575" marB="28575" anchor="ctr">
                    <a:solidFill>
                      <a:srgbClr val="FFFFFF"/>
                    </a:solidFill>
                  </a:tcPr>
                </a:tc>
                <a:tc>
                  <a:txBody>
                    <a:bodyPr/>
                    <a:lstStyle/>
                    <a:p>
                      <a:r>
                        <a:rPr sz="2250" b="0">
                          <a:solidFill>
                            <a:srgbClr val="111111"/>
                          </a:solidFill>
                          <a:latin typeface="Aptos"/>
                          <a:ea typeface="Aptos"/>
                          <a:cs typeface="Aptos"/>
                        </a:rPr>
                        <a:t>Parameter</a:t>
                      </a:r>
                    </a:p>
                  </a:txBody>
                  <a:tcPr marL="95250" marR="95250" marT="28575" marB="28575" anchor="ctr">
                    <a:solidFill>
                      <a:srgbClr val="FFFFFF"/>
                    </a:solidFill>
                  </a:tcPr>
                </a:tc>
                <a:extLst>
                  <a:ext uri="{0D108BD9-81ED-4DB2-BD59-A6C34878D82A}">
                    <a16:rowId xmlns:a16="http://schemas.microsoft.com/office/drawing/2014/main" val="10001"/>
                  </a:ext>
                </a:extLst>
              </a:tr>
              <a:tr h="714375">
                <a:tc>
                  <a:txBody>
                    <a:bodyPr/>
                    <a:lstStyle/>
                    <a:p>
                      <a:r>
                        <a:rPr sz="2250" b="0">
                          <a:solidFill>
                            <a:srgbClr val="111111"/>
                          </a:solidFill>
                          <a:latin typeface="Aptos"/>
                          <a:ea typeface="Aptos"/>
                          <a:cs typeface="Aptos"/>
                        </a:rPr>
                        <a:t>The whole university</a:t>
                      </a:r>
                    </a:p>
                  </a:txBody>
                  <a:tcPr marL="95250" marR="95250" marT="28575" marB="28575" anchor="ctr">
                    <a:solidFill>
                      <a:srgbClr val="EEF7FC"/>
                    </a:solidFill>
                  </a:tcPr>
                </a:tc>
                <a:tc>
                  <a:txBody>
                    <a:bodyPr/>
                    <a:lstStyle/>
                    <a:p>
                      <a:r>
                        <a:rPr sz="2250" b="0">
                          <a:solidFill>
                            <a:srgbClr val="111111"/>
                          </a:solidFill>
                          <a:latin typeface="Aptos"/>
                          <a:ea typeface="Aptos"/>
                          <a:cs typeface="Aptos"/>
                        </a:rPr>
                        <a:t>A sample</a:t>
                      </a:r>
                    </a:p>
                  </a:txBody>
                  <a:tcPr marL="95250" marR="95250" marT="28575" marB="28575" anchor="ctr">
                    <a:solidFill>
                      <a:srgbClr val="EEF7FC"/>
                    </a:solidFill>
                  </a:tcPr>
                </a:tc>
                <a:tc>
                  <a:txBody>
                    <a:bodyPr/>
                    <a:lstStyle/>
                    <a:p>
                      <a:r>
                        <a:rPr sz="2250" b="0">
                          <a:solidFill>
                            <a:srgbClr val="111111"/>
                          </a:solidFill>
                          <a:latin typeface="Aptos"/>
                          <a:ea typeface="Aptos"/>
                          <a:cs typeface="Aptos"/>
                        </a:rPr>
                        <a:t>Statistic</a:t>
                      </a:r>
                    </a:p>
                  </a:txBody>
                  <a:tcPr marL="95250" marR="95250" marT="28575" marB="28575" anchor="ctr">
                    <a:solidFill>
                      <a:srgbClr val="EEF7FC"/>
                    </a:solidFill>
                  </a:tcPr>
                </a:tc>
                <a:extLst>
                  <a:ext uri="{0D108BD9-81ED-4DB2-BD59-A6C34878D82A}">
                    <a16:rowId xmlns:a16="http://schemas.microsoft.com/office/drawing/2014/main" val="10002"/>
                  </a:ext>
                </a:extLst>
              </a:tr>
            </a:tbl>
          </a:graphicData>
        </a:graphic>
      </p:graphicFrame>
      <p:sp>
        <p:nvSpPr>
          <p:cNvPr id="10" name="Revised-text-35">
            <a:extLst>
              <a:ext uri="{FF2B5EF4-FFF2-40B4-BE49-F238E27FC236}">
                <a16:creationId xmlns:a16="http://schemas.microsoft.com/office/drawing/2014/main" id="{B7D144CE-255E-44A5-8B12-79E5F617E0F6}"/>
              </a:ext>
            </a:extLst>
          </p:cNvPr>
          <p:cNvSpPr>
            <a:spLocks noGrp="1"/>
          </p:cNvSpPr>
          <p:nvPr/>
        </p:nvSpPr>
        <p:spPr>
          <a:xfrm>
            <a:off x="619125" y="5524500"/>
            <a:ext cx="10858500" cy="523875"/>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The number stays the same. The target population changes.</a:t>
            </a:r>
          </a:p>
        </p:txBody>
      </p:sp>
    </p:spTree>
    <p:extLst>
      <p:ext uri="{BB962C8B-B14F-4D97-AF65-F5344CB8AC3E}">
        <p14:creationId xmlns:p14="http://schemas.microsoft.com/office/powerpoint/2010/main" val="3281361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A1.4: What do we actually know?</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A factory has 1,825 items. It randomly tests 87; 11 fail.</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A1</a:t>
            </a:r>
          </a:p>
        </p:txBody>
      </p:sp>
      <p:sp>
        <p:nvSpPr>
          <p:cNvPr id="9" name="VisualRevision-4">
            <a:extLst>
              <a:ext uri="{FF2B5EF4-FFF2-40B4-BE49-F238E27FC236}">
                <a16:creationId xmlns:a16="http://schemas.microsoft.com/office/drawing/2014/main" id="{215484BC-82BC-4812-A39B-B4E2241F4AF1}"/>
              </a:ext>
            </a:extLst>
          </p:cNvPr>
          <p:cNvSpPr>
            <a:spLocks noGrp="1"/>
          </p:cNvSpPr>
          <p:nvPr/>
        </p:nvSpPr>
        <p:spPr>
          <a:xfrm>
            <a:off x="619125" y="2857500"/>
            <a:ext cx="10858500" cy="51435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The remaining items have not been inspected.</a:t>
            </a:r>
          </a:p>
        </p:txBody>
      </p:sp>
      <p:sp>
        <p:nvSpPr>
          <p:cNvPr id="10" name="VisualRevision-5">
            <a:extLst>
              <a:ext uri="{FF2B5EF4-FFF2-40B4-BE49-F238E27FC236}">
                <a16:creationId xmlns:a16="http://schemas.microsoft.com/office/drawing/2014/main" id="{98E7FC5D-A033-4F5D-9708-7A31AB10FCD5}"/>
              </a:ext>
            </a:extLst>
          </p:cNvPr>
          <p:cNvSpPr>
            <a:spLocks noGrp="1"/>
          </p:cNvSpPr>
          <p:nvPr/>
        </p:nvSpPr>
        <p:spPr>
          <a:xfrm>
            <a:off x="619125" y="3638550"/>
            <a:ext cx="10858500" cy="8763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(a) What is the smallest possible number of faulty items</a:t>
            </a:r>
          </a:p>
          <a:p>
            <a:pPr algn="l">
              <a:defRPr sz="2325" b="0">
                <a:solidFill>
                  <a:srgbClr val="111111"/>
                </a:solidFill>
                <a:latin typeface="Aptos"/>
                <a:ea typeface="Aptos"/>
                <a:cs typeface="Aptos"/>
              </a:defRPr>
            </a:pPr>
            <a:r>
              <a:rPr sz="2325" b="0">
                <a:solidFill>
                  <a:srgbClr val="111111"/>
                </a:solidFill>
                <a:latin typeface="Aptos"/>
                <a:ea typeface="Aptos"/>
                <a:cs typeface="Aptos"/>
              </a:rPr>
              <a:t>      in the whole batch?</a:t>
            </a:r>
          </a:p>
        </p:txBody>
      </p:sp>
      <p:sp>
        <p:nvSpPr>
          <p:cNvPr id="11" name="VisualRevision-6">
            <a:extLst>
              <a:ext uri="{FF2B5EF4-FFF2-40B4-BE49-F238E27FC236}">
                <a16:creationId xmlns:a16="http://schemas.microsoft.com/office/drawing/2014/main" id="{5CFA7E17-0F1E-4484-8F99-2176192DA0A2}"/>
              </a:ext>
            </a:extLst>
          </p:cNvPr>
          <p:cNvSpPr>
            <a:spLocks noGrp="1"/>
          </p:cNvSpPr>
          <p:nvPr/>
        </p:nvSpPr>
        <p:spPr>
          <a:xfrm>
            <a:off x="619125" y="4752975"/>
            <a:ext cx="10858500" cy="9334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(b) What is the largest possible number?</a:t>
            </a:r>
          </a:p>
          <a:p>
            <a:pPr algn="l">
              <a:defRPr sz="2325" b="0">
                <a:solidFill>
                  <a:srgbClr val="111111"/>
                </a:solidFill>
                <a:latin typeface="Aptos"/>
                <a:ea typeface="Aptos"/>
                <a:cs typeface="Aptos"/>
              </a:defRPr>
            </a:pPr>
            <a:r>
              <a:rPr sz="2325" b="0">
                <a:solidFill>
                  <a:srgbClr val="111111"/>
                </a:solidFill>
                <a:latin typeface="Aptos"/>
                <a:ea typeface="Aptos"/>
                <a:cs typeface="Aptos"/>
              </a:rPr>
              <a:t>      Explain what must be true of the uninspected items.</a:t>
            </a:r>
          </a:p>
        </p:txBody>
      </p:sp>
    </p:spTree>
    <p:extLst>
      <p:ext uri="{BB962C8B-B14F-4D97-AF65-F5344CB8AC3E}">
        <p14:creationId xmlns:p14="http://schemas.microsoft.com/office/powerpoint/2010/main" val="3281361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A1.4: The possible limits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There are 1,825 − 87 = 1,738 uninspected items.</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A1</a:t>
            </a:r>
          </a:p>
        </p:txBody>
      </p:sp>
      <p:sp>
        <p:nvSpPr>
          <p:cNvPr id="9" name="VisualRevisionBox-7">
            <a:extLst>
              <a:ext uri="{FF2B5EF4-FFF2-40B4-BE49-F238E27FC236}">
                <a16:creationId xmlns:a16="http://schemas.microsoft.com/office/drawing/2014/main" id="{53E6E74C-8149-41E3-9382-CCF081EA971B}"/>
              </a:ext>
            </a:extLst>
          </p:cNvPr>
          <p:cNvSpPr>
            <a:spLocks noGrp="1"/>
          </p:cNvSpPr>
          <p:nvPr/>
        </p:nvSpPr>
        <p:spPr>
          <a:xfrm>
            <a:off x="619125" y="2933700"/>
            <a:ext cx="5210175" cy="1905000"/>
          </a:xfrm>
          <a:prstGeom prst="rect">
            <a:avLst/>
          </a:prstGeom>
          <a:solidFill>
            <a:srgbClr val="FFFFFF"/>
          </a:solidFill>
          <a:ln w="14288">
            <a:solidFill>
              <a:srgbClr val="A9BEC9"/>
            </a:solidFill>
          </a:ln>
        </p:spPr>
        <p:txBody>
          <a:bodyPr/>
          <a:lstStyle/>
          <a:p>
            <a:endParaRPr lang="en-US"/>
          </a:p>
        </p:txBody>
      </p:sp>
      <p:sp>
        <p:nvSpPr>
          <p:cNvPr id="10" name="VisualRevisionBox-8">
            <a:extLst>
              <a:ext uri="{FF2B5EF4-FFF2-40B4-BE49-F238E27FC236}">
                <a16:creationId xmlns:a16="http://schemas.microsoft.com/office/drawing/2014/main" id="{E466A65A-3C14-4F12-9030-9825B6A4D34D}"/>
              </a:ext>
            </a:extLst>
          </p:cNvPr>
          <p:cNvSpPr>
            <a:spLocks noGrp="1"/>
          </p:cNvSpPr>
          <p:nvPr/>
        </p:nvSpPr>
        <p:spPr>
          <a:xfrm>
            <a:off x="6115050" y="2933700"/>
            <a:ext cx="5410200" cy="1905000"/>
          </a:xfrm>
          <a:prstGeom prst="rect">
            <a:avLst/>
          </a:prstGeom>
          <a:solidFill>
            <a:srgbClr val="FFFFFF"/>
          </a:solidFill>
          <a:ln w="14288">
            <a:solidFill>
              <a:srgbClr val="A9BEC9"/>
            </a:solidFill>
          </a:ln>
        </p:spPr>
        <p:txBody>
          <a:bodyPr/>
          <a:lstStyle/>
          <a:p>
            <a:endParaRPr lang="en-US"/>
          </a:p>
        </p:txBody>
      </p:sp>
      <p:sp>
        <p:nvSpPr>
          <p:cNvPr id="11" name="VisualRevision-9">
            <a:extLst>
              <a:ext uri="{FF2B5EF4-FFF2-40B4-BE49-F238E27FC236}">
                <a16:creationId xmlns:a16="http://schemas.microsoft.com/office/drawing/2014/main" id="{DA213F92-04B2-4640-AC10-E18078103D8A}"/>
              </a:ext>
            </a:extLst>
          </p:cNvPr>
          <p:cNvSpPr>
            <a:spLocks noGrp="1"/>
          </p:cNvSpPr>
          <p:nvPr/>
        </p:nvSpPr>
        <p:spPr>
          <a:xfrm>
            <a:off x="809625" y="3143250"/>
            <a:ext cx="4857750" cy="495300"/>
          </a:xfrm>
          <a:prstGeom prst="rect">
            <a:avLst/>
          </a:prstGeom>
          <a:noFill/>
          <a:ln w="0">
            <a:noFill/>
          </a:ln>
        </p:spPr>
        <p:txBody>
          <a:bodyPr wrap="square" lIns="0" tIns="0" rIns="0" bIns="0" anchor="t">
            <a:noAutofit/>
          </a:bodyPr>
          <a:lstStyle/>
          <a:p>
            <a:pPr algn="l">
              <a:defRPr sz="2550" b="1">
                <a:solidFill>
                  <a:srgbClr val="111111"/>
                </a:solidFill>
                <a:latin typeface="Aptos"/>
                <a:ea typeface="Aptos"/>
                <a:cs typeface="Aptos"/>
              </a:defRPr>
            </a:pPr>
            <a:r>
              <a:rPr sz="2550" b="1">
                <a:solidFill>
                  <a:srgbClr val="111111"/>
                </a:solidFill>
                <a:latin typeface="Aptos"/>
                <a:ea typeface="Aptos"/>
                <a:cs typeface="Aptos"/>
              </a:rPr>
              <a:t>Smallest possible: 11</a:t>
            </a:r>
          </a:p>
        </p:txBody>
      </p:sp>
      <p:sp>
        <p:nvSpPr>
          <p:cNvPr id="12" name="VisualRevision-10">
            <a:extLst>
              <a:ext uri="{FF2B5EF4-FFF2-40B4-BE49-F238E27FC236}">
                <a16:creationId xmlns:a16="http://schemas.microsoft.com/office/drawing/2014/main" id="{3B18D4E4-5DB0-4CB5-9E33-45B5097EC43C}"/>
              </a:ext>
            </a:extLst>
          </p:cNvPr>
          <p:cNvSpPr>
            <a:spLocks noGrp="1"/>
          </p:cNvSpPr>
          <p:nvPr/>
        </p:nvSpPr>
        <p:spPr>
          <a:xfrm>
            <a:off x="809625" y="3848100"/>
            <a:ext cx="4857750" cy="83820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All 1,738 uninspected items</a:t>
            </a:r>
          </a:p>
          <a:p>
            <a:pPr algn="l">
              <a:defRPr sz="2175" b="0">
                <a:solidFill>
                  <a:srgbClr val="111111"/>
                </a:solidFill>
                <a:latin typeface="Aptos"/>
                <a:ea typeface="Aptos"/>
                <a:cs typeface="Aptos"/>
              </a:defRPr>
            </a:pPr>
            <a:r>
              <a:rPr sz="2175" b="0">
                <a:solidFill>
                  <a:srgbClr val="111111"/>
                </a:solidFill>
                <a:latin typeface="Aptos"/>
                <a:ea typeface="Aptos"/>
                <a:cs typeface="Aptos"/>
              </a:rPr>
              <a:t>could work.</a:t>
            </a:r>
          </a:p>
        </p:txBody>
      </p:sp>
      <p:sp>
        <p:nvSpPr>
          <p:cNvPr id="13" name="VisualRevision-11">
            <a:extLst>
              <a:ext uri="{FF2B5EF4-FFF2-40B4-BE49-F238E27FC236}">
                <a16:creationId xmlns:a16="http://schemas.microsoft.com/office/drawing/2014/main" id="{56EB73B3-7CEC-40C7-9C63-3215D47F0F29}"/>
              </a:ext>
            </a:extLst>
          </p:cNvPr>
          <p:cNvSpPr>
            <a:spLocks noGrp="1"/>
          </p:cNvSpPr>
          <p:nvPr/>
        </p:nvSpPr>
        <p:spPr>
          <a:xfrm>
            <a:off x="6305550" y="3143250"/>
            <a:ext cx="5048250" cy="495300"/>
          </a:xfrm>
          <a:prstGeom prst="rect">
            <a:avLst/>
          </a:prstGeom>
          <a:noFill/>
          <a:ln w="0">
            <a:noFill/>
          </a:ln>
        </p:spPr>
        <p:txBody>
          <a:bodyPr wrap="square" lIns="0" tIns="0" rIns="0" bIns="0" anchor="t">
            <a:noAutofit/>
          </a:bodyPr>
          <a:lstStyle/>
          <a:p>
            <a:pPr algn="l">
              <a:defRPr sz="2550" b="1">
                <a:solidFill>
                  <a:srgbClr val="111111"/>
                </a:solidFill>
                <a:latin typeface="Aptos"/>
                <a:ea typeface="Aptos"/>
                <a:cs typeface="Aptos"/>
              </a:defRPr>
            </a:pPr>
            <a:r>
              <a:rPr sz="2550" b="1">
                <a:solidFill>
                  <a:srgbClr val="111111"/>
                </a:solidFill>
                <a:latin typeface="Aptos"/>
                <a:ea typeface="Aptos"/>
                <a:cs typeface="Aptos"/>
              </a:rPr>
              <a:t>Largest possible: 1,749</a:t>
            </a:r>
          </a:p>
        </p:txBody>
      </p:sp>
      <p:sp>
        <p:nvSpPr>
          <p:cNvPr id="14" name="VisualRevision-12">
            <a:extLst>
              <a:ext uri="{FF2B5EF4-FFF2-40B4-BE49-F238E27FC236}">
                <a16:creationId xmlns:a16="http://schemas.microsoft.com/office/drawing/2014/main" id="{CA4443BB-5902-4489-902B-14F502F360AA}"/>
              </a:ext>
            </a:extLst>
          </p:cNvPr>
          <p:cNvSpPr>
            <a:spLocks noGrp="1"/>
          </p:cNvSpPr>
          <p:nvPr/>
        </p:nvSpPr>
        <p:spPr>
          <a:xfrm>
            <a:off x="6305550" y="3848100"/>
            <a:ext cx="5048250" cy="83820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All 1,738 could fail:</a:t>
            </a:r>
          </a:p>
          <a:p>
            <a:pPr algn="l">
              <a:defRPr sz="2175" b="0">
                <a:solidFill>
                  <a:srgbClr val="111111"/>
                </a:solidFill>
                <a:latin typeface="Aptos"/>
                <a:ea typeface="Aptos"/>
                <a:cs typeface="Aptos"/>
              </a:defRPr>
            </a:pPr>
            <a:r>
              <a:rPr sz="2175" b="0">
                <a:solidFill>
                  <a:srgbClr val="111111"/>
                </a:solidFill>
                <a:latin typeface="Aptos"/>
                <a:ea typeface="Aptos"/>
                <a:cs typeface="Aptos"/>
              </a:rPr>
              <a:t>11 + 1,738 = 1,749.</a:t>
            </a:r>
          </a:p>
        </p:txBody>
      </p:sp>
      <p:sp>
        <p:nvSpPr>
          <p:cNvPr id="15" name="VisualRevision-13">
            <a:extLst>
              <a:ext uri="{FF2B5EF4-FFF2-40B4-BE49-F238E27FC236}">
                <a16:creationId xmlns:a16="http://schemas.microsoft.com/office/drawing/2014/main" id="{CFFB5A48-1CA1-415B-8C28-DB7C35A52F8E}"/>
              </a:ext>
            </a:extLst>
          </p:cNvPr>
          <p:cNvSpPr>
            <a:spLocks noGrp="1"/>
          </p:cNvSpPr>
          <p:nvPr/>
        </p:nvSpPr>
        <p:spPr>
          <a:xfrm>
            <a:off x="619125" y="5276850"/>
            <a:ext cx="10858500" cy="790575"/>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The sample establishes 11 failures and 76 working items.</a:t>
            </a:r>
          </a:p>
          <a:p>
            <a:pPr algn="l">
              <a:defRPr sz="2325" b="1">
                <a:solidFill>
                  <a:srgbClr val="111111"/>
                </a:solidFill>
                <a:latin typeface="Aptos"/>
                <a:ea typeface="Aptos"/>
                <a:cs typeface="Aptos"/>
              </a:defRPr>
            </a:pPr>
            <a:r>
              <a:rPr sz="2325" b="1">
                <a:solidFill>
                  <a:srgbClr val="111111"/>
                </a:solidFill>
                <a:latin typeface="Aptos"/>
                <a:ea typeface="Aptos"/>
                <a:cs typeface="Aptos"/>
              </a:rPr>
              <a:t>It does not establish the exact total of failures.</a:t>
            </a:r>
          </a:p>
        </p:txBody>
      </p:sp>
    </p:spTree>
    <p:extLst>
      <p:ext uri="{BB962C8B-B14F-4D97-AF65-F5344CB8AC3E}">
        <p14:creationId xmlns:p14="http://schemas.microsoft.com/office/powerpoint/2010/main" val="3281361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Section 2:</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Types of data</a:t>
            </a:r>
          </a:p>
        </p:txBody>
      </p:sp>
    </p:spTree>
    <p:extLst>
      <p:ext uri="{BB962C8B-B14F-4D97-AF65-F5344CB8AC3E}">
        <p14:creationId xmlns:p14="http://schemas.microsoft.com/office/powerpoint/2010/main" val="3281361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What do we record?</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A </a:t>
            </a:r>
            <a:r>
              <a:rPr sz="2325" b="1">
                <a:solidFill>
                  <a:srgbClr val="111111"/>
                </a:solidFill>
                <a:latin typeface="Aptos"/>
                <a:ea typeface="Aptos"/>
                <a:cs typeface="Aptos"/>
              </a:rPr>
              <a:t>variable</a:t>
            </a:r>
            <a:r>
              <a:rPr sz="2325" b="0">
                <a:solidFill>
                  <a:srgbClr val="111111"/>
                </a:solidFill>
                <a:latin typeface="Aptos"/>
                <a:ea typeface="Aptos"/>
                <a:cs typeface="Aptos"/>
              </a:rPr>
              <a:t> is something we record about each student.</a:t>
            </a:r>
          </a:p>
        </p:txBody>
      </p:sp>
      <p:graphicFrame>
        <p:nvGraphicFramePr>
          <p:cNvPr id="9" name="Table 8"/>
          <p:cNvGraphicFramePr/>
          <p:nvPr/>
        </p:nvGraphicFramePr>
        <p:xfrm>
          <a:off x="619125" y="3000375"/>
          <a:ext cx="10953750" cy="2238376"/>
        </p:xfrm>
        <a:graphic>
          <a:graphicData uri="http://schemas.openxmlformats.org/drawingml/2006/table">
            <a:tbl>
              <a:tblPr/>
              <a:tblGrid>
                <a:gridCol w="15240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gridCol w="3524250">
                  <a:extLst>
                    <a:ext uri="{9D8B030D-6E8A-4147-A177-3AD203B41FA5}">
                      <a16:colId xmlns:a16="http://schemas.microsoft.com/office/drawing/2014/main" val="20003"/>
                    </a:ext>
                  </a:extLst>
                </a:gridCol>
              </a:tblGrid>
              <a:tr h="559594">
                <a:tc>
                  <a:txBody>
                    <a:bodyPr/>
                    <a:lstStyle/>
                    <a:p>
                      <a:pPr algn="l">
                        <a:lnSpc>
                          <a:spcPct val="103000"/>
                        </a:lnSpc>
                        <a:spcBef>
                          <a:spcPts val="0"/>
                        </a:spcBef>
                        <a:spcAft>
                          <a:spcPts val="0"/>
                        </a:spcAft>
                        <a:buNone/>
                      </a:pPr>
                      <a:r>
                        <a:rPr sz="2250" b="1">
                          <a:solidFill>
                            <a:srgbClr val="FFFFFF"/>
                          </a:solidFill>
                          <a:latin typeface="Aptos"/>
                          <a:ea typeface="Aptos"/>
                          <a:cs typeface="Aptos"/>
                        </a:rPr>
                        <a:t>Student</a:t>
                      </a:r>
                    </a:p>
                  </a:txBody>
                  <a:tcPr anchor="ctr">
                    <a:solidFill>
                      <a:srgbClr val="D6171D"/>
                    </a:solidFill>
                  </a:tcPr>
                </a:tc>
                <a:tc>
                  <a:txBody>
                    <a:bodyPr/>
                    <a:lstStyle/>
                    <a:p>
                      <a:pPr algn="l">
                        <a:lnSpc>
                          <a:spcPct val="103000"/>
                        </a:lnSpc>
                        <a:spcBef>
                          <a:spcPts val="0"/>
                        </a:spcBef>
                        <a:spcAft>
                          <a:spcPts val="0"/>
                        </a:spcAft>
                        <a:buNone/>
                      </a:pPr>
                      <a:r>
                        <a:rPr sz="2250" b="1">
                          <a:solidFill>
                            <a:srgbClr val="FFFFFF"/>
                          </a:solidFill>
                          <a:latin typeface="Aptos"/>
                          <a:ea typeface="Aptos"/>
                          <a:cs typeface="Aptos"/>
                        </a:rPr>
                        <a:t>Meal choice</a:t>
                      </a:r>
                    </a:p>
                  </a:txBody>
                  <a:tcPr anchor="ctr">
                    <a:solidFill>
                      <a:srgbClr val="D6171D"/>
                    </a:solidFill>
                  </a:tcPr>
                </a:tc>
                <a:tc>
                  <a:txBody>
                    <a:bodyPr/>
                    <a:lstStyle/>
                    <a:p>
                      <a:pPr algn="l">
                        <a:lnSpc>
                          <a:spcPct val="103000"/>
                        </a:lnSpc>
                        <a:spcBef>
                          <a:spcPts val="0"/>
                        </a:spcBef>
                        <a:spcAft>
                          <a:spcPts val="0"/>
                        </a:spcAft>
                        <a:buNone/>
                      </a:pPr>
                      <a:r>
                        <a:rPr sz="2250" b="1">
                          <a:solidFill>
                            <a:srgbClr val="FFFFFF"/>
                          </a:solidFill>
                          <a:latin typeface="Aptos"/>
                          <a:ea typeface="Aptos"/>
                          <a:cs typeface="Aptos"/>
                        </a:rPr>
                        <a:t>Meals per week</a:t>
                      </a:r>
                    </a:p>
                  </a:txBody>
                  <a:tcPr anchor="ctr">
                    <a:solidFill>
                      <a:srgbClr val="D6171D"/>
                    </a:solidFill>
                  </a:tcPr>
                </a:tc>
                <a:tc>
                  <a:txBody>
                    <a:bodyPr/>
                    <a:lstStyle/>
                    <a:p>
                      <a:pPr algn="l">
                        <a:lnSpc>
                          <a:spcPct val="103000"/>
                        </a:lnSpc>
                        <a:spcBef>
                          <a:spcPts val="0"/>
                        </a:spcBef>
                        <a:spcAft>
                          <a:spcPts val="0"/>
                        </a:spcAft>
                        <a:buNone/>
                      </a:pPr>
                      <a:r>
                        <a:rPr sz="2250" b="1">
                          <a:solidFill>
                            <a:srgbClr val="FFFFFF"/>
                          </a:solidFill>
                          <a:latin typeface="Aptos"/>
                          <a:ea typeface="Aptos"/>
                          <a:cs typeface="Aptos"/>
                        </a:rPr>
                        <a:t>Waiting time</a:t>
                      </a:r>
                    </a:p>
                  </a:txBody>
                  <a:tcPr anchor="ctr">
                    <a:solidFill>
                      <a:srgbClr val="D6171D"/>
                    </a:solidFill>
                  </a:tcPr>
                </a:tc>
                <a:extLst>
                  <a:ext uri="{0D108BD9-81ED-4DB2-BD59-A6C34878D82A}">
                    <a16:rowId xmlns:a16="http://schemas.microsoft.com/office/drawing/2014/main" val="10000"/>
                  </a:ext>
                </a:extLst>
              </a:tr>
              <a:tr h="559594">
                <a:tc>
                  <a:txBody>
                    <a:bodyPr/>
                    <a:lstStyle/>
                    <a:p>
                      <a:pPr algn="l">
                        <a:lnSpc>
                          <a:spcPct val="103000"/>
                        </a:lnSpc>
                        <a:spcBef>
                          <a:spcPts val="0"/>
                        </a:spcBef>
                        <a:spcAft>
                          <a:spcPts val="0"/>
                        </a:spcAft>
                        <a:buNone/>
                      </a:pPr>
                      <a:r>
                        <a:rPr sz="2250" b="0">
                          <a:solidFill>
                            <a:srgbClr val="111111"/>
                          </a:solidFill>
                          <a:latin typeface="Aptos"/>
                          <a:ea typeface="Aptos"/>
                          <a:cs typeface="Aptos"/>
                        </a:rPr>
                        <a:t>A</a:t>
                      </a:r>
                    </a:p>
                  </a:txBody>
                  <a:tcPr anchor="ctr">
                    <a:solidFill>
                      <a:srgbClr val="FFFFFF"/>
                    </a:solidFill>
                  </a:tcPr>
                </a:tc>
                <a:tc>
                  <a:txBody>
                    <a:bodyPr/>
                    <a:lstStyle/>
                    <a:p>
                      <a:pPr algn="l">
                        <a:lnSpc>
                          <a:spcPct val="103000"/>
                        </a:lnSpc>
                        <a:spcBef>
                          <a:spcPts val="0"/>
                        </a:spcBef>
                        <a:spcAft>
                          <a:spcPts val="0"/>
                        </a:spcAft>
                        <a:buNone/>
                      </a:pPr>
                      <a:r>
                        <a:rPr sz="2250" b="0">
                          <a:solidFill>
                            <a:srgbClr val="111111"/>
                          </a:solidFill>
                          <a:latin typeface="Aptos"/>
                          <a:ea typeface="Aptos"/>
                          <a:cs typeface="Aptos"/>
                        </a:rPr>
                        <a:t>Noodles</a:t>
                      </a:r>
                    </a:p>
                  </a:txBody>
                  <a:tcPr anchor="ctr">
                    <a:solidFill>
                      <a:srgbClr val="FFFFFF"/>
                    </a:solidFill>
                  </a:tcPr>
                </a:tc>
                <a:tc>
                  <a:txBody>
                    <a:bodyPr/>
                    <a:lstStyle/>
                    <a:p>
                      <a:pPr algn="l">
                        <a:lnSpc>
                          <a:spcPct val="103000"/>
                        </a:lnSpc>
                        <a:spcBef>
                          <a:spcPts val="0"/>
                        </a:spcBef>
                        <a:spcAft>
                          <a:spcPts val="0"/>
                        </a:spcAft>
                        <a:buNone/>
                      </a:pPr>
                      <a:r>
                        <a:rPr sz="2250" b="0">
                          <a:solidFill>
                            <a:srgbClr val="111111"/>
                          </a:solidFill>
                          <a:latin typeface="Aptos"/>
                          <a:ea typeface="Aptos"/>
                          <a:cs typeface="Aptos"/>
                        </a:rPr>
                        <a:t>3</a:t>
                      </a:r>
                    </a:p>
                  </a:txBody>
                  <a:tcPr anchor="ctr">
                    <a:solidFill>
                      <a:srgbClr val="FFFFFF"/>
                    </a:solidFill>
                  </a:tcPr>
                </a:tc>
                <a:tc>
                  <a:txBody>
                    <a:bodyPr/>
                    <a:lstStyle/>
                    <a:p>
                      <a:pPr algn="l">
                        <a:lnSpc>
                          <a:spcPct val="103000"/>
                        </a:lnSpc>
                        <a:spcBef>
                          <a:spcPts val="0"/>
                        </a:spcBef>
                        <a:spcAft>
                          <a:spcPts val="0"/>
                        </a:spcAft>
                        <a:buNone/>
                      </a:pPr>
                      <a:r>
                        <a:rPr sz="2250" b="0">
                          <a:solidFill>
                            <a:srgbClr val="111111"/>
                          </a:solidFill>
                          <a:latin typeface="Aptos"/>
                          <a:ea typeface="Aptos"/>
                          <a:cs typeface="Aptos"/>
                        </a:rPr>
                        <a:t>6.5 minutes</a:t>
                      </a:r>
                    </a:p>
                  </a:txBody>
                  <a:tcPr anchor="ctr">
                    <a:solidFill>
                      <a:srgbClr val="FFFFFF"/>
                    </a:solidFill>
                  </a:tcPr>
                </a:tc>
                <a:extLst>
                  <a:ext uri="{0D108BD9-81ED-4DB2-BD59-A6C34878D82A}">
                    <a16:rowId xmlns:a16="http://schemas.microsoft.com/office/drawing/2014/main" val="10001"/>
                  </a:ext>
                </a:extLst>
              </a:tr>
              <a:tr h="559594">
                <a:tc>
                  <a:txBody>
                    <a:bodyPr/>
                    <a:lstStyle/>
                    <a:p>
                      <a:pPr algn="l">
                        <a:lnSpc>
                          <a:spcPct val="103000"/>
                        </a:lnSpc>
                        <a:spcBef>
                          <a:spcPts val="0"/>
                        </a:spcBef>
                        <a:spcAft>
                          <a:spcPts val="0"/>
                        </a:spcAft>
                        <a:buNone/>
                      </a:pPr>
                      <a:r>
                        <a:rPr sz="2250" b="0">
                          <a:solidFill>
                            <a:srgbClr val="111111"/>
                          </a:solidFill>
                          <a:latin typeface="Aptos"/>
                          <a:ea typeface="Aptos"/>
                          <a:cs typeface="Aptos"/>
                        </a:rPr>
                        <a:t>B</a:t>
                      </a:r>
                    </a:p>
                  </a:txBody>
                  <a:tcPr anchor="ctr">
                    <a:solidFill>
                      <a:srgbClr val="EFF8FF"/>
                    </a:solidFill>
                  </a:tcPr>
                </a:tc>
                <a:tc>
                  <a:txBody>
                    <a:bodyPr/>
                    <a:lstStyle/>
                    <a:p>
                      <a:pPr algn="l">
                        <a:lnSpc>
                          <a:spcPct val="103000"/>
                        </a:lnSpc>
                        <a:spcBef>
                          <a:spcPts val="0"/>
                        </a:spcBef>
                        <a:spcAft>
                          <a:spcPts val="0"/>
                        </a:spcAft>
                        <a:buNone/>
                      </a:pPr>
                      <a:r>
                        <a:rPr sz="2250" b="0">
                          <a:solidFill>
                            <a:srgbClr val="111111"/>
                          </a:solidFill>
                          <a:latin typeface="Aptos"/>
                          <a:ea typeface="Aptos"/>
                          <a:cs typeface="Aptos"/>
                        </a:rPr>
                        <a:t>Rice</a:t>
                      </a:r>
                    </a:p>
                  </a:txBody>
                  <a:tcPr anchor="ctr">
                    <a:solidFill>
                      <a:srgbClr val="EFF8FF"/>
                    </a:solidFill>
                  </a:tcPr>
                </a:tc>
                <a:tc>
                  <a:txBody>
                    <a:bodyPr/>
                    <a:lstStyle/>
                    <a:p>
                      <a:pPr algn="l">
                        <a:lnSpc>
                          <a:spcPct val="103000"/>
                        </a:lnSpc>
                        <a:spcBef>
                          <a:spcPts val="0"/>
                        </a:spcBef>
                        <a:spcAft>
                          <a:spcPts val="0"/>
                        </a:spcAft>
                        <a:buNone/>
                      </a:pPr>
                      <a:r>
                        <a:rPr sz="2250" b="0">
                          <a:solidFill>
                            <a:srgbClr val="111111"/>
                          </a:solidFill>
                          <a:latin typeface="Aptos"/>
                          <a:ea typeface="Aptos"/>
                          <a:cs typeface="Aptos"/>
                        </a:rPr>
                        <a:t>5</a:t>
                      </a:r>
                    </a:p>
                  </a:txBody>
                  <a:tcPr anchor="ctr">
                    <a:solidFill>
                      <a:srgbClr val="EFF8FF"/>
                    </a:solidFill>
                  </a:tcPr>
                </a:tc>
                <a:tc>
                  <a:txBody>
                    <a:bodyPr/>
                    <a:lstStyle/>
                    <a:p>
                      <a:pPr algn="l">
                        <a:lnSpc>
                          <a:spcPct val="103000"/>
                        </a:lnSpc>
                        <a:spcBef>
                          <a:spcPts val="0"/>
                        </a:spcBef>
                        <a:spcAft>
                          <a:spcPts val="0"/>
                        </a:spcAft>
                        <a:buNone/>
                      </a:pPr>
                      <a:r>
                        <a:rPr sz="2250" b="0">
                          <a:solidFill>
                            <a:srgbClr val="111111"/>
                          </a:solidFill>
                          <a:latin typeface="Aptos"/>
                          <a:ea typeface="Aptos"/>
                          <a:cs typeface="Aptos"/>
                        </a:rPr>
                        <a:t>4.2 minutes</a:t>
                      </a:r>
                    </a:p>
                  </a:txBody>
                  <a:tcPr anchor="ctr">
                    <a:solidFill>
                      <a:srgbClr val="EFF8FF"/>
                    </a:solidFill>
                  </a:tcPr>
                </a:tc>
                <a:extLst>
                  <a:ext uri="{0D108BD9-81ED-4DB2-BD59-A6C34878D82A}">
                    <a16:rowId xmlns:a16="http://schemas.microsoft.com/office/drawing/2014/main" val="10002"/>
                  </a:ext>
                </a:extLst>
              </a:tr>
              <a:tr h="559594">
                <a:tc>
                  <a:txBody>
                    <a:bodyPr/>
                    <a:lstStyle/>
                    <a:p>
                      <a:pPr algn="l">
                        <a:lnSpc>
                          <a:spcPct val="103000"/>
                        </a:lnSpc>
                        <a:spcBef>
                          <a:spcPts val="0"/>
                        </a:spcBef>
                        <a:spcAft>
                          <a:spcPts val="0"/>
                        </a:spcAft>
                        <a:buNone/>
                      </a:pPr>
                      <a:r>
                        <a:rPr sz="2250" b="0">
                          <a:solidFill>
                            <a:srgbClr val="111111"/>
                          </a:solidFill>
                          <a:latin typeface="Aptos"/>
                          <a:ea typeface="Aptos"/>
                          <a:cs typeface="Aptos"/>
                        </a:rPr>
                        <a:t>C</a:t>
                      </a:r>
                    </a:p>
                  </a:txBody>
                  <a:tcPr anchor="ctr">
                    <a:solidFill>
                      <a:srgbClr val="FFFFFF"/>
                    </a:solidFill>
                  </a:tcPr>
                </a:tc>
                <a:tc>
                  <a:txBody>
                    <a:bodyPr/>
                    <a:lstStyle/>
                    <a:p>
                      <a:pPr algn="l">
                        <a:lnSpc>
                          <a:spcPct val="103000"/>
                        </a:lnSpc>
                        <a:spcBef>
                          <a:spcPts val="0"/>
                        </a:spcBef>
                        <a:spcAft>
                          <a:spcPts val="0"/>
                        </a:spcAft>
                        <a:buNone/>
                      </a:pPr>
                      <a:r>
                        <a:rPr sz="2250" b="0">
                          <a:solidFill>
                            <a:srgbClr val="111111"/>
                          </a:solidFill>
                          <a:latin typeface="Aptos"/>
                          <a:ea typeface="Aptos"/>
                          <a:cs typeface="Aptos"/>
                        </a:rPr>
                        <a:t>Sandwich</a:t>
                      </a:r>
                    </a:p>
                  </a:txBody>
                  <a:tcPr anchor="ctr">
                    <a:solidFill>
                      <a:srgbClr val="FFFFFF"/>
                    </a:solidFill>
                  </a:tcPr>
                </a:tc>
                <a:tc>
                  <a:txBody>
                    <a:bodyPr/>
                    <a:lstStyle/>
                    <a:p>
                      <a:pPr algn="l">
                        <a:lnSpc>
                          <a:spcPct val="103000"/>
                        </a:lnSpc>
                        <a:spcBef>
                          <a:spcPts val="0"/>
                        </a:spcBef>
                        <a:spcAft>
                          <a:spcPts val="0"/>
                        </a:spcAft>
                        <a:buNone/>
                      </a:pPr>
                      <a:r>
                        <a:rPr sz="2250" b="0">
                          <a:solidFill>
                            <a:srgbClr val="111111"/>
                          </a:solidFill>
                          <a:latin typeface="Aptos"/>
                          <a:ea typeface="Aptos"/>
                          <a:cs typeface="Aptos"/>
                        </a:rPr>
                        <a:t>2</a:t>
                      </a:r>
                    </a:p>
                  </a:txBody>
                  <a:tcPr anchor="ctr">
                    <a:solidFill>
                      <a:srgbClr val="FFFFFF"/>
                    </a:solidFill>
                  </a:tcPr>
                </a:tc>
                <a:tc>
                  <a:txBody>
                    <a:bodyPr/>
                    <a:lstStyle/>
                    <a:p>
                      <a:pPr algn="l">
                        <a:lnSpc>
                          <a:spcPct val="103000"/>
                        </a:lnSpc>
                        <a:spcBef>
                          <a:spcPts val="0"/>
                        </a:spcBef>
                        <a:spcAft>
                          <a:spcPts val="0"/>
                        </a:spcAft>
                        <a:buNone/>
                      </a:pPr>
                      <a:r>
                        <a:rPr sz="2250" b="0">
                          <a:solidFill>
                            <a:srgbClr val="111111"/>
                          </a:solidFill>
                          <a:latin typeface="Aptos"/>
                          <a:ea typeface="Aptos"/>
                          <a:cs typeface="Aptos"/>
                        </a:rPr>
                        <a:t>7.0 minutes</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S18-text-2">
            <a:extLst>
              <a:ext uri="{FF2B5EF4-FFF2-40B4-BE49-F238E27FC236}">
                <a16:creationId xmlns:a16="http://schemas.microsoft.com/office/drawing/2014/main" id="{5583BF7C-6EE7-4E05-831C-A76E0DEA5420}"/>
              </a:ext>
            </a:extLst>
          </p:cNvPr>
          <p:cNvSpPr>
            <a:spLocks noGrp="1"/>
          </p:cNvSpPr>
          <p:nvPr/>
        </p:nvSpPr>
        <p:spPr>
          <a:xfrm>
            <a:off x="619125" y="5514975"/>
            <a:ext cx="10858500" cy="7239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Categorical data are </a:t>
            </a:r>
            <a:r>
              <a:rPr sz="2325" b="1">
                <a:solidFill>
                  <a:srgbClr val="111111"/>
                </a:solidFill>
                <a:latin typeface="Aptos"/>
                <a:ea typeface="Aptos"/>
                <a:cs typeface="Aptos"/>
              </a:rPr>
              <a:t>labels</a:t>
            </a:r>
            <a:r>
              <a:rPr sz="2325" b="0">
                <a:solidFill>
                  <a:srgbClr val="111111"/>
                </a:solidFill>
                <a:latin typeface="Aptos"/>
                <a:ea typeface="Aptos"/>
                <a:cs typeface="Aptos"/>
              </a:rPr>
              <a:t>.</a:t>
            </a:r>
          </a:p>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Quantitative (numerical) data are </a:t>
            </a:r>
            <a:r>
              <a:rPr sz="2325" b="1">
                <a:solidFill>
                  <a:srgbClr val="111111"/>
                </a:solidFill>
                <a:latin typeface="Aptos"/>
                <a:ea typeface="Aptos"/>
                <a:cs typeface="Aptos"/>
              </a:rPr>
              <a:t>counts or measurements</a:t>
            </a:r>
            <a:r>
              <a:rPr sz="2325" b="0">
                <a:solidFill>
                  <a:srgbClr val="111111"/>
                </a:solidFill>
                <a:latin typeface="Aptos"/>
                <a:ea typeface="Aptos"/>
                <a:cs typeface="Aptos"/>
              </a:rPr>
              <a:t>.</a:t>
            </a:r>
          </a:p>
        </p:txBody>
      </p:sp>
    </p:spTree>
    <p:extLst>
      <p:ext uri="{BB962C8B-B14F-4D97-AF65-F5344CB8AC3E}">
        <p14:creationId xmlns:p14="http://schemas.microsoft.com/office/powerpoint/2010/main" val="3281361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Categorical: record a label</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809625"/>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The recorded value identifies a category.</a:t>
            </a:r>
          </a:p>
        </p:txBody>
      </p:sp>
      <p:pic>
        <p:nvPicPr>
          <p:cNvPr id="10" name="Picture 9"/>
          <p:cNvPicPr>
            <a:picLocks noChangeAspect="1"/>
          </p:cNvPicPr>
          <p:nvPr/>
        </p:nvPicPr>
        <p:blipFill>
          <a:blip r:embed="rId3"/>
          <a:srcRect t="7039" b="7039"/>
          <a:stretch>
            <a:fillRect/>
          </a:stretch>
        </p:blipFill>
        <p:spPr>
          <a:xfrm>
            <a:off x="619125" y="2914650"/>
            <a:ext cx="4905375" cy="2809875"/>
          </a:xfrm>
          <a:prstGeom prst="rect">
            <a:avLst/>
          </a:prstGeom>
        </p:spPr>
      </p:pic>
      <p:sp>
        <p:nvSpPr>
          <p:cNvPr id="5" name="VisualRevision-14">
            <a:extLst>
              <a:ext uri="{FF2B5EF4-FFF2-40B4-BE49-F238E27FC236}">
                <a16:creationId xmlns:a16="http://schemas.microsoft.com/office/drawing/2014/main" id="{2025ED8E-3425-4345-90C8-4D1C59BF1A00}"/>
              </a:ext>
            </a:extLst>
          </p:cNvPr>
          <p:cNvSpPr>
            <a:spLocks noGrp="1"/>
          </p:cNvSpPr>
          <p:nvPr/>
        </p:nvSpPr>
        <p:spPr>
          <a:xfrm>
            <a:off x="619125" y="5810250"/>
            <a:ext cx="4905375" cy="371475"/>
          </a:xfrm>
          <a:prstGeom prst="rect">
            <a:avLst/>
          </a:prstGeom>
          <a:noFill/>
          <a:ln w="0">
            <a:noFill/>
          </a:ln>
        </p:spPr>
        <p:txBody>
          <a:bodyPr wrap="square" lIns="0" tIns="0" rIns="0" bIns="0" anchor="t">
            <a:noAutofit/>
          </a:bodyPr>
          <a:lstStyle/>
          <a:p>
            <a:pPr algn="ctr">
              <a:defRPr sz="2025" b="1">
                <a:solidFill>
                  <a:srgbClr val="111111"/>
                </a:solidFill>
                <a:latin typeface="Aptos"/>
                <a:ea typeface="Aptos"/>
                <a:cs typeface="Aptos"/>
              </a:defRPr>
            </a:pPr>
            <a:r>
              <a:rPr sz="2025" b="1">
                <a:solidFill>
                  <a:srgbClr val="111111"/>
                </a:solidFill>
                <a:latin typeface="Aptos"/>
                <a:ea typeface="Aptos"/>
                <a:cs typeface="Aptos"/>
              </a:rPr>
              <a:t>Meal type: salad</a:t>
            </a:r>
          </a:p>
        </p:txBody>
      </p:sp>
      <p:sp>
        <p:nvSpPr>
          <p:cNvPr id="6" name="VisualRevision-15">
            <a:extLst>
              <a:ext uri="{FF2B5EF4-FFF2-40B4-BE49-F238E27FC236}">
                <a16:creationId xmlns:a16="http://schemas.microsoft.com/office/drawing/2014/main" id="{C679C99F-F98F-4BDB-BA84-2EA565006FC7}"/>
              </a:ext>
            </a:extLst>
          </p:cNvPr>
          <p:cNvSpPr>
            <a:spLocks noGrp="1"/>
          </p:cNvSpPr>
          <p:nvPr/>
        </p:nvSpPr>
        <p:spPr>
          <a:xfrm>
            <a:off x="6048375" y="2943225"/>
            <a:ext cx="5476875" cy="962025"/>
          </a:xfrm>
          <a:prstGeom prst="rect">
            <a:avLst/>
          </a:prstGeom>
          <a:noFill/>
          <a:ln w="0">
            <a:noFill/>
          </a:ln>
        </p:spPr>
        <p:txBody>
          <a:bodyPr wrap="square" lIns="0" tIns="0" rIns="0" bIns="0" anchor="t">
            <a:noAutofit/>
          </a:bodyPr>
          <a:lstStyle/>
          <a:p>
            <a:pPr algn="l">
              <a:defRPr sz="2475" b="1">
                <a:solidFill>
                  <a:srgbClr val="111111"/>
                </a:solidFill>
                <a:latin typeface="Aptos"/>
                <a:ea typeface="Aptos"/>
                <a:cs typeface="Aptos"/>
              </a:defRPr>
            </a:pPr>
            <a:r>
              <a:rPr sz="2475" b="1">
                <a:solidFill>
                  <a:srgbClr val="111111"/>
                </a:solidFill>
                <a:latin typeface="Aptos"/>
                <a:ea typeface="Aptos"/>
                <a:cs typeface="Aptos"/>
              </a:rPr>
              <a:t>“Salad” tells us which type.</a:t>
            </a:r>
          </a:p>
          <a:p>
            <a:pPr algn="l">
              <a:defRPr sz="2475" b="1">
                <a:solidFill>
                  <a:srgbClr val="111111"/>
                </a:solidFill>
                <a:latin typeface="Aptos"/>
                <a:ea typeface="Aptos"/>
                <a:cs typeface="Aptos"/>
              </a:defRPr>
            </a:pPr>
            <a:r>
              <a:rPr sz="2475" b="1">
                <a:solidFill>
                  <a:srgbClr val="111111"/>
                </a:solidFill>
                <a:latin typeface="Aptos"/>
                <a:ea typeface="Aptos"/>
                <a:cs typeface="Aptos"/>
              </a:rPr>
              <a:t>It does not tell us how much.</a:t>
            </a:r>
          </a:p>
        </p:txBody>
      </p:sp>
      <p:sp>
        <p:nvSpPr>
          <p:cNvPr id="7" name="VisualRevision-16">
            <a:extLst>
              <a:ext uri="{FF2B5EF4-FFF2-40B4-BE49-F238E27FC236}">
                <a16:creationId xmlns:a16="http://schemas.microsoft.com/office/drawing/2014/main" id="{C50347EB-ED41-472B-A951-D51B33BC65BD}"/>
              </a:ext>
            </a:extLst>
          </p:cNvPr>
          <p:cNvSpPr>
            <a:spLocks noGrp="1"/>
          </p:cNvSpPr>
          <p:nvPr/>
        </p:nvSpPr>
        <p:spPr>
          <a:xfrm>
            <a:off x="6048375" y="4181475"/>
            <a:ext cx="5476875" cy="13620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Other examples:</a:t>
            </a:r>
          </a:p>
          <a:p>
            <a:pPr algn="l">
              <a:defRPr sz="2325" b="0">
                <a:solidFill>
                  <a:srgbClr val="111111"/>
                </a:solidFill>
                <a:latin typeface="Aptos"/>
                <a:ea typeface="Aptos"/>
                <a:cs typeface="Aptos"/>
              </a:defRPr>
            </a:pPr>
            <a:r>
              <a:rPr sz="2325" b="0">
                <a:solidFill>
                  <a:srgbClr val="111111"/>
                </a:solidFill>
                <a:latin typeface="Aptos"/>
                <a:ea typeface="Aptos"/>
                <a:cs typeface="Aptos"/>
              </a:rPr>
              <a:t>Programme of study</a:t>
            </a:r>
          </a:p>
          <a:p>
            <a:pPr algn="l">
              <a:defRPr sz="2325" b="0">
                <a:solidFill>
                  <a:srgbClr val="111111"/>
                </a:solidFill>
                <a:latin typeface="Aptos"/>
                <a:ea typeface="Aptos"/>
                <a:cs typeface="Aptos"/>
              </a:defRPr>
            </a:pPr>
            <a:r>
              <a:rPr sz="2325" b="0">
                <a:solidFill>
                  <a:srgbClr val="111111"/>
                </a:solidFill>
                <a:latin typeface="Aptos"/>
                <a:ea typeface="Aptos"/>
                <a:cs typeface="Aptos"/>
              </a:rPr>
              <a:t>Main transport mode</a:t>
            </a:r>
          </a:p>
        </p:txBody>
      </p:sp>
    </p:spTree>
    <p:extLst>
      <p:ext uri="{BB962C8B-B14F-4D97-AF65-F5344CB8AC3E}">
        <p14:creationId xmlns:p14="http://schemas.microsoft.com/office/powerpoint/2010/main" val="3281361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Discrete: count whole items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1009650"/>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Variable: the number of bicycles parked outside.</a:t>
            </a:r>
          </a:p>
        </p:txBody>
      </p:sp>
      <p:sp>
        <p:nvSpPr>
          <p:cNvPr id="4" name="VisualRevisionBox-17">
            <a:extLst>
              <a:ext uri="{FF2B5EF4-FFF2-40B4-BE49-F238E27FC236}">
                <a16:creationId xmlns:a16="http://schemas.microsoft.com/office/drawing/2014/main" id="{150B65CF-0E63-46B3-BA8D-2FC48C0B99F3}"/>
              </a:ext>
            </a:extLst>
          </p:cNvPr>
          <p:cNvSpPr>
            <a:spLocks noGrp="1"/>
          </p:cNvSpPr>
          <p:nvPr/>
        </p:nvSpPr>
        <p:spPr>
          <a:xfrm>
            <a:off x="619125" y="2886075"/>
            <a:ext cx="6591300" cy="2047875"/>
          </a:xfrm>
          <a:prstGeom prst="rect">
            <a:avLst/>
          </a:prstGeom>
          <a:solidFill>
            <a:srgbClr val="FFFFFF"/>
          </a:solidFill>
          <a:ln w="14288">
            <a:solidFill>
              <a:srgbClr val="A9BEC9"/>
            </a:solidFill>
          </a:ln>
        </p:spPr>
        <p:txBody>
          <a:bodyPr/>
          <a:lstStyle/>
          <a:p>
            <a:endParaRPr lang="en-US"/>
          </a:p>
        </p:txBody>
      </p:sp>
      <p:pic>
        <p:nvPicPr>
          <p:cNvPr id="15" name="Graphic 14"/>
          <p:cNvPicPr>
            <a:picLocks noChangeAspect="1"/>
          </p:cNvPicPr>
          <p:nvPr/>
        </p:nvPicPr>
        <p:blipFill>
          <a:blip r:embed="rId3">
            <a:extLst>
              <a:ext uri="{96DAC541-7B7A-43D3-8B79-37D633B846F1}">
                <asvg:svgBlip xmlns:asvg="http://schemas.microsoft.com/office/drawing/2016/SVG/main" r:embed="rId4"/>
              </a:ext>
            </a:extLst>
          </a:blip>
          <a:stretch/>
        </p:blipFill>
        <p:spPr>
          <a:xfrm>
            <a:off x="904875" y="3124200"/>
            <a:ext cx="1857375" cy="1514475"/>
          </a:xfrm>
          <a:prstGeom prst="rect">
            <a:avLst/>
          </a:prstGeom>
        </p:spPr>
      </p:pic>
      <p:pic>
        <p:nvPicPr>
          <p:cNvPr id="16" name="Graphic 15"/>
          <p:cNvPicPr>
            <a:picLocks noChangeAspect="1"/>
          </p:cNvPicPr>
          <p:nvPr/>
        </p:nvPicPr>
        <p:blipFill>
          <a:blip r:embed="rId3">
            <a:extLst>
              <a:ext uri="{96DAC541-7B7A-43D3-8B79-37D633B846F1}">
                <asvg:svgBlip xmlns:asvg="http://schemas.microsoft.com/office/drawing/2016/SVG/main" r:embed="rId4"/>
              </a:ext>
            </a:extLst>
          </a:blip>
          <a:stretch/>
        </p:blipFill>
        <p:spPr>
          <a:xfrm>
            <a:off x="2971800" y="3124200"/>
            <a:ext cx="1857375" cy="1514475"/>
          </a:xfrm>
          <a:prstGeom prst="rect">
            <a:avLst/>
          </a:prstGeom>
        </p:spPr>
      </p:pic>
      <p:pic>
        <p:nvPicPr>
          <p:cNvPr id="17" name="Graphic 16"/>
          <p:cNvPicPr>
            <a:picLocks noChangeAspect="1"/>
          </p:cNvPicPr>
          <p:nvPr/>
        </p:nvPicPr>
        <p:blipFill>
          <a:blip r:embed="rId3">
            <a:extLst>
              <a:ext uri="{96DAC541-7B7A-43D3-8B79-37D633B846F1}">
                <asvg:svgBlip xmlns:asvg="http://schemas.microsoft.com/office/drawing/2016/SVG/main" r:embed="rId4"/>
              </a:ext>
            </a:extLst>
          </a:blip>
          <a:stretch/>
        </p:blipFill>
        <p:spPr>
          <a:xfrm>
            <a:off x="5038725" y="3124200"/>
            <a:ext cx="1857375" cy="1514475"/>
          </a:xfrm>
          <a:prstGeom prst="rect">
            <a:avLst/>
          </a:prstGeom>
        </p:spPr>
      </p:pic>
      <p:sp>
        <p:nvSpPr>
          <p:cNvPr id="8" name="VisualRevision-18">
            <a:extLst>
              <a:ext uri="{FF2B5EF4-FFF2-40B4-BE49-F238E27FC236}">
                <a16:creationId xmlns:a16="http://schemas.microsoft.com/office/drawing/2014/main" id="{F906CE12-0D26-4034-8670-6185466B9C17}"/>
              </a:ext>
            </a:extLst>
          </p:cNvPr>
          <p:cNvSpPr>
            <a:spLocks noGrp="1"/>
          </p:cNvSpPr>
          <p:nvPr/>
        </p:nvSpPr>
        <p:spPr>
          <a:xfrm>
            <a:off x="7534275" y="3057525"/>
            <a:ext cx="3857625" cy="638175"/>
          </a:xfrm>
          <a:prstGeom prst="rect">
            <a:avLst/>
          </a:prstGeom>
          <a:noFill/>
          <a:ln w="0">
            <a:noFill/>
          </a:ln>
        </p:spPr>
        <p:txBody>
          <a:bodyPr wrap="square" lIns="0" tIns="0" rIns="0" bIns="0" anchor="t">
            <a:noAutofit/>
          </a:bodyPr>
          <a:lstStyle/>
          <a:p>
            <a:pPr algn="l">
              <a:defRPr sz="3450" b="1">
                <a:solidFill>
                  <a:srgbClr val="111111"/>
                </a:solidFill>
                <a:latin typeface="Aptos"/>
                <a:ea typeface="Aptos"/>
                <a:cs typeface="Aptos"/>
              </a:defRPr>
            </a:pPr>
            <a:r>
              <a:rPr sz="3450" b="1">
                <a:solidFill>
                  <a:srgbClr val="111111"/>
                </a:solidFill>
                <a:latin typeface="Aptos"/>
                <a:ea typeface="Aptos"/>
                <a:cs typeface="Aptos"/>
              </a:rPr>
              <a:t>3 bicycles</a:t>
            </a:r>
          </a:p>
        </p:txBody>
      </p:sp>
      <p:sp>
        <p:nvSpPr>
          <p:cNvPr id="9" name="VisualRevision-19">
            <a:extLst>
              <a:ext uri="{FF2B5EF4-FFF2-40B4-BE49-F238E27FC236}">
                <a16:creationId xmlns:a16="http://schemas.microsoft.com/office/drawing/2014/main" id="{DF6CE737-3916-4499-8D99-D6A087225DF7}"/>
              </a:ext>
            </a:extLst>
          </p:cNvPr>
          <p:cNvSpPr>
            <a:spLocks noGrp="1"/>
          </p:cNvSpPr>
          <p:nvPr/>
        </p:nvSpPr>
        <p:spPr>
          <a:xfrm>
            <a:off x="7534275" y="3867150"/>
            <a:ext cx="3857625" cy="11906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We count each bicycle</a:t>
            </a:r>
          </a:p>
          <a:p>
            <a:pPr algn="l">
              <a:defRPr sz="2325" b="0">
                <a:solidFill>
                  <a:srgbClr val="111111"/>
                </a:solidFill>
                <a:latin typeface="Aptos"/>
                <a:ea typeface="Aptos"/>
                <a:cs typeface="Aptos"/>
              </a:defRPr>
            </a:pPr>
            <a:r>
              <a:rPr sz="2325" b="0">
                <a:solidFill>
                  <a:srgbClr val="111111"/>
                </a:solidFill>
                <a:latin typeface="Aptos"/>
                <a:ea typeface="Aptos"/>
                <a:cs typeface="Aptos"/>
              </a:rPr>
              <a:t>once. The recorded</a:t>
            </a:r>
          </a:p>
          <a:p>
            <a:pPr algn="l">
              <a:defRPr sz="2325" b="0">
                <a:solidFill>
                  <a:srgbClr val="111111"/>
                </a:solidFill>
                <a:latin typeface="Aptos"/>
                <a:ea typeface="Aptos"/>
                <a:cs typeface="Aptos"/>
              </a:defRPr>
            </a:pPr>
            <a:r>
              <a:rPr sz="2325" b="0">
                <a:solidFill>
                  <a:srgbClr val="111111"/>
                </a:solidFill>
                <a:latin typeface="Aptos"/>
                <a:ea typeface="Aptos"/>
                <a:cs typeface="Aptos"/>
              </a:rPr>
              <a:t>value is 3.</a:t>
            </a:r>
          </a:p>
        </p:txBody>
      </p:sp>
      <p:sp>
        <p:nvSpPr>
          <p:cNvPr id="10" name="VisualRevision-20">
            <a:extLst>
              <a:ext uri="{FF2B5EF4-FFF2-40B4-BE49-F238E27FC236}">
                <a16:creationId xmlns:a16="http://schemas.microsoft.com/office/drawing/2014/main" id="{1E020216-016E-468F-82F9-8DDA1EAA14DE}"/>
              </a:ext>
            </a:extLst>
          </p:cNvPr>
          <p:cNvSpPr>
            <a:spLocks noGrp="1"/>
          </p:cNvSpPr>
          <p:nvPr/>
        </p:nvSpPr>
        <p:spPr>
          <a:xfrm>
            <a:off x="619125" y="5248275"/>
            <a:ext cx="10858500" cy="457200"/>
          </a:xfrm>
          <a:prstGeom prst="rect">
            <a:avLst/>
          </a:prstGeom>
          <a:noFill/>
          <a:ln w="0">
            <a:noFill/>
          </a:ln>
        </p:spPr>
        <p:txBody>
          <a:bodyPr wrap="square" lIns="0" tIns="0" rIns="0" bIns="0" anchor="t">
            <a:noAutofit/>
          </a:bodyPr>
          <a:lstStyle/>
          <a:p>
            <a:pPr algn="l">
              <a:defRPr sz="2550" b="1">
                <a:solidFill>
                  <a:srgbClr val="111111"/>
                </a:solidFill>
                <a:latin typeface="Aptos"/>
                <a:ea typeface="Aptos"/>
                <a:cs typeface="Aptos"/>
              </a:defRPr>
            </a:pPr>
            <a:r>
              <a:rPr sz="2550" b="1">
                <a:solidFill>
                  <a:srgbClr val="111111"/>
                </a:solidFill>
                <a:latin typeface="Aptos"/>
                <a:ea typeface="Aptos"/>
                <a:cs typeface="Aptos"/>
              </a:rPr>
              <a:t>Possible counts: 0, 1, 2, 3, 4, …</a:t>
            </a:r>
          </a:p>
        </p:txBody>
      </p:sp>
      <p:sp>
        <p:nvSpPr>
          <p:cNvPr id="11" name="VisualRevision-21">
            <a:extLst>
              <a:ext uri="{FF2B5EF4-FFF2-40B4-BE49-F238E27FC236}">
                <a16:creationId xmlns:a16="http://schemas.microsoft.com/office/drawing/2014/main" id="{FDF4661C-0F73-4ABC-B64E-A1D511876DC5}"/>
              </a:ext>
            </a:extLst>
          </p:cNvPr>
          <p:cNvSpPr>
            <a:spLocks noGrp="1"/>
          </p:cNvSpPr>
          <p:nvPr/>
        </p:nvSpPr>
        <p:spPr>
          <a:xfrm>
            <a:off x="619125" y="5819775"/>
            <a:ext cx="10858500" cy="40957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A count can be 3 or 4 bicycles, but not 3.5 bicycles.</a:t>
            </a:r>
          </a:p>
        </p:txBody>
      </p:sp>
    </p:spTree>
    <p:extLst>
      <p:ext uri="{BB962C8B-B14F-4D97-AF65-F5344CB8AC3E}">
        <p14:creationId xmlns:p14="http://schemas.microsoft.com/office/powerpoint/2010/main" val="3281361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Continuous: measure an amount</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1009650"/>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Variable: the time taken to complete a task.</a:t>
            </a:r>
          </a:p>
        </p:txBody>
      </p:sp>
      <p:pic>
        <p:nvPicPr>
          <p:cNvPr id="18" name="Picture 17"/>
          <p:cNvPicPr>
            <a:picLocks noChangeAspect="1"/>
          </p:cNvPicPr>
          <p:nvPr/>
        </p:nvPicPr>
        <p:blipFill>
          <a:blip r:embed="rId3"/>
          <a:srcRect t="6503" b="6503"/>
          <a:stretch>
            <a:fillRect/>
          </a:stretch>
        </p:blipFill>
        <p:spPr>
          <a:xfrm>
            <a:off x="619125" y="2867025"/>
            <a:ext cx="2724150" cy="2962275"/>
          </a:xfrm>
          <a:prstGeom prst="rect">
            <a:avLst/>
          </a:prstGeom>
        </p:spPr>
      </p:pic>
      <p:sp>
        <p:nvSpPr>
          <p:cNvPr id="5" name="VisualRevision-22">
            <a:extLst>
              <a:ext uri="{FF2B5EF4-FFF2-40B4-BE49-F238E27FC236}">
                <a16:creationId xmlns:a16="http://schemas.microsoft.com/office/drawing/2014/main" id="{AF3768E6-7E9F-44B8-A290-B05082879F79}"/>
              </a:ext>
            </a:extLst>
          </p:cNvPr>
          <p:cNvSpPr>
            <a:spLocks noGrp="1"/>
          </p:cNvSpPr>
          <p:nvPr/>
        </p:nvSpPr>
        <p:spPr>
          <a:xfrm>
            <a:off x="3819525" y="2857500"/>
            <a:ext cx="7639050" cy="1009650"/>
          </a:xfrm>
          <a:prstGeom prst="rect">
            <a:avLst/>
          </a:prstGeom>
          <a:noFill/>
          <a:ln w="0">
            <a:noFill/>
          </a:ln>
        </p:spPr>
        <p:txBody>
          <a:bodyPr wrap="square" lIns="0" tIns="0" rIns="0" bIns="0" anchor="t">
            <a:noAutofit/>
          </a:bodyPr>
          <a:lstStyle/>
          <a:p>
            <a:pPr algn="l">
              <a:defRPr sz="2550" b="1">
                <a:solidFill>
                  <a:srgbClr val="111111"/>
                </a:solidFill>
                <a:latin typeface="Aptos"/>
                <a:ea typeface="Aptos"/>
                <a:cs typeface="Aptos"/>
              </a:defRPr>
            </a:pPr>
            <a:r>
              <a:rPr sz="2550" b="1">
                <a:solidFill>
                  <a:srgbClr val="111111"/>
                </a:solidFill>
                <a:latin typeface="Aptos"/>
                <a:ea typeface="Aptos"/>
                <a:cs typeface="Aptos"/>
              </a:rPr>
              <a:t>Time can be 6.2 seconds,</a:t>
            </a:r>
          </a:p>
          <a:p>
            <a:pPr algn="l">
              <a:defRPr sz="2550" b="1">
                <a:solidFill>
                  <a:srgbClr val="111111"/>
                </a:solidFill>
                <a:latin typeface="Aptos"/>
                <a:ea typeface="Aptos"/>
                <a:cs typeface="Aptos"/>
              </a:defRPr>
            </a:pPr>
            <a:r>
              <a:rPr sz="2550" b="1">
                <a:solidFill>
                  <a:srgbClr val="111111"/>
                </a:solidFill>
                <a:latin typeface="Aptos"/>
                <a:ea typeface="Aptos"/>
                <a:cs typeface="Aptos"/>
              </a:rPr>
              <a:t>6.25 seconds or 6.251 seconds.</a:t>
            </a:r>
          </a:p>
        </p:txBody>
      </p:sp>
      <p:sp>
        <p:nvSpPr>
          <p:cNvPr id="6" name="VisualRevision-23">
            <a:extLst>
              <a:ext uri="{FF2B5EF4-FFF2-40B4-BE49-F238E27FC236}">
                <a16:creationId xmlns:a16="http://schemas.microsoft.com/office/drawing/2014/main" id="{A60D74D9-7819-49A5-93D2-5884EE2AE11A}"/>
              </a:ext>
            </a:extLst>
          </p:cNvPr>
          <p:cNvSpPr>
            <a:spLocks noGrp="1"/>
          </p:cNvSpPr>
          <p:nvPr/>
        </p:nvSpPr>
        <p:spPr>
          <a:xfrm>
            <a:off x="3819525" y="4086225"/>
            <a:ext cx="7639050" cy="4953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Values can lie between other values.</a:t>
            </a:r>
          </a:p>
        </p:txBody>
      </p:sp>
      <p:sp>
        <p:nvSpPr>
          <p:cNvPr id="7" name="VisualRevisionBox-24">
            <a:extLst>
              <a:ext uri="{FF2B5EF4-FFF2-40B4-BE49-F238E27FC236}">
                <a16:creationId xmlns:a16="http://schemas.microsoft.com/office/drawing/2014/main" id="{E0DE0CC1-EF48-4071-990C-2BF538591285}"/>
              </a:ext>
            </a:extLst>
          </p:cNvPr>
          <p:cNvSpPr>
            <a:spLocks noGrp="1"/>
          </p:cNvSpPr>
          <p:nvPr/>
        </p:nvSpPr>
        <p:spPr>
          <a:xfrm>
            <a:off x="4143375" y="5010150"/>
            <a:ext cx="6762750" cy="19050"/>
          </a:xfrm>
          <a:prstGeom prst="rect">
            <a:avLst/>
          </a:prstGeom>
          <a:solidFill>
            <a:srgbClr val="111111"/>
          </a:solidFill>
          <a:ln w="14288">
            <a:solidFill>
              <a:srgbClr val="111111"/>
            </a:solidFill>
          </a:ln>
        </p:spPr>
        <p:txBody>
          <a:bodyPr/>
          <a:lstStyle/>
          <a:p>
            <a:endParaRPr lang="en-US"/>
          </a:p>
        </p:txBody>
      </p:sp>
      <p:sp>
        <p:nvSpPr>
          <p:cNvPr id="8" name="VisualRevisionBox-25">
            <a:extLst>
              <a:ext uri="{FF2B5EF4-FFF2-40B4-BE49-F238E27FC236}">
                <a16:creationId xmlns:a16="http://schemas.microsoft.com/office/drawing/2014/main" id="{2BFF40A6-E19C-4ECB-91F9-115E3A3FAB78}"/>
              </a:ext>
            </a:extLst>
          </p:cNvPr>
          <p:cNvSpPr>
            <a:spLocks noGrp="1"/>
          </p:cNvSpPr>
          <p:nvPr/>
        </p:nvSpPr>
        <p:spPr>
          <a:xfrm>
            <a:off x="4143375" y="4914900"/>
            <a:ext cx="14288" cy="219075"/>
          </a:xfrm>
          <a:prstGeom prst="rect">
            <a:avLst/>
          </a:prstGeom>
          <a:solidFill>
            <a:srgbClr val="111111"/>
          </a:solidFill>
          <a:ln w="14288">
            <a:solidFill>
              <a:srgbClr val="111111"/>
            </a:solidFill>
          </a:ln>
        </p:spPr>
        <p:txBody>
          <a:bodyPr/>
          <a:lstStyle/>
          <a:p>
            <a:endParaRPr lang="en-US"/>
          </a:p>
        </p:txBody>
      </p:sp>
      <p:sp>
        <p:nvSpPr>
          <p:cNvPr id="9" name="VisualRevision-26">
            <a:extLst>
              <a:ext uri="{FF2B5EF4-FFF2-40B4-BE49-F238E27FC236}">
                <a16:creationId xmlns:a16="http://schemas.microsoft.com/office/drawing/2014/main" id="{5DE21221-F800-4498-8457-36F581AB9FD1}"/>
              </a:ext>
            </a:extLst>
          </p:cNvPr>
          <p:cNvSpPr>
            <a:spLocks noGrp="1"/>
          </p:cNvSpPr>
          <p:nvPr/>
        </p:nvSpPr>
        <p:spPr>
          <a:xfrm>
            <a:off x="3648075" y="5248275"/>
            <a:ext cx="990600" cy="381000"/>
          </a:xfrm>
          <a:prstGeom prst="rect">
            <a:avLst/>
          </a:prstGeom>
          <a:noFill/>
          <a:ln w="0">
            <a:noFill/>
          </a:ln>
        </p:spPr>
        <p:txBody>
          <a:bodyPr wrap="square" lIns="0" tIns="0" rIns="0" bIns="0" anchor="t">
            <a:noAutofit/>
          </a:bodyPr>
          <a:lstStyle/>
          <a:p>
            <a:pPr algn="ctr">
              <a:defRPr sz="2025" b="0">
                <a:solidFill>
                  <a:srgbClr val="111111"/>
                </a:solidFill>
                <a:latin typeface="Aptos"/>
                <a:ea typeface="Aptos"/>
                <a:cs typeface="Aptos"/>
              </a:defRPr>
            </a:pPr>
            <a:r>
              <a:rPr sz="2025" b="0">
                <a:solidFill>
                  <a:srgbClr val="111111"/>
                </a:solidFill>
                <a:latin typeface="Aptos"/>
                <a:ea typeface="Aptos"/>
                <a:cs typeface="Aptos"/>
              </a:rPr>
              <a:t>6.2</a:t>
            </a:r>
          </a:p>
        </p:txBody>
      </p:sp>
      <p:sp>
        <p:nvSpPr>
          <p:cNvPr id="10" name="VisualRevisionBox-27">
            <a:extLst>
              <a:ext uri="{FF2B5EF4-FFF2-40B4-BE49-F238E27FC236}">
                <a16:creationId xmlns:a16="http://schemas.microsoft.com/office/drawing/2014/main" id="{499D8918-22C4-44BD-92E0-BB217C9222B7}"/>
              </a:ext>
            </a:extLst>
          </p:cNvPr>
          <p:cNvSpPr>
            <a:spLocks noGrp="1"/>
          </p:cNvSpPr>
          <p:nvPr/>
        </p:nvSpPr>
        <p:spPr>
          <a:xfrm>
            <a:off x="7524750" y="4914900"/>
            <a:ext cx="14288" cy="219075"/>
          </a:xfrm>
          <a:prstGeom prst="rect">
            <a:avLst/>
          </a:prstGeom>
          <a:solidFill>
            <a:srgbClr val="111111"/>
          </a:solidFill>
          <a:ln w="14288">
            <a:solidFill>
              <a:srgbClr val="111111"/>
            </a:solidFill>
          </a:ln>
        </p:spPr>
        <p:txBody>
          <a:bodyPr/>
          <a:lstStyle/>
          <a:p>
            <a:endParaRPr lang="en-US"/>
          </a:p>
        </p:txBody>
      </p:sp>
      <p:sp>
        <p:nvSpPr>
          <p:cNvPr id="11" name="VisualRevision-28">
            <a:extLst>
              <a:ext uri="{FF2B5EF4-FFF2-40B4-BE49-F238E27FC236}">
                <a16:creationId xmlns:a16="http://schemas.microsoft.com/office/drawing/2014/main" id="{F5CB8913-754D-4D44-BC13-4AAFD8F4987B}"/>
              </a:ext>
            </a:extLst>
          </p:cNvPr>
          <p:cNvSpPr>
            <a:spLocks noGrp="1"/>
          </p:cNvSpPr>
          <p:nvPr/>
        </p:nvSpPr>
        <p:spPr>
          <a:xfrm>
            <a:off x="7029450" y="5248275"/>
            <a:ext cx="990600" cy="381000"/>
          </a:xfrm>
          <a:prstGeom prst="rect">
            <a:avLst/>
          </a:prstGeom>
          <a:noFill/>
          <a:ln w="0">
            <a:noFill/>
          </a:ln>
        </p:spPr>
        <p:txBody>
          <a:bodyPr wrap="square" lIns="0" tIns="0" rIns="0" bIns="0" anchor="t">
            <a:noAutofit/>
          </a:bodyPr>
          <a:lstStyle/>
          <a:p>
            <a:pPr algn="ctr">
              <a:defRPr sz="2025" b="0">
                <a:solidFill>
                  <a:srgbClr val="111111"/>
                </a:solidFill>
                <a:latin typeface="Aptos"/>
                <a:ea typeface="Aptos"/>
                <a:cs typeface="Aptos"/>
              </a:defRPr>
            </a:pPr>
            <a:r>
              <a:rPr sz="2025" b="0">
                <a:solidFill>
                  <a:srgbClr val="111111"/>
                </a:solidFill>
                <a:latin typeface="Aptos"/>
                <a:ea typeface="Aptos"/>
                <a:cs typeface="Aptos"/>
              </a:rPr>
              <a:t>6.25</a:t>
            </a:r>
          </a:p>
        </p:txBody>
      </p:sp>
      <p:sp>
        <p:nvSpPr>
          <p:cNvPr id="12" name="VisualRevisionBox-29">
            <a:extLst>
              <a:ext uri="{FF2B5EF4-FFF2-40B4-BE49-F238E27FC236}">
                <a16:creationId xmlns:a16="http://schemas.microsoft.com/office/drawing/2014/main" id="{0703D618-F688-43E3-92E0-3A5942B2A46A}"/>
              </a:ext>
            </a:extLst>
          </p:cNvPr>
          <p:cNvSpPr>
            <a:spLocks noGrp="1"/>
          </p:cNvSpPr>
          <p:nvPr/>
        </p:nvSpPr>
        <p:spPr>
          <a:xfrm>
            <a:off x="10906125" y="4914900"/>
            <a:ext cx="14288" cy="219075"/>
          </a:xfrm>
          <a:prstGeom prst="rect">
            <a:avLst/>
          </a:prstGeom>
          <a:solidFill>
            <a:srgbClr val="111111"/>
          </a:solidFill>
          <a:ln w="14288">
            <a:solidFill>
              <a:srgbClr val="111111"/>
            </a:solidFill>
          </a:ln>
        </p:spPr>
        <p:txBody>
          <a:bodyPr/>
          <a:lstStyle/>
          <a:p>
            <a:endParaRPr lang="en-US"/>
          </a:p>
        </p:txBody>
      </p:sp>
      <p:sp>
        <p:nvSpPr>
          <p:cNvPr id="13" name="VisualRevision-30">
            <a:extLst>
              <a:ext uri="{FF2B5EF4-FFF2-40B4-BE49-F238E27FC236}">
                <a16:creationId xmlns:a16="http://schemas.microsoft.com/office/drawing/2014/main" id="{E3E706F6-5618-4E5D-9CDF-2C847E3F71C0}"/>
              </a:ext>
            </a:extLst>
          </p:cNvPr>
          <p:cNvSpPr>
            <a:spLocks noGrp="1"/>
          </p:cNvSpPr>
          <p:nvPr/>
        </p:nvSpPr>
        <p:spPr>
          <a:xfrm>
            <a:off x="10410825" y="5248275"/>
            <a:ext cx="990600" cy="381000"/>
          </a:xfrm>
          <a:prstGeom prst="rect">
            <a:avLst/>
          </a:prstGeom>
          <a:noFill/>
          <a:ln w="0">
            <a:noFill/>
          </a:ln>
        </p:spPr>
        <p:txBody>
          <a:bodyPr wrap="square" lIns="0" tIns="0" rIns="0" bIns="0" anchor="t">
            <a:noAutofit/>
          </a:bodyPr>
          <a:lstStyle/>
          <a:p>
            <a:pPr algn="ctr">
              <a:defRPr sz="2025" b="0">
                <a:solidFill>
                  <a:srgbClr val="111111"/>
                </a:solidFill>
                <a:latin typeface="Aptos"/>
                <a:ea typeface="Aptos"/>
                <a:cs typeface="Aptos"/>
              </a:defRPr>
            </a:pPr>
            <a:r>
              <a:rPr sz="2025" b="0">
                <a:solidFill>
                  <a:srgbClr val="111111"/>
                </a:solidFill>
                <a:latin typeface="Aptos"/>
                <a:ea typeface="Aptos"/>
                <a:cs typeface="Aptos"/>
              </a:rPr>
              <a:t>6.3</a:t>
            </a:r>
          </a:p>
        </p:txBody>
      </p:sp>
      <p:sp>
        <p:nvSpPr>
          <p:cNvPr id="14" name="VisualRevision-31">
            <a:extLst>
              <a:ext uri="{FF2B5EF4-FFF2-40B4-BE49-F238E27FC236}">
                <a16:creationId xmlns:a16="http://schemas.microsoft.com/office/drawing/2014/main" id="{E7094662-B94D-4F3C-B935-C65BED6420B9}"/>
              </a:ext>
            </a:extLst>
          </p:cNvPr>
          <p:cNvSpPr>
            <a:spLocks noGrp="1"/>
          </p:cNvSpPr>
          <p:nvPr/>
        </p:nvSpPr>
        <p:spPr>
          <a:xfrm>
            <a:off x="9286875" y="5724525"/>
            <a:ext cx="1714500" cy="314325"/>
          </a:xfrm>
          <a:prstGeom prst="rect">
            <a:avLst/>
          </a:prstGeom>
          <a:noFill/>
          <a:ln w="0">
            <a:noFill/>
          </a:ln>
        </p:spPr>
        <p:txBody>
          <a:bodyPr wrap="square" lIns="0" tIns="0" rIns="0" bIns="0" anchor="t">
            <a:noAutofit/>
          </a:bodyPr>
          <a:lstStyle/>
          <a:p>
            <a:pPr algn="r">
              <a:defRPr sz="1725" b="0">
                <a:solidFill>
                  <a:srgbClr val="111111"/>
                </a:solidFill>
                <a:latin typeface="Aptos"/>
                <a:ea typeface="Aptos"/>
                <a:cs typeface="Aptos"/>
              </a:defRPr>
            </a:pPr>
            <a:r>
              <a:rPr sz="1725" b="0">
                <a:solidFill>
                  <a:srgbClr val="111111"/>
                </a:solidFill>
                <a:latin typeface="Aptos"/>
                <a:ea typeface="Aptos"/>
                <a:cs typeface="Aptos"/>
              </a:rPr>
              <a:t>seconds</a:t>
            </a:r>
          </a:p>
        </p:txBody>
      </p:sp>
      <p:sp>
        <p:nvSpPr>
          <p:cNvPr id="15" name="VisualRevision-32">
            <a:extLst>
              <a:ext uri="{FF2B5EF4-FFF2-40B4-BE49-F238E27FC236}">
                <a16:creationId xmlns:a16="http://schemas.microsoft.com/office/drawing/2014/main" id="{C5A234CA-B2CA-41DE-8E4F-8C9992FCA868}"/>
              </a:ext>
            </a:extLst>
          </p:cNvPr>
          <p:cNvSpPr>
            <a:spLocks noGrp="1"/>
          </p:cNvSpPr>
          <p:nvPr/>
        </p:nvSpPr>
        <p:spPr>
          <a:xfrm>
            <a:off x="619125" y="6000750"/>
            <a:ext cx="10906125" cy="276225"/>
          </a:xfrm>
          <a:prstGeom prst="rect">
            <a:avLst/>
          </a:prstGeom>
          <a:noFill/>
          <a:ln w="0">
            <a:noFill/>
          </a:ln>
        </p:spPr>
        <p:txBody>
          <a:bodyPr wrap="square" lIns="0" tIns="0" rIns="0" bIns="0" anchor="t">
            <a:noAutofit/>
          </a:bodyPr>
          <a:lstStyle/>
          <a:p>
            <a:pPr algn="l">
              <a:defRPr sz="1725" b="0">
                <a:solidFill>
                  <a:srgbClr val="111111"/>
                </a:solidFill>
                <a:latin typeface="Aptos"/>
                <a:ea typeface="Aptos"/>
                <a:cs typeface="Aptos"/>
              </a:defRPr>
            </a:pPr>
            <a:r>
              <a:rPr sz="1725" b="0">
                <a:solidFill>
                  <a:srgbClr val="111111"/>
                </a:solidFill>
                <a:latin typeface="Aptos"/>
                <a:ea typeface="Aptos"/>
                <a:cs typeface="Aptos"/>
              </a:rPr>
              <a:t>Rounding a recorded time does not make the underlying time discrete.</a:t>
            </a:r>
          </a:p>
        </p:txBody>
      </p:sp>
    </p:spTree>
    <p:extLst>
      <p:ext uri="{BB962C8B-B14F-4D97-AF65-F5344CB8AC3E}">
        <p14:creationId xmlns:p14="http://schemas.microsoft.com/office/powerpoint/2010/main" val="3281361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How the data types fit together</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714375"/>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Discrete and continuous are both types of quantitative data.</a:t>
            </a:r>
          </a:p>
        </p:txBody>
      </p:sp>
      <p:sp>
        <p:nvSpPr>
          <p:cNvPr id="4" name="S22-connector-1">
            <a:extLst>
              <a:ext uri="{FF2B5EF4-FFF2-40B4-BE49-F238E27FC236}">
                <a16:creationId xmlns:a16="http://schemas.microsoft.com/office/drawing/2014/main" id="{F4EDF297-CAEB-49F5-BACC-9634791DC71F}"/>
              </a:ext>
            </a:extLst>
          </p:cNvPr>
          <p:cNvSpPr>
            <a:spLocks noGrp="1"/>
          </p:cNvSpPr>
          <p:nvPr/>
        </p:nvSpPr>
        <p:spPr>
          <a:xfrm>
            <a:off x="2952750" y="3457575"/>
            <a:ext cx="3143250" cy="476250"/>
          </a:xfrm>
          <a:custGeom>
            <a:avLst/>
            <a:gdLst/>
            <a:ahLst/>
            <a:cxnLst/>
            <a:rect l="0" t="0" r="0" b="0"/>
            <a:pathLst>
              <a:path w="3143250" h="476250">
                <a:moveTo>
                  <a:pt x="3143250" y="0"/>
                </a:moveTo>
                <a:lnTo>
                  <a:pt x="0" y="476250"/>
                </a:lnTo>
              </a:path>
            </a:pathLst>
          </a:custGeom>
          <a:noFill/>
          <a:ln w="14288">
            <a:solidFill>
              <a:srgbClr val="555555"/>
            </a:solidFill>
            <a:prstDash val="solid"/>
          </a:ln>
        </p:spPr>
        <p:txBody>
          <a:bodyPr/>
          <a:lstStyle/>
          <a:p>
            <a:endParaRPr/>
          </a:p>
        </p:txBody>
      </p:sp>
      <p:sp>
        <p:nvSpPr>
          <p:cNvPr id="5" name="S22-connector-2">
            <a:extLst>
              <a:ext uri="{FF2B5EF4-FFF2-40B4-BE49-F238E27FC236}">
                <a16:creationId xmlns:a16="http://schemas.microsoft.com/office/drawing/2014/main" id="{8500B95A-6739-4645-A3FE-48145C51CDEC}"/>
              </a:ext>
            </a:extLst>
          </p:cNvPr>
          <p:cNvSpPr>
            <a:spLocks noGrp="1"/>
          </p:cNvSpPr>
          <p:nvPr/>
        </p:nvSpPr>
        <p:spPr>
          <a:xfrm>
            <a:off x="6096000" y="3457575"/>
            <a:ext cx="2714625" cy="476250"/>
          </a:xfrm>
          <a:custGeom>
            <a:avLst/>
            <a:gdLst/>
            <a:ahLst/>
            <a:cxnLst/>
            <a:rect l="0" t="0" r="0" b="0"/>
            <a:pathLst>
              <a:path w="2714625" h="476250">
                <a:moveTo>
                  <a:pt x="0" y="0"/>
                </a:moveTo>
                <a:lnTo>
                  <a:pt x="2714625" y="476250"/>
                </a:lnTo>
              </a:path>
            </a:pathLst>
          </a:custGeom>
          <a:noFill/>
          <a:ln w="14288">
            <a:solidFill>
              <a:srgbClr val="555555"/>
            </a:solidFill>
            <a:prstDash val="solid"/>
          </a:ln>
        </p:spPr>
        <p:txBody>
          <a:bodyPr/>
          <a:lstStyle/>
          <a:p>
            <a:endParaRPr/>
          </a:p>
        </p:txBody>
      </p:sp>
      <p:sp>
        <p:nvSpPr>
          <p:cNvPr id="6" name="S22-connector-3">
            <a:extLst>
              <a:ext uri="{FF2B5EF4-FFF2-40B4-BE49-F238E27FC236}">
                <a16:creationId xmlns:a16="http://schemas.microsoft.com/office/drawing/2014/main" id="{2547D634-86D9-4A20-B076-423AEFD18937}"/>
              </a:ext>
            </a:extLst>
          </p:cNvPr>
          <p:cNvSpPr>
            <a:spLocks noGrp="1"/>
          </p:cNvSpPr>
          <p:nvPr/>
        </p:nvSpPr>
        <p:spPr>
          <a:xfrm>
            <a:off x="7620000" y="4619625"/>
            <a:ext cx="1190625" cy="657225"/>
          </a:xfrm>
          <a:custGeom>
            <a:avLst/>
            <a:gdLst/>
            <a:ahLst/>
            <a:cxnLst/>
            <a:rect l="0" t="0" r="0" b="0"/>
            <a:pathLst>
              <a:path w="1190625" h="657225">
                <a:moveTo>
                  <a:pt x="1190625" y="0"/>
                </a:moveTo>
                <a:lnTo>
                  <a:pt x="0" y="657225"/>
                </a:lnTo>
              </a:path>
            </a:pathLst>
          </a:custGeom>
          <a:noFill/>
          <a:ln w="14288">
            <a:solidFill>
              <a:srgbClr val="555555"/>
            </a:solidFill>
            <a:prstDash val="solid"/>
          </a:ln>
        </p:spPr>
        <p:txBody>
          <a:bodyPr/>
          <a:lstStyle/>
          <a:p>
            <a:endParaRPr/>
          </a:p>
        </p:txBody>
      </p:sp>
      <p:sp>
        <p:nvSpPr>
          <p:cNvPr id="7" name="S22-connector-4">
            <a:extLst>
              <a:ext uri="{FF2B5EF4-FFF2-40B4-BE49-F238E27FC236}">
                <a16:creationId xmlns:a16="http://schemas.microsoft.com/office/drawing/2014/main" id="{7DACCB9C-B8D7-4FF2-9EC4-BAE7804B0546}"/>
              </a:ext>
            </a:extLst>
          </p:cNvPr>
          <p:cNvSpPr>
            <a:spLocks noGrp="1"/>
          </p:cNvSpPr>
          <p:nvPr/>
        </p:nvSpPr>
        <p:spPr>
          <a:xfrm>
            <a:off x="8810625" y="4619625"/>
            <a:ext cx="1619250" cy="657225"/>
          </a:xfrm>
          <a:custGeom>
            <a:avLst/>
            <a:gdLst/>
            <a:ahLst/>
            <a:cxnLst/>
            <a:rect l="0" t="0" r="0" b="0"/>
            <a:pathLst>
              <a:path w="1619250" h="657225">
                <a:moveTo>
                  <a:pt x="0" y="0"/>
                </a:moveTo>
                <a:lnTo>
                  <a:pt x="1619250" y="657225"/>
                </a:lnTo>
              </a:path>
            </a:pathLst>
          </a:custGeom>
          <a:noFill/>
          <a:ln w="14288">
            <a:solidFill>
              <a:srgbClr val="555555"/>
            </a:solidFill>
            <a:prstDash val="solid"/>
          </a:ln>
        </p:spPr>
        <p:txBody>
          <a:bodyPr/>
          <a:lstStyle/>
          <a:p>
            <a:endParaRPr/>
          </a:p>
        </p:txBody>
      </p:sp>
      <p:sp>
        <p:nvSpPr>
          <p:cNvPr id="8" name="S22-diagram-5">
            <a:extLst>
              <a:ext uri="{FF2B5EF4-FFF2-40B4-BE49-F238E27FC236}">
                <a16:creationId xmlns:a16="http://schemas.microsoft.com/office/drawing/2014/main" id="{950D0469-CD13-44B7-A561-6CC974C1D8FE}"/>
              </a:ext>
            </a:extLst>
          </p:cNvPr>
          <p:cNvSpPr>
            <a:spLocks noGrp="1"/>
          </p:cNvSpPr>
          <p:nvPr/>
        </p:nvSpPr>
        <p:spPr>
          <a:xfrm>
            <a:off x="4667250" y="2895600"/>
            <a:ext cx="2857500" cy="561975"/>
          </a:xfrm>
          <a:prstGeom prst="rect">
            <a:avLst/>
          </a:prstGeom>
          <a:noFill/>
          <a:ln w="14288">
            <a:solidFill>
              <a:srgbClr val="555555"/>
            </a:solidFill>
            <a:prstDash val="solid"/>
          </a:ln>
        </p:spPr>
        <p:txBody>
          <a:bodyPr/>
          <a:lstStyle/>
          <a:p>
            <a:endParaRPr/>
          </a:p>
        </p:txBody>
      </p:sp>
      <p:sp>
        <p:nvSpPr>
          <p:cNvPr id="9" name="S22-text-6">
            <a:extLst>
              <a:ext uri="{FF2B5EF4-FFF2-40B4-BE49-F238E27FC236}">
                <a16:creationId xmlns:a16="http://schemas.microsoft.com/office/drawing/2014/main" id="{9B4D6164-15D2-4300-A438-2F6FDD3672E6}"/>
              </a:ext>
            </a:extLst>
          </p:cNvPr>
          <p:cNvSpPr>
            <a:spLocks noGrp="1"/>
          </p:cNvSpPr>
          <p:nvPr/>
        </p:nvSpPr>
        <p:spPr>
          <a:xfrm>
            <a:off x="4857750" y="2990850"/>
            <a:ext cx="2476500" cy="409575"/>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2625">
                <a:solidFill>
                  <a:srgbClr val="111111"/>
                </a:solidFill>
                <a:latin typeface="Aptos"/>
                <a:ea typeface="Aptos"/>
                <a:cs typeface="Aptos"/>
              </a:defRPr>
            </a:pPr>
            <a:r>
              <a:rPr sz="2625" b="1">
                <a:solidFill>
                  <a:srgbClr val="111111"/>
                </a:solidFill>
                <a:latin typeface="Aptos"/>
                <a:ea typeface="Aptos"/>
                <a:cs typeface="Aptos"/>
              </a:rPr>
              <a:t>Data</a:t>
            </a:r>
          </a:p>
        </p:txBody>
      </p:sp>
      <p:sp>
        <p:nvSpPr>
          <p:cNvPr id="10" name="S22-diagram-7">
            <a:extLst>
              <a:ext uri="{FF2B5EF4-FFF2-40B4-BE49-F238E27FC236}">
                <a16:creationId xmlns:a16="http://schemas.microsoft.com/office/drawing/2014/main" id="{419944D1-17C2-46CF-BEA9-FF17C32E842F}"/>
              </a:ext>
            </a:extLst>
          </p:cNvPr>
          <p:cNvSpPr>
            <a:spLocks noGrp="1"/>
          </p:cNvSpPr>
          <p:nvPr/>
        </p:nvSpPr>
        <p:spPr>
          <a:xfrm>
            <a:off x="857250" y="3933825"/>
            <a:ext cx="4191000" cy="904875"/>
          </a:xfrm>
          <a:prstGeom prst="rect">
            <a:avLst/>
          </a:prstGeom>
          <a:noFill/>
          <a:ln w="14288">
            <a:solidFill>
              <a:srgbClr val="555555"/>
            </a:solidFill>
            <a:prstDash val="solid"/>
          </a:ln>
        </p:spPr>
        <p:txBody>
          <a:bodyPr/>
          <a:lstStyle/>
          <a:p>
            <a:endParaRPr/>
          </a:p>
        </p:txBody>
      </p:sp>
      <p:sp>
        <p:nvSpPr>
          <p:cNvPr id="11" name="S22-text-8">
            <a:extLst>
              <a:ext uri="{FF2B5EF4-FFF2-40B4-BE49-F238E27FC236}">
                <a16:creationId xmlns:a16="http://schemas.microsoft.com/office/drawing/2014/main" id="{21B7F503-2FC9-4D07-B87B-51185AA64CF5}"/>
              </a:ext>
            </a:extLst>
          </p:cNvPr>
          <p:cNvSpPr>
            <a:spLocks noGrp="1"/>
          </p:cNvSpPr>
          <p:nvPr/>
        </p:nvSpPr>
        <p:spPr>
          <a:xfrm>
            <a:off x="1047750" y="4029075"/>
            <a:ext cx="3810000" cy="400050"/>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2550">
                <a:solidFill>
                  <a:srgbClr val="111111"/>
                </a:solidFill>
                <a:latin typeface="Aptos"/>
                <a:ea typeface="Aptos"/>
                <a:cs typeface="Aptos"/>
              </a:defRPr>
            </a:pPr>
            <a:r>
              <a:rPr lang="en-US" sz="2550" b="1" dirty="0">
                <a:solidFill>
                  <a:srgbClr val="111111"/>
                </a:solidFill>
                <a:latin typeface="Aptos"/>
                <a:ea typeface="Aptos"/>
                <a:cs typeface="Aptos"/>
              </a:rPr>
              <a:t>Qualitative (</a:t>
            </a:r>
            <a:r>
              <a:rPr sz="2550" b="1" dirty="0">
                <a:solidFill>
                  <a:srgbClr val="111111"/>
                </a:solidFill>
                <a:latin typeface="Aptos"/>
                <a:ea typeface="Aptos"/>
                <a:cs typeface="Aptos"/>
              </a:rPr>
              <a:t>Categorical</a:t>
            </a:r>
            <a:r>
              <a:rPr lang="en-US" sz="2550" b="1" dirty="0">
                <a:solidFill>
                  <a:srgbClr val="111111"/>
                </a:solidFill>
                <a:latin typeface="Aptos"/>
                <a:ea typeface="Aptos"/>
                <a:cs typeface="Aptos"/>
              </a:rPr>
              <a:t>)</a:t>
            </a:r>
            <a:endParaRPr sz="2550" b="1" dirty="0">
              <a:solidFill>
                <a:srgbClr val="111111"/>
              </a:solidFill>
              <a:latin typeface="Aptos"/>
              <a:ea typeface="Aptos"/>
              <a:cs typeface="Aptos"/>
            </a:endParaRPr>
          </a:p>
        </p:txBody>
      </p:sp>
      <p:sp>
        <p:nvSpPr>
          <p:cNvPr id="12" name="S22-text-9">
            <a:extLst>
              <a:ext uri="{FF2B5EF4-FFF2-40B4-BE49-F238E27FC236}">
                <a16:creationId xmlns:a16="http://schemas.microsoft.com/office/drawing/2014/main" id="{F2508594-7B58-4FC0-BCE2-0B1E48A3BF49}"/>
              </a:ext>
            </a:extLst>
          </p:cNvPr>
          <p:cNvSpPr>
            <a:spLocks noGrp="1"/>
          </p:cNvSpPr>
          <p:nvPr/>
        </p:nvSpPr>
        <p:spPr>
          <a:xfrm>
            <a:off x="1047750" y="4438650"/>
            <a:ext cx="3810000" cy="352425"/>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2100">
                <a:solidFill>
                  <a:srgbClr val="111111"/>
                </a:solidFill>
                <a:latin typeface="Aptos"/>
                <a:ea typeface="Aptos"/>
                <a:cs typeface="Aptos"/>
              </a:defRPr>
            </a:pPr>
            <a:r>
              <a:rPr sz="2100" b="0">
                <a:solidFill>
                  <a:srgbClr val="111111"/>
                </a:solidFill>
                <a:latin typeface="Aptos"/>
                <a:ea typeface="Aptos"/>
                <a:cs typeface="Aptos"/>
              </a:rPr>
              <a:t>Categories or labels</a:t>
            </a:r>
          </a:p>
        </p:txBody>
      </p:sp>
      <p:sp>
        <p:nvSpPr>
          <p:cNvPr id="13" name="S22-text-10">
            <a:extLst>
              <a:ext uri="{FF2B5EF4-FFF2-40B4-BE49-F238E27FC236}">
                <a16:creationId xmlns:a16="http://schemas.microsoft.com/office/drawing/2014/main" id="{AFF26ED0-6A0A-4183-89B2-26AB37770638}"/>
              </a:ext>
            </a:extLst>
          </p:cNvPr>
          <p:cNvSpPr>
            <a:spLocks noGrp="1"/>
          </p:cNvSpPr>
          <p:nvPr/>
        </p:nvSpPr>
        <p:spPr>
          <a:xfrm>
            <a:off x="857250" y="5210175"/>
            <a:ext cx="4191000" cy="619125"/>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2175">
                <a:solidFill>
                  <a:srgbClr val="111111"/>
                </a:solidFill>
                <a:latin typeface="Aptos"/>
                <a:ea typeface="Aptos"/>
                <a:cs typeface="Aptos"/>
              </a:defRPr>
            </a:pPr>
            <a:r>
              <a:rPr sz="2175" b="0">
                <a:solidFill>
                  <a:srgbClr val="111111"/>
                </a:solidFill>
                <a:latin typeface="Aptos"/>
                <a:ea typeface="Aptos"/>
                <a:cs typeface="Aptos"/>
              </a:rPr>
              <a:t>Example: meal choice</a:t>
            </a:r>
          </a:p>
        </p:txBody>
      </p:sp>
      <p:sp>
        <p:nvSpPr>
          <p:cNvPr id="14" name="S22-diagram-11">
            <a:extLst>
              <a:ext uri="{FF2B5EF4-FFF2-40B4-BE49-F238E27FC236}">
                <a16:creationId xmlns:a16="http://schemas.microsoft.com/office/drawing/2014/main" id="{9DC2A7B2-433F-4DF3-B1C5-12C93FA5B911}"/>
              </a:ext>
            </a:extLst>
          </p:cNvPr>
          <p:cNvSpPr>
            <a:spLocks noGrp="1"/>
          </p:cNvSpPr>
          <p:nvPr/>
        </p:nvSpPr>
        <p:spPr>
          <a:xfrm>
            <a:off x="6572250" y="3933825"/>
            <a:ext cx="4476750" cy="685800"/>
          </a:xfrm>
          <a:prstGeom prst="rect">
            <a:avLst/>
          </a:prstGeom>
          <a:noFill/>
          <a:ln w="14288">
            <a:solidFill>
              <a:srgbClr val="555555"/>
            </a:solidFill>
            <a:prstDash val="solid"/>
          </a:ln>
        </p:spPr>
        <p:txBody>
          <a:bodyPr/>
          <a:lstStyle/>
          <a:p>
            <a:endParaRPr/>
          </a:p>
        </p:txBody>
      </p:sp>
      <p:sp>
        <p:nvSpPr>
          <p:cNvPr id="15" name="S22-text-12">
            <a:extLst>
              <a:ext uri="{FF2B5EF4-FFF2-40B4-BE49-F238E27FC236}">
                <a16:creationId xmlns:a16="http://schemas.microsoft.com/office/drawing/2014/main" id="{D3DF8E10-5CF0-4AE1-B889-2FC5692A0B9D}"/>
              </a:ext>
            </a:extLst>
          </p:cNvPr>
          <p:cNvSpPr>
            <a:spLocks noGrp="1"/>
          </p:cNvSpPr>
          <p:nvPr/>
        </p:nvSpPr>
        <p:spPr>
          <a:xfrm>
            <a:off x="6762750" y="4086225"/>
            <a:ext cx="4095750" cy="438150"/>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2550">
                <a:solidFill>
                  <a:srgbClr val="111111"/>
                </a:solidFill>
                <a:latin typeface="Aptos"/>
                <a:ea typeface="Aptos"/>
                <a:cs typeface="Aptos"/>
              </a:defRPr>
            </a:pPr>
            <a:r>
              <a:rPr sz="2550" b="1">
                <a:solidFill>
                  <a:srgbClr val="111111"/>
                </a:solidFill>
                <a:latin typeface="Aptos"/>
                <a:ea typeface="Aptos"/>
                <a:cs typeface="Aptos"/>
              </a:rPr>
              <a:t>Quantitative</a:t>
            </a:r>
          </a:p>
        </p:txBody>
      </p:sp>
      <p:sp>
        <p:nvSpPr>
          <p:cNvPr id="16" name="S22-diagram-13">
            <a:extLst>
              <a:ext uri="{FF2B5EF4-FFF2-40B4-BE49-F238E27FC236}">
                <a16:creationId xmlns:a16="http://schemas.microsoft.com/office/drawing/2014/main" id="{41BD8A2D-15F4-4550-B4D2-E6CF74F85336}"/>
              </a:ext>
            </a:extLst>
          </p:cNvPr>
          <p:cNvSpPr>
            <a:spLocks noGrp="1"/>
          </p:cNvSpPr>
          <p:nvPr/>
        </p:nvSpPr>
        <p:spPr>
          <a:xfrm>
            <a:off x="6353175" y="5276850"/>
            <a:ext cx="2533650" cy="847725"/>
          </a:xfrm>
          <a:prstGeom prst="rect">
            <a:avLst/>
          </a:prstGeom>
          <a:noFill/>
          <a:ln w="14288">
            <a:solidFill>
              <a:srgbClr val="555555"/>
            </a:solidFill>
            <a:prstDash val="solid"/>
          </a:ln>
        </p:spPr>
        <p:txBody>
          <a:bodyPr/>
          <a:lstStyle/>
          <a:p>
            <a:endParaRPr/>
          </a:p>
        </p:txBody>
      </p:sp>
      <p:sp>
        <p:nvSpPr>
          <p:cNvPr id="17" name="S22-text-14">
            <a:extLst>
              <a:ext uri="{FF2B5EF4-FFF2-40B4-BE49-F238E27FC236}">
                <a16:creationId xmlns:a16="http://schemas.microsoft.com/office/drawing/2014/main" id="{75F59ED0-86DA-4553-8339-8F74BC221FDB}"/>
              </a:ext>
            </a:extLst>
          </p:cNvPr>
          <p:cNvSpPr>
            <a:spLocks noGrp="1"/>
          </p:cNvSpPr>
          <p:nvPr/>
        </p:nvSpPr>
        <p:spPr>
          <a:xfrm>
            <a:off x="6477000" y="5343525"/>
            <a:ext cx="2286000" cy="352425"/>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2175">
                <a:solidFill>
                  <a:srgbClr val="111111"/>
                </a:solidFill>
                <a:latin typeface="Aptos"/>
                <a:ea typeface="Aptos"/>
                <a:cs typeface="Aptos"/>
              </a:defRPr>
            </a:pPr>
            <a:r>
              <a:rPr sz="2175" b="1">
                <a:solidFill>
                  <a:srgbClr val="111111"/>
                </a:solidFill>
                <a:latin typeface="Aptos"/>
                <a:ea typeface="Aptos"/>
                <a:cs typeface="Aptos"/>
              </a:rPr>
              <a:t>Discrete</a:t>
            </a:r>
          </a:p>
        </p:txBody>
      </p:sp>
      <p:sp>
        <p:nvSpPr>
          <p:cNvPr id="18" name="S22-text-15">
            <a:extLst>
              <a:ext uri="{FF2B5EF4-FFF2-40B4-BE49-F238E27FC236}">
                <a16:creationId xmlns:a16="http://schemas.microsoft.com/office/drawing/2014/main" id="{C80FF66D-A6B2-4095-9A3B-292FC825B86F}"/>
              </a:ext>
            </a:extLst>
          </p:cNvPr>
          <p:cNvSpPr>
            <a:spLocks noGrp="1"/>
          </p:cNvSpPr>
          <p:nvPr/>
        </p:nvSpPr>
        <p:spPr>
          <a:xfrm>
            <a:off x="6477000" y="5724525"/>
            <a:ext cx="2286000" cy="333375"/>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1950">
                <a:solidFill>
                  <a:srgbClr val="111111"/>
                </a:solidFill>
                <a:latin typeface="Aptos"/>
                <a:ea typeface="Aptos"/>
                <a:cs typeface="Aptos"/>
              </a:defRPr>
            </a:pPr>
            <a:r>
              <a:rPr sz="1950" b="0">
                <a:solidFill>
                  <a:srgbClr val="111111"/>
                </a:solidFill>
                <a:latin typeface="Aptos"/>
                <a:ea typeface="Aptos"/>
                <a:cs typeface="Aptos"/>
              </a:rPr>
              <a:t>Count: meals</a:t>
            </a:r>
          </a:p>
        </p:txBody>
      </p:sp>
      <p:sp>
        <p:nvSpPr>
          <p:cNvPr id="19" name="S22-diagram-16">
            <a:extLst>
              <a:ext uri="{FF2B5EF4-FFF2-40B4-BE49-F238E27FC236}">
                <a16:creationId xmlns:a16="http://schemas.microsoft.com/office/drawing/2014/main" id="{81EF02A4-3AE4-43F8-AC01-5C1D2848DFD4}"/>
              </a:ext>
            </a:extLst>
          </p:cNvPr>
          <p:cNvSpPr>
            <a:spLocks noGrp="1"/>
          </p:cNvSpPr>
          <p:nvPr/>
        </p:nvSpPr>
        <p:spPr>
          <a:xfrm>
            <a:off x="9182100" y="5276850"/>
            <a:ext cx="2514600" cy="847725"/>
          </a:xfrm>
          <a:prstGeom prst="rect">
            <a:avLst/>
          </a:prstGeom>
          <a:noFill/>
          <a:ln w="14288">
            <a:solidFill>
              <a:srgbClr val="555555"/>
            </a:solidFill>
            <a:prstDash val="solid"/>
          </a:ln>
        </p:spPr>
        <p:txBody>
          <a:bodyPr/>
          <a:lstStyle/>
          <a:p>
            <a:endParaRPr/>
          </a:p>
        </p:txBody>
      </p:sp>
      <p:sp>
        <p:nvSpPr>
          <p:cNvPr id="20" name="S22-text-17">
            <a:extLst>
              <a:ext uri="{FF2B5EF4-FFF2-40B4-BE49-F238E27FC236}">
                <a16:creationId xmlns:a16="http://schemas.microsoft.com/office/drawing/2014/main" id="{04D08010-98E5-4FE0-9988-8F95D8F2B907}"/>
              </a:ext>
            </a:extLst>
          </p:cNvPr>
          <p:cNvSpPr>
            <a:spLocks noGrp="1"/>
          </p:cNvSpPr>
          <p:nvPr/>
        </p:nvSpPr>
        <p:spPr>
          <a:xfrm>
            <a:off x="9286875" y="5343525"/>
            <a:ext cx="2286000" cy="352425"/>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2175">
                <a:solidFill>
                  <a:srgbClr val="111111"/>
                </a:solidFill>
                <a:latin typeface="Aptos"/>
                <a:ea typeface="Aptos"/>
                <a:cs typeface="Aptos"/>
              </a:defRPr>
            </a:pPr>
            <a:r>
              <a:rPr sz="2175" b="1">
                <a:solidFill>
                  <a:srgbClr val="111111"/>
                </a:solidFill>
                <a:latin typeface="Aptos"/>
                <a:ea typeface="Aptos"/>
                <a:cs typeface="Aptos"/>
              </a:rPr>
              <a:t>Continuous</a:t>
            </a:r>
          </a:p>
        </p:txBody>
      </p:sp>
      <p:sp>
        <p:nvSpPr>
          <p:cNvPr id="21" name="S22-text-18">
            <a:extLst>
              <a:ext uri="{FF2B5EF4-FFF2-40B4-BE49-F238E27FC236}">
                <a16:creationId xmlns:a16="http://schemas.microsoft.com/office/drawing/2014/main" id="{E5C3E9FA-98A1-4C62-9252-A7E82E9DD736}"/>
              </a:ext>
            </a:extLst>
          </p:cNvPr>
          <p:cNvSpPr>
            <a:spLocks noGrp="1"/>
          </p:cNvSpPr>
          <p:nvPr/>
        </p:nvSpPr>
        <p:spPr>
          <a:xfrm>
            <a:off x="9286875" y="5724525"/>
            <a:ext cx="2286000" cy="333375"/>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1950">
                <a:solidFill>
                  <a:srgbClr val="111111"/>
                </a:solidFill>
                <a:latin typeface="Aptos"/>
                <a:ea typeface="Aptos"/>
                <a:cs typeface="Aptos"/>
              </a:defRPr>
            </a:pPr>
            <a:r>
              <a:rPr sz="1950" b="0">
                <a:solidFill>
                  <a:srgbClr val="111111"/>
                </a:solidFill>
                <a:latin typeface="Aptos"/>
                <a:ea typeface="Aptos"/>
                <a:cs typeface="Aptos"/>
              </a:rPr>
              <a:t>Measure: time</a:t>
            </a:r>
          </a:p>
        </p:txBody>
      </p:sp>
    </p:spTree>
    <p:extLst>
      <p:ext uri="{BB962C8B-B14F-4D97-AF65-F5344CB8AC3E}">
        <p14:creationId xmlns:p14="http://schemas.microsoft.com/office/powerpoint/2010/main" val="3281361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Two common traps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Does writing a number always make data quantitative?</a:t>
            </a:r>
          </a:p>
        </p:txBody>
      </p:sp>
      <p:sp>
        <p:nvSpPr>
          <p:cNvPr id="4" name="S23-text-1">
            <a:extLst>
              <a:ext uri="{FF2B5EF4-FFF2-40B4-BE49-F238E27FC236}">
                <a16:creationId xmlns:a16="http://schemas.microsoft.com/office/drawing/2014/main" id="{FF1BB5AA-12DB-470F-AD70-8A951C261388}"/>
              </a:ext>
            </a:extLst>
          </p:cNvPr>
          <p:cNvSpPr>
            <a:spLocks noGrp="1"/>
          </p:cNvSpPr>
          <p:nvPr/>
        </p:nvSpPr>
        <p:spPr>
          <a:xfrm>
            <a:off x="619125" y="3124200"/>
            <a:ext cx="5000625" cy="6667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925">
                <a:solidFill>
                  <a:srgbClr val="111111"/>
                </a:solidFill>
                <a:latin typeface="Aptos"/>
                <a:ea typeface="Aptos"/>
                <a:cs typeface="Aptos"/>
              </a:defRPr>
            </a:pPr>
            <a:r>
              <a:rPr sz="2925" b="1">
                <a:solidFill>
                  <a:srgbClr val="111111"/>
                </a:solidFill>
                <a:latin typeface="Aptos"/>
                <a:ea typeface="Aptos"/>
                <a:cs typeface="Aptos"/>
              </a:rPr>
              <a:t>Student ID: 1042</a:t>
            </a:r>
          </a:p>
        </p:txBody>
      </p:sp>
      <p:sp>
        <p:nvSpPr>
          <p:cNvPr id="5" name="S23-text-2">
            <a:extLst>
              <a:ext uri="{FF2B5EF4-FFF2-40B4-BE49-F238E27FC236}">
                <a16:creationId xmlns:a16="http://schemas.microsoft.com/office/drawing/2014/main" id="{6733E901-9E1D-442E-B973-A901084AFA79}"/>
              </a:ext>
            </a:extLst>
          </p:cNvPr>
          <p:cNvSpPr>
            <a:spLocks noGrp="1"/>
          </p:cNvSpPr>
          <p:nvPr/>
        </p:nvSpPr>
        <p:spPr>
          <a:xfrm>
            <a:off x="619125" y="4057650"/>
            <a:ext cx="5000625" cy="12858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It identifies a student.</a:t>
            </a:r>
          </a:p>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It is a </a:t>
            </a:r>
            <a:r>
              <a:rPr sz="2325" b="1">
                <a:solidFill>
                  <a:srgbClr val="111111"/>
                </a:solidFill>
                <a:latin typeface="Aptos"/>
                <a:ea typeface="Aptos"/>
                <a:cs typeface="Aptos"/>
              </a:rPr>
              <a:t>categorical label</a:t>
            </a:r>
            <a:r>
              <a:rPr sz="2325" b="0">
                <a:solidFill>
                  <a:srgbClr val="111111"/>
                </a:solidFill>
                <a:latin typeface="Aptos"/>
                <a:ea typeface="Aptos"/>
                <a:cs typeface="Aptos"/>
              </a:rPr>
              <a:t>.</a:t>
            </a:r>
          </a:p>
        </p:txBody>
      </p:sp>
      <p:sp>
        <p:nvSpPr>
          <p:cNvPr id="6" name="S23-diagram-3">
            <a:extLst>
              <a:ext uri="{FF2B5EF4-FFF2-40B4-BE49-F238E27FC236}">
                <a16:creationId xmlns:a16="http://schemas.microsoft.com/office/drawing/2014/main" id="{D32D1431-069E-4DD3-B194-E52BE984E5BE}"/>
              </a:ext>
            </a:extLst>
          </p:cNvPr>
          <p:cNvSpPr>
            <a:spLocks noGrp="1"/>
          </p:cNvSpPr>
          <p:nvPr/>
        </p:nvSpPr>
        <p:spPr>
          <a:xfrm>
            <a:off x="6048375" y="3038475"/>
            <a:ext cx="0" cy="2705100"/>
          </a:xfrm>
          <a:prstGeom prst="line">
            <a:avLst/>
          </a:prstGeom>
          <a:noFill/>
          <a:ln w="9525">
            <a:solidFill>
              <a:srgbClr val="AAAAAA"/>
            </a:solidFill>
            <a:prstDash val="solid"/>
          </a:ln>
        </p:spPr>
        <p:txBody>
          <a:bodyPr/>
          <a:lstStyle/>
          <a:p>
            <a:endParaRPr/>
          </a:p>
        </p:txBody>
      </p:sp>
      <p:sp>
        <p:nvSpPr>
          <p:cNvPr id="7" name="S23-text-4">
            <a:extLst>
              <a:ext uri="{FF2B5EF4-FFF2-40B4-BE49-F238E27FC236}">
                <a16:creationId xmlns:a16="http://schemas.microsoft.com/office/drawing/2014/main" id="{5DEDE338-E0BA-4539-AD02-F3FE3D99D2C9}"/>
              </a:ext>
            </a:extLst>
          </p:cNvPr>
          <p:cNvSpPr>
            <a:spLocks noGrp="1"/>
          </p:cNvSpPr>
          <p:nvPr/>
        </p:nvSpPr>
        <p:spPr>
          <a:xfrm>
            <a:off x="6715125" y="3124200"/>
            <a:ext cx="4857750" cy="6667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925">
                <a:solidFill>
                  <a:srgbClr val="111111"/>
                </a:solidFill>
                <a:latin typeface="Aptos"/>
                <a:ea typeface="Aptos"/>
                <a:cs typeface="Aptos"/>
              </a:defRPr>
            </a:pPr>
            <a:r>
              <a:rPr sz="2925" b="1">
                <a:solidFill>
                  <a:srgbClr val="111111"/>
                </a:solidFill>
                <a:latin typeface="Aptos"/>
                <a:ea typeface="Aptos"/>
                <a:cs typeface="Aptos"/>
              </a:rPr>
              <a:t>Height: 172 cm</a:t>
            </a:r>
          </a:p>
        </p:txBody>
      </p:sp>
      <p:sp>
        <p:nvSpPr>
          <p:cNvPr id="8" name="S23-text-5">
            <a:extLst>
              <a:ext uri="{FF2B5EF4-FFF2-40B4-BE49-F238E27FC236}">
                <a16:creationId xmlns:a16="http://schemas.microsoft.com/office/drawing/2014/main" id="{8E8936AD-665A-4AE5-9AFA-19BCC52F510B}"/>
              </a:ext>
            </a:extLst>
          </p:cNvPr>
          <p:cNvSpPr>
            <a:spLocks noGrp="1"/>
          </p:cNvSpPr>
          <p:nvPr/>
        </p:nvSpPr>
        <p:spPr>
          <a:xfrm>
            <a:off x="6715125" y="4057650"/>
            <a:ext cx="4857750" cy="15240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It is a measurement.</a:t>
            </a:r>
          </a:p>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It remains </a:t>
            </a:r>
            <a:r>
              <a:rPr sz="2325" b="1">
                <a:solidFill>
                  <a:srgbClr val="111111"/>
                </a:solidFill>
                <a:latin typeface="Aptos"/>
                <a:ea typeface="Aptos"/>
                <a:cs typeface="Aptos"/>
              </a:rPr>
              <a:t>continuous</a:t>
            </a:r>
            <a:r>
              <a:rPr sz="2325" b="0">
                <a:solidFill>
                  <a:srgbClr val="111111"/>
                </a:solidFill>
                <a:latin typeface="Aptos"/>
                <a:ea typeface="Aptos"/>
                <a:cs typeface="Aptos"/>
              </a:rPr>
              <a:t>,</a:t>
            </a:r>
          </a:p>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even when rounded.</a:t>
            </a:r>
          </a:p>
        </p:txBody>
      </p:sp>
    </p:spTree>
    <p:extLst>
      <p:ext uri="{BB962C8B-B14F-4D97-AF65-F5344CB8AC3E}">
        <p14:creationId xmlns:p14="http://schemas.microsoft.com/office/powerpoint/2010/main" val="3281361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A2: Classification practice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Write categorical, quantitative–discrete, or quantitative–continuous.</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A2</a:t>
            </a:r>
          </a:p>
        </p:txBody>
      </p:sp>
      <p:graphicFrame>
        <p:nvGraphicFramePr>
          <p:cNvPr id="15" name="Table 14"/>
          <p:cNvGraphicFramePr/>
          <p:nvPr/>
        </p:nvGraphicFramePr>
        <p:xfrm>
          <a:off x="571500" y="2705100"/>
          <a:ext cx="11049000" cy="3152772"/>
        </p:xfrm>
        <a:graphic>
          <a:graphicData uri="http://schemas.openxmlformats.org/drawingml/2006/table">
            <a:tbl>
              <a:tblPr/>
              <a:tblGrid>
                <a:gridCol w="666750">
                  <a:extLst>
                    <a:ext uri="{9D8B030D-6E8A-4147-A177-3AD203B41FA5}">
                      <a16:colId xmlns:a16="http://schemas.microsoft.com/office/drawing/2014/main" val="20000"/>
                    </a:ext>
                  </a:extLst>
                </a:gridCol>
                <a:gridCol w="5619750">
                  <a:extLst>
                    <a:ext uri="{9D8B030D-6E8A-4147-A177-3AD203B41FA5}">
                      <a16:colId xmlns:a16="http://schemas.microsoft.com/office/drawing/2014/main" val="20001"/>
                    </a:ext>
                  </a:extLst>
                </a:gridCol>
                <a:gridCol w="4762500">
                  <a:extLst>
                    <a:ext uri="{9D8B030D-6E8A-4147-A177-3AD203B41FA5}">
                      <a16:colId xmlns:a16="http://schemas.microsoft.com/office/drawing/2014/main" val="20002"/>
                    </a:ext>
                  </a:extLst>
                </a:gridCol>
              </a:tblGrid>
              <a:tr h="450396">
                <a:tc>
                  <a:txBody>
                    <a:bodyPr/>
                    <a:lstStyle/>
                    <a:p>
                      <a:r>
                        <a:rPr sz="2025" b="1">
                          <a:solidFill>
                            <a:srgbClr val="FFFFFF"/>
                          </a:solidFill>
                          <a:latin typeface="Aptos"/>
                          <a:ea typeface="Aptos"/>
                          <a:cs typeface="Aptos"/>
                        </a:rPr>
                        <a:t>No.</a:t>
                      </a:r>
                    </a:p>
                  </a:txBody>
                  <a:tcPr marL="95250" marR="95250" marT="28575" marB="28575" anchor="ctr">
                    <a:solidFill>
                      <a:srgbClr val="D6171D"/>
                    </a:solidFill>
                  </a:tcPr>
                </a:tc>
                <a:tc>
                  <a:txBody>
                    <a:bodyPr/>
                    <a:lstStyle/>
                    <a:p>
                      <a:r>
                        <a:rPr sz="2025" b="1">
                          <a:solidFill>
                            <a:srgbClr val="FFFFFF"/>
                          </a:solidFill>
                          <a:latin typeface="Aptos"/>
                          <a:ea typeface="Aptos"/>
                          <a:cs typeface="Aptos"/>
                        </a:rPr>
                        <a:t>Variable</a:t>
                      </a:r>
                    </a:p>
                  </a:txBody>
                  <a:tcPr marL="95250" marR="95250" marT="28575" marB="28575" anchor="ctr">
                    <a:solidFill>
                      <a:srgbClr val="D6171D"/>
                    </a:solidFill>
                  </a:tcPr>
                </a:tc>
                <a:tc>
                  <a:txBody>
                    <a:bodyPr/>
                    <a:lstStyle/>
                    <a:p>
                      <a:r>
                        <a:rPr sz="2025" b="1">
                          <a:solidFill>
                            <a:srgbClr val="FFFFFF"/>
                          </a:solidFill>
                          <a:latin typeface="Aptos"/>
                          <a:ea typeface="Aptos"/>
                          <a:cs typeface="Aptos"/>
                        </a:rPr>
                        <a:t>Example</a:t>
                      </a:r>
                    </a:p>
                  </a:txBody>
                  <a:tcPr marL="95250" marR="95250" marT="28575" marB="28575" anchor="ctr">
                    <a:solidFill>
                      <a:srgbClr val="D6171D"/>
                    </a:solidFill>
                  </a:tcPr>
                </a:tc>
                <a:extLst>
                  <a:ext uri="{0D108BD9-81ED-4DB2-BD59-A6C34878D82A}">
                    <a16:rowId xmlns:a16="http://schemas.microsoft.com/office/drawing/2014/main" val="10000"/>
                  </a:ext>
                </a:extLst>
              </a:tr>
              <a:tr h="450396">
                <a:tc>
                  <a:txBody>
                    <a:bodyPr/>
                    <a:lstStyle/>
                    <a:p>
                      <a:r>
                        <a:rPr sz="2025" b="0">
                          <a:solidFill>
                            <a:srgbClr val="111111"/>
                          </a:solidFill>
                          <a:latin typeface="Aptos"/>
                          <a:ea typeface="Aptos"/>
                          <a:cs typeface="Aptos"/>
                        </a:rPr>
                        <a:t>1</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Programme code</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1 = Business, 2 = Engineering</a:t>
                      </a:r>
                    </a:p>
                  </a:txBody>
                  <a:tcPr marL="95250" marR="95250" marT="28575" marB="28575" anchor="ctr">
                    <a:solidFill>
                      <a:srgbClr val="FFFFFF"/>
                    </a:solidFill>
                  </a:tcPr>
                </a:tc>
                <a:extLst>
                  <a:ext uri="{0D108BD9-81ED-4DB2-BD59-A6C34878D82A}">
                    <a16:rowId xmlns:a16="http://schemas.microsoft.com/office/drawing/2014/main" val="10001"/>
                  </a:ext>
                </a:extLst>
              </a:tr>
              <a:tr h="450396">
                <a:tc>
                  <a:txBody>
                    <a:bodyPr/>
                    <a:lstStyle/>
                    <a:p>
                      <a:r>
                        <a:rPr sz="2025" b="0">
                          <a:solidFill>
                            <a:srgbClr val="111111"/>
                          </a:solidFill>
                          <a:latin typeface="Aptos"/>
                          <a:ea typeface="Aptos"/>
                          <a:cs typeface="Aptos"/>
                        </a:rPr>
                        <a:t>2</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Rejected products in a batch</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17 products</a:t>
                      </a:r>
                    </a:p>
                  </a:txBody>
                  <a:tcPr marL="95250" marR="95250" marT="28575" marB="28575" anchor="ctr">
                    <a:solidFill>
                      <a:srgbClr val="EEF7FC"/>
                    </a:solidFill>
                  </a:tcPr>
                </a:tc>
                <a:extLst>
                  <a:ext uri="{0D108BD9-81ED-4DB2-BD59-A6C34878D82A}">
                    <a16:rowId xmlns:a16="http://schemas.microsoft.com/office/drawing/2014/main" val="10002"/>
                  </a:ext>
                </a:extLst>
              </a:tr>
              <a:tr h="450396">
                <a:tc>
                  <a:txBody>
                    <a:bodyPr/>
                    <a:lstStyle/>
                    <a:p>
                      <a:r>
                        <a:rPr sz="2025" b="0">
                          <a:solidFill>
                            <a:srgbClr val="111111"/>
                          </a:solidFill>
                          <a:latin typeface="Aptos"/>
                          <a:ea typeface="Aptos"/>
                          <a:cs typeface="Aptos"/>
                        </a:rPr>
                        <a:t>3</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Journey duration, rounded for display</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Recorded as 43 minutes</a:t>
                      </a:r>
                    </a:p>
                  </a:txBody>
                  <a:tcPr marL="95250" marR="95250" marT="28575" marB="28575" anchor="ctr">
                    <a:solidFill>
                      <a:srgbClr val="FFFFFF"/>
                    </a:solidFill>
                  </a:tcPr>
                </a:tc>
                <a:extLst>
                  <a:ext uri="{0D108BD9-81ED-4DB2-BD59-A6C34878D82A}">
                    <a16:rowId xmlns:a16="http://schemas.microsoft.com/office/drawing/2014/main" val="10003"/>
                  </a:ext>
                </a:extLst>
              </a:tr>
              <a:tr h="450396">
                <a:tc>
                  <a:txBody>
                    <a:bodyPr/>
                    <a:lstStyle/>
                    <a:p>
                      <a:r>
                        <a:rPr sz="2025" b="0">
                          <a:solidFill>
                            <a:srgbClr val="111111"/>
                          </a:solidFill>
                          <a:latin typeface="Aptos"/>
                          <a:ea typeface="Aptos"/>
                          <a:cs typeface="Aptos"/>
                        </a:rPr>
                        <a:t>4</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Room number</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B-317</a:t>
                      </a:r>
                    </a:p>
                  </a:txBody>
                  <a:tcPr marL="95250" marR="95250" marT="28575" marB="28575" anchor="ctr">
                    <a:solidFill>
                      <a:srgbClr val="EEF7FC"/>
                    </a:solidFill>
                  </a:tcPr>
                </a:tc>
                <a:extLst>
                  <a:ext uri="{0D108BD9-81ED-4DB2-BD59-A6C34878D82A}">
                    <a16:rowId xmlns:a16="http://schemas.microsoft.com/office/drawing/2014/main" val="10004"/>
                  </a:ext>
                </a:extLst>
              </a:tr>
              <a:tr h="450396">
                <a:tc>
                  <a:txBody>
                    <a:bodyPr/>
                    <a:lstStyle/>
                    <a:p>
                      <a:r>
                        <a:rPr sz="2025" b="0">
                          <a:solidFill>
                            <a:srgbClr val="111111"/>
                          </a:solidFill>
                          <a:latin typeface="Aptos"/>
                          <a:ea typeface="Aptos"/>
                          <a:cs typeface="Aptos"/>
                        </a:rPr>
                        <a:t>5</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Customer calls received in a day</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137 calls</a:t>
                      </a:r>
                    </a:p>
                  </a:txBody>
                  <a:tcPr marL="95250" marR="95250" marT="28575" marB="28575" anchor="ctr">
                    <a:solidFill>
                      <a:srgbClr val="FFFFFF"/>
                    </a:solidFill>
                  </a:tcPr>
                </a:tc>
                <a:extLst>
                  <a:ext uri="{0D108BD9-81ED-4DB2-BD59-A6C34878D82A}">
                    <a16:rowId xmlns:a16="http://schemas.microsoft.com/office/drawing/2014/main" val="10005"/>
                  </a:ext>
                </a:extLst>
              </a:tr>
              <a:tr h="450396">
                <a:tc>
                  <a:txBody>
                    <a:bodyPr/>
                    <a:lstStyle/>
                    <a:p>
                      <a:r>
                        <a:rPr sz="2025" b="0">
                          <a:solidFill>
                            <a:srgbClr val="111111"/>
                          </a:solidFill>
                          <a:latin typeface="Aptos"/>
                          <a:ea typeface="Aptos"/>
                          <a:cs typeface="Aptos"/>
                        </a:rPr>
                        <a:t>6</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Mass of food left over</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83.6 g</a:t>
                      </a:r>
                    </a:p>
                  </a:txBody>
                  <a:tcPr marL="95250" marR="95250" marT="28575" marB="28575" anchor="ctr">
                    <a:solidFill>
                      <a:srgbClr val="EEF7FC"/>
                    </a:solidFill>
                  </a:tcPr>
                </a:tc>
                <a:extLst>
                  <a:ext uri="{0D108BD9-81ED-4DB2-BD59-A6C34878D82A}">
                    <a16:rowId xmlns:a16="http://schemas.microsoft.com/office/drawing/2014/main" val="10006"/>
                  </a:ext>
                </a:extLst>
              </a:tr>
            </a:tbl>
          </a:graphicData>
        </a:graphic>
      </p:graphicFrame>
      <p:sp>
        <p:nvSpPr>
          <p:cNvPr id="10" name="Revised-text-36">
            <a:extLst>
              <a:ext uri="{FF2B5EF4-FFF2-40B4-BE49-F238E27FC236}">
                <a16:creationId xmlns:a16="http://schemas.microsoft.com/office/drawing/2014/main" id="{EAC5F282-4D7D-42EF-BF57-14E161059CEF}"/>
              </a:ext>
            </a:extLst>
          </p:cNvPr>
          <p:cNvSpPr>
            <a:spLocks noGrp="1"/>
          </p:cNvSpPr>
          <p:nvPr/>
        </p:nvSpPr>
        <p:spPr>
          <a:xfrm>
            <a:off x="619125" y="6048375"/>
            <a:ext cx="10953750" cy="333375"/>
          </a:xfrm>
          <a:prstGeom prst="rect">
            <a:avLst/>
          </a:prstGeom>
          <a:noFill/>
          <a:ln w="0">
            <a:noFill/>
          </a:ln>
        </p:spPr>
        <p:txBody>
          <a:bodyPr wrap="square" lIns="0" tIns="0" rIns="0" bIns="0" anchor="t">
            <a:noAutofit/>
          </a:bodyPr>
          <a:lstStyle/>
          <a:p>
            <a:pPr algn="l">
              <a:buNone/>
              <a:defRPr sz="2025" b="0">
                <a:solidFill>
                  <a:srgbClr val="111111"/>
                </a:solidFill>
                <a:latin typeface="Aptos"/>
                <a:ea typeface="Aptos"/>
                <a:cs typeface="Aptos"/>
              </a:defRPr>
            </a:pPr>
            <a:r>
              <a:rPr sz="2025" b="0">
                <a:solidFill>
                  <a:srgbClr val="111111"/>
                </a:solidFill>
                <a:latin typeface="Aptos"/>
                <a:ea typeface="Aptos"/>
                <a:cs typeface="Aptos"/>
              </a:rPr>
              <a:t>For 1 and 3, explain why the numerical appearance may mislead.</a:t>
            </a:r>
          </a:p>
        </p:txBody>
      </p:sp>
    </p:spTree>
    <p:extLst>
      <p:ext uri="{BB962C8B-B14F-4D97-AF65-F5344CB8AC3E}">
        <p14:creationId xmlns:p14="http://schemas.microsoft.com/office/powerpoint/2010/main" val="3281361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A2: More variables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Classify the variable. Explain any answer that could be mistaken.</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A2</a:t>
            </a:r>
          </a:p>
        </p:txBody>
      </p:sp>
      <p:graphicFrame>
        <p:nvGraphicFramePr>
          <p:cNvPr id="13" name="Table 12"/>
          <p:cNvGraphicFramePr/>
          <p:nvPr/>
        </p:nvGraphicFramePr>
        <p:xfrm>
          <a:off x="571500" y="2705100"/>
          <a:ext cx="11049000" cy="3333750"/>
        </p:xfrm>
        <a:graphic>
          <a:graphicData uri="http://schemas.openxmlformats.org/drawingml/2006/table">
            <a:tbl>
              <a:tblPr/>
              <a:tblGrid>
                <a:gridCol w="66675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gridCol w="4667250">
                  <a:extLst>
                    <a:ext uri="{9D8B030D-6E8A-4147-A177-3AD203B41FA5}">
                      <a16:colId xmlns:a16="http://schemas.microsoft.com/office/drawing/2014/main" val="20002"/>
                    </a:ext>
                  </a:extLst>
                </a:gridCol>
              </a:tblGrid>
              <a:tr h="476250">
                <a:tc>
                  <a:txBody>
                    <a:bodyPr/>
                    <a:lstStyle/>
                    <a:p>
                      <a:r>
                        <a:rPr sz="2025" b="1">
                          <a:solidFill>
                            <a:srgbClr val="FFFFFF"/>
                          </a:solidFill>
                          <a:latin typeface="Aptos"/>
                          <a:ea typeface="Aptos"/>
                          <a:cs typeface="Aptos"/>
                        </a:rPr>
                        <a:t>No.</a:t>
                      </a:r>
                    </a:p>
                  </a:txBody>
                  <a:tcPr marL="95250" marR="95250" marT="28575" marB="28575" anchor="ctr">
                    <a:solidFill>
                      <a:srgbClr val="D6171D"/>
                    </a:solidFill>
                  </a:tcPr>
                </a:tc>
                <a:tc>
                  <a:txBody>
                    <a:bodyPr/>
                    <a:lstStyle/>
                    <a:p>
                      <a:r>
                        <a:rPr sz="2025" b="1">
                          <a:solidFill>
                            <a:srgbClr val="FFFFFF"/>
                          </a:solidFill>
                          <a:latin typeface="Aptos"/>
                          <a:ea typeface="Aptos"/>
                          <a:cs typeface="Aptos"/>
                        </a:rPr>
                        <a:t>Variable</a:t>
                      </a:r>
                    </a:p>
                  </a:txBody>
                  <a:tcPr marL="95250" marR="95250" marT="28575" marB="28575" anchor="ctr">
                    <a:solidFill>
                      <a:srgbClr val="D6171D"/>
                    </a:solidFill>
                  </a:tcPr>
                </a:tc>
                <a:tc>
                  <a:txBody>
                    <a:bodyPr/>
                    <a:lstStyle/>
                    <a:p>
                      <a:r>
                        <a:rPr sz="2025" b="1">
                          <a:solidFill>
                            <a:srgbClr val="FFFFFF"/>
                          </a:solidFill>
                          <a:latin typeface="Aptos"/>
                          <a:ea typeface="Aptos"/>
                          <a:cs typeface="Aptos"/>
                        </a:rPr>
                        <a:t>Example</a:t>
                      </a:r>
                    </a:p>
                  </a:txBody>
                  <a:tcPr marL="95250" marR="95250" marT="28575" marB="28575" anchor="ctr">
                    <a:solidFill>
                      <a:srgbClr val="D6171D"/>
                    </a:solidFill>
                  </a:tcPr>
                </a:tc>
                <a:extLst>
                  <a:ext uri="{0D108BD9-81ED-4DB2-BD59-A6C34878D82A}">
                    <a16:rowId xmlns:a16="http://schemas.microsoft.com/office/drawing/2014/main" val="10000"/>
                  </a:ext>
                </a:extLst>
              </a:tr>
              <a:tr h="476250">
                <a:tc>
                  <a:txBody>
                    <a:bodyPr/>
                    <a:lstStyle/>
                    <a:p>
                      <a:r>
                        <a:rPr sz="2025" b="0">
                          <a:solidFill>
                            <a:srgbClr val="111111"/>
                          </a:solidFill>
                          <a:latin typeface="Aptos"/>
                          <a:ea typeface="Aptos"/>
                          <a:cs typeface="Aptos"/>
                        </a:rPr>
                        <a:t>7</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Satisfaction category coded 1 to 5</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1 = very dissatisfied, 5 = very satisfied</a:t>
                      </a:r>
                    </a:p>
                  </a:txBody>
                  <a:tcPr marL="95250" marR="95250" marT="28575" marB="28575" anchor="ctr">
                    <a:solidFill>
                      <a:srgbClr val="FFFFFF"/>
                    </a:solidFill>
                  </a:tcPr>
                </a:tc>
                <a:extLst>
                  <a:ext uri="{0D108BD9-81ED-4DB2-BD59-A6C34878D82A}">
                    <a16:rowId xmlns:a16="http://schemas.microsoft.com/office/drawing/2014/main" val="10001"/>
                  </a:ext>
                </a:extLst>
              </a:tr>
              <a:tr h="476250">
                <a:tc>
                  <a:txBody>
                    <a:bodyPr/>
                    <a:lstStyle/>
                    <a:p>
                      <a:r>
                        <a:rPr sz="2025" b="0">
                          <a:solidFill>
                            <a:srgbClr val="111111"/>
                          </a:solidFill>
                          <a:latin typeface="Aptos"/>
                          <a:ea typeface="Aptos"/>
                          <a:cs typeface="Aptos"/>
                        </a:rPr>
                        <a:t>8</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Exact age</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18.73 years</a:t>
                      </a:r>
                    </a:p>
                  </a:txBody>
                  <a:tcPr marL="95250" marR="95250" marT="28575" marB="28575" anchor="ctr">
                    <a:solidFill>
                      <a:srgbClr val="EEF7FC"/>
                    </a:solidFill>
                  </a:tcPr>
                </a:tc>
                <a:extLst>
                  <a:ext uri="{0D108BD9-81ED-4DB2-BD59-A6C34878D82A}">
                    <a16:rowId xmlns:a16="http://schemas.microsoft.com/office/drawing/2014/main" val="10002"/>
                  </a:ext>
                </a:extLst>
              </a:tr>
              <a:tr h="476250">
                <a:tc>
                  <a:txBody>
                    <a:bodyPr/>
                    <a:lstStyle/>
                    <a:p>
                      <a:r>
                        <a:rPr sz="2025" b="0">
                          <a:solidFill>
                            <a:srgbClr val="111111"/>
                          </a:solidFill>
                          <a:latin typeface="Aptos"/>
                          <a:ea typeface="Aptos"/>
                          <a:cs typeface="Aptos"/>
                        </a:rPr>
                        <a:t>9</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Complete years of age counted at a date</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18 complete years</a:t>
                      </a:r>
                    </a:p>
                  </a:txBody>
                  <a:tcPr marL="95250" marR="95250" marT="28575" marB="28575" anchor="ctr">
                    <a:solidFill>
                      <a:srgbClr val="FFFFFF"/>
                    </a:solidFill>
                  </a:tcPr>
                </a:tc>
                <a:extLst>
                  <a:ext uri="{0D108BD9-81ED-4DB2-BD59-A6C34878D82A}">
                    <a16:rowId xmlns:a16="http://schemas.microsoft.com/office/drawing/2014/main" val="10003"/>
                  </a:ext>
                </a:extLst>
              </a:tr>
              <a:tr h="476250">
                <a:tc>
                  <a:txBody>
                    <a:bodyPr/>
                    <a:lstStyle/>
                    <a:p>
                      <a:r>
                        <a:rPr sz="2025" b="0">
                          <a:solidFill>
                            <a:srgbClr val="111111"/>
                          </a:solidFill>
                          <a:latin typeface="Aptos"/>
                          <a:ea typeface="Aptos"/>
                          <a:cs typeface="Aptos"/>
                        </a:rPr>
                        <a:t>10</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Faults found in one cable</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23 faults</a:t>
                      </a:r>
                    </a:p>
                  </a:txBody>
                  <a:tcPr marL="95250" marR="95250" marT="28575" marB="28575" anchor="ctr">
                    <a:solidFill>
                      <a:srgbClr val="EEF7FC"/>
                    </a:solidFill>
                  </a:tcPr>
                </a:tc>
                <a:extLst>
                  <a:ext uri="{0D108BD9-81ED-4DB2-BD59-A6C34878D82A}">
                    <a16:rowId xmlns:a16="http://schemas.microsoft.com/office/drawing/2014/main" val="10004"/>
                  </a:ext>
                </a:extLst>
              </a:tr>
              <a:tr h="476250">
                <a:tc>
                  <a:txBody>
                    <a:bodyPr/>
                    <a:lstStyle/>
                    <a:p>
                      <a:r>
                        <a:rPr sz="2025" b="0">
                          <a:solidFill>
                            <a:srgbClr val="111111"/>
                          </a:solidFill>
                          <a:latin typeface="Aptos"/>
                          <a:ea typeface="Aptos"/>
                          <a:cs typeface="Aptos"/>
                        </a:rPr>
                        <a:t>11</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Temperature measured in a laboratory</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21.6°C</a:t>
                      </a:r>
                    </a:p>
                  </a:txBody>
                  <a:tcPr marL="95250" marR="95250" marT="28575" marB="28575" anchor="ctr">
                    <a:solidFill>
                      <a:srgbClr val="FFFFFF"/>
                    </a:solidFill>
                  </a:tcPr>
                </a:tc>
                <a:extLst>
                  <a:ext uri="{0D108BD9-81ED-4DB2-BD59-A6C34878D82A}">
                    <a16:rowId xmlns:a16="http://schemas.microsoft.com/office/drawing/2014/main" val="10005"/>
                  </a:ext>
                </a:extLst>
              </a:tr>
              <a:tr h="476250">
                <a:tc>
                  <a:txBody>
                    <a:bodyPr/>
                    <a:lstStyle/>
                    <a:p>
                      <a:r>
                        <a:rPr sz="2025" b="0">
                          <a:solidFill>
                            <a:srgbClr val="111111"/>
                          </a:solidFill>
                          <a:latin typeface="Aptos"/>
                          <a:ea typeface="Aptos"/>
                          <a:cs typeface="Aptos"/>
                        </a:rPr>
                        <a:t>12</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Telephone number</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Digits used to identify a phone</a:t>
                      </a:r>
                    </a:p>
                  </a:txBody>
                  <a:tcPr marL="95250" marR="95250" marT="28575" marB="28575" anchor="ctr">
                    <a:solidFill>
                      <a:srgbClr val="EEF7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81361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A2: Answers 1–6</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Classify what the variable means.</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A2</a:t>
            </a:r>
          </a:p>
        </p:txBody>
      </p:sp>
      <p:graphicFrame>
        <p:nvGraphicFramePr>
          <p:cNvPr id="13" name="Table 12"/>
          <p:cNvGraphicFramePr/>
          <p:nvPr/>
        </p:nvGraphicFramePr>
        <p:xfrm>
          <a:off x="571500" y="2762250"/>
          <a:ext cx="11049000" cy="3491046"/>
        </p:xfrm>
        <a:graphic>
          <a:graphicData uri="http://schemas.openxmlformats.org/drawingml/2006/table">
            <a:tbl>
              <a:tblPr/>
              <a:tblGrid>
                <a:gridCol w="3952875">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469446">
                <a:tc>
                  <a:txBody>
                    <a:bodyPr/>
                    <a:lstStyle/>
                    <a:p>
                      <a:r>
                        <a:rPr sz="2025" b="1">
                          <a:solidFill>
                            <a:srgbClr val="FFFFFF"/>
                          </a:solidFill>
                          <a:latin typeface="Aptos"/>
                          <a:ea typeface="Aptos"/>
                          <a:cs typeface="Aptos"/>
                        </a:rPr>
                        <a:t>Variable</a:t>
                      </a:r>
                    </a:p>
                  </a:txBody>
                  <a:tcPr marL="95250" marR="95250" marT="28575" marB="28575" anchor="ctr">
                    <a:solidFill>
                      <a:srgbClr val="D6171D"/>
                    </a:solidFill>
                  </a:tcPr>
                </a:tc>
                <a:tc>
                  <a:txBody>
                    <a:bodyPr/>
                    <a:lstStyle/>
                    <a:p>
                      <a:r>
                        <a:rPr sz="2025" b="1">
                          <a:solidFill>
                            <a:srgbClr val="FFFFFF"/>
                          </a:solidFill>
                          <a:latin typeface="Aptos"/>
                          <a:ea typeface="Aptos"/>
                          <a:cs typeface="Aptos"/>
                        </a:rPr>
                        <a:t>Type</a:t>
                      </a:r>
                    </a:p>
                  </a:txBody>
                  <a:tcPr marL="95250" marR="95250" marT="28575" marB="28575" anchor="ctr">
                    <a:solidFill>
                      <a:srgbClr val="D6171D"/>
                    </a:solidFill>
                  </a:tcPr>
                </a:tc>
                <a:tc>
                  <a:txBody>
                    <a:bodyPr/>
                    <a:lstStyle/>
                    <a:p>
                      <a:r>
                        <a:rPr sz="2025" b="1">
                          <a:solidFill>
                            <a:srgbClr val="FFFFFF"/>
                          </a:solidFill>
                          <a:latin typeface="Aptos"/>
                          <a:ea typeface="Aptos"/>
                          <a:cs typeface="Aptos"/>
                        </a:rPr>
                        <a:t>Reason</a:t>
                      </a:r>
                    </a:p>
                  </a:txBody>
                  <a:tcPr marL="95250" marR="95250" marT="28575" marB="28575" anchor="ctr">
                    <a:solidFill>
                      <a:srgbClr val="D6171D"/>
                    </a:solidFill>
                  </a:tcPr>
                </a:tc>
                <a:extLst>
                  <a:ext uri="{0D108BD9-81ED-4DB2-BD59-A6C34878D82A}">
                    <a16:rowId xmlns:a16="http://schemas.microsoft.com/office/drawing/2014/main" val="10000"/>
                  </a:ext>
                </a:extLst>
              </a:tr>
              <a:tr h="469446">
                <a:tc>
                  <a:txBody>
                    <a:bodyPr/>
                    <a:lstStyle/>
                    <a:p>
                      <a:r>
                        <a:rPr sz="2025" b="0">
                          <a:solidFill>
                            <a:srgbClr val="111111"/>
                          </a:solidFill>
                          <a:latin typeface="Aptos"/>
                          <a:ea typeface="Aptos"/>
                          <a:cs typeface="Aptos"/>
                        </a:rPr>
                        <a:t>1  Programme code</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Categorical</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Codes identify groups</a:t>
                      </a:r>
                    </a:p>
                  </a:txBody>
                  <a:tcPr marL="95250" marR="95250" marT="28575" marB="28575" anchor="ctr">
                    <a:solidFill>
                      <a:srgbClr val="FFFFFF"/>
                    </a:solidFill>
                  </a:tcPr>
                </a:tc>
                <a:extLst>
                  <a:ext uri="{0D108BD9-81ED-4DB2-BD59-A6C34878D82A}">
                    <a16:rowId xmlns:a16="http://schemas.microsoft.com/office/drawing/2014/main" val="10001"/>
                  </a:ext>
                </a:extLst>
              </a:tr>
              <a:tr h="469446">
                <a:tc>
                  <a:txBody>
                    <a:bodyPr/>
                    <a:lstStyle/>
                    <a:p>
                      <a:r>
                        <a:rPr sz="2025" b="0">
                          <a:solidFill>
                            <a:srgbClr val="111111"/>
                          </a:solidFill>
                          <a:latin typeface="Aptos"/>
                          <a:ea typeface="Aptos"/>
                          <a:cs typeface="Aptos"/>
                        </a:rPr>
                        <a:t>2  Rejected products</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Quantitative–discrete</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Count of items</a:t>
                      </a:r>
                    </a:p>
                  </a:txBody>
                  <a:tcPr marL="95250" marR="95250" marT="28575" marB="28575" anchor="ctr">
                    <a:solidFill>
                      <a:srgbClr val="EEF7FC"/>
                    </a:solidFill>
                  </a:tcPr>
                </a:tc>
                <a:extLst>
                  <a:ext uri="{0D108BD9-81ED-4DB2-BD59-A6C34878D82A}">
                    <a16:rowId xmlns:a16="http://schemas.microsoft.com/office/drawing/2014/main" val="10002"/>
                  </a:ext>
                </a:extLst>
              </a:tr>
              <a:tr h="469446">
                <a:tc>
                  <a:txBody>
                    <a:bodyPr/>
                    <a:lstStyle/>
                    <a:p>
                      <a:r>
                        <a:rPr sz="2025" b="0">
                          <a:solidFill>
                            <a:srgbClr val="111111"/>
                          </a:solidFill>
                          <a:latin typeface="Aptos"/>
                          <a:ea typeface="Aptos"/>
                          <a:cs typeface="Aptos"/>
                        </a:rPr>
                        <a:t>3  Journey duration</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Quantitative–continuous</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Underlying time is measured</a:t>
                      </a:r>
                    </a:p>
                  </a:txBody>
                  <a:tcPr marL="95250" marR="95250" marT="28575" marB="28575" anchor="ctr">
                    <a:solidFill>
                      <a:srgbClr val="FFFFFF"/>
                    </a:solidFill>
                  </a:tcPr>
                </a:tc>
                <a:extLst>
                  <a:ext uri="{0D108BD9-81ED-4DB2-BD59-A6C34878D82A}">
                    <a16:rowId xmlns:a16="http://schemas.microsoft.com/office/drawing/2014/main" val="10003"/>
                  </a:ext>
                </a:extLst>
              </a:tr>
              <a:tr h="469446">
                <a:tc>
                  <a:txBody>
                    <a:bodyPr/>
                    <a:lstStyle/>
                    <a:p>
                      <a:r>
                        <a:rPr sz="2025" b="0">
                          <a:solidFill>
                            <a:srgbClr val="111111"/>
                          </a:solidFill>
                          <a:latin typeface="Aptos"/>
                          <a:ea typeface="Aptos"/>
                          <a:cs typeface="Aptos"/>
                        </a:rPr>
                        <a:t>4  Room number</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Categorical</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An identifier</a:t>
                      </a:r>
                    </a:p>
                  </a:txBody>
                  <a:tcPr marL="95250" marR="95250" marT="28575" marB="28575" anchor="ctr">
                    <a:solidFill>
                      <a:srgbClr val="EEF7FC"/>
                    </a:solidFill>
                  </a:tcPr>
                </a:tc>
                <a:extLst>
                  <a:ext uri="{0D108BD9-81ED-4DB2-BD59-A6C34878D82A}">
                    <a16:rowId xmlns:a16="http://schemas.microsoft.com/office/drawing/2014/main" val="10004"/>
                  </a:ext>
                </a:extLst>
              </a:tr>
              <a:tr h="469446">
                <a:tc>
                  <a:txBody>
                    <a:bodyPr/>
                    <a:lstStyle/>
                    <a:p>
                      <a:r>
                        <a:rPr sz="2025" b="0">
                          <a:solidFill>
                            <a:srgbClr val="111111"/>
                          </a:solidFill>
                          <a:latin typeface="Aptos"/>
                          <a:ea typeface="Aptos"/>
                          <a:cs typeface="Aptos"/>
                        </a:rPr>
                        <a:t>5  Customer calls</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Quantitative–discrete</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Count of calls</a:t>
                      </a:r>
                    </a:p>
                  </a:txBody>
                  <a:tcPr marL="95250" marR="95250" marT="28575" marB="28575" anchor="ctr">
                    <a:solidFill>
                      <a:srgbClr val="FFFFFF"/>
                    </a:solidFill>
                  </a:tcPr>
                </a:tc>
                <a:extLst>
                  <a:ext uri="{0D108BD9-81ED-4DB2-BD59-A6C34878D82A}">
                    <a16:rowId xmlns:a16="http://schemas.microsoft.com/office/drawing/2014/main" val="10005"/>
                  </a:ext>
                </a:extLst>
              </a:tr>
              <a:tr h="469446">
                <a:tc>
                  <a:txBody>
                    <a:bodyPr/>
                    <a:lstStyle/>
                    <a:p>
                      <a:r>
                        <a:rPr sz="2025" b="0">
                          <a:solidFill>
                            <a:srgbClr val="111111"/>
                          </a:solidFill>
                          <a:latin typeface="Aptos"/>
                          <a:ea typeface="Aptos"/>
                          <a:cs typeface="Aptos"/>
                        </a:rPr>
                        <a:t>6  Leftover mass</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Quantitative–continuous</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A measurement</a:t>
                      </a:r>
                    </a:p>
                  </a:txBody>
                  <a:tcPr marL="95250" marR="95250" marT="28575" marB="28575" anchor="ctr">
                    <a:solidFill>
                      <a:srgbClr val="EEF7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81361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A2: Answers 7–12</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Exact age and completed years define different variables.</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A2</a:t>
            </a:r>
          </a:p>
        </p:txBody>
      </p:sp>
      <p:graphicFrame>
        <p:nvGraphicFramePr>
          <p:cNvPr id="13" name="Table 12"/>
          <p:cNvGraphicFramePr/>
          <p:nvPr/>
        </p:nvGraphicFramePr>
        <p:xfrm>
          <a:off x="571500" y="2762250"/>
          <a:ext cx="11049000" cy="3491046"/>
        </p:xfrm>
        <a:graphic>
          <a:graphicData uri="http://schemas.openxmlformats.org/drawingml/2006/table">
            <a:tbl>
              <a:tblPr/>
              <a:tblGrid>
                <a:gridCol w="3952875">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469446">
                <a:tc>
                  <a:txBody>
                    <a:bodyPr/>
                    <a:lstStyle/>
                    <a:p>
                      <a:r>
                        <a:rPr sz="2025" b="1">
                          <a:solidFill>
                            <a:srgbClr val="FFFFFF"/>
                          </a:solidFill>
                          <a:latin typeface="Aptos"/>
                          <a:ea typeface="Aptos"/>
                          <a:cs typeface="Aptos"/>
                        </a:rPr>
                        <a:t>Variable</a:t>
                      </a:r>
                    </a:p>
                  </a:txBody>
                  <a:tcPr marL="95250" marR="95250" marT="28575" marB="28575" anchor="ctr">
                    <a:solidFill>
                      <a:srgbClr val="D6171D"/>
                    </a:solidFill>
                  </a:tcPr>
                </a:tc>
                <a:tc>
                  <a:txBody>
                    <a:bodyPr/>
                    <a:lstStyle/>
                    <a:p>
                      <a:r>
                        <a:rPr sz="2025" b="1">
                          <a:solidFill>
                            <a:srgbClr val="FFFFFF"/>
                          </a:solidFill>
                          <a:latin typeface="Aptos"/>
                          <a:ea typeface="Aptos"/>
                          <a:cs typeface="Aptos"/>
                        </a:rPr>
                        <a:t>Type</a:t>
                      </a:r>
                    </a:p>
                  </a:txBody>
                  <a:tcPr marL="95250" marR="95250" marT="28575" marB="28575" anchor="ctr">
                    <a:solidFill>
                      <a:srgbClr val="D6171D"/>
                    </a:solidFill>
                  </a:tcPr>
                </a:tc>
                <a:tc>
                  <a:txBody>
                    <a:bodyPr/>
                    <a:lstStyle/>
                    <a:p>
                      <a:r>
                        <a:rPr sz="2025" b="1">
                          <a:solidFill>
                            <a:srgbClr val="FFFFFF"/>
                          </a:solidFill>
                          <a:latin typeface="Aptos"/>
                          <a:ea typeface="Aptos"/>
                          <a:cs typeface="Aptos"/>
                        </a:rPr>
                        <a:t>Reason</a:t>
                      </a:r>
                    </a:p>
                  </a:txBody>
                  <a:tcPr marL="95250" marR="95250" marT="28575" marB="28575" anchor="ctr">
                    <a:solidFill>
                      <a:srgbClr val="D6171D"/>
                    </a:solidFill>
                  </a:tcPr>
                </a:tc>
                <a:extLst>
                  <a:ext uri="{0D108BD9-81ED-4DB2-BD59-A6C34878D82A}">
                    <a16:rowId xmlns:a16="http://schemas.microsoft.com/office/drawing/2014/main" val="10000"/>
                  </a:ext>
                </a:extLst>
              </a:tr>
              <a:tr h="469446">
                <a:tc>
                  <a:txBody>
                    <a:bodyPr/>
                    <a:lstStyle/>
                    <a:p>
                      <a:r>
                        <a:rPr sz="2025" b="0">
                          <a:solidFill>
                            <a:srgbClr val="111111"/>
                          </a:solidFill>
                          <a:latin typeface="Aptos"/>
                          <a:ea typeface="Aptos"/>
                          <a:cs typeface="Aptos"/>
                        </a:rPr>
                        <a:t>7  Satisfaction code</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Categorical</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Ordered response labels</a:t>
                      </a:r>
                    </a:p>
                  </a:txBody>
                  <a:tcPr marL="95250" marR="95250" marT="28575" marB="28575" anchor="ctr">
                    <a:solidFill>
                      <a:srgbClr val="FFFFFF"/>
                    </a:solidFill>
                  </a:tcPr>
                </a:tc>
                <a:extLst>
                  <a:ext uri="{0D108BD9-81ED-4DB2-BD59-A6C34878D82A}">
                    <a16:rowId xmlns:a16="http://schemas.microsoft.com/office/drawing/2014/main" val="10001"/>
                  </a:ext>
                </a:extLst>
              </a:tr>
              <a:tr h="469446">
                <a:tc>
                  <a:txBody>
                    <a:bodyPr/>
                    <a:lstStyle/>
                    <a:p>
                      <a:r>
                        <a:rPr sz="2025" b="0">
                          <a:solidFill>
                            <a:srgbClr val="111111"/>
                          </a:solidFill>
                          <a:latin typeface="Aptos"/>
                          <a:ea typeface="Aptos"/>
                          <a:cs typeface="Aptos"/>
                        </a:rPr>
                        <a:t>8  Exact age</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Quantitative–continuous</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Elapsed time</a:t>
                      </a:r>
                    </a:p>
                  </a:txBody>
                  <a:tcPr marL="95250" marR="95250" marT="28575" marB="28575" anchor="ctr">
                    <a:solidFill>
                      <a:srgbClr val="EEF7FC"/>
                    </a:solidFill>
                  </a:tcPr>
                </a:tc>
                <a:extLst>
                  <a:ext uri="{0D108BD9-81ED-4DB2-BD59-A6C34878D82A}">
                    <a16:rowId xmlns:a16="http://schemas.microsoft.com/office/drawing/2014/main" val="10002"/>
                  </a:ext>
                </a:extLst>
              </a:tr>
              <a:tr h="469446">
                <a:tc>
                  <a:txBody>
                    <a:bodyPr/>
                    <a:lstStyle/>
                    <a:p>
                      <a:r>
                        <a:rPr sz="2025" b="0">
                          <a:solidFill>
                            <a:srgbClr val="111111"/>
                          </a:solidFill>
                          <a:latin typeface="Aptos"/>
                          <a:ea typeface="Aptos"/>
                          <a:cs typeface="Aptos"/>
                        </a:rPr>
                        <a:t>9  Complete years</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Quantitative–discrete</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Integer count of completed years</a:t>
                      </a:r>
                    </a:p>
                  </a:txBody>
                  <a:tcPr marL="95250" marR="95250" marT="28575" marB="28575" anchor="ctr">
                    <a:solidFill>
                      <a:srgbClr val="FFFFFF"/>
                    </a:solidFill>
                  </a:tcPr>
                </a:tc>
                <a:extLst>
                  <a:ext uri="{0D108BD9-81ED-4DB2-BD59-A6C34878D82A}">
                    <a16:rowId xmlns:a16="http://schemas.microsoft.com/office/drawing/2014/main" val="10003"/>
                  </a:ext>
                </a:extLst>
              </a:tr>
              <a:tr h="469446">
                <a:tc>
                  <a:txBody>
                    <a:bodyPr/>
                    <a:lstStyle/>
                    <a:p>
                      <a:r>
                        <a:rPr sz="2025" b="0">
                          <a:solidFill>
                            <a:srgbClr val="111111"/>
                          </a:solidFill>
                          <a:latin typeface="Aptos"/>
                          <a:ea typeface="Aptos"/>
                          <a:cs typeface="Aptos"/>
                        </a:rPr>
                        <a:t>10  Faults</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Quantitative–discrete</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Count of faults</a:t>
                      </a:r>
                    </a:p>
                  </a:txBody>
                  <a:tcPr marL="95250" marR="95250" marT="28575" marB="28575" anchor="ctr">
                    <a:solidFill>
                      <a:srgbClr val="EEF7FC"/>
                    </a:solidFill>
                  </a:tcPr>
                </a:tc>
                <a:extLst>
                  <a:ext uri="{0D108BD9-81ED-4DB2-BD59-A6C34878D82A}">
                    <a16:rowId xmlns:a16="http://schemas.microsoft.com/office/drawing/2014/main" val="10004"/>
                  </a:ext>
                </a:extLst>
              </a:tr>
              <a:tr h="469446">
                <a:tc>
                  <a:txBody>
                    <a:bodyPr/>
                    <a:lstStyle/>
                    <a:p>
                      <a:r>
                        <a:rPr sz="2025" b="0">
                          <a:solidFill>
                            <a:srgbClr val="111111"/>
                          </a:solidFill>
                          <a:latin typeface="Aptos"/>
                          <a:ea typeface="Aptos"/>
                          <a:cs typeface="Aptos"/>
                        </a:rPr>
                        <a:t>11  Temperature</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Quantitative–continuous</a:t>
                      </a:r>
                    </a:p>
                  </a:txBody>
                  <a:tcPr marL="95250" marR="95250" marT="28575" marB="28575" anchor="ctr">
                    <a:solidFill>
                      <a:srgbClr val="FFFFFF"/>
                    </a:solidFill>
                  </a:tcPr>
                </a:tc>
                <a:tc>
                  <a:txBody>
                    <a:bodyPr/>
                    <a:lstStyle/>
                    <a:p>
                      <a:r>
                        <a:rPr sz="2025" b="0">
                          <a:solidFill>
                            <a:srgbClr val="111111"/>
                          </a:solidFill>
                          <a:latin typeface="Aptos"/>
                          <a:ea typeface="Aptos"/>
                          <a:cs typeface="Aptos"/>
                        </a:rPr>
                        <a:t>A measurement</a:t>
                      </a:r>
                    </a:p>
                  </a:txBody>
                  <a:tcPr marL="95250" marR="95250" marT="28575" marB="28575" anchor="ctr">
                    <a:solidFill>
                      <a:srgbClr val="FFFFFF"/>
                    </a:solidFill>
                  </a:tcPr>
                </a:tc>
                <a:extLst>
                  <a:ext uri="{0D108BD9-81ED-4DB2-BD59-A6C34878D82A}">
                    <a16:rowId xmlns:a16="http://schemas.microsoft.com/office/drawing/2014/main" val="10005"/>
                  </a:ext>
                </a:extLst>
              </a:tr>
              <a:tr h="469446">
                <a:tc>
                  <a:txBody>
                    <a:bodyPr/>
                    <a:lstStyle/>
                    <a:p>
                      <a:r>
                        <a:rPr sz="2025" b="0">
                          <a:solidFill>
                            <a:srgbClr val="111111"/>
                          </a:solidFill>
                          <a:latin typeface="Aptos"/>
                          <a:ea typeface="Aptos"/>
                          <a:cs typeface="Aptos"/>
                        </a:rPr>
                        <a:t>12  Telephone number</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Categorical</a:t>
                      </a:r>
                    </a:p>
                  </a:txBody>
                  <a:tcPr marL="95250" marR="95250" marT="28575" marB="28575" anchor="ctr">
                    <a:solidFill>
                      <a:srgbClr val="EEF7FC"/>
                    </a:solidFill>
                  </a:tcPr>
                </a:tc>
                <a:tc>
                  <a:txBody>
                    <a:bodyPr/>
                    <a:lstStyle/>
                    <a:p>
                      <a:r>
                        <a:rPr sz="2025" b="0">
                          <a:solidFill>
                            <a:srgbClr val="111111"/>
                          </a:solidFill>
                          <a:latin typeface="Aptos"/>
                          <a:ea typeface="Aptos"/>
                          <a:cs typeface="Aptos"/>
                        </a:rPr>
                        <a:t>An identifier</a:t>
                      </a:r>
                    </a:p>
                  </a:txBody>
                  <a:tcPr marL="95250" marR="95250" marT="28575" marB="28575" anchor="ctr">
                    <a:solidFill>
                      <a:srgbClr val="EEF7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81361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Section 3:</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Simple random</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sampling</a:t>
            </a:r>
          </a:p>
        </p:txBody>
      </p:sp>
    </p:spTree>
    <p:extLst>
      <p:ext uri="{BB962C8B-B14F-4D97-AF65-F5344CB8AC3E}">
        <p14:creationId xmlns:p14="http://schemas.microsoft.com/office/powerpoint/2010/main" val="3281361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What makes a sample random?</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19125"/>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Choose </a:t>
            </a:r>
            <a:r>
              <a:rPr sz="2325" b="1">
                <a:solidFill>
                  <a:srgbClr val="111111"/>
                </a:solidFill>
                <a:latin typeface="Aptos"/>
                <a:ea typeface="Aptos"/>
                <a:cs typeface="Aptos"/>
              </a:rPr>
              <a:t>two students from five</a:t>
            </a:r>
            <a:r>
              <a:rPr sz="2325" b="0">
                <a:solidFill>
                  <a:srgbClr val="111111"/>
                </a:solidFill>
                <a:latin typeface="Aptos"/>
                <a:ea typeface="Aptos"/>
                <a:cs typeface="Aptos"/>
              </a:rPr>
              <a:t>, in this small demonstration.</a:t>
            </a:r>
          </a:p>
        </p:txBody>
      </p:sp>
      <p:pic>
        <p:nvPicPr>
          <p:cNvPr id="10" name="Picture 9"/>
          <p:cNvPicPr>
            <a:picLocks noChangeAspect="1"/>
          </p:cNvPicPr>
          <p:nvPr/>
        </p:nvPicPr>
        <p:blipFill>
          <a:blip r:embed="rId3"/>
          <a:stretch/>
        </p:blipFill>
        <p:spPr>
          <a:xfrm>
            <a:off x="6191250" y="2955314"/>
            <a:ext cx="5334000" cy="2461846"/>
          </a:xfrm>
          <a:prstGeom prst="rect">
            <a:avLst/>
          </a:prstGeom>
        </p:spPr>
      </p:pic>
      <p:sp>
        <p:nvSpPr>
          <p:cNvPr id="5" name="S27-text-2">
            <a:extLst>
              <a:ext uri="{FF2B5EF4-FFF2-40B4-BE49-F238E27FC236}">
                <a16:creationId xmlns:a16="http://schemas.microsoft.com/office/drawing/2014/main" id="{C07DB56F-7721-469D-A9C6-07E3990CC7CF}"/>
              </a:ext>
            </a:extLst>
          </p:cNvPr>
          <p:cNvSpPr>
            <a:spLocks noGrp="1"/>
          </p:cNvSpPr>
          <p:nvPr/>
        </p:nvSpPr>
        <p:spPr>
          <a:xfrm>
            <a:off x="619125" y="3057525"/>
            <a:ext cx="5238750" cy="24765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There are </a:t>
            </a:r>
            <a:r>
              <a:rPr sz="2325" b="1">
                <a:solidFill>
                  <a:srgbClr val="111111"/>
                </a:solidFill>
                <a:latin typeface="Aptos"/>
                <a:ea typeface="Aptos"/>
                <a:cs typeface="Aptos"/>
              </a:rPr>
              <a:t>10 possible pairs</a:t>
            </a:r>
            <a:r>
              <a:rPr sz="2325" b="0">
                <a:solidFill>
                  <a:srgbClr val="111111"/>
                </a:solidFill>
                <a:latin typeface="Aptos"/>
                <a:ea typeface="Aptos"/>
                <a:cs typeface="Aptos"/>
              </a:rPr>
              <a:t>.</a:t>
            </a:r>
          </a:p>
          <a:p>
            <a:pPr marL="0" indent="0">
              <a:spcBef>
                <a:spcPts val="0"/>
              </a:spcBef>
              <a:spcAft>
                <a:spcPts val="0"/>
              </a:spcAft>
              <a:buNone/>
            </a:pPr>
            <a:endParaRPr sz="2325" b="0">
              <a:solidFill>
                <a:srgbClr val="111111"/>
              </a:solidFill>
              <a:latin typeface="Aptos"/>
              <a:ea typeface="Aptos"/>
              <a:cs typeface="Aptos"/>
            </a:endParaRPr>
          </a:p>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In simple random sampling,</a:t>
            </a:r>
          </a:p>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every possible pair has</a:t>
            </a:r>
          </a:p>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the same chance</a:t>
            </a:r>
            <a:r>
              <a:rPr sz="2325" b="0">
                <a:solidFill>
                  <a:srgbClr val="111111"/>
                </a:solidFill>
                <a:latin typeface="Aptos"/>
                <a:ea typeface="Aptos"/>
                <a:cs typeface="Aptos"/>
              </a:rPr>
              <a:t>.</a:t>
            </a:r>
          </a:p>
        </p:txBody>
      </p:sp>
      <p:sp>
        <p:nvSpPr>
          <p:cNvPr id="6" name="S27-text-3">
            <a:extLst>
              <a:ext uri="{FF2B5EF4-FFF2-40B4-BE49-F238E27FC236}">
                <a16:creationId xmlns:a16="http://schemas.microsoft.com/office/drawing/2014/main" id="{DDA2EC87-827A-4BB7-9026-D11CF5CA29FD}"/>
              </a:ext>
            </a:extLst>
          </p:cNvPr>
          <p:cNvSpPr>
            <a:spLocks noGrp="1"/>
          </p:cNvSpPr>
          <p:nvPr/>
        </p:nvSpPr>
        <p:spPr>
          <a:xfrm>
            <a:off x="523875" y="5953125"/>
            <a:ext cx="11049000" cy="2857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a:solidFill>
                  <a:srgbClr val="111111"/>
                </a:solidFill>
                <a:latin typeface="Aptos"/>
                <a:ea typeface="Aptos"/>
                <a:cs typeface="Aptos"/>
              </a:defRPr>
            </a:pPr>
            <a:r>
              <a:rPr sz="1575" b="0">
                <a:solidFill>
                  <a:srgbClr val="111111"/>
                </a:solidFill>
                <a:latin typeface="Aptos"/>
                <a:ea typeface="Aptos"/>
                <a:cs typeface="Aptos"/>
              </a:rPr>
              <a:t>General rule: every possible sample of the chosen size has the same chance.</a:t>
            </a:r>
          </a:p>
        </p:txBody>
      </p:sp>
    </p:spTree>
    <p:extLst>
      <p:ext uri="{BB962C8B-B14F-4D97-AF65-F5344CB8AC3E}">
        <p14:creationId xmlns:p14="http://schemas.microsoft.com/office/powerpoint/2010/main" val="3281361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How simple random selection works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Use a random process to choose people from a complete list.</a:t>
            </a:r>
          </a:p>
        </p:txBody>
      </p:sp>
      <p:sp>
        <p:nvSpPr>
          <p:cNvPr id="4" name="VisualRevisionBox-33">
            <a:extLst>
              <a:ext uri="{FF2B5EF4-FFF2-40B4-BE49-F238E27FC236}">
                <a16:creationId xmlns:a16="http://schemas.microsoft.com/office/drawing/2014/main" id="{DE6E2CDA-83B5-4F10-ADB7-183FC827E078}"/>
              </a:ext>
            </a:extLst>
          </p:cNvPr>
          <p:cNvSpPr>
            <a:spLocks noGrp="1"/>
          </p:cNvSpPr>
          <p:nvPr/>
        </p:nvSpPr>
        <p:spPr>
          <a:xfrm>
            <a:off x="619125" y="2800350"/>
            <a:ext cx="457200" cy="457200"/>
          </a:xfrm>
          <a:prstGeom prst="rect">
            <a:avLst/>
          </a:prstGeom>
          <a:solidFill>
            <a:srgbClr val="D6171D"/>
          </a:solidFill>
          <a:ln w="14288">
            <a:solidFill>
              <a:srgbClr val="D6171D"/>
            </a:solidFill>
          </a:ln>
        </p:spPr>
        <p:txBody>
          <a:bodyPr/>
          <a:lstStyle/>
          <a:p>
            <a:endParaRPr lang="en-US"/>
          </a:p>
        </p:txBody>
      </p:sp>
      <p:sp>
        <p:nvSpPr>
          <p:cNvPr id="5" name="VisualRevision-34">
            <a:extLst>
              <a:ext uri="{FF2B5EF4-FFF2-40B4-BE49-F238E27FC236}">
                <a16:creationId xmlns:a16="http://schemas.microsoft.com/office/drawing/2014/main" id="{0F7C85BE-62B7-49D6-83B7-BF84DADDB8AB}"/>
              </a:ext>
            </a:extLst>
          </p:cNvPr>
          <p:cNvSpPr>
            <a:spLocks noGrp="1"/>
          </p:cNvSpPr>
          <p:nvPr/>
        </p:nvSpPr>
        <p:spPr>
          <a:xfrm>
            <a:off x="619125" y="2828925"/>
            <a:ext cx="457200" cy="381000"/>
          </a:xfrm>
          <a:prstGeom prst="rect">
            <a:avLst/>
          </a:prstGeom>
          <a:noFill/>
          <a:ln w="0">
            <a:noFill/>
          </a:ln>
        </p:spPr>
        <p:txBody>
          <a:bodyPr wrap="square" lIns="0" tIns="0" rIns="0" bIns="0" anchor="t">
            <a:noAutofit/>
          </a:bodyPr>
          <a:lstStyle/>
          <a:p>
            <a:pPr algn="ctr">
              <a:defRPr sz="2250" b="1">
                <a:solidFill>
                  <a:srgbClr val="FFFFFF"/>
                </a:solidFill>
                <a:latin typeface="Aptos"/>
                <a:ea typeface="Aptos"/>
                <a:cs typeface="Aptos"/>
              </a:defRPr>
            </a:pPr>
            <a:r>
              <a:rPr sz="2250" b="1">
                <a:solidFill>
                  <a:srgbClr val="FFFFFF"/>
                </a:solidFill>
                <a:latin typeface="Aptos"/>
                <a:ea typeface="Aptos"/>
                <a:cs typeface="Aptos"/>
              </a:rPr>
              <a:t>1</a:t>
            </a:r>
          </a:p>
        </p:txBody>
      </p:sp>
      <p:sp>
        <p:nvSpPr>
          <p:cNvPr id="6" name="VisualRevision-35">
            <a:extLst>
              <a:ext uri="{FF2B5EF4-FFF2-40B4-BE49-F238E27FC236}">
                <a16:creationId xmlns:a16="http://schemas.microsoft.com/office/drawing/2014/main" id="{078B9183-C97F-4843-BD4D-832F4D39B354}"/>
              </a:ext>
            </a:extLst>
          </p:cNvPr>
          <p:cNvSpPr>
            <a:spLocks noGrp="1"/>
          </p:cNvSpPr>
          <p:nvPr/>
        </p:nvSpPr>
        <p:spPr>
          <a:xfrm>
            <a:off x="1295400" y="2781300"/>
            <a:ext cx="10096500" cy="38100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List everyone</a:t>
            </a:r>
          </a:p>
        </p:txBody>
      </p:sp>
      <p:sp>
        <p:nvSpPr>
          <p:cNvPr id="7" name="VisualRevision-36">
            <a:extLst>
              <a:ext uri="{FF2B5EF4-FFF2-40B4-BE49-F238E27FC236}">
                <a16:creationId xmlns:a16="http://schemas.microsoft.com/office/drawing/2014/main" id="{C359D8CE-07A4-4C38-A699-2737D3D0E4D0}"/>
              </a:ext>
            </a:extLst>
          </p:cNvPr>
          <p:cNvSpPr>
            <a:spLocks noGrp="1"/>
          </p:cNvSpPr>
          <p:nvPr/>
        </p:nvSpPr>
        <p:spPr>
          <a:xfrm>
            <a:off x="1295400" y="3190875"/>
            <a:ext cx="10096500" cy="39052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Give each person a unique ID.</a:t>
            </a:r>
          </a:p>
        </p:txBody>
      </p:sp>
      <p:sp>
        <p:nvSpPr>
          <p:cNvPr id="8" name="VisualRevisionBox-37">
            <a:extLst>
              <a:ext uri="{FF2B5EF4-FFF2-40B4-BE49-F238E27FC236}">
                <a16:creationId xmlns:a16="http://schemas.microsoft.com/office/drawing/2014/main" id="{4DBB8BF7-DBA9-4607-A23C-5B12D0F4F672}"/>
              </a:ext>
            </a:extLst>
          </p:cNvPr>
          <p:cNvSpPr>
            <a:spLocks noGrp="1"/>
          </p:cNvSpPr>
          <p:nvPr/>
        </p:nvSpPr>
        <p:spPr>
          <a:xfrm>
            <a:off x="619125" y="3819525"/>
            <a:ext cx="457200" cy="457200"/>
          </a:xfrm>
          <a:prstGeom prst="rect">
            <a:avLst/>
          </a:prstGeom>
          <a:solidFill>
            <a:srgbClr val="D6171D"/>
          </a:solidFill>
          <a:ln w="14288">
            <a:solidFill>
              <a:srgbClr val="D6171D"/>
            </a:solidFill>
          </a:ln>
        </p:spPr>
        <p:txBody>
          <a:bodyPr/>
          <a:lstStyle/>
          <a:p>
            <a:endParaRPr lang="en-US"/>
          </a:p>
        </p:txBody>
      </p:sp>
      <p:sp>
        <p:nvSpPr>
          <p:cNvPr id="9" name="VisualRevision-38">
            <a:extLst>
              <a:ext uri="{FF2B5EF4-FFF2-40B4-BE49-F238E27FC236}">
                <a16:creationId xmlns:a16="http://schemas.microsoft.com/office/drawing/2014/main" id="{9CA2B630-10A0-4CDE-8597-361A9A36BA10}"/>
              </a:ext>
            </a:extLst>
          </p:cNvPr>
          <p:cNvSpPr>
            <a:spLocks noGrp="1"/>
          </p:cNvSpPr>
          <p:nvPr/>
        </p:nvSpPr>
        <p:spPr>
          <a:xfrm>
            <a:off x="619125" y="3848100"/>
            <a:ext cx="457200" cy="381000"/>
          </a:xfrm>
          <a:prstGeom prst="rect">
            <a:avLst/>
          </a:prstGeom>
          <a:noFill/>
          <a:ln w="0">
            <a:noFill/>
          </a:ln>
        </p:spPr>
        <p:txBody>
          <a:bodyPr wrap="square" lIns="0" tIns="0" rIns="0" bIns="0" anchor="t">
            <a:noAutofit/>
          </a:bodyPr>
          <a:lstStyle/>
          <a:p>
            <a:pPr algn="ctr">
              <a:defRPr sz="2250" b="1">
                <a:solidFill>
                  <a:srgbClr val="FFFFFF"/>
                </a:solidFill>
                <a:latin typeface="Aptos"/>
                <a:ea typeface="Aptos"/>
                <a:cs typeface="Aptos"/>
              </a:defRPr>
            </a:pPr>
            <a:r>
              <a:rPr sz="2250" b="1">
                <a:solidFill>
                  <a:srgbClr val="FFFFFF"/>
                </a:solidFill>
                <a:latin typeface="Aptos"/>
                <a:ea typeface="Aptos"/>
                <a:cs typeface="Aptos"/>
              </a:rPr>
              <a:t>2</a:t>
            </a:r>
          </a:p>
        </p:txBody>
      </p:sp>
      <p:sp>
        <p:nvSpPr>
          <p:cNvPr id="10" name="VisualRevision-39">
            <a:extLst>
              <a:ext uri="{FF2B5EF4-FFF2-40B4-BE49-F238E27FC236}">
                <a16:creationId xmlns:a16="http://schemas.microsoft.com/office/drawing/2014/main" id="{ADA2F359-38F6-4B2A-9ADE-BDF819E8FF61}"/>
              </a:ext>
            </a:extLst>
          </p:cNvPr>
          <p:cNvSpPr>
            <a:spLocks noGrp="1"/>
          </p:cNvSpPr>
          <p:nvPr/>
        </p:nvSpPr>
        <p:spPr>
          <a:xfrm>
            <a:off x="1295400" y="3800475"/>
            <a:ext cx="10096500" cy="38100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Let a random generator choose</a:t>
            </a:r>
          </a:p>
        </p:txBody>
      </p:sp>
      <p:sp>
        <p:nvSpPr>
          <p:cNvPr id="11" name="VisualRevision-40">
            <a:extLst>
              <a:ext uri="{FF2B5EF4-FFF2-40B4-BE49-F238E27FC236}">
                <a16:creationId xmlns:a16="http://schemas.microsoft.com/office/drawing/2014/main" id="{21BCC167-AAC1-435B-A64E-6C00A0B4DB97}"/>
              </a:ext>
            </a:extLst>
          </p:cNvPr>
          <p:cNvSpPr>
            <a:spLocks noGrp="1"/>
          </p:cNvSpPr>
          <p:nvPr/>
        </p:nvSpPr>
        <p:spPr>
          <a:xfrm>
            <a:off x="1295400" y="4210050"/>
            <a:ext cx="10096500" cy="61912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Select the required number of distinct IDs,</a:t>
            </a:r>
          </a:p>
          <a:p>
            <a:pPr algn="l">
              <a:defRPr sz="2175" b="0">
                <a:solidFill>
                  <a:srgbClr val="111111"/>
                </a:solidFill>
                <a:latin typeface="Aptos"/>
                <a:ea typeface="Aptos"/>
                <a:cs typeface="Aptos"/>
              </a:defRPr>
            </a:pPr>
            <a:r>
              <a:rPr sz="2175" b="0">
                <a:solidFill>
                  <a:srgbClr val="111111"/>
                </a:solidFill>
                <a:latin typeface="Aptos"/>
                <a:ea typeface="Aptos"/>
                <a:cs typeface="Aptos"/>
              </a:rPr>
              <a:t>with equal chances and no repeated IDs.</a:t>
            </a:r>
          </a:p>
        </p:txBody>
      </p:sp>
      <p:sp>
        <p:nvSpPr>
          <p:cNvPr id="12" name="VisualRevisionBox-41">
            <a:extLst>
              <a:ext uri="{FF2B5EF4-FFF2-40B4-BE49-F238E27FC236}">
                <a16:creationId xmlns:a16="http://schemas.microsoft.com/office/drawing/2014/main" id="{085EE2CE-CD6D-4D4F-B67A-05BEA2385050}"/>
              </a:ext>
            </a:extLst>
          </p:cNvPr>
          <p:cNvSpPr>
            <a:spLocks noGrp="1"/>
          </p:cNvSpPr>
          <p:nvPr/>
        </p:nvSpPr>
        <p:spPr>
          <a:xfrm>
            <a:off x="619125" y="5095875"/>
            <a:ext cx="457200" cy="457200"/>
          </a:xfrm>
          <a:prstGeom prst="rect">
            <a:avLst/>
          </a:prstGeom>
          <a:solidFill>
            <a:srgbClr val="D6171D"/>
          </a:solidFill>
          <a:ln w="14288">
            <a:solidFill>
              <a:srgbClr val="D6171D"/>
            </a:solidFill>
          </a:ln>
        </p:spPr>
        <p:txBody>
          <a:bodyPr/>
          <a:lstStyle/>
          <a:p>
            <a:endParaRPr lang="en-US"/>
          </a:p>
        </p:txBody>
      </p:sp>
      <p:sp>
        <p:nvSpPr>
          <p:cNvPr id="13" name="VisualRevision-42">
            <a:extLst>
              <a:ext uri="{FF2B5EF4-FFF2-40B4-BE49-F238E27FC236}">
                <a16:creationId xmlns:a16="http://schemas.microsoft.com/office/drawing/2014/main" id="{615BCC49-1599-4DFE-B684-D432E9F0C46C}"/>
              </a:ext>
            </a:extLst>
          </p:cNvPr>
          <p:cNvSpPr>
            <a:spLocks noGrp="1"/>
          </p:cNvSpPr>
          <p:nvPr/>
        </p:nvSpPr>
        <p:spPr>
          <a:xfrm>
            <a:off x="619125" y="5124450"/>
            <a:ext cx="457200" cy="381000"/>
          </a:xfrm>
          <a:prstGeom prst="rect">
            <a:avLst/>
          </a:prstGeom>
          <a:noFill/>
          <a:ln w="0">
            <a:noFill/>
          </a:ln>
        </p:spPr>
        <p:txBody>
          <a:bodyPr wrap="square" lIns="0" tIns="0" rIns="0" bIns="0" anchor="t">
            <a:noAutofit/>
          </a:bodyPr>
          <a:lstStyle/>
          <a:p>
            <a:pPr algn="ctr">
              <a:defRPr sz="2250" b="1">
                <a:solidFill>
                  <a:srgbClr val="FFFFFF"/>
                </a:solidFill>
                <a:latin typeface="Aptos"/>
                <a:ea typeface="Aptos"/>
                <a:cs typeface="Aptos"/>
              </a:defRPr>
            </a:pPr>
            <a:r>
              <a:rPr sz="2250" b="1">
                <a:solidFill>
                  <a:srgbClr val="FFFFFF"/>
                </a:solidFill>
                <a:latin typeface="Aptos"/>
                <a:ea typeface="Aptos"/>
                <a:cs typeface="Aptos"/>
              </a:rPr>
              <a:t>3</a:t>
            </a:r>
          </a:p>
        </p:txBody>
      </p:sp>
      <p:sp>
        <p:nvSpPr>
          <p:cNvPr id="14" name="VisualRevision-43">
            <a:extLst>
              <a:ext uri="{FF2B5EF4-FFF2-40B4-BE49-F238E27FC236}">
                <a16:creationId xmlns:a16="http://schemas.microsoft.com/office/drawing/2014/main" id="{9AC85638-34CE-4F9F-8A3B-FBF51B7D73BD}"/>
              </a:ext>
            </a:extLst>
          </p:cNvPr>
          <p:cNvSpPr>
            <a:spLocks noGrp="1"/>
          </p:cNvSpPr>
          <p:nvPr/>
        </p:nvSpPr>
        <p:spPr>
          <a:xfrm>
            <a:off x="1295400" y="5076825"/>
            <a:ext cx="10096500" cy="38100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Match IDs back to people</a:t>
            </a:r>
          </a:p>
        </p:txBody>
      </p:sp>
      <p:sp>
        <p:nvSpPr>
          <p:cNvPr id="15" name="VisualRevision-44">
            <a:extLst>
              <a:ext uri="{FF2B5EF4-FFF2-40B4-BE49-F238E27FC236}">
                <a16:creationId xmlns:a16="http://schemas.microsoft.com/office/drawing/2014/main" id="{3EE5ED90-7269-43CB-9728-50C6474EB962}"/>
              </a:ext>
            </a:extLst>
          </p:cNvPr>
          <p:cNvSpPr>
            <a:spLocks noGrp="1"/>
          </p:cNvSpPr>
          <p:nvPr/>
        </p:nvSpPr>
        <p:spPr>
          <a:xfrm>
            <a:off x="1295400" y="5486400"/>
            <a:ext cx="10096500" cy="39052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The matching people form the selected sample.</a:t>
            </a:r>
          </a:p>
        </p:txBody>
      </p:sp>
      <p:sp>
        <p:nvSpPr>
          <p:cNvPr id="16" name="VisualRevision-45">
            <a:extLst>
              <a:ext uri="{FF2B5EF4-FFF2-40B4-BE49-F238E27FC236}">
                <a16:creationId xmlns:a16="http://schemas.microsoft.com/office/drawing/2014/main" id="{5EFA63F2-673A-4505-8D6F-7FC06BBD2BFB}"/>
              </a:ext>
            </a:extLst>
          </p:cNvPr>
          <p:cNvSpPr>
            <a:spLocks noGrp="1"/>
          </p:cNvSpPr>
          <p:nvPr/>
        </p:nvSpPr>
        <p:spPr>
          <a:xfrm>
            <a:off x="619125" y="6038850"/>
            <a:ext cx="10953750" cy="304800"/>
          </a:xfrm>
          <a:prstGeom prst="rect">
            <a:avLst/>
          </a:prstGeom>
          <a:noFill/>
          <a:ln w="0">
            <a:noFill/>
          </a:ln>
        </p:spPr>
        <p:txBody>
          <a:bodyPr wrap="square" lIns="0" tIns="0" rIns="0" bIns="0" anchor="t">
            <a:noAutofit/>
          </a:bodyPr>
          <a:lstStyle/>
          <a:p>
            <a:pPr algn="l">
              <a:defRPr sz="1875" b="1">
                <a:solidFill>
                  <a:srgbClr val="111111"/>
                </a:solidFill>
                <a:latin typeface="Aptos"/>
                <a:ea typeface="Aptos"/>
                <a:cs typeface="Aptos"/>
              </a:defRPr>
            </a:pPr>
            <a:r>
              <a:rPr sz="1875" b="1">
                <a:solidFill>
                  <a:srgbClr val="111111"/>
                </a:solidFill>
                <a:latin typeface="Aptos"/>
                <a:ea typeface="Aptos"/>
                <a:cs typeface="Aptos"/>
              </a:rPr>
              <a:t>Choosing familiar names or scattered-looking IDs is not a random process.</a:t>
            </a:r>
          </a:p>
        </p:txBody>
      </p:sp>
    </p:spTree>
    <p:extLst>
      <p:ext uri="{BB962C8B-B14F-4D97-AF65-F5344CB8AC3E}">
        <p14:creationId xmlns:p14="http://schemas.microsoft.com/office/powerpoint/2010/main" val="3281361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Section 4:</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Systematic</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sampling</a:t>
            </a:r>
          </a:p>
        </p:txBody>
      </p:sp>
    </p:spTree>
    <p:extLst>
      <p:ext uri="{BB962C8B-B14F-4D97-AF65-F5344CB8AC3E}">
        <p14:creationId xmlns:p14="http://schemas.microsoft.com/office/powerpoint/2010/main" val="3281361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Twenty people; five places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1000125"/>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This is a small demonstration list.</a:t>
            </a:r>
          </a:p>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We need a sample of 5 from these 20 people.</a:t>
            </a:r>
          </a:p>
        </p:txBody>
      </p:sp>
      <p:pic>
        <p:nvPicPr>
          <p:cNvPr id="9" name="Picture 8"/>
          <p:cNvPicPr>
            <a:picLocks noChangeAspect="1"/>
          </p:cNvPicPr>
          <p:nvPr/>
        </p:nvPicPr>
        <p:blipFill>
          <a:blip r:embed="rId3"/>
          <a:stretch/>
        </p:blipFill>
        <p:spPr>
          <a:xfrm>
            <a:off x="1238250" y="3133725"/>
            <a:ext cx="9715500" cy="2428875"/>
          </a:xfrm>
          <a:prstGeom prst="rect">
            <a:avLst/>
          </a:prstGeom>
        </p:spPr>
      </p:pic>
      <p:sp>
        <p:nvSpPr>
          <p:cNvPr id="5" name="S33-text-2">
            <a:extLst>
              <a:ext uri="{FF2B5EF4-FFF2-40B4-BE49-F238E27FC236}">
                <a16:creationId xmlns:a16="http://schemas.microsoft.com/office/drawing/2014/main" id="{30E87C41-DF2F-445D-85B5-0D912D55B6FB}"/>
              </a:ext>
            </a:extLst>
          </p:cNvPr>
          <p:cNvSpPr>
            <a:spLocks noGrp="1"/>
          </p:cNvSpPr>
          <p:nvPr/>
        </p:nvSpPr>
        <p:spPr>
          <a:xfrm>
            <a:off x="523875" y="5953125"/>
            <a:ext cx="11049000" cy="2857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a:solidFill>
                  <a:srgbClr val="111111"/>
                </a:solidFill>
                <a:latin typeface="Aptos"/>
                <a:ea typeface="Aptos"/>
                <a:cs typeface="Aptos"/>
              </a:defRPr>
            </a:pPr>
            <a:r>
              <a:rPr sz="1575" b="0">
                <a:solidFill>
                  <a:srgbClr val="111111"/>
                </a:solidFill>
                <a:latin typeface="Aptos"/>
                <a:ea typeface="Aptos"/>
                <a:cs typeface="Aptos"/>
              </a:rPr>
              <a:t>How could we spread our five selections along the list?</a:t>
            </a:r>
          </a:p>
        </p:txBody>
      </p:sp>
    </p:spTree>
    <p:extLst>
      <p:ext uri="{BB962C8B-B14F-4D97-AF65-F5344CB8AC3E}">
        <p14:creationId xmlns:p14="http://schemas.microsoft.com/office/powerpoint/2010/main" val="3281361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Why every fourth person?</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95325"/>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20 people ÷ 5 selections = </a:t>
            </a:r>
            <a:r>
              <a:rPr sz="2325" b="1">
                <a:solidFill>
                  <a:srgbClr val="111111"/>
                </a:solidFill>
                <a:latin typeface="Aptos"/>
                <a:ea typeface="Aptos"/>
                <a:cs typeface="Aptos"/>
              </a:rPr>
              <a:t>4 positions per selection</a:t>
            </a:r>
            <a:r>
              <a:rPr sz="2325" b="0">
                <a:solidFill>
                  <a:srgbClr val="111111"/>
                </a:solidFill>
                <a:latin typeface="Aptos"/>
                <a:ea typeface="Aptos"/>
                <a:cs typeface="Aptos"/>
              </a:rPr>
              <a:t>.</a:t>
            </a:r>
          </a:p>
        </p:txBody>
      </p:sp>
      <p:pic>
        <p:nvPicPr>
          <p:cNvPr id="9" name="Picture 8"/>
          <p:cNvPicPr>
            <a:picLocks noChangeAspect="1"/>
          </p:cNvPicPr>
          <p:nvPr/>
        </p:nvPicPr>
        <p:blipFill>
          <a:blip r:embed="rId3"/>
          <a:stretch/>
        </p:blipFill>
        <p:spPr>
          <a:xfrm>
            <a:off x="619125" y="2895898"/>
            <a:ext cx="10953750" cy="2533055"/>
          </a:xfrm>
          <a:prstGeom prst="rect">
            <a:avLst/>
          </a:prstGeom>
        </p:spPr>
      </p:pic>
      <p:sp>
        <p:nvSpPr>
          <p:cNvPr id="5" name="S34-text-2">
            <a:extLst>
              <a:ext uri="{FF2B5EF4-FFF2-40B4-BE49-F238E27FC236}">
                <a16:creationId xmlns:a16="http://schemas.microsoft.com/office/drawing/2014/main" id="{06065F60-2F57-41DE-AF4F-C3B512D07A6B}"/>
              </a:ext>
            </a:extLst>
          </p:cNvPr>
          <p:cNvSpPr>
            <a:spLocks noGrp="1"/>
          </p:cNvSpPr>
          <p:nvPr/>
        </p:nvSpPr>
        <p:spPr>
          <a:xfrm>
            <a:off x="619125" y="5591175"/>
            <a:ext cx="10906125" cy="61912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Interval = 4:</a:t>
            </a:r>
            <a:r>
              <a:rPr sz="2325" b="0">
                <a:solidFill>
                  <a:srgbClr val="111111"/>
                </a:solidFill>
                <a:latin typeface="Aptos"/>
                <a:ea typeface="Aptos"/>
                <a:cs typeface="Aptos"/>
              </a:rPr>
              <a:t> move forward four positions each time.</a:t>
            </a:r>
          </a:p>
        </p:txBody>
      </p:sp>
    </p:spTree>
    <p:extLst>
      <p:ext uri="{BB962C8B-B14F-4D97-AF65-F5344CB8AC3E}">
        <p14:creationId xmlns:p14="http://schemas.microsoft.com/office/powerpoint/2010/main" val="3281361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Start randomly, then add four</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714375"/>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Choose a random start from </a:t>
            </a:r>
            <a:r>
              <a:rPr sz="2325" b="1">
                <a:solidFill>
                  <a:srgbClr val="111111"/>
                </a:solidFill>
                <a:latin typeface="Aptos"/>
                <a:ea typeface="Aptos"/>
                <a:cs typeface="Aptos"/>
              </a:rPr>
              <a:t>1, 2, 3 or 4</a:t>
            </a:r>
            <a:r>
              <a:rPr sz="2325" b="0">
                <a:solidFill>
                  <a:srgbClr val="111111"/>
                </a:solidFill>
                <a:latin typeface="Aptos"/>
                <a:ea typeface="Aptos"/>
                <a:cs typeface="Aptos"/>
              </a:rPr>
              <a:t>. Suppose it is </a:t>
            </a:r>
            <a:r>
              <a:rPr sz="2325" b="1">
                <a:solidFill>
                  <a:srgbClr val="111111"/>
                </a:solidFill>
                <a:latin typeface="Aptos"/>
                <a:ea typeface="Aptos"/>
                <a:cs typeface="Aptos"/>
              </a:rPr>
              <a:t>3</a:t>
            </a:r>
            <a:r>
              <a:rPr sz="2325" b="0">
                <a:solidFill>
                  <a:srgbClr val="111111"/>
                </a:solidFill>
                <a:latin typeface="Aptos"/>
                <a:ea typeface="Aptos"/>
                <a:cs typeface="Aptos"/>
              </a:rPr>
              <a:t>.</a:t>
            </a:r>
          </a:p>
        </p:txBody>
      </p:sp>
      <p:pic>
        <p:nvPicPr>
          <p:cNvPr id="9" name="Picture 8"/>
          <p:cNvPicPr>
            <a:picLocks noChangeAspect="1"/>
          </p:cNvPicPr>
          <p:nvPr/>
        </p:nvPicPr>
        <p:blipFill>
          <a:blip r:embed="rId3"/>
          <a:stretch/>
        </p:blipFill>
        <p:spPr>
          <a:xfrm>
            <a:off x="619125" y="2888456"/>
            <a:ext cx="10953750" cy="2738438"/>
          </a:xfrm>
          <a:prstGeom prst="rect">
            <a:avLst/>
          </a:prstGeom>
        </p:spPr>
      </p:pic>
      <p:sp>
        <p:nvSpPr>
          <p:cNvPr id="5" name="S35-text-2">
            <a:extLst>
              <a:ext uri="{FF2B5EF4-FFF2-40B4-BE49-F238E27FC236}">
                <a16:creationId xmlns:a16="http://schemas.microsoft.com/office/drawing/2014/main" id="{E1C7FCD1-97A9-4392-98D4-4296DD5BAE9D}"/>
              </a:ext>
            </a:extLst>
          </p:cNvPr>
          <p:cNvSpPr>
            <a:spLocks noGrp="1"/>
          </p:cNvSpPr>
          <p:nvPr/>
        </p:nvSpPr>
        <p:spPr>
          <a:xfrm>
            <a:off x="523875" y="5953125"/>
            <a:ext cx="11049000" cy="2857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a:solidFill>
                  <a:srgbClr val="111111"/>
                </a:solidFill>
                <a:latin typeface="Aptos"/>
                <a:ea typeface="Aptos"/>
                <a:cs typeface="Aptos"/>
              </a:defRPr>
            </a:pPr>
            <a:r>
              <a:rPr sz="1575" b="0">
                <a:solidFill>
                  <a:srgbClr val="111111"/>
                </a:solidFill>
                <a:latin typeface="Aptos"/>
                <a:ea typeface="Aptos"/>
                <a:cs typeface="Aptos"/>
              </a:rPr>
              <a:t>Selected IDs: 3, 7, 11, 15, 19. The first position is random; the step stays fixed.</a:t>
            </a:r>
          </a:p>
        </p:txBody>
      </p:sp>
    </p:spTree>
    <p:extLst>
      <p:ext uri="{BB962C8B-B14F-4D97-AF65-F5344CB8AC3E}">
        <p14:creationId xmlns:p14="http://schemas.microsoft.com/office/powerpoint/2010/main" val="32813612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Write the method as a formula</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09600"/>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The interval tells us </a:t>
            </a:r>
            <a:r>
              <a:rPr sz="2325" b="1">
                <a:solidFill>
                  <a:srgbClr val="111111"/>
                </a:solidFill>
                <a:latin typeface="Aptos"/>
                <a:ea typeface="Aptos"/>
                <a:cs typeface="Aptos"/>
              </a:rPr>
              <a:t>how far to move along the list</a:t>
            </a:r>
            <a:r>
              <a:rPr sz="2325" b="0">
                <a:solidFill>
                  <a:srgbClr val="111111"/>
                </a:solidFill>
                <a:latin typeface="Aptos"/>
                <a:ea typeface="Aptos"/>
                <a:cs typeface="Aptos"/>
              </a:rPr>
              <a:t>.</a:t>
            </a:r>
          </a:p>
        </p:txBody>
      </p:sp>
      <p:pic>
        <p:nvPicPr>
          <p:cNvPr id="13" name="Picture 12"/>
          <p:cNvPicPr>
            <a:picLocks noChangeAspect="1"/>
          </p:cNvPicPr>
          <p:nvPr/>
        </p:nvPicPr>
        <p:blipFill>
          <a:blip r:embed="rId3"/>
          <a:stretch/>
        </p:blipFill>
        <p:spPr>
          <a:xfrm>
            <a:off x="2315370" y="2614470"/>
            <a:ext cx="7083238" cy="933450"/>
          </a:xfrm>
          <a:prstGeom prst="roundRect">
            <a:avLst>
              <a:gd name="adj" fmla="val 16667"/>
            </a:avLst>
          </a:prstGeom>
          <a:ln>
            <a:solidFill>
              <a:schemeClr val="accent1"/>
            </a:solidFill>
          </a:ln>
          <a:effectLst>
            <a:outerShdw blurRad="76200" dist="38100" dir="7800000" algn="tl" rotWithShape="0">
              <a:srgbClr val="000000">
                <a:alpha val="40000"/>
              </a:srgbClr>
            </a:outerShdw>
          </a:effectLst>
        </p:spPr>
      </p:pic>
      <p:pic>
        <p:nvPicPr>
          <p:cNvPr id="14" name="Picture 13"/>
          <p:cNvPicPr>
            <a:picLocks noChangeAspect="1"/>
          </p:cNvPicPr>
          <p:nvPr/>
        </p:nvPicPr>
        <p:blipFill>
          <a:blip r:embed="rId4"/>
          <a:stretch/>
        </p:blipFill>
        <p:spPr>
          <a:xfrm>
            <a:off x="1228284" y="4076700"/>
            <a:ext cx="3925182" cy="1133475"/>
          </a:xfrm>
          <a:prstGeom prst="rect">
            <a:avLst/>
          </a:prstGeom>
        </p:spPr>
      </p:pic>
      <p:graphicFrame>
        <p:nvGraphicFramePr>
          <p:cNvPr id="15" name="Table 14"/>
          <p:cNvGraphicFramePr/>
          <p:nvPr/>
        </p:nvGraphicFramePr>
        <p:xfrm>
          <a:off x="6286500" y="3838575"/>
          <a:ext cx="5286375" cy="1943100"/>
        </p:xfrm>
        <a:graphic>
          <a:graphicData uri="http://schemas.openxmlformats.org/drawingml/2006/table">
            <a:tbl>
              <a:tblPr/>
              <a:tblGrid>
                <a:gridCol w="1428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tblGrid>
              <a:tr h="485775">
                <a:tc>
                  <a:txBody>
                    <a:bodyPr/>
                    <a:lstStyle/>
                    <a:p>
                      <a:pPr algn="l">
                        <a:lnSpc>
                          <a:spcPct val="103000"/>
                        </a:lnSpc>
                        <a:spcBef>
                          <a:spcPts val="0"/>
                        </a:spcBef>
                        <a:spcAft>
                          <a:spcPts val="0"/>
                        </a:spcAft>
                        <a:buNone/>
                      </a:pPr>
                      <a:r>
                        <a:rPr sz="2100" b="1">
                          <a:solidFill>
                            <a:srgbClr val="FFFFFF"/>
                          </a:solidFill>
                          <a:latin typeface="Aptos"/>
                          <a:ea typeface="Aptos"/>
                          <a:cs typeface="Aptos"/>
                        </a:rPr>
                        <a:t>Symbol</a:t>
                      </a:r>
                    </a:p>
                  </a:txBody>
                  <a:tcPr anchor="ctr">
                    <a:solidFill>
                      <a:srgbClr val="D6171D"/>
                    </a:solidFill>
                  </a:tcPr>
                </a:tc>
                <a:tc>
                  <a:txBody>
                    <a:bodyPr/>
                    <a:lstStyle/>
                    <a:p>
                      <a:pPr algn="l">
                        <a:lnSpc>
                          <a:spcPct val="103000"/>
                        </a:lnSpc>
                        <a:spcBef>
                          <a:spcPts val="0"/>
                        </a:spcBef>
                        <a:spcAft>
                          <a:spcPts val="0"/>
                        </a:spcAft>
                        <a:buNone/>
                      </a:pPr>
                      <a:r>
                        <a:rPr sz="2100" b="1">
                          <a:solidFill>
                            <a:srgbClr val="FFFFFF"/>
                          </a:solidFill>
                          <a:latin typeface="Aptos"/>
                          <a:ea typeface="Aptos"/>
                          <a:cs typeface="Aptos"/>
                        </a:rPr>
                        <a:t>Meaning</a:t>
                      </a:r>
                    </a:p>
                  </a:txBody>
                  <a:tcPr anchor="ctr">
                    <a:solidFill>
                      <a:srgbClr val="D6171D"/>
                    </a:solidFill>
                  </a:tcPr>
                </a:tc>
                <a:extLst>
                  <a:ext uri="{0D108BD9-81ED-4DB2-BD59-A6C34878D82A}">
                    <a16:rowId xmlns:a16="http://schemas.microsoft.com/office/drawing/2014/main" val="10000"/>
                  </a:ext>
                </a:extLst>
              </a:tr>
              <a:tr h="485775">
                <a:tc>
                  <a:txBody>
                    <a:bodyPr/>
                    <a:lstStyle/>
                    <a:p>
                      <a:pPr algn="l">
                        <a:lnSpc>
                          <a:spcPct val="103000"/>
                        </a:lnSpc>
                        <a:spcBef>
                          <a:spcPts val="0"/>
                        </a:spcBef>
                        <a:spcAft>
                          <a:spcPts val="0"/>
                        </a:spcAft>
                        <a:buNone/>
                      </a:pPr>
                      <a:r>
                        <a:rPr sz="2100" b="0">
                          <a:solidFill>
                            <a:srgbClr val="111111"/>
                          </a:solidFill>
                          <a:latin typeface="Aptos"/>
                          <a:ea typeface="Aptos"/>
                          <a:cs typeface="Aptos"/>
                        </a:rPr>
                        <a:t>N</a:t>
                      </a:r>
                    </a:p>
                  </a:txBody>
                  <a:tcPr anchor="ctr">
                    <a:solidFill>
                      <a:srgbClr val="FFFFFF"/>
                    </a:solidFill>
                  </a:tcPr>
                </a:tc>
                <a:tc>
                  <a:txBody>
                    <a:bodyPr/>
                    <a:lstStyle/>
                    <a:p>
                      <a:pPr algn="l">
                        <a:lnSpc>
                          <a:spcPct val="103000"/>
                        </a:lnSpc>
                        <a:spcBef>
                          <a:spcPts val="0"/>
                        </a:spcBef>
                        <a:spcAft>
                          <a:spcPts val="0"/>
                        </a:spcAft>
                        <a:buNone/>
                      </a:pPr>
                      <a:r>
                        <a:rPr sz="2100" b="0">
                          <a:solidFill>
                            <a:srgbClr val="111111"/>
                          </a:solidFill>
                          <a:latin typeface="Aptos"/>
                          <a:ea typeface="Aptos"/>
                          <a:cs typeface="Aptos"/>
                        </a:rPr>
                        <a:t>Population size</a:t>
                      </a:r>
                    </a:p>
                  </a:txBody>
                  <a:tcPr anchor="ctr">
                    <a:solidFill>
                      <a:srgbClr val="FFFFFF"/>
                    </a:solidFill>
                  </a:tcPr>
                </a:tc>
                <a:extLst>
                  <a:ext uri="{0D108BD9-81ED-4DB2-BD59-A6C34878D82A}">
                    <a16:rowId xmlns:a16="http://schemas.microsoft.com/office/drawing/2014/main" val="10001"/>
                  </a:ext>
                </a:extLst>
              </a:tr>
              <a:tr h="485775">
                <a:tc>
                  <a:txBody>
                    <a:bodyPr/>
                    <a:lstStyle/>
                    <a:p>
                      <a:pPr algn="l">
                        <a:lnSpc>
                          <a:spcPct val="103000"/>
                        </a:lnSpc>
                        <a:spcBef>
                          <a:spcPts val="0"/>
                        </a:spcBef>
                        <a:spcAft>
                          <a:spcPts val="0"/>
                        </a:spcAft>
                        <a:buNone/>
                      </a:pPr>
                      <a:r>
                        <a:rPr sz="2100" b="0">
                          <a:solidFill>
                            <a:srgbClr val="111111"/>
                          </a:solidFill>
                          <a:latin typeface="Aptos"/>
                          <a:ea typeface="Aptos"/>
                          <a:cs typeface="Aptos"/>
                        </a:rPr>
                        <a:t>n</a:t>
                      </a:r>
                    </a:p>
                  </a:txBody>
                  <a:tcPr anchor="ctr">
                    <a:solidFill>
                      <a:srgbClr val="EFF8FF"/>
                    </a:solidFill>
                  </a:tcPr>
                </a:tc>
                <a:tc>
                  <a:txBody>
                    <a:bodyPr/>
                    <a:lstStyle/>
                    <a:p>
                      <a:pPr algn="l">
                        <a:lnSpc>
                          <a:spcPct val="103000"/>
                        </a:lnSpc>
                        <a:spcBef>
                          <a:spcPts val="0"/>
                        </a:spcBef>
                        <a:spcAft>
                          <a:spcPts val="0"/>
                        </a:spcAft>
                        <a:buNone/>
                      </a:pPr>
                      <a:r>
                        <a:rPr sz="2100" b="0">
                          <a:solidFill>
                            <a:srgbClr val="111111"/>
                          </a:solidFill>
                          <a:latin typeface="Aptos"/>
                          <a:ea typeface="Aptos"/>
                          <a:cs typeface="Aptos"/>
                        </a:rPr>
                        <a:t>Required sample size</a:t>
                      </a:r>
                    </a:p>
                  </a:txBody>
                  <a:tcPr anchor="ctr">
                    <a:solidFill>
                      <a:srgbClr val="EFF8FF"/>
                    </a:solidFill>
                  </a:tcPr>
                </a:tc>
                <a:extLst>
                  <a:ext uri="{0D108BD9-81ED-4DB2-BD59-A6C34878D82A}">
                    <a16:rowId xmlns:a16="http://schemas.microsoft.com/office/drawing/2014/main" val="10002"/>
                  </a:ext>
                </a:extLst>
              </a:tr>
              <a:tr h="485775">
                <a:tc>
                  <a:txBody>
                    <a:bodyPr/>
                    <a:lstStyle/>
                    <a:p>
                      <a:pPr algn="l">
                        <a:lnSpc>
                          <a:spcPct val="103000"/>
                        </a:lnSpc>
                        <a:spcBef>
                          <a:spcPts val="0"/>
                        </a:spcBef>
                        <a:spcAft>
                          <a:spcPts val="0"/>
                        </a:spcAft>
                        <a:buNone/>
                      </a:pPr>
                      <a:r>
                        <a:rPr sz="2100" b="0">
                          <a:solidFill>
                            <a:srgbClr val="111111"/>
                          </a:solidFill>
                          <a:latin typeface="Aptos"/>
                          <a:ea typeface="Aptos"/>
                          <a:cs typeface="Aptos"/>
                        </a:rPr>
                        <a:t>k</a:t>
                      </a:r>
                    </a:p>
                  </a:txBody>
                  <a:tcPr anchor="ctr">
                    <a:solidFill>
                      <a:srgbClr val="FFFFFF"/>
                    </a:solidFill>
                  </a:tcPr>
                </a:tc>
                <a:tc>
                  <a:txBody>
                    <a:bodyPr/>
                    <a:lstStyle/>
                    <a:p>
                      <a:pPr algn="l">
                        <a:lnSpc>
                          <a:spcPct val="103000"/>
                        </a:lnSpc>
                        <a:spcBef>
                          <a:spcPts val="0"/>
                        </a:spcBef>
                        <a:spcAft>
                          <a:spcPts val="0"/>
                        </a:spcAft>
                        <a:buNone/>
                      </a:pPr>
                      <a:r>
                        <a:rPr sz="2100" b="0">
                          <a:solidFill>
                            <a:srgbClr val="111111"/>
                          </a:solidFill>
                          <a:latin typeface="Aptos"/>
                          <a:ea typeface="Aptos"/>
                          <a:cs typeface="Aptos"/>
                        </a:rPr>
                        <a:t>Sampling interval</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7" name="S36-text-4">
            <a:extLst>
              <a:ext uri="{FF2B5EF4-FFF2-40B4-BE49-F238E27FC236}">
                <a16:creationId xmlns:a16="http://schemas.microsoft.com/office/drawing/2014/main" id="{4068CA8C-9753-42B9-83C7-8932A744795F}"/>
              </a:ext>
            </a:extLst>
          </p:cNvPr>
          <p:cNvSpPr>
            <a:spLocks noGrp="1"/>
          </p:cNvSpPr>
          <p:nvPr/>
        </p:nvSpPr>
        <p:spPr>
          <a:xfrm>
            <a:off x="523875" y="5953125"/>
            <a:ext cx="11049000" cy="2857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a:solidFill>
                  <a:srgbClr val="111111"/>
                </a:solidFill>
                <a:latin typeface="Aptos"/>
                <a:ea typeface="Aptos"/>
                <a:cs typeface="Aptos"/>
              </a:defRPr>
            </a:pPr>
            <a:r>
              <a:rPr sz="1575" b="0">
                <a:solidFill>
                  <a:srgbClr val="111111"/>
                </a:solidFill>
                <a:latin typeface="Aptos"/>
                <a:ea typeface="Aptos"/>
                <a:cs typeface="Aptos"/>
              </a:rPr>
              <a:t>k = 4 means: select every fourth person.</a:t>
            </a:r>
          </a:p>
        </p:txBody>
      </p:sp>
    </p:spTree>
    <p:extLst>
      <p:ext uri="{BB962C8B-B14F-4D97-AF65-F5344CB8AC3E}">
        <p14:creationId xmlns:p14="http://schemas.microsoft.com/office/powerpoint/2010/main" val="32813612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Interval and sampling fraction</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Both use N and n, but they answer different questions.</a:t>
            </a:r>
          </a:p>
        </p:txBody>
      </p:sp>
      <p:sp>
        <p:nvSpPr>
          <p:cNvPr id="4" name="Revised-text-61">
            <a:extLst>
              <a:ext uri="{FF2B5EF4-FFF2-40B4-BE49-F238E27FC236}">
                <a16:creationId xmlns:a16="http://schemas.microsoft.com/office/drawing/2014/main" id="{D37914DA-AF13-44F1-B707-70C19B7915FD}"/>
              </a:ext>
            </a:extLst>
          </p:cNvPr>
          <p:cNvSpPr>
            <a:spLocks noGrp="1"/>
          </p:cNvSpPr>
          <p:nvPr/>
        </p:nvSpPr>
        <p:spPr>
          <a:xfrm>
            <a:off x="619125" y="2905125"/>
            <a:ext cx="5334000" cy="428625"/>
          </a:xfrm>
          <a:prstGeom prst="rect">
            <a:avLst/>
          </a:prstGeom>
          <a:noFill/>
          <a:ln w="0">
            <a:noFill/>
          </a:ln>
        </p:spPr>
        <p:txBody>
          <a:bodyPr wrap="square" lIns="0" tIns="0" rIns="0" bIns="0" anchor="t">
            <a:noAutofit/>
          </a:bodyPr>
          <a:lstStyle/>
          <a:p>
            <a:pPr algn="l">
              <a:buNone/>
              <a:defRPr sz="2550" b="1">
                <a:solidFill>
                  <a:srgbClr val="111111"/>
                </a:solidFill>
                <a:latin typeface="Aptos"/>
                <a:ea typeface="Aptos"/>
                <a:cs typeface="Aptos"/>
              </a:defRPr>
            </a:pPr>
            <a:r>
              <a:rPr sz="2550" b="1">
                <a:solidFill>
                  <a:srgbClr val="111111"/>
                </a:solidFill>
                <a:latin typeface="Aptos"/>
                <a:ea typeface="Aptos"/>
                <a:cs typeface="Aptos"/>
              </a:rPr>
              <a:t>Sampling interval k</a:t>
            </a:r>
          </a:p>
        </p:txBody>
      </p:sp>
      <p:sp>
        <p:nvSpPr>
          <p:cNvPr id="5" name="Revised-text-62">
            <a:extLst>
              <a:ext uri="{FF2B5EF4-FFF2-40B4-BE49-F238E27FC236}">
                <a16:creationId xmlns:a16="http://schemas.microsoft.com/office/drawing/2014/main" id="{2B86882D-861E-4249-91A4-0F74BDD5DD06}"/>
              </a:ext>
            </a:extLst>
          </p:cNvPr>
          <p:cNvSpPr>
            <a:spLocks noGrp="1"/>
          </p:cNvSpPr>
          <p:nvPr/>
        </p:nvSpPr>
        <p:spPr>
          <a:xfrm>
            <a:off x="619125" y="3495675"/>
            <a:ext cx="5429250" cy="381000"/>
          </a:xfrm>
          <a:prstGeom prst="rect">
            <a:avLst/>
          </a:prstGeom>
          <a:noFill/>
          <a:ln w="0">
            <a:noFill/>
          </a:ln>
        </p:spPr>
        <p:txBody>
          <a:bodyPr wrap="square" lIns="0" tIns="0" rIns="0" bIns="0" anchor="t">
            <a:noAutofit/>
          </a:bodyPr>
          <a:lstStyle/>
          <a:p>
            <a:pPr algn="l">
              <a:buNone/>
              <a:defRPr sz="2175" b="0">
                <a:solidFill>
                  <a:srgbClr val="111111"/>
                </a:solidFill>
                <a:latin typeface="Aptos"/>
                <a:ea typeface="Aptos"/>
                <a:cs typeface="Aptos"/>
              </a:defRPr>
            </a:pPr>
            <a:r>
              <a:rPr sz="2175" b="0">
                <a:solidFill>
                  <a:srgbClr val="111111"/>
                </a:solidFill>
                <a:latin typeface="Aptos"/>
                <a:ea typeface="Aptos"/>
                <a:cs typeface="Aptos"/>
              </a:rPr>
              <a:t>How far do we move along the list?</a:t>
            </a:r>
          </a:p>
        </p:txBody>
      </p:sp>
      <p:sp>
        <p:nvSpPr>
          <p:cNvPr id="6" name="Revised-text-63">
            <a:extLst>
              <a:ext uri="{FF2B5EF4-FFF2-40B4-BE49-F238E27FC236}">
                <a16:creationId xmlns:a16="http://schemas.microsoft.com/office/drawing/2014/main" id="{7C9A3D04-4FA0-4BF9-BEDC-E3B506DBF2FB}"/>
              </a:ext>
            </a:extLst>
          </p:cNvPr>
          <p:cNvSpPr>
            <a:spLocks noGrp="1"/>
          </p:cNvSpPr>
          <p:nvPr/>
        </p:nvSpPr>
        <p:spPr>
          <a:xfrm>
            <a:off x="809625" y="4143375"/>
            <a:ext cx="781050" cy="476250"/>
          </a:xfrm>
          <a:prstGeom prst="rect">
            <a:avLst/>
          </a:prstGeom>
          <a:noFill/>
          <a:ln w="0">
            <a:noFill/>
          </a:ln>
        </p:spPr>
        <p:txBody>
          <a:bodyPr wrap="square" lIns="0" tIns="0" rIns="0" bIns="0" anchor="t">
            <a:noAutofit/>
          </a:bodyPr>
          <a:lstStyle/>
          <a:p>
            <a:pPr algn="ctr">
              <a:buNone/>
              <a:defRPr sz="3225" b="0">
                <a:solidFill>
                  <a:srgbClr val="111111"/>
                </a:solidFill>
                <a:latin typeface="Aptos"/>
                <a:ea typeface="Aptos"/>
                <a:cs typeface="Aptos"/>
              </a:defRPr>
            </a:pPr>
            <a:r>
              <a:rPr sz="3225" b="0">
                <a:solidFill>
                  <a:srgbClr val="111111"/>
                </a:solidFill>
                <a:latin typeface="Aptos"/>
                <a:ea typeface="Aptos"/>
                <a:cs typeface="Aptos"/>
              </a:rPr>
              <a:t>N</a:t>
            </a:r>
          </a:p>
        </p:txBody>
      </p:sp>
      <p:sp>
        <p:nvSpPr>
          <p:cNvPr id="7" name="Straight Connector 6">
            <a:extLst>
              <a:ext uri="{FF2B5EF4-FFF2-40B4-BE49-F238E27FC236}">
                <a16:creationId xmlns:a16="http://schemas.microsoft.com/office/drawing/2014/main" id="{F9972D60-43F9-4786-B81A-5ADB9BA0A4C3}"/>
              </a:ext>
            </a:extLst>
          </p:cNvPr>
          <p:cNvSpPr>
            <a:spLocks noGrp="1"/>
          </p:cNvSpPr>
          <p:nvPr/>
        </p:nvSpPr>
        <p:spPr>
          <a:xfrm>
            <a:off x="809625" y="4610100"/>
            <a:ext cx="781050" cy="0"/>
          </a:xfrm>
          <a:prstGeom prst="line">
            <a:avLst/>
          </a:prstGeom>
          <a:noFill/>
          <a:ln w="15240">
            <a:solidFill>
              <a:srgbClr val="111111"/>
            </a:solidFill>
          </a:ln>
        </p:spPr>
        <p:txBody>
          <a:bodyPr/>
          <a:lstStyle/>
          <a:p>
            <a:endParaRPr lang="en-US"/>
          </a:p>
        </p:txBody>
      </p:sp>
      <p:sp>
        <p:nvSpPr>
          <p:cNvPr id="8" name="Revised-text-64">
            <a:extLst>
              <a:ext uri="{FF2B5EF4-FFF2-40B4-BE49-F238E27FC236}">
                <a16:creationId xmlns:a16="http://schemas.microsoft.com/office/drawing/2014/main" id="{F7358314-014E-48F6-9F4A-F9E5BEF32C61}"/>
              </a:ext>
            </a:extLst>
          </p:cNvPr>
          <p:cNvSpPr>
            <a:spLocks noGrp="1"/>
          </p:cNvSpPr>
          <p:nvPr/>
        </p:nvSpPr>
        <p:spPr>
          <a:xfrm>
            <a:off x="809625" y="4657725"/>
            <a:ext cx="781050" cy="495300"/>
          </a:xfrm>
          <a:prstGeom prst="rect">
            <a:avLst/>
          </a:prstGeom>
          <a:noFill/>
          <a:ln w="0">
            <a:noFill/>
          </a:ln>
        </p:spPr>
        <p:txBody>
          <a:bodyPr wrap="square" lIns="0" tIns="0" rIns="0" bIns="0" anchor="t">
            <a:noAutofit/>
          </a:bodyPr>
          <a:lstStyle/>
          <a:p>
            <a:pPr algn="ctr">
              <a:buNone/>
              <a:defRPr sz="3225" b="0">
                <a:solidFill>
                  <a:srgbClr val="111111"/>
                </a:solidFill>
                <a:latin typeface="Aptos"/>
                <a:ea typeface="Aptos"/>
                <a:cs typeface="Aptos"/>
              </a:defRPr>
            </a:pPr>
            <a:r>
              <a:rPr sz="3225" b="0">
                <a:solidFill>
                  <a:srgbClr val="111111"/>
                </a:solidFill>
                <a:latin typeface="Aptos"/>
                <a:ea typeface="Aptos"/>
                <a:cs typeface="Aptos"/>
              </a:rPr>
              <a:t>n</a:t>
            </a:r>
          </a:p>
        </p:txBody>
      </p:sp>
      <p:sp>
        <p:nvSpPr>
          <p:cNvPr id="9" name="Revised-text-65">
            <a:extLst>
              <a:ext uri="{FF2B5EF4-FFF2-40B4-BE49-F238E27FC236}">
                <a16:creationId xmlns:a16="http://schemas.microsoft.com/office/drawing/2014/main" id="{28087EE6-6059-4119-8783-4BD601A6AD9F}"/>
              </a:ext>
            </a:extLst>
          </p:cNvPr>
          <p:cNvSpPr>
            <a:spLocks noGrp="1"/>
          </p:cNvSpPr>
          <p:nvPr/>
        </p:nvSpPr>
        <p:spPr>
          <a:xfrm>
            <a:off x="1809750" y="4381500"/>
            <a:ext cx="381000" cy="571500"/>
          </a:xfrm>
          <a:prstGeom prst="rect">
            <a:avLst/>
          </a:prstGeom>
          <a:noFill/>
          <a:ln w="0">
            <a:noFill/>
          </a:ln>
        </p:spPr>
        <p:txBody>
          <a:bodyPr wrap="square" lIns="0" tIns="0" rIns="0" bIns="0" anchor="t">
            <a:noAutofit/>
          </a:bodyPr>
          <a:lstStyle/>
          <a:p>
            <a:pPr algn="l">
              <a:buNone/>
              <a:defRPr sz="3225" b="0">
                <a:solidFill>
                  <a:srgbClr val="111111"/>
                </a:solidFill>
                <a:latin typeface="Aptos"/>
                <a:ea typeface="Aptos"/>
                <a:cs typeface="Aptos"/>
              </a:defRPr>
            </a:pPr>
            <a:r>
              <a:rPr sz="3225" b="0">
                <a:solidFill>
                  <a:srgbClr val="111111"/>
                </a:solidFill>
                <a:latin typeface="Aptos"/>
                <a:ea typeface="Aptos"/>
                <a:cs typeface="Aptos"/>
              </a:rPr>
              <a:t>=</a:t>
            </a:r>
          </a:p>
        </p:txBody>
      </p:sp>
      <p:sp>
        <p:nvSpPr>
          <p:cNvPr id="10" name="Revised-text-66">
            <a:extLst>
              <a:ext uri="{FF2B5EF4-FFF2-40B4-BE49-F238E27FC236}">
                <a16:creationId xmlns:a16="http://schemas.microsoft.com/office/drawing/2014/main" id="{DAC99842-BBE7-42AF-8C5C-DDBCB8BBEE1C}"/>
              </a:ext>
            </a:extLst>
          </p:cNvPr>
          <p:cNvSpPr>
            <a:spLocks noGrp="1"/>
          </p:cNvSpPr>
          <p:nvPr/>
        </p:nvSpPr>
        <p:spPr>
          <a:xfrm>
            <a:off x="2400300" y="4143375"/>
            <a:ext cx="857250" cy="476250"/>
          </a:xfrm>
          <a:prstGeom prst="rect">
            <a:avLst/>
          </a:prstGeom>
          <a:noFill/>
          <a:ln w="0">
            <a:noFill/>
          </a:ln>
        </p:spPr>
        <p:txBody>
          <a:bodyPr wrap="square" lIns="0" tIns="0" rIns="0" bIns="0" anchor="t">
            <a:noAutofit/>
          </a:bodyPr>
          <a:lstStyle/>
          <a:p>
            <a:pPr algn="ctr">
              <a:buNone/>
              <a:defRPr sz="3225" b="0">
                <a:solidFill>
                  <a:srgbClr val="111111"/>
                </a:solidFill>
                <a:latin typeface="Aptos"/>
                <a:ea typeface="Aptos"/>
                <a:cs typeface="Aptos"/>
              </a:defRPr>
            </a:pPr>
            <a:r>
              <a:rPr sz="3225" b="0">
                <a:solidFill>
                  <a:srgbClr val="111111"/>
                </a:solidFill>
                <a:latin typeface="Aptos"/>
                <a:ea typeface="Aptos"/>
                <a:cs typeface="Aptos"/>
              </a:rPr>
              <a:t>20</a:t>
            </a:r>
          </a:p>
        </p:txBody>
      </p:sp>
      <p:sp>
        <p:nvSpPr>
          <p:cNvPr id="11" name="Straight Connector 10">
            <a:extLst>
              <a:ext uri="{FF2B5EF4-FFF2-40B4-BE49-F238E27FC236}">
                <a16:creationId xmlns:a16="http://schemas.microsoft.com/office/drawing/2014/main" id="{498AA071-2525-4405-B5A2-10D0EE1B15B0}"/>
              </a:ext>
            </a:extLst>
          </p:cNvPr>
          <p:cNvSpPr>
            <a:spLocks noGrp="1"/>
          </p:cNvSpPr>
          <p:nvPr/>
        </p:nvSpPr>
        <p:spPr>
          <a:xfrm>
            <a:off x="2400300" y="4610100"/>
            <a:ext cx="857250" cy="0"/>
          </a:xfrm>
          <a:prstGeom prst="line">
            <a:avLst/>
          </a:prstGeom>
          <a:noFill/>
          <a:ln w="15240">
            <a:solidFill>
              <a:srgbClr val="111111"/>
            </a:solidFill>
          </a:ln>
        </p:spPr>
        <p:txBody>
          <a:bodyPr/>
          <a:lstStyle/>
          <a:p>
            <a:endParaRPr lang="en-US"/>
          </a:p>
        </p:txBody>
      </p:sp>
      <p:sp>
        <p:nvSpPr>
          <p:cNvPr id="12" name="Revised-text-67">
            <a:extLst>
              <a:ext uri="{FF2B5EF4-FFF2-40B4-BE49-F238E27FC236}">
                <a16:creationId xmlns:a16="http://schemas.microsoft.com/office/drawing/2014/main" id="{0923D1F7-E6DE-4C47-A721-77199D5EC3AA}"/>
              </a:ext>
            </a:extLst>
          </p:cNvPr>
          <p:cNvSpPr>
            <a:spLocks noGrp="1"/>
          </p:cNvSpPr>
          <p:nvPr/>
        </p:nvSpPr>
        <p:spPr>
          <a:xfrm>
            <a:off x="2400300" y="4657725"/>
            <a:ext cx="857250" cy="495300"/>
          </a:xfrm>
          <a:prstGeom prst="rect">
            <a:avLst/>
          </a:prstGeom>
          <a:noFill/>
          <a:ln w="0">
            <a:noFill/>
          </a:ln>
        </p:spPr>
        <p:txBody>
          <a:bodyPr wrap="square" lIns="0" tIns="0" rIns="0" bIns="0" anchor="t">
            <a:noAutofit/>
          </a:bodyPr>
          <a:lstStyle/>
          <a:p>
            <a:pPr algn="ctr">
              <a:buNone/>
              <a:defRPr sz="3225" b="0">
                <a:solidFill>
                  <a:srgbClr val="111111"/>
                </a:solidFill>
                <a:latin typeface="Aptos"/>
                <a:ea typeface="Aptos"/>
                <a:cs typeface="Aptos"/>
              </a:defRPr>
            </a:pPr>
            <a:r>
              <a:rPr sz="3225" b="0">
                <a:solidFill>
                  <a:srgbClr val="111111"/>
                </a:solidFill>
                <a:latin typeface="Aptos"/>
                <a:ea typeface="Aptos"/>
                <a:cs typeface="Aptos"/>
              </a:rPr>
              <a:t>5</a:t>
            </a:r>
          </a:p>
        </p:txBody>
      </p:sp>
      <p:sp>
        <p:nvSpPr>
          <p:cNvPr id="13" name="Revised-text-68">
            <a:extLst>
              <a:ext uri="{FF2B5EF4-FFF2-40B4-BE49-F238E27FC236}">
                <a16:creationId xmlns:a16="http://schemas.microsoft.com/office/drawing/2014/main" id="{B443B459-B5E5-43CF-9CAB-3346D3CE9AE6}"/>
              </a:ext>
            </a:extLst>
          </p:cNvPr>
          <p:cNvSpPr>
            <a:spLocks noGrp="1"/>
          </p:cNvSpPr>
          <p:nvPr/>
        </p:nvSpPr>
        <p:spPr>
          <a:xfrm>
            <a:off x="3524250" y="4400550"/>
            <a:ext cx="2524125" cy="571500"/>
          </a:xfrm>
          <a:prstGeom prst="rect">
            <a:avLst/>
          </a:prstGeom>
          <a:noFill/>
          <a:ln w="0">
            <a:noFill/>
          </a:ln>
        </p:spPr>
        <p:txBody>
          <a:bodyPr wrap="square" lIns="0" tIns="0" rIns="0" bIns="0" anchor="t">
            <a:noAutofit/>
          </a:bodyPr>
          <a:lstStyle/>
          <a:p>
            <a:pPr algn="l">
              <a:buNone/>
              <a:defRPr sz="2775" b="0">
                <a:solidFill>
                  <a:srgbClr val="111111"/>
                </a:solidFill>
                <a:latin typeface="Aptos"/>
                <a:ea typeface="Aptos"/>
                <a:cs typeface="Aptos"/>
              </a:defRPr>
            </a:pPr>
            <a:r>
              <a:rPr sz="2775" b="0">
                <a:solidFill>
                  <a:srgbClr val="111111"/>
                </a:solidFill>
                <a:latin typeface="Aptos"/>
                <a:ea typeface="Aptos"/>
                <a:cs typeface="Aptos"/>
              </a:rPr>
              <a:t>= 4 positions</a:t>
            </a:r>
          </a:p>
        </p:txBody>
      </p:sp>
      <p:sp>
        <p:nvSpPr>
          <p:cNvPr id="14" name="Revised-text-69">
            <a:extLst>
              <a:ext uri="{FF2B5EF4-FFF2-40B4-BE49-F238E27FC236}">
                <a16:creationId xmlns:a16="http://schemas.microsoft.com/office/drawing/2014/main" id="{352BF1B3-6CBD-47E9-9469-8D801CDAB4EE}"/>
              </a:ext>
            </a:extLst>
          </p:cNvPr>
          <p:cNvSpPr>
            <a:spLocks noGrp="1"/>
          </p:cNvSpPr>
          <p:nvPr/>
        </p:nvSpPr>
        <p:spPr>
          <a:xfrm>
            <a:off x="6524625" y="2905125"/>
            <a:ext cx="5048250" cy="428625"/>
          </a:xfrm>
          <a:prstGeom prst="rect">
            <a:avLst/>
          </a:prstGeom>
          <a:noFill/>
          <a:ln w="0">
            <a:noFill/>
          </a:ln>
        </p:spPr>
        <p:txBody>
          <a:bodyPr wrap="square" lIns="0" tIns="0" rIns="0" bIns="0" anchor="t">
            <a:noAutofit/>
          </a:bodyPr>
          <a:lstStyle/>
          <a:p>
            <a:pPr algn="l">
              <a:buNone/>
              <a:defRPr sz="2550" b="1">
                <a:solidFill>
                  <a:srgbClr val="111111"/>
                </a:solidFill>
                <a:latin typeface="Aptos"/>
                <a:ea typeface="Aptos"/>
                <a:cs typeface="Aptos"/>
              </a:defRPr>
            </a:pPr>
            <a:r>
              <a:rPr sz="2550" b="1">
                <a:solidFill>
                  <a:srgbClr val="111111"/>
                </a:solidFill>
                <a:latin typeface="Aptos"/>
                <a:ea typeface="Aptos"/>
                <a:cs typeface="Aptos"/>
              </a:rPr>
              <a:t>Sampling fraction</a:t>
            </a:r>
          </a:p>
        </p:txBody>
      </p:sp>
      <p:sp>
        <p:nvSpPr>
          <p:cNvPr id="15" name="Revised-text-70">
            <a:extLst>
              <a:ext uri="{FF2B5EF4-FFF2-40B4-BE49-F238E27FC236}">
                <a16:creationId xmlns:a16="http://schemas.microsoft.com/office/drawing/2014/main" id="{6BC5F68B-92C0-437E-B12B-1D85308C798F}"/>
              </a:ext>
            </a:extLst>
          </p:cNvPr>
          <p:cNvSpPr>
            <a:spLocks noGrp="1"/>
          </p:cNvSpPr>
          <p:nvPr/>
        </p:nvSpPr>
        <p:spPr>
          <a:xfrm>
            <a:off x="6524625" y="3495675"/>
            <a:ext cx="5191125" cy="666750"/>
          </a:xfrm>
          <a:prstGeom prst="rect">
            <a:avLst/>
          </a:prstGeom>
          <a:noFill/>
          <a:ln w="0">
            <a:noFill/>
          </a:ln>
        </p:spPr>
        <p:txBody>
          <a:bodyPr wrap="square" lIns="0" tIns="0" rIns="0" bIns="0" anchor="t">
            <a:noAutofit/>
          </a:bodyPr>
          <a:lstStyle/>
          <a:p>
            <a:pPr algn="l">
              <a:buNone/>
              <a:defRPr sz="2175" b="0">
                <a:solidFill>
                  <a:srgbClr val="111111"/>
                </a:solidFill>
                <a:latin typeface="Aptos"/>
                <a:ea typeface="Aptos"/>
                <a:cs typeface="Aptos"/>
              </a:defRPr>
            </a:pPr>
            <a:r>
              <a:rPr sz="2175" b="0">
                <a:solidFill>
                  <a:srgbClr val="111111"/>
                </a:solidFill>
                <a:latin typeface="Aptos"/>
                <a:ea typeface="Aptos"/>
                <a:cs typeface="Aptos"/>
              </a:rPr>
              <a:t>What share of the population is selected?</a:t>
            </a:r>
          </a:p>
        </p:txBody>
      </p:sp>
      <p:sp>
        <p:nvSpPr>
          <p:cNvPr id="16" name="Revised-text-71">
            <a:extLst>
              <a:ext uri="{FF2B5EF4-FFF2-40B4-BE49-F238E27FC236}">
                <a16:creationId xmlns:a16="http://schemas.microsoft.com/office/drawing/2014/main" id="{3792C1E2-F441-432C-B727-8B24125D01AB}"/>
              </a:ext>
            </a:extLst>
          </p:cNvPr>
          <p:cNvSpPr>
            <a:spLocks noGrp="1"/>
          </p:cNvSpPr>
          <p:nvPr/>
        </p:nvSpPr>
        <p:spPr>
          <a:xfrm>
            <a:off x="6667500" y="4143375"/>
            <a:ext cx="781050" cy="476250"/>
          </a:xfrm>
          <a:prstGeom prst="rect">
            <a:avLst/>
          </a:prstGeom>
          <a:noFill/>
          <a:ln w="0">
            <a:noFill/>
          </a:ln>
        </p:spPr>
        <p:txBody>
          <a:bodyPr wrap="square" lIns="0" tIns="0" rIns="0" bIns="0" anchor="t">
            <a:noAutofit/>
          </a:bodyPr>
          <a:lstStyle/>
          <a:p>
            <a:pPr algn="ctr">
              <a:buNone/>
              <a:defRPr sz="3225" b="0">
                <a:solidFill>
                  <a:srgbClr val="111111"/>
                </a:solidFill>
                <a:latin typeface="Aptos"/>
                <a:ea typeface="Aptos"/>
                <a:cs typeface="Aptos"/>
              </a:defRPr>
            </a:pPr>
            <a:r>
              <a:rPr sz="3225" b="0">
                <a:solidFill>
                  <a:srgbClr val="111111"/>
                </a:solidFill>
                <a:latin typeface="Aptos"/>
                <a:ea typeface="Aptos"/>
                <a:cs typeface="Aptos"/>
              </a:rPr>
              <a:t>n</a:t>
            </a:r>
          </a:p>
        </p:txBody>
      </p:sp>
      <p:sp>
        <p:nvSpPr>
          <p:cNvPr id="17" name="Straight Connector 16">
            <a:extLst>
              <a:ext uri="{FF2B5EF4-FFF2-40B4-BE49-F238E27FC236}">
                <a16:creationId xmlns:a16="http://schemas.microsoft.com/office/drawing/2014/main" id="{E1F74C03-745E-408F-BB61-EDAC18A98149}"/>
              </a:ext>
            </a:extLst>
          </p:cNvPr>
          <p:cNvSpPr>
            <a:spLocks noGrp="1"/>
          </p:cNvSpPr>
          <p:nvPr/>
        </p:nvSpPr>
        <p:spPr>
          <a:xfrm>
            <a:off x="6667500" y="4610100"/>
            <a:ext cx="781050" cy="0"/>
          </a:xfrm>
          <a:prstGeom prst="line">
            <a:avLst/>
          </a:prstGeom>
          <a:noFill/>
          <a:ln w="15240">
            <a:solidFill>
              <a:srgbClr val="111111"/>
            </a:solidFill>
          </a:ln>
        </p:spPr>
        <p:txBody>
          <a:bodyPr/>
          <a:lstStyle/>
          <a:p>
            <a:endParaRPr lang="en-US"/>
          </a:p>
        </p:txBody>
      </p:sp>
      <p:sp>
        <p:nvSpPr>
          <p:cNvPr id="18" name="Revised-text-72">
            <a:extLst>
              <a:ext uri="{FF2B5EF4-FFF2-40B4-BE49-F238E27FC236}">
                <a16:creationId xmlns:a16="http://schemas.microsoft.com/office/drawing/2014/main" id="{D78C8DFC-9C14-4794-98FE-B3029810DEB3}"/>
              </a:ext>
            </a:extLst>
          </p:cNvPr>
          <p:cNvSpPr>
            <a:spLocks noGrp="1"/>
          </p:cNvSpPr>
          <p:nvPr/>
        </p:nvSpPr>
        <p:spPr>
          <a:xfrm>
            <a:off x="6667500" y="4657725"/>
            <a:ext cx="781050" cy="495300"/>
          </a:xfrm>
          <a:prstGeom prst="rect">
            <a:avLst/>
          </a:prstGeom>
          <a:noFill/>
          <a:ln w="0">
            <a:noFill/>
          </a:ln>
        </p:spPr>
        <p:txBody>
          <a:bodyPr wrap="square" lIns="0" tIns="0" rIns="0" bIns="0" anchor="t">
            <a:noAutofit/>
          </a:bodyPr>
          <a:lstStyle/>
          <a:p>
            <a:pPr algn="ctr">
              <a:buNone/>
              <a:defRPr sz="3225" b="0">
                <a:solidFill>
                  <a:srgbClr val="111111"/>
                </a:solidFill>
                <a:latin typeface="Aptos"/>
                <a:ea typeface="Aptos"/>
                <a:cs typeface="Aptos"/>
              </a:defRPr>
            </a:pPr>
            <a:r>
              <a:rPr sz="3225" b="0">
                <a:solidFill>
                  <a:srgbClr val="111111"/>
                </a:solidFill>
                <a:latin typeface="Aptos"/>
                <a:ea typeface="Aptos"/>
                <a:cs typeface="Aptos"/>
              </a:rPr>
              <a:t>N</a:t>
            </a:r>
          </a:p>
        </p:txBody>
      </p:sp>
      <p:sp>
        <p:nvSpPr>
          <p:cNvPr id="19" name="Revised-text-73">
            <a:extLst>
              <a:ext uri="{FF2B5EF4-FFF2-40B4-BE49-F238E27FC236}">
                <a16:creationId xmlns:a16="http://schemas.microsoft.com/office/drawing/2014/main" id="{6E59362D-2BD2-4A67-8EA7-0768102B7411}"/>
              </a:ext>
            </a:extLst>
          </p:cNvPr>
          <p:cNvSpPr>
            <a:spLocks noGrp="1"/>
          </p:cNvSpPr>
          <p:nvPr/>
        </p:nvSpPr>
        <p:spPr>
          <a:xfrm>
            <a:off x="7639050" y="4381500"/>
            <a:ext cx="381000" cy="571500"/>
          </a:xfrm>
          <a:prstGeom prst="rect">
            <a:avLst/>
          </a:prstGeom>
          <a:noFill/>
          <a:ln w="0">
            <a:noFill/>
          </a:ln>
        </p:spPr>
        <p:txBody>
          <a:bodyPr wrap="square" lIns="0" tIns="0" rIns="0" bIns="0" anchor="t">
            <a:noAutofit/>
          </a:bodyPr>
          <a:lstStyle/>
          <a:p>
            <a:pPr algn="l">
              <a:buNone/>
              <a:defRPr sz="3225" b="0">
                <a:solidFill>
                  <a:srgbClr val="111111"/>
                </a:solidFill>
                <a:latin typeface="Aptos"/>
                <a:ea typeface="Aptos"/>
                <a:cs typeface="Aptos"/>
              </a:defRPr>
            </a:pPr>
            <a:r>
              <a:rPr sz="3225" b="0">
                <a:solidFill>
                  <a:srgbClr val="111111"/>
                </a:solidFill>
                <a:latin typeface="Aptos"/>
                <a:ea typeface="Aptos"/>
                <a:cs typeface="Aptos"/>
              </a:rPr>
              <a:t>=</a:t>
            </a:r>
          </a:p>
        </p:txBody>
      </p:sp>
      <p:sp>
        <p:nvSpPr>
          <p:cNvPr id="20" name="Revised-text-74">
            <a:extLst>
              <a:ext uri="{FF2B5EF4-FFF2-40B4-BE49-F238E27FC236}">
                <a16:creationId xmlns:a16="http://schemas.microsoft.com/office/drawing/2014/main" id="{CA2F98E5-0E50-4843-9B9E-D026706CF5AB}"/>
              </a:ext>
            </a:extLst>
          </p:cNvPr>
          <p:cNvSpPr>
            <a:spLocks noGrp="1"/>
          </p:cNvSpPr>
          <p:nvPr/>
        </p:nvSpPr>
        <p:spPr>
          <a:xfrm>
            <a:off x="8210550" y="4143375"/>
            <a:ext cx="857250" cy="476250"/>
          </a:xfrm>
          <a:prstGeom prst="rect">
            <a:avLst/>
          </a:prstGeom>
          <a:noFill/>
          <a:ln w="0">
            <a:noFill/>
          </a:ln>
        </p:spPr>
        <p:txBody>
          <a:bodyPr wrap="square" lIns="0" tIns="0" rIns="0" bIns="0" anchor="t">
            <a:noAutofit/>
          </a:bodyPr>
          <a:lstStyle/>
          <a:p>
            <a:pPr algn="ctr">
              <a:buNone/>
              <a:defRPr sz="3225" b="0">
                <a:solidFill>
                  <a:srgbClr val="111111"/>
                </a:solidFill>
                <a:latin typeface="Aptos"/>
                <a:ea typeface="Aptos"/>
                <a:cs typeface="Aptos"/>
              </a:defRPr>
            </a:pPr>
            <a:r>
              <a:rPr sz="3225" b="0">
                <a:solidFill>
                  <a:srgbClr val="111111"/>
                </a:solidFill>
                <a:latin typeface="Aptos"/>
                <a:ea typeface="Aptos"/>
                <a:cs typeface="Aptos"/>
              </a:rPr>
              <a:t>5</a:t>
            </a:r>
          </a:p>
        </p:txBody>
      </p:sp>
      <p:sp>
        <p:nvSpPr>
          <p:cNvPr id="21" name="Straight Connector 20">
            <a:extLst>
              <a:ext uri="{FF2B5EF4-FFF2-40B4-BE49-F238E27FC236}">
                <a16:creationId xmlns:a16="http://schemas.microsoft.com/office/drawing/2014/main" id="{FF7F574C-8115-47EC-9742-A55723EF3464}"/>
              </a:ext>
            </a:extLst>
          </p:cNvPr>
          <p:cNvSpPr>
            <a:spLocks noGrp="1"/>
          </p:cNvSpPr>
          <p:nvPr/>
        </p:nvSpPr>
        <p:spPr>
          <a:xfrm>
            <a:off x="8210550" y="4610100"/>
            <a:ext cx="857250" cy="0"/>
          </a:xfrm>
          <a:prstGeom prst="line">
            <a:avLst/>
          </a:prstGeom>
          <a:noFill/>
          <a:ln w="15240">
            <a:solidFill>
              <a:srgbClr val="111111"/>
            </a:solidFill>
          </a:ln>
        </p:spPr>
        <p:txBody>
          <a:bodyPr/>
          <a:lstStyle/>
          <a:p>
            <a:endParaRPr lang="en-US"/>
          </a:p>
        </p:txBody>
      </p:sp>
      <p:sp>
        <p:nvSpPr>
          <p:cNvPr id="22" name="Revised-text-75">
            <a:extLst>
              <a:ext uri="{FF2B5EF4-FFF2-40B4-BE49-F238E27FC236}">
                <a16:creationId xmlns:a16="http://schemas.microsoft.com/office/drawing/2014/main" id="{BE415D3A-151D-44EE-B34B-7F781EF93516}"/>
              </a:ext>
            </a:extLst>
          </p:cNvPr>
          <p:cNvSpPr>
            <a:spLocks noGrp="1"/>
          </p:cNvSpPr>
          <p:nvPr/>
        </p:nvSpPr>
        <p:spPr>
          <a:xfrm>
            <a:off x="8210550" y="4657725"/>
            <a:ext cx="857250" cy="495300"/>
          </a:xfrm>
          <a:prstGeom prst="rect">
            <a:avLst/>
          </a:prstGeom>
          <a:noFill/>
          <a:ln w="0">
            <a:noFill/>
          </a:ln>
        </p:spPr>
        <p:txBody>
          <a:bodyPr wrap="square" lIns="0" tIns="0" rIns="0" bIns="0" anchor="t">
            <a:noAutofit/>
          </a:bodyPr>
          <a:lstStyle/>
          <a:p>
            <a:pPr algn="ctr">
              <a:buNone/>
              <a:defRPr sz="3225" b="0">
                <a:solidFill>
                  <a:srgbClr val="111111"/>
                </a:solidFill>
                <a:latin typeface="Aptos"/>
                <a:ea typeface="Aptos"/>
                <a:cs typeface="Aptos"/>
              </a:defRPr>
            </a:pPr>
            <a:r>
              <a:rPr sz="3225" b="0">
                <a:solidFill>
                  <a:srgbClr val="111111"/>
                </a:solidFill>
                <a:latin typeface="Aptos"/>
                <a:ea typeface="Aptos"/>
                <a:cs typeface="Aptos"/>
              </a:rPr>
              <a:t>20</a:t>
            </a:r>
          </a:p>
        </p:txBody>
      </p:sp>
      <p:sp>
        <p:nvSpPr>
          <p:cNvPr id="23" name="Revised-text-76">
            <a:extLst>
              <a:ext uri="{FF2B5EF4-FFF2-40B4-BE49-F238E27FC236}">
                <a16:creationId xmlns:a16="http://schemas.microsoft.com/office/drawing/2014/main" id="{8C5FFB2A-52EC-4436-87D0-80C52657AEB5}"/>
              </a:ext>
            </a:extLst>
          </p:cNvPr>
          <p:cNvSpPr>
            <a:spLocks noGrp="1"/>
          </p:cNvSpPr>
          <p:nvPr/>
        </p:nvSpPr>
        <p:spPr>
          <a:xfrm>
            <a:off x="9334500" y="4400550"/>
            <a:ext cx="2238375" cy="571500"/>
          </a:xfrm>
          <a:prstGeom prst="rect">
            <a:avLst/>
          </a:prstGeom>
          <a:noFill/>
          <a:ln w="0">
            <a:noFill/>
          </a:ln>
        </p:spPr>
        <p:txBody>
          <a:bodyPr wrap="square" lIns="0" tIns="0" rIns="0" bIns="0" anchor="t">
            <a:noAutofit/>
          </a:bodyPr>
          <a:lstStyle/>
          <a:p>
            <a:pPr algn="l">
              <a:buNone/>
              <a:defRPr sz="2775" b="0">
                <a:solidFill>
                  <a:srgbClr val="111111"/>
                </a:solidFill>
                <a:latin typeface="Aptos"/>
                <a:ea typeface="Aptos"/>
                <a:cs typeface="Aptos"/>
              </a:defRPr>
            </a:pPr>
            <a:r>
              <a:rPr sz="2775" b="0">
                <a:solidFill>
                  <a:srgbClr val="111111"/>
                </a:solidFill>
                <a:latin typeface="Aptos"/>
                <a:ea typeface="Aptos"/>
                <a:cs typeface="Aptos"/>
              </a:rPr>
              <a:t>= 0.25</a:t>
            </a:r>
          </a:p>
        </p:txBody>
      </p:sp>
      <p:sp>
        <p:nvSpPr>
          <p:cNvPr id="24" name="Revised-text-77">
            <a:extLst>
              <a:ext uri="{FF2B5EF4-FFF2-40B4-BE49-F238E27FC236}">
                <a16:creationId xmlns:a16="http://schemas.microsoft.com/office/drawing/2014/main" id="{C1722A4A-FCD7-4A56-B17E-6649BFC6ACFF}"/>
              </a:ext>
            </a:extLst>
          </p:cNvPr>
          <p:cNvSpPr>
            <a:spLocks noGrp="1"/>
          </p:cNvSpPr>
          <p:nvPr/>
        </p:nvSpPr>
        <p:spPr>
          <a:xfrm>
            <a:off x="619125" y="5600700"/>
            <a:ext cx="5286375" cy="47625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Choose every fourth position.</a:t>
            </a:r>
          </a:p>
        </p:txBody>
      </p:sp>
      <p:sp>
        <p:nvSpPr>
          <p:cNvPr id="25" name="Revised-text-78">
            <a:extLst>
              <a:ext uri="{FF2B5EF4-FFF2-40B4-BE49-F238E27FC236}">
                <a16:creationId xmlns:a16="http://schemas.microsoft.com/office/drawing/2014/main" id="{B9DEFCDE-EC69-4642-BD7C-61E6BA041C5A}"/>
              </a:ext>
            </a:extLst>
          </p:cNvPr>
          <p:cNvSpPr>
            <a:spLocks noGrp="1"/>
          </p:cNvSpPr>
          <p:nvPr/>
        </p:nvSpPr>
        <p:spPr>
          <a:xfrm>
            <a:off x="6524625" y="5600700"/>
            <a:ext cx="5048250" cy="47625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25% of the population.</a:t>
            </a:r>
          </a:p>
        </p:txBody>
      </p:sp>
    </p:spTree>
    <p:extLst>
      <p:ext uri="{BB962C8B-B14F-4D97-AF65-F5344CB8AC3E}">
        <p14:creationId xmlns:p14="http://schemas.microsoft.com/office/powerpoint/2010/main" val="3281361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A3: Systematic selection</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A register has 2,184 students. Select 84 systematically.</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A3</a:t>
            </a:r>
          </a:p>
        </p:txBody>
      </p:sp>
      <p:sp>
        <p:nvSpPr>
          <p:cNvPr id="9" name="Revised-text-79">
            <a:extLst>
              <a:ext uri="{FF2B5EF4-FFF2-40B4-BE49-F238E27FC236}">
                <a16:creationId xmlns:a16="http://schemas.microsoft.com/office/drawing/2014/main" id="{434BF6F1-3A7F-4C97-968C-872420ACAF74}"/>
              </a:ext>
            </a:extLst>
          </p:cNvPr>
          <p:cNvSpPr>
            <a:spLocks noGrp="1"/>
          </p:cNvSpPr>
          <p:nvPr/>
        </p:nvSpPr>
        <p:spPr>
          <a:xfrm>
            <a:off x="619125" y="2762250"/>
            <a:ext cx="10858500" cy="73342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A3.1  Calculate the interval. State every possible random start.</a:t>
            </a:r>
          </a:p>
        </p:txBody>
      </p:sp>
      <p:sp>
        <p:nvSpPr>
          <p:cNvPr id="10" name="Revised-text-80">
            <a:extLst>
              <a:ext uri="{FF2B5EF4-FFF2-40B4-BE49-F238E27FC236}">
                <a16:creationId xmlns:a16="http://schemas.microsoft.com/office/drawing/2014/main" id="{A9A03175-2A5A-4B01-8742-A5D8D394D5F0}"/>
              </a:ext>
            </a:extLst>
          </p:cNvPr>
          <p:cNvSpPr>
            <a:spLocks noGrp="1"/>
          </p:cNvSpPr>
          <p:nvPr/>
        </p:nvSpPr>
        <p:spPr>
          <a:xfrm>
            <a:off x="619125" y="3581400"/>
            <a:ext cx="10858500" cy="73342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A3.2  A random generator gives start 19. Write the first six IDs.</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           Find the final selected ID and show how you found it.</a:t>
            </a:r>
          </a:p>
        </p:txBody>
      </p:sp>
      <p:sp>
        <p:nvSpPr>
          <p:cNvPr id="11" name="Revised-text-81">
            <a:extLst>
              <a:ext uri="{FF2B5EF4-FFF2-40B4-BE49-F238E27FC236}">
                <a16:creationId xmlns:a16="http://schemas.microsoft.com/office/drawing/2014/main" id="{ABAA4C44-7FB2-4BE1-B601-FA07C5B3A2B3}"/>
              </a:ext>
            </a:extLst>
          </p:cNvPr>
          <p:cNvSpPr>
            <a:spLocks noGrp="1"/>
          </p:cNvSpPr>
          <p:nvPr/>
        </p:nvSpPr>
        <p:spPr>
          <a:xfrm>
            <a:off x="619125" y="4400550"/>
            <a:ext cx="10858500" cy="73342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A3.3  Calculate the sampling fraction as a simplified fraction,</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           a decimal and a percentage.</a:t>
            </a:r>
          </a:p>
        </p:txBody>
      </p:sp>
      <p:sp>
        <p:nvSpPr>
          <p:cNvPr id="12" name="Revised-text-82">
            <a:extLst>
              <a:ext uri="{FF2B5EF4-FFF2-40B4-BE49-F238E27FC236}">
                <a16:creationId xmlns:a16="http://schemas.microsoft.com/office/drawing/2014/main" id="{A0E666F5-5ADE-4F70-8133-058982DDE247}"/>
              </a:ext>
            </a:extLst>
          </p:cNvPr>
          <p:cNvSpPr>
            <a:spLocks noGrp="1"/>
          </p:cNvSpPr>
          <p:nvPr/>
        </p:nvSpPr>
        <p:spPr>
          <a:xfrm>
            <a:off x="619125" y="5219700"/>
            <a:ext cx="10858500" cy="733425"/>
          </a:xfrm>
          <a:prstGeom prst="rect">
            <a:avLst/>
          </a:prstGeom>
          <a:noFill/>
          <a:ln w="0">
            <a:noFill/>
          </a:ln>
        </p:spPr>
        <p:txBody>
          <a:bodyPr wrap="square" lIns="0" tIns="0" rIns="0" bIns="0" anchor="t">
            <a:noAutofit/>
          </a:bodyPr>
          <a:lstStyle/>
          <a:p>
            <a:pPr>
              <a:defRPr sz="2250" b="0">
                <a:solidFill>
                  <a:srgbClr val="111111"/>
                </a:solidFill>
                <a:latin typeface="Aptos"/>
                <a:ea typeface="Aptos"/>
                <a:cs typeface="Aptos"/>
              </a:defRPr>
            </a:pPr>
            <a:r>
              <a:rPr sz="2250" b="0" dirty="0">
                <a:solidFill>
                  <a:srgbClr val="111111"/>
                </a:solidFill>
                <a:latin typeface="Aptos"/>
                <a:ea typeface="Aptos"/>
                <a:cs typeface="Aptos"/>
              </a:rPr>
              <a:t>A3.4  </a:t>
            </a:r>
            <a:r>
              <a:rPr lang="en-GB" sz="2250" dirty="0"/>
              <a:t>A register contains 2,184 students. Every 39th student is selected, and the </a:t>
            </a:r>
            <a:r>
              <a:rPr lang="en-GB" sz="2250"/>
              <a:t>fifth 	selected </a:t>
            </a:r>
            <a:r>
              <a:rPr lang="en-GB" sz="2250" dirty="0"/>
              <a:t>ID is 184. Find the sample size and the starting ID.</a:t>
            </a:r>
            <a:endParaRPr sz="2250" b="0" dirty="0">
              <a:solidFill>
                <a:srgbClr val="111111"/>
              </a:solidFill>
              <a:latin typeface="Aptos"/>
              <a:ea typeface="Aptos"/>
              <a:cs typeface="Aptos"/>
            </a:endParaRPr>
          </a:p>
        </p:txBody>
      </p:sp>
    </p:spTree>
    <p:extLst>
      <p:ext uri="{BB962C8B-B14F-4D97-AF65-F5344CB8AC3E}">
        <p14:creationId xmlns:p14="http://schemas.microsoft.com/office/powerpoint/2010/main" val="3281361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A3: Interval and selected IDs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 first selection counts as student 1 in the sample.</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A3</a:t>
            </a:r>
          </a:p>
        </p:txBody>
      </p:sp>
      <p:sp>
        <p:nvSpPr>
          <p:cNvPr id="9" name="Revised-text-83">
            <a:extLst>
              <a:ext uri="{FF2B5EF4-FFF2-40B4-BE49-F238E27FC236}">
                <a16:creationId xmlns:a16="http://schemas.microsoft.com/office/drawing/2014/main" id="{36A9A35D-0A23-4A95-824E-CCF4B5BE43EA}"/>
              </a:ext>
            </a:extLst>
          </p:cNvPr>
          <p:cNvSpPr>
            <a:spLocks noGrp="1"/>
          </p:cNvSpPr>
          <p:nvPr/>
        </p:nvSpPr>
        <p:spPr>
          <a:xfrm>
            <a:off x="619125" y="2790825"/>
            <a:ext cx="1333500" cy="40005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A3.1</a:t>
            </a:r>
          </a:p>
        </p:txBody>
      </p:sp>
      <p:sp>
        <p:nvSpPr>
          <p:cNvPr id="10" name="Revised-text-84">
            <a:extLst>
              <a:ext uri="{FF2B5EF4-FFF2-40B4-BE49-F238E27FC236}">
                <a16:creationId xmlns:a16="http://schemas.microsoft.com/office/drawing/2014/main" id="{027D5329-973A-4D93-AB90-605C2950273D}"/>
              </a:ext>
            </a:extLst>
          </p:cNvPr>
          <p:cNvSpPr>
            <a:spLocks noGrp="1"/>
          </p:cNvSpPr>
          <p:nvPr/>
        </p:nvSpPr>
        <p:spPr>
          <a:xfrm>
            <a:off x="2190750" y="2781300"/>
            <a:ext cx="1257300" cy="419100"/>
          </a:xfrm>
          <a:prstGeom prst="rect">
            <a:avLst/>
          </a:prstGeom>
          <a:noFill/>
          <a:ln w="0">
            <a:noFill/>
          </a:ln>
        </p:spPr>
        <p:txBody>
          <a:bodyPr wrap="square" lIns="0" tIns="0" rIns="0" bIns="0" anchor="t">
            <a:noAutofit/>
          </a:bodyPr>
          <a:lstStyle/>
          <a:p>
            <a:pPr algn="ctr">
              <a:buNone/>
              <a:defRPr sz="2775" b="0">
                <a:solidFill>
                  <a:srgbClr val="111111"/>
                </a:solidFill>
                <a:latin typeface="Aptos"/>
                <a:ea typeface="Aptos"/>
                <a:cs typeface="Aptos"/>
              </a:defRPr>
            </a:pPr>
            <a:r>
              <a:rPr sz="2775" b="0">
                <a:solidFill>
                  <a:srgbClr val="111111"/>
                </a:solidFill>
                <a:latin typeface="Aptos"/>
                <a:ea typeface="Aptos"/>
                <a:cs typeface="Aptos"/>
              </a:rPr>
              <a:t>2,184</a:t>
            </a:r>
          </a:p>
        </p:txBody>
      </p:sp>
      <p:sp>
        <p:nvSpPr>
          <p:cNvPr id="11" name="Straight Connector 10">
            <a:extLst>
              <a:ext uri="{FF2B5EF4-FFF2-40B4-BE49-F238E27FC236}">
                <a16:creationId xmlns:a16="http://schemas.microsoft.com/office/drawing/2014/main" id="{BEC2C97E-2BA3-4159-9667-4FEF115608DC}"/>
              </a:ext>
            </a:extLst>
          </p:cNvPr>
          <p:cNvSpPr>
            <a:spLocks noGrp="1"/>
          </p:cNvSpPr>
          <p:nvPr/>
        </p:nvSpPr>
        <p:spPr>
          <a:xfrm>
            <a:off x="2190750" y="3190875"/>
            <a:ext cx="1257300" cy="0"/>
          </a:xfrm>
          <a:prstGeom prst="line">
            <a:avLst/>
          </a:prstGeom>
          <a:noFill/>
          <a:ln w="15240">
            <a:solidFill>
              <a:srgbClr val="111111"/>
            </a:solidFill>
          </a:ln>
        </p:spPr>
        <p:txBody>
          <a:bodyPr/>
          <a:lstStyle/>
          <a:p>
            <a:endParaRPr lang="en-US"/>
          </a:p>
        </p:txBody>
      </p:sp>
      <p:sp>
        <p:nvSpPr>
          <p:cNvPr id="12" name="Revised-text-85">
            <a:extLst>
              <a:ext uri="{FF2B5EF4-FFF2-40B4-BE49-F238E27FC236}">
                <a16:creationId xmlns:a16="http://schemas.microsoft.com/office/drawing/2014/main" id="{CCB659F5-C5A0-4218-B186-28B7DE5F6DB5}"/>
              </a:ext>
            </a:extLst>
          </p:cNvPr>
          <p:cNvSpPr>
            <a:spLocks noGrp="1"/>
          </p:cNvSpPr>
          <p:nvPr/>
        </p:nvSpPr>
        <p:spPr>
          <a:xfrm>
            <a:off x="2190750" y="3238500"/>
            <a:ext cx="1257300" cy="438150"/>
          </a:xfrm>
          <a:prstGeom prst="rect">
            <a:avLst/>
          </a:prstGeom>
          <a:noFill/>
          <a:ln w="0">
            <a:noFill/>
          </a:ln>
        </p:spPr>
        <p:txBody>
          <a:bodyPr wrap="square" lIns="0" tIns="0" rIns="0" bIns="0" anchor="t">
            <a:noAutofit/>
          </a:bodyPr>
          <a:lstStyle/>
          <a:p>
            <a:pPr algn="ctr">
              <a:buNone/>
              <a:defRPr sz="2775" b="0">
                <a:solidFill>
                  <a:srgbClr val="111111"/>
                </a:solidFill>
                <a:latin typeface="Aptos"/>
                <a:ea typeface="Aptos"/>
                <a:cs typeface="Aptos"/>
              </a:defRPr>
            </a:pPr>
            <a:r>
              <a:rPr sz="2775" b="0">
                <a:solidFill>
                  <a:srgbClr val="111111"/>
                </a:solidFill>
                <a:latin typeface="Aptos"/>
                <a:ea typeface="Aptos"/>
                <a:cs typeface="Aptos"/>
              </a:rPr>
              <a:t>84</a:t>
            </a:r>
          </a:p>
        </p:txBody>
      </p:sp>
      <p:sp>
        <p:nvSpPr>
          <p:cNvPr id="13" name="Revised-text-86">
            <a:extLst>
              <a:ext uri="{FF2B5EF4-FFF2-40B4-BE49-F238E27FC236}">
                <a16:creationId xmlns:a16="http://schemas.microsoft.com/office/drawing/2014/main" id="{2B749B91-FDC7-4704-B263-DCDD7D6DB9E7}"/>
              </a:ext>
            </a:extLst>
          </p:cNvPr>
          <p:cNvSpPr>
            <a:spLocks noGrp="1"/>
          </p:cNvSpPr>
          <p:nvPr/>
        </p:nvSpPr>
        <p:spPr>
          <a:xfrm>
            <a:off x="3638550" y="2957513"/>
            <a:ext cx="7934325" cy="590550"/>
          </a:xfrm>
          <a:prstGeom prst="rect">
            <a:avLst/>
          </a:prstGeom>
          <a:noFill/>
          <a:ln w="0">
            <a:noFill/>
          </a:ln>
        </p:spPr>
        <p:txBody>
          <a:bodyPr wrap="square" lIns="0" tIns="0" rIns="0" bIns="0" anchor="t">
            <a:noAutofit/>
          </a:bodyPr>
          <a:lstStyle/>
          <a:p>
            <a:pPr algn="l">
              <a:buNone/>
              <a:defRPr sz="2775" b="0">
                <a:solidFill>
                  <a:srgbClr val="111111"/>
                </a:solidFill>
                <a:latin typeface="Aptos"/>
                <a:ea typeface="Aptos"/>
                <a:cs typeface="Aptos"/>
              </a:defRPr>
            </a:pPr>
            <a:r>
              <a:rPr sz="2775" b="0">
                <a:solidFill>
                  <a:srgbClr val="111111"/>
                </a:solidFill>
                <a:latin typeface="Aptos"/>
                <a:ea typeface="Aptos"/>
                <a:cs typeface="Aptos"/>
              </a:rPr>
              <a:t>= 26</a:t>
            </a:r>
          </a:p>
        </p:txBody>
      </p:sp>
      <p:sp>
        <p:nvSpPr>
          <p:cNvPr id="14" name="Revised-text-87">
            <a:extLst>
              <a:ext uri="{FF2B5EF4-FFF2-40B4-BE49-F238E27FC236}">
                <a16:creationId xmlns:a16="http://schemas.microsoft.com/office/drawing/2014/main" id="{6B9DECDE-23DE-417B-9611-F7050E2B1C49}"/>
              </a:ext>
            </a:extLst>
          </p:cNvPr>
          <p:cNvSpPr>
            <a:spLocks noGrp="1"/>
          </p:cNvSpPr>
          <p:nvPr/>
        </p:nvSpPr>
        <p:spPr>
          <a:xfrm>
            <a:off x="619125" y="4000500"/>
            <a:ext cx="10763250" cy="43815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Random start: choose each of 1–26 with equal chance.</a:t>
            </a:r>
          </a:p>
        </p:txBody>
      </p:sp>
      <p:sp>
        <p:nvSpPr>
          <p:cNvPr id="15" name="Revised-text-88">
            <a:extLst>
              <a:ext uri="{FF2B5EF4-FFF2-40B4-BE49-F238E27FC236}">
                <a16:creationId xmlns:a16="http://schemas.microsoft.com/office/drawing/2014/main" id="{854EBEE2-3120-46CE-A7DD-5806F3F128F9}"/>
              </a:ext>
            </a:extLst>
          </p:cNvPr>
          <p:cNvSpPr>
            <a:spLocks noGrp="1"/>
          </p:cNvSpPr>
          <p:nvPr/>
        </p:nvSpPr>
        <p:spPr>
          <a:xfrm>
            <a:off x="619125" y="4762500"/>
            <a:ext cx="10858500" cy="447675"/>
          </a:xfrm>
          <a:prstGeom prst="rect">
            <a:avLst/>
          </a:prstGeom>
          <a:noFill/>
          <a:ln w="0">
            <a:noFill/>
          </a:ln>
        </p:spPr>
        <p:txBody>
          <a:bodyPr wrap="square" lIns="0" tIns="0" rIns="0" bIns="0" anchor="t">
            <a:noAutofit/>
          </a:bodyPr>
          <a:lstStyle/>
          <a:p>
            <a:pPr algn="l">
              <a:buNone/>
              <a:defRPr sz="2475" b="0">
                <a:solidFill>
                  <a:srgbClr val="111111"/>
                </a:solidFill>
                <a:latin typeface="Aptos"/>
                <a:ea typeface="Aptos"/>
                <a:cs typeface="Aptos"/>
              </a:defRPr>
            </a:pPr>
            <a:r>
              <a:rPr sz="2475" b="0">
                <a:solidFill>
                  <a:srgbClr val="111111"/>
                </a:solidFill>
                <a:latin typeface="Aptos"/>
                <a:ea typeface="Aptos"/>
                <a:cs typeface="Aptos"/>
              </a:rPr>
              <a:t>A3.2  First six IDs: 19, 45, 71, 97, 123, 149</a:t>
            </a:r>
          </a:p>
        </p:txBody>
      </p:sp>
      <p:sp>
        <p:nvSpPr>
          <p:cNvPr id="16" name="Revised-text-89">
            <a:extLst>
              <a:ext uri="{FF2B5EF4-FFF2-40B4-BE49-F238E27FC236}">
                <a16:creationId xmlns:a16="http://schemas.microsoft.com/office/drawing/2014/main" id="{A46976A3-E122-4E48-AA07-D24C5EABBDA7}"/>
              </a:ext>
            </a:extLst>
          </p:cNvPr>
          <p:cNvSpPr>
            <a:spLocks noGrp="1"/>
          </p:cNvSpPr>
          <p:nvPr/>
        </p:nvSpPr>
        <p:spPr>
          <a:xfrm>
            <a:off x="619125" y="5581650"/>
            <a:ext cx="10858500" cy="495300"/>
          </a:xfrm>
          <a:prstGeom prst="rect">
            <a:avLst/>
          </a:prstGeom>
          <a:noFill/>
          <a:ln w="0">
            <a:noFill/>
          </a:ln>
        </p:spPr>
        <p:txBody>
          <a:bodyPr wrap="square" lIns="0" tIns="0" rIns="0" bIns="0" anchor="t">
            <a:noAutofit/>
          </a:bodyPr>
          <a:lstStyle/>
          <a:p>
            <a:pPr algn="l">
              <a:buNone/>
              <a:defRPr sz="2700" b="1">
                <a:solidFill>
                  <a:srgbClr val="111111"/>
                </a:solidFill>
                <a:latin typeface="Aptos"/>
                <a:ea typeface="Aptos"/>
                <a:cs typeface="Aptos"/>
              </a:defRPr>
            </a:pPr>
            <a:r>
              <a:rPr sz="2700" b="1">
                <a:solidFill>
                  <a:srgbClr val="111111"/>
                </a:solidFill>
                <a:latin typeface="Aptos"/>
                <a:ea typeface="Aptos"/>
                <a:cs typeface="Aptos"/>
              </a:rPr>
              <a:t>Final ID = 19 + 83 × 26 = 2,177</a:t>
            </a:r>
          </a:p>
        </p:txBody>
      </p:sp>
    </p:spTree>
    <p:extLst>
      <p:ext uri="{BB962C8B-B14F-4D97-AF65-F5344CB8AC3E}">
        <p14:creationId xmlns:p14="http://schemas.microsoft.com/office/powerpoint/2010/main" val="3281361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A3: Fraction and reverse reasoning</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 fifth selected student comes after four jumps.</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A3</a:t>
            </a:r>
          </a:p>
        </p:txBody>
      </p:sp>
      <p:sp>
        <p:nvSpPr>
          <p:cNvPr id="9" name="VisualRevision-46">
            <a:extLst>
              <a:ext uri="{FF2B5EF4-FFF2-40B4-BE49-F238E27FC236}">
                <a16:creationId xmlns:a16="http://schemas.microsoft.com/office/drawing/2014/main" id="{DA9185CE-87D9-45DE-AED9-E5119A96E410}"/>
              </a:ext>
            </a:extLst>
          </p:cNvPr>
          <p:cNvSpPr>
            <a:spLocks noGrp="1"/>
          </p:cNvSpPr>
          <p:nvPr/>
        </p:nvSpPr>
        <p:spPr>
          <a:xfrm>
            <a:off x="619125" y="2762250"/>
            <a:ext cx="10858500" cy="40005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A3.3  Sampling fraction</a:t>
            </a:r>
          </a:p>
        </p:txBody>
      </p:sp>
      <p:sp>
        <p:nvSpPr>
          <p:cNvPr id="10" name="VisualRevision-47">
            <a:extLst>
              <a:ext uri="{FF2B5EF4-FFF2-40B4-BE49-F238E27FC236}">
                <a16:creationId xmlns:a16="http://schemas.microsoft.com/office/drawing/2014/main" id="{B2F1102E-FBC9-47D4-9276-0E697527A1E7}"/>
              </a:ext>
            </a:extLst>
          </p:cNvPr>
          <p:cNvSpPr>
            <a:spLocks noGrp="1"/>
          </p:cNvSpPr>
          <p:nvPr/>
        </p:nvSpPr>
        <p:spPr>
          <a:xfrm>
            <a:off x="619125" y="3295650"/>
            <a:ext cx="10858500" cy="533400"/>
          </a:xfrm>
          <a:prstGeom prst="rect">
            <a:avLst/>
          </a:prstGeom>
          <a:noFill/>
          <a:ln w="0">
            <a:noFill/>
          </a:ln>
        </p:spPr>
        <p:txBody>
          <a:bodyPr wrap="square" lIns="0" tIns="0" rIns="0" bIns="0" anchor="t">
            <a:noAutofit/>
          </a:bodyPr>
          <a:lstStyle/>
          <a:p>
            <a:pPr algn="l">
              <a:defRPr sz="2700" b="0">
                <a:solidFill>
                  <a:srgbClr val="111111"/>
                </a:solidFill>
                <a:latin typeface="Aptos"/>
                <a:ea typeface="Aptos"/>
                <a:cs typeface="Aptos"/>
              </a:defRPr>
            </a:pPr>
            <a:r>
              <a:rPr sz="2700" b="0">
                <a:solidFill>
                  <a:srgbClr val="111111"/>
                </a:solidFill>
                <a:latin typeface="Aptos"/>
                <a:ea typeface="Aptos"/>
                <a:cs typeface="Aptos"/>
              </a:rPr>
              <a:t>84 ÷ 2,184 = 1/26 ≈ 0.03846 ≈ 3.85%</a:t>
            </a:r>
          </a:p>
        </p:txBody>
      </p:sp>
      <p:sp>
        <p:nvSpPr>
          <p:cNvPr id="11" name="VisualRevision-48">
            <a:extLst>
              <a:ext uri="{FF2B5EF4-FFF2-40B4-BE49-F238E27FC236}">
                <a16:creationId xmlns:a16="http://schemas.microsoft.com/office/drawing/2014/main" id="{CC0C0CF6-216C-4318-88C2-1AC25ECF9CF8}"/>
              </a:ext>
            </a:extLst>
          </p:cNvPr>
          <p:cNvSpPr>
            <a:spLocks noGrp="1"/>
          </p:cNvSpPr>
          <p:nvPr/>
        </p:nvSpPr>
        <p:spPr>
          <a:xfrm>
            <a:off x="619125" y="4171950"/>
            <a:ext cx="10858500" cy="457200"/>
          </a:xfrm>
          <a:prstGeom prst="rect">
            <a:avLst/>
          </a:prstGeom>
          <a:noFill/>
          <a:ln w="0">
            <a:noFill/>
          </a:ln>
        </p:spPr>
        <p:txBody>
          <a:bodyPr wrap="square" lIns="0" tIns="0" rIns="0" bIns="0" anchor="t">
            <a:noAutofit/>
          </a:bodyPr>
          <a:lstStyle/>
          <a:p>
            <a:pPr algn="l">
              <a:defRPr sz="2475" b="1">
                <a:solidFill>
                  <a:srgbClr val="111111"/>
                </a:solidFill>
                <a:latin typeface="Aptos"/>
                <a:ea typeface="Aptos"/>
                <a:cs typeface="Aptos"/>
              </a:defRPr>
            </a:pPr>
            <a:r>
              <a:rPr sz="2475" b="1">
                <a:solidFill>
                  <a:srgbClr val="111111"/>
                </a:solidFill>
                <a:latin typeface="Aptos"/>
                <a:ea typeface="Aptos"/>
                <a:cs typeface="Aptos"/>
              </a:rPr>
              <a:t>A3.4  Sample size: 2,184 ÷ 39 = 56</a:t>
            </a:r>
          </a:p>
        </p:txBody>
      </p:sp>
      <p:sp>
        <p:nvSpPr>
          <p:cNvPr id="12" name="VisualRevision-49">
            <a:extLst>
              <a:ext uri="{FF2B5EF4-FFF2-40B4-BE49-F238E27FC236}">
                <a16:creationId xmlns:a16="http://schemas.microsoft.com/office/drawing/2014/main" id="{576DA38F-86DA-4EC7-A718-A47960040C3B}"/>
              </a:ext>
            </a:extLst>
          </p:cNvPr>
          <p:cNvSpPr>
            <a:spLocks noGrp="1"/>
          </p:cNvSpPr>
          <p:nvPr/>
        </p:nvSpPr>
        <p:spPr>
          <a:xfrm>
            <a:off x="619125" y="4810125"/>
            <a:ext cx="10858500" cy="495300"/>
          </a:xfrm>
          <a:prstGeom prst="rect">
            <a:avLst/>
          </a:prstGeom>
          <a:noFill/>
          <a:ln w="0">
            <a:noFill/>
          </a:ln>
        </p:spPr>
        <p:txBody>
          <a:bodyPr wrap="square" lIns="0" tIns="0" rIns="0" bIns="0" anchor="t">
            <a:noAutofit/>
          </a:bodyPr>
          <a:lstStyle/>
          <a:p>
            <a:pPr algn="l">
              <a:defRPr sz="2700" b="1">
                <a:solidFill>
                  <a:srgbClr val="111111"/>
                </a:solidFill>
                <a:latin typeface="Aptos"/>
                <a:ea typeface="Aptos"/>
                <a:cs typeface="Aptos"/>
              </a:defRPr>
            </a:pPr>
            <a:r>
              <a:rPr sz="2700" b="1">
                <a:solidFill>
                  <a:srgbClr val="111111"/>
                </a:solidFill>
                <a:latin typeface="Aptos"/>
                <a:ea typeface="Aptos"/>
                <a:cs typeface="Aptos"/>
              </a:rPr>
              <a:t>Starting ID = 184 − 4 × 39 = 28</a:t>
            </a:r>
          </a:p>
        </p:txBody>
      </p:sp>
      <p:sp>
        <p:nvSpPr>
          <p:cNvPr id="13" name="VisualRevision-50">
            <a:extLst>
              <a:ext uri="{FF2B5EF4-FFF2-40B4-BE49-F238E27FC236}">
                <a16:creationId xmlns:a16="http://schemas.microsoft.com/office/drawing/2014/main" id="{EBB8F3D6-116B-41AA-B312-F2CE8A300B9F}"/>
              </a:ext>
            </a:extLst>
          </p:cNvPr>
          <p:cNvSpPr>
            <a:spLocks noGrp="1"/>
          </p:cNvSpPr>
          <p:nvPr/>
        </p:nvSpPr>
        <p:spPr>
          <a:xfrm>
            <a:off x="619125" y="5572125"/>
            <a:ext cx="10858500" cy="45720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Check: 28, 67, 106, 145, 184. Start 28 is within 1–39.</a:t>
            </a:r>
          </a:p>
        </p:txBody>
      </p:sp>
    </p:spTree>
    <p:extLst>
      <p:ext uri="{BB962C8B-B14F-4D97-AF65-F5344CB8AC3E}">
        <p14:creationId xmlns:p14="http://schemas.microsoft.com/office/powerpoint/2010/main" val="3281361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A3.5: The favourite-student start</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 teacher uses the correct interval of 26.</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A3</a:t>
            </a:r>
          </a:p>
        </p:txBody>
      </p:sp>
      <p:sp>
        <p:nvSpPr>
          <p:cNvPr id="9" name="Revised-text-101">
            <a:extLst>
              <a:ext uri="{FF2B5EF4-FFF2-40B4-BE49-F238E27FC236}">
                <a16:creationId xmlns:a16="http://schemas.microsoft.com/office/drawing/2014/main" id="{9BB5AD38-EE7A-4CB0-B9EB-96F495389B07}"/>
              </a:ext>
            </a:extLst>
          </p:cNvPr>
          <p:cNvSpPr>
            <a:spLocks noGrp="1"/>
          </p:cNvSpPr>
          <p:nvPr/>
        </p:nvSpPr>
        <p:spPr>
          <a:xfrm>
            <a:off x="619125" y="2886075"/>
            <a:ext cx="10715625" cy="1143000"/>
          </a:xfrm>
          <a:prstGeom prst="rect">
            <a:avLst/>
          </a:prstGeom>
          <a:noFill/>
          <a:ln w="0">
            <a:noFill/>
          </a:ln>
        </p:spPr>
        <p:txBody>
          <a:bodyPr wrap="square" lIns="0" tIns="0" rIns="0" bIns="0" anchor="t">
            <a:noAutofit/>
          </a:bodyPr>
          <a:lstStyle/>
          <a:p>
            <a:pPr algn="l">
              <a:buNone/>
              <a:defRPr sz="2925" b="1">
                <a:solidFill>
                  <a:srgbClr val="111111"/>
                </a:solidFill>
                <a:latin typeface="Aptos"/>
                <a:ea typeface="Aptos"/>
                <a:cs typeface="Aptos"/>
              </a:defRPr>
            </a:pPr>
            <a:r>
              <a:rPr sz="2925" b="1">
                <a:solidFill>
                  <a:srgbClr val="111111"/>
                </a:solidFill>
                <a:latin typeface="Aptos"/>
                <a:ea typeface="Aptos"/>
                <a:cs typeface="Aptos"/>
              </a:rPr>
              <a:t>“My favourite student is at position 19,</a:t>
            </a:r>
          </a:p>
          <a:p>
            <a:pPr algn="l">
              <a:buNone/>
              <a:defRPr sz="2925" b="1">
                <a:solidFill>
                  <a:srgbClr val="111111"/>
                </a:solidFill>
                <a:latin typeface="Aptos"/>
                <a:ea typeface="Aptos"/>
                <a:cs typeface="Aptos"/>
              </a:defRPr>
            </a:pPr>
            <a:r>
              <a:rPr sz="2925" b="1">
                <a:solidFill>
                  <a:srgbClr val="111111"/>
                </a:solidFill>
                <a:latin typeface="Aptos"/>
                <a:ea typeface="Aptos"/>
                <a:cs typeface="Aptos"/>
              </a:rPr>
              <a:t>so I will start at 19 and keep adding 26.”</a:t>
            </a:r>
          </a:p>
        </p:txBody>
      </p:sp>
      <p:sp>
        <p:nvSpPr>
          <p:cNvPr id="10" name="Revised-text-102">
            <a:extLst>
              <a:ext uri="{FF2B5EF4-FFF2-40B4-BE49-F238E27FC236}">
                <a16:creationId xmlns:a16="http://schemas.microsoft.com/office/drawing/2014/main" id="{53251751-8176-464A-B990-AEDD7F002613}"/>
              </a:ext>
            </a:extLst>
          </p:cNvPr>
          <p:cNvSpPr>
            <a:spLocks noGrp="1"/>
          </p:cNvSpPr>
          <p:nvPr/>
        </p:nvSpPr>
        <p:spPr>
          <a:xfrm>
            <a:off x="619125" y="4467225"/>
            <a:ext cx="10858500" cy="49530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What is wrong with this selection process?</a:t>
            </a:r>
          </a:p>
        </p:txBody>
      </p:sp>
      <p:sp>
        <p:nvSpPr>
          <p:cNvPr id="11" name="Revised-text-103">
            <a:extLst>
              <a:ext uri="{FF2B5EF4-FFF2-40B4-BE49-F238E27FC236}">
                <a16:creationId xmlns:a16="http://schemas.microsoft.com/office/drawing/2014/main" id="{EA45950C-3B8C-4517-B686-05473CEB9B67}"/>
              </a:ext>
            </a:extLst>
          </p:cNvPr>
          <p:cNvSpPr>
            <a:spLocks noGrp="1"/>
          </p:cNvSpPr>
          <p:nvPr/>
        </p:nvSpPr>
        <p:spPr>
          <a:xfrm>
            <a:off x="619125" y="5048250"/>
            <a:ext cx="10858500" cy="49530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Explain why using the correct interval does not repair it.</a:t>
            </a:r>
          </a:p>
        </p:txBody>
      </p:sp>
      <p:sp>
        <p:nvSpPr>
          <p:cNvPr id="12" name="Revised-text-104">
            <a:extLst>
              <a:ext uri="{FF2B5EF4-FFF2-40B4-BE49-F238E27FC236}">
                <a16:creationId xmlns:a16="http://schemas.microsoft.com/office/drawing/2014/main" id="{4F069FAC-D2D4-4D26-BAA5-DEDD30763E05}"/>
              </a:ext>
            </a:extLst>
          </p:cNvPr>
          <p:cNvSpPr>
            <a:spLocks noGrp="1"/>
          </p:cNvSpPr>
          <p:nvPr/>
        </p:nvSpPr>
        <p:spPr>
          <a:xfrm>
            <a:off x="619125" y="5629275"/>
            <a:ext cx="10858500" cy="49530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Describe a valid way to choose the starting position.</a:t>
            </a:r>
          </a:p>
        </p:txBody>
      </p:sp>
    </p:spTree>
    <p:extLst>
      <p:ext uri="{BB962C8B-B14F-4D97-AF65-F5344CB8AC3E}">
        <p14:creationId xmlns:p14="http://schemas.microsoft.com/office/powerpoint/2010/main" val="3281361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A3.5: Why that start is wrong</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 teacher chose a person instead of randomly choosing a start.</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A3</a:t>
            </a:r>
          </a:p>
        </p:txBody>
      </p:sp>
      <p:sp>
        <p:nvSpPr>
          <p:cNvPr id="9" name="Revised-text-105">
            <a:extLst>
              <a:ext uri="{FF2B5EF4-FFF2-40B4-BE49-F238E27FC236}">
                <a16:creationId xmlns:a16="http://schemas.microsoft.com/office/drawing/2014/main" id="{14EEBA17-A699-4B1B-8F4A-4BE31B7C8E14}"/>
              </a:ext>
            </a:extLst>
          </p:cNvPr>
          <p:cNvSpPr>
            <a:spLocks noGrp="1"/>
          </p:cNvSpPr>
          <p:nvPr/>
        </p:nvSpPr>
        <p:spPr>
          <a:xfrm>
            <a:off x="619125" y="2914650"/>
            <a:ext cx="10763250" cy="495300"/>
          </a:xfrm>
          <a:prstGeom prst="rect">
            <a:avLst/>
          </a:prstGeom>
          <a:noFill/>
          <a:ln w="0">
            <a:noFill/>
          </a:ln>
        </p:spPr>
        <p:txBody>
          <a:bodyPr wrap="square" lIns="0" tIns="0" rIns="0" bIns="0" anchor="t">
            <a:noAutofit/>
          </a:bodyPr>
          <a:lstStyle/>
          <a:p>
            <a:pPr algn="l">
              <a:buNone/>
              <a:defRPr sz="2625" b="1">
                <a:solidFill>
                  <a:srgbClr val="111111"/>
                </a:solidFill>
                <a:latin typeface="Aptos"/>
                <a:ea typeface="Aptos"/>
                <a:cs typeface="Aptos"/>
              </a:defRPr>
            </a:pPr>
            <a:r>
              <a:rPr sz="2625" b="1">
                <a:solidFill>
                  <a:srgbClr val="111111"/>
                </a:solidFill>
                <a:latin typeface="Aptos"/>
                <a:ea typeface="Aptos"/>
                <a:cs typeface="Aptos"/>
              </a:rPr>
              <a:t>Only the sequence 19, 45, 71, … can occur.</a:t>
            </a:r>
          </a:p>
        </p:txBody>
      </p:sp>
      <p:sp>
        <p:nvSpPr>
          <p:cNvPr id="10" name="Revised-text-106">
            <a:extLst>
              <a:ext uri="{FF2B5EF4-FFF2-40B4-BE49-F238E27FC236}">
                <a16:creationId xmlns:a16="http://schemas.microsoft.com/office/drawing/2014/main" id="{BB3D1B43-FE11-4368-A815-B55D44FCBBBF}"/>
              </a:ext>
            </a:extLst>
          </p:cNvPr>
          <p:cNvSpPr>
            <a:spLocks noGrp="1"/>
          </p:cNvSpPr>
          <p:nvPr/>
        </p:nvSpPr>
        <p:spPr>
          <a:xfrm>
            <a:off x="619125" y="3676650"/>
            <a:ext cx="10763250" cy="952500"/>
          </a:xfrm>
          <a:prstGeom prst="rect">
            <a:avLst/>
          </a:prstGeom>
          <a:noFill/>
          <a:ln w="0">
            <a:noFill/>
          </a:ln>
        </p:spPr>
        <p:txBody>
          <a:bodyPr wrap="square" lIns="0" tIns="0" rIns="0" bIns="0" anchor="t">
            <a:noAutofit/>
          </a:bodyPr>
          <a:lstStyle/>
          <a:p>
            <a:pPr algn="l">
              <a:buNone/>
              <a:defRPr sz="2475" b="0">
                <a:solidFill>
                  <a:srgbClr val="111111"/>
                </a:solidFill>
                <a:latin typeface="Aptos"/>
                <a:ea typeface="Aptos"/>
                <a:cs typeface="Aptos"/>
              </a:defRPr>
            </a:pPr>
            <a:r>
              <a:rPr sz="2475" b="0">
                <a:solidFill>
                  <a:srgbClr val="111111"/>
                </a:solidFill>
                <a:latin typeface="Aptos"/>
                <a:ea typeface="Aptos"/>
                <a:cs typeface="Aptos"/>
              </a:rPr>
              <a:t>Positions in the other 25 possible sequences have no</a:t>
            </a:r>
          </a:p>
          <a:p>
            <a:pPr algn="l">
              <a:buNone/>
              <a:defRPr sz="2475" b="0">
                <a:solidFill>
                  <a:srgbClr val="111111"/>
                </a:solidFill>
                <a:latin typeface="Aptos"/>
                <a:ea typeface="Aptos"/>
                <a:cs typeface="Aptos"/>
              </a:defRPr>
            </a:pPr>
            <a:r>
              <a:rPr sz="2475" b="0">
                <a:solidFill>
                  <a:srgbClr val="111111"/>
                </a:solidFill>
                <a:latin typeface="Aptos"/>
                <a:ea typeface="Aptos"/>
                <a:cs typeface="Aptos"/>
              </a:rPr>
              <a:t>chance under this fixed-start rule.</a:t>
            </a:r>
          </a:p>
        </p:txBody>
      </p:sp>
      <p:sp>
        <p:nvSpPr>
          <p:cNvPr id="11" name="Revised-text-107">
            <a:extLst>
              <a:ext uri="{FF2B5EF4-FFF2-40B4-BE49-F238E27FC236}">
                <a16:creationId xmlns:a16="http://schemas.microsoft.com/office/drawing/2014/main" id="{9F9D1DF1-9623-43A9-82CF-ADC5D1C135C9}"/>
              </a:ext>
            </a:extLst>
          </p:cNvPr>
          <p:cNvSpPr>
            <a:spLocks noGrp="1"/>
          </p:cNvSpPr>
          <p:nvPr/>
        </p:nvSpPr>
        <p:spPr>
          <a:xfrm>
            <a:off x="619125" y="5067300"/>
            <a:ext cx="10763250" cy="952500"/>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Repair: use a generator that gives each start from 1–26</a:t>
            </a:r>
          </a:p>
          <a:p>
            <a:pPr algn="l">
              <a:buNone/>
              <a:defRPr sz="2400" b="1">
                <a:solidFill>
                  <a:srgbClr val="111111"/>
                </a:solidFill>
                <a:latin typeface="Aptos"/>
                <a:ea typeface="Aptos"/>
                <a:cs typeface="Aptos"/>
              </a:defRPr>
            </a:pPr>
            <a:r>
              <a:rPr sz="2400" b="1">
                <a:solidFill>
                  <a:srgbClr val="111111"/>
                </a:solidFill>
                <a:latin typeface="Aptos"/>
                <a:ea typeface="Aptos"/>
                <a:cs typeface="Aptos"/>
              </a:rPr>
              <a:t>equal chance. Then add 26. A randomly selected 19 is valid.</a:t>
            </a:r>
          </a:p>
        </p:txBody>
      </p:sp>
    </p:spTree>
    <p:extLst>
      <p:ext uri="{BB962C8B-B14F-4D97-AF65-F5344CB8AC3E}">
        <p14:creationId xmlns:p14="http://schemas.microsoft.com/office/powerpoint/2010/main" val="32813612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Can the list cause problems?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790575"/>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This list alternates </a:t>
            </a:r>
            <a:r>
              <a:rPr sz="2325" b="1">
                <a:solidFill>
                  <a:srgbClr val="111111"/>
                </a:solidFill>
                <a:latin typeface="Aptos"/>
                <a:ea typeface="Aptos"/>
                <a:cs typeface="Aptos"/>
              </a:rPr>
              <a:t>business (B)</a:t>
            </a:r>
            <a:r>
              <a:rPr sz="2325" b="0">
                <a:solidFill>
                  <a:srgbClr val="111111"/>
                </a:solidFill>
                <a:latin typeface="Aptos"/>
                <a:ea typeface="Aptos"/>
                <a:cs typeface="Aptos"/>
              </a:rPr>
              <a:t> and </a:t>
            </a:r>
            <a:r>
              <a:rPr sz="2325" b="1">
                <a:solidFill>
                  <a:srgbClr val="111111"/>
                </a:solidFill>
                <a:latin typeface="Aptos"/>
                <a:ea typeface="Aptos"/>
                <a:cs typeface="Aptos"/>
              </a:rPr>
              <a:t>engineering (E)</a:t>
            </a:r>
            <a:r>
              <a:rPr sz="2325" b="0">
                <a:solidFill>
                  <a:srgbClr val="111111"/>
                </a:solidFill>
                <a:latin typeface="Aptos"/>
                <a:ea typeface="Aptos"/>
                <a:cs typeface="Aptos"/>
              </a:rPr>
              <a:t> students.</a:t>
            </a:r>
          </a:p>
        </p:txBody>
      </p:sp>
      <p:pic>
        <p:nvPicPr>
          <p:cNvPr id="9" name="Picture 8"/>
          <p:cNvPicPr>
            <a:picLocks noChangeAspect="1"/>
          </p:cNvPicPr>
          <p:nvPr/>
        </p:nvPicPr>
        <p:blipFill>
          <a:blip r:embed="rId3"/>
          <a:stretch/>
        </p:blipFill>
        <p:spPr>
          <a:xfrm>
            <a:off x="1194955" y="2876550"/>
            <a:ext cx="9802091" cy="2695575"/>
          </a:xfrm>
          <a:prstGeom prst="rect">
            <a:avLst/>
          </a:prstGeom>
        </p:spPr>
      </p:pic>
      <p:sp>
        <p:nvSpPr>
          <p:cNvPr id="5" name="S40-text-2">
            <a:extLst>
              <a:ext uri="{FF2B5EF4-FFF2-40B4-BE49-F238E27FC236}">
                <a16:creationId xmlns:a16="http://schemas.microsoft.com/office/drawing/2014/main" id="{D6EFD7E5-C296-424A-B9A3-C5D5805812C7}"/>
              </a:ext>
            </a:extLst>
          </p:cNvPr>
          <p:cNvSpPr>
            <a:spLocks noGrp="1"/>
          </p:cNvSpPr>
          <p:nvPr/>
        </p:nvSpPr>
        <p:spPr>
          <a:xfrm>
            <a:off x="619125" y="5600700"/>
            <a:ext cx="10906125" cy="7429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D3. Which group does this sample miss? Why?</a:t>
            </a:r>
          </a:p>
        </p:txBody>
      </p:sp>
    </p:spTree>
    <p:extLst>
      <p:ext uri="{BB962C8B-B14F-4D97-AF65-F5344CB8AC3E}">
        <p14:creationId xmlns:p14="http://schemas.microsoft.com/office/powerpoint/2010/main" val="32813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The list pattern matters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Adding four keeps us on the same programme.</a:t>
            </a:r>
          </a:p>
        </p:txBody>
      </p:sp>
      <p:sp>
        <p:nvSpPr>
          <p:cNvPr id="4" name="Revised-text-108">
            <a:extLst>
              <a:ext uri="{FF2B5EF4-FFF2-40B4-BE49-F238E27FC236}">
                <a16:creationId xmlns:a16="http://schemas.microsoft.com/office/drawing/2014/main" id="{36BA70B4-41EF-4316-A8AC-4081E7A8F6BC}"/>
              </a:ext>
            </a:extLst>
          </p:cNvPr>
          <p:cNvSpPr>
            <a:spLocks noGrp="1"/>
          </p:cNvSpPr>
          <p:nvPr/>
        </p:nvSpPr>
        <p:spPr>
          <a:xfrm>
            <a:off x="619125" y="2838450"/>
            <a:ext cx="10572750" cy="514350"/>
          </a:xfrm>
          <a:prstGeom prst="rect">
            <a:avLst/>
          </a:prstGeom>
          <a:noFill/>
          <a:ln w="0">
            <a:noFill/>
          </a:ln>
        </p:spPr>
        <p:txBody>
          <a:bodyPr wrap="square" lIns="0" tIns="0" rIns="0" bIns="0" anchor="t">
            <a:noAutofit/>
          </a:bodyPr>
          <a:lstStyle/>
          <a:p>
            <a:pPr algn="l">
              <a:buNone/>
              <a:defRPr sz="2850" b="1">
                <a:solidFill>
                  <a:srgbClr val="111111"/>
                </a:solidFill>
                <a:latin typeface="Aptos"/>
                <a:ea typeface="Aptos"/>
                <a:cs typeface="Aptos"/>
              </a:defRPr>
            </a:pPr>
            <a:r>
              <a:rPr sz="2850" b="1">
                <a:solidFill>
                  <a:srgbClr val="111111"/>
                </a:solidFill>
                <a:latin typeface="Aptos"/>
                <a:ea typeface="Aptos"/>
                <a:cs typeface="Aptos"/>
              </a:rPr>
              <a:t>Start 3: 3, 7, 11, 15, 19</a:t>
            </a:r>
          </a:p>
        </p:txBody>
      </p:sp>
      <p:sp>
        <p:nvSpPr>
          <p:cNvPr id="5" name="Revised-text-109">
            <a:extLst>
              <a:ext uri="{FF2B5EF4-FFF2-40B4-BE49-F238E27FC236}">
                <a16:creationId xmlns:a16="http://schemas.microsoft.com/office/drawing/2014/main" id="{87AC72BB-F634-4419-9EB9-C935D69A3B47}"/>
              </a:ext>
            </a:extLst>
          </p:cNvPr>
          <p:cNvSpPr>
            <a:spLocks noGrp="1"/>
          </p:cNvSpPr>
          <p:nvPr/>
        </p:nvSpPr>
        <p:spPr>
          <a:xfrm>
            <a:off x="619125" y="3514725"/>
            <a:ext cx="10763250" cy="714375"/>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Every selected student is Business. Engineering is absent.</a:t>
            </a:r>
          </a:p>
        </p:txBody>
      </p:sp>
      <p:sp>
        <p:nvSpPr>
          <p:cNvPr id="6" name="Revised-text-110">
            <a:extLst>
              <a:ext uri="{FF2B5EF4-FFF2-40B4-BE49-F238E27FC236}">
                <a16:creationId xmlns:a16="http://schemas.microsoft.com/office/drawing/2014/main" id="{6F6DA823-5C9F-44CC-9E30-60EDC2B6FB7B}"/>
              </a:ext>
            </a:extLst>
          </p:cNvPr>
          <p:cNvSpPr>
            <a:spLocks noGrp="1"/>
          </p:cNvSpPr>
          <p:nvPr/>
        </p:nvSpPr>
        <p:spPr>
          <a:xfrm>
            <a:off x="619125" y="4524375"/>
            <a:ext cx="10763250" cy="476250"/>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A start of 2 would select only Engineering.</a:t>
            </a:r>
          </a:p>
        </p:txBody>
      </p:sp>
      <p:sp>
        <p:nvSpPr>
          <p:cNvPr id="7" name="Revised-text-111">
            <a:extLst>
              <a:ext uri="{FF2B5EF4-FFF2-40B4-BE49-F238E27FC236}">
                <a16:creationId xmlns:a16="http://schemas.microsoft.com/office/drawing/2014/main" id="{4F8E8277-1783-4670-932E-4D8BEE9224BB}"/>
              </a:ext>
            </a:extLst>
          </p:cNvPr>
          <p:cNvSpPr>
            <a:spLocks noGrp="1"/>
          </p:cNvSpPr>
          <p:nvPr/>
        </p:nvSpPr>
        <p:spPr>
          <a:xfrm>
            <a:off x="619125" y="5267325"/>
            <a:ext cx="10858500" cy="85725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Check repeating patterns before using a fixed interval.</a:t>
            </a:r>
          </a:p>
          <a:p>
            <a:pPr algn="l">
              <a:buNone/>
              <a:defRPr sz="2325" b="1">
                <a:solidFill>
                  <a:srgbClr val="111111"/>
                </a:solidFill>
                <a:latin typeface="Aptos"/>
                <a:ea typeface="Aptos"/>
                <a:cs typeface="Aptos"/>
              </a:defRPr>
            </a:pPr>
            <a:r>
              <a:rPr sz="2325" b="1">
                <a:solidFill>
                  <a:srgbClr val="111111"/>
                </a:solidFill>
                <a:latin typeface="Aptos"/>
                <a:ea typeface="Aptos"/>
                <a:cs typeface="Aptos"/>
              </a:rPr>
              <a:t>Randomly shuffling the full list first can break this pattern.</a:t>
            </a:r>
          </a:p>
        </p:txBody>
      </p:sp>
    </p:spTree>
    <p:extLst>
      <p:ext uri="{BB962C8B-B14F-4D97-AF65-F5344CB8AC3E}">
        <p14:creationId xmlns:p14="http://schemas.microsoft.com/office/powerpoint/2010/main" val="32813612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How do these two methods compare?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Both use randomness, but the selection process differs.</a:t>
            </a:r>
          </a:p>
        </p:txBody>
      </p:sp>
      <p:graphicFrame>
        <p:nvGraphicFramePr>
          <p:cNvPr id="7" name="Table 6"/>
          <p:cNvGraphicFramePr/>
          <p:nvPr/>
        </p:nvGraphicFramePr>
        <p:xfrm>
          <a:off x="619125" y="2981325"/>
          <a:ext cx="10953750" cy="2926652"/>
        </p:xfrm>
        <a:graphic>
          <a:graphicData uri="http://schemas.openxmlformats.org/drawingml/2006/table">
            <a:tbl>
              <a:tblPr/>
              <a:tblGrid>
                <a:gridCol w="257175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700088">
                <a:tc>
                  <a:txBody>
                    <a:bodyPr/>
                    <a:lstStyle/>
                    <a:p>
                      <a:pPr>
                        <a:spcBef>
                          <a:spcPts val="0"/>
                        </a:spcBef>
                        <a:spcAft>
                          <a:spcPts val="0"/>
                        </a:spcAft>
                        <a:buNone/>
                      </a:pPr>
                      <a:endParaRPr/>
                    </a:p>
                  </a:txBody>
                  <a:tcPr anchor="ctr">
                    <a:solidFill>
                      <a:srgbClr val="D6171D"/>
                    </a:solidFill>
                  </a:tcPr>
                </a:tc>
                <a:tc>
                  <a:txBody>
                    <a:bodyPr/>
                    <a:lstStyle/>
                    <a:p>
                      <a:pPr algn="l">
                        <a:lnSpc>
                          <a:spcPct val="103000"/>
                        </a:lnSpc>
                        <a:spcBef>
                          <a:spcPts val="0"/>
                        </a:spcBef>
                        <a:spcAft>
                          <a:spcPts val="0"/>
                        </a:spcAft>
                        <a:buNone/>
                      </a:pPr>
                      <a:r>
                        <a:rPr sz="2100" b="1">
                          <a:solidFill>
                            <a:srgbClr val="FFFFFF"/>
                          </a:solidFill>
                          <a:latin typeface="Aptos"/>
                          <a:ea typeface="Aptos"/>
                          <a:cs typeface="Aptos"/>
                        </a:rPr>
                        <a:t>Simple random</a:t>
                      </a:r>
                    </a:p>
                  </a:txBody>
                  <a:tcPr anchor="ctr">
                    <a:solidFill>
                      <a:srgbClr val="D6171D"/>
                    </a:solidFill>
                  </a:tcPr>
                </a:tc>
                <a:tc>
                  <a:txBody>
                    <a:bodyPr/>
                    <a:lstStyle/>
                    <a:p>
                      <a:pPr algn="l">
                        <a:lnSpc>
                          <a:spcPct val="103000"/>
                        </a:lnSpc>
                        <a:spcBef>
                          <a:spcPts val="0"/>
                        </a:spcBef>
                        <a:spcAft>
                          <a:spcPts val="0"/>
                        </a:spcAft>
                        <a:buNone/>
                      </a:pPr>
                      <a:r>
                        <a:rPr sz="2100" b="1">
                          <a:solidFill>
                            <a:srgbClr val="FFFFFF"/>
                          </a:solidFill>
                          <a:latin typeface="Aptos"/>
                          <a:ea typeface="Aptos"/>
                          <a:cs typeface="Aptos"/>
                        </a:rPr>
                        <a:t>Systematic</a:t>
                      </a:r>
                    </a:p>
                  </a:txBody>
                  <a:tcPr anchor="ctr">
                    <a:solidFill>
                      <a:srgbClr val="D6171D"/>
                    </a:solidFill>
                  </a:tcPr>
                </a:tc>
                <a:extLst>
                  <a:ext uri="{0D108BD9-81ED-4DB2-BD59-A6C34878D82A}">
                    <a16:rowId xmlns:a16="http://schemas.microsoft.com/office/drawing/2014/main" val="10000"/>
                  </a:ext>
                </a:extLst>
              </a:tr>
              <a:tr h="700088">
                <a:tc>
                  <a:txBody>
                    <a:bodyPr/>
                    <a:lstStyle/>
                    <a:p>
                      <a:pPr algn="l">
                        <a:lnSpc>
                          <a:spcPct val="103000"/>
                        </a:lnSpc>
                        <a:spcBef>
                          <a:spcPts val="0"/>
                        </a:spcBef>
                        <a:spcAft>
                          <a:spcPts val="0"/>
                        </a:spcAft>
                        <a:buNone/>
                      </a:pPr>
                      <a:r>
                        <a:rPr sz="2100" b="0">
                          <a:solidFill>
                            <a:srgbClr val="111111"/>
                          </a:solidFill>
                          <a:latin typeface="Aptos"/>
                          <a:ea typeface="Aptos"/>
                          <a:cs typeface="Aptos"/>
                        </a:rPr>
                        <a:t>How do we select?</a:t>
                      </a:r>
                    </a:p>
                  </a:txBody>
                  <a:tcPr anchor="ctr">
                    <a:solidFill>
                      <a:srgbClr val="FFFFFF"/>
                    </a:solidFill>
                  </a:tcPr>
                </a:tc>
                <a:tc>
                  <a:txBody>
                    <a:bodyPr/>
                    <a:lstStyle/>
                    <a:p>
                      <a:pPr algn="l">
                        <a:lnSpc>
                          <a:spcPct val="103000"/>
                        </a:lnSpc>
                        <a:spcBef>
                          <a:spcPts val="0"/>
                        </a:spcBef>
                        <a:spcAft>
                          <a:spcPts val="0"/>
                        </a:spcAft>
                        <a:buNone/>
                      </a:pPr>
                      <a:r>
                        <a:rPr sz="2100" b="0">
                          <a:solidFill>
                            <a:srgbClr val="111111"/>
                          </a:solidFill>
                          <a:latin typeface="Aptos"/>
                          <a:ea typeface="Aptos"/>
                          <a:cs typeface="Aptos"/>
                        </a:rPr>
                        <a:t>Randomly choose distinct IDs</a:t>
                      </a:r>
                    </a:p>
                  </a:txBody>
                  <a:tcPr anchor="ctr">
                    <a:solidFill>
                      <a:srgbClr val="FFFFFF"/>
                    </a:solidFill>
                  </a:tcPr>
                </a:tc>
                <a:tc>
                  <a:txBody>
                    <a:bodyPr/>
                    <a:lstStyle/>
                    <a:p>
                      <a:pPr algn="l">
                        <a:lnSpc>
                          <a:spcPct val="103000"/>
                        </a:lnSpc>
                        <a:spcBef>
                          <a:spcPts val="0"/>
                        </a:spcBef>
                        <a:spcAft>
                          <a:spcPts val="0"/>
                        </a:spcAft>
                        <a:buNone/>
                      </a:pPr>
                      <a:r>
                        <a:rPr sz="2100" b="0">
                          <a:solidFill>
                            <a:srgbClr val="111111"/>
                          </a:solidFill>
                          <a:latin typeface="Aptos"/>
                          <a:ea typeface="Aptos"/>
                          <a:cs typeface="Aptos"/>
                        </a:rPr>
                        <a:t>Choose a random start,</a:t>
                      </a:r>
                    </a:p>
                    <a:p>
                      <a:pPr algn="l">
                        <a:lnSpc>
                          <a:spcPct val="103000"/>
                        </a:lnSpc>
                        <a:spcBef>
                          <a:spcPts val="0"/>
                        </a:spcBef>
                        <a:spcAft>
                          <a:spcPts val="0"/>
                        </a:spcAft>
                        <a:buNone/>
                      </a:pPr>
                      <a:r>
                        <a:rPr sz="2100" b="0">
                          <a:solidFill>
                            <a:srgbClr val="111111"/>
                          </a:solidFill>
                          <a:latin typeface="Aptos"/>
                          <a:ea typeface="Aptos"/>
                          <a:cs typeface="Aptos"/>
                        </a:rPr>
                        <a:t>then every k-th member</a:t>
                      </a:r>
                    </a:p>
                  </a:txBody>
                  <a:tcPr anchor="ctr">
                    <a:solidFill>
                      <a:srgbClr val="FFFFFF"/>
                    </a:solidFill>
                  </a:tcPr>
                </a:tc>
                <a:extLst>
                  <a:ext uri="{0D108BD9-81ED-4DB2-BD59-A6C34878D82A}">
                    <a16:rowId xmlns:a16="http://schemas.microsoft.com/office/drawing/2014/main" val="10001"/>
                  </a:ext>
                </a:extLst>
              </a:tr>
              <a:tr h="700088">
                <a:tc>
                  <a:txBody>
                    <a:bodyPr/>
                    <a:lstStyle/>
                    <a:p>
                      <a:pPr algn="l">
                        <a:lnSpc>
                          <a:spcPct val="103000"/>
                        </a:lnSpc>
                        <a:spcBef>
                          <a:spcPts val="0"/>
                        </a:spcBef>
                        <a:spcAft>
                          <a:spcPts val="0"/>
                        </a:spcAft>
                        <a:buNone/>
                      </a:pPr>
                      <a:r>
                        <a:rPr sz="2100" b="0">
                          <a:solidFill>
                            <a:srgbClr val="111111"/>
                          </a:solidFill>
                          <a:latin typeface="Aptos"/>
                          <a:ea typeface="Aptos"/>
                          <a:cs typeface="Aptos"/>
                        </a:rPr>
                        <a:t>Useful feature</a:t>
                      </a:r>
                    </a:p>
                  </a:txBody>
                  <a:tcPr anchor="ctr">
                    <a:solidFill>
                      <a:srgbClr val="EFF8FF"/>
                    </a:solidFill>
                  </a:tcPr>
                </a:tc>
                <a:tc>
                  <a:txBody>
                    <a:bodyPr/>
                    <a:lstStyle/>
                    <a:p>
                      <a:pPr algn="l">
                        <a:lnSpc>
                          <a:spcPct val="103000"/>
                        </a:lnSpc>
                        <a:spcBef>
                          <a:spcPts val="0"/>
                        </a:spcBef>
                        <a:spcAft>
                          <a:spcPts val="0"/>
                        </a:spcAft>
                        <a:buNone/>
                      </a:pPr>
                      <a:r>
                        <a:rPr sz="2100" b="0">
                          <a:solidFill>
                            <a:srgbClr val="111111"/>
                          </a:solidFill>
                          <a:latin typeface="Aptos"/>
                          <a:ea typeface="Aptos"/>
                          <a:cs typeface="Aptos"/>
                        </a:rPr>
                        <a:t>Every possible sample</a:t>
                      </a:r>
                    </a:p>
                    <a:p>
                      <a:pPr algn="l">
                        <a:lnSpc>
                          <a:spcPct val="103000"/>
                        </a:lnSpc>
                        <a:spcBef>
                          <a:spcPts val="0"/>
                        </a:spcBef>
                        <a:spcAft>
                          <a:spcPts val="0"/>
                        </a:spcAft>
                        <a:buNone/>
                      </a:pPr>
                      <a:r>
                        <a:rPr sz="2100" b="0">
                          <a:solidFill>
                            <a:srgbClr val="111111"/>
                          </a:solidFill>
                          <a:latin typeface="Aptos"/>
                          <a:ea typeface="Aptos"/>
                          <a:cs typeface="Aptos"/>
                        </a:rPr>
                        <a:t>of the chosen size can occur</a:t>
                      </a:r>
                    </a:p>
                  </a:txBody>
                  <a:tcPr anchor="ctr">
                    <a:solidFill>
                      <a:srgbClr val="EFF8FF"/>
                    </a:solidFill>
                  </a:tcPr>
                </a:tc>
                <a:tc>
                  <a:txBody>
                    <a:bodyPr/>
                    <a:lstStyle/>
                    <a:p>
                      <a:pPr algn="l">
                        <a:lnSpc>
                          <a:spcPct val="103000"/>
                        </a:lnSpc>
                        <a:spcBef>
                          <a:spcPts val="0"/>
                        </a:spcBef>
                        <a:spcAft>
                          <a:spcPts val="0"/>
                        </a:spcAft>
                        <a:buNone/>
                      </a:pPr>
                      <a:r>
                        <a:rPr sz="2100" b="0">
                          <a:solidFill>
                            <a:srgbClr val="111111"/>
                          </a:solidFill>
                          <a:latin typeface="Aptos"/>
                          <a:ea typeface="Aptos"/>
                          <a:cs typeface="Aptos"/>
                        </a:rPr>
                        <a:t>Easy to carry out</a:t>
                      </a:r>
                    </a:p>
                    <a:p>
                      <a:pPr algn="l">
                        <a:lnSpc>
                          <a:spcPct val="103000"/>
                        </a:lnSpc>
                        <a:spcBef>
                          <a:spcPts val="0"/>
                        </a:spcBef>
                        <a:spcAft>
                          <a:spcPts val="0"/>
                        </a:spcAft>
                        <a:buNone/>
                      </a:pPr>
                      <a:r>
                        <a:rPr sz="2100" b="0">
                          <a:solidFill>
                            <a:srgbClr val="111111"/>
                          </a:solidFill>
                          <a:latin typeface="Aptos"/>
                          <a:ea typeface="Aptos"/>
                          <a:cs typeface="Aptos"/>
                        </a:rPr>
                        <a:t>along a list</a:t>
                      </a:r>
                    </a:p>
                  </a:txBody>
                  <a:tcPr anchor="ctr">
                    <a:solidFill>
                      <a:srgbClr val="EFF8FF"/>
                    </a:solidFill>
                  </a:tcPr>
                </a:tc>
                <a:extLst>
                  <a:ext uri="{0D108BD9-81ED-4DB2-BD59-A6C34878D82A}">
                    <a16:rowId xmlns:a16="http://schemas.microsoft.com/office/drawing/2014/main" val="10002"/>
                  </a:ext>
                </a:extLst>
              </a:tr>
              <a:tr h="700088">
                <a:tc>
                  <a:txBody>
                    <a:bodyPr/>
                    <a:lstStyle/>
                    <a:p>
                      <a:pPr algn="l">
                        <a:lnSpc>
                          <a:spcPct val="103000"/>
                        </a:lnSpc>
                        <a:spcBef>
                          <a:spcPts val="0"/>
                        </a:spcBef>
                        <a:spcAft>
                          <a:spcPts val="0"/>
                        </a:spcAft>
                        <a:buNone/>
                      </a:pPr>
                      <a:r>
                        <a:rPr sz="2100" b="0">
                          <a:solidFill>
                            <a:srgbClr val="111111"/>
                          </a:solidFill>
                          <a:latin typeface="Aptos"/>
                          <a:ea typeface="Aptos"/>
                          <a:cs typeface="Aptos"/>
                        </a:rPr>
                        <a:t>What must we check?</a:t>
                      </a:r>
                    </a:p>
                  </a:txBody>
                  <a:tcPr anchor="ctr">
                    <a:solidFill>
                      <a:srgbClr val="FFFFFF"/>
                    </a:solidFill>
                  </a:tcPr>
                </a:tc>
                <a:tc>
                  <a:txBody>
                    <a:bodyPr/>
                    <a:lstStyle/>
                    <a:p>
                      <a:pPr algn="l">
                        <a:lnSpc>
                          <a:spcPct val="103000"/>
                        </a:lnSpc>
                        <a:spcBef>
                          <a:spcPts val="0"/>
                        </a:spcBef>
                        <a:spcAft>
                          <a:spcPts val="0"/>
                        </a:spcAft>
                        <a:buNone/>
                      </a:pPr>
                      <a:r>
                        <a:rPr sz="2100" b="0">
                          <a:solidFill>
                            <a:srgbClr val="111111"/>
                          </a:solidFill>
                          <a:latin typeface="Aptos"/>
                          <a:ea typeface="Aptos"/>
                          <a:cs typeface="Aptos"/>
                        </a:rPr>
                        <a:t>A complete list and</a:t>
                      </a:r>
                    </a:p>
                    <a:p>
                      <a:pPr algn="l">
                        <a:lnSpc>
                          <a:spcPct val="103000"/>
                        </a:lnSpc>
                        <a:spcBef>
                          <a:spcPts val="0"/>
                        </a:spcBef>
                        <a:spcAft>
                          <a:spcPts val="0"/>
                        </a:spcAft>
                        <a:buNone/>
                      </a:pPr>
                      <a:r>
                        <a:rPr sz="2100" b="0">
                          <a:solidFill>
                            <a:srgbClr val="111111"/>
                          </a:solidFill>
                          <a:latin typeface="Aptos"/>
                          <a:ea typeface="Aptos"/>
                          <a:cs typeface="Aptos"/>
                        </a:rPr>
                        <a:t>a proper random process</a:t>
                      </a:r>
                    </a:p>
                  </a:txBody>
                  <a:tcPr anchor="ctr">
                    <a:solidFill>
                      <a:srgbClr val="FFFFFF"/>
                    </a:solidFill>
                  </a:tcPr>
                </a:tc>
                <a:tc>
                  <a:txBody>
                    <a:bodyPr/>
                    <a:lstStyle/>
                    <a:p>
                      <a:pPr algn="l">
                        <a:lnSpc>
                          <a:spcPct val="103000"/>
                        </a:lnSpc>
                        <a:spcBef>
                          <a:spcPts val="0"/>
                        </a:spcBef>
                        <a:spcAft>
                          <a:spcPts val="0"/>
                        </a:spcAft>
                        <a:buNone/>
                      </a:pPr>
                      <a:r>
                        <a:rPr sz="2100" b="0">
                          <a:solidFill>
                            <a:srgbClr val="111111"/>
                          </a:solidFill>
                          <a:latin typeface="Aptos"/>
                          <a:ea typeface="Aptos"/>
                          <a:cs typeface="Aptos"/>
                        </a:rPr>
                        <a:t>Repeating patterns that</a:t>
                      </a:r>
                    </a:p>
                    <a:p>
                      <a:pPr algn="l">
                        <a:lnSpc>
                          <a:spcPct val="103000"/>
                        </a:lnSpc>
                        <a:spcBef>
                          <a:spcPts val="0"/>
                        </a:spcBef>
                        <a:spcAft>
                          <a:spcPts val="0"/>
                        </a:spcAft>
                        <a:buNone/>
                      </a:pPr>
                      <a:r>
                        <a:rPr sz="2100" b="0">
                          <a:solidFill>
                            <a:srgbClr val="111111"/>
                          </a:solidFill>
                          <a:latin typeface="Aptos"/>
                          <a:ea typeface="Aptos"/>
                          <a:cs typeface="Aptos"/>
                        </a:rPr>
                        <a:t>match the interval</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813612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Section 5:</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Put it together</a:t>
            </a:r>
          </a:p>
        </p:txBody>
      </p:sp>
    </p:spTree>
    <p:extLst>
      <p:ext uri="{BB962C8B-B14F-4D97-AF65-F5344CB8AC3E}">
        <p14:creationId xmlns:p14="http://schemas.microsoft.com/office/powerpoint/2010/main" val="32813612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A4: Travel to college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Fictional college: 2,460 enrolled students.</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A4</a:t>
            </a:r>
          </a:p>
        </p:txBody>
      </p:sp>
      <p:sp>
        <p:nvSpPr>
          <p:cNvPr id="9" name="VisualRevision-51">
            <a:extLst>
              <a:ext uri="{FF2B5EF4-FFF2-40B4-BE49-F238E27FC236}">
                <a16:creationId xmlns:a16="http://schemas.microsoft.com/office/drawing/2014/main" id="{3F7032D7-2201-417C-A4DE-9DA3B20CBC2F}"/>
              </a:ext>
            </a:extLst>
          </p:cNvPr>
          <p:cNvSpPr>
            <a:spLocks noGrp="1"/>
          </p:cNvSpPr>
          <p:nvPr/>
        </p:nvSpPr>
        <p:spPr>
          <a:xfrm>
            <a:off x="619125" y="2781300"/>
            <a:ext cx="6381750" cy="1400175"/>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A valid random procedure selects</a:t>
            </a:r>
          </a:p>
          <a:p>
            <a:pPr algn="l">
              <a:defRPr sz="2400" b="1">
                <a:solidFill>
                  <a:srgbClr val="111111"/>
                </a:solidFill>
                <a:latin typeface="Aptos"/>
                <a:ea typeface="Aptos"/>
                <a:cs typeface="Aptos"/>
              </a:defRPr>
            </a:pPr>
            <a:r>
              <a:rPr sz="2400" b="1">
                <a:solidFill>
                  <a:srgbClr val="111111"/>
                </a:solidFill>
                <a:latin typeface="Aptos"/>
                <a:ea typeface="Aptos"/>
                <a:cs typeface="Aptos"/>
              </a:rPr>
              <a:t>164 students. All 164 respond.</a:t>
            </a:r>
          </a:p>
          <a:p>
            <a:pPr algn="l">
              <a:defRPr sz="2400" b="1">
                <a:solidFill>
                  <a:srgbClr val="111111"/>
                </a:solidFill>
                <a:latin typeface="Aptos"/>
                <a:ea typeface="Aptos"/>
                <a:cs typeface="Aptos"/>
              </a:defRPr>
            </a:pPr>
            <a:r>
              <a:rPr sz="2400" b="1">
                <a:solidFill>
                  <a:srgbClr val="111111"/>
                </a:solidFill>
                <a:latin typeface="Aptos"/>
                <a:ea typeface="Aptos"/>
                <a:cs typeface="Aptos"/>
              </a:rPr>
              <a:t>73 travel mainly by bus.</a:t>
            </a:r>
          </a:p>
        </p:txBody>
      </p:sp>
      <p:sp>
        <p:nvSpPr>
          <p:cNvPr id="10" name="VisualRevision-52">
            <a:extLst>
              <a:ext uri="{FF2B5EF4-FFF2-40B4-BE49-F238E27FC236}">
                <a16:creationId xmlns:a16="http://schemas.microsoft.com/office/drawing/2014/main" id="{556EE83E-8DB2-4A30-A974-7CFA0BC46ED8}"/>
              </a:ext>
            </a:extLst>
          </p:cNvPr>
          <p:cNvSpPr>
            <a:spLocks noGrp="1"/>
          </p:cNvSpPr>
          <p:nvPr/>
        </p:nvSpPr>
        <p:spPr>
          <a:xfrm>
            <a:off x="619125" y="4362450"/>
            <a:ext cx="6286500" cy="40005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Variables recorded</a:t>
            </a:r>
          </a:p>
        </p:txBody>
      </p:sp>
      <p:sp>
        <p:nvSpPr>
          <p:cNvPr id="11" name="VisualRevision-53">
            <a:extLst>
              <a:ext uri="{FF2B5EF4-FFF2-40B4-BE49-F238E27FC236}">
                <a16:creationId xmlns:a16="http://schemas.microsoft.com/office/drawing/2014/main" id="{ED017F39-5439-4F79-B2A9-4972A659460F}"/>
              </a:ext>
            </a:extLst>
          </p:cNvPr>
          <p:cNvSpPr>
            <a:spLocks noGrp="1"/>
          </p:cNvSpPr>
          <p:nvPr/>
        </p:nvSpPr>
        <p:spPr>
          <a:xfrm>
            <a:off x="619125" y="4857750"/>
            <a:ext cx="6667500" cy="1295400"/>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Main transport mode: bus</a:t>
            </a:r>
          </a:p>
          <a:p>
            <a:pPr algn="l">
              <a:defRPr sz="2250" b="0">
                <a:solidFill>
                  <a:srgbClr val="111111"/>
                </a:solidFill>
                <a:latin typeface="Aptos"/>
                <a:ea typeface="Aptos"/>
                <a:cs typeface="Aptos"/>
              </a:defRPr>
            </a:pPr>
            <a:r>
              <a:rPr sz="2250" b="0">
                <a:solidFill>
                  <a:srgbClr val="111111"/>
                </a:solidFill>
                <a:latin typeface="Aptos"/>
                <a:ea typeface="Aptos"/>
                <a:cs typeface="Aptos"/>
              </a:rPr>
              <a:t>Journeys per week: 13</a:t>
            </a:r>
          </a:p>
          <a:p>
            <a:pPr algn="l">
              <a:defRPr sz="2250" b="0">
                <a:solidFill>
                  <a:srgbClr val="111111"/>
                </a:solidFill>
                <a:latin typeface="Aptos"/>
                <a:ea typeface="Aptos"/>
                <a:cs typeface="Aptos"/>
              </a:defRPr>
            </a:pPr>
            <a:r>
              <a:rPr sz="2250" b="0">
                <a:solidFill>
                  <a:srgbClr val="111111"/>
                </a:solidFill>
                <a:latin typeface="Aptos"/>
                <a:ea typeface="Aptos"/>
                <a:cs typeface="Aptos"/>
              </a:rPr>
              <a:t>Exact journey time: 37.6 minutes</a:t>
            </a:r>
          </a:p>
        </p:txBody>
      </p:sp>
      <p:pic>
        <p:nvPicPr>
          <p:cNvPr id="19" name="Picture 18"/>
          <p:cNvPicPr>
            <a:picLocks noChangeAspect="1"/>
          </p:cNvPicPr>
          <p:nvPr/>
        </p:nvPicPr>
        <p:blipFill>
          <a:blip r:embed="rId3"/>
          <a:srcRect l="5515" r="5515"/>
          <a:stretch>
            <a:fillRect/>
          </a:stretch>
        </p:blipFill>
        <p:spPr>
          <a:xfrm>
            <a:off x="7553325" y="2838450"/>
            <a:ext cx="3981450" cy="2990850"/>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A4: Independent questions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Use N = 2,460, n = 164 and 73 bus users.</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A4</a:t>
            </a:r>
          </a:p>
        </p:txBody>
      </p:sp>
      <p:sp>
        <p:nvSpPr>
          <p:cNvPr id="9" name="Revised-text-113">
            <a:extLst>
              <a:ext uri="{FF2B5EF4-FFF2-40B4-BE49-F238E27FC236}">
                <a16:creationId xmlns:a16="http://schemas.microsoft.com/office/drawing/2014/main" id="{0B7E1D78-428E-4600-896C-DED2B259BBF6}"/>
              </a:ext>
            </a:extLst>
          </p:cNvPr>
          <p:cNvSpPr>
            <a:spLocks noGrp="1"/>
          </p:cNvSpPr>
          <p:nvPr/>
        </p:nvSpPr>
        <p:spPr>
          <a:xfrm>
            <a:off x="619125" y="2733675"/>
            <a:ext cx="10858500" cy="75247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A4.1  Identify the population and sample. Calculate the bus</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           percentage and classify it as a parameter or statistic.</a:t>
            </a:r>
          </a:p>
        </p:txBody>
      </p:sp>
      <p:sp>
        <p:nvSpPr>
          <p:cNvPr id="10" name="Revised-text-114">
            <a:extLst>
              <a:ext uri="{FF2B5EF4-FFF2-40B4-BE49-F238E27FC236}">
                <a16:creationId xmlns:a16="http://schemas.microsoft.com/office/drawing/2014/main" id="{8D351015-E1A7-4041-888C-FD70EB9F97E9}"/>
              </a:ext>
            </a:extLst>
          </p:cNvPr>
          <p:cNvSpPr>
            <a:spLocks noGrp="1"/>
          </p:cNvSpPr>
          <p:nvPr/>
        </p:nvSpPr>
        <p:spPr>
          <a:xfrm>
            <a:off x="619125" y="3571875"/>
            <a:ext cx="10858500" cy="75247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A4.2  Classify main transport mode, journeys per week</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           and exact journey time.</a:t>
            </a:r>
          </a:p>
        </p:txBody>
      </p:sp>
      <p:sp>
        <p:nvSpPr>
          <p:cNvPr id="11" name="Revised-text-115">
            <a:extLst>
              <a:ext uri="{FF2B5EF4-FFF2-40B4-BE49-F238E27FC236}">
                <a16:creationId xmlns:a16="http://schemas.microsoft.com/office/drawing/2014/main" id="{6ED791F6-F75F-4073-A796-CF4ECB1CE2EE}"/>
              </a:ext>
            </a:extLst>
          </p:cNvPr>
          <p:cNvSpPr>
            <a:spLocks noGrp="1"/>
          </p:cNvSpPr>
          <p:nvPr/>
        </p:nvSpPr>
        <p:spPr>
          <a:xfrm>
            <a:off x="619125" y="4410075"/>
            <a:ext cx="10858500" cy="75247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A4.3  Calculate the sampling fraction and systematic interval.</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           Start 11: write the first five IDs and the last selected ID.</a:t>
            </a:r>
          </a:p>
        </p:txBody>
      </p:sp>
      <p:sp>
        <p:nvSpPr>
          <p:cNvPr id="12" name="Revised-text-116">
            <a:extLst>
              <a:ext uri="{FF2B5EF4-FFF2-40B4-BE49-F238E27FC236}">
                <a16:creationId xmlns:a16="http://schemas.microsoft.com/office/drawing/2014/main" id="{E08488BA-615C-4344-B449-EB3C567AA8DF}"/>
              </a:ext>
            </a:extLst>
          </p:cNvPr>
          <p:cNvSpPr>
            <a:spLocks noGrp="1"/>
          </p:cNvSpPr>
          <p:nvPr/>
        </p:nvSpPr>
        <p:spPr>
          <a:xfrm>
            <a:off x="619125" y="5248275"/>
            <a:ext cx="10858500" cy="75247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A4.4  Estimate how many students in the whole college use buses.</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           Explain why your answer is not an established exact count.</a:t>
            </a:r>
          </a:p>
        </p:txBody>
      </p:sp>
    </p:spTree>
    <p:extLst>
      <p:ext uri="{BB962C8B-B14F-4D97-AF65-F5344CB8AC3E}">
        <p14:creationId xmlns:p14="http://schemas.microsoft.com/office/powerpoint/2010/main" val="32813612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A4: Checking a partner’s reasoning</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Compare methods before the answer reveal.</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A4</a:t>
            </a:r>
          </a:p>
        </p:txBody>
      </p:sp>
      <p:sp>
        <p:nvSpPr>
          <p:cNvPr id="9" name="Revised-text-117">
            <a:extLst>
              <a:ext uri="{FF2B5EF4-FFF2-40B4-BE49-F238E27FC236}">
                <a16:creationId xmlns:a16="http://schemas.microsoft.com/office/drawing/2014/main" id="{DCA1155B-9E92-4B04-9F93-D8BDBB1A695C}"/>
              </a:ext>
            </a:extLst>
          </p:cNvPr>
          <p:cNvSpPr>
            <a:spLocks noGrp="1"/>
          </p:cNvSpPr>
          <p:nvPr/>
        </p:nvSpPr>
        <p:spPr>
          <a:xfrm>
            <a:off x="619125" y="2886075"/>
            <a:ext cx="10858500" cy="914400"/>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1  Explain why the bus percentage and sampling fraction</a:t>
            </a:r>
          </a:p>
          <a:p>
            <a:pPr algn="l">
              <a:buNone/>
              <a:defRPr sz="2400" b="0">
                <a:solidFill>
                  <a:srgbClr val="111111"/>
                </a:solidFill>
                <a:latin typeface="Aptos"/>
                <a:ea typeface="Aptos"/>
                <a:cs typeface="Aptos"/>
              </a:defRPr>
            </a:pPr>
            <a:r>
              <a:rPr sz="2400" b="0">
                <a:solidFill>
                  <a:srgbClr val="111111"/>
                </a:solidFill>
                <a:latin typeface="Aptos"/>
                <a:ea typeface="Aptos"/>
                <a:cs typeface="Aptos"/>
              </a:rPr>
              <a:t>     use different denominators.</a:t>
            </a:r>
          </a:p>
        </p:txBody>
      </p:sp>
      <p:sp>
        <p:nvSpPr>
          <p:cNvPr id="10" name="Revised-text-118">
            <a:extLst>
              <a:ext uri="{FF2B5EF4-FFF2-40B4-BE49-F238E27FC236}">
                <a16:creationId xmlns:a16="http://schemas.microsoft.com/office/drawing/2014/main" id="{A52A4EA2-F148-4BA3-8C5E-B5121BD77536}"/>
              </a:ext>
            </a:extLst>
          </p:cNvPr>
          <p:cNvSpPr>
            <a:spLocks noGrp="1"/>
          </p:cNvSpPr>
          <p:nvPr/>
        </p:nvSpPr>
        <p:spPr>
          <a:xfrm>
            <a:off x="619125" y="3886200"/>
            <a:ext cx="10858500" cy="914400"/>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2  Check that the final selected ID comes after 163 jumps.</a:t>
            </a:r>
          </a:p>
        </p:txBody>
      </p:sp>
      <p:sp>
        <p:nvSpPr>
          <p:cNvPr id="11" name="Revised-text-119">
            <a:extLst>
              <a:ext uri="{FF2B5EF4-FFF2-40B4-BE49-F238E27FC236}">
                <a16:creationId xmlns:a16="http://schemas.microsoft.com/office/drawing/2014/main" id="{284BFDA1-5E4C-4DD4-83E5-C5CDEBB4FBF2}"/>
              </a:ext>
            </a:extLst>
          </p:cNvPr>
          <p:cNvSpPr>
            <a:spLocks noGrp="1"/>
          </p:cNvSpPr>
          <p:nvPr/>
        </p:nvSpPr>
        <p:spPr>
          <a:xfrm>
            <a:off x="619125" y="4886325"/>
            <a:ext cx="10858500" cy="914400"/>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3  Read your partner’s estimated bus count.</a:t>
            </a:r>
          </a:p>
          <a:p>
            <a:pPr algn="l">
              <a:buNone/>
              <a:defRPr sz="2400" b="0">
                <a:solidFill>
                  <a:srgbClr val="111111"/>
                </a:solidFill>
                <a:latin typeface="Aptos"/>
                <a:ea typeface="Aptos"/>
                <a:cs typeface="Aptos"/>
              </a:defRPr>
            </a:pPr>
            <a:r>
              <a:rPr sz="2400" b="0">
                <a:solidFill>
                  <a:srgbClr val="111111"/>
                </a:solidFill>
                <a:latin typeface="Aptos"/>
                <a:ea typeface="Aptos"/>
                <a:cs typeface="Aptos"/>
              </a:rPr>
              <a:t>     Does their sentence clearly call it an estimate?</a:t>
            </a:r>
          </a:p>
        </p:txBody>
      </p:sp>
    </p:spTree>
    <p:extLst>
      <p:ext uri="{BB962C8B-B14F-4D97-AF65-F5344CB8AC3E}">
        <p14:creationId xmlns:p14="http://schemas.microsoft.com/office/powerpoint/2010/main" val="32813612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A4: Groups, percentage and data</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A sample statistic describes the surveyed group.</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A4</a:t>
            </a:r>
          </a:p>
        </p:txBody>
      </p:sp>
      <p:sp>
        <p:nvSpPr>
          <p:cNvPr id="9" name="Revised-text-120">
            <a:extLst>
              <a:ext uri="{FF2B5EF4-FFF2-40B4-BE49-F238E27FC236}">
                <a16:creationId xmlns:a16="http://schemas.microsoft.com/office/drawing/2014/main" id="{0B826304-5CF1-4BA9-AE99-417797DCE1B8}"/>
              </a:ext>
            </a:extLst>
          </p:cNvPr>
          <p:cNvSpPr>
            <a:spLocks noGrp="1"/>
          </p:cNvSpPr>
          <p:nvPr/>
        </p:nvSpPr>
        <p:spPr>
          <a:xfrm>
            <a:off x="619125" y="2714625"/>
            <a:ext cx="10953750" cy="45720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A4.1  Population: all 2,460 students. Sample: 164 students.</a:t>
            </a:r>
          </a:p>
        </p:txBody>
      </p:sp>
      <p:sp>
        <p:nvSpPr>
          <p:cNvPr id="10" name="Revised-text-121">
            <a:extLst>
              <a:ext uri="{FF2B5EF4-FFF2-40B4-BE49-F238E27FC236}">
                <a16:creationId xmlns:a16="http://schemas.microsoft.com/office/drawing/2014/main" id="{E246803C-EB30-4387-A5EB-996E2DF7F240}"/>
              </a:ext>
            </a:extLst>
          </p:cNvPr>
          <p:cNvSpPr>
            <a:spLocks noGrp="1"/>
          </p:cNvSpPr>
          <p:nvPr/>
        </p:nvSpPr>
        <p:spPr>
          <a:xfrm>
            <a:off x="619125" y="3333750"/>
            <a:ext cx="1047750" cy="419100"/>
          </a:xfrm>
          <a:prstGeom prst="rect">
            <a:avLst/>
          </a:prstGeom>
          <a:noFill/>
          <a:ln w="0">
            <a:noFill/>
          </a:ln>
        </p:spPr>
        <p:txBody>
          <a:bodyPr wrap="square" lIns="0" tIns="0" rIns="0" bIns="0" anchor="t">
            <a:noAutofit/>
          </a:bodyPr>
          <a:lstStyle/>
          <a:p>
            <a:pPr algn="ctr">
              <a:buNone/>
              <a:defRPr sz="2775" b="0">
                <a:solidFill>
                  <a:srgbClr val="111111"/>
                </a:solidFill>
                <a:latin typeface="Aptos"/>
                <a:ea typeface="Aptos"/>
                <a:cs typeface="Aptos"/>
              </a:defRPr>
            </a:pPr>
            <a:r>
              <a:rPr sz="2775" b="0">
                <a:solidFill>
                  <a:srgbClr val="111111"/>
                </a:solidFill>
                <a:latin typeface="Aptos"/>
                <a:ea typeface="Aptos"/>
                <a:cs typeface="Aptos"/>
              </a:rPr>
              <a:t>73</a:t>
            </a:r>
          </a:p>
        </p:txBody>
      </p:sp>
      <p:sp>
        <p:nvSpPr>
          <p:cNvPr id="11" name="Straight Connector 10">
            <a:extLst>
              <a:ext uri="{FF2B5EF4-FFF2-40B4-BE49-F238E27FC236}">
                <a16:creationId xmlns:a16="http://schemas.microsoft.com/office/drawing/2014/main" id="{D37A4130-7956-4318-BED0-86FCF05840AC}"/>
              </a:ext>
            </a:extLst>
          </p:cNvPr>
          <p:cNvSpPr>
            <a:spLocks noGrp="1"/>
          </p:cNvSpPr>
          <p:nvPr/>
        </p:nvSpPr>
        <p:spPr>
          <a:xfrm>
            <a:off x="619125" y="3743325"/>
            <a:ext cx="1047750" cy="0"/>
          </a:xfrm>
          <a:prstGeom prst="line">
            <a:avLst/>
          </a:prstGeom>
          <a:noFill/>
          <a:ln w="15240">
            <a:solidFill>
              <a:srgbClr val="111111"/>
            </a:solidFill>
          </a:ln>
        </p:spPr>
        <p:txBody>
          <a:bodyPr/>
          <a:lstStyle/>
          <a:p>
            <a:endParaRPr lang="en-US"/>
          </a:p>
        </p:txBody>
      </p:sp>
      <p:sp>
        <p:nvSpPr>
          <p:cNvPr id="12" name="Revised-text-122">
            <a:extLst>
              <a:ext uri="{FF2B5EF4-FFF2-40B4-BE49-F238E27FC236}">
                <a16:creationId xmlns:a16="http://schemas.microsoft.com/office/drawing/2014/main" id="{5934090E-09B7-4308-A833-A6014A82E2A5}"/>
              </a:ext>
            </a:extLst>
          </p:cNvPr>
          <p:cNvSpPr>
            <a:spLocks noGrp="1"/>
          </p:cNvSpPr>
          <p:nvPr/>
        </p:nvSpPr>
        <p:spPr>
          <a:xfrm>
            <a:off x="619125" y="3790950"/>
            <a:ext cx="1047750" cy="438150"/>
          </a:xfrm>
          <a:prstGeom prst="rect">
            <a:avLst/>
          </a:prstGeom>
          <a:noFill/>
          <a:ln w="0">
            <a:noFill/>
          </a:ln>
        </p:spPr>
        <p:txBody>
          <a:bodyPr wrap="square" lIns="0" tIns="0" rIns="0" bIns="0" anchor="t">
            <a:noAutofit/>
          </a:bodyPr>
          <a:lstStyle/>
          <a:p>
            <a:pPr algn="ctr">
              <a:buNone/>
              <a:defRPr sz="2775" b="0">
                <a:solidFill>
                  <a:srgbClr val="111111"/>
                </a:solidFill>
                <a:latin typeface="Aptos"/>
                <a:ea typeface="Aptos"/>
                <a:cs typeface="Aptos"/>
              </a:defRPr>
            </a:pPr>
            <a:r>
              <a:rPr sz="2775" b="0">
                <a:solidFill>
                  <a:srgbClr val="111111"/>
                </a:solidFill>
                <a:latin typeface="Aptos"/>
                <a:ea typeface="Aptos"/>
                <a:cs typeface="Aptos"/>
              </a:rPr>
              <a:t>164</a:t>
            </a:r>
          </a:p>
        </p:txBody>
      </p:sp>
      <p:sp>
        <p:nvSpPr>
          <p:cNvPr id="13" name="Revised-text-123">
            <a:extLst>
              <a:ext uri="{FF2B5EF4-FFF2-40B4-BE49-F238E27FC236}">
                <a16:creationId xmlns:a16="http://schemas.microsoft.com/office/drawing/2014/main" id="{8F428902-093A-4903-B993-DDA2B59A1D56}"/>
              </a:ext>
            </a:extLst>
          </p:cNvPr>
          <p:cNvSpPr>
            <a:spLocks noGrp="1"/>
          </p:cNvSpPr>
          <p:nvPr/>
        </p:nvSpPr>
        <p:spPr>
          <a:xfrm>
            <a:off x="1857375" y="3509963"/>
            <a:ext cx="9715500" cy="590550"/>
          </a:xfrm>
          <a:prstGeom prst="rect">
            <a:avLst/>
          </a:prstGeom>
          <a:noFill/>
          <a:ln w="0">
            <a:noFill/>
          </a:ln>
        </p:spPr>
        <p:txBody>
          <a:bodyPr wrap="square" lIns="0" tIns="0" rIns="0" bIns="0" anchor="t">
            <a:noAutofit/>
          </a:bodyPr>
          <a:lstStyle/>
          <a:p>
            <a:pPr algn="l">
              <a:buNone/>
              <a:defRPr sz="2775" b="0">
                <a:solidFill>
                  <a:srgbClr val="111111"/>
                </a:solidFill>
                <a:latin typeface="Aptos"/>
                <a:ea typeface="Aptos"/>
                <a:cs typeface="Aptos"/>
              </a:defRPr>
            </a:pPr>
            <a:r>
              <a:rPr sz="2775" b="0">
                <a:solidFill>
                  <a:srgbClr val="111111"/>
                </a:solidFill>
                <a:latin typeface="Aptos"/>
                <a:ea typeface="Aptos"/>
                <a:cs typeface="Aptos"/>
              </a:rPr>
              <a:t>× 100 ≈ 44.51%</a:t>
            </a:r>
          </a:p>
        </p:txBody>
      </p:sp>
      <p:sp>
        <p:nvSpPr>
          <p:cNvPr id="14" name="Revised-text-124">
            <a:extLst>
              <a:ext uri="{FF2B5EF4-FFF2-40B4-BE49-F238E27FC236}">
                <a16:creationId xmlns:a16="http://schemas.microsoft.com/office/drawing/2014/main" id="{E59846A1-E565-4F51-AF09-AAE43483ABBE}"/>
              </a:ext>
            </a:extLst>
          </p:cNvPr>
          <p:cNvSpPr>
            <a:spLocks noGrp="1"/>
          </p:cNvSpPr>
          <p:nvPr/>
        </p:nvSpPr>
        <p:spPr>
          <a:xfrm>
            <a:off x="7143750" y="3400425"/>
            <a:ext cx="4286250" cy="809625"/>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Statistic: it describes</a:t>
            </a:r>
          </a:p>
          <a:p>
            <a:pPr algn="l">
              <a:buNone/>
              <a:defRPr sz="2400" b="0">
                <a:solidFill>
                  <a:srgbClr val="111111"/>
                </a:solidFill>
                <a:latin typeface="Aptos"/>
                <a:ea typeface="Aptos"/>
                <a:cs typeface="Aptos"/>
              </a:defRPr>
            </a:pPr>
            <a:r>
              <a:rPr sz="2400" b="0">
                <a:solidFill>
                  <a:srgbClr val="111111"/>
                </a:solidFill>
                <a:latin typeface="Aptos"/>
                <a:ea typeface="Aptos"/>
                <a:cs typeface="Aptos"/>
              </a:rPr>
              <a:t>the 164 respondents.</a:t>
            </a:r>
          </a:p>
        </p:txBody>
      </p:sp>
      <p:graphicFrame>
        <p:nvGraphicFramePr>
          <p:cNvPr id="25" name="Table 24"/>
          <p:cNvGraphicFramePr/>
          <p:nvPr/>
        </p:nvGraphicFramePr>
        <p:xfrm>
          <a:off x="571500" y="4638675"/>
          <a:ext cx="11049000" cy="1571625"/>
        </p:xfrm>
        <a:graphic>
          <a:graphicData uri="http://schemas.openxmlformats.org/drawingml/2006/table">
            <a:tbl>
              <a:tblPr/>
              <a:tblGrid>
                <a:gridCol w="5429250">
                  <a:extLst>
                    <a:ext uri="{9D8B030D-6E8A-4147-A177-3AD203B41FA5}">
                      <a16:colId xmlns:a16="http://schemas.microsoft.com/office/drawing/2014/main" val="20000"/>
                    </a:ext>
                  </a:extLst>
                </a:gridCol>
                <a:gridCol w="5619750">
                  <a:extLst>
                    <a:ext uri="{9D8B030D-6E8A-4147-A177-3AD203B41FA5}">
                      <a16:colId xmlns:a16="http://schemas.microsoft.com/office/drawing/2014/main" val="20001"/>
                    </a:ext>
                  </a:extLst>
                </a:gridCol>
              </a:tblGrid>
              <a:tr h="392906">
                <a:tc>
                  <a:txBody>
                    <a:bodyPr/>
                    <a:lstStyle/>
                    <a:p>
                      <a:r>
                        <a:rPr sz="2100" b="1">
                          <a:solidFill>
                            <a:srgbClr val="FFFFFF"/>
                          </a:solidFill>
                          <a:latin typeface="Aptos"/>
                          <a:ea typeface="Aptos"/>
                          <a:cs typeface="Aptos"/>
                        </a:rPr>
                        <a:t>A5.2  Variable</a:t>
                      </a:r>
                    </a:p>
                  </a:txBody>
                  <a:tcPr marL="95250" marR="95250" marT="28575" marB="28575" anchor="ctr">
                    <a:solidFill>
                      <a:srgbClr val="D6171D"/>
                    </a:solidFill>
                  </a:tcPr>
                </a:tc>
                <a:tc>
                  <a:txBody>
                    <a:bodyPr/>
                    <a:lstStyle/>
                    <a:p>
                      <a:r>
                        <a:rPr sz="2100" b="1">
                          <a:solidFill>
                            <a:srgbClr val="FFFFFF"/>
                          </a:solidFill>
                          <a:latin typeface="Aptos"/>
                          <a:ea typeface="Aptos"/>
                          <a:cs typeface="Aptos"/>
                        </a:rPr>
                        <a:t>Type</a:t>
                      </a:r>
                    </a:p>
                  </a:txBody>
                  <a:tcPr marL="95250" marR="95250" marT="28575" marB="28575" anchor="ctr">
                    <a:solidFill>
                      <a:srgbClr val="D6171D"/>
                    </a:solidFill>
                  </a:tcPr>
                </a:tc>
                <a:extLst>
                  <a:ext uri="{0D108BD9-81ED-4DB2-BD59-A6C34878D82A}">
                    <a16:rowId xmlns:a16="http://schemas.microsoft.com/office/drawing/2014/main" val="10000"/>
                  </a:ext>
                </a:extLst>
              </a:tr>
              <a:tr h="392906">
                <a:tc>
                  <a:txBody>
                    <a:bodyPr/>
                    <a:lstStyle/>
                    <a:p>
                      <a:r>
                        <a:rPr sz="2100" b="0">
                          <a:solidFill>
                            <a:srgbClr val="111111"/>
                          </a:solidFill>
                          <a:latin typeface="Aptos"/>
                          <a:ea typeface="Aptos"/>
                          <a:cs typeface="Aptos"/>
                        </a:rPr>
                        <a:t>Main transport mode</a:t>
                      </a:r>
                    </a:p>
                  </a:txBody>
                  <a:tcPr marL="95250" marR="95250" marT="28575" marB="28575" anchor="ctr">
                    <a:solidFill>
                      <a:srgbClr val="FFFFFF"/>
                    </a:solidFill>
                  </a:tcPr>
                </a:tc>
                <a:tc>
                  <a:txBody>
                    <a:bodyPr/>
                    <a:lstStyle/>
                    <a:p>
                      <a:r>
                        <a:rPr sz="2100" b="0">
                          <a:solidFill>
                            <a:srgbClr val="111111"/>
                          </a:solidFill>
                          <a:latin typeface="Aptos"/>
                          <a:ea typeface="Aptos"/>
                          <a:cs typeface="Aptos"/>
                        </a:rPr>
                        <a:t>Categorical</a:t>
                      </a:r>
                    </a:p>
                  </a:txBody>
                  <a:tcPr marL="95250" marR="95250" marT="28575" marB="28575" anchor="ctr">
                    <a:solidFill>
                      <a:srgbClr val="FFFFFF"/>
                    </a:solidFill>
                  </a:tcPr>
                </a:tc>
                <a:extLst>
                  <a:ext uri="{0D108BD9-81ED-4DB2-BD59-A6C34878D82A}">
                    <a16:rowId xmlns:a16="http://schemas.microsoft.com/office/drawing/2014/main" val="10001"/>
                  </a:ext>
                </a:extLst>
              </a:tr>
              <a:tr h="392906">
                <a:tc>
                  <a:txBody>
                    <a:bodyPr/>
                    <a:lstStyle/>
                    <a:p>
                      <a:r>
                        <a:rPr sz="2100" b="0">
                          <a:solidFill>
                            <a:srgbClr val="111111"/>
                          </a:solidFill>
                          <a:latin typeface="Aptos"/>
                          <a:ea typeface="Aptos"/>
                          <a:cs typeface="Aptos"/>
                        </a:rPr>
                        <a:t>Journeys per week</a:t>
                      </a:r>
                    </a:p>
                  </a:txBody>
                  <a:tcPr marL="95250" marR="95250" marT="28575" marB="28575" anchor="ctr">
                    <a:solidFill>
                      <a:srgbClr val="EEF7FC"/>
                    </a:solidFill>
                  </a:tcPr>
                </a:tc>
                <a:tc>
                  <a:txBody>
                    <a:bodyPr/>
                    <a:lstStyle/>
                    <a:p>
                      <a:r>
                        <a:rPr sz="2100" b="0">
                          <a:solidFill>
                            <a:srgbClr val="111111"/>
                          </a:solidFill>
                          <a:latin typeface="Aptos"/>
                          <a:ea typeface="Aptos"/>
                          <a:cs typeface="Aptos"/>
                        </a:rPr>
                        <a:t>Quantitative–discrete</a:t>
                      </a:r>
                    </a:p>
                  </a:txBody>
                  <a:tcPr marL="95250" marR="95250" marT="28575" marB="28575" anchor="ctr">
                    <a:solidFill>
                      <a:srgbClr val="EEF7FC"/>
                    </a:solidFill>
                  </a:tcPr>
                </a:tc>
                <a:extLst>
                  <a:ext uri="{0D108BD9-81ED-4DB2-BD59-A6C34878D82A}">
                    <a16:rowId xmlns:a16="http://schemas.microsoft.com/office/drawing/2014/main" val="10002"/>
                  </a:ext>
                </a:extLst>
              </a:tr>
              <a:tr h="392906">
                <a:tc>
                  <a:txBody>
                    <a:bodyPr/>
                    <a:lstStyle/>
                    <a:p>
                      <a:r>
                        <a:rPr sz="2100" b="0">
                          <a:solidFill>
                            <a:srgbClr val="111111"/>
                          </a:solidFill>
                          <a:latin typeface="Aptos"/>
                          <a:ea typeface="Aptos"/>
                          <a:cs typeface="Aptos"/>
                        </a:rPr>
                        <a:t>Exact journey time</a:t>
                      </a:r>
                    </a:p>
                  </a:txBody>
                  <a:tcPr marL="95250" marR="95250" marT="28575" marB="28575" anchor="ctr">
                    <a:solidFill>
                      <a:srgbClr val="FFFFFF"/>
                    </a:solidFill>
                  </a:tcPr>
                </a:tc>
                <a:tc>
                  <a:txBody>
                    <a:bodyPr/>
                    <a:lstStyle/>
                    <a:p>
                      <a:r>
                        <a:rPr sz="2100" b="0">
                          <a:solidFill>
                            <a:srgbClr val="111111"/>
                          </a:solidFill>
                          <a:latin typeface="Aptos"/>
                          <a:ea typeface="Aptos"/>
                          <a:cs typeface="Aptos"/>
                        </a:rPr>
                        <a:t>Quantitative–continuous</a:t>
                      </a:r>
                    </a:p>
                  </a:txBody>
                  <a:tcPr marL="95250" marR="95250" marT="28575" marB="28575"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813612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A4: Selection and estimation</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 estimates use the sample as evidence about the population.</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A4</a:t>
            </a:r>
          </a:p>
        </p:txBody>
      </p:sp>
      <p:sp>
        <p:nvSpPr>
          <p:cNvPr id="9" name="Revised-text-125">
            <a:extLst>
              <a:ext uri="{FF2B5EF4-FFF2-40B4-BE49-F238E27FC236}">
                <a16:creationId xmlns:a16="http://schemas.microsoft.com/office/drawing/2014/main" id="{C32F2685-0C32-4B09-87F7-692D29D6D465}"/>
              </a:ext>
            </a:extLst>
          </p:cNvPr>
          <p:cNvSpPr>
            <a:spLocks noGrp="1"/>
          </p:cNvSpPr>
          <p:nvPr/>
        </p:nvSpPr>
        <p:spPr>
          <a:xfrm>
            <a:off x="619125" y="2695575"/>
            <a:ext cx="5334000" cy="409575"/>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A4.3  Sampling fraction</a:t>
            </a:r>
          </a:p>
        </p:txBody>
      </p:sp>
      <p:sp>
        <p:nvSpPr>
          <p:cNvPr id="10" name="Revised-text-126">
            <a:extLst>
              <a:ext uri="{FF2B5EF4-FFF2-40B4-BE49-F238E27FC236}">
                <a16:creationId xmlns:a16="http://schemas.microsoft.com/office/drawing/2014/main" id="{3FC5A308-5C95-4986-9A06-A77655093C06}"/>
              </a:ext>
            </a:extLst>
          </p:cNvPr>
          <p:cNvSpPr>
            <a:spLocks noGrp="1"/>
          </p:cNvSpPr>
          <p:nvPr/>
        </p:nvSpPr>
        <p:spPr>
          <a:xfrm>
            <a:off x="619125" y="3190875"/>
            <a:ext cx="1219200" cy="390525"/>
          </a:xfrm>
          <a:prstGeom prst="rect">
            <a:avLst/>
          </a:prstGeom>
          <a:noFill/>
          <a:ln w="0">
            <a:noFill/>
          </a:ln>
        </p:spPr>
        <p:txBody>
          <a:bodyPr wrap="square" lIns="0" tIns="0" rIns="0" bIns="0" anchor="t">
            <a:noAutofit/>
          </a:bodyPr>
          <a:lstStyle/>
          <a:p>
            <a:pPr algn="ctr">
              <a:buNone/>
              <a:defRPr sz="2550" b="0">
                <a:solidFill>
                  <a:srgbClr val="111111"/>
                </a:solidFill>
                <a:latin typeface="Aptos"/>
                <a:ea typeface="Aptos"/>
                <a:cs typeface="Aptos"/>
              </a:defRPr>
            </a:pPr>
            <a:r>
              <a:rPr sz="2550" b="0">
                <a:solidFill>
                  <a:srgbClr val="111111"/>
                </a:solidFill>
                <a:latin typeface="Aptos"/>
                <a:ea typeface="Aptos"/>
                <a:cs typeface="Aptos"/>
              </a:rPr>
              <a:t>164</a:t>
            </a:r>
          </a:p>
        </p:txBody>
      </p:sp>
      <p:sp>
        <p:nvSpPr>
          <p:cNvPr id="11" name="Straight Connector 10">
            <a:extLst>
              <a:ext uri="{FF2B5EF4-FFF2-40B4-BE49-F238E27FC236}">
                <a16:creationId xmlns:a16="http://schemas.microsoft.com/office/drawing/2014/main" id="{371E1BC6-5FB0-483C-8310-4FBC4115B7BC}"/>
              </a:ext>
            </a:extLst>
          </p:cNvPr>
          <p:cNvSpPr>
            <a:spLocks noGrp="1"/>
          </p:cNvSpPr>
          <p:nvPr/>
        </p:nvSpPr>
        <p:spPr>
          <a:xfrm>
            <a:off x="619125" y="3571875"/>
            <a:ext cx="1219200" cy="0"/>
          </a:xfrm>
          <a:prstGeom prst="line">
            <a:avLst/>
          </a:prstGeom>
          <a:noFill/>
          <a:ln w="15240">
            <a:solidFill>
              <a:srgbClr val="111111"/>
            </a:solidFill>
          </a:ln>
        </p:spPr>
        <p:txBody>
          <a:bodyPr/>
          <a:lstStyle/>
          <a:p>
            <a:endParaRPr lang="en-US"/>
          </a:p>
        </p:txBody>
      </p:sp>
      <p:sp>
        <p:nvSpPr>
          <p:cNvPr id="12" name="Revised-text-127">
            <a:extLst>
              <a:ext uri="{FF2B5EF4-FFF2-40B4-BE49-F238E27FC236}">
                <a16:creationId xmlns:a16="http://schemas.microsoft.com/office/drawing/2014/main" id="{DEFD4F91-5321-4F35-AB8A-B40066D04ACC}"/>
              </a:ext>
            </a:extLst>
          </p:cNvPr>
          <p:cNvSpPr>
            <a:spLocks noGrp="1"/>
          </p:cNvSpPr>
          <p:nvPr/>
        </p:nvSpPr>
        <p:spPr>
          <a:xfrm>
            <a:off x="619125" y="3619500"/>
            <a:ext cx="1219200" cy="409575"/>
          </a:xfrm>
          <a:prstGeom prst="rect">
            <a:avLst/>
          </a:prstGeom>
          <a:noFill/>
          <a:ln w="0">
            <a:noFill/>
          </a:ln>
        </p:spPr>
        <p:txBody>
          <a:bodyPr wrap="square" lIns="0" tIns="0" rIns="0" bIns="0" anchor="t">
            <a:noAutofit/>
          </a:bodyPr>
          <a:lstStyle/>
          <a:p>
            <a:pPr algn="ctr">
              <a:buNone/>
              <a:defRPr sz="2550" b="0">
                <a:solidFill>
                  <a:srgbClr val="111111"/>
                </a:solidFill>
                <a:latin typeface="Aptos"/>
                <a:ea typeface="Aptos"/>
                <a:cs typeface="Aptos"/>
              </a:defRPr>
            </a:pPr>
            <a:r>
              <a:rPr sz="2550" b="0">
                <a:solidFill>
                  <a:srgbClr val="111111"/>
                </a:solidFill>
                <a:latin typeface="Aptos"/>
                <a:ea typeface="Aptos"/>
                <a:cs typeface="Aptos"/>
              </a:rPr>
              <a:t>2,460</a:t>
            </a:r>
          </a:p>
        </p:txBody>
      </p:sp>
      <p:sp>
        <p:nvSpPr>
          <p:cNvPr id="13" name="Revised-text-128">
            <a:extLst>
              <a:ext uri="{FF2B5EF4-FFF2-40B4-BE49-F238E27FC236}">
                <a16:creationId xmlns:a16="http://schemas.microsoft.com/office/drawing/2014/main" id="{F8739FB7-2134-4156-8D3E-621B2C98942B}"/>
              </a:ext>
            </a:extLst>
          </p:cNvPr>
          <p:cNvSpPr>
            <a:spLocks noGrp="1"/>
          </p:cNvSpPr>
          <p:nvPr/>
        </p:nvSpPr>
        <p:spPr>
          <a:xfrm>
            <a:off x="2028825" y="3352800"/>
            <a:ext cx="9544050" cy="561975"/>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 100 ≈ 6.67%</a:t>
            </a:r>
          </a:p>
        </p:txBody>
      </p:sp>
      <p:sp>
        <p:nvSpPr>
          <p:cNvPr id="14" name="Revised-text-129">
            <a:extLst>
              <a:ext uri="{FF2B5EF4-FFF2-40B4-BE49-F238E27FC236}">
                <a16:creationId xmlns:a16="http://schemas.microsoft.com/office/drawing/2014/main" id="{EB989BE0-AA6E-4924-A9A7-4A2C89AF687E}"/>
              </a:ext>
            </a:extLst>
          </p:cNvPr>
          <p:cNvSpPr>
            <a:spLocks noGrp="1"/>
          </p:cNvSpPr>
          <p:nvPr/>
        </p:nvSpPr>
        <p:spPr>
          <a:xfrm>
            <a:off x="6572250" y="2886075"/>
            <a:ext cx="5048250" cy="438150"/>
          </a:xfrm>
          <a:prstGeom prst="rect">
            <a:avLst/>
          </a:prstGeom>
          <a:noFill/>
          <a:ln w="0">
            <a:noFill/>
          </a:ln>
        </p:spPr>
        <p:txBody>
          <a:bodyPr wrap="square" lIns="0" tIns="0" rIns="0" bIns="0" anchor="t">
            <a:noAutofit/>
          </a:bodyPr>
          <a:lstStyle/>
          <a:p>
            <a:pPr algn="l">
              <a:buNone/>
              <a:defRPr sz="2250" b="1">
                <a:solidFill>
                  <a:srgbClr val="111111"/>
                </a:solidFill>
                <a:latin typeface="Aptos"/>
                <a:ea typeface="Aptos"/>
                <a:cs typeface="Aptos"/>
              </a:defRPr>
            </a:pPr>
            <a:r>
              <a:rPr sz="2250" b="1">
                <a:solidFill>
                  <a:srgbClr val="111111"/>
                </a:solidFill>
                <a:latin typeface="Aptos"/>
                <a:ea typeface="Aptos"/>
                <a:cs typeface="Aptos"/>
              </a:rPr>
              <a:t>Interval = 2,460 ÷ 164 = 15</a:t>
            </a:r>
          </a:p>
        </p:txBody>
      </p:sp>
      <p:sp>
        <p:nvSpPr>
          <p:cNvPr id="15" name="Revised-text-130">
            <a:extLst>
              <a:ext uri="{FF2B5EF4-FFF2-40B4-BE49-F238E27FC236}">
                <a16:creationId xmlns:a16="http://schemas.microsoft.com/office/drawing/2014/main" id="{0D808CDE-24CA-4640-ACD6-25695B640963}"/>
              </a:ext>
            </a:extLst>
          </p:cNvPr>
          <p:cNvSpPr>
            <a:spLocks noGrp="1"/>
          </p:cNvSpPr>
          <p:nvPr/>
        </p:nvSpPr>
        <p:spPr>
          <a:xfrm>
            <a:off x="6572250" y="3486150"/>
            <a:ext cx="5143500" cy="90487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First IDs: 11, 26, 41, 56, 71</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Last: 11 + 163 × 15 = 2,456</a:t>
            </a:r>
          </a:p>
        </p:txBody>
      </p:sp>
      <p:sp>
        <p:nvSpPr>
          <p:cNvPr id="16" name="Revised-text-131">
            <a:extLst>
              <a:ext uri="{FF2B5EF4-FFF2-40B4-BE49-F238E27FC236}">
                <a16:creationId xmlns:a16="http://schemas.microsoft.com/office/drawing/2014/main" id="{F2880581-9AA7-49CD-90E0-64DAABA0E522}"/>
              </a:ext>
            </a:extLst>
          </p:cNvPr>
          <p:cNvSpPr>
            <a:spLocks noGrp="1"/>
          </p:cNvSpPr>
          <p:nvPr/>
        </p:nvSpPr>
        <p:spPr>
          <a:xfrm>
            <a:off x="619125" y="4562475"/>
            <a:ext cx="10763250" cy="428625"/>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A4.4  Estimated number of bus users</a:t>
            </a:r>
          </a:p>
        </p:txBody>
      </p:sp>
      <p:sp>
        <p:nvSpPr>
          <p:cNvPr id="17" name="Revised-text-132">
            <a:extLst>
              <a:ext uri="{FF2B5EF4-FFF2-40B4-BE49-F238E27FC236}">
                <a16:creationId xmlns:a16="http://schemas.microsoft.com/office/drawing/2014/main" id="{18DD543A-5C69-4C0C-AD8F-D97DECF60665}"/>
              </a:ext>
            </a:extLst>
          </p:cNvPr>
          <p:cNvSpPr>
            <a:spLocks noGrp="1"/>
          </p:cNvSpPr>
          <p:nvPr/>
        </p:nvSpPr>
        <p:spPr>
          <a:xfrm>
            <a:off x="619125" y="5095875"/>
            <a:ext cx="1095375" cy="390525"/>
          </a:xfrm>
          <a:prstGeom prst="rect">
            <a:avLst/>
          </a:prstGeom>
          <a:noFill/>
          <a:ln w="0">
            <a:noFill/>
          </a:ln>
        </p:spPr>
        <p:txBody>
          <a:bodyPr wrap="square" lIns="0" tIns="0" rIns="0" bIns="0" anchor="t">
            <a:noAutofit/>
          </a:bodyPr>
          <a:lstStyle/>
          <a:p>
            <a:pPr algn="ctr">
              <a:buNone/>
              <a:defRPr sz="2550" b="0">
                <a:solidFill>
                  <a:srgbClr val="111111"/>
                </a:solidFill>
                <a:latin typeface="Aptos"/>
                <a:ea typeface="Aptos"/>
                <a:cs typeface="Aptos"/>
              </a:defRPr>
            </a:pPr>
            <a:r>
              <a:rPr sz="2550" b="0">
                <a:solidFill>
                  <a:srgbClr val="111111"/>
                </a:solidFill>
                <a:latin typeface="Aptos"/>
                <a:ea typeface="Aptos"/>
                <a:cs typeface="Aptos"/>
              </a:rPr>
              <a:t>73</a:t>
            </a:r>
          </a:p>
        </p:txBody>
      </p:sp>
      <p:sp>
        <p:nvSpPr>
          <p:cNvPr id="18" name="Straight Connector 17">
            <a:extLst>
              <a:ext uri="{FF2B5EF4-FFF2-40B4-BE49-F238E27FC236}">
                <a16:creationId xmlns:a16="http://schemas.microsoft.com/office/drawing/2014/main" id="{2C6FB90B-80BA-42DB-9C34-FEF87F2D2F81}"/>
              </a:ext>
            </a:extLst>
          </p:cNvPr>
          <p:cNvSpPr>
            <a:spLocks noGrp="1"/>
          </p:cNvSpPr>
          <p:nvPr/>
        </p:nvSpPr>
        <p:spPr>
          <a:xfrm>
            <a:off x="619125" y="5476875"/>
            <a:ext cx="1095375" cy="0"/>
          </a:xfrm>
          <a:prstGeom prst="line">
            <a:avLst/>
          </a:prstGeom>
          <a:noFill/>
          <a:ln w="15240">
            <a:solidFill>
              <a:srgbClr val="111111"/>
            </a:solidFill>
          </a:ln>
        </p:spPr>
        <p:txBody>
          <a:bodyPr/>
          <a:lstStyle/>
          <a:p>
            <a:endParaRPr lang="en-US"/>
          </a:p>
        </p:txBody>
      </p:sp>
      <p:sp>
        <p:nvSpPr>
          <p:cNvPr id="19" name="Revised-text-133">
            <a:extLst>
              <a:ext uri="{FF2B5EF4-FFF2-40B4-BE49-F238E27FC236}">
                <a16:creationId xmlns:a16="http://schemas.microsoft.com/office/drawing/2014/main" id="{67C55A7E-EAD0-4373-9FA4-697CBCE0374F}"/>
              </a:ext>
            </a:extLst>
          </p:cNvPr>
          <p:cNvSpPr>
            <a:spLocks noGrp="1"/>
          </p:cNvSpPr>
          <p:nvPr/>
        </p:nvSpPr>
        <p:spPr>
          <a:xfrm>
            <a:off x="619125" y="5524500"/>
            <a:ext cx="1095375" cy="409575"/>
          </a:xfrm>
          <a:prstGeom prst="rect">
            <a:avLst/>
          </a:prstGeom>
          <a:noFill/>
          <a:ln w="0">
            <a:noFill/>
          </a:ln>
        </p:spPr>
        <p:txBody>
          <a:bodyPr wrap="square" lIns="0" tIns="0" rIns="0" bIns="0" anchor="t">
            <a:noAutofit/>
          </a:bodyPr>
          <a:lstStyle/>
          <a:p>
            <a:pPr algn="ctr">
              <a:buNone/>
              <a:defRPr sz="2550" b="0">
                <a:solidFill>
                  <a:srgbClr val="111111"/>
                </a:solidFill>
                <a:latin typeface="Aptos"/>
                <a:ea typeface="Aptos"/>
                <a:cs typeface="Aptos"/>
              </a:defRPr>
            </a:pPr>
            <a:r>
              <a:rPr sz="2550" b="0">
                <a:solidFill>
                  <a:srgbClr val="111111"/>
                </a:solidFill>
                <a:latin typeface="Aptos"/>
                <a:ea typeface="Aptos"/>
                <a:cs typeface="Aptos"/>
              </a:rPr>
              <a:t>164</a:t>
            </a:r>
          </a:p>
        </p:txBody>
      </p:sp>
      <p:sp>
        <p:nvSpPr>
          <p:cNvPr id="20" name="Revised-text-134">
            <a:extLst>
              <a:ext uri="{FF2B5EF4-FFF2-40B4-BE49-F238E27FC236}">
                <a16:creationId xmlns:a16="http://schemas.microsoft.com/office/drawing/2014/main" id="{9AFE9D5C-48A6-4AC3-BCAA-61B02884015F}"/>
              </a:ext>
            </a:extLst>
          </p:cNvPr>
          <p:cNvSpPr>
            <a:spLocks noGrp="1"/>
          </p:cNvSpPr>
          <p:nvPr/>
        </p:nvSpPr>
        <p:spPr>
          <a:xfrm>
            <a:off x="1905000" y="5257800"/>
            <a:ext cx="9667875" cy="561975"/>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 2,460 = 1,095</a:t>
            </a:r>
          </a:p>
        </p:txBody>
      </p:sp>
      <p:sp>
        <p:nvSpPr>
          <p:cNvPr id="21" name="Revised-text-135">
            <a:extLst>
              <a:ext uri="{FF2B5EF4-FFF2-40B4-BE49-F238E27FC236}">
                <a16:creationId xmlns:a16="http://schemas.microsoft.com/office/drawing/2014/main" id="{59F68778-4C34-4D9D-B1F1-742B293FE066}"/>
              </a:ext>
            </a:extLst>
          </p:cNvPr>
          <p:cNvSpPr>
            <a:spLocks noGrp="1"/>
          </p:cNvSpPr>
          <p:nvPr/>
        </p:nvSpPr>
        <p:spPr>
          <a:xfrm>
            <a:off x="7048500" y="5076825"/>
            <a:ext cx="4572000" cy="1085850"/>
          </a:xfrm>
          <a:prstGeom prst="rect">
            <a:avLst/>
          </a:prstGeom>
          <a:noFill/>
          <a:ln w="0">
            <a:noFill/>
          </a:ln>
        </p:spPr>
        <p:txBody>
          <a:bodyPr wrap="square" lIns="0" tIns="0" rIns="0" bIns="0" anchor="t">
            <a:noAutofit/>
          </a:bodyPr>
          <a:lstStyle/>
          <a:p>
            <a:pPr algn="l">
              <a:buNone/>
              <a:defRPr sz="2250" b="1">
                <a:solidFill>
                  <a:srgbClr val="111111"/>
                </a:solidFill>
                <a:latin typeface="Aptos"/>
                <a:ea typeface="Aptos"/>
                <a:cs typeface="Aptos"/>
              </a:defRPr>
            </a:pPr>
            <a:r>
              <a:rPr sz="2250" b="1">
                <a:solidFill>
                  <a:srgbClr val="111111"/>
                </a:solidFill>
                <a:latin typeface="Aptos"/>
                <a:ea typeface="Aptos"/>
                <a:cs typeface="Aptos"/>
              </a:rPr>
              <a:t>1,095 is an estimate.</a:t>
            </a:r>
          </a:p>
          <a:p>
            <a:pPr algn="l">
              <a:buNone/>
              <a:defRPr sz="2250" b="1">
                <a:solidFill>
                  <a:srgbClr val="111111"/>
                </a:solidFill>
                <a:latin typeface="Aptos"/>
                <a:ea typeface="Aptos"/>
                <a:cs typeface="Aptos"/>
              </a:defRPr>
            </a:pPr>
            <a:r>
              <a:rPr sz="2250" b="1">
                <a:solidFill>
                  <a:srgbClr val="111111"/>
                </a:solidFill>
                <a:latin typeface="Aptos"/>
                <a:ea typeface="Aptos"/>
                <a:cs typeface="Aptos"/>
              </a:rPr>
              <a:t>The sample does not establish</a:t>
            </a:r>
          </a:p>
          <a:p>
            <a:pPr algn="l">
              <a:buNone/>
              <a:defRPr sz="2250" b="1">
                <a:solidFill>
                  <a:srgbClr val="111111"/>
                </a:solidFill>
                <a:latin typeface="Aptos"/>
                <a:ea typeface="Aptos"/>
                <a:cs typeface="Aptos"/>
              </a:defRPr>
            </a:pPr>
            <a:r>
              <a:rPr sz="2250" b="1">
                <a:solidFill>
                  <a:srgbClr val="111111"/>
                </a:solidFill>
                <a:latin typeface="Aptos"/>
                <a:ea typeface="Aptos"/>
                <a:cs typeface="Aptos"/>
              </a:rPr>
              <a:t>the exact population count.</a:t>
            </a:r>
          </a:p>
        </p:txBody>
      </p:sp>
    </p:spTree>
    <p:extLst>
      <p:ext uri="{BB962C8B-B14F-4D97-AF65-F5344CB8AC3E}">
        <p14:creationId xmlns:p14="http://schemas.microsoft.com/office/powerpoint/2010/main" val="32813612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A4.5: Two samples, two estimates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Both samples come from the same college of 2,460 students.</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A4</a:t>
            </a:r>
          </a:p>
        </p:txBody>
      </p:sp>
      <p:sp>
        <p:nvSpPr>
          <p:cNvPr id="9" name="VisualRevisionBox-54">
            <a:extLst>
              <a:ext uri="{FF2B5EF4-FFF2-40B4-BE49-F238E27FC236}">
                <a16:creationId xmlns:a16="http://schemas.microsoft.com/office/drawing/2014/main" id="{84CD8D3F-A6C3-4CE6-B25B-F5F51CFE749B}"/>
              </a:ext>
            </a:extLst>
          </p:cNvPr>
          <p:cNvSpPr>
            <a:spLocks noGrp="1"/>
          </p:cNvSpPr>
          <p:nvPr/>
        </p:nvSpPr>
        <p:spPr>
          <a:xfrm>
            <a:off x="619125" y="2857500"/>
            <a:ext cx="5229225" cy="1304925"/>
          </a:xfrm>
          <a:prstGeom prst="rect">
            <a:avLst/>
          </a:prstGeom>
          <a:solidFill>
            <a:srgbClr val="FFFFFF"/>
          </a:solidFill>
          <a:ln w="14288">
            <a:solidFill>
              <a:srgbClr val="A9BEC9"/>
            </a:solidFill>
          </a:ln>
        </p:spPr>
        <p:txBody>
          <a:bodyPr/>
          <a:lstStyle/>
          <a:p>
            <a:endParaRPr lang="en-US"/>
          </a:p>
        </p:txBody>
      </p:sp>
      <p:sp>
        <p:nvSpPr>
          <p:cNvPr id="10" name="VisualRevisionBox-55">
            <a:extLst>
              <a:ext uri="{FF2B5EF4-FFF2-40B4-BE49-F238E27FC236}">
                <a16:creationId xmlns:a16="http://schemas.microsoft.com/office/drawing/2014/main" id="{B181263E-FC24-47FE-9C84-7511D4592F5A}"/>
              </a:ext>
            </a:extLst>
          </p:cNvPr>
          <p:cNvSpPr>
            <a:spLocks noGrp="1"/>
          </p:cNvSpPr>
          <p:nvPr/>
        </p:nvSpPr>
        <p:spPr>
          <a:xfrm>
            <a:off x="6143625" y="2857500"/>
            <a:ext cx="5381625" cy="1304925"/>
          </a:xfrm>
          <a:prstGeom prst="rect">
            <a:avLst/>
          </a:prstGeom>
          <a:solidFill>
            <a:srgbClr val="FFFFFF"/>
          </a:solidFill>
          <a:ln w="14288">
            <a:solidFill>
              <a:srgbClr val="A9BEC9"/>
            </a:solidFill>
          </a:ln>
        </p:spPr>
        <p:txBody>
          <a:bodyPr/>
          <a:lstStyle/>
          <a:p>
            <a:endParaRPr lang="en-US"/>
          </a:p>
        </p:txBody>
      </p:sp>
      <p:sp>
        <p:nvSpPr>
          <p:cNvPr id="11" name="VisualRevision-56">
            <a:extLst>
              <a:ext uri="{FF2B5EF4-FFF2-40B4-BE49-F238E27FC236}">
                <a16:creationId xmlns:a16="http://schemas.microsoft.com/office/drawing/2014/main" id="{36547511-1B13-4D1D-A90B-A4F45C4D187D}"/>
              </a:ext>
            </a:extLst>
          </p:cNvPr>
          <p:cNvSpPr>
            <a:spLocks noGrp="1"/>
          </p:cNvSpPr>
          <p:nvPr/>
        </p:nvSpPr>
        <p:spPr>
          <a:xfrm>
            <a:off x="809625" y="3038475"/>
            <a:ext cx="4857750" cy="390525"/>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rPr sz="2250" b="1">
                <a:solidFill>
                  <a:srgbClr val="111111"/>
                </a:solidFill>
                <a:latin typeface="Aptos"/>
                <a:ea typeface="Aptos"/>
                <a:cs typeface="Aptos"/>
              </a:rPr>
              <a:t>First random sample</a:t>
            </a:r>
          </a:p>
        </p:txBody>
      </p:sp>
      <p:sp>
        <p:nvSpPr>
          <p:cNvPr id="12" name="VisualRevision-57">
            <a:extLst>
              <a:ext uri="{FF2B5EF4-FFF2-40B4-BE49-F238E27FC236}">
                <a16:creationId xmlns:a16="http://schemas.microsoft.com/office/drawing/2014/main" id="{251127A3-4B16-4E58-933D-6D55499D4132}"/>
              </a:ext>
            </a:extLst>
          </p:cNvPr>
          <p:cNvSpPr>
            <a:spLocks noGrp="1"/>
          </p:cNvSpPr>
          <p:nvPr/>
        </p:nvSpPr>
        <p:spPr>
          <a:xfrm>
            <a:off x="809625" y="3609975"/>
            <a:ext cx="4857750" cy="409575"/>
          </a:xfrm>
          <a:prstGeom prst="rect">
            <a:avLst/>
          </a:prstGeom>
          <a:noFill/>
          <a:ln w="0">
            <a:noFill/>
          </a:ln>
        </p:spPr>
        <p:txBody>
          <a:bodyPr wrap="square" lIns="0" tIns="0" rIns="0" bIns="0" anchor="t">
            <a:noAutofit/>
          </a:bodyPr>
          <a:lstStyle/>
          <a:p>
            <a:pPr algn="l">
              <a:defRPr sz="2400" b="0">
                <a:solidFill>
                  <a:srgbClr val="111111"/>
                </a:solidFill>
                <a:latin typeface="Aptos"/>
                <a:ea typeface="Aptos"/>
                <a:cs typeface="Aptos"/>
              </a:defRPr>
            </a:pPr>
            <a:r>
              <a:rPr sz="2400" b="0">
                <a:solidFill>
                  <a:srgbClr val="111111"/>
                </a:solidFill>
                <a:latin typeface="Aptos"/>
                <a:ea typeface="Aptos"/>
                <a:cs typeface="Aptos"/>
              </a:rPr>
              <a:t>73 bus users out of 164</a:t>
            </a:r>
          </a:p>
        </p:txBody>
      </p:sp>
      <p:sp>
        <p:nvSpPr>
          <p:cNvPr id="13" name="VisualRevision-58">
            <a:extLst>
              <a:ext uri="{FF2B5EF4-FFF2-40B4-BE49-F238E27FC236}">
                <a16:creationId xmlns:a16="http://schemas.microsoft.com/office/drawing/2014/main" id="{84CDFFC6-6FB5-4C06-B1C0-AB0A39E61D1C}"/>
              </a:ext>
            </a:extLst>
          </p:cNvPr>
          <p:cNvSpPr>
            <a:spLocks noGrp="1"/>
          </p:cNvSpPr>
          <p:nvPr/>
        </p:nvSpPr>
        <p:spPr>
          <a:xfrm>
            <a:off x="6334125" y="3038475"/>
            <a:ext cx="5000625" cy="390525"/>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rPr sz="2250" b="1">
                <a:solidFill>
                  <a:srgbClr val="111111"/>
                </a:solidFill>
                <a:latin typeface="Aptos"/>
                <a:ea typeface="Aptos"/>
                <a:cs typeface="Aptos"/>
              </a:rPr>
              <a:t>Second random sample</a:t>
            </a:r>
          </a:p>
        </p:txBody>
      </p:sp>
      <p:sp>
        <p:nvSpPr>
          <p:cNvPr id="14" name="VisualRevision-59">
            <a:extLst>
              <a:ext uri="{FF2B5EF4-FFF2-40B4-BE49-F238E27FC236}">
                <a16:creationId xmlns:a16="http://schemas.microsoft.com/office/drawing/2014/main" id="{56492203-5AD8-4E9A-9515-C950C01855F2}"/>
              </a:ext>
            </a:extLst>
          </p:cNvPr>
          <p:cNvSpPr>
            <a:spLocks noGrp="1"/>
          </p:cNvSpPr>
          <p:nvPr/>
        </p:nvSpPr>
        <p:spPr>
          <a:xfrm>
            <a:off x="6334125" y="3609975"/>
            <a:ext cx="5000625" cy="409575"/>
          </a:xfrm>
          <a:prstGeom prst="rect">
            <a:avLst/>
          </a:prstGeom>
          <a:noFill/>
          <a:ln w="0">
            <a:noFill/>
          </a:ln>
        </p:spPr>
        <p:txBody>
          <a:bodyPr wrap="square" lIns="0" tIns="0" rIns="0" bIns="0" anchor="t">
            <a:noAutofit/>
          </a:bodyPr>
          <a:lstStyle/>
          <a:p>
            <a:pPr algn="l">
              <a:defRPr sz="2400" b="0">
                <a:solidFill>
                  <a:srgbClr val="111111"/>
                </a:solidFill>
                <a:latin typeface="Aptos"/>
                <a:ea typeface="Aptos"/>
                <a:cs typeface="Aptos"/>
              </a:defRPr>
            </a:pPr>
            <a:r>
              <a:rPr sz="2400" b="0">
                <a:solidFill>
                  <a:srgbClr val="111111"/>
                </a:solidFill>
                <a:latin typeface="Aptos"/>
                <a:ea typeface="Aptos"/>
                <a:cs typeface="Aptos"/>
              </a:rPr>
              <a:t>86 bus users out of 164</a:t>
            </a:r>
          </a:p>
        </p:txBody>
      </p:sp>
      <p:sp>
        <p:nvSpPr>
          <p:cNvPr id="15" name="VisualRevision-60">
            <a:extLst>
              <a:ext uri="{FF2B5EF4-FFF2-40B4-BE49-F238E27FC236}">
                <a16:creationId xmlns:a16="http://schemas.microsoft.com/office/drawing/2014/main" id="{AFBB6B33-206A-4790-8488-8AA2225D65A2}"/>
              </a:ext>
            </a:extLst>
          </p:cNvPr>
          <p:cNvSpPr>
            <a:spLocks noGrp="1"/>
          </p:cNvSpPr>
          <p:nvPr/>
        </p:nvSpPr>
        <p:spPr>
          <a:xfrm>
            <a:off x="619125" y="4486275"/>
            <a:ext cx="10858500" cy="5810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(a) Use the second sample to estimate the total bus users.</a:t>
            </a:r>
          </a:p>
        </p:txBody>
      </p:sp>
      <p:sp>
        <p:nvSpPr>
          <p:cNvPr id="16" name="VisualRevision-61">
            <a:extLst>
              <a:ext uri="{FF2B5EF4-FFF2-40B4-BE49-F238E27FC236}">
                <a16:creationId xmlns:a16="http://schemas.microsoft.com/office/drawing/2014/main" id="{861D3C57-3706-4E56-85D5-89D73FDA53D6}"/>
              </a:ext>
            </a:extLst>
          </p:cNvPr>
          <p:cNvSpPr>
            <a:spLocks noGrp="1"/>
          </p:cNvSpPr>
          <p:nvPr/>
        </p:nvSpPr>
        <p:spPr>
          <a:xfrm>
            <a:off x="619125" y="5267325"/>
            <a:ext cx="10858500" cy="8572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(b) The first estimate was 1,095. Must one calculation</a:t>
            </a:r>
          </a:p>
          <a:p>
            <a:pPr algn="l">
              <a:defRPr sz="2325" b="0">
                <a:solidFill>
                  <a:srgbClr val="111111"/>
                </a:solidFill>
                <a:latin typeface="Aptos"/>
                <a:ea typeface="Aptos"/>
                <a:cs typeface="Aptos"/>
              </a:defRPr>
            </a:pPr>
            <a:r>
              <a:rPr sz="2325" b="0">
                <a:solidFill>
                  <a:srgbClr val="111111"/>
                </a:solidFill>
                <a:latin typeface="Aptos"/>
                <a:ea typeface="Aptos"/>
                <a:cs typeface="Aptos"/>
              </a:rPr>
              <a:t>      be wrong? Can we tell which estimate is closer?</a:t>
            </a:r>
          </a:p>
        </p:txBody>
      </p:sp>
    </p:spTree>
    <p:extLst>
      <p:ext uri="{BB962C8B-B14F-4D97-AF65-F5344CB8AC3E}">
        <p14:creationId xmlns:p14="http://schemas.microsoft.com/office/powerpoint/2010/main" val="32813612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A4.5: Different samples can differ</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Random sampling does not guarantee identical results.</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A4</a:t>
            </a:r>
          </a:p>
        </p:txBody>
      </p:sp>
      <p:sp>
        <p:nvSpPr>
          <p:cNvPr id="9" name="VisualRevision-62">
            <a:extLst>
              <a:ext uri="{FF2B5EF4-FFF2-40B4-BE49-F238E27FC236}">
                <a16:creationId xmlns:a16="http://schemas.microsoft.com/office/drawing/2014/main" id="{48FAA48C-8D9B-46C3-9947-7AF4C477BDE5}"/>
              </a:ext>
            </a:extLst>
          </p:cNvPr>
          <p:cNvSpPr>
            <a:spLocks noGrp="1"/>
          </p:cNvSpPr>
          <p:nvPr/>
        </p:nvSpPr>
        <p:spPr>
          <a:xfrm>
            <a:off x="619125" y="2809875"/>
            <a:ext cx="10858500" cy="571500"/>
          </a:xfrm>
          <a:prstGeom prst="rect">
            <a:avLst/>
          </a:prstGeom>
          <a:noFill/>
          <a:ln w="0">
            <a:noFill/>
          </a:ln>
        </p:spPr>
        <p:txBody>
          <a:bodyPr wrap="square" lIns="0" tIns="0" rIns="0" bIns="0" anchor="t">
            <a:noAutofit/>
          </a:bodyPr>
          <a:lstStyle/>
          <a:p>
            <a:pPr algn="l">
              <a:defRPr sz="2625" b="1">
                <a:solidFill>
                  <a:srgbClr val="111111"/>
                </a:solidFill>
                <a:latin typeface="Aptos"/>
                <a:ea typeface="Aptos"/>
                <a:cs typeface="Aptos"/>
              </a:defRPr>
            </a:pPr>
            <a:r>
              <a:rPr sz="2625" b="1">
                <a:solidFill>
                  <a:srgbClr val="111111"/>
                </a:solidFill>
                <a:latin typeface="Aptos"/>
                <a:ea typeface="Aptos"/>
                <a:cs typeface="Aptos"/>
              </a:rPr>
              <a:t>Second estimate: (86 ÷ 164) × 2,460 = 1,290</a:t>
            </a:r>
          </a:p>
        </p:txBody>
      </p:sp>
      <p:sp>
        <p:nvSpPr>
          <p:cNvPr id="10" name="VisualRevision-63">
            <a:extLst>
              <a:ext uri="{FF2B5EF4-FFF2-40B4-BE49-F238E27FC236}">
                <a16:creationId xmlns:a16="http://schemas.microsoft.com/office/drawing/2014/main" id="{D3627D05-262B-4A0B-A8F3-08DC3C195E93}"/>
              </a:ext>
            </a:extLst>
          </p:cNvPr>
          <p:cNvSpPr>
            <a:spLocks noGrp="1"/>
          </p:cNvSpPr>
          <p:nvPr/>
        </p:nvSpPr>
        <p:spPr>
          <a:xfrm>
            <a:off x="619125" y="3762375"/>
            <a:ext cx="10858500" cy="457200"/>
          </a:xfrm>
          <a:prstGeom prst="rect">
            <a:avLst/>
          </a:prstGeom>
          <a:noFill/>
          <a:ln w="0">
            <a:noFill/>
          </a:ln>
        </p:spPr>
        <p:txBody>
          <a:bodyPr wrap="square" lIns="0" tIns="0" rIns="0" bIns="0" anchor="t">
            <a:noAutofit/>
          </a:bodyPr>
          <a:lstStyle/>
          <a:p>
            <a:pPr algn="l">
              <a:defRPr sz="2550" b="1">
                <a:solidFill>
                  <a:srgbClr val="111111"/>
                </a:solidFill>
                <a:latin typeface="Aptos"/>
                <a:ea typeface="Aptos"/>
                <a:cs typeface="Aptos"/>
              </a:defRPr>
            </a:pPr>
            <a:r>
              <a:rPr sz="2550" b="1">
                <a:solidFill>
                  <a:srgbClr val="111111"/>
                </a:solidFill>
                <a:latin typeface="Aptos"/>
                <a:ea typeface="Aptos"/>
                <a:cs typeface="Aptos"/>
              </a:rPr>
              <a:t>Both calculations can be correct.</a:t>
            </a:r>
          </a:p>
        </p:txBody>
      </p:sp>
      <p:sp>
        <p:nvSpPr>
          <p:cNvPr id="11" name="VisualRevision-64">
            <a:extLst>
              <a:ext uri="{FF2B5EF4-FFF2-40B4-BE49-F238E27FC236}">
                <a16:creationId xmlns:a16="http://schemas.microsoft.com/office/drawing/2014/main" id="{2494BAAA-6316-4235-907B-95CB9DEBAEB7}"/>
              </a:ext>
            </a:extLst>
          </p:cNvPr>
          <p:cNvSpPr>
            <a:spLocks noGrp="1"/>
          </p:cNvSpPr>
          <p:nvPr/>
        </p:nvSpPr>
        <p:spPr>
          <a:xfrm>
            <a:off x="619125" y="4371975"/>
            <a:ext cx="10858500" cy="9429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Different random samples can contain different numbers</a:t>
            </a:r>
          </a:p>
          <a:p>
            <a:pPr algn="l">
              <a:defRPr sz="2325" b="0">
                <a:solidFill>
                  <a:srgbClr val="111111"/>
                </a:solidFill>
                <a:latin typeface="Aptos"/>
                <a:ea typeface="Aptos"/>
                <a:cs typeface="Aptos"/>
              </a:defRPr>
            </a:pPr>
            <a:r>
              <a:rPr sz="2325" b="0">
                <a:solidFill>
                  <a:srgbClr val="111111"/>
                </a:solidFill>
                <a:latin typeface="Aptos"/>
                <a:ea typeface="Aptos"/>
                <a:cs typeface="Aptos"/>
              </a:rPr>
              <a:t>of bus users, so their estimates can differ.</a:t>
            </a:r>
          </a:p>
        </p:txBody>
      </p:sp>
      <p:sp>
        <p:nvSpPr>
          <p:cNvPr id="12" name="VisualRevision-65">
            <a:extLst>
              <a:ext uri="{FF2B5EF4-FFF2-40B4-BE49-F238E27FC236}">
                <a16:creationId xmlns:a16="http://schemas.microsoft.com/office/drawing/2014/main" id="{7E027F15-FD9B-42E3-A70D-68F74996892E}"/>
              </a:ext>
            </a:extLst>
          </p:cNvPr>
          <p:cNvSpPr>
            <a:spLocks noGrp="1"/>
          </p:cNvSpPr>
          <p:nvPr/>
        </p:nvSpPr>
        <p:spPr>
          <a:xfrm>
            <a:off x="619125" y="5486400"/>
            <a:ext cx="10858500" cy="733425"/>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rPr sz="2250" b="1">
                <a:solidFill>
                  <a:srgbClr val="111111"/>
                </a:solidFill>
                <a:latin typeface="Aptos"/>
                <a:ea typeface="Aptos"/>
                <a:cs typeface="Aptos"/>
              </a:rPr>
              <a:t>These results alone do not show which estimate is closer</a:t>
            </a:r>
          </a:p>
          <a:p>
            <a:pPr algn="l">
              <a:defRPr sz="2250" b="1">
                <a:solidFill>
                  <a:srgbClr val="111111"/>
                </a:solidFill>
                <a:latin typeface="Aptos"/>
                <a:ea typeface="Aptos"/>
                <a:cs typeface="Aptos"/>
              </a:defRPr>
            </a:pPr>
            <a:r>
              <a:rPr sz="2250" b="1">
                <a:solidFill>
                  <a:srgbClr val="111111"/>
                </a:solidFill>
                <a:latin typeface="Aptos"/>
                <a:ea typeface="Aptos"/>
                <a:cs typeface="Aptos"/>
              </a:rPr>
              <a:t>to the true population count.</a:t>
            </a:r>
          </a:p>
        </p:txBody>
      </p:sp>
    </p:spTree>
    <p:extLst>
      <p:ext uri="{BB962C8B-B14F-4D97-AF65-F5344CB8AC3E}">
        <p14:creationId xmlns:p14="http://schemas.microsoft.com/office/powerpoint/2010/main" val="32813612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A5: Individual exit check</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Answer independently. Give a reason as well as a number.</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A5</a:t>
            </a:r>
          </a:p>
        </p:txBody>
      </p:sp>
      <p:sp>
        <p:nvSpPr>
          <p:cNvPr id="9" name="Revised-text-136">
            <a:extLst>
              <a:ext uri="{FF2B5EF4-FFF2-40B4-BE49-F238E27FC236}">
                <a16:creationId xmlns:a16="http://schemas.microsoft.com/office/drawing/2014/main" id="{86E06D13-748E-4280-A186-718E5EA1BD0C}"/>
              </a:ext>
            </a:extLst>
          </p:cNvPr>
          <p:cNvSpPr>
            <a:spLocks noGrp="1"/>
          </p:cNvSpPr>
          <p:nvPr/>
        </p:nvSpPr>
        <p:spPr>
          <a:xfrm>
            <a:off x="619125" y="2762250"/>
            <a:ext cx="10858500" cy="9525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A5.1  We ask all 31 students in one class about that class.</a:t>
            </a:r>
          </a:p>
          <a:p>
            <a:pPr algn="l">
              <a:buNone/>
              <a:defRPr sz="2325" b="0">
                <a:solidFill>
                  <a:srgbClr val="111111"/>
                </a:solidFill>
                <a:latin typeface="Aptos"/>
                <a:ea typeface="Aptos"/>
                <a:cs typeface="Aptos"/>
              </a:defRPr>
            </a:pPr>
            <a:r>
              <a:rPr sz="2325" b="0">
                <a:solidFill>
                  <a:srgbClr val="111111"/>
                </a:solidFill>
                <a:latin typeface="Aptos"/>
                <a:ea typeface="Aptos"/>
                <a:cs typeface="Aptos"/>
              </a:rPr>
              <a:t>           Is this a census? What if our target is the whole college?</a:t>
            </a:r>
          </a:p>
        </p:txBody>
      </p:sp>
      <p:sp>
        <p:nvSpPr>
          <p:cNvPr id="10" name="Revised-text-137">
            <a:extLst>
              <a:ext uri="{FF2B5EF4-FFF2-40B4-BE49-F238E27FC236}">
                <a16:creationId xmlns:a16="http://schemas.microsoft.com/office/drawing/2014/main" id="{67766B91-4322-4E22-9BC4-8922D49CDF51}"/>
              </a:ext>
            </a:extLst>
          </p:cNvPr>
          <p:cNvSpPr>
            <a:spLocks noGrp="1"/>
          </p:cNvSpPr>
          <p:nvPr/>
        </p:nvSpPr>
        <p:spPr>
          <a:xfrm>
            <a:off x="619125" y="3800475"/>
            <a:ext cx="10858500" cy="9525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A5.2  A survey codes transport: 1 = bus, 2 = bike, 3 = walk.</a:t>
            </a:r>
          </a:p>
          <a:p>
            <a:pPr algn="l">
              <a:buNone/>
              <a:defRPr sz="2325" b="0">
                <a:solidFill>
                  <a:srgbClr val="111111"/>
                </a:solidFill>
                <a:latin typeface="Aptos"/>
                <a:ea typeface="Aptos"/>
                <a:cs typeface="Aptos"/>
              </a:defRPr>
            </a:pPr>
            <a:r>
              <a:rPr sz="2325" b="0">
                <a:solidFill>
                  <a:srgbClr val="111111"/>
                </a:solidFill>
                <a:latin typeface="Aptos"/>
                <a:ea typeface="Aptos"/>
                <a:cs typeface="Aptos"/>
              </a:rPr>
              <a:t>           What type of variable is this? Explain.</a:t>
            </a:r>
          </a:p>
        </p:txBody>
      </p:sp>
      <p:sp>
        <p:nvSpPr>
          <p:cNvPr id="11" name="Revised-text-138">
            <a:extLst>
              <a:ext uri="{FF2B5EF4-FFF2-40B4-BE49-F238E27FC236}">
                <a16:creationId xmlns:a16="http://schemas.microsoft.com/office/drawing/2014/main" id="{1F6FC9F4-DB2C-4C22-82CE-7A63B3C67F0C}"/>
              </a:ext>
            </a:extLst>
          </p:cNvPr>
          <p:cNvSpPr>
            <a:spLocks noGrp="1"/>
          </p:cNvSpPr>
          <p:nvPr/>
        </p:nvSpPr>
        <p:spPr>
          <a:xfrm>
            <a:off x="619125" y="4838700"/>
            <a:ext cx="10858500" cy="9525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A5.3  Select 87 people from 2,523 systematically.</a:t>
            </a:r>
          </a:p>
          <a:p>
            <a:pPr algn="l">
              <a:buNone/>
              <a:defRPr sz="2325" b="0">
                <a:solidFill>
                  <a:srgbClr val="111111"/>
                </a:solidFill>
                <a:latin typeface="Aptos"/>
                <a:ea typeface="Aptos"/>
                <a:cs typeface="Aptos"/>
              </a:defRPr>
            </a:pPr>
            <a:r>
              <a:rPr sz="2325" b="0">
                <a:solidFill>
                  <a:srgbClr val="111111"/>
                </a:solidFill>
                <a:latin typeface="Aptos"/>
                <a:ea typeface="Aptos"/>
                <a:cs typeface="Aptos"/>
              </a:rPr>
              <a:t>           Find k, the valid random starts and the first four IDs</a:t>
            </a:r>
          </a:p>
          <a:p>
            <a:pPr algn="l">
              <a:buNone/>
              <a:defRPr sz="2325" b="0">
                <a:solidFill>
                  <a:srgbClr val="111111"/>
                </a:solidFill>
                <a:latin typeface="Aptos"/>
                <a:ea typeface="Aptos"/>
                <a:cs typeface="Aptos"/>
              </a:defRPr>
            </a:pPr>
            <a:r>
              <a:rPr sz="2325" b="0">
                <a:solidFill>
                  <a:srgbClr val="111111"/>
                </a:solidFill>
                <a:latin typeface="Aptos"/>
                <a:ea typeface="Aptos"/>
                <a:cs typeface="Aptos"/>
              </a:rPr>
              <a:t>           if the random start is 17.</a:t>
            </a:r>
          </a:p>
        </p:txBody>
      </p:sp>
    </p:spTree>
    <p:extLst>
      <p:ext uri="{BB962C8B-B14F-4D97-AF65-F5344CB8AC3E}">
        <p14:creationId xmlns:p14="http://schemas.microsoft.com/office/powerpoint/2010/main" val="32813612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A5: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 group, the variable and the process each matter.</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EXERCISE A5</a:t>
            </a:r>
          </a:p>
        </p:txBody>
      </p:sp>
      <p:sp>
        <p:nvSpPr>
          <p:cNvPr id="9" name="Revised-text-139">
            <a:extLst>
              <a:ext uri="{FF2B5EF4-FFF2-40B4-BE49-F238E27FC236}">
                <a16:creationId xmlns:a16="http://schemas.microsoft.com/office/drawing/2014/main" id="{48AFC7C4-FE99-4A05-A0C0-3F455A6FBA6B}"/>
              </a:ext>
            </a:extLst>
          </p:cNvPr>
          <p:cNvSpPr>
            <a:spLocks noGrp="1"/>
          </p:cNvSpPr>
          <p:nvPr/>
        </p:nvSpPr>
        <p:spPr>
          <a:xfrm>
            <a:off x="619125" y="2867025"/>
            <a:ext cx="10858500" cy="942975"/>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A5.1  For this class: census. For the college: a sample.</a:t>
            </a:r>
          </a:p>
          <a:p>
            <a:pPr algn="l">
              <a:buNone/>
              <a:defRPr sz="2400" b="0">
                <a:solidFill>
                  <a:srgbClr val="111111"/>
                </a:solidFill>
                <a:latin typeface="Aptos"/>
                <a:ea typeface="Aptos"/>
                <a:cs typeface="Aptos"/>
              </a:defRPr>
            </a:pPr>
            <a:r>
              <a:rPr sz="2400" b="0">
                <a:solidFill>
                  <a:srgbClr val="111111"/>
                </a:solidFill>
                <a:latin typeface="Aptos"/>
                <a:ea typeface="Aptos"/>
                <a:cs typeface="Aptos"/>
              </a:rPr>
              <a:t>           The research question defines the population.</a:t>
            </a:r>
          </a:p>
        </p:txBody>
      </p:sp>
      <p:sp>
        <p:nvSpPr>
          <p:cNvPr id="10" name="Revised-text-140">
            <a:extLst>
              <a:ext uri="{FF2B5EF4-FFF2-40B4-BE49-F238E27FC236}">
                <a16:creationId xmlns:a16="http://schemas.microsoft.com/office/drawing/2014/main" id="{DA0C8F13-210A-40F1-B4A4-4880DB0EBE5D}"/>
              </a:ext>
            </a:extLst>
          </p:cNvPr>
          <p:cNvSpPr>
            <a:spLocks noGrp="1"/>
          </p:cNvSpPr>
          <p:nvPr/>
        </p:nvSpPr>
        <p:spPr>
          <a:xfrm>
            <a:off x="619125" y="3895725"/>
            <a:ext cx="10858500" cy="942975"/>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A5.2  Categorical. The numbers are labels for transport types.</a:t>
            </a:r>
          </a:p>
        </p:txBody>
      </p:sp>
      <p:sp>
        <p:nvSpPr>
          <p:cNvPr id="11" name="Revised-text-141">
            <a:extLst>
              <a:ext uri="{FF2B5EF4-FFF2-40B4-BE49-F238E27FC236}">
                <a16:creationId xmlns:a16="http://schemas.microsoft.com/office/drawing/2014/main" id="{05AA1C23-17DF-4591-BDF5-A44B9D8EC184}"/>
              </a:ext>
            </a:extLst>
          </p:cNvPr>
          <p:cNvSpPr>
            <a:spLocks noGrp="1"/>
          </p:cNvSpPr>
          <p:nvPr/>
        </p:nvSpPr>
        <p:spPr>
          <a:xfrm>
            <a:off x="619125" y="4924425"/>
            <a:ext cx="10858500" cy="942975"/>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A5.3  k = 2,523 ÷ 87 = 29. Random starts: 1–29.</a:t>
            </a:r>
          </a:p>
          <a:p>
            <a:pPr algn="l">
              <a:buNone/>
              <a:defRPr sz="2400" b="0">
                <a:solidFill>
                  <a:srgbClr val="111111"/>
                </a:solidFill>
                <a:latin typeface="Aptos"/>
                <a:ea typeface="Aptos"/>
                <a:cs typeface="Aptos"/>
              </a:defRPr>
            </a:pPr>
            <a:r>
              <a:rPr sz="2400" b="0">
                <a:solidFill>
                  <a:srgbClr val="111111"/>
                </a:solidFill>
                <a:latin typeface="Aptos"/>
                <a:ea typeface="Aptos"/>
                <a:cs typeface="Aptos"/>
              </a:rPr>
              <a:t>           Start 17 gives 17, 46, 75, 104.</a:t>
            </a:r>
          </a:p>
        </p:txBody>
      </p:sp>
    </p:spTree>
    <p:extLst>
      <p:ext uri="{BB962C8B-B14F-4D97-AF65-F5344CB8AC3E}">
        <p14:creationId xmlns:p14="http://schemas.microsoft.com/office/powerpoint/2010/main" val="32813612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What we can do now</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904875"/>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Identify the group. Classify the data. Explain the selection.</a:t>
            </a:r>
          </a:p>
        </p:txBody>
      </p:sp>
      <p:sp>
        <p:nvSpPr>
          <p:cNvPr id="4" name="S48-text-1">
            <a:extLst>
              <a:ext uri="{FF2B5EF4-FFF2-40B4-BE49-F238E27FC236}">
                <a16:creationId xmlns:a16="http://schemas.microsoft.com/office/drawing/2014/main" id="{EFD45D24-4F0E-4FA5-9852-FC2092871BD6}"/>
              </a:ext>
            </a:extLst>
          </p:cNvPr>
          <p:cNvSpPr>
            <a:spLocks noGrp="1"/>
          </p:cNvSpPr>
          <p:nvPr/>
        </p:nvSpPr>
        <p:spPr>
          <a:xfrm>
            <a:off x="619125" y="3162300"/>
            <a:ext cx="10906125" cy="16668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Population and sample</a:t>
            </a:r>
            <a:r>
              <a:rPr sz="2325" b="0">
                <a:solidFill>
                  <a:srgbClr val="111111"/>
                </a:solidFill>
                <a:latin typeface="Aptos"/>
                <a:ea typeface="Aptos"/>
                <a:cs typeface="Aptos"/>
              </a:rPr>
              <a:t> — groups of people or items.</a:t>
            </a:r>
          </a:p>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Parameter and statistic</a:t>
            </a:r>
            <a:r>
              <a:rPr sz="2325" b="0">
                <a:solidFill>
                  <a:srgbClr val="111111"/>
                </a:solidFill>
                <a:latin typeface="Aptos"/>
                <a:ea typeface="Aptos"/>
                <a:cs typeface="Aptos"/>
              </a:rPr>
              <a:t> — numbers describing those groups.</a:t>
            </a:r>
          </a:p>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Simple random and systematic</a:t>
            </a:r>
            <a:r>
              <a:rPr sz="2325" b="0">
                <a:solidFill>
                  <a:srgbClr val="111111"/>
                </a:solidFill>
                <a:latin typeface="Aptos"/>
                <a:ea typeface="Aptos"/>
                <a:cs typeface="Aptos"/>
              </a:rPr>
              <a:t> — two ways to select a sample.</a:t>
            </a:r>
          </a:p>
        </p:txBody>
      </p:sp>
      <p:sp>
        <p:nvSpPr>
          <p:cNvPr id="5" name="S48-text-2">
            <a:extLst>
              <a:ext uri="{FF2B5EF4-FFF2-40B4-BE49-F238E27FC236}">
                <a16:creationId xmlns:a16="http://schemas.microsoft.com/office/drawing/2014/main" id="{EF3E0BC2-097C-4895-9435-C2296249E992}"/>
              </a:ext>
            </a:extLst>
          </p:cNvPr>
          <p:cNvSpPr>
            <a:spLocks noGrp="1"/>
          </p:cNvSpPr>
          <p:nvPr/>
        </p:nvSpPr>
        <p:spPr>
          <a:xfrm>
            <a:off x="619125" y="5334000"/>
            <a:ext cx="10906125" cy="9048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Next: how can we make sure both business and</a:t>
            </a:r>
          </a:p>
          <a:p>
            <a:pPr marL="0" indent="0" algn="l">
              <a:lnSpc>
                <a:spcPct val="106000"/>
              </a:lnSpc>
              <a:spcBef>
                <a:spcPts val="0"/>
              </a:spcBef>
              <a:spcAft>
                <a:spcPts val="0"/>
              </a:spcAft>
              <a:buNone/>
              <a:defRPr sz="2325">
                <a:solidFill>
                  <a:srgbClr val="111111"/>
                </a:solidFill>
                <a:latin typeface="Aptos"/>
                <a:ea typeface="Aptos"/>
                <a:cs typeface="Aptos"/>
              </a:defRPr>
            </a:pPr>
            <a:r>
              <a:rPr sz="2325" b="1">
                <a:solidFill>
                  <a:srgbClr val="111111"/>
                </a:solidFill>
                <a:latin typeface="Aptos"/>
                <a:ea typeface="Aptos"/>
                <a:cs typeface="Aptos"/>
              </a:rPr>
              <a:t>engineering students are included?</a:t>
            </a:r>
          </a:p>
        </p:txBody>
      </p:sp>
    </p:spTree>
    <p:extLst>
      <p:ext uri="{BB962C8B-B14F-4D97-AF65-F5344CB8AC3E}">
        <p14:creationId xmlns:p14="http://schemas.microsoft.com/office/powerpoint/2010/main" val="32813612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Extension: Equal chances for whom?</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Six people: A, B, C, D, E and F. Select two.</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OPTIONAL EXTENSION</a:t>
            </a:r>
          </a:p>
        </p:txBody>
      </p:sp>
      <p:sp>
        <p:nvSpPr>
          <p:cNvPr id="9" name="Revised-text-142">
            <a:extLst>
              <a:ext uri="{FF2B5EF4-FFF2-40B4-BE49-F238E27FC236}">
                <a16:creationId xmlns:a16="http://schemas.microsoft.com/office/drawing/2014/main" id="{C782B097-CF32-46C7-9939-263340B66A79}"/>
              </a:ext>
            </a:extLst>
          </p:cNvPr>
          <p:cNvSpPr>
            <a:spLocks noGrp="1"/>
          </p:cNvSpPr>
          <p:nvPr/>
        </p:nvSpPr>
        <p:spPr>
          <a:xfrm>
            <a:off x="619125" y="2895600"/>
            <a:ext cx="10763250" cy="1019175"/>
          </a:xfrm>
          <a:prstGeom prst="rect">
            <a:avLst/>
          </a:prstGeom>
          <a:noFill/>
          <a:ln w="0">
            <a:noFill/>
          </a:ln>
        </p:spPr>
        <p:txBody>
          <a:bodyPr wrap="square" lIns="0" tIns="0" rIns="0" bIns="0" anchor="t">
            <a:noAutofit/>
          </a:bodyPr>
          <a:lstStyle/>
          <a:p>
            <a:pPr algn="l">
              <a:buNone/>
              <a:defRPr sz="2625" b="1">
                <a:solidFill>
                  <a:srgbClr val="111111"/>
                </a:solidFill>
                <a:latin typeface="Aptos"/>
                <a:ea typeface="Aptos"/>
                <a:cs typeface="Aptos"/>
              </a:defRPr>
            </a:pPr>
            <a:r>
              <a:rPr sz="2625" b="1">
                <a:solidFill>
                  <a:srgbClr val="111111"/>
                </a:solidFill>
                <a:latin typeface="Aptos"/>
                <a:ea typeface="Aptos"/>
                <a:cs typeface="Aptos"/>
              </a:rPr>
              <a:t>A computer selects one of these pairs: AB, CD or EF.</a:t>
            </a:r>
          </a:p>
          <a:p>
            <a:pPr algn="l">
              <a:buNone/>
              <a:defRPr sz="2625" b="1">
                <a:solidFill>
                  <a:srgbClr val="111111"/>
                </a:solidFill>
                <a:latin typeface="Aptos"/>
                <a:ea typeface="Aptos"/>
                <a:cs typeface="Aptos"/>
              </a:defRPr>
            </a:pPr>
            <a:r>
              <a:rPr sz="2625" b="1">
                <a:solidFill>
                  <a:srgbClr val="111111"/>
                </a:solidFill>
                <a:latin typeface="Aptos"/>
                <a:ea typeface="Aptos"/>
                <a:cs typeface="Aptos"/>
              </a:rPr>
              <a:t>Each of the three pairs has an equal chance.</a:t>
            </a:r>
          </a:p>
        </p:txBody>
      </p:sp>
      <p:sp>
        <p:nvSpPr>
          <p:cNvPr id="10" name="Revised-text-143">
            <a:extLst>
              <a:ext uri="{FF2B5EF4-FFF2-40B4-BE49-F238E27FC236}">
                <a16:creationId xmlns:a16="http://schemas.microsoft.com/office/drawing/2014/main" id="{E5630716-2751-4F65-8420-E2EA8BCF1A96}"/>
              </a:ext>
            </a:extLst>
          </p:cNvPr>
          <p:cNvSpPr>
            <a:spLocks noGrp="1"/>
          </p:cNvSpPr>
          <p:nvPr/>
        </p:nvSpPr>
        <p:spPr>
          <a:xfrm>
            <a:off x="619125" y="4438650"/>
            <a:ext cx="10858500" cy="5334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X1  What is each person’s chance of selection?</a:t>
            </a:r>
          </a:p>
        </p:txBody>
      </p:sp>
      <p:sp>
        <p:nvSpPr>
          <p:cNvPr id="11" name="Revised-text-144">
            <a:extLst>
              <a:ext uri="{FF2B5EF4-FFF2-40B4-BE49-F238E27FC236}">
                <a16:creationId xmlns:a16="http://schemas.microsoft.com/office/drawing/2014/main" id="{4159A704-196D-46E0-9FDC-4948889BF7F6}"/>
              </a:ext>
            </a:extLst>
          </p:cNvPr>
          <p:cNvSpPr>
            <a:spLocks noGrp="1"/>
          </p:cNvSpPr>
          <p:nvPr/>
        </p:nvSpPr>
        <p:spPr>
          <a:xfrm>
            <a:off x="619125" y="5057775"/>
            <a:ext cx="10858500" cy="5334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X2  How many pairs could a simple random sample select?</a:t>
            </a:r>
          </a:p>
        </p:txBody>
      </p:sp>
      <p:sp>
        <p:nvSpPr>
          <p:cNvPr id="12" name="Revised-text-145">
            <a:extLst>
              <a:ext uri="{FF2B5EF4-FFF2-40B4-BE49-F238E27FC236}">
                <a16:creationId xmlns:a16="http://schemas.microsoft.com/office/drawing/2014/main" id="{14F535F5-F625-4557-816F-26523A7A9585}"/>
              </a:ext>
            </a:extLst>
          </p:cNvPr>
          <p:cNvSpPr>
            <a:spLocks noGrp="1"/>
          </p:cNvSpPr>
          <p:nvPr/>
        </p:nvSpPr>
        <p:spPr>
          <a:xfrm>
            <a:off x="619125" y="5676900"/>
            <a:ext cx="10858500" cy="5334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X3  Is this process a simple random sample of two? Explain.</a:t>
            </a:r>
          </a:p>
        </p:txBody>
      </p:sp>
    </p:spTree>
    <p:extLst>
      <p:ext uri="{BB962C8B-B14F-4D97-AF65-F5344CB8AC3E}">
        <p14:creationId xmlns:p14="http://schemas.microsoft.com/office/powerpoint/2010/main" val="32813612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Extension: The possible samples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Equal individual chances alone do not establish simple random sampling.</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OPTIONAL EXTENSION</a:t>
            </a:r>
          </a:p>
        </p:txBody>
      </p:sp>
      <p:sp>
        <p:nvSpPr>
          <p:cNvPr id="9" name="Revised-text-146">
            <a:extLst>
              <a:ext uri="{FF2B5EF4-FFF2-40B4-BE49-F238E27FC236}">
                <a16:creationId xmlns:a16="http://schemas.microsoft.com/office/drawing/2014/main" id="{533F37E7-B6B5-40DB-94FD-FD351BC6B36E}"/>
              </a:ext>
            </a:extLst>
          </p:cNvPr>
          <p:cNvSpPr>
            <a:spLocks noGrp="1"/>
          </p:cNvSpPr>
          <p:nvPr/>
        </p:nvSpPr>
        <p:spPr>
          <a:xfrm>
            <a:off x="619125" y="2857500"/>
            <a:ext cx="10810875" cy="714375"/>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X1  Each person is in one of the three pairs: chance 1/3.</a:t>
            </a:r>
          </a:p>
        </p:txBody>
      </p:sp>
      <p:sp>
        <p:nvSpPr>
          <p:cNvPr id="10" name="Revised-text-147">
            <a:extLst>
              <a:ext uri="{FF2B5EF4-FFF2-40B4-BE49-F238E27FC236}">
                <a16:creationId xmlns:a16="http://schemas.microsoft.com/office/drawing/2014/main" id="{8F7D6D43-549F-4100-92C7-92EC6B03CA59}"/>
              </a:ext>
            </a:extLst>
          </p:cNvPr>
          <p:cNvSpPr>
            <a:spLocks noGrp="1"/>
          </p:cNvSpPr>
          <p:nvPr/>
        </p:nvSpPr>
        <p:spPr>
          <a:xfrm>
            <a:off x="619125" y="3838575"/>
            <a:ext cx="10810875" cy="571500"/>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X2  There are 15 possible pairs in a simple random sample.</a:t>
            </a:r>
          </a:p>
        </p:txBody>
      </p:sp>
      <p:sp>
        <p:nvSpPr>
          <p:cNvPr id="11" name="Revised-text-148">
            <a:extLst>
              <a:ext uri="{FF2B5EF4-FFF2-40B4-BE49-F238E27FC236}">
                <a16:creationId xmlns:a16="http://schemas.microsoft.com/office/drawing/2014/main" id="{D8030195-2593-4E77-AC0D-24B539D033F9}"/>
              </a:ext>
            </a:extLst>
          </p:cNvPr>
          <p:cNvSpPr>
            <a:spLocks noGrp="1"/>
          </p:cNvSpPr>
          <p:nvPr/>
        </p:nvSpPr>
        <p:spPr>
          <a:xfrm>
            <a:off x="619125" y="4667250"/>
            <a:ext cx="10810875" cy="971550"/>
          </a:xfrm>
          <a:prstGeom prst="rect">
            <a:avLst/>
          </a:prstGeom>
          <a:noFill/>
          <a:ln w="0">
            <a:noFill/>
          </a:ln>
        </p:spPr>
        <p:txBody>
          <a:bodyPr wrap="square" lIns="0" tIns="0" rIns="0" bIns="0" anchor="t">
            <a:noAutofit/>
          </a:bodyPr>
          <a:lstStyle/>
          <a:p>
            <a:pPr algn="l">
              <a:buNone/>
              <a:defRPr sz="2550" b="1">
                <a:solidFill>
                  <a:srgbClr val="111111"/>
                </a:solidFill>
                <a:latin typeface="Aptos"/>
                <a:ea typeface="Aptos"/>
                <a:cs typeface="Aptos"/>
              </a:defRPr>
            </a:pPr>
            <a:r>
              <a:rPr sz="2550" b="1">
                <a:solidFill>
                  <a:srgbClr val="111111"/>
                </a:solidFill>
                <a:latin typeface="Aptos"/>
                <a:ea typeface="Aptos"/>
                <a:cs typeface="Aptos"/>
              </a:rPr>
              <a:t>X3  This process allows only AB, CD and EF.</a:t>
            </a:r>
          </a:p>
          <a:p>
            <a:pPr algn="l">
              <a:buNone/>
              <a:defRPr sz="2550" b="1">
                <a:solidFill>
                  <a:srgbClr val="111111"/>
                </a:solidFill>
                <a:latin typeface="Aptos"/>
                <a:ea typeface="Aptos"/>
                <a:cs typeface="Aptos"/>
              </a:defRPr>
            </a:pPr>
            <a:r>
              <a:rPr sz="2550" b="1">
                <a:solidFill>
                  <a:srgbClr val="111111"/>
                </a:solidFill>
                <a:latin typeface="Aptos"/>
                <a:ea typeface="Aptos"/>
                <a:cs typeface="Aptos"/>
              </a:rPr>
              <a:t>       Pairs such as AC and BD have no chance.</a:t>
            </a:r>
          </a:p>
        </p:txBody>
      </p:sp>
      <p:sp>
        <p:nvSpPr>
          <p:cNvPr id="12" name="Revised-text-149">
            <a:extLst>
              <a:ext uri="{FF2B5EF4-FFF2-40B4-BE49-F238E27FC236}">
                <a16:creationId xmlns:a16="http://schemas.microsoft.com/office/drawing/2014/main" id="{348FF582-739A-45B8-A58A-D5A453EAF20E}"/>
              </a:ext>
            </a:extLst>
          </p:cNvPr>
          <p:cNvSpPr>
            <a:spLocks noGrp="1"/>
          </p:cNvSpPr>
          <p:nvPr/>
        </p:nvSpPr>
        <p:spPr>
          <a:xfrm>
            <a:off x="619125" y="5981700"/>
            <a:ext cx="10953750" cy="342900"/>
          </a:xfrm>
          <a:prstGeom prst="rect">
            <a:avLst/>
          </a:prstGeom>
          <a:noFill/>
          <a:ln w="0">
            <a:noFill/>
          </a:ln>
        </p:spPr>
        <p:txBody>
          <a:bodyPr wrap="square" lIns="0" tIns="0" rIns="0" bIns="0" anchor="t">
            <a:noAutofit/>
          </a:bodyPr>
          <a:lstStyle/>
          <a:p>
            <a:pPr algn="l">
              <a:buNone/>
              <a:defRPr sz="2100" b="0">
                <a:solidFill>
                  <a:srgbClr val="111111"/>
                </a:solidFill>
                <a:latin typeface="Aptos"/>
                <a:ea typeface="Aptos"/>
                <a:cs typeface="Aptos"/>
              </a:defRPr>
            </a:pPr>
            <a:r>
              <a:rPr sz="2100" b="0">
                <a:solidFill>
                  <a:srgbClr val="111111"/>
                </a:solidFill>
                <a:latin typeface="Aptos"/>
                <a:ea typeface="Aptos"/>
                <a:cs typeface="Aptos"/>
              </a:rPr>
              <a:t>Simple random sampling gives every possible pair the same chance.</a:t>
            </a:r>
          </a:p>
        </p:txBody>
      </p:sp>
    </p:spTree>
    <p:extLst>
      <p:ext uri="{BB962C8B-B14F-4D97-AF65-F5344CB8AC3E}">
        <p14:creationId xmlns:p14="http://schemas.microsoft.com/office/powerpoint/2010/main" val="32813612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91440" tIns="45720" rIns="91440" bIns="45720" anchor="ctr">
            <a:noAutofit/>
          </a:bodyPr>
          <a:lstStyle/>
          <a:p>
            <a:pPr algn="l">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Teacher notes: the 90-minute route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6675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End the core lesson at the summary. The extension is optional.</a:t>
            </a:r>
          </a:p>
        </p:txBody>
      </p:sp>
      <p:sp>
        <p:nvSpPr>
          <p:cNvPr id="8" name="Handout task badge 15">
            <a:extLst>
              <a:ext uri="{FF2B5EF4-FFF2-40B4-BE49-F238E27FC236}">
                <a16:creationId xmlns:a16="http://schemas.microsoft.com/office/drawing/2014/main" id="{3F8EB997-D003-4168-930B-4CF76BF8C5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TEACHER RESOURCE</a:t>
            </a:r>
          </a:p>
        </p:txBody>
      </p:sp>
      <p:graphicFrame>
        <p:nvGraphicFramePr>
          <p:cNvPr id="13" name="Table 12"/>
          <p:cNvGraphicFramePr/>
          <p:nvPr/>
        </p:nvGraphicFramePr>
        <p:xfrm>
          <a:off x="571500" y="2686050"/>
          <a:ext cx="11049000" cy="3476625"/>
        </p:xfrm>
        <a:graphic>
          <a:graphicData uri="http://schemas.openxmlformats.org/drawingml/2006/table">
            <a:tbl>
              <a:tblPr/>
              <a:tblGrid>
                <a:gridCol w="366712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6048375">
                  <a:extLst>
                    <a:ext uri="{9D8B030D-6E8A-4147-A177-3AD203B41FA5}">
                      <a16:colId xmlns:a16="http://schemas.microsoft.com/office/drawing/2014/main" val="20002"/>
                    </a:ext>
                  </a:extLst>
                </a:gridCol>
              </a:tblGrid>
              <a:tr h="434578">
                <a:tc>
                  <a:txBody>
                    <a:bodyPr/>
                    <a:lstStyle/>
                    <a:p>
                      <a:r>
                        <a:rPr sz="1950" b="1">
                          <a:solidFill>
                            <a:srgbClr val="FFFFFF"/>
                          </a:solidFill>
                          <a:latin typeface="Aptos"/>
                          <a:ea typeface="Aptos"/>
                          <a:cs typeface="Aptos"/>
                        </a:rPr>
                        <a:t>Block</a:t>
                      </a:r>
                    </a:p>
                  </a:txBody>
                  <a:tcPr marL="95250" marR="95250" marT="28575" marB="28575" anchor="ctr">
                    <a:solidFill>
                      <a:srgbClr val="D6171D"/>
                    </a:solidFill>
                  </a:tcPr>
                </a:tc>
                <a:tc>
                  <a:txBody>
                    <a:bodyPr/>
                    <a:lstStyle/>
                    <a:p>
                      <a:r>
                        <a:rPr sz="1950" b="1">
                          <a:solidFill>
                            <a:srgbClr val="FFFFFF"/>
                          </a:solidFill>
                          <a:latin typeface="Aptos"/>
                          <a:ea typeface="Aptos"/>
                          <a:cs typeface="Aptos"/>
                        </a:rPr>
                        <a:t>Minutes</a:t>
                      </a:r>
                    </a:p>
                  </a:txBody>
                  <a:tcPr marL="95250" marR="95250" marT="28575" marB="28575" anchor="ctr">
                    <a:solidFill>
                      <a:srgbClr val="D6171D"/>
                    </a:solidFill>
                  </a:tcPr>
                </a:tc>
                <a:tc>
                  <a:txBody>
                    <a:bodyPr/>
                    <a:lstStyle/>
                    <a:p>
                      <a:r>
                        <a:rPr sz="1950" b="1">
                          <a:solidFill>
                            <a:srgbClr val="FFFFFF"/>
                          </a:solidFill>
                          <a:latin typeface="Aptos"/>
                          <a:ea typeface="Aptos"/>
                          <a:cs typeface="Aptos"/>
                        </a:rPr>
                        <a:t>Main student work</a:t>
                      </a:r>
                    </a:p>
                  </a:txBody>
                  <a:tcPr marL="95250" marR="95250" marT="28575" marB="28575" anchor="ctr">
                    <a:solidFill>
                      <a:srgbClr val="D6171D"/>
                    </a:solidFill>
                  </a:tcPr>
                </a:tc>
                <a:extLst>
                  <a:ext uri="{0D108BD9-81ED-4DB2-BD59-A6C34878D82A}">
                    <a16:rowId xmlns:a16="http://schemas.microsoft.com/office/drawing/2014/main" val="10000"/>
                  </a:ext>
                </a:extLst>
              </a:tr>
              <a:tr h="434578">
                <a:tc>
                  <a:txBody>
                    <a:bodyPr/>
                    <a:lstStyle/>
                    <a:p>
                      <a:r>
                        <a:rPr sz="1950" b="0">
                          <a:solidFill>
                            <a:srgbClr val="111111"/>
                          </a:solidFill>
                          <a:latin typeface="Aptos"/>
                          <a:ea typeface="Aptos"/>
                          <a:cs typeface="Aptos"/>
                        </a:rPr>
                        <a:t>Revision</a:t>
                      </a:r>
                    </a:p>
                  </a:txBody>
                  <a:tcPr marL="95250" marR="95250" marT="28575" marB="28575" anchor="ctr">
                    <a:solidFill>
                      <a:srgbClr val="FFFFFF"/>
                    </a:solidFill>
                  </a:tcPr>
                </a:tc>
                <a:tc>
                  <a:txBody>
                    <a:bodyPr/>
                    <a:lstStyle/>
                    <a:p>
                      <a:r>
                        <a:rPr sz="1950" b="0">
                          <a:solidFill>
                            <a:srgbClr val="111111"/>
                          </a:solidFill>
                          <a:latin typeface="Aptos"/>
                          <a:ea typeface="Aptos"/>
                          <a:cs typeface="Aptos"/>
                        </a:rPr>
                        <a:t>5</a:t>
                      </a:r>
                    </a:p>
                  </a:txBody>
                  <a:tcPr marL="95250" marR="95250" marT="28575" marB="28575" anchor="ctr">
                    <a:solidFill>
                      <a:srgbClr val="FFFFFF"/>
                    </a:solidFill>
                  </a:tcPr>
                </a:tc>
                <a:tc>
                  <a:txBody>
                    <a:bodyPr/>
                    <a:lstStyle/>
                    <a:p>
                      <a:r>
                        <a:rPr sz="1950" b="0">
                          <a:solidFill>
                            <a:srgbClr val="111111"/>
                          </a:solidFill>
                          <a:latin typeface="Aptos"/>
                          <a:ea typeface="Aptos"/>
                          <a:cs typeface="Aptos"/>
                        </a:rPr>
                        <a:t>Calculations and pair counting</a:t>
                      </a:r>
                    </a:p>
                  </a:txBody>
                  <a:tcPr marL="95250" marR="95250" marT="28575" marB="28575" anchor="ctr">
                    <a:solidFill>
                      <a:srgbClr val="FFFFFF"/>
                    </a:solidFill>
                  </a:tcPr>
                </a:tc>
                <a:extLst>
                  <a:ext uri="{0D108BD9-81ED-4DB2-BD59-A6C34878D82A}">
                    <a16:rowId xmlns:a16="http://schemas.microsoft.com/office/drawing/2014/main" val="10001"/>
                  </a:ext>
                </a:extLst>
              </a:tr>
              <a:tr h="434578">
                <a:tc>
                  <a:txBody>
                    <a:bodyPr/>
                    <a:lstStyle/>
                    <a:p>
                      <a:r>
                        <a:rPr sz="1950" b="0">
                          <a:solidFill>
                            <a:srgbClr val="111111"/>
                          </a:solidFill>
                          <a:latin typeface="Aptos"/>
                          <a:ea typeface="Aptos"/>
                          <a:cs typeface="Aptos"/>
                        </a:rPr>
                        <a:t>Population and sample</a:t>
                      </a:r>
                    </a:p>
                  </a:txBody>
                  <a:tcPr marL="95250" marR="95250" marT="28575" marB="28575" anchor="ctr">
                    <a:solidFill>
                      <a:srgbClr val="EEF7FC"/>
                    </a:solidFill>
                  </a:tcPr>
                </a:tc>
                <a:tc>
                  <a:txBody>
                    <a:bodyPr/>
                    <a:lstStyle/>
                    <a:p>
                      <a:r>
                        <a:rPr sz="1950" b="0">
                          <a:solidFill>
                            <a:srgbClr val="111111"/>
                          </a:solidFill>
                          <a:latin typeface="Aptos"/>
                          <a:ea typeface="Aptos"/>
                          <a:cs typeface="Aptos"/>
                        </a:rPr>
                        <a:t>18</a:t>
                      </a:r>
                    </a:p>
                  </a:txBody>
                  <a:tcPr marL="95250" marR="95250" marT="28575" marB="28575" anchor="ctr">
                    <a:solidFill>
                      <a:srgbClr val="EEF7FC"/>
                    </a:solidFill>
                  </a:tcPr>
                </a:tc>
                <a:tc>
                  <a:txBody>
                    <a:bodyPr/>
                    <a:lstStyle/>
                    <a:p>
                      <a:r>
                        <a:rPr sz="1950" b="0">
                          <a:solidFill>
                            <a:srgbClr val="111111"/>
                          </a:solidFill>
                          <a:latin typeface="Aptos"/>
                          <a:ea typeface="Aptos"/>
                          <a:cs typeface="Aptos"/>
                        </a:rPr>
                        <a:t>A1: classification and limits of what we know</a:t>
                      </a:r>
                    </a:p>
                  </a:txBody>
                  <a:tcPr marL="95250" marR="95250" marT="28575" marB="28575" anchor="ctr">
                    <a:solidFill>
                      <a:srgbClr val="EEF7FC"/>
                    </a:solidFill>
                  </a:tcPr>
                </a:tc>
                <a:extLst>
                  <a:ext uri="{0D108BD9-81ED-4DB2-BD59-A6C34878D82A}">
                    <a16:rowId xmlns:a16="http://schemas.microsoft.com/office/drawing/2014/main" val="10002"/>
                  </a:ext>
                </a:extLst>
              </a:tr>
              <a:tr h="434578">
                <a:tc>
                  <a:txBody>
                    <a:bodyPr/>
                    <a:lstStyle/>
                    <a:p>
                      <a:r>
                        <a:rPr sz="1950" b="0">
                          <a:solidFill>
                            <a:srgbClr val="111111"/>
                          </a:solidFill>
                          <a:latin typeface="Aptos"/>
                          <a:ea typeface="Aptos"/>
                          <a:cs typeface="Aptos"/>
                        </a:rPr>
                        <a:t>Data types</a:t>
                      </a:r>
                    </a:p>
                  </a:txBody>
                  <a:tcPr marL="95250" marR="95250" marT="28575" marB="28575" anchor="ctr">
                    <a:solidFill>
                      <a:srgbClr val="FFFFFF"/>
                    </a:solidFill>
                  </a:tcPr>
                </a:tc>
                <a:tc>
                  <a:txBody>
                    <a:bodyPr/>
                    <a:lstStyle/>
                    <a:p>
                      <a:r>
                        <a:rPr sz="1950" b="0">
                          <a:solidFill>
                            <a:srgbClr val="111111"/>
                          </a:solidFill>
                          <a:latin typeface="Aptos"/>
                          <a:ea typeface="Aptos"/>
                          <a:cs typeface="Aptos"/>
                        </a:rPr>
                        <a:t>12</a:t>
                      </a:r>
                    </a:p>
                  </a:txBody>
                  <a:tcPr marL="95250" marR="95250" marT="28575" marB="28575" anchor="ctr">
                    <a:solidFill>
                      <a:srgbClr val="FFFFFF"/>
                    </a:solidFill>
                  </a:tcPr>
                </a:tc>
                <a:tc>
                  <a:txBody>
                    <a:bodyPr/>
                    <a:lstStyle/>
                    <a:p>
                      <a:r>
                        <a:rPr sz="1950" b="0">
                          <a:solidFill>
                            <a:srgbClr val="111111"/>
                          </a:solidFill>
                          <a:latin typeface="Aptos"/>
                          <a:ea typeface="Aptos"/>
                          <a:cs typeface="Aptos"/>
                        </a:rPr>
                        <a:t>A2: twelve classifications with reasons</a:t>
                      </a:r>
                    </a:p>
                  </a:txBody>
                  <a:tcPr marL="95250" marR="95250" marT="28575" marB="28575" anchor="ctr">
                    <a:solidFill>
                      <a:srgbClr val="FFFFFF"/>
                    </a:solidFill>
                  </a:tcPr>
                </a:tc>
                <a:extLst>
                  <a:ext uri="{0D108BD9-81ED-4DB2-BD59-A6C34878D82A}">
                    <a16:rowId xmlns:a16="http://schemas.microsoft.com/office/drawing/2014/main" val="10003"/>
                  </a:ext>
                </a:extLst>
              </a:tr>
              <a:tr h="434578">
                <a:tc>
                  <a:txBody>
                    <a:bodyPr/>
                    <a:lstStyle/>
                    <a:p>
                      <a:r>
                        <a:rPr sz="1950" b="0">
                          <a:solidFill>
                            <a:srgbClr val="111111"/>
                          </a:solidFill>
                          <a:latin typeface="Aptos"/>
                          <a:ea typeface="Aptos"/>
                          <a:cs typeface="Aptos"/>
                        </a:rPr>
                        <a:t>Simple random sampling</a:t>
                      </a:r>
                    </a:p>
                  </a:txBody>
                  <a:tcPr marL="95250" marR="95250" marT="28575" marB="28575" anchor="ctr">
                    <a:solidFill>
                      <a:srgbClr val="EEF7FC"/>
                    </a:solidFill>
                  </a:tcPr>
                </a:tc>
                <a:tc>
                  <a:txBody>
                    <a:bodyPr/>
                    <a:lstStyle/>
                    <a:p>
                      <a:r>
                        <a:rPr sz="1950" b="0">
                          <a:solidFill>
                            <a:srgbClr val="111111"/>
                          </a:solidFill>
                          <a:latin typeface="Aptos"/>
                          <a:ea typeface="Aptos"/>
                          <a:cs typeface="Aptos"/>
                        </a:rPr>
                        <a:t>8</a:t>
                      </a:r>
                    </a:p>
                  </a:txBody>
                  <a:tcPr marL="95250" marR="95250" marT="28575" marB="28575" anchor="ctr">
                    <a:solidFill>
                      <a:srgbClr val="EEF7FC"/>
                    </a:solidFill>
                  </a:tcPr>
                </a:tc>
                <a:tc>
                  <a:txBody>
                    <a:bodyPr/>
                    <a:lstStyle/>
                    <a:p>
                      <a:r>
                        <a:rPr sz="1950" b="0">
                          <a:solidFill>
                            <a:srgbClr val="111111"/>
                          </a:solidFill>
                          <a:latin typeface="Aptos"/>
                          <a:ea typeface="Aptos"/>
                          <a:cs typeface="Aptos"/>
                        </a:rPr>
                        <a:t>Teacher explanation; no selection practical</a:t>
                      </a:r>
                    </a:p>
                  </a:txBody>
                  <a:tcPr marL="95250" marR="95250" marT="28575" marB="28575" anchor="ctr">
                    <a:solidFill>
                      <a:srgbClr val="EEF7FC"/>
                    </a:solidFill>
                  </a:tcPr>
                </a:tc>
                <a:extLst>
                  <a:ext uri="{0D108BD9-81ED-4DB2-BD59-A6C34878D82A}">
                    <a16:rowId xmlns:a16="http://schemas.microsoft.com/office/drawing/2014/main" val="10004"/>
                  </a:ext>
                </a:extLst>
              </a:tr>
              <a:tr h="434578">
                <a:tc>
                  <a:txBody>
                    <a:bodyPr/>
                    <a:lstStyle/>
                    <a:p>
                      <a:r>
                        <a:rPr sz="1950" b="0">
                          <a:solidFill>
                            <a:srgbClr val="111111"/>
                          </a:solidFill>
                          <a:latin typeface="Aptos"/>
                          <a:ea typeface="Aptos"/>
                          <a:cs typeface="Aptos"/>
                        </a:rPr>
                        <a:t>Systematic sampling</a:t>
                      </a:r>
                    </a:p>
                  </a:txBody>
                  <a:tcPr marL="95250" marR="95250" marT="28575" marB="28575" anchor="ctr">
                    <a:solidFill>
                      <a:srgbClr val="FFFFFF"/>
                    </a:solidFill>
                  </a:tcPr>
                </a:tc>
                <a:tc>
                  <a:txBody>
                    <a:bodyPr/>
                    <a:lstStyle/>
                    <a:p>
                      <a:r>
                        <a:rPr sz="1950" b="0">
                          <a:solidFill>
                            <a:srgbClr val="111111"/>
                          </a:solidFill>
                          <a:latin typeface="Aptos"/>
                          <a:ea typeface="Aptos"/>
                          <a:cs typeface="Aptos"/>
                        </a:rPr>
                        <a:t>24</a:t>
                      </a:r>
                    </a:p>
                  </a:txBody>
                  <a:tcPr marL="95250" marR="95250" marT="28575" marB="28575" anchor="ctr">
                    <a:solidFill>
                      <a:srgbClr val="FFFFFF"/>
                    </a:solidFill>
                  </a:tcPr>
                </a:tc>
                <a:tc>
                  <a:txBody>
                    <a:bodyPr/>
                    <a:lstStyle/>
                    <a:p>
                      <a:r>
                        <a:rPr sz="1950" b="0">
                          <a:solidFill>
                            <a:srgbClr val="111111"/>
                          </a:solidFill>
                          <a:latin typeface="Aptos"/>
                          <a:ea typeface="Aptos"/>
                          <a:cs typeface="Aptos"/>
                        </a:rPr>
                        <a:t>A3: reverse reasoning and selection faults</a:t>
                      </a:r>
                    </a:p>
                  </a:txBody>
                  <a:tcPr marL="95250" marR="95250" marT="28575" marB="28575" anchor="ctr">
                    <a:solidFill>
                      <a:srgbClr val="FFFFFF"/>
                    </a:solidFill>
                  </a:tcPr>
                </a:tc>
                <a:extLst>
                  <a:ext uri="{0D108BD9-81ED-4DB2-BD59-A6C34878D82A}">
                    <a16:rowId xmlns:a16="http://schemas.microsoft.com/office/drawing/2014/main" val="10005"/>
                  </a:ext>
                </a:extLst>
              </a:tr>
              <a:tr h="434578">
                <a:tc>
                  <a:txBody>
                    <a:bodyPr/>
                    <a:lstStyle/>
                    <a:p>
                      <a:r>
                        <a:rPr sz="1950" b="0">
                          <a:solidFill>
                            <a:srgbClr val="111111"/>
                          </a:solidFill>
                          <a:latin typeface="Aptos"/>
                          <a:ea typeface="Aptos"/>
                          <a:cs typeface="Aptos"/>
                        </a:rPr>
                        <a:t>Integrated application</a:t>
                      </a:r>
                    </a:p>
                  </a:txBody>
                  <a:tcPr marL="95250" marR="95250" marT="28575" marB="28575" anchor="ctr">
                    <a:solidFill>
                      <a:srgbClr val="EEF7FC"/>
                    </a:solidFill>
                  </a:tcPr>
                </a:tc>
                <a:tc>
                  <a:txBody>
                    <a:bodyPr/>
                    <a:lstStyle/>
                    <a:p>
                      <a:r>
                        <a:rPr sz="1950" b="0">
                          <a:solidFill>
                            <a:srgbClr val="111111"/>
                          </a:solidFill>
                          <a:latin typeface="Aptos"/>
                          <a:ea typeface="Aptos"/>
                          <a:cs typeface="Aptos"/>
                        </a:rPr>
                        <a:t>18</a:t>
                      </a:r>
                    </a:p>
                  </a:txBody>
                  <a:tcPr marL="95250" marR="95250" marT="28575" marB="28575" anchor="ctr">
                    <a:solidFill>
                      <a:srgbClr val="EEF7FC"/>
                    </a:solidFill>
                  </a:tcPr>
                </a:tc>
                <a:tc>
                  <a:txBody>
                    <a:bodyPr/>
                    <a:lstStyle/>
                    <a:p>
                      <a:r>
                        <a:rPr sz="1950" b="0">
                          <a:solidFill>
                            <a:srgbClr val="111111"/>
                          </a:solidFill>
                          <a:latin typeface="Aptos"/>
                          <a:ea typeface="Aptos"/>
                          <a:cs typeface="Aptos"/>
                        </a:rPr>
                        <a:t>A4: calculations and two sample estimates</a:t>
                      </a:r>
                    </a:p>
                  </a:txBody>
                  <a:tcPr marL="95250" marR="95250" marT="28575" marB="28575" anchor="ctr">
                    <a:solidFill>
                      <a:srgbClr val="EEF7FC"/>
                    </a:solidFill>
                  </a:tcPr>
                </a:tc>
                <a:extLst>
                  <a:ext uri="{0D108BD9-81ED-4DB2-BD59-A6C34878D82A}">
                    <a16:rowId xmlns:a16="http://schemas.microsoft.com/office/drawing/2014/main" val="10006"/>
                  </a:ext>
                </a:extLst>
              </a:tr>
              <a:tr h="434578">
                <a:tc>
                  <a:txBody>
                    <a:bodyPr/>
                    <a:lstStyle/>
                    <a:p>
                      <a:r>
                        <a:rPr sz="1950" b="0">
                          <a:solidFill>
                            <a:srgbClr val="111111"/>
                          </a:solidFill>
                          <a:latin typeface="Aptos"/>
                          <a:ea typeface="Aptos"/>
                          <a:cs typeface="Aptos"/>
                        </a:rPr>
                        <a:t>Individual exit check</a:t>
                      </a:r>
                    </a:p>
                  </a:txBody>
                  <a:tcPr marL="95250" marR="95250" marT="28575" marB="28575" anchor="ctr">
                    <a:solidFill>
                      <a:srgbClr val="FFFFFF"/>
                    </a:solidFill>
                  </a:tcPr>
                </a:tc>
                <a:tc>
                  <a:txBody>
                    <a:bodyPr/>
                    <a:lstStyle/>
                    <a:p>
                      <a:r>
                        <a:rPr sz="1950" b="0">
                          <a:solidFill>
                            <a:srgbClr val="111111"/>
                          </a:solidFill>
                          <a:latin typeface="Aptos"/>
                          <a:ea typeface="Aptos"/>
                          <a:cs typeface="Aptos"/>
                        </a:rPr>
                        <a:t>5</a:t>
                      </a:r>
                    </a:p>
                  </a:txBody>
                  <a:tcPr marL="95250" marR="95250" marT="28575" marB="28575" anchor="ctr">
                    <a:solidFill>
                      <a:srgbClr val="FFFFFF"/>
                    </a:solidFill>
                  </a:tcPr>
                </a:tc>
                <a:tc>
                  <a:txBody>
                    <a:bodyPr/>
                    <a:lstStyle/>
                    <a:p>
                      <a:r>
                        <a:rPr sz="1950" b="0">
                          <a:solidFill>
                            <a:srgbClr val="111111"/>
                          </a:solidFill>
                          <a:latin typeface="Aptos"/>
                          <a:ea typeface="Aptos"/>
                          <a:cs typeface="Aptos"/>
                        </a:rPr>
                        <a:t>A5: collect evidence of understanding</a:t>
                      </a:r>
                    </a:p>
                  </a:txBody>
                  <a:tcPr marL="95250" marR="95250" marT="28575" marB="28575"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281361232"/>
      </p:ext>
    </p:extLst>
  </p:cSld>
  <p:clrMapOvr>
    <a:masterClrMapping/>
  </p:clrMapOvr>
</p:sld>
</file>

<file path=ppt/theme/theme1.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8247</Words>
  <Application>Microsoft Macintosh PowerPoint</Application>
  <DocSecurity>0</DocSecurity>
  <PresentationFormat>Widescreen</PresentationFormat>
  <Paragraphs>811</Paragraphs>
  <Slides>60</Slides>
  <Notes>60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Aptos</vt:lpstr>
      <vt:lpstr>Aptos Display</vt:lpstr>
      <vt:lpstr>Arial</vt:lpstr>
      <vt:lpstr>Office Theme</vt:lpstr>
      <vt:lpstr>IFY Statistics Week 2 • Class A  Data and Sampling</vt:lpstr>
      <vt:lpstr>Revision: Week 1</vt:lpstr>
      <vt:lpstr>Revision: calculations and counting</vt:lpstr>
      <vt:lpstr>Revision: answers</vt:lpstr>
      <vt:lpstr>Section 1: Who are we studying?</vt:lpstr>
      <vt:lpstr>Can we ask everyone?</vt:lpstr>
      <vt:lpstr>Population and sample</vt:lpstr>
      <vt:lpstr>Census or sample?</vt:lpstr>
      <vt:lpstr>What do we want to know?</vt:lpstr>
      <vt:lpstr>What did our survey find?</vt:lpstr>
      <vt:lpstr>Groups and their numbers</vt:lpstr>
      <vt:lpstr>What can the sample tell us?</vt:lpstr>
      <vt:lpstr>An estimate for the population</vt:lpstr>
      <vt:lpstr>A1: Which group does it describe?</vt:lpstr>
      <vt:lpstr>A1: Answers and reasons</vt:lpstr>
      <vt:lpstr>A1.3: The research question changes</vt:lpstr>
      <vt:lpstr>A1.4: What do we actually know?</vt:lpstr>
      <vt:lpstr>A1.4: The possible limits</vt:lpstr>
      <vt:lpstr>Section 2: Types of data</vt:lpstr>
      <vt:lpstr>What do we record?</vt:lpstr>
      <vt:lpstr>Categorical: record a label</vt:lpstr>
      <vt:lpstr>Discrete: count whole items</vt:lpstr>
      <vt:lpstr>Continuous: measure an amount</vt:lpstr>
      <vt:lpstr>How the data types fit together</vt:lpstr>
      <vt:lpstr>Two common traps</vt:lpstr>
      <vt:lpstr>A2: Classification practice</vt:lpstr>
      <vt:lpstr>A2: More variables</vt:lpstr>
      <vt:lpstr>A2: Answers 1–6</vt:lpstr>
      <vt:lpstr>A2: Answers 7–12</vt:lpstr>
      <vt:lpstr>Section 3: Simple random sampling</vt:lpstr>
      <vt:lpstr>What makes a sample random?</vt:lpstr>
      <vt:lpstr>How simple random selection works</vt:lpstr>
      <vt:lpstr>Section 4: Systematic sampling</vt:lpstr>
      <vt:lpstr>Twenty people; five places</vt:lpstr>
      <vt:lpstr>Why every fourth person?</vt:lpstr>
      <vt:lpstr>Start randomly, then add four</vt:lpstr>
      <vt:lpstr>Write the method as a formula</vt:lpstr>
      <vt:lpstr>Interval and sampling fraction</vt:lpstr>
      <vt:lpstr>A3: Systematic selection</vt:lpstr>
      <vt:lpstr>A3: Interval and selected IDs</vt:lpstr>
      <vt:lpstr>A3: Fraction and reverse reasoning</vt:lpstr>
      <vt:lpstr>A3.5: The favourite-student start</vt:lpstr>
      <vt:lpstr>A3.5: Why that start is wrong</vt:lpstr>
      <vt:lpstr>Can the list cause problems?</vt:lpstr>
      <vt:lpstr>The list pattern matters</vt:lpstr>
      <vt:lpstr>How do these two methods compare?</vt:lpstr>
      <vt:lpstr>Section 5: Put it together</vt:lpstr>
      <vt:lpstr>A4: Travel to college</vt:lpstr>
      <vt:lpstr>A4: Independent questions</vt:lpstr>
      <vt:lpstr>A4: Checking a partner’s reasoning</vt:lpstr>
      <vt:lpstr>A4: Groups, percentage and data</vt:lpstr>
      <vt:lpstr>A4: Selection and estimation</vt:lpstr>
      <vt:lpstr>A4.5: Two samples, two estimates</vt:lpstr>
      <vt:lpstr>A4.5: Different samples can differ</vt:lpstr>
      <vt:lpstr>A5: Individual exit check</vt:lpstr>
      <vt:lpstr>A5: Answers</vt:lpstr>
      <vt:lpstr>What we can do now</vt:lpstr>
      <vt:lpstr>Extension: Equal chances for whom?</vt:lpstr>
      <vt:lpstr>Extension: The possible samples</vt:lpstr>
      <vt:lpstr>Teacher notes: the 90-minute route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Jacob Mlynarski</cp:lastModifiedBy>
  <cp:revision>1</cp:revision>
  <dcterms:created xsi:type="dcterms:W3CDTF">2026-09-20T13:30:28Z</dcterms:created>
  <dcterms:modified xsi:type="dcterms:W3CDTF">2026-09-20T23:58:30Z</dcterms:modified>
</cp:coreProperties>
</file>