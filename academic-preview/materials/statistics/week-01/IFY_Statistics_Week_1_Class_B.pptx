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31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314" r:id="rId26"/>
    <p:sldId id="279" r:id="rId27"/>
    <p:sldId id="280" r:id="rId28"/>
    <p:sldId id="281" r:id="rId29"/>
    <p:sldId id="282" r:id="rId30"/>
    <p:sldId id="315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B774F-2E30-E345-AFEC-B0E1DAC74BFC}" v="8" dt="2026-09-15T09:47:33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Mlynarski" userId="5c8c5ce1edfe4dd6" providerId="LiveId" clId="{C91FEEE5-5543-5F5D-804A-A29147691C79}"/>
    <pc:docChg chg="addSld delSld modSld">
      <pc:chgData name="Jacob Mlynarski" userId="5c8c5ce1edfe4dd6" providerId="LiveId" clId="{C91FEEE5-5543-5F5D-804A-A29147691C79}" dt="2026-10-06T01:14:48.586" v="76" actId="2696"/>
      <pc:docMkLst>
        <pc:docMk/>
      </pc:docMkLst>
      <pc:sldChg chg="addSp modSp mod">
        <pc:chgData name="Jacob Mlynarski" userId="5c8c5ce1edfe4dd6" providerId="LiveId" clId="{C91FEEE5-5543-5F5D-804A-A29147691C79}" dt="2026-09-15T09:45:29.492" v="35" actId="20577"/>
        <pc:sldMkLst>
          <pc:docMk/>
          <pc:sldMk cId="2205626742" sldId="261"/>
        </pc:sldMkLst>
        <pc:spChg chg="mod">
          <ac:chgData name="Jacob Mlynarski" userId="5c8c5ce1edfe4dd6" providerId="LiveId" clId="{C91FEEE5-5543-5F5D-804A-A29147691C79}" dt="2026-09-15T09:45:29.492" v="35" actId="20577"/>
          <ac:spMkLst>
            <pc:docMk/>
            <pc:sldMk cId="2205626742" sldId="261"/>
            <ac:spMk id="3" creationId="{7FC3AEA0-6F20-F309-9B03-BADF904C549E}"/>
          </ac:spMkLst>
        </pc:spChg>
        <pc:picChg chg="add mod">
          <ac:chgData name="Jacob Mlynarski" userId="5c8c5ce1edfe4dd6" providerId="LiveId" clId="{C91FEEE5-5543-5F5D-804A-A29147691C79}" dt="2026-09-15T09:45:03.544" v="19" actId="1076"/>
          <ac:picMkLst>
            <pc:docMk/>
            <pc:sldMk cId="2205626742" sldId="261"/>
            <ac:picMk id="1026" creationId="{9F011618-AFCE-8DB3-247D-5D66748D2115}"/>
          </ac:picMkLst>
        </pc:picChg>
      </pc:sldChg>
      <pc:sldChg chg="modSp mod">
        <pc:chgData name="Jacob Mlynarski" userId="5c8c5ce1edfe4dd6" providerId="LiveId" clId="{C91FEEE5-5543-5F5D-804A-A29147691C79}" dt="2026-09-15T10:05:19.969" v="52" actId="403"/>
        <pc:sldMkLst>
          <pc:docMk/>
          <pc:sldMk cId="3281361232" sldId="265"/>
        </pc:sldMkLst>
        <pc:spChg chg="mod">
          <ac:chgData name="Jacob Mlynarski" userId="5c8c5ce1edfe4dd6" providerId="LiveId" clId="{C91FEEE5-5543-5F5D-804A-A29147691C79}" dt="2026-09-15T10:05:19.969" v="52" actId="403"/>
          <ac:spMkLst>
            <pc:docMk/>
            <pc:sldMk cId="3281361232" sldId="265"/>
            <ac:spMk id="3" creationId="{7FC3AEA0-6F20-F309-9B03-BADF904C549E}"/>
          </ac:spMkLst>
        </pc:spChg>
      </pc:sldChg>
      <pc:sldChg chg="modSp mod">
        <pc:chgData name="Jacob Mlynarski" userId="5c8c5ce1edfe4dd6" providerId="LiveId" clId="{C91FEEE5-5543-5F5D-804A-A29147691C79}" dt="2026-09-15T10:11:54.171" v="61" actId="20577"/>
        <pc:sldMkLst>
          <pc:docMk/>
          <pc:sldMk cId="4158798959" sldId="269"/>
        </pc:sldMkLst>
        <pc:spChg chg="mod">
          <ac:chgData name="Jacob Mlynarski" userId="5c8c5ce1edfe4dd6" providerId="LiveId" clId="{C91FEEE5-5543-5F5D-804A-A29147691C79}" dt="2026-09-15T10:11:54.171" v="61" actId="20577"/>
          <ac:spMkLst>
            <pc:docMk/>
            <pc:sldMk cId="4158798959" sldId="269"/>
            <ac:spMk id="3" creationId="{7FC3AEA0-6F20-F309-9B03-BADF904C549E}"/>
          </ac:spMkLst>
        </pc:spChg>
      </pc:sldChg>
      <pc:sldChg chg="modSp mod">
        <pc:chgData name="Jacob Mlynarski" userId="5c8c5ce1edfe4dd6" providerId="LiveId" clId="{C91FEEE5-5543-5F5D-804A-A29147691C79}" dt="2026-09-15T10:00:09.659" v="47" actId="20577"/>
        <pc:sldMkLst>
          <pc:docMk/>
          <pc:sldMk cId="4158798959" sldId="271"/>
        </pc:sldMkLst>
        <pc:spChg chg="mod">
          <ac:chgData name="Jacob Mlynarski" userId="5c8c5ce1edfe4dd6" providerId="LiveId" clId="{C91FEEE5-5543-5F5D-804A-A29147691C79}" dt="2026-09-15T10:00:09.659" v="47" actId="20577"/>
          <ac:spMkLst>
            <pc:docMk/>
            <pc:sldMk cId="4158798959" sldId="271"/>
            <ac:spMk id="3" creationId="{7FC3AEA0-6F20-F309-9B03-BADF904C549E}"/>
          </ac:spMkLst>
        </pc:spChg>
      </pc:sldChg>
      <pc:sldChg chg="modSp mod">
        <pc:chgData name="Jacob Mlynarski" userId="5c8c5ce1edfe4dd6" providerId="LiveId" clId="{C91FEEE5-5543-5F5D-804A-A29147691C79}" dt="2026-09-15T10:25:42.686" v="67" actId="207"/>
        <pc:sldMkLst>
          <pc:docMk/>
          <pc:sldMk cId="3281361232" sldId="275"/>
        </pc:sldMkLst>
        <pc:spChg chg="mod">
          <ac:chgData name="Jacob Mlynarski" userId="5c8c5ce1edfe4dd6" providerId="LiveId" clId="{C91FEEE5-5543-5F5D-804A-A29147691C79}" dt="2026-09-15T10:25:42.686" v="67" actId="207"/>
          <ac:spMkLst>
            <pc:docMk/>
            <pc:sldMk cId="3281361232" sldId="275"/>
            <ac:spMk id="3" creationId="{7FC3AEA0-6F20-F309-9B03-BADF904C549E}"/>
          </ac:spMkLst>
        </pc:spChg>
      </pc:sldChg>
      <pc:sldChg chg="modSp mod">
        <pc:chgData name="Jacob Mlynarski" userId="5c8c5ce1edfe4dd6" providerId="LiveId" clId="{C91FEEE5-5543-5F5D-804A-A29147691C79}" dt="2026-09-16T03:23:14.930" v="75" actId="20577"/>
        <pc:sldMkLst>
          <pc:docMk/>
          <pc:sldMk cId="258626623" sldId="284"/>
        </pc:sldMkLst>
        <pc:graphicFrameChg chg="modGraphic">
          <ac:chgData name="Jacob Mlynarski" userId="5c8c5ce1edfe4dd6" providerId="LiveId" clId="{C91FEEE5-5543-5F5D-804A-A29147691C79}" dt="2026-09-16T03:23:14.930" v="75" actId="20577"/>
          <ac:graphicFrameMkLst>
            <pc:docMk/>
            <pc:sldMk cId="258626623" sldId="284"/>
            <ac:graphicFrameMk id="5" creationId="{00000000-0000-0000-0000-000000000000}"/>
          </ac:graphicFrameMkLst>
        </pc:graphicFrameChg>
      </pc:sldChg>
      <pc:sldChg chg="delSp modSp add mod">
        <pc:chgData name="Jacob Mlynarski" userId="5c8c5ce1edfe4dd6" providerId="LiveId" clId="{C91FEEE5-5543-5F5D-804A-A29147691C79}" dt="2026-09-15T09:47:45.665" v="40" actId="20577"/>
        <pc:sldMkLst>
          <pc:docMk/>
          <pc:sldMk cId="4073973847" sldId="313"/>
        </pc:sldMkLst>
        <pc:spChg chg="mod">
          <ac:chgData name="Jacob Mlynarski" userId="5c8c5ce1edfe4dd6" providerId="LiveId" clId="{C91FEEE5-5543-5F5D-804A-A29147691C79}" dt="2026-09-15T09:47:45.665" v="40" actId="20577"/>
          <ac:spMkLst>
            <pc:docMk/>
            <pc:sldMk cId="4073973847" sldId="313"/>
            <ac:spMk id="3" creationId="{3080EDE0-D84D-1D4E-E6C7-382CA206EE5A}"/>
          </ac:spMkLst>
        </pc:spChg>
      </pc:sldChg>
      <pc:sldChg chg="del">
        <pc:chgData name="Jacob Mlynarski" userId="5c8c5ce1edfe4dd6" providerId="LiveId" clId="{C91FEEE5-5543-5F5D-804A-A29147691C79}" dt="2026-10-06T01:14:48.586" v="76" actId="2696"/>
        <pc:sldMkLst>
          <pc:docMk/>
          <pc:sldMk cId="1601433022" sldId="316"/>
        </pc:sldMkLst>
      </pc:sldChg>
    </pc:docChg>
  </pc:docChgLst>
  <pc:docChgLst>
    <pc:chgData name="Jacob Mlynarski" userId="5c8c5ce1edfe4dd6" providerId="LiveId" clId="{EA34CD77-B017-48F4-80DC-E98A38773462}"/>
    <pc:docChg chg="undo custSel addSld modSld sldOrd">
      <pc:chgData name="Jacob Mlynarski" userId="5c8c5ce1edfe4dd6" providerId="LiveId" clId="{EA34CD77-B017-48F4-80DC-E98A38773462}" dt="2026-09-15T13:03:26.782" v="328" actId="207"/>
      <pc:docMkLst>
        <pc:docMk/>
      </pc:docMkLst>
      <pc:sldChg chg="modSp mod">
        <pc:chgData name="Jacob Mlynarski" userId="5c8c5ce1edfe4dd6" providerId="LiveId" clId="{EA34CD77-B017-48F4-80DC-E98A38773462}" dt="2026-09-15T11:50:43.595" v="5" actId="20577"/>
        <pc:sldMkLst>
          <pc:docMk/>
          <pc:sldMk cId="2205626742" sldId="261"/>
        </pc:sldMkLst>
        <pc:spChg chg="mod">
          <ac:chgData name="Jacob Mlynarski" userId="5c8c5ce1edfe4dd6" providerId="LiveId" clId="{EA34CD77-B017-48F4-80DC-E98A38773462}" dt="2026-09-15T11:50:43.595" v="5" actId="20577"/>
          <ac:spMkLst>
            <pc:docMk/>
            <pc:sldMk cId="2205626742" sldId="261"/>
            <ac:spMk id="3" creationId="{7FC3AEA0-6F20-F309-9B03-BADF904C549E}"/>
          </ac:spMkLst>
        </pc:spChg>
      </pc:sldChg>
      <pc:sldChg chg="addSp modSp mod">
        <pc:chgData name="Jacob Mlynarski" userId="5c8c5ce1edfe4dd6" providerId="LiveId" clId="{EA34CD77-B017-48F4-80DC-E98A38773462}" dt="2026-09-15T12:53:54.151" v="318" actId="20577"/>
        <pc:sldMkLst>
          <pc:docMk/>
          <pc:sldMk cId="4158798959" sldId="271"/>
        </pc:sldMkLst>
        <pc:spChg chg="mod">
          <ac:chgData name="Jacob Mlynarski" userId="5c8c5ce1edfe4dd6" providerId="LiveId" clId="{EA34CD77-B017-48F4-80DC-E98A38773462}" dt="2026-09-15T12:01:49.825" v="36" actId="207"/>
          <ac:spMkLst>
            <pc:docMk/>
            <pc:sldMk cId="4158798959" sldId="271"/>
            <ac:spMk id="3" creationId="{7FC3AEA0-6F20-F309-9B03-BADF904C549E}"/>
          </ac:spMkLst>
        </pc:spChg>
        <pc:spChg chg="add mod">
          <ac:chgData name="Jacob Mlynarski" userId="5c8c5ce1edfe4dd6" providerId="LiveId" clId="{EA34CD77-B017-48F4-80DC-E98A38773462}" dt="2026-09-15T12:53:54.151" v="318" actId="20577"/>
          <ac:spMkLst>
            <pc:docMk/>
            <pc:sldMk cId="4158798959" sldId="271"/>
            <ac:spMk id="4" creationId="{3778B5F8-3A69-AEE5-DC11-8553E7FF96A4}"/>
          </ac:spMkLst>
        </pc:spChg>
      </pc:sldChg>
      <pc:sldChg chg="addSp modSp mod">
        <pc:chgData name="Jacob Mlynarski" userId="5c8c5ce1edfe4dd6" providerId="LiveId" clId="{EA34CD77-B017-48F4-80DC-E98A38773462}" dt="2026-09-15T12:16:49.432" v="204" actId="1076"/>
        <pc:sldMkLst>
          <pc:docMk/>
          <pc:sldMk cId="3281361232" sldId="278"/>
        </pc:sldMkLst>
        <pc:spChg chg="mod">
          <ac:chgData name="Jacob Mlynarski" userId="5c8c5ce1edfe4dd6" providerId="LiveId" clId="{EA34CD77-B017-48F4-80DC-E98A38773462}" dt="2026-09-15T12:15:02.124" v="187" actId="113"/>
          <ac:spMkLst>
            <pc:docMk/>
            <pc:sldMk cId="3281361232" sldId="278"/>
            <ac:spMk id="2" creationId="{78CA9D60-7B61-25EC-BCD0-72CCE5A58E92}"/>
          </ac:spMkLst>
        </pc:spChg>
        <pc:picChg chg="add mod">
          <ac:chgData name="Jacob Mlynarski" userId="5c8c5ce1edfe4dd6" providerId="LiveId" clId="{EA34CD77-B017-48F4-80DC-E98A38773462}" dt="2026-09-15T12:16:49.432" v="204" actId="1076"/>
          <ac:picMkLst>
            <pc:docMk/>
            <pc:sldMk cId="3281361232" sldId="278"/>
            <ac:picMk id="4" creationId="{63B79F90-D841-75DD-42DD-828254D356BF}"/>
          </ac:picMkLst>
        </pc:picChg>
      </pc:sldChg>
      <pc:sldChg chg="modSp mod">
        <pc:chgData name="Jacob Mlynarski" userId="5c8c5ce1edfe4dd6" providerId="LiveId" clId="{EA34CD77-B017-48F4-80DC-E98A38773462}" dt="2026-09-15T12:15:11.614" v="198" actId="113"/>
        <pc:sldMkLst>
          <pc:docMk/>
          <pc:sldMk cId="3852680381" sldId="279"/>
        </pc:sldMkLst>
        <pc:spChg chg="mod">
          <ac:chgData name="Jacob Mlynarski" userId="5c8c5ce1edfe4dd6" providerId="LiveId" clId="{EA34CD77-B017-48F4-80DC-E98A38773462}" dt="2026-09-15T12:15:11.614" v="198" actId="113"/>
          <ac:spMkLst>
            <pc:docMk/>
            <pc:sldMk cId="3852680381" sldId="279"/>
            <ac:spMk id="2" creationId="{78CA9D60-7B61-25EC-BCD0-72CCE5A58E92}"/>
          </ac:spMkLst>
        </pc:spChg>
      </pc:sldChg>
      <pc:sldChg chg="addSp mod">
        <pc:chgData name="Jacob Mlynarski" userId="5c8c5ce1edfe4dd6" providerId="LiveId" clId="{EA34CD77-B017-48F4-80DC-E98A38773462}" dt="2026-09-15T12:19:58.283" v="205" actId="22"/>
        <pc:sldMkLst>
          <pc:docMk/>
          <pc:sldMk cId="4158798959" sldId="280"/>
        </pc:sldMkLst>
        <pc:picChg chg="add">
          <ac:chgData name="Jacob Mlynarski" userId="5c8c5ce1edfe4dd6" providerId="LiveId" clId="{EA34CD77-B017-48F4-80DC-E98A38773462}" dt="2026-09-15T12:19:58.283" v="205" actId="22"/>
          <ac:picMkLst>
            <pc:docMk/>
            <pc:sldMk cId="4158798959" sldId="280"/>
            <ac:picMk id="6" creationId="{468F3747-E4F7-64F0-8368-E32C2E5E996C}"/>
          </ac:picMkLst>
        </pc:picChg>
      </pc:sldChg>
      <pc:sldChg chg="addSp mod">
        <pc:chgData name="Jacob Mlynarski" userId="5c8c5ce1edfe4dd6" providerId="LiveId" clId="{EA34CD77-B017-48F4-80DC-E98A38773462}" dt="2026-09-15T12:20:06.404" v="206" actId="22"/>
        <pc:sldMkLst>
          <pc:docMk/>
          <pc:sldMk cId="2463775365" sldId="281"/>
        </pc:sldMkLst>
        <pc:picChg chg="add">
          <ac:chgData name="Jacob Mlynarski" userId="5c8c5ce1edfe4dd6" providerId="LiveId" clId="{EA34CD77-B017-48F4-80DC-E98A38773462}" dt="2026-09-15T12:20:06.404" v="206" actId="22"/>
          <ac:picMkLst>
            <pc:docMk/>
            <pc:sldMk cId="2463775365" sldId="281"/>
            <ac:picMk id="6" creationId="{513B7C83-0F33-9668-9A5F-76D89FE34538}"/>
          </ac:picMkLst>
        </pc:picChg>
      </pc:sldChg>
      <pc:sldChg chg="addSp modSp mod">
        <pc:chgData name="Jacob Mlynarski" userId="5c8c5ce1edfe4dd6" providerId="LiveId" clId="{EA34CD77-B017-48F4-80DC-E98A38773462}" dt="2026-09-15T12:34:37.007" v="311" actId="1076"/>
        <pc:sldMkLst>
          <pc:docMk/>
          <pc:sldMk cId="3281361232" sldId="285"/>
        </pc:sldMkLst>
        <pc:spChg chg="add mod">
          <ac:chgData name="Jacob Mlynarski" userId="5c8c5ce1edfe4dd6" providerId="LiveId" clId="{EA34CD77-B017-48F4-80DC-E98A38773462}" dt="2026-09-15T12:34:37.007" v="311" actId="1076"/>
          <ac:spMkLst>
            <pc:docMk/>
            <pc:sldMk cId="3281361232" sldId="285"/>
            <ac:spMk id="4" creationId="{E975EB26-13AC-2D03-AD83-FC57D9EEFD68}"/>
          </ac:spMkLst>
        </pc:spChg>
      </pc:sldChg>
      <pc:sldChg chg="modSp mod">
        <pc:chgData name="Jacob Mlynarski" userId="5c8c5ce1edfe4dd6" providerId="LiveId" clId="{EA34CD77-B017-48F4-80DC-E98A38773462}" dt="2026-09-15T13:03:26.782" v="328" actId="207"/>
        <pc:sldMkLst>
          <pc:docMk/>
          <pc:sldMk cId="944508153" sldId="298"/>
        </pc:sldMkLst>
        <pc:spChg chg="mod">
          <ac:chgData name="Jacob Mlynarski" userId="5c8c5ce1edfe4dd6" providerId="LiveId" clId="{EA34CD77-B017-48F4-80DC-E98A38773462}" dt="2026-09-15T13:03:26.782" v="328" actId="207"/>
          <ac:spMkLst>
            <pc:docMk/>
            <pc:sldMk cId="944508153" sldId="298"/>
            <ac:spMk id="3" creationId="{7FC3AEA0-6F20-F309-9B03-BADF904C549E}"/>
          </ac:spMkLst>
        </pc:spChg>
      </pc:sldChg>
      <pc:sldChg chg="addSp delSp modSp add mod">
        <pc:chgData name="Jacob Mlynarski" userId="5c8c5ce1edfe4dd6" providerId="LiveId" clId="{EA34CD77-B017-48F4-80DC-E98A38773462}" dt="2026-09-15T12:13:35.954" v="175" actId="20577"/>
        <pc:sldMkLst>
          <pc:docMk/>
          <pc:sldMk cId="3321979124" sldId="314"/>
        </pc:sldMkLst>
        <pc:spChg chg="mod">
          <ac:chgData name="Jacob Mlynarski" userId="5c8c5ce1edfe4dd6" providerId="LiveId" clId="{EA34CD77-B017-48F4-80DC-E98A38773462}" dt="2026-09-15T12:13:35.954" v="175" actId="20577"/>
          <ac:spMkLst>
            <pc:docMk/>
            <pc:sldMk cId="3321979124" sldId="314"/>
            <ac:spMk id="2" creationId="{4A54E1C2-17AB-0AF8-2068-B3BF7189F009}"/>
          </ac:spMkLst>
        </pc:spChg>
        <pc:spChg chg="mod">
          <ac:chgData name="Jacob Mlynarski" userId="5c8c5ce1edfe4dd6" providerId="LiveId" clId="{EA34CD77-B017-48F4-80DC-E98A38773462}" dt="2026-09-15T12:12:19.138" v="52" actId="20577"/>
          <ac:spMkLst>
            <pc:docMk/>
            <pc:sldMk cId="3321979124" sldId="314"/>
            <ac:spMk id="3" creationId="{DB6D2309-F843-A703-9CED-59F90C6F323F}"/>
          </ac:spMkLst>
        </pc:spChg>
        <pc:spChg chg="add mod">
          <ac:chgData name="Jacob Mlynarski" userId="5c8c5ce1edfe4dd6" providerId="LiveId" clId="{EA34CD77-B017-48F4-80DC-E98A38773462}" dt="2026-09-15T12:13:18.284" v="140" actId="20577"/>
          <ac:spMkLst>
            <pc:docMk/>
            <pc:sldMk cId="3321979124" sldId="314"/>
            <ac:spMk id="8" creationId="{AE8E9D6C-6FC0-3AB3-051C-40611775C9E4}"/>
          </ac:spMkLst>
        </pc:spChg>
        <pc:picChg chg="add mod">
          <ac:chgData name="Jacob Mlynarski" userId="5c8c5ce1edfe4dd6" providerId="LiveId" clId="{EA34CD77-B017-48F4-80DC-E98A38773462}" dt="2026-09-15T12:12:24.787" v="53" actId="1076"/>
          <ac:picMkLst>
            <pc:docMk/>
            <pc:sldMk cId="3321979124" sldId="314"/>
            <ac:picMk id="7" creationId="{592A94CA-E9E9-3A28-2DAE-87D8AD0FD3AC}"/>
          </ac:picMkLst>
        </pc:picChg>
      </pc:sldChg>
      <pc:sldChg chg="modSp new mod">
        <pc:chgData name="Jacob Mlynarski" userId="5c8c5ce1edfe4dd6" providerId="LiveId" clId="{EA34CD77-B017-48F4-80DC-E98A38773462}" dt="2026-09-15T12:33:11.977" v="287" actId="20577"/>
        <pc:sldMkLst>
          <pc:docMk/>
          <pc:sldMk cId="2911693157" sldId="315"/>
        </pc:sldMkLst>
        <pc:spChg chg="mod">
          <ac:chgData name="Jacob Mlynarski" userId="5c8c5ce1edfe4dd6" providerId="LiveId" clId="{EA34CD77-B017-48F4-80DC-E98A38773462}" dt="2026-09-15T12:32:26.672" v="266" actId="122"/>
          <ac:spMkLst>
            <pc:docMk/>
            <pc:sldMk cId="2911693157" sldId="315"/>
            <ac:spMk id="2" creationId="{E78E1AD0-6919-C8B9-3534-78671DDE61CA}"/>
          </ac:spMkLst>
        </pc:spChg>
        <pc:spChg chg="mod">
          <ac:chgData name="Jacob Mlynarski" userId="5c8c5ce1edfe4dd6" providerId="LiveId" clId="{EA34CD77-B017-48F4-80DC-E98A38773462}" dt="2026-09-15T12:33:11.977" v="287" actId="20577"/>
          <ac:spMkLst>
            <pc:docMk/>
            <pc:sldMk cId="2911693157" sldId="315"/>
            <ac:spMk id="3" creationId="{8ED5B8C9-F971-9952-0EAC-A2C5BCA87C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route: 90 minutes including a protected 5-minute buffer. Opening/revision 7 minutes; algebra 18; quadratics 15; conversions 13; percentages 14; ratios 10; B13 exit and synthesis 8; buffer 5. B3 Q2 and B12 are optional and outside this core allocation. Skip their task/reveal sequences if time is tight; always preserve B13.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students can distinguish a method from an answer. The objectives are revisited after the exit check.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Allow independent recall, then compare pairs. Diagnose intersection versus union, equal roles versus ordered roles, irrational roots, and left-to-right operations.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why the representatives form a combination. For R4, division and multiplication have equal priority; process left to right.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what the equals sign means before showing algebra terminology.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include the sign with −2. Contrast a coefficient with a constant and a term.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0772-DE49-BFEE-BAE2-60BBAF61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EF15F-AB5D-CE3C-D492-B8EA263CD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DBD88E-027C-A8AB-364A-957183592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include the sign with −2. Contrast a coefficient with a constant and a term.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2A82F-4C97-D344-742B-20743399AE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78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silent identification time. Check that −3, not 3, is recorded as a coefficient.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Require students to point to the two sides. The equals sign is a statement of equal values, not an instruction to write an answer.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what changes when =20 is appended to the expression. Solving finds values that make the equation true.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Elicit which job is requested before computing. Common error: 2(y−1)=2y−1; every term inside the bracket must be multiplied.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name subtract 3 and divide by 2. Avoid explaining algebra as unqualified moving terms.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Collect one operation per line; ensure the same operation is applied to both sides.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  <a:p>
            <a:r>
              <a:t>- Statistics Week 1 Seminar 1 - Questions.docx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substitution into both original sides gives 17. A correct answer without a balanced chain is not full evidence.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B3 Q1 belongs to the core route. The fraction challenge Q2 is optional; skip all three Q2 slides together to protect exit time.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  <a:p>
            <a:r>
              <a:t>- AlgebraI(CliffsStudySolver) Part1.pdf, Chapter 3, Example Problem 2, PDF p.150 / printed p.132; adapted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B3 Q1 check: both sides are 19. For optional Q2, multiply −z by 20 too; after expanding, adding 15z and then 4 isolates 3z. Substitute z=8 into both original fractions to get −5.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  <a:p>
            <a:r>
              <a:t>- AlgebraI(CliffsStudySolver) Part1.pdf, Chapter 3, Example Problem 2, PDF p.150 / printed p.132; adapted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B3 Q1 belongs to the core route. The fraction challenge Q2 is optional; skip all three Q2 slides together to protect exit time.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  <a:p>
            <a:r>
              <a:t>- AlgebraI(CliffsStudySolver) Part1.pdf, Chapter 3, Example Problem 2, PDF p.150 / printed p.132; adapted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B3 Q1 check: both sides are 19. For optional Q2, multiply −z by 20 too; after expanding, adding 15z and then 4 isolates 3z. Substitute z=8 into both original fractions to get −5.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  <a:p>
            <a:r>
              <a:t>- AlgebraI(CliffsStudySolver) Part1.pdf, Chapter 3, Example Problem 2, PDF p.150 / printed p.132; adapted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B3 Q1 check: both sides are 19. For optional Q2, multiply −z by 20 too; after expanding, adding 15z and then 4 isolates 3z. Substitute z=8 into both original fractions to get −5.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  <a:p>
            <a:r>
              <a:t>- AlgebraI(CliffsStudySolver) Part1.pdf, Chapter 3, Example Problem 2, PDF p.150 / printed p.132; adapted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Transition: equations with an x² term need a new method; do not try to isolate x as though x² were x.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for the missing coefficient in 4x²−9=0: b=0. Clarify real roots may number zero, one, or two.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must put each equation in standard form before classification, especially 4x²=9.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Q4 is quadratic even though it initially has a nonzero right-hand side; b=0 is still a coefficient.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the pair both multiplies to 6 and adds to 5. Apply the zero-product rule only when the product is zero.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573A-781B-411E-3C9B-821CA89F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7889F-372F-2543-84DF-320C790D2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2FB43-C987-516A-A2A1-AB94FF397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the pair both multiplies to 6 and adds to 5. Apply the zero-product rule only when the product is zero.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29BB3-95B0-254E-B392-BCB6A5D846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8028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entire numerator over 2a. The ± gives two calculations, not one approximate answer.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Require signed a,b,c and a checked substitution before calculator use.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B5 uses two immediate reveal slides. First verify c=−3 and denominator 2(2)=4. Then reveal both branches. Ask why −5−7 is −12 and why 2/4 simplifies to 1/2.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B5 uses two immediate reveal slides. First verify c=−3 and denominator 2(2)=4. Then reveal both branches. Ask why −5−7 is −12 and why 2/4 simplifies to 1/2.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why the same physical amount can have a different numerical measure.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Preserve distinctions between US gallons/fluid ounces and other unit systems. Mark rounded conversion factors with ≈.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which unit must be in the denominator. Estimate first: miles should be fewer than kilometres; 10/1.609≈6.215.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  <a:p>
            <a:r>
              <a:t>- Statistics Week 1 Seminar 1 - Questions.docx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predictions before calculations. A larger unit requires a smaller numerical value for the same quantity.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Seminar 1 - Questions.docx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denominator unit aloud. mL, km, and inches cancel in the three products. Kilometre-to-mile result is approximate; mL-to-L and inch-to-cm use exact stated factors.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stated classroom load limit and factor; compare in the same unit before making the decision.</a:t>
            </a:r>
          </a:p>
          <a:p>
            <a:endParaRPr/>
          </a:p>
          <a:p>
            <a:r>
              <a:t>[Sources]</a:t>
            </a:r>
          </a:p>
          <a:p>
            <a:r>
              <a:t>- White, Stimmel &amp; Searcy, Basic Math and Pre-Algebra, Cliffs Study Solver (2003).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load above rated capacity is rejected in this exercise. The rounded factor makes the converted amount and excess approximate.</a:t>
            </a:r>
          </a:p>
          <a:p>
            <a:endParaRPr/>
          </a:p>
          <a:p>
            <a:r>
              <a:t>[Sources]</a:t>
            </a:r>
          </a:p>
          <a:p>
            <a:r>
              <a:t>- White, Stimmel &amp; Searcy, Basic Math and Pre-Algebra, Cliffs Study Solver (2003).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Transition: percentage and ratio questions are about relationships; identify the comparison base.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which of P,R,W is unknown before selecting multiplication or division. Decimal rate 0.40 equals 40%, not 0.40%.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method slide now precedes B8. Elicit subtract for discount and add for tax, using the original price as the base.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  <a:p>
            <a:r>
              <a:t>- Statistics Week 1 Seminar 1 - Questions.docx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 discounts before this exercise. Ask students to write part, percentage, whole, or sale price next to each question.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Q4, separate the £42 discount from the £238 sale price. Common error: reporting the discount as the final price.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why starting value must be nonzero. Increase and decrease use the original value, not the final value.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name £900 as the original value before any calculation. Ask for the amount separately from the percentage.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£200/£900×100≈22.2%. Using £700 answers a different comparison.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students read the ratio order aloud. Simplify both values by the same GCD and convert mixed units first.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why multiplying only the boys value would break the ratio. The proportion compares boys/girls on both sides.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  <a:p>
            <a:r>
              <a:t>- Statistics Week 1 Seminar 1 - Questions.docx</a:t>
            </a:r>
          </a:p>
          <a:p>
            <a:r>
              <a:t>- Statistics Week 1 Seminar 1 - Answers.docx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part-to-part (4/5) with part-to-whole (4/9). The assumption that the two parts make the whole is essential.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name the ratio job: simplify, scale, divide a total, interpret. Require units for B and counts for groups.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Q3 uses 2+5=7 total parts, not 5. Ask why the two percentages in Q4 differ.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which ratio value corresponds to 450. The multiplier is 50, and it applies to the whole 10.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 surveyed=500 and not recommending=50 sum consistently. A total of 450 would confuse part with whole.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B12 is optional extension outside the 90-minute core route. Skip the full B12 block if needed and go directly to B13. Q1 checks factoring against formula; Q2 combines conversion and percentage.</a:t>
            </a:r>
          </a:p>
          <a:p>
            <a:endParaRPr/>
          </a:p>
          <a:p>
            <a:r>
              <a:t>[Sources]</a:t>
            </a:r>
          </a:p>
          <a:p>
            <a:r>
              <a:t>- AlgebraI(CliffsStudySolver) Part1.pdf, Chapter 4, Example Problem 2, PDF pp.187–188 / printed pp.169–170; adapted to solve and compare methods.</a:t>
            </a:r>
          </a:p>
          <a:p>
            <a:r>
              <a:t>- Basic Math and Pre-Algebra, Cliffs Study Solver (2003), Chapter 9, PDF pp.216–217 / printed pp.204–205; percentage extension based on Chapter 5, PDF pp.144–145 / printed pp.132–133.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extension: inspect every factor sign. The middle-term split is +8x−3x. Safety quantities use ≈ because 2.20 is rounded. Never sacrifice the exit check for this extension.</a:t>
            </a:r>
          </a:p>
          <a:p>
            <a:endParaRPr/>
          </a:p>
          <a:p>
            <a:r>
              <a:t>[Sources]</a:t>
            </a:r>
          </a:p>
          <a:p>
            <a:r>
              <a:t>- AlgebraI(CliffsStudySolver) Part1.pdf, Chapter 4, Example Problem 2, PDF pp.187–188 / printed pp.169–170; adapted to solve and compare methods.</a:t>
            </a:r>
          </a:p>
          <a:p>
            <a:r>
              <a:t>- Basic Math and Pre-Algebra, Cliffs Study Solver (2003), Chapter 9, PDF pp.216–217 / printed pp.204–205; percentage extension based on Chapter 5, PDF pp.144–145 / printed pp.132–133.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extension: inspect every factor sign. The middle-term split is +8x−3x. Safety quantities use ≈ because 2.20 is rounded. Never sacrifice the exit check for this extension.</a:t>
            </a:r>
          </a:p>
          <a:p>
            <a:endParaRPr/>
          </a:p>
          <a:p>
            <a:r>
              <a:t>[Sources]</a:t>
            </a:r>
          </a:p>
          <a:p>
            <a:r>
              <a:t>- AlgebraI(CliffsStudySolver) Part1.pdf, Chapter 4, Example Problem 2, PDF pp.187–188 / printed pp.169–170; adapted to solve and compare methods.</a:t>
            </a:r>
          </a:p>
          <a:p>
            <a:r>
              <a:t>- Basic Math and Pre-Algebra, Cliffs Study Solver (2003), Chapter 9, PDF pp.216–217 / printed pp.204–205; percentage extension based on Chapter 5, PDF pp.144–145 / printed pp.132–133.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B12 is optional extension outside the 90-minute core route. Skip the full B12 block if needed and go directly to B13. Q1 checks factoring against formula; Q2 combines conversion and percentage.</a:t>
            </a:r>
          </a:p>
          <a:p>
            <a:endParaRPr/>
          </a:p>
          <a:p>
            <a:r>
              <a:t>[Sources]</a:t>
            </a:r>
          </a:p>
          <a:p>
            <a:r>
              <a:t>- AlgebraI(CliffsStudySolver) Part1.pdf, Chapter 4, Example Problem 2, PDF pp.187–188 / printed pp.169–170; adapted to solve and compare methods.</a:t>
            </a:r>
          </a:p>
          <a:p>
            <a:r>
              <a:t>- Basic Math and Pre-Algebra, Cliffs Study Solver (2003), Chapter 9, PDF pp.216–217 / printed pp.204–205; percentage extension based on Chapter 5, PDF pp.144–145 / printed pp.132–133.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Optional extension: inspect every factor sign. The middle-term split is +8x−3x. Safety quantities use ≈ because 2.20 is rounded. Never sacrifice the exit check for this extension.</a:t>
            </a:r>
          </a:p>
          <a:p>
            <a:endParaRPr/>
          </a:p>
          <a:p>
            <a:r>
              <a:t>[Sources]</a:t>
            </a:r>
          </a:p>
          <a:p>
            <a:r>
              <a:t>- AlgebraI(CliffsStudySolver) Part1.pdf, Chapter 4, Example Problem 2, PDF pp.187–188 / printed pp.169–170; adapted to solve and compare methods.</a:t>
            </a:r>
          </a:p>
          <a:p>
            <a:r>
              <a:t>- Basic Math and Pre-Algebra, Cliffs Study Solver (2003), Chapter 9, PDF pp.216–217 / printed pp.204–205; percentage extension based on Chapter 5, PDF pp.144–145 / printed pp.132–133.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Protected B13 exit: 5 minutes independent work within the 8-minute exit/synthesis allocation. Students state methods before arithmetic; no partner help until collected.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two minutes to compare each exit answer with its method. Collect the specific misconception, not only the score.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One-minute synthesis within the protected exit allocation. Ask students to name one check they will carry into Class C. Class C applies the full Week 1 toolkit in the GreenSip application case.</a:t>
            </a:r>
          </a:p>
          <a:p>
            <a:endParaRPr/>
          </a:p>
          <a:p>
            <a:r>
              <a:t>[Sources]</a:t>
            </a:r>
          </a:p>
          <a:p>
            <a:r>
              <a:t>- Statistics Week 1 Lecture(1).pptx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Editabl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2154458"/>
            <a:ext cx="5012602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Editabl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2154458"/>
            <a:ext cx="5012602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89" y="1683678"/>
            <a:ext cx="9711351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89" y="1683678"/>
            <a:ext cx="9711351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der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89" y="1683678"/>
            <a:ext cx="9711351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89" y="1683678"/>
            <a:ext cx="9711351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1ACC0-FA9B-1A8A-0C04-2308327E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689" y="1683678"/>
            <a:ext cx="9711351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divider 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D414EE0-1AFC-779B-28F3-92E97752B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2154458"/>
            <a:ext cx="5012602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divider 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D414EE0-1AFC-779B-28F3-92E97752B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2154458"/>
            <a:ext cx="5012602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divider 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D414EE0-1AFC-779B-28F3-92E97752B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1384914"/>
            <a:ext cx="5012602" cy="2387600"/>
          </a:xfrm>
        </p:spPr>
        <p:txBody>
          <a:bodyPr anchor="ctr">
            <a:normAutofit/>
          </a:bodyPr>
          <a:lstStyle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and image 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4099-9C34-5CE8-8387-557FDF01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7337079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C284-DB54-6B3A-BB08-EAFB4402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52374"/>
            <a:ext cx="7337079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and image 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4099-9C34-5CE8-8387-557FDF01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7337079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C284-DB54-6B3A-BB08-EAFB4402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52374"/>
            <a:ext cx="7337079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ext and logos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4099-9C34-5CE8-8387-557FDF01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C284-DB54-6B3A-BB08-EAFB4402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52374"/>
            <a:ext cx="11293444" cy="4330731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DCDF-5CC4-CB00-9A72-4FA0DB40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79534"/>
            <a:ext cx="5589006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7F821-23A1-E30C-4CF7-BCB0A54C884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979534"/>
            <a:ext cx="5552038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4A5FE2-7F9A-3783-1BA6-A18388F5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DCDF-5CC4-CB00-9A72-4FA0DB40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3" y="1979534"/>
            <a:ext cx="3604254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4A5FE2-7F9A-3783-1BA6-A18388F5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B8B3E1-3E22-853B-33F7-08DB9B6F05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93873" y="1989591"/>
            <a:ext cx="3604254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F7CAF5-096C-F6FE-105D-033F35B064E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19985" y="1979534"/>
            <a:ext cx="3604253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and stat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4099-9C34-5CE8-8387-557FDF01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8150498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C284-DB54-6B3A-BB08-EAFB4402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52374"/>
            <a:ext cx="8150498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and testimonial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4099-9C34-5CE8-8387-557FDF013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74119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C284-DB54-6B3A-BB08-EAFB44027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52374"/>
            <a:ext cx="7411944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with Imag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DCDF-5CC4-CB00-9A72-4FA0DB40B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94" y="1979534"/>
            <a:ext cx="5589006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4A5FE2-7F9A-3783-1BA6-A18388F5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D4466F3-6EF4-7C6C-700F-D82BD03B091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1979613"/>
            <a:ext cx="5627688" cy="4351337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F4A5FE2-7F9A-3783-1BA6-A18388F5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6F8C7EE-44FF-25E2-FD85-4A9A4E59F43C}"/>
              </a:ext>
            </a:extLst>
          </p:cNvPr>
          <p:cNvSpPr>
            <a:spLocks noGrp="1"/>
          </p:cNvSpPr>
          <p:nvPr>
            <p:ph type="chart" idx="10"/>
          </p:nvPr>
        </p:nvSpPr>
        <p:spPr>
          <a:xfrm>
            <a:off x="430213" y="1928813"/>
            <a:ext cx="11293475" cy="4354512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F4A5FE2-7F9A-3783-1BA6-A18388F5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94" y="1023042"/>
            <a:ext cx="11293444" cy="79439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9F2E8F34-9DD5-6734-21E2-9B7CCAD9F297}"/>
              </a:ext>
            </a:extLst>
          </p:cNvPr>
          <p:cNvSpPr>
            <a:spLocks noGrp="1"/>
          </p:cNvSpPr>
          <p:nvPr>
            <p:ph type="tbl" idx="10"/>
          </p:nvPr>
        </p:nvSpPr>
        <p:spPr>
          <a:xfrm>
            <a:off x="430213" y="1919288"/>
            <a:ext cx="11293475" cy="43910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C7BB9-ED14-2EE7-B747-6D3AC509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B5F42-1935-63EA-A56F-BCFFCC5F3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4FD98-5FB3-0F33-190B-F09E379EA8D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B4DDA-DC7A-BA44-95F8-6F5B47B98114}" type="datetimeFigureOut">
              <a:t>10/6/26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99F5F-1ACA-4A1A-5173-27733EE4567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4A5E-3279-A2E1-BFFA-8259ABF8BC4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A60C2-D39C-DE40-8B64-BE745D99ECE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3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7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1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3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5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7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9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1.sv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3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5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7.sv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EE20-CE2E-3013-3D7D-3F4166CBD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2" y="2154457"/>
            <a:ext cx="5739898" cy="4050399"/>
          </a:xfrm>
        </p:spPr>
        <p:txBody>
          <a:bodyPr>
            <a:normAutofit fontScale="90000"/>
          </a:bodyPr>
          <a:lstStyle/>
          <a:p>
            <a:r>
              <a:rPr sz="4900"/>
              <a:t>IFY Statistics</a:t>
            </a:r>
          </a:p>
          <a:p>
            <a:r>
              <a:rPr sz="2700"/>
              <a:t>Semester 1 • Week 1 • Class B</a:t>
            </a:r>
          </a:p>
          <a:p>
            <a:endParaRPr sz="2700"/>
          </a:p>
          <a:p>
            <a:r>
              <a:rPr sz="4900"/>
              <a:t>Mathematical Foundations II</a:t>
            </a:r>
          </a:p>
          <a:p>
            <a:r>
              <a:rPr sz="4900"/>
              <a:t>Algebra &amp; Units</a:t>
            </a:r>
          </a:p>
          <a:p>
            <a:r>
              <a:rPr sz="4900"/>
              <a:t>Percentages</a:t>
            </a:r>
          </a:p>
          <a:p>
            <a:r>
              <a:rPr sz="4900"/>
              <a:t>&amp; Ratios</a:t>
            </a:r>
          </a:p>
        </p:txBody>
      </p:sp>
    </p:spTree>
    <p:extLst>
      <p:ext uri="{BB962C8B-B14F-4D97-AF65-F5344CB8AC3E}">
        <p14:creationId xmlns:p14="http://schemas.microsoft.com/office/powerpoint/2010/main" val="374223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432B-6C29-CECE-F753-22599BF6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BD87F-0408-E997-042C-156B8CFB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7433024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By the end of this class, you should be able to: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simplify algebra and solve linear equations;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recognise and solve simple quadratics;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convert measurement units correctly;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solve percentage and ratio problems.</a:t>
            </a:r>
          </a:p>
        </p:txBody>
      </p:sp>
    </p:spTree>
    <p:extLst>
      <p:ext uri="{BB962C8B-B14F-4D97-AF65-F5344CB8AC3E}">
        <p14:creationId xmlns:p14="http://schemas.microsoft.com/office/powerpoint/2010/main" val="365706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Quick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R1  What does A ∩ B mean?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R2  Choose 3 equal-role representatives from 8 students: permutation or combination?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R3  Classify √7.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R4  Calculate 18 ÷ 3 × 2.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Answer alone before comparing.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Revision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Elements in both A and B.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Combination — order does not matter.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√7 is irrational.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18 ÷ 3 × 2 = 6 × 2 = 12.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Carry method selection into today’s problems.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C3C-67FB-B165-3C59-7A3168814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1" y="2154457"/>
            <a:ext cx="5739899" cy="3488697"/>
          </a:xfrm>
        </p:spPr>
        <p:txBody>
          <a:bodyPr>
            <a:normAutofit/>
          </a:bodyPr>
          <a:lstStyle/>
          <a:p>
            <a:r>
              <a:t>Section 1:</a:t>
            </a:r>
          </a:p>
          <a:p>
            <a:r>
              <a:t>Algebra and</a:t>
            </a:r>
          </a:p>
          <a:p>
            <a:r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3422886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Parts of an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endParaRPr lang="en-US"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endParaRPr lang="en-GB" sz="2325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endParaRPr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x 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and y 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— an unknown or changeable value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Coefficients: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and </a:t>
            </a:r>
            <a:r>
              <a:rPr lang="en-US" sz="2325">
                <a:solidFill>
                  <a:srgbClr val="111111"/>
                </a:solidFill>
                <a:latin typeface="Aptos"/>
                <a:ea typeface="Aptos"/>
                <a:cs typeface="Aptos"/>
              </a:rPr>
              <a:t>B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— numbers multiplying x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and y</a:t>
            </a:r>
            <a:endParaRPr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Constants: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 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— numbers without variables</a:t>
            </a:r>
          </a:p>
        </p:txBody>
      </p:sp>
      <p:pic>
        <p:nvPicPr>
          <p:cNvPr id="1026" name="Picture 2" descr="Linear Equations - Wize High School Grade 10 Math Textbook | Wizeprep">
            <a:extLst>
              <a:ext uri="{FF2B5EF4-FFF2-40B4-BE49-F238E27FC236}">
                <a16:creationId xmlns:a16="http://schemas.microsoft.com/office/drawing/2014/main" id="{9F011618-AFCE-8DB3-247D-5D66748D2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698" y="1949207"/>
            <a:ext cx="4174908" cy="134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62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1ABE-5A97-2C36-54C8-DE69DE815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27C0-76AD-38AC-AFCF-89136D43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Parts of an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0EDE0-D84D-1D4E-E6C7-382CA206E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ctr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5x − 2x + 3 = 18</a:t>
            </a:r>
            <a:endParaRPr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x — an unknown or changeable value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Coefficients: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5 and −2 — numbers multiplying x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Constants: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3 and 18 — numbers without variables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Terms on the left: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5x, −2x and 3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Like terms: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5x and −2x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3x means 3 × x.</a:t>
            </a:r>
          </a:p>
        </p:txBody>
      </p:sp>
    </p:spTree>
    <p:extLst>
      <p:ext uri="{BB962C8B-B14F-4D97-AF65-F5344CB8AC3E}">
        <p14:creationId xmlns:p14="http://schemas.microsoft.com/office/powerpoint/2010/main" val="407397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B1: Label the mathematics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7y − 3y + 4 = 20.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Circle the variable.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Underline the coefficients.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Box the constants.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  Identify the terms on the left.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Q5  Identify the like terms.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Q6  Name the left side and right side.</a:t>
            </a:r>
          </a:p>
        </p:txBody>
      </p:sp>
      <p:sp>
        <p:nvSpPr>
          <p:cNvPr id="4" name="Handout reference B1">
            <a:extLst>
              <a:ext uri="{FF2B5EF4-FFF2-40B4-BE49-F238E27FC236}">
                <a16:creationId xmlns:a16="http://schemas.microsoft.com/office/drawing/2014/main" id="{729DF136-B049-40C5-B471-5413AC828B15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y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Coefficients: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7 and −3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Constants: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4 and 20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Terms on the left: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7y, −3y and 4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Q5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Like terms: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7y and −3y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Q6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Left side: 7y − 3y + 4; right side: 20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equals sign says that both sides have the same value.</a:t>
            </a:r>
          </a:p>
        </p:txBody>
      </p:sp>
      <p:sp>
        <p:nvSpPr>
          <p:cNvPr id="4" name="Handout reference B1">
            <a:extLst>
              <a:ext uri="{FF2B5EF4-FFF2-40B4-BE49-F238E27FC236}">
                <a16:creationId xmlns:a16="http://schemas.microsoft.com/office/drawing/2014/main" id="{29544D57-D19D-473E-8215-B47FB6490F4B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Expression or equation?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Expression: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numbers, variables and operations with no equals sign.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Example: 3x + 5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Equation: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two expressions connected by an equals sign.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Example: 3x + 5 = 20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To solve an equation, find the value that makes both sides equal.</a:t>
            </a:r>
          </a:p>
        </p:txBody>
      </p:sp>
    </p:spTree>
    <p:extLst>
      <p:ext uri="{BB962C8B-B14F-4D97-AF65-F5344CB8AC3E}">
        <p14:creationId xmlns:p14="http://schemas.microsoft.com/office/powerpoint/2010/main" val="328136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Three algebra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Simplify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combine like terms.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5x − 2x + 3 = 3x + 3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Substitute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replace a variable with its value.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If x=4, then 3x+3 = 3(4)+3 = 15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Distribute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multiply every term inside brackets.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2(y−1) = 2y−2</a:t>
            </a:r>
          </a:p>
        </p:txBody>
      </p:sp>
    </p:spTree>
    <p:extLst>
      <p:ext uri="{BB962C8B-B14F-4D97-AF65-F5344CB8AC3E}">
        <p14:creationId xmlns:p14="http://schemas.microsoft.com/office/powerpoint/2010/main" val="328136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Keep both sides balanced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rule: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use the same operation on both sides.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Inverse operations undo each other: + ↔ − and × ↔ ÷.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2x + 3 = 11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Subtract 3:   2x = 8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Divide by 2:  x = 4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Now x is alone — isolated.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Check: 2(4) + 3 = 11 ✓   Name the operation; do not only say ‘move’.</a:t>
            </a:r>
          </a:p>
        </p:txBody>
      </p:sp>
    </p:spTree>
    <p:extLst>
      <p:ext uri="{BB962C8B-B14F-4D97-AF65-F5344CB8AC3E}">
        <p14:creationId xmlns:p14="http://schemas.microsoft.com/office/powerpoint/2010/main" val="24109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B2: Balance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Solve 5x − 3 = 2x + 9.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Write the operation applied to both sides.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Isolate x.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Check the result in the original equation.</a:t>
            </a:r>
          </a:p>
        </p:txBody>
      </p:sp>
      <p:sp>
        <p:nvSpPr>
          <p:cNvPr id="4" name="Handout reference B2">
            <a:extLst>
              <a:ext uri="{FF2B5EF4-FFF2-40B4-BE49-F238E27FC236}">
                <a16:creationId xmlns:a16="http://schemas.microsoft.com/office/drawing/2014/main" id="{A1419630-104C-47EC-9E80-833EA7A87983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2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B2: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Apply the same operation to both sides.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Subtract 2x: 3x − 3 = 9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Add 3: 3x = 12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Isolate x: divide by 3, so x = 4.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Check in the original equation.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Left side = 5(4) − 3 = 17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Right side = 2(4) + 9 = 17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Therefore, x = 4.</a:t>
            </a:r>
          </a:p>
        </p:txBody>
      </p:sp>
      <p:sp>
        <p:nvSpPr>
          <p:cNvPr id="4" name="Handout reference B2">
            <a:extLst>
              <a:ext uri="{FF2B5EF4-FFF2-40B4-BE49-F238E27FC236}">
                <a16:creationId xmlns:a16="http://schemas.microsoft.com/office/drawing/2014/main" id="{2528A353-F261-4503-991D-74523358B615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2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B3: Brackets and like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Solve 5y + 2(y − 1) = 3y + 10.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Distribute, then 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simplify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Apply the same operation to both sides.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 your value in the original equation.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Show each balancing step.</a:t>
            </a:r>
          </a:p>
        </p:txBody>
      </p:sp>
      <p:sp>
        <p:nvSpPr>
          <p:cNvPr id="4" name="Handout reference B3">
            <a:extLst>
              <a:ext uri="{FF2B5EF4-FFF2-40B4-BE49-F238E27FC236}">
                <a16:creationId xmlns:a16="http://schemas.microsoft.com/office/drawing/2014/main" id="{1325779B-8CA1-4550-9A7B-41292031FB6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3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B3: Q1 worked 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Distribute and combine like terms.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5y + 2y − 2 = 3y + 10</a:t>
            </a:r>
          </a:p>
          <a:p>
            <a:pPr marL="34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7y − 2 = 3y + 10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Subtract 3y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from both sides: 4y − 2 = 10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Add 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to both sides: 4y = 12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Divide both sides by 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: y = 3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5(3) + 2(3 − 1) = 19; 3(3) + 10 = 19.</a:t>
            </a:r>
          </a:p>
        </p:txBody>
      </p:sp>
      <p:sp>
        <p:nvSpPr>
          <p:cNvPr id="4" name="Handout reference B3">
            <a:extLst>
              <a:ext uri="{FF2B5EF4-FFF2-40B4-BE49-F238E27FC236}">
                <a16:creationId xmlns:a16="http://schemas.microsoft.com/office/drawing/2014/main" id="{3595E740-9ACD-4AA1-80F3-D7046D31874C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3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B3: Optional fraction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047875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Solve the equation below.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multiply every term by 20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(</a:t>
            </a:r>
            <a:r>
              <a:rPr lang="en-US" sz="2325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GCD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)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to remove the fractions</a:t>
            </a:r>
            <a:r>
              <a:rPr lang="en-US"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Then distribute, combine like terms, balance and check.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Show every operation on both sides.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000" y="4410075"/>
            <a:ext cx="10287000" cy="1314450"/>
          </a:xfrm>
          <a:prstGeom prst="rect">
            <a:avLst/>
          </a:prstGeom>
        </p:spPr>
      </p:pic>
      <p:sp>
        <p:nvSpPr>
          <p:cNvPr id="5" name="Handout reference B3">
            <a:extLst>
              <a:ext uri="{FF2B5EF4-FFF2-40B4-BE49-F238E27FC236}">
                <a16:creationId xmlns:a16="http://schemas.microsoft.com/office/drawing/2014/main" id="{A99F4C6C-E79F-410B-A081-78F9837AE2D4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8B5F8-3A69-AEE5-DC11-8553E7FF96A4}"/>
              </a:ext>
            </a:extLst>
          </p:cNvPr>
          <p:cNvSpPr txBox="1"/>
          <p:nvPr/>
        </p:nvSpPr>
        <p:spPr>
          <a:xfrm>
            <a:off x="3489435" y="2633953"/>
            <a:ext cx="345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Greatest Common Divisor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B3: Q2 remove the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1857375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Optional challenge: multiply every term by 20.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includes the term −z.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denominators 5 and 4 both divide into 20.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3886200"/>
            <a:ext cx="10763250" cy="2266950"/>
          </a:xfrm>
          <a:prstGeom prst="rect">
            <a:avLst/>
          </a:prstGeom>
        </p:spPr>
      </p:pic>
      <p:sp>
        <p:nvSpPr>
          <p:cNvPr id="5" name="Handout reference B3">
            <a:extLst>
              <a:ext uri="{FF2B5EF4-FFF2-40B4-BE49-F238E27FC236}">
                <a16:creationId xmlns:a16="http://schemas.microsoft.com/office/drawing/2014/main" id="{B4D8E20C-54D0-424C-B231-F0D2191507D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3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B3: Q2 balance and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857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Optional challenge: distribute and combine.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8z − 4 − 20z = 20 − 15z</a:t>
            </a:r>
          </a:p>
          <a:p>
            <a:pPr marL="34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−12z − 4 = 20 − 15z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Add 15z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to both sides: 3z − 4 = 20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Add 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to both sides: 3z = 24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Divide both sides by 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: z = 8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4981575"/>
            <a:ext cx="10763250" cy="1266825"/>
          </a:xfrm>
          <a:prstGeom prst="rect">
            <a:avLst/>
          </a:prstGeom>
        </p:spPr>
      </p:pic>
      <p:sp>
        <p:nvSpPr>
          <p:cNvPr id="5" name="Handout reference B3">
            <a:extLst>
              <a:ext uri="{FF2B5EF4-FFF2-40B4-BE49-F238E27FC236}">
                <a16:creationId xmlns:a16="http://schemas.microsoft.com/office/drawing/2014/main" id="{3252C497-D7C5-442B-8C72-0C5B865CE98C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3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C3C-67FB-B165-3C59-7A3168814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1" y="2154457"/>
            <a:ext cx="5739899" cy="3488697"/>
          </a:xfrm>
        </p:spPr>
        <p:txBody>
          <a:bodyPr>
            <a:normAutofit/>
          </a:bodyPr>
          <a:lstStyle/>
          <a:p>
            <a:r>
              <a:t>Section 2:</a:t>
            </a:r>
          </a:p>
          <a:p>
            <a:r>
              <a:t>Quadratic</a:t>
            </a:r>
          </a:p>
          <a:p>
            <a:r>
              <a:t>Equations</a:t>
            </a:r>
          </a:p>
        </p:txBody>
      </p:sp>
    </p:spTree>
    <p:extLst>
      <p:ext uri="{BB962C8B-B14F-4D97-AF65-F5344CB8AC3E}">
        <p14:creationId xmlns:p14="http://schemas.microsoft.com/office/powerpoint/2010/main" val="3422886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What makes a quadratic?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Standard form:  ax² + bx + c = 0,  a ≠ 0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highest </a:t>
            </a:r>
            <a:r>
              <a:rPr sz="2325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power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of x is 2.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a, b and c include their signs.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</a:t>
            </a:r>
            <a:r>
              <a:rPr sz="2325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root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is a value of x that makes the equation equal zero.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</a:t>
            </a:r>
            <a:r>
              <a:rPr sz="2325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quadratic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may have two, one or no real-number roots.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introductory class uses examples with real-number roots.</a:t>
            </a:r>
          </a:p>
        </p:txBody>
      </p:sp>
    </p:spTree>
    <p:extLst>
      <p:ext uri="{BB962C8B-B14F-4D97-AF65-F5344CB8AC3E}">
        <p14:creationId xmlns:p14="http://schemas.microsoft.com/office/powerpoint/2010/main" val="3281361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B4: Quadratic or not?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after rewriting into standard form.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2x + 5 = 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x² + 5x + 6 = 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x³ − 2 = 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  4x² = 9</a:t>
            </a:r>
          </a:p>
        </p:txBody>
      </p:sp>
      <p:sp>
        <p:nvSpPr>
          <p:cNvPr id="4" name="Handout reference B4">
            <a:extLst>
              <a:ext uri="{FF2B5EF4-FFF2-40B4-BE49-F238E27FC236}">
                <a16:creationId xmlns:a16="http://schemas.microsoft.com/office/drawing/2014/main" id="{E623D80D-259F-4FD1-A5FA-F365FEC9E31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4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B4: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Not quadratic — linear.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Quadratic.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Not quadratic — cubic.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Quadratic: 4x² − 9 = 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 question 4: a=4, b=0, c=−9.</a:t>
            </a:r>
          </a:p>
        </p:txBody>
      </p:sp>
      <p:sp>
        <p:nvSpPr>
          <p:cNvPr id="4" name="Handout reference B4">
            <a:extLst>
              <a:ext uri="{FF2B5EF4-FFF2-40B4-BE49-F238E27FC236}">
                <a16:creationId xmlns:a16="http://schemas.microsoft.com/office/drawing/2014/main" id="{F08ECDD2-AD56-4586-B8BA-DB006B627E4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4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44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METHOD 1: </a:t>
            </a:r>
            <a:r>
              <a:rPr sz="440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Factoring</a:t>
            </a:r>
            <a:endParaRPr sz="4400" b="0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x² + 5x + 6 = 0     Here, a = 1.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Step 1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Find two numbers: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multiply to 6 and add to 5 → 2 and 3.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Step 2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brackets: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(x + 2)(x + 3) = 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Step 3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the zero-product rule: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if A × B = 0, then A = 0 or B = 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Step 4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Set each bracket to zero: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x + 2 = 0 or x + 3 = 0 → x = −2 or x = −3</a:t>
            </a:r>
          </a:p>
        </p:txBody>
      </p:sp>
      <p:pic>
        <p:nvPicPr>
          <p:cNvPr id="4" name="Picture 3" descr="Download Shocked Meme Man - Surreal Memes Meme Man PNG Image with No  Background - PNGkey.com">
            <a:extLst>
              <a:ext uri="{FF2B5EF4-FFF2-40B4-BE49-F238E27FC236}">
                <a16:creationId xmlns:a16="http://schemas.microsoft.com/office/drawing/2014/main" id="{63B79F90-D841-75DD-42DD-828254D35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875" y="300201"/>
            <a:ext cx="2222359" cy="252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61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07C4-C240-7FBD-70B0-FCEA2481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E1C2-17AB-0AF8-2068-B3BF7189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Factoring</a:t>
            </a: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n-US"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– Guided Practice</a:t>
            </a:r>
            <a:endParaRPr sz="4400" b="0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2309-F843-A703-9CED-59F90C6F3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  <a:endParaRPr lang="en-US"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endParaRPr lang="en-US" sz="2325">
              <a:solidFill>
                <a:srgbClr val="111111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endParaRPr sz="2325" b="0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2A94CA-E9E9-3A28-2DAE-87D8AD0FD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974" y="1952339"/>
            <a:ext cx="3667637" cy="552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E9D6C-6FC0-3AB3-051C-40611775C9E4}"/>
              </a:ext>
            </a:extLst>
          </p:cNvPr>
          <p:cNvSpPr txBox="1"/>
          <p:nvPr/>
        </p:nvSpPr>
        <p:spPr>
          <a:xfrm>
            <a:off x="430816" y="5913739"/>
            <a:ext cx="850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*We are going to have factoring practice in Class C this week. </a:t>
            </a:r>
          </a:p>
        </p:txBody>
      </p:sp>
    </p:spTree>
    <p:extLst>
      <p:ext uri="{BB962C8B-B14F-4D97-AF65-F5344CB8AC3E}">
        <p14:creationId xmlns:p14="http://schemas.microsoft.com/office/powerpoint/2010/main" val="3321979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44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METHOD 2: </a:t>
            </a: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The quadratic </a:t>
            </a:r>
            <a:r>
              <a:rPr sz="440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6191250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values from ax² + bx + c = 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a: coefficient of x²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b: coefficient of x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c: constant — keep its sign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√ means square root.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± means two calculations: + and −.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Divide the whole numerator by 2a.</a:t>
            </a: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714625"/>
            <a:ext cx="4095750" cy="10763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2680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B5: Build the quadratic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Solve 2x² + 5x − 3 = 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Identify a, b and c.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Substitute carefully: c is negative.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Calculate both roots using ±.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Do not calculate until the substitution is checked.</a:t>
            </a:r>
          </a:p>
        </p:txBody>
      </p:sp>
      <p:sp>
        <p:nvSpPr>
          <p:cNvPr id="4" name="Handout reference B5">
            <a:extLst>
              <a:ext uri="{FF2B5EF4-FFF2-40B4-BE49-F238E27FC236}">
                <a16:creationId xmlns:a16="http://schemas.microsoft.com/office/drawing/2014/main" id="{C38923DE-CF07-406C-AE10-839EAED6E1A8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5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468F3747-E4F7-64F0-8368-E32C2E5E9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714625"/>
            <a:ext cx="4095750" cy="10763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B5: Coefficients and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1476375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a = 2, b = 5, c = −3. Keep the negative sign.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Discriminant: 5² − 4(2)(−3) = 25 + 24 = 49.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Denominator: 2a = 2(2) = 4.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3505200"/>
            <a:ext cx="10668000" cy="2600325"/>
          </a:xfrm>
          <a:prstGeom prst="rect">
            <a:avLst/>
          </a:prstGeom>
        </p:spPr>
      </p:pic>
      <p:sp>
        <p:nvSpPr>
          <p:cNvPr id="5" name="Handout reference B5">
            <a:extLst>
              <a:ext uri="{FF2B5EF4-FFF2-40B4-BE49-F238E27FC236}">
                <a16:creationId xmlns:a16="http://schemas.microsoft.com/office/drawing/2014/main" id="{C8B7C6D4-6681-4849-A2BA-7A70A821D666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5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513B7C83-0F33-9668-9A5F-76D89FE34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2714625"/>
            <a:ext cx="4095750" cy="10763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B5: Calculate both roots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11430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√49 = 7. Calculate the + branch and the − branch.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Answer: x = 0.5 or x = −3.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3505200"/>
            <a:ext cx="10763250" cy="2457450"/>
          </a:xfrm>
          <a:prstGeom prst="rect">
            <a:avLst/>
          </a:prstGeom>
        </p:spPr>
      </p:pic>
      <p:sp>
        <p:nvSpPr>
          <p:cNvPr id="5" name="Handout reference B5">
            <a:extLst>
              <a:ext uri="{FF2B5EF4-FFF2-40B4-BE49-F238E27FC236}">
                <a16:creationId xmlns:a16="http://schemas.microsoft.com/office/drawing/2014/main" id="{493B3293-6921-4C9D-87F8-295B719283A9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5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1AD0-6919-C8B9-3534-78671DDE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So…. Factoring or the Formula?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5B8C9-F971-9952-0EAC-A2C5BCA87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72" y="2554866"/>
            <a:ext cx="9842938" cy="248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Factoring</a:t>
            </a:r>
            <a:r>
              <a:rPr lang="en-US"/>
              <a:t> is faster when the two numbers are easy to find. </a:t>
            </a:r>
          </a:p>
          <a:p>
            <a:pPr marL="0" indent="0">
              <a:buNone/>
            </a:pPr>
            <a:endParaRPr 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The quadratic formula </a:t>
            </a:r>
            <a:r>
              <a:rPr lang="en-US"/>
              <a:t>is better when they are difficult to find or don’t exist as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2911693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C3C-67FB-B165-3C59-7A3168814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1" y="2154457"/>
            <a:ext cx="5739899" cy="3488697"/>
          </a:xfrm>
        </p:spPr>
        <p:txBody>
          <a:bodyPr>
            <a:normAutofit/>
          </a:bodyPr>
          <a:lstStyle/>
          <a:p>
            <a:r>
              <a:t>Section 3:</a:t>
            </a:r>
          </a:p>
          <a:p>
            <a:r>
              <a:t>Units and</a:t>
            </a:r>
          </a:p>
          <a:p>
            <a:r>
              <a:t>Conversions</a:t>
            </a:r>
          </a:p>
        </p:txBody>
      </p:sp>
    </p:spTree>
    <p:extLst>
      <p:ext uri="{BB962C8B-B14F-4D97-AF65-F5344CB8AC3E}">
        <p14:creationId xmlns:p14="http://schemas.microsoft.com/office/powerpoint/2010/main" val="3422886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Measurement systems</a:t>
            </a:r>
          </a:p>
        </p:txBody>
      </p:sp>
      <p:graphicFrame>
        <p:nvGraphicFramePr>
          <p:cNvPr id="5" name="Bellerbys teaching table"/>
          <p:cNvGraphicFramePr/>
          <p:nvPr>
            <p:extLst>
              <p:ext uri="{D42A27DB-BD31-4B8C-83A1-F6EECF244321}">
                <p14:modId xmlns:p14="http://schemas.microsoft.com/office/powerpoint/2010/main" val="136740747"/>
              </p:ext>
            </p:extLst>
          </p:nvPr>
        </p:nvGraphicFramePr>
        <p:xfrm>
          <a:off x="430816" y="1952625"/>
          <a:ext cx="11544300" cy="4000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Quantity</a:t>
                      </a:r>
                    </a:p>
                  </a:txBody>
                  <a:tcPr anchor="ctr">
                    <a:solidFill>
                      <a:srgbClr val="D617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Metric units</a:t>
                      </a:r>
                    </a:p>
                  </a:txBody>
                  <a:tcPr anchor="ctr">
                    <a:solidFill>
                      <a:srgbClr val="D617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75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Imperial</a:t>
                      </a:r>
                      <a:r>
                        <a:rPr sz="1875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 units</a:t>
                      </a:r>
                    </a:p>
                  </a:txBody>
                  <a:tcPr anchor="ctr">
                    <a:solidFill>
                      <a:srgbClr val="D6171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Useful relationship</a:t>
                      </a:r>
                    </a:p>
                  </a:txBody>
                  <a:tcPr anchor="ctr">
                    <a:solidFill>
                      <a:srgbClr val="D6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Length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mm, cm, m, km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inch, foot, mile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m = 100 cm; 1 km = 1000 m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m ≈ 3.281 ft; 1 in = 2.54 cm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mi ≈ 1.609 km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Mass</a:t>
                      </a:r>
                    </a:p>
                  </a:txBody>
                  <a:tcPr anchor="ctr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g, kg</a:t>
                      </a:r>
                    </a:p>
                  </a:txBody>
                  <a:tcPr anchor="ctr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ounce, pound</a:t>
                      </a:r>
                    </a:p>
                  </a:txBody>
                  <a:tcPr anchor="ctr"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kg = 1000 g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kg ≈ 2.20 lb</a:t>
                      </a:r>
                    </a:p>
                  </a:txBody>
                  <a:tcPr anchor="ctr">
                    <a:solidFill>
                      <a:srgbClr val="EF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mL,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US fl oz, US gallon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 dirty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L = 1000 mL; 1 L ≈ 33.814 US </a:t>
                      </a:r>
                      <a:r>
                        <a:rPr sz="1800" b="0" dirty="0" err="1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fl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 oz</a:t>
                      </a:r>
                    </a:p>
                    <a:p>
                      <a:pPr algn="l">
                        <a:buNone/>
                      </a:pPr>
                      <a:r>
                        <a:rPr sz="1800" b="0" dirty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 US gal ≈ 3.785 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26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Use a conversion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38125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Equivalent measurements form a ratio equal to 1.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Rounded conversion factors are approximate.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Convert 10 km to miles using 1 mile ≈ 1.609 km.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Put the old unit on the bottom so it cancels.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4505325"/>
            <a:ext cx="10763250" cy="1600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75EB26-13AC-2D03-AD83-FC57D9EEFD68}"/>
              </a:ext>
            </a:extLst>
          </p:cNvPr>
          <p:cNvSpPr txBox="1"/>
          <p:nvPr/>
        </p:nvSpPr>
        <p:spPr>
          <a:xfrm>
            <a:off x="6947338" y="4572000"/>
            <a:ext cx="23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decimal points </a:t>
            </a:r>
          </a:p>
        </p:txBody>
      </p:sp>
    </p:spTree>
    <p:extLst>
      <p:ext uri="{BB962C8B-B14F-4D97-AF65-F5344CB8AC3E}">
        <p14:creationId xmlns:p14="http://schemas.microsoft.com/office/powerpoint/2010/main" val="32813612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B6: Predict, convert and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Predict whether the number becomes larger or smaller.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measured quantity stays the same.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750 mL → L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12 km → miles; 1 mile ≈ 1.609 km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100 inches → cm; 1 inch = 2.54 cm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the conversion factor and final unit.</a:t>
            </a:r>
          </a:p>
        </p:txBody>
      </p:sp>
      <p:sp>
        <p:nvSpPr>
          <p:cNvPr id="4" name="Handout reference B6">
            <a:extLst>
              <a:ext uri="{FF2B5EF4-FFF2-40B4-BE49-F238E27FC236}">
                <a16:creationId xmlns:a16="http://schemas.microsoft.com/office/drawing/2014/main" id="{7CFD5EA5-2D93-4744-8AFB-165DF86AB8B0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6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B6: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952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Smaller.     Q2  Smaller.     Q3  Larger.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 that the old unit cancels and the final unit is sensible.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3028950"/>
            <a:ext cx="10763250" cy="3124200"/>
          </a:xfrm>
          <a:prstGeom prst="rect">
            <a:avLst/>
          </a:prstGeom>
        </p:spPr>
      </p:pic>
      <p:sp>
        <p:nvSpPr>
          <p:cNvPr id="5" name="Handout reference B6">
            <a:extLst>
              <a:ext uri="{FF2B5EF4-FFF2-40B4-BE49-F238E27FC236}">
                <a16:creationId xmlns:a16="http://schemas.microsoft.com/office/drawing/2014/main" id="{D5CC1391-E103-47AA-A1B6-F150EF920E0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6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B7: Make a conversion safety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2,400 kg packaging machine must be lifted.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Forklift capacity: 5,000 lb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1 kg ≈ 2.20 lb.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Convert the machine mass to pounds.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Is this forklift safe to use?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State the evidence for your decision.</a:t>
            </a:r>
          </a:p>
        </p:txBody>
      </p:sp>
      <p:sp>
        <p:nvSpPr>
          <p:cNvPr id="4" name="Handout reference B7">
            <a:extLst>
              <a:ext uri="{FF2B5EF4-FFF2-40B4-BE49-F238E27FC236}">
                <a16:creationId xmlns:a16="http://schemas.microsoft.com/office/drawing/2014/main" id="{75514D9D-6A75-42C0-A64D-DAC4059F4E0D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7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B7: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857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Convert the mass using the rounded factor below.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Decision: do not use this forklift.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Evidence: about 5,280 lb is above the 5,000 lb limit.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The load is approximately 280 lb above capacity.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correct conversion supports a safety decision.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4981575"/>
            <a:ext cx="10763250" cy="1266825"/>
          </a:xfrm>
          <a:prstGeom prst="rect">
            <a:avLst/>
          </a:prstGeom>
        </p:spPr>
      </p:pic>
      <p:sp>
        <p:nvSpPr>
          <p:cNvPr id="5" name="Handout reference B7">
            <a:extLst>
              <a:ext uri="{FF2B5EF4-FFF2-40B4-BE49-F238E27FC236}">
                <a16:creationId xmlns:a16="http://schemas.microsoft.com/office/drawing/2014/main" id="{CA453055-6786-40AF-9CDD-685AC5D6EFAF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7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FC3C-67FB-B165-3C59-7A3168814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01" y="2154457"/>
            <a:ext cx="5739899" cy="3488697"/>
          </a:xfrm>
        </p:spPr>
        <p:txBody>
          <a:bodyPr>
            <a:normAutofit/>
          </a:bodyPr>
          <a:lstStyle/>
          <a:p>
            <a:r>
              <a:t>Section 4:</a:t>
            </a:r>
          </a:p>
          <a:p>
            <a:r>
              <a:t>Percentages</a:t>
            </a:r>
          </a:p>
          <a:p>
            <a:r>
              <a:t>and Ratios</a:t>
            </a:r>
          </a:p>
        </p:txBody>
      </p:sp>
    </p:spTree>
    <p:extLst>
      <p:ext uri="{BB962C8B-B14F-4D97-AF65-F5344CB8AC3E}">
        <p14:creationId xmlns:p14="http://schemas.microsoft.com/office/powerpoint/2010/main" val="34228864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Find the missing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3238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PART = RATE × WHOLE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 = part; R = decimal rate; W = whole.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Find the part: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P = R × W → 0.25 × 80 = 20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Find the percentage: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R = P ÷ W → 20 ÷ 50 = 40%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Find the whole: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W = P ÷ R → 24 ÷ 0.40 = 60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Percentage ÷ 100 gives the decimal rate.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5219700"/>
            <a:ext cx="104775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42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Discounts, tax and equivalents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3238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Discount: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subtract from the original price.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20% of £100 = £20; sale price = £100 − £20 = £80.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Tax: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add to the original price.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8% of £50 = £4; total price = £50 + £4 = £54.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Fraction → decimal: divide.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Decimal → percentage: multiply by 100%.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5219700"/>
            <a:ext cx="104775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17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B8: Choose the percentage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Name the unknown before calculating.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Find 35% of 240.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18 is what percentage of 72?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42 is 35% of what number?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  A £280 item has 15% off. Find the sale price.</a:t>
            </a:r>
          </a:p>
        </p:txBody>
      </p:sp>
      <p:sp>
        <p:nvSpPr>
          <p:cNvPr id="4" name="Handout reference B8">
            <a:extLst>
              <a:ext uri="{FF2B5EF4-FFF2-40B4-BE49-F238E27FC236}">
                <a16:creationId xmlns:a16="http://schemas.microsoft.com/office/drawing/2014/main" id="{F4E30616-93E3-4610-B1EC-D01740859705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8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B8: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Unknown: part.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0.35 × 240 = 84.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Unknown: percentage.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18 ÷ 72 = 0.25 = 25%.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Unknown: whole.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42 ÷ 0.35 = 120.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</a:t>
            </a: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Unknown: sale price.</a:t>
            </a:r>
          </a:p>
          <a:p>
            <a:pPr marL="34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Discount = 0.15 × £280 = £42.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Sale price = £280 − £42 = £238.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Identify the unknown before choosing the operation.</a:t>
            </a:r>
          </a:p>
        </p:txBody>
      </p:sp>
      <p:sp>
        <p:nvSpPr>
          <p:cNvPr id="4" name="Handout reference B8">
            <a:extLst>
              <a:ext uri="{FF2B5EF4-FFF2-40B4-BE49-F238E27FC236}">
                <a16:creationId xmlns:a16="http://schemas.microsoft.com/office/drawing/2014/main" id="{97196A20-99A9-4BC6-AEA5-F7E4CBB6DF0D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8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Use the starting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2428875"/>
            <a:ext cx="4095750" cy="314325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denominator is always the starting value.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starting value must not be zero.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Example: £50 → £75 is a 50% increase.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57750" y="1857375"/>
            <a:ext cx="66675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903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B9: Use the starting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product falls from £900 to £700.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Find the amount of change.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Find the percentage decrease.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Explain why dividing by £700 is wrong.</a:t>
            </a:r>
          </a:p>
        </p:txBody>
      </p:sp>
      <p:sp>
        <p:nvSpPr>
          <p:cNvPr id="4" name="Handout reference B9">
            <a:extLst>
              <a:ext uri="{FF2B5EF4-FFF2-40B4-BE49-F238E27FC236}">
                <a16:creationId xmlns:a16="http://schemas.microsoft.com/office/drawing/2014/main" id="{C52B7755-7789-46EC-9934-67099DCAF21C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9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B9: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Amount of change: £900 − £700 = £200.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Percentage decrease: £200 ÷ £900 × 100% ≈ 22.2%.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Why not divide by £700?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£900 is the starting value, so it is the denominator; £700 is the new value.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Answer: percentage decrease ≈ 22.2%.</a:t>
            </a:r>
          </a:p>
        </p:txBody>
      </p:sp>
      <p:sp>
        <p:nvSpPr>
          <p:cNvPr id="4" name="Handout reference B9">
            <a:extLst>
              <a:ext uri="{FF2B5EF4-FFF2-40B4-BE49-F238E27FC236}">
                <a16:creationId xmlns:a16="http://schemas.microsoft.com/office/drawing/2014/main" id="{36F513BD-009B-47C0-87DD-E9F40E3EB898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9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Ratios have a stated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3238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 ratio can use a </a:t>
            </a:r>
            <a:r>
              <a:rPr sz="2325" b="1">
                <a:solidFill>
                  <a:srgbClr val="FF0000"/>
                </a:solidFill>
                <a:latin typeface="Aptos"/>
                <a:ea typeface="Aptos"/>
                <a:cs typeface="Aptos"/>
              </a:rPr>
              <a:t>colon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or a fraction.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a:b means “for every a of the first, there are b of the second”.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Simplify integer ratios using the greatest common divisor.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GCD(8,12) = 4, so 8:12 = 2:3.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Convert different units before comparing.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 two parts of a complete whole, total parts = a + b.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5219700"/>
            <a:ext cx="104775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08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Scale every part equally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3238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boys:girls ratio is 3:4. There are 21 boys.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Scale-factor method: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3 parts → 21, so multiply by 7.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4 parts → 4 × 7 = 28 girls.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Both methods give the same answer.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Alternative proportion: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let g = number of girls.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5219700"/>
            <a:ext cx="104775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Choose the denominator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8575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 4:5, assume both quantities make the complete total.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Read the wording before choosing the denominator.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compared with second: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4 ÷ 5 = 80%. “4 is 80% of 5.”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as part of the total:</a:t>
            </a:r>
          </a:p>
        </p:txBody>
      </p:sp>
      <p:pic>
        <p:nvPicPr>
          <p:cNvPr id="7" name="Graphic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000" y="4838700"/>
            <a:ext cx="104775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007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B10: Interpret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Simplify 45:60.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A:B = 3:2. If A = 18 L, find B.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Divide 70 students in the ratio 2:5.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  For 4:5, find the first quantity as a percentage of the second, then of the total.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what each number means before calculating.</a:t>
            </a:r>
          </a:p>
        </p:txBody>
      </p:sp>
      <p:sp>
        <p:nvSpPr>
          <p:cNvPr id="4" name="Handout reference B10">
            <a:extLst>
              <a:ext uri="{FF2B5EF4-FFF2-40B4-BE49-F238E27FC236}">
                <a16:creationId xmlns:a16="http://schemas.microsoft.com/office/drawing/2014/main" id="{AC4DA578-EA8D-4741-BCAE-6C9A38DD9E22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10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B10: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45:60 = 3:4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3 → 18 means ×6; B = 2 × 6 = 12 L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7 parts; 70 ÷ 7 = 10; groups = 20 and 50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4 ÷ 5 = 80%; 4 ÷ (4 + 5) ≈ 44.4%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wording decides the denominator.</a:t>
            </a:r>
          </a:p>
        </p:txBody>
      </p:sp>
      <p:sp>
        <p:nvSpPr>
          <p:cNvPr id="4" name="Handout reference B10">
            <a:extLst>
              <a:ext uri="{FF2B5EF4-FFF2-40B4-BE49-F238E27FC236}">
                <a16:creationId xmlns:a16="http://schemas.microsoft.com/office/drawing/2014/main" id="{6B057820-5450-4818-95FE-D1038D25CC78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10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B11: Find the missing total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 out of every 10 customers recommend a product.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450 customers recommended it.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How many customers were surveyed?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How many did not recommend it?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Show the scale factor.</a:t>
            </a:r>
          </a:p>
        </p:txBody>
      </p:sp>
      <p:sp>
        <p:nvSpPr>
          <p:cNvPr id="4" name="Handout reference B11">
            <a:extLst>
              <a:ext uri="{FF2B5EF4-FFF2-40B4-BE49-F238E27FC236}">
                <a16:creationId xmlns:a16="http://schemas.microsoft.com/office/drawing/2014/main" id="{19C658B8-6290-4E49-B260-7D93168D6D23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11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B11: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Total surveyed: 500 customers.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9 recommended becomes 450, so the scale factor is ×50.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10 surveyed becomes 10 × 50 = 500.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Did not recommend: 500 − 450 = 50 customers.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Scale factor: ×50.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  The two linked steps give 500 surveyed and 50 who did not recommend.</a:t>
            </a:r>
          </a:p>
        </p:txBody>
      </p:sp>
      <p:sp>
        <p:nvSpPr>
          <p:cNvPr id="4" name="Handout reference B11">
            <a:extLst>
              <a:ext uri="{FF2B5EF4-FFF2-40B4-BE49-F238E27FC236}">
                <a16:creationId xmlns:a16="http://schemas.microsoft.com/office/drawing/2014/main" id="{6A8CAD64-5610-4E73-8D46-5B7CAB5453BC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11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B12: Optional quadratic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Solve 2x² + 5x − 12 = 0 in two ways.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 factoring and the quadratic formula.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Factoring hint: split +5x into +8x − 3x.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Do both methods give the same roots?</a:t>
            </a:r>
          </a:p>
        </p:txBody>
      </p:sp>
      <p:sp>
        <p:nvSpPr>
          <p:cNvPr id="4" name="Handout reference B12">
            <a:extLst>
              <a:ext uri="{FF2B5EF4-FFF2-40B4-BE49-F238E27FC236}">
                <a16:creationId xmlns:a16="http://schemas.microsoft.com/office/drawing/2014/main" id="{0231F81C-5E3E-4192-BE54-EF87DC24BD05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12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B12: Optional factoring reveal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304800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Split the middle term, then group.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2x² + 8x − 3x − 12 = 0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2x(x + 4) − 3(x + 4) = 0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(2x − 3)(x + 4) = 0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Set each factor equal to zero.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2x − 3 = 0  or  x + 4 = 0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14375" y="5076825"/>
            <a:ext cx="10477500" cy="1171575"/>
          </a:xfrm>
          <a:prstGeom prst="rect">
            <a:avLst/>
          </a:prstGeom>
        </p:spPr>
      </p:pic>
      <p:sp>
        <p:nvSpPr>
          <p:cNvPr id="5" name="Handout reference B12">
            <a:extLst>
              <a:ext uri="{FF2B5EF4-FFF2-40B4-BE49-F238E27FC236}">
                <a16:creationId xmlns:a16="http://schemas.microsoft.com/office/drawing/2014/main" id="{8C0F9F32-A621-4C12-B359-A155E959D849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12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B12: Optional formula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1381125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a = 2, b = 5, c = −12; 2a = 4.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Discriminant = 5² − 4(2)(−12) = 121.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two methods agree.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3362325"/>
            <a:ext cx="10763250" cy="2981325"/>
          </a:xfrm>
          <a:prstGeom prst="rect">
            <a:avLst/>
          </a:prstGeom>
        </p:spPr>
      </p:pic>
      <p:sp>
        <p:nvSpPr>
          <p:cNvPr id="5" name="Handout reference B12">
            <a:extLst>
              <a:ext uri="{FF2B5EF4-FFF2-40B4-BE49-F238E27FC236}">
                <a16:creationId xmlns:a16="http://schemas.microsoft.com/office/drawing/2014/main" id="{83F822EA-F8F9-4A82-A63C-C26C7D993ABA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12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B12: Optional safety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A machine has mass 3,000 kg.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Forklift limit: 5,000 lb. Use 1 kg ≈ 2.20 lb.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Is this forklift safe to use?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What percentage above the limit is the load?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Convert first, then compare with the stated limit.</a:t>
            </a:r>
          </a:p>
        </p:txBody>
      </p:sp>
      <p:sp>
        <p:nvSpPr>
          <p:cNvPr id="4" name="Handout reference B12">
            <a:extLst>
              <a:ext uri="{FF2B5EF4-FFF2-40B4-BE49-F238E27FC236}">
                <a16:creationId xmlns:a16="http://schemas.microsoft.com/office/drawing/2014/main" id="{B883AAD1-6239-434A-9D64-FC1CF87A5D69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12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B12: Optional safety reveal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2333625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Do not use this forklift: the load is above the limit.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Converted mass ≈ 6,600 lb (rounded conversion factor).</a:t>
            </a:r>
          </a:p>
          <a:p>
            <a:pPr marL="34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  Excess ≈ 6,600 − 5,000 = 1,600 lb.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percentage denominator is the 5,000 lb limit.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66750" y="4314825"/>
            <a:ext cx="10763250" cy="1981200"/>
          </a:xfrm>
          <a:prstGeom prst="rect">
            <a:avLst/>
          </a:prstGeom>
        </p:spPr>
      </p:pic>
      <p:sp>
        <p:nvSpPr>
          <p:cNvPr id="5" name="Handout reference B12">
            <a:extLst>
              <a:ext uri="{FF2B5EF4-FFF2-40B4-BE49-F238E27FC236}">
                <a16:creationId xmlns:a16="http://schemas.microsoft.com/office/drawing/2014/main" id="{5207F3F7-3909-465B-A86C-E92197896139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12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B13: Independent exit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  Solve 3x + 5 = 20.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  Solve x² − 5x + 6 = 0 by factoring.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  Convert 3 miles to kilometres; 1 mile ≈ 1.609 km.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  Find the percentage increase from £40 to £50.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Q5  Simplify the ratio 16:24.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Write the method before the arithmetic.</a:t>
            </a:r>
          </a:p>
        </p:txBody>
      </p:sp>
      <p:sp>
        <p:nvSpPr>
          <p:cNvPr id="4" name="Handout reference B13">
            <a:extLst>
              <a:ext uri="{FF2B5EF4-FFF2-40B4-BE49-F238E27FC236}">
                <a16:creationId xmlns:a16="http://schemas.microsoft.com/office/drawing/2014/main" id="{0531FBB2-6FA2-4C4D-A9E0-70DA2E416336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13</a:t>
            </a:r>
          </a:p>
        </p:txBody>
      </p:sp>
    </p:spTree>
    <p:extLst>
      <p:ext uri="{BB962C8B-B14F-4D97-AF65-F5344CB8AC3E}">
        <p14:creationId xmlns:p14="http://schemas.microsoft.com/office/powerpoint/2010/main" val="41587989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432B-6C29-CECE-F753-22599BF6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B13: Worked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BD87F-0408-E997-042C-156B8CFB3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7433024" cy="4422267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3x + 5 = 20 → x = 5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(x − 2)(x − 3) = 0 → x = 2 or x = 3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3 × 1.609 ≈ 4.827 km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(£50 − £40) ÷ £40 × 100% = 25%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Q5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 16:24 = 2:3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 balance, roots, units, original value and ratio order.</a:t>
            </a:r>
          </a:p>
        </p:txBody>
      </p:sp>
      <p:sp>
        <p:nvSpPr>
          <p:cNvPr id="4" name="Handout reference B13">
            <a:extLst>
              <a:ext uri="{FF2B5EF4-FFF2-40B4-BE49-F238E27FC236}">
                <a16:creationId xmlns:a16="http://schemas.microsoft.com/office/drawing/2014/main" id="{8124B0A1-EF42-4B7F-81F4-CD87630EC937}"/>
              </a:ext>
            </a:extLst>
          </p:cNvPr>
          <p:cNvSpPr>
            <a:spLocks noGrp="1"/>
          </p:cNvSpPr>
          <p:nvPr/>
        </p:nvSpPr>
        <p:spPr>
          <a:xfrm>
            <a:off x="8734425" y="476250"/>
            <a:ext cx="3000375" cy="400050"/>
          </a:xfrm>
          <a:prstGeom prst="rect">
            <a:avLst/>
          </a:prstGeom>
          <a:solidFill>
            <a:srgbClr val="D6171D"/>
          </a:solidFill>
          <a:ln w="0">
            <a:noFill/>
          </a:ln>
        </p:spPr>
        <p:txBody>
          <a:bodyPr wrap="none" lIns="76200" tIns="0" rIns="7620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HANDOUT • EXERCISE 13</a:t>
            </a:r>
          </a:p>
        </p:txBody>
      </p:sp>
    </p:spTree>
    <p:extLst>
      <p:ext uri="{BB962C8B-B14F-4D97-AF65-F5344CB8AC3E}">
        <p14:creationId xmlns:p14="http://schemas.microsoft.com/office/powerpoint/2010/main" val="12693583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D60-7B61-25EC-BCD0-72CCE5A58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16" y="1023080"/>
            <a:ext cx="11293412" cy="794385"/>
          </a:xfrm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4400" b="0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What we can do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3AEA0-6F20-F309-9B03-BADF904C5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16" y="1952339"/>
            <a:ext cx="11293412" cy="4330732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Choose a method before calculating.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Algebra: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simplify, balance and check.</a:t>
            </a:r>
          </a:p>
          <a:p>
            <a:pPr marL="0" indent="0" algn="l">
              <a:lnSpc>
                <a:spcPct val="106000"/>
              </a:lnSpc>
              <a:spcAft>
                <a:spcPts val="8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Quadratics: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find every root, then verify it.</a:t>
            </a:r>
          </a:p>
          <a:p>
            <a:pPr marL="0" indent="0" algn="l">
              <a:lnSpc>
                <a:spcPct val="106000"/>
              </a:lnSpc>
              <a:spcAft>
                <a:spcPts val="4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cancel the old unit and judge the size.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Percentages: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name the unknown and the starting value.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Ratios:</a:t>
            </a: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 keep the stated order and scale both parts.</a:t>
            </a:r>
          </a:p>
          <a:p>
            <a:pPr marL="0" indent="0" algn="l">
              <a:lnSpc>
                <a:spcPct val="106000"/>
              </a:lnSpc>
              <a:spcAft>
                <a:spcPts val="6"/>
              </a:spcAft>
              <a:buNone/>
              <a:defRPr sz="23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In Class C, combine these tools in the GreenSip application case.</a:t>
            </a:r>
          </a:p>
        </p:txBody>
      </p:sp>
    </p:spTree>
    <p:extLst>
      <p:ext uri="{BB962C8B-B14F-4D97-AF65-F5344CB8AC3E}">
        <p14:creationId xmlns:p14="http://schemas.microsoft.com/office/powerpoint/2010/main" val="2463775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erby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6171D"/>
      </a:accent1>
      <a:accent2>
        <a:srgbClr val="3F3E3A"/>
      </a:accent2>
      <a:accent3>
        <a:srgbClr val="BA3793"/>
      </a:accent3>
      <a:accent4>
        <a:srgbClr val="ADD8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ellerby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ellerby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6171D"/>
      </a:accent1>
      <a:accent2>
        <a:srgbClr val="3F3E3A"/>
      </a:accent2>
      <a:accent3>
        <a:srgbClr val="BA3793"/>
      </a:accent3>
      <a:accent4>
        <a:srgbClr val="ADD8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ellerby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5958</Words>
  <Application>Microsoft Macintosh PowerPoint</Application>
  <PresentationFormat>Widescreen</PresentationFormat>
  <Paragraphs>706</Paragraphs>
  <Slides>60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Aptos Display</vt:lpstr>
      <vt:lpstr>Arial</vt:lpstr>
      <vt:lpstr>Office Theme</vt:lpstr>
      <vt:lpstr>IFY Statistics Semester 1 • Week 1 • Class B  Mathematical Foundations II Algebra &amp; Units Percentages &amp; Ratios</vt:lpstr>
      <vt:lpstr>Learning objectives</vt:lpstr>
      <vt:lpstr>Quick revision</vt:lpstr>
      <vt:lpstr>Revision answers</vt:lpstr>
      <vt:lpstr>Section 1: Algebra and Equations</vt:lpstr>
      <vt:lpstr>Parts of an equation</vt:lpstr>
      <vt:lpstr>Parts of an equation</vt:lpstr>
      <vt:lpstr>B1: Label the mathematics</vt:lpstr>
      <vt:lpstr>B1: Worked answers</vt:lpstr>
      <vt:lpstr>Expression or equation?</vt:lpstr>
      <vt:lpstr>Three algebra jobs</vt:lpstr>
      <vt:lpstr>Keep both sides balanced</vt:lpstr>
      <vt:lpstr>B2: Balance chain</vt:lpstr>
      <vt:lpstr>B2: Worked answers</vt:lpstr>
      <vt:lpstr>B3: Brackets and like terms</vt:lpstr>
      <vt:lpstr>B3: Q1 worked answer</vt:lpstr>
      <vt:lpstr>B3: Optional fraction challenge</vt:lpstr>
      <vt:lpstr>B3: Q2 remove the fractions</vt:lpstr>
      <vt:lpstr>B3: Q2 balance and check</vt:lpstr>
      <vt:lpstr>Section 2: Quadratic Equations</vt:lpstr>
      <vt:lpstr>What makes a quadratic?</vt:lpstr>
      <vt:lpstr>B4: Quadratic or not?</vt:lpstr>
      <vt:lpstr>B4: Worked answers</vt:lpstr>
      <vt:lpstr>METHOD 1: Factoring</vt:lpstr>
      <vt:lpstr>Factoring – Guided Practice</vt:lpstr>
      <vt:lpstr>METHOD 2: The quadratic formula</vt:lpstr>
      <vt:lpstr>B5: Build the quadratic formula</vt:lpstr>
      <vt:lpstr>B5: Coefficients and substitution</vt:lpstr>
      <vt:lpstr>B5: Calculate both roots</vt:lpstr>
      <vt:lpstr>So…. Factoring or the Formula?</vt:lpstr>
      <vt:lpstr>Section 3: Units and Conversions</vt:lpstr>
      <vt:lpstr>Measurement systems</vt:lpstr>
      <vt:lpstr>Use a conversion factor</vt:lpstr>
      <vt:lpstr>B6: Predict, convert and check</vt:lpstr>
      <vt:lpstr>B6: Worked answers</vt:lpstr>
      <vt:lpstr>B7: Make a conversion safety decision</vt:lpstr>
      <vt:lpstr>B7: Worked answers</vt:lpstr>
      <vt:lpstr>Section 4: Percentages and Ratios</vt:lpstr>
      <vt:lpstr>Find the missing quantity</vt:lpstr>
      <vt:lpstr>Discounts, tax and equivalents</vt:lpstr>
      <vt:lpstr>B8: Choose the percentage method</vt:lpstr>
      <vt:lpstr>B8: Worked answers</vt:lpstr>
      <vt:lpstr>Use the starting value</vt:lpstr>
      <vt:lpstr>B9: Use the starting value</vt:lpstr>
      <vt:lpstr>B9: Worked answers</vt:lpstr>
      <vt:lpstr>Ratios have a stated order</vt:lpstr>
      <vt:lpstr>Scale every part equally</vt:lpstr>
      <vt:lpstr>Choose the denominator</vt:lpstr>
      <vt:lpstr>B10: Interpret ratios</vt:lpstr>
      <vt:lpstr>B10: Worked answers</vt:lpstr>
      <vt:lpstr>B11: Find the missing total</vt:lpstr>
      <vt:lpstr>B11: Worked answers</vt:lpstr>
      <vt:lpstr>B12: Optional quadratic challenge</vt:lpstr>
      <vt:lpstr>B12: Optional factoring reveal</vt:lpstr>
      <vt:lpstr>B12: Optional formula check</vt:lpstr>
      <vt:lpstr>B12: Optional safety challenge</vt:lpstr>
      <vt:lpstr>B12: Optional safety reveal</vt:lpstr>
      <vt:lpstr>B13: Independent exit check</vt:lpstr>
      <vt:lpstr>B13: Worked answers</vt:lpstr>
      <vt:lpstr>What we can do 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Jacob Mlynarski</cp:lastModifiedBy>
  <cp:revision>1</cp:revision>
  <dcterms:created xsi:type="dcterms:W3CDTF">2026-09-06T05:20:44Z</dcterms:created>
  <dcterms:modified xsi:type="dcterms:W3CDTF">2026-10-06T01:14:49Z</dcterms:modified>
</cp:coreProperties>
</file>