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322" r:id="rId2"/>
    <p:sldId id="310" r:id="rId3"/>
    <p:sldId id="311" r:id="rId4"/>
    <p:sldId id="312" r:id="rId5"/>
    <p:sldId id="313" r:id="rId6"/>
    <p:sldId id="314" r:id="rId7"/>
    <p:sldId id="315" r:id="rId8"/>
    <p:sldId id="323" r:id="rId9"/>
    <p:sldId id="325" r:id="rId10"/>
    <p:sldId id="316" r:id="rId11"/>
    <p:sldId id="317" r:id="rId12"/>
    <p:sldId id="318" r:id="rId13"/>
    <p:sldId id="319" r:id="rId14"/>
    <p:sldId id="320" r:id="rId15"/>
    <p:sldId id="321" r:id="rId16"/>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AC3341-35F7-C745-876F-C5544931FF47}" v="11" dt="2026-09-13T15:19:31.450"/>
    <p1510:client id="{D6469900-70B8-4C1B-B507-577B89279985}" v="29" dt="2026-09-13T23:43:26.6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69" autoAdjust="0"/>
    <p:restoredTop sz="90274"/>
  </p:normalViewPr>
  <p:slideViewPr>
    <p:cSldViewPr snapToGrid="0">
      <p:cViewPr varScale="1">
        <p:scale>
          <a:sx n="138" d="100"/>
          <a:sy n="138" d="100"/>
        </p:scale>
        <p:origin x="883"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Mlynarski" userId="5c8c5ce1edfe4dd6" providerId="LiveId" clId="{C91FEEE5-5543-5F5D-804A-A29147691C79}"/>
    <pc:docChg chg="undo custSel modSld">
      <pc:chgData name="Jacob Mlynarski" userId="5c8c5ce1edfe4dd6" providerId="LiveId" clId="{C91FEEE5-5543-5F5D-804A-A29147691C79}" dt="2026-09-13T15:44:32.013" v="92" actId="1076"/>
      <pc:docMkLst>
        <pc:docMk/>
      </pc:docMkLst>
      <pc:sldChg chg="modSp mod">
        <pc:chgData name="Jacob Mlynarski" userId="5c8c5ce1edfe4dd6" providerId="LiveId" clId="{C91FEEE5-5543-5F5D-804A-A29147691C79}" dt="2026-09-13T14:16:30.237" v="31" actId="113"/>
        <pc:sldMkLst>
          <pc:docMk/>
          <pc:sldMk cId="3126976634" sldId="265"/>
        </pc:sldMkLst>
        <pc:spChg chg="mod">
          <ac:chgData name="Jacob Mlynarski" userId="5c8c5ce1edfe4dd6" providerId="LiveId" clId="{C91FEEE5-5543-5F5D-804A-A29147691C79}" dt="2026-09-13T14:16:30.237" v="31" actId="113"/>
          <ac:spMkLst>
            <pc:docMk/>
            <pc:sldMk cId="3126976634" sldId="265"/>
            <ac:spMk id="3" creationId="{7FC3AEA0-6F20-F309-9B03-BADF904C549E}"/>
          </ac:spMkLst>
        </pc:spChg>
      </pc:sldChg>
      <pc:sldChg chg="modAnim">
        <pc:chgData name="Jacob Mlynarski" userId="5c8c5ce1edfe4dd6" providerId="LiveId" clId="{C91FEEE5-5543-5F5D-804A-A29147691C79}" dt="2026-09-13T14:30:06.087" v="33"/>
        <pc:sldMkLst>
          <pc:docMk/>
          <pc:sldMk cId="3281361232" sldId="271"/>
        </pc:sldMkLst>
      </pc:sldChg>
      <pc:sldChg chg="modSp mod">
        <pc:chgData name="Jacob Mlynarski" userId="5c8c5ce1edfe4dd6" providerId="LiveId" clId="{C91FEEE5-5543-5F5D-804A-A29147691C79}" dt="2026-09-13T14:38:04.735" v="41" actId="20577"/>
        <pc:sldMkLst>
          <pc:docMk/>
          <pc:sldMk cId="3281361232" sldId="272"/>
        </pc:sldMkLst>
        <pc:spChg chg="mod">
          <ac:chgData name="Jacob Mlynarski" userId="5c8c5ce1edfe4dd6" providerId="LiveId" clId="{C91FEEE5-5543-5F5D-804A-A29147691C79}" dt="2026-09-13T14:38:04.735" v="41" actId="20577"/>
          <ac:spMkLst>
            <pc:docMk/>
            <pc:sldMk cId="3281361232" sldId="272"/>
            <ac:spMk id="3" creationId="{7FC3AEA0-6F20-F309-9B03-BADF904C549E}"/>
          </ac:spMkLst>
        </pc:spChg>
      </pc:sldChg>
      <pc:sldChg chg="addSp modSp mod">
        <pc:chgData name="Jacob Mlynarski" userId="5c8c5ce1edfe4dd6" providerId="LiveId" clId="{C91FEEE5-5543-5F5D-804A-A29147691C79}" dt="2026-09-13T14:45:28.941" v="49" actId="1076"/>
        <pc:sldMkLst>
          <pc:docMk/>
          <pc:sldMk cId="3281361232" sldId="275"/>
        </pc:sldMkLst>
        <pc:picChg chg="add mod">
          <ac:chgData name="Jacob Mlynarski" userId="5c8c5ce1edfe4dd6" providerId="LiveId" clId="{C91FEEE5-5543-5F5D-804A-A29147691C79}" dt="2026-09-13T14:45:28.941" v="49" actId="1076"/>
          <ac:picMkLst>
            <pc:docMk/>
            <pc:sldMk cId="3281361232" sldId="275"/>
            <ac:picMk id="1026" creationId="{8DBF810E-E3F4-7E94-1F3A-D72963804B6C}"/>
          </ac:picMkLst>
        </pc:picChg>
        <pc:cxnChg chg="add">
          <ac:chgData name="Jacob Mlynarski" userId="5c8c5ce1edfe4dd6" providerId="LiveId" clId="{C91FEEE5-5543-5F5D-804A-A29147691C79}" dt="2026-09-13T14:45:26.099" v="48" actId="11529"/>
          <ac:cxnSpMkLst>
            <pc:docMk/>
            <pc:sldMk cId="3281361232" sldId="275"/>
            <ac:cxnSpMk id="5" creationId="{1D1B2E8A-F569-CFB4-EFEA-3DB24314ECAA}"/>
          </ac:cxnSpMkLst>
        </pc:cxnChg>
      </pc:sldChg>
      <pc:sldChg chg="addSp modSp mod">
        <pc:chgData name="Jacob Mlynarski" userId="5c8c5ce1edfe4dd6" providerId="LiveId" clId="{C91FEEE5-5543-5F5D-804A-A29147691C79}" dt="2026-09-13T15:19:15.675" v="62" actId="1582"/>
        <pc:sldMkLst>
          <pc:docMk/>
          <pc:sldMk cId="3281361232" sldId="278"/>
        </pc:sldMkLst>
        <pc:spChg chg="mod">
          <ac:chgData name="Jacob Mlynarski" userId="5c8c5ce1edfe4dd6" providerId="LiveId" clId="{C91FEEE5-5543-5F5D-804A-A29147691C79}" dt="2026-09-13T15:00:47.455" v="51" actId="113"/>
          <ac:spMkLst>
            <pc:docMk/>
            <pc:sldMk cId="3281361232" sldId="278"/>
            <ac:spMk id="5" creationId="{D1BB6221-CDC9-4D6D-946E-BE946C1AC734}"/>
          </ac:spMkLst>
        </pc:spChg>
        <pc:spChg chg="add mod">
          <ac:chgData name="Jacob Mlynarski" userId="5c8c5ce1edfe4dd6" providerId="LiveId" clId="{C91FEEE5-5543-5F5D-804A-A29147691C79}" dt="2026-09-13T15:19:15.675" v="62" actId="1582"/>
          <ac:spMkLst>
            <pc:docMk/>
            <pc:sldMk cId="3281361232" sldId="278"/>
            <ac:spMk id="11" creationId="{D827A014-8DB4-B1A6-C2F8-8FA8AC672151}"/>
          </ac:spMkLst>
        </pc:spChg>
      </pc:sldChg>
      <pc:sldChg chg="modSp mod">
        <pc:chgData name="Jacob Mlynarski" userId="5c8c5ce1edfe4dd6" providerId="LiveId" clId="{C91FEEE5-5543-5F5D-804A-A29147691C79}" dt="2026-09-13T15:08:34.278" v="54" actId="207"/>
        <pc:sldMkLst>
          <pc:docMk/>
          <pc:sldMk cId="3281361232" sldId="279"/>
        </pc:sldMkLst>
        <pc:spChg chg="mod">
          <ac:chgData name="Jacob Mlynarski" userId="5c8c5ce1edfe4dd6" providerId="LiveId" clId="{C91FEEE5-5543-5F5D-804A-A29147691C79}" dt="2026-09-13T15:08:34.278" v="54" actId="207"/>
          <ac:spMkLst>
            <pc:docMk/>
            <pc:sldMk cId="3281361232" sldId="279"/>
            <ac:spMk id="15" creationId="{8C3213F9-A7E0-481A-A451-EAA6DAA5151F}"/>
          </ac:spMkLst>
        </pc:spChg>
      </pc:sldChg>
      <pc:sldChg chg="addSp modSp mod">
        <pc:chgData name="Jacob Mlynarski" userId="5c8c5ce1edfe4dd6" providerId="LiveId" clId="{C91FEEE5-5543-5F5D-804A-A29147691C79}" dt="2026-09-13T15:19:50.507" v="65" actId="1582"/>
        <pc:sldMkLst>
          <pc:docMk/>
          <pc:sldMk cId="3281361232" sldId="282"/>
        </pc:sldMkLst>
        <pc:spChg chg="mod">
          <ac:chgData name="Jacob Mlynarski" userId="5c8c5ce1edfe4dd6" providerId="LiveId" clId="{C91FEEE5-5543-5F5D-804A-A29147691C79}" dt="2026-09-13T15:17:09.379" v="56" actId="113"/>
          <ac:spMkLst>
            <pc:docMk/>
            <pc:sldMk cId="3281361232" sldId="282"/>
            <ac:spMk id="3" creationId="{7FC3AEA0-6F20-F309-9B03-BADF904C549E}"/>
          </ac:spMkLst>
        </pc:spChg>
        <pc:spChg chg="add mod">
          <ac:chgData name="Jacob Mlynarski" userId="5c8c5ce1edfe4dd6" providerId="LiveId" clId="{C91FEEE5-5543-5F5D-804A-A29147691C79}" dt="2026-09-13T15:19:50.507" v="65" actId="1582"/>
          <ac:spMkLst>
            <pc:docMk/>
            <pc:sldMk cId="3281361232" sldId="282"/>
            <ac:spMk id="10" creationId="{51D8F270-4423-F2E3-91DE-F8A8CDC28DC9}"/>
          </ac:spMkLst>
        </pc:spChg>
      </pc:sldChg>
      <pc:sldChg chg="delSp modSp mod">
        <pc:chgData name="Jacob Mlynarski" userId="5c8c5ce1edfe4dd6" providerId="LiveId" clId="{C91FEEE5-5543-5F5D-804A-A29147691C79}" dt="2026-09-13T15:33:36.441" v="75" actId="20577"/>
        <pc:sldMkLst>
          <pc:docMk/>
          <pc:sldMk cId="1680955064" sldId="290"/>
        </pc:sldMkLst>
        <pc:graphicFrameChg chg="mod modGraphic">
          <ac:chgData name="Jacob Mlynarski" userId="5c8c5ce1edfe4dd6" providerId="LiveId" clId="{C91FEEE5-5543-5F5D-804A-A29147691C79}" dt="2026-09-13T15:33:36.441" v="75" actId="20577"/>
          <ac:graphicFrameMkLst>
            <pc:docMk/>
            <pc:sldMk cId="1680955064" sldId="290"/>
            <ac:graphicFrameMk id="15" creationId="{00000000-0000-0000-0000-000000000000}"/>
          </ac:graphicFrameMkLst>
        </pc:graphicFrameChg>
      </pc:sldChg>
      <pc:sldChg chg="delSp mod">
        <pc:chgData name="Jacob Mlynarski" userId="5c8c5ce1edfe4dd6" providerId="LiveId" clId="{C91FEEE5-5543-5F5D-804A-A29147691C79}" dt="2026-09-06T06:05:00.549" v="2" actId="478"/>
        <pc:sldMkLst>
          <pc:docMk/>
          <pc:sldMk cId="3281361232" sldId="291"/>
        </pc:sldMkLst>
      </pc:sldChg>
      <pc:sldChg chg="delSp modSp mod">
        <pc:chgData name="Jacob Mlynarski" userId="5c8c5ce1edfe4dd6" providerId="LiveId" clId="{C91FEEE5-5543-5F5D-804A-A29147691C79}" dt="2026-09-13T15:35:30.240" v="80" actId="20577"/>
        <pc:sldMkLst>
          <pc:docMk/>
          <pc:sldMk cId="4158798959" sldId="292"/>
        </pc:sldMkLst>
        <pc:spChg chg="mod">
          <ac:chgData name="Jacob Mlynarski" userId="5c8c5ce1edfe4dd6" providerId="LiveId" clId="{C91FEEE5-5543-5F5D-804A-A29147691C79}" dt="2026-09-13T15:35:30.240" v="80" actId="20577"/>
          <ac:spMkLst>
            <pc:docMk/>
            <pc:sldMk cId="4158798959" sldId="292"/>
            <ac:spMk id="5" creationId="{079B28F5-5A39-402A-B5CD-CBE132F9C0C8}"/>
          </ac:spMkLst>
        </pc:spChg>
      </pc:sldChg>
      <pc:sldChg chg="delSp modSp mod">
        <pc:chgData name="Jacob Mlynarski" userId="5c8c5ce1edfe4dd6" providerId="LiveId" clId="{C91FEEE5-5543-5F5D-804A-A29147691C79}" dt="2026-09-13T15:37:26.614" v="88" actId="20577"/>
        <pc:sldMkLst>
          <pc:docMk/>
          <pc:sldMk cId="2463775365" sldId="293"/>
        </pc:sldMkLst>
        <pc:spChg chg="mod">
          <ac:chgData name="Jacob Mlynarski" userId="5c8c5ce1edfe4dd6" providerId="LiveId" clId="{C91FEEE5-5543-5F5D-804A-A29147691C79}" dt="2026-09-13T15:35:56.326" v="85" actId="20577"/>
          <ac:spMkLst>
            <pc:docMk/>
            <pc:sldMk cId="2463775365" sldId="293"/>
            <ac:spMk id="5" creationId="{5C5FE7C7-D846-4DFB-93EE-3BC8DCF96AF7}"/>
          </ac:spMkLst>
        </pc:spChg>
        <pc:spChg chg="mod">
          <ac:chgData name="Jacob Mlynarski" userId="5c8c5ce1edfe4dd6" providerId="LiveId" clId="{C91FEEE5-5543-5F5D-804A-A29147691C79}" dt="2026-09-13T15:37:26.614" v="88" actId="20577"/>
          <ac:spMkLst>
            <pc:docMk/>
            <pc:sldMk cId="2463775365" sldId="293"/>
            <ac:spMk id="30" creationId="{BE125291-9F0F-4CA9-B713-B9B64F5245FB}"/>
          </ac:spMkLst>
        </pc:spChg>
      </pc:sldChg>
      <pc:sldChg chg="modSp mod">
        <pc:chgData name="Jacob Mlynarski" userId="5c8c5ce1edfe4dd6" providerId="LiveId" clId="{C91FEEE5-5543-5F5D-804A-A29147691C79}" dt="2026-09-06T06:06:02.603" v="18" actId="113"/>
        <pc:sldMkLst>
          <pc:docMk/>
          <pc:sldMk cId="3217942731" sldId="295"/>
        </pc:sldMkLst>
        <pc:spChg chg="mod">
          <ac:chgData name="Jacob Mlynarski" userId="5c8c5ce1edfe4dd6" providerId="LiveId" clId="{C91FEEE5-5543-5F5D-804A-A29147691C79}" dt="2026-09-06T06:06:02.603" v="18" actId="113"/>
          <ac:spMkLst>
            <pc:docMk/>
            <pc:sldMk cId="3217942731" sldId="295"/>
            <ac:spMk id="3" creationId="{7FC3AEA0-6F20-F309-9B03-BADF904C549E}"/>
          </ac:spMkLst>
        </pc:spChg>
      </pc:sldChg>
      <pc:sldChg chg="modSp mod">
        <pc:chgData name="Jacob Mlynarski" userId="5c8c5ce1edfe4dd6" providerId="LiveId" clId="{C91FEEE5-5543-5F5D-804A-A29147691C79}" dt="2026-09-13T15:44:32.013" v="92" actId="1076"/>
        <pc:sldMkLst>
          <pc:docMk/>
          <pc:sldMk cId="4158798959" sldId="304"/>
        </pc:sldMkLst>
        <pc:spChg chg="mod">
          <ac:chgData name="Jacob Mlynarski" userId="5c8c5ce1edfe4dd6" providerId="LiveId" clId="{C91FEEE5-5543-5F5D-804A-A29147691C79}" dt="2026-09-13T15:43:43.313" v="89" actId="1076"/>
          <ac:spMkLst>
            <pc:docMk/>
            <pc:sldMk cId="4158798959" sldId="304"/>
            <ac:spMk id="5" creationId="{56D43C45-BFF8-4E52-B787-87C4BAFA2D0C}"/>
          </ac:spMkLst>
        </pc:spChg>
        <pc:spChg chg="mod">
          <ac:chgData name="Jacob Mlynarski" userId="5c8c5ce1edfe4dd6" providerId="LiveId" clId="{C91FEEE5-5543-5F5D-804A-A29147691C79}" dt="2026-09-13T15:43:43.313" v="89" actId="1076"/>
          <ac:spMkLst>
            <pc:docMk/>
            <pc:sldMk cId="4158798959" sldId="304"/>
            <ac:spMk id="6" creationId="{DB64F8A3-AC2F-4A34-888A-2B1012085291}"/>
          </ac:spMkLst>
        </pc:spChg>
        <pc:spChg chg="mod">
          <ac:chgData name="Jacob Mlynarski" userId="5c8c5ce1edfe4dd6" providerId="LiveId" clId="{C91FEEE5-5543-5F5D-804A-A29147691C79}" dt="2026-09-13T15:44:32.013" v="92" actId="1076"/>
          <ac:spMkLst>
            <pc:docMk/>
            <pc:sldMk cId="4158798959" sldId="304"/>
            <ac:spMk id="7" creationId="{2989BB0B-8DA5-42AB-A987-BE78A33C29D8}"/>
          </ac:spMkLst>
        </pc:spChg>
      </pc:sldChg>
      <pc:sldChg chg="addSp delSp modSp mod">
        <pc:chgData name="Jacob Mlynarski" userId="5c8c5ce1edfe4dd6" providerId="LiveId" clId="{C91FEEE5-5543-5F5D-804A-A29147691C79}" dt="2026-09-06T06:07:09.026" v="23" actId="1582"/>
        <pc:sldMkLst>
          <pc:docMk/>
          <pc:sldMk cId="2463775365" sldId="305"/>
        </pc:sldMkLst>
        <pc:spChg chg="add del mod">
          <ac:chgData name="Jacob Mlynarski" userId="5c8c5ce1edfe4dd6" providerId="LiveId" clId="{C91FEEE5-5543-5F5D-804A-A29147691C79}" dt="2026-09-06T06:07:09.026" v="23" actId="1582"/>
          <ac:spMkLst>
            <pc:docMk/>
            <pc:sldMk cId="2463775365" sldId="305"/>
            <ac:spMk id="7" creationId="{A5B1F42F-8F5D-4D94-B5BA-EDB40B47E98A}"/>
          </ac:spMkLst>
        </pc:spChg>
      </pc:sldChg>
      <pc:sldChg chg="modSp mod">
        <pc:chgData name="Jacob Mlynarski" userId="5c8c5ce1edfe4dd6" providerId="LiveId" clId="{C91FEEE5-5543-5F5D-804A-A29147691C79}" dt="2026-09-13T14:09:12.981" v="28" actId="207"/>
        <pc:sldMkLst>
          <pc:docMk/>
          <pc:sldMk cId="3601649106" sldId="320"/>
        </pc:sldMkLst>
        <pc:spChg chg="mod">
          <ac:chgData name="Jacob Mlynarski" userId="5c8c5ce1edfe4dd6" providerId="LiveId" clId="{C91FEEE5-5543-5F5D-804A-A29147691C79}" dt="2026-09-13T14:09:12.981" v="28" actId="207"/>
          <ac:spMkLst>
            <pc:docMk/>
            <pc:sldMk cId="3601649106" sldId="320"/>
            <ac:spMk id="4" creationId="{B89AE209-085C-4108-B3B8-96F46C64B173}"/>
          </ac:spMkLst>
        </pc:spChg>
        <pc:graphicFrameChg chg="modGraphic">
          <ac:chgData name="Jacob Mlynarski" userId="5c8c5ce1edfe4dd6" providerId="LiveId" clId="{C91FEEE5-5543-5F5D-804A-A29147691C79}" dt="2026-09-13T14:08:07.274" v="25" actId="113"/>
          <ac:graphicFrameMkLst>
            <pc:docMk/>
            <pc:sldMk cId="3601649106" sldId="320"/>
            <ac:graphicFrameMk id="8" creationId="{00000000-0000-0000-0000-000000000000}"/>
          </ac:graphicFrameMkLst>
        </pc:graphicFrameChg>
      </pc:sldChg>
      <pc:sldChg chg="modSp mod">
        <pc:chgData name="Jacob Mlynarski" userId="5c8c5ce1edfe4dd6" providerId="LiveId" clId="{C91FEEE5-5543-5F5D-804A-A29147691C79}" dt="2026-09-13T14:08:48.327" v="27" actId="207"/>
        <pc:sldMkLst>
          <pc:docMk/>
          <pc:sldMk cId="4112823401" sldId="321"/>
        </pc:sldMkLst>
        <pc:graphicFrameChg chg="modGraphic">
          <ac:chgData name="Jacob Mlynarski" userId="5c8c5ce1edfe4dd6" providerId="LiveId" clId="{C91FEEE5-5543-5F5D-804A-A29147691C79}" dt="2026-09-13T14:08:48.327" v="27" actId="207"/>
          <ac:graphicFrameMkLst>
            <pc:docMk/>
            <pc:sldMk cId="4112823401" sldId="321"/>
            <ac:graphicFrameMk id="6" creationId="{00000000-0000-0000-0000-000000000000}"/>
          </ac:graphicFrameMkLst>
        </pc:graphicFrameChg>
      </pc:sldChg>
    </pc:docChg>
  </pc:docChgLst>
  <pc:docChgLst>
    <pc:chgData name="Jacob Mlynarski" userId="5c8c5ce1edfe4dd6" providerId="LiveId" clId="{EA34CD77-B017-48F4-80DC-E98A38773462}"/>
    <pc:docChg chg="undo custSel addSld delSld modSld sldOrd">
      <pc:chgData name="Jacob Mlynarski" userId="5c8c5ce1edfe4dd6" providerId="LiveId" clId="{EA34CD77-B017-48F4-80DC-E98A38773462}" dt="2026-09-13T23:56:59.954" v="1009" actId="207"/>
      <pc:docMkLst>
        <pc:docMk/>
      </pc:docMkLst>
      <pc:sldChg chg="modSp mod ord modTransition">
        <pc:chgData name="Jacob Mlynarski" userId="5c8c5ce1edfe4dd6" providerId="LiveId" clId="{EA34CD77-B017-48F4-80DC-E98A38773462}" dt="2026-09-13T01:05:41.539" v="660"/>
        <pc:sldMkLst>
          <pc:docMk/>
          <pc:sldMk cId="3742239900" sldId="256"/>
        </pc:sldMkLst>
        <pc:spChg chg="mod">
          <ac:chgData name="Jacob Mlynarski" userId="5c8c5ce1edfe4dd6" providerId="LiveId" clId="{EA34CD77-B017-48F4-80DC-E98A38773462}" dt="2026-09-12T09:26:07.207" v="4" actId="27636"/>
          <ac:spMkLst>
            <pc:docMk/>
            <pc:sldMk cId="3742239900" sldId="256"/>
            <ac:spMk id="2" creationId="{5090EE20-CE2E-3013-3D7D-3F4166CBDECE}"/>
          </ac:spMkLst>
        </pc:spChg>
      </pc:sldChg>
      <pc:sldChg chg="modTransition">
        <pc:chgData name="Jacob Mlynarski" userId="5c8c5ce1edfe4dd6" providerId="LiveId" clId="{EA34CD77-B017-48F4-80DC-E98A38773462}" dt="2026-09-13T01:05:41.539" v="660"/>
        <pc:sldMkLst>
          <pc:docMk/>
          <pc:sldMk cId="3657064892" sldId="257"/>
        </pc:sldMkLst>
      </pc:sldChg>
      <pc:sldChg chg="modSp mod modTransition">
        <pc:chgData name="Jacob Mlynarski" userId="5c8c5ce1edfe4dd6" providerId="LiveId" clId="{EA34CD77-B017-48F4-80DC-E98A38773462}" dt="2026-09-13T01:05:41.539" v="660"/>
        <pc:sldMkLst>
          <pc:docMk/>
          <pc:sldMk cId="4158798959" sldId="258"/>
        </pc:sldMkLst>
        <pc:spChg chg="mod">
          <ac:chgData name="Jacob Mlynarski" userId="5c8c5ce1edfe4dd6" providerId="LiveId" clId="{EA34CD77-B017-48F4-80DC-E98A38773462}" dt="2026-09-12T10:06:17.650" v="647" actId="20577"/>
          <ac:spMkLst>
            <pc:docMk/>
            <pc:sldMk cId="4158798959" sldId="258"/>
            <ac:spMk id="3" creationId="{7FC3AEA0-6F20-F309-9B03-BADF904C549E}"/>
          </ac:spMkLst>
        </pc:spChg>
      </pc:sldChg>
      <pc:sldChg chg="modTransition">
        <pc:chgData name="Jacob Mlynarski" userId="5c8c5ce1edfe4dd6" providerId="LiveId" clId="{EA34CD77-B017-48F4-80DC-E98A38773462}" dt="2026-09-13T01:05:41.539" v="660"/>
        <pc:sldMkLst>
          <pc:docMk/>
          <pc:sldMk cId="2463775365" sldId="259"/>
        </pc:sldMkLst>
      </pc:sldChg>
      <pc:sldChg chg="modTransition">
        <pc:chgData name="Jacob Mlynarski" userId="5c8c5ce1edfe4dd6" providerId="LiveId" clId="{EA34CD77-B017-48F4-80DC-E98A38773462}" dt="2026-09-13T01:05:41.539" v="660"/>
        <pc:sldMkLst>
          <pc:docMk/>
          <pc:sldMk cId="3422886428" sldId="260"/>
        </pc:sldMkLst>
      </pc:sldChg>
      <pc:sldChg chg="modTransition">
        <pc:chgData name="Jacob Mlynarski" userId="5c8c5ce1edfe4dd6" providerId="LiveId" clId="{EA34CD77-B017-48F4-80DC-E98A38773462}" dt="2026-09-13T01:05:41.539" v="660"/>
        <pc:sldMkLst>
          <pc:docMk/>
          <pc:sldMk cId="3281361232" sldId="261"/>
        </pc:sldMkLst>
      </pc:sldChg>
      <pc:sldChg chg="modTransition">
        <pc:chgData name="Jacob Mlynarski" userId="5c8c5ce1edfe4dd6" providerId="LiveId" clId="{EA34CD77-B017-48F4-80DC-E98A38773462}" dt="2026-09-13T01:05:41.539" v="660"/>
        <pc:sldMkLst>
          <pc:docMk/>
          <pc:sldMk cId="1680955064" sldId="262"/>
        </pc:sldMkLst>
      </pc:sldChg>
      <pc:sldChg chg="modTransition">
        <pc:chgData name="Jacob Mlynarski" userId="5c8c5ce1edfe4dd6" providerId="LiveId" clId="{EA34CD77-B017-48F4-80DC-E98A38773462}" dt="2026-09-13T01:05:41.539" v="660"/>
        <pc:sldMkLst>
          <pc:docMk/>
          <pc:sldMk cId="4158798959" sldId="263"/>
        </pc:sldMkLst>
      </pc:sldChg>
      <pc:sldChg chg="modTransition">
        <pc:chgData name="Jacob Mlynarski" userId="5c8c5ce1edfe4dd6" providerId="LiveId" clId="{EA34CD77-B017-48F4-80DC-E98A38773462}" dt="2026-09-13T01:05:41.539" v="660"/>
        <pc:sldMkLst>
          <pc:docMk/>
          <pc:sldMk cId="2463775365" sldId="264"/>
        </pc:sldMkLst>
      </pc:sldChg>
      <pc:sldChg chg="modTransition">
        <pc:chgData name="Jacob Mlynarski" userId="5c8c5ce1edfe4dd6" providerId="LiveId" clId="{EA34CD77-B017-48F4-80DC-E98A38773462}" dt="2026-09-13T01:05:41.539" v="660"/>
        <pc:sldMkLst>
          <pc:docMk/>
          <pc:sldMk cId="3126976634" sldId="265"/>
        </pc:sldMkLst>
      </pc:sldChg>
      <pc:sldChg chg="modTransition">
        <pc:chgData name="Jacob Mlynarski" userId="5c8c5ce1edfe4dd6" providerId="LiveId" clId="{EA34CD77-B017-48F4-80DC-E98A38773462}" dt="2026-09-13T01:05:41.539" v="660"/>
        <pc:sldMkLst>
          <pc:docMk/>
          <pc:sldMk cId="4158798959" sldId="266"/>
        </pc:sldMkLst>
      </pc:sldChg>
      <pc:sldChg chg="modTransition">
        <pc:chgData name="Jacob Mlynarski" userId="5c8c5ce1edfe4dd6" providerId="LiveId" clId="{EA34CD77-B017-48F4-80DC-E98A38773462}" dt="2026-09-13T01:05:41.539" v="660"/>
        <pc:sldMkLst>
          <pc:docMk/>
          <pc:sldMk cId="2463775365" sldId="267"/>
        </pc:sldMkLst>
      </pc:sldChg>
      <pc:sldChg chg="modTransition">
        <pc:chgData name="Jacob Mlynarski" userId="5c8c5ce1edfe4dd6" providerId="LiveId" clId="{EA34CD77-B017-48F4-80DC-E98A38773462}" dt="2026-09-13T01:05:41.539" v="660"/>
        <pc:sldMkLst>
          <pc:docMk/>
          <pc:sldMk cId="4158798959" sldId="268"/>
        </pc:sldMkLst>
      </pc:sldChg>
      <pc:sldChg chg="modTransition">
        <pc:chgData name="Jacob Mlynarski" userId="5c8c5ce1edfe4dd6" providerId="LiveId" clId="{EA34CD77-B017-48F4-80DC-E98A38773462}" dt="2026-09-13T01:05:41.539" v="660"/>
        <pc:sldMkLst>
          <pc:docMk/>
          <pc:sldMk cId="2463775365" sldId="269"/>
        </pc:sldMkLst>
      </pc:sldChg>
      <pc:sldChg chg="modTransition">
        <pc:chgData name="Jacob Mlynarski" userId="5c8c5ce1edfe4dd6" providerId="LiveId" clId="{EA34CD77-B017-48F4-80DC-E98A38773462}" dt="2026-09-13T01:05:41.539" v="660"/>
        <pc:sldMkLst>
          <pc:docMk/>
          <pc:sldMk cId="3422886428" sldId="270"/>
        </pc:sldMkLst>
      </pc:sldChg>
      <pc:sldChg chg="modTransition">
        <pc:chgData name="Jacob Mlynarski" userId="5c8c5ce1edfe4dd6" providerId="LiveId" clId="{EA34CD77-B017-48F4-80DC-E98A38773462}" dt="2026-09-13T01:05:41.539" v="660"/>
        <pc:sldMkLst>
          <pc:docMk/>
          <pc:sldMk cId="3281361232" sldId="271"/>
        </pc:sldMkLst>
      </pc:sldChg>
      <pc:sldChg chg="modTransition">
        <pc:chgData name="Jacob Mlynarski" userId="5c8c5ce1edfe4dd6" providerId="LiveId" clId="{EA34CD77-B017-48F4-80DC-E98A38773462}" dt="2026-09-13T01:05:41.539" v="660"/>
        <pc:sldMkLst>
          <pc:docMk/>
          <pc:sldMk cId="3281361232" sldId="272"/>
        </pc:sldMkLst>
      </pc:sldChg>
      <pc:sldChg chg="modTransition">
        <pc:chgData name="Jacob Mlynarski" userId="5c8c5ce1edfe4dd6" providerId="LiveId" clId="{EA34CD77-B017-48F4-80DC-E98A38773462}" dt="2026-09-13T01:05:41.539" v="660"/>
        <pc:sldMkLst>
          <pc:docMk/>
          <pc:sldMk cId="4158798959" sldId="273"/>
        </pc:sldMkLst>
      </pc:sldChg>
      <pc:sldChg chg="modTransition">
        <pc:chgData name="Jacob Mlynarski" userId="5c8c5ce1edfe4dd6" providerId="LiveId" clId="{EA34CD77-B017-48F4-80DC-E98A38773462}" dt="2026-09-13T01:05:41.539" v="660"/>
        <pc:sldMkLst>
          <pc:docMk/>
          <pc:sldMk cId="2463775365" sldId="274"/>
        </pc:sldMkLst>
      </pc:sldChg>
      <pc:sldChg chg="modSp mod modTransition">
        <pc:chgData name="Jacob Mlynarski" userId="5c8c5ce1edfe4dd6" providerId="LiveId" clId="{EA34CD77-B017-48F4-80DC-E98A38773462}" dt="2026-09-13T23:43:31.060" v="997" actId="113"/>
        <pc:sldMkLst>
          <pc:docMk/>
          <pc:sldMk cId="3281361232" sldId="275"/>
        </pc:sldMkLst>
        <pc:spChg chg="mod">
          <ac:chgData name="Jacob Mlynarski" userId="5c8c5ce1edfe4dd6" providerId="LiveId" clId="{EA34CD77-B017-48F4-80DC-E98A38773462}" dt="2026-09-13T23:43:31.060" v="997" actId="113"/>
          <ac:spMkLst>
            <pc:docMk/>
            <pc:sldMk cId="3281361232" sldId="275"/>
            <ac:spMk id="3" creationId="{7FC3AEA0-6F20-F309-9B03-BADF904C549E}"/>
          </ac:spMkLst>
        </pc:spChg>
        <pc:picChg chg="mod">
          <ac:chgData name="Jacob Mlynarski" userId="5c8c5ce1edfe4dd6" providerId="LiveId" clId="{EA34CD77-B017-48F4-80DC-E98A38773462}" dt="2026-09-13T23:43:26.695" v="996" actId="1076"/>
          <ac:picMkLst>
            <pc:docMk/>
            <pc:sldMk cId="3281361232" sldId="275"/>
            <ac:picMk id="1026" creationId="{8DBF810E-E3F4-7E94-1F3A-D72963804B6C}"/>
          </ac:picMkLst>
        </pc:picChg>
        <pc:cxnChg chg="mod">
          <ac:chgData name="Jacob Mlynarski" userId="5c8c5ce1edfe4dd6" providerId="LiveId" clId="{EA34CD77-B017-48F4-80DC-E98A38773462}" dt="2026-09-13T23:43:25.203" v="995" actId="1076"/>
          <ac:cxnSpMkLst>
            <pc:docMk/>
            <pc:sldMk cId="3281361232" sldId="275"/>
            <ac:cxnSpMk id="5" creationId="{1D1B2E8A-F569-CFB4-EFEA-3DB24314ECAA}"/>
          </ac:cxnSpMkLst>
        </pc:cxnChg>
      </pc:sldChg>
      <pc:sldChg chg="modTransition">
        <pc:chgData name="Jacob Mlynarski" userId="5c8c5ce1edfe4dd6" providerId="LiveId" clId="{EA34CD77-B017-48F4-80DC-E98A38773462}" dt="2026-09-13T01:05:41.539" v="660"/>
        <pc:sldMkLst>
          <pc:docMk/>
          <pc:sldMk cId="4158798959" sldId="276"/>
        </pc:sldMkLst>
      </pc:sldChg>
      <pc:sldChg chg="modTransition">
        <pc:chgData name="Jacob Mlynarski" userId="5c8c5ce1edfe4dd6" providerId="LiveId" clId="{EA34CD77-B017-48F4-80DC-E98A38773462}" dt="2026-09-13T01:05:41.539" v="660"/>
        <pc:sldMkLst>
          <pc:docMk/>
          <pc:sldMk cId="2463775365" sldId="277"/>
        </pc:sldMkLst>
      </pc:sldChg>
      <pc:sldChg chg="modSp mod modTransition">
        <pc:chgData name="Jacob Mlynarski" userId="5c8c5ce1edfe4dd6" providerId="LiveId" clId="{EA34CD77-B017-48F4-80DC-E98A38773462}" dt="2026-09-13T23:49:21.036" v="1001" actId="113"/>
        <pc:sldMkLst>
          <pc:docMk/>
          <pc:sldMk cId="3281361232" sldId="278"/>
        </pc:sldMkLst>
        <pc:spChg chg="mod">
          <ac:chgData name="Jacob Mlynarski" userId="5c8c5ce1edfe4dd6" providerId="LiveId" clId="{EA34CD77-B017-48F4-80DC-E98A38773462}" dt="2026-09-13T23:42:53.959" v="955" actId="113"/>
          <ac:spMkLst>
            <pc:docMk/>
            <pc:sldMk cId="3281361232" sldId="278"/>
            <ac:spMk id="3" creationId="{7FC3AEA0-6F20-F309-9B03-BADF904C549E}"/>
          </ac:spMkLst>
        </pc:spChg>
        <pc:spChg chg="mod">
          <ac:chgData name="Jacob Mlynarski" userId="5c8c5ce1edfe4dd6" providerId="LiveId" clId="{EA34CD77-B017-48F4-80DC-E98A38773462}" dt="2026-09-13T23:49:21.036" v="1001" actId="113"/>
          <ac:spMkLst>
            <pc:docMk/>
            <pc:sldMk cId="3281361232" sldId="278"/>
            <ac:spMk id="6" creationId="{9C0751A0-0AAE-4958-B688-8EAD8FA59175}"/>
          </ac:spMkLst>
        </pc:spChg>
      </pc:sldChg>
      <pc:sldChg chg="modTransition">
        <pc:chgData name="Jacob Mlynarski" userId="5c8c5ce1edfe4dd6" providerId="LiveId" clId="{EA34CD77-B017-48F4-80DC-E98A38773462}" dt="2026-09-13T01:05:41.539" v="660"/>
        <pc:sldMkLst>
          <pc:docMk/>
          <pc:sldMk cId="3281361232" sldId="279"/>
        </pc:sldMkLst>
      </pc:sldChg>
      <pc:sldChg chg="modTransition">
        <pc:chgData name="Jacob Mlynarski" userId="5c8c5ce1edfe4dd6" providerId="LiveId" clId="{EA34CD77-B017-48F4-80DC-E98A38773462}" dt="2026-09-13T01:05:41.539" v="660"/>
        <pc:sldMkLst>
          <pc:docMk/>
          <pc:sldMk cId="4158798959" sldId="280"/>
        </pc:sldMkLst>
      </pc:sldChg>
      <pc:sldChg chg="modTransition">
        <pc:chgData name="Jacob Mlynarski" userId="5c8c5ce1edfe4dd6" providerId="LiveId" clId="{EA34CD77-B017-48F4-80DC-E98A38773462}" dt="2026-09-13T01:05:41.539" v="660"/>
        <pc:sldMkLst>
          <pc:docMk/>
          <pc:sldMk cId="2463775365" sldId="281"/>
        </pc:sldMkLst>
      </pc:sldChg>
      <pc:sldChg chg="modSp mod modTransition">
        <pc:chgData name="Jacob Mlynarski" userId="5c8c5ce1edfe4dd6" providerId="LiveId" clId="{EA34CD77-B017-48F4-80DC-E98A38773462}" dt="2026-09-13T23:49:13.185" v="1000" actId="113"/>
        <pc:sldMkLst>
          <pc:docMk/>
          <pc:sldMk cId="3281361232" sldId="282"/>
        </pc:sldMkLst>
        <pc:spChg chg="mod">
          <ac:chgData name="Jacob Mlynarski" userId="5c8c5ce1edfe4dd6" providerId="LiveId" clId="{EA34CD77-B017-48F4-80DC-E98A38773462}" dt="2026-09-13T23:49:13.185" v="1000" actId="113"/>
          <ac:spMkLst>
            <pc:docMk/>
            <pc:sldMk cId="3281361232" sldId="282"/>
            <ac:spMk id="5" creationId="{5FA76AC7-EC49-46D9-B986-81C2591460EA}"/>
          </ac:spMkLst>
        </pc:spChg>
      </pc:sldChg>
      <pc:sldChg chg="modTransition">
        <pc:chgData name="Jacob Mlynarski" userId="5c8c5ce1edfe4dd6" providerId="LiveId" clId="{EA34CD77-B017-48F4-80DC-E98A38773462}" dt="2026-09-13T01:05:41.539" v="660"/>
        <pc:sldMkLst>
          <pc:docMk/>
          <pc:sldMk cId="3281361232" sldId="283"/>
        </pc:sldMkLst>
      </pc:sldChg>
      <pc:sldChg chg="modTransition">
        <pc:chgData name="Jacob Mlynarski" userId="5c8c5ce1edfe4dd6" providerId="LiveId" clId="{EA34CD77-B017-48F4-80DC-E98A38773462}" dt="2026-09-13T01:05:41.539" v="660"/>
        <pc:sldMkLst>
          <pc:docMk/>
          <pc:sldMk cId="4158798959" sldId="284"/>
        </pc:sldMkLst>
      </pc:sldChg>
      <pc:sldChg chg="modTransition">
        <pc:chgData name="Jacob Mlynarski" userId="5c8c5ce1edfe4dd6" providerId="LiveId" clId="{EA34CD77-B017-48F4-80DC-E98A38773462}" dt="2026-09-13T01:05:41.539" v="660"/>
        <pc:sldMkLst>
          <pc:docMk/>
          <pc:sldMk cId="2463775365" sldId="285"/>
        </pc:sldMkLst>
      </pc:sldChg>
      <pc:sldChg chg="modTransition">
        <pc:chgData name="Jacob Mlynarski" userId="5c8c5ce1edfe4dd6" providerId="LiveId" clId="{EA34CD77-B017-48F4-80DC-E98A38773462}" dt="2026-09-13T01:05:41.539" v="660"/>
        <pc:sldMkLst>
          <pc:docMk/>
          <pc:sldMk cId="1680955064" sldId="286"/>
        </pc:sldMkLst>
      </pc:sldChg>
      <pc:sldChg chg="modTransition">
        <pc:chgData name="Jacob Mlynarski" userId="5c8c5ce1edfe4dd6" providerId="LiveId" clId="{EA34CD77-B017-48F4-80DC-E98A38773462}" dt="2026-09-13T01:05:41.539" v="660"/>
        <pc:sldMkLst>
          <pc:docMk/>
          <pc:sldMk cId="4158798959" sldId="287"/>
        </pc:sldMkLst>
      </pc:sldChg>
      <pc:sldChg chg="modTransition">
        <pc:chgData name="Jacob Mlynarski" userId="5c8c5ce1edfe4dd6" providerId="LiveId" clId="{EA34CD77-B017-48F4-80DC-E98A38773462}" dt="2026-09-13T01:05:41.539" v="660"/>
        <pc:sldMkLst>
          <pc:docMk/>
          <pc:sldMk cId="2463775365" sldId="288"/>
        </pc:sldMkLst>
      </pc:sldChg>
      <pc:sldChg chg="modTransition">
        <pc:chgData name="Jacob Mlynarski" userId="5c8c5ce1edfe4dd6" providerId="LiveId" clId="{EA34CD77-B017-48F4-80DC-E98A38773462}" dt="2026-09-13T01:05:41.539" v="660"/>
        <pc:sldMkLst>
          <pc:docMk/>
          <pc:sldMk cId="3422886428" sldId="289"/>
        </pc:sldMkLst>
      </pc:sldChg>
      <pc:sldChg chg="modTransition">
        <pc:chgData name="Jacob Mlynarski" userId="5c8c5ce1edfe4dd6" providerId="LiveId" clId="{EA34CD77-B017-48F4-80DC-E98A38773462}" dt="2026-09-13T01:05:41.539" v="660"/>
        <pc:sldMkLst>
          <pc:docMk/>
          <pc:sldMk cId="1680955064" sldId="290"/>
        </pc:sldMkLst>
      </pc:sldChg>
      <pc:sldChg chg="modSp mod modTransition">
        <pc:chgData name="Jacob Mlynarski" userId="5c8c5ce1edfe4dd6" providerId="LiveId" clId="{EA34CD77-B017-48F4-80DC-E98A38773462}" dt="2026-09-13T23:56:59.954" v="1009" actId="207"/>
        <pc:sldMkLst>
          <pc:docMk/>
          <pc:sldMk cId="3281361232" sldId="291"/>
        </pc:sldMkLst>
        <pc:spChg chg="mod">
          <ac:chgData name="Jacob Mlynarski" userId="5c8c5ce1edfe4dd6" providerId="LiveId" clId="{EA34CD77-B017-48F4-80DC-E98A38773462}" dt="2026-09-13T23:56:59.954" v="1009" actId="207"/>
          <ac:spMkLst>
            <pc:docMk/>
            <pc:sldMk cId="3281361232" sldId="291"/>
            <ac:spMk id="3" creationId="{7FC3AEA0-6F20-F309-9B03-BADF904C549E}"/>
          </ac:spMkLst>
        </pc:spChg>
      </pc:sldChg>
      <pc:sldChg chg="modTransition">
        <pc:chgData name="Jacob Mlynarski" userId="5c8c5ce1edfe4dd6" providerId="LiveId" clId="{EA34CD77-B017-48F4-80DC-E98A38773462}" dt="2026-09-13T01:05:41.539" v="660"/>
        <pc:sldMkLst>
          <pc:docMk/>
          <pc:sldMk cId="4158798959" sldId="292"/>
        </pc:sldMkLst>
      </pc:sldChg>
      <pc:sldChg chg="modTransition">
        <pc:chgData name="Jacob Mlynarski" userId="5c8c5ce1edfe4dd6" providerId="LiveId" clId="{EA34CD77-B017-48F4-80DC-E98A38773462}" dt="2026-09-13T01:05:41.539" v="660"/>
        <pc:sldMkLst>
          <pc:docMk/>
          <pc:sldMk cId="2463775365" sldId="293"/>
        </pc:sldMkLst>
      </pc:sldChg>
      <pc:sldChg chg="modTransition">
        <pc:chgData name="Jacob Mlynarski" userId="5c8c5ce1edfe4dd6" providerId="LiveId" clId="{EA34CD77-B017-48F4-80DC-E98A38773462}" dt="2026-09-13T01:05:41.539" v="660"/>
        <pc:sldMkLst>
          <pc:docMk/>
          <pc:sldMk cId="3217942731" sldId="294"/>
        </pc:sldMkLst>
      </pc:sldChg>
      <pc:sldChg chg="modTransition">
        <pc:chgData name="Jacob Mlynarski" userId="5c8c5ce1edfe4dd6" providerId="LiveId" clId="{EA34CD77-B017-48F4-80DC-E98A38773462}" dt="2026-09-13T01:05:41.539" v="660"/>
        <pc:sldMkLst>
          <pc:docMk/>
          <pc:sldMk cId="3217942731" sldId="295"/>
        </pc:sldMkLst>
      </pc:sldChg>
      <pc:sldChg chg="modTransition">
        <pc:chgData name="Jacob Mlynarski" userId="5c8c5ce1edfe4dd6" providerId="LiveId" clId="{EA34CD77-B017-48F4-80DC-E98A38773462}" dt="2026-09-13T01:05:41.539" v="660"/>
        <pc:sldMkLst>
          <pc:docMk/>
          <pc:sldMk cId="3386755825" sldId="296"/>
        </pc:sldMkLst>
      </pc:sldChg>
      <pc:sldChg chg="modTransition">
        <pc:chgData name="Jacob Mlynarski" userId="5c8c5ce1edfe4dd6" providerId="LiveId" clId="{EA34CD77-B017-48F4-80DC-E98A38773462}" dt="2026-09-13T01:05:41.539" v="660"/>
        <pc:sldMkLst>
          <pc:docMk/>
          <pc:sldMk cId="3386755825" sldId="297"/>
        </pc:sldMkLst>
      </pc:sldChg>
      <pc:sldChg chg="modTransition">
        <pc:chgData name="Jacob Mlynarski" userId="5c8c5ce1edfe4dd6" providerId="LiveId" clId="{EA34CD77-B017-48F4-80DC-E98A38773462}" dt="2026-09-13T01:05:41.539" v="660"/>
        <pc:sldMkLst>
          <pc:docMk/>
          <pc:sldMk cId="4158798959" sldId="298"/>
        </pc:sldMkLst>
      </pc:sldChg>
      <pc:sldChg chg="modTransition">
        <pc:chgData name="Jacob Mlynarski" userId="5c8c5ce1edfe4dd6" providerId="LiveId" clId="{EA34CD77-B017-48F4-80DC-E98A38773462}" dt="2026-09-13T01:05:41.539" v="660"/>
        <pc:sldMkLst>
          <pc:docMk/>
          <pc:sldMk cId="2463775365" sldId="299"/>
        </pc:sldMkLst>
      </pc:sldChg>
      <pc:sldChg chg="modTransition">
        <pc:chgData name="Jacob Mlynarski" userId="5c8c5ce1edfe4dd6" providerId="LiveId" clId="{EA34CD77-B017-48F4-80DC-E98A38773462}" dt="2026-09-13T01:05:41.539" v="660"/>
        <pc:sldMkLst>
          <pc:docMk/>
          <pc:sldMk cId="4158798959" sldId="300"/>
        </pc:sldMkLst>
      </pc:sldChg>
      <pc:sldChg chg="modTransition">
        <pc:chgData name="Jacob Mlynarski" userId="5c8c5ce1edfe4dd6" providerId="LiveId" clId="{EA34CD77-B017-48F4-80DC-E98A38773462}" dt="2026-09-13T01:05:41.539" v="660"/>
        <pc:sldMkLst>
          <pc:docMk/>
          <pc:sldMk cId="2463775365" sldId="301"/>
        </pc:sldMkLst>
      </pc:sldChg>
      <pc:sldChg chg="modTransition">
        <pc:chgData name="Jacob Mlynarski" userId="5c8c5ce1edfe4dd6" providerId="LiveId" clId="{EA34CD77-B017-48F4-80DC-E98A38773462}" dt="2026-09-13T01:05:41.539" v="660"/>
        <pc:sldMkLst>
          <pc:docMk/>
          <pc:sldMk cId="2463775365" sldId="302"/>
        </pc:sldMkLst>
      </pc:sldChg>
      <pc:sldChg chg="modTransition">
        <pc:chgData name="Jacob Mlynarski" userId="5c8c5ce1edfe4dd6" providerId="LiveId" clId="{EA34CD77-B017-48F4-80DC-E98A38773462}" dt="2026-09-13T01:05:41.539" v="660"/>
        <pc:sldMkLst>
          <pc:docMk/>
          <pc:sldMk cId="2463775365" sldId="303"/>
        </pc:sldMkLst>
      </pc:sldChg>
      <pc:sldChg chg="modTransition">
        <pc:chgData name="Jacob Mlynarski" userId="5c8c5ce1edfe4dd6" providerId="LiveId" clId="{EA34CD77-B017-48F4-80DC-E98A38773462}" dt="2026-09-13T01:05:41.539" v="660"/>
        <pc:sldMkLst>
          <pc:docMk/>
          <pc:sldMk cId="4158798959" sldId="304"/>
        </pc:sldMkLst>
      </pc:sldChg>
      <pc:sldChg chg="modTransition">
        <pc:chgData name="Jacob Mlynarski" userId="5c8c5ce1edfe4dd6" providerId="LiveId" clId="{EA34CD77-B017-48F4-80DC-E98A38773462}" dt="2026-09-13T01:05:41.539" v="660"/>
        <pc:sldMkLst>
          <pc:docMk/>
          <pc:sldMk cId="2463775365" sldId="305"/>
        </pc:sldMkLst>
      </pc:sldChg>
      <pc:sldChg chg="modTransition">
        <pc:chgData name="Jacob Mlynarski" userId="5c8c5ce1edfe4dd6" providerId="LiveId" clId="{EA34CD77-B017-48F4-80DC-E98A38773462}" dt="2026-09-13T01:05:41.539" v="660"/>
        <pc:sldMkLst>
          <pc:docMk/>
          <pc:sldMk cId="2463775365" sldId="306"/>
        </pc:sldMkLst>
      </pc:sldChg>
      <pc:sldChg chg="modTransition">
        <pc:chgData name="Jacob Mlynarski" userId="5c8c5ce1edfe4dd6" providerId="LiveId" clId="{EA34CD77-B017-48F4-80DC-E98A38773462}" dt="2026-09-13T01:05:41.539" v="660"/>
        <pc:sldMkLst>
          <pc:docMk/>
          <pc:sldMk cId="4158798959" sldId="307"/>
        </pc:sldMkLst>
      </pc:sldChg>
      <pc:sldChg chg="modTransition">
        <pc:chgData name="Jacob Mlynarski" userId="5c8c5ce1edfe4dd6" providerId="LiveId" clId="{EA34CD77-B017-48F4-80DC-E98A38773462}" dt="2026-09-13T01:05:41.539" v="660"/>
        <pc:sldMkLst>
          <pc:docMk/>
          <pc:sldMk cId="1269358350" sldId="308"/>
        </pc:sldMkLst>
      </pc:sldChg>
      <pc:sldChg chg="modTransition">
        <pc:chgData name="Jacob Mlynarski" userId="5c8c5ce1edfe4dd6" providerId="LiveId" clId="{EA34CD77-B017-48F4-80DC-E98A38773462}" dt="2026-09-13T01:05:41.539" v="660"/>
        <pc:sldMkLst>
          <pc:docMk/>
          <pc:sldMk cId="2463775365" sldId="309"/>
        </pc:sldMkLst>
      </pc:sldChg>
      <pc:sldChg chg="add del">
        <pc:chgData name="Jacob Mlynarski" userId="5c8c5ce1edfe4dd6" providerId="LiveId" clId="{EA34CD77-B017-48F4-80DC-E98A38773462}" dt="2026-09-12T09:26:07.198" v="3"/>
        <pc:sldMkLst>
          <pc:docMk/>
          <pc:sldMk cId="1495099306" sldId="310"/>
        </pc:sldMkLst>
      </pc:sldChg>
      <pc:sldChg chg="addSp delSp modSp add mod modTransition modAnim modNotesTx">
        <pc:chgData name="Jacob Mlynarski" userId="5c8c5ce1edfe4dd6" providerId="LiveId" clId="{EA34CD77-B017-48F4-80DC-E98A38773462}" dt="2026-09-13T01:05:41.539" v="660"/>
        <pc:sldMkLst>
          <pc:docMk/>
          <pc:sldMk cId="3575065317" sldId="310"/>
        </pc:sldMkLst>
        <pc:spChg chg="mod">
          <ac:chgData name="Jacob Mlynarski" userId="5c8c5ce1edfe4dd6" providerId="LiveId" clId="{EA34CD77-B017-48F4-80DC-E98A38773462}" dt="2026-09-13T01:05:10.639" v="657" actId="1076"/>
          <ac:spMkLst>
            <pc:docMk/>
            <pc:sldMk cId="3575065317" sldId="310"/>
            <ac:spMk id="6" creationId="{9C23200B-663B-46E3-BC36-0EDA083B8365}"/>
          </ac:spMkLst>
        </pc:spChg>
        <pc:spChg chg="mod">
          <ac:chgData name="Jacob Mlynarski" userId="5c8c5ce1edfe4dd6" providerId="LiveId" clId="{EA34CD77-B017-48F4-80DC-E98A38773462}" dt="2026-09-13T01:04:58.939" v="656" actId="1076"/>
          <ac:spMkLst>
            <pc:docMk/>
            <pc:sldMk cId="3575065317" sldId="310"/>
            <ac:spMk id="8" creationId="{7148830C-E73A-4852-A119-4B70087C418C}"/>
          </ac:spMkLst>
        </pc:spChg>
        <pc:spChg chg="mod">
          <ac:chgData name="Jacob Mlynarski" userId="5c8c5ce1edfe4dd6" providerId="LiveId" clId="{EA34CD77-B017-48F4-80DC-E98A38773462}" dt="2026-09-12T09:50:30.605" v="176" actId="20577"/>
          <ac:spMkLst>
            <pc:docMk/>
            <pc:sldMk cId="3575065317" sldId="310"/>
            <ac:spMk id="10" creationId="{272B80C1-C97C-4F8E-9BEA-750621254FDA}"/>
          </ac:spMkLst>
        </pc:spChg>
        <pc:spChg chg="mod">
          <ac:chgData name="Jacob Mlynarski" userId="5c8c5ce1edfe4dd6" providerId="LiveId" clId="{EA34CD77-B017-48F4-80DC-E98A38773462}" dt="2026-09-12T09:27:51.659" v="39" actId="20577"/>
          <ac:spMkLst>
            <pc:docMk/>
            <pc:sldMk cId="3575065317" sldId="310"/>
            <ac:spMk id="11" creationId="{E9A471CC-F446-4DBD-BC6B-E39069904CCA}"/>
          </ac:spMkLst>
        </pc:spChg>
        <pc:spChg chg="mod">
          <ac:chgData name="Jacob Mlynarski" userId="5c8c5ce1edfe4dd6" providerId="LiveId" clId="{EA34CD77-B017-48F4-80DC-E98A38773462}" dt="2026-09-12T09:50:35.695" v="180" actId="20577"/>
          <ac:spMkLst>
            <pc:docMk/>
            <pc:sldMk cId="3575065317" sldId="310"/>
            <ac:spMk id="12" creationId="{ED457A3E-A9E6-4F53-9530-46329FE3BE12}"/>
          </ac:spMkLst>
        </pc:spChg>
        <pc:spChg chg="mod">
          <ac:chgData name="Jacob Mlynarski" userId="5c8c5ce1edfe4dd6" providerId="LiveId" clId="{EA34CD77-B017-48F4-80DC-E98A38773462}" dt="2026-09-12T09:27:48.807" v="37" actId="20577"/>
          <ac:spMkLst>
            <pc:docMk/>
            <pc:sldMk cId="3575065317" sldId="310"/>
            <ac:spMk id="13" creationId="{A5146FA0-AEA2-43C9-AD6E-C24FB9460060}"/>
          </ac:spMkLst>
        </pc:spChg>
        <pc:spChg chg="mod">
          <ac:chgData name="Jacob Mlynarski" userId="5c8c5ce1edfe4dd6" providerId="LiveId" clId="{EA34CD77-B017-48F4-80DC-E98A38773462}" dt="2026-09-12T09:50:39.076" v="184" actId="20577"/>
          <ac:spMkLst>
            <pc:docMk/>
            <pc:sldMk cId="3575065317" sldId="310"/>
            <ac:spMk id="14" creationId="{F2A8BFAB-43B5-48A5-B0B1-ED5E0B4390B1}"/>
          </ac:spMkLst>
        </pc:spChg>
        <pc:spChg chg="mod">
          <ac:chgData name="Jacob Mlynarski" userId="5c8c5ce1edfe4dd6" providerId="LiveId" clId="{EA34CD77-B017-48F4-80DC-E98A38773462}" dt="2026-09-13T01:05:10.639" v="657" actId="1076"/>
          <ac:spMkLst>
            <pc:docMk/>
            <pc:sldMk cId="3575065317" sldId="310"/>
            <ac:spMk id="15" creationId="{E261F260-BFC5-4031-9B98-080C2785BF41}"/>
          </ac:spMkLst>
        </pc:spChg>
        <pc:spChg chg="mod">
          <ac:chgData name="Jacob Mlynarski" userId="5c8c5ce1edfe4dd6" providerId="LiveId" clId="{EA34CD77-B017-48F4-80DC-E98A38773462}" dt="2026-09-13T01:05:10.639" v="657" actId="1076"/>
          <ac:spMkLst>
            <pc:docMk/>
            <pc:sldMk cId="3575065317" sldId="310"/>
            <ac:spMk id="16" creationId="{69F82D7C-FE18-4A25-9417-4289A9986372}"/>
          </ac:spMkLst>
        </pc:spChg>
        <pc:spChg chg="mod">
          <ac:chgData name="Jacob Mlynarski" userId="5c8c5ce1edfe4dd6" providerId="LiveId" clId="{EA34CD77-B017-48F4-80DC-E98A38773462}" dt="2026-09-13T01:05:10.639" v="657" actId="1076"/>
          <ac:spMkLst>
            <pc:docMk/>
            <pc:sldMk cId="3575065317" sldId="310"/>
            <ac:spMk id="17" creationId="{3AE54C9C-084E-4176-BC74-DB503B200848}"/>
          </ac:spMkLst>
        </pc:spChg>
        <pc:spChg chg="mod">
          <ac:chgData name="Jacob Mlynarski" userId="5c8c5ce1edfe4dd6" providerId="LiveId" clId="{EA34CD77-B017-48F4-80DC-E98A38773462}" dt="2026-09-13T01:05:10.639" v="657" actId="1076"/>
          <ac:spMkLst>
            <pc:docMk/>
            <pc:sldMk cId="3575065317" sldId="310"/>
            <ac:spMk id="18" creationId="{9BDC4F14-C6E7-420A-9933-75FB0F3A9CBC}"/>
          </ac:spMkLst>
        </pc:spChg>
        <pc:spChg chg="del">
          <ac:chgData name="Jacob Mlynarski" userId="5c8c5ce1edfe4dd6" providerId="LiveId" clId="{EA34CD77-B017-48F4-80DC-E98A38773462}" dt="2026-09-12T09:28:18.018" v="44" actId="478"/>
          <ac:spMkLst>
            <pc:docMk/>
            <pc:sldMk cId="3575065317" sldId="310"/>
            <ac:spMk id="19" creationId="{688FF63D-275F-48A6-81AC-A5E1BAE1416A}"/>
          </ac:spMkLst>
        </pc:spChg>
        <pc:spChg chg="del">
          <ac:chgData name="Jacob Mlynarski" userId="5c8c5ce1edfe4dd6" providerId="LiveId" clId="{EA34CD77-B017-48F4-80DC-E98A38773462}" dt="2026-09-12T09:28:19.497" v="45" actId="478"/>
          <ac:spMkLst>
            <pc:docMk/>
            <pc:sldMk cId="3575065317" sldId="310"/>
            <ac:spMk id="20" creationId="{57A4FB40-E9B1-4896-939F-8DD4BB3DFA26}"/>
          </ac:spMkLst>
        </pc:spChg>
        <pc:picChg chg="add del">
          <ac:chgData name="Jacob Mlynarski" userId="5c8c5ce1edfe4dd6" providerId="LiveId" clId="{EA34CD77-B017-48F4-80DC-E98A38773462}" dt="2026-09-13T01:04:42.859" v="650" actId="478"/>
          <ac:picMkLst>
            <pc:docMk/>
            <pc:sldMk cId="3575065317" sldId="310"/>
            <ac:picMk id="20" creationId="{74FBE858-409D-9AD1-BCA3-01BD4E5B37AF}"/>
          </ac:picMkLst>
        </pc:picChg>
        <pc:picChg chg="add mod">
          <ac:chgData name="Jacob Mlynarski" userId="5c8c5ce1edfe4dd6" providerId="LiveId" clId="{EA34CD77-B017-48F4-80DC-E98A38773462}" dt="2026-09-13T01:05:17.630" v="658" actId="1076"/>
          <ac:picMkLst>
            <pc:docMk/>
            <pc:sldMk cId="3575065317" sldId="310"/>
            <ac:picMk id="22" creationId="{3AEA8E94-646F-D756-04A4-0DD17BFEDC69}"/>
          </ac:picMkLst>
        </pc:picChg>
      </pc:sldChg>
      <pc:sldChg chg="addSp delSp modSp add mod modTransition modAnim modNotesTx">
        <pc:chgData name="Jacob Mlynarski" userId="5c8c5ce1edfe4dd6" providerId="LiveId" clId="{EA34CD77-B017-48F4-80DC-E98A38773462}" dt="2026-09-13T01:05:41.539" v="660"/>
        <pc:sldMkLst>
          <pc:docMk/>
          <pc:sldMk cId="366302571" sldId="311"/>
        </pc:sldMkLst>
        <pc:spChg chg="mod">
          <ac:chgData name="Jacob Mlynarski" userId="5c8c5ce1edfe4dd6" providerId="LiveId" clId="{EA34CD77-B017-48F4-80DC-E98A38773462}" dt="2026-09-12T09:49:23.431" v="167" actId="1076"/>
          <ac:spMkLst>
            <pc:docMk/>
            <pc:sldMk cId="366302571" sldId="311"/>
            <ac:spMk id="4" creationId="{FDEA5915-1723-43D7-95D5-2C2712F34A03}"/>
          </ac:spMkLst>
        </pc:spChg>
        <pc:spChg chg="mod">
          <ac:chgData name="Jacob Mlynarski" userId="5c8c5ce1edfe4dd6" providerId="LiveId" clId="{EA34CD77-B017-48F4-80DC-E98A38773462}" dt="2026-09-12T09:47:05.172" v="157" actId="1076"/>
          <ac:spMkLst>
            <pc:docMk/>
            <pc:sldMk cId="366302571" sldId="311"/>
            <ac:spMk id="5" creationId="{E2F0F768-43A6-4D07-926D-03971169C195}"/>
          </ac:spMkLst>
        </pc:spChg>
        <pc:picChg chg="mod">
          <ac:chgData name="Jacob Mlynarski" userId="5c8c5ce1edfe4dd6" providerId="LiveId" clId="{EA34CD77-B017-48F4-80DC-E98A38773462}" dt="2026-09-12T09:46:04.059" v="145" actId="1076"/>
          <ac:picMkLst>
            <pc:docMk/>
            <pc:sldMk cId="366302571" sldId="311"/>
            <ac:picMk id="3" creationId="{1BEFF5AB-7BCB-E9C6-B3CD-AA2A9CFB5FC5}"/>
          </ac:picMkLst>
        </pc:picChg>
        <pc:picChg chg="add mod">
          <ac:chgData name="Jacob Mlynarski" userId="5c8c5ce1edfe4dd6" providerId="LiveId" clId="{EA34CD77-B017-48F4-80DC-E98A38773462}" dt="2026-09-12T09:46:29.802" v="151" actId="1076"/>
          <ac:picMkLst>
            <pc:docMk/>
            <pc:sldMk cId="366302571" sldId="311"/>
            <ac:picMk id="6" creationId="{83B357CE-FEC1-AA33-3782-6E104B77B482}"/>
          </ac:picMkLst>
        </pc:picChg>
        <pc:picChg chg="add mod">
          <ac:chgData name="Jacob Mlynarski" userId="5c8c5ce1edfe4dd6" providerId="LiveId" clId="{EA34CD77-B017-48F4-80DC-E98A38773462}" dt="2026-09-12T09:49:07.990" v="164" actId="1076"/>
          <ac:picMkLst>
            <pc:docMk/>
            <pc:sldMk cId="366302571" sldId="311"/>
            <ac:picMk id="7" creationId="{02851601-3244-6E33-C113-5C1641D1220F}"/>
          </ac:picMkLst>
        </pc:picChg>
        <pc:picChg chg="del">
          <ac:chgData name="Jacob Mlynarski" userId="5c8c5ce1edfe4dd6" providerId="LiveId" clId="{EA34CD77-B017-48F4-80DC-E98A38773462}" dt="2026-09-12T09:42:25.714" v="140" actId="478"/>
          <ac:picMkLst>
            <pc:docMk/>
            <pc:sldMk cId="366302571" sldId="311"/>
            <ac:picMk id="8" creationId="{00000000-0000-0000-0000-000000000000}"/>
          </ac:picMkLst>
        </pc:picChg>
        <pc:picChg chg="add mod">
          <ac:chgData name="Jacob Mlynarski" userId="5c8c5ce1edfe4dd6" providerId="LiveId" clId="{EA34CD77-B017-48F4-80DC-E98A38773462}" dt="2026-09-12T09:49:15.168" v="166" actId="14100"/>
          <ac:picMkLst>
            <pc:docMk/>
            <pc:sldMk cId="366302571" sldId="311"/>
            <ac:picMk id="9" creationId="{6AC06826-5B27-2564-5FB7-6ADCA1B4C732}"/>
          </ac:picMkLst>
        </pc:picChg>
      </pc:sldChg>
      <pc:sldChg chg="modSp add mod modTransition modNotesTx">
        <pc:chgData name="Jacob Mlynarski" userId="5c8c5ce1edfe4dd6" providerId="LiveId" clId="{EA34CD77-B017-48F4-80DC-E98A38773462}" dt="2026-09-13T01:11:20.800" v="663" actId="20577"/>
        <pc:sldMkLst>
          <pc:docMk/>
          <pc:sldMk cId="3590574396" sldId="312"/>
        </pc:sldMkLst>
        <pc:spChg chg="mod">
          <ac:chgData name="Jacob Mlynarski" userId="5c8c5ce1edfe4dd6" providerId="LiveId" clId="{EA34CD77-B017-48F4-80DC-E98A38773462}" dt="2026-09-13T01:11:20.800" v="663" actId="20577"/>
          <ac:spMkLst>
            <pc:docMk/>
            <pc:sldMk cId="3590574396" sldId="312"/>
            <ac:spMk id="5" creationId="{CDE2C974-330C-433C-AA6D-FF223E7DC3C3}"/>
          </ac:spMkLst>
        </pc:spChg>
      </pc:sldChg>
      <pc:sldChg chg="add modTransition">
        <pc:chgData name="Jacob Mlynarski" userId="5c8c5ce1edfe4dd6" providerId="LiveId" clId="{EA34CD77-B017-48F4-80DC-E98A38773462}" dt="2026-09-13T01:05:41.539" v="660"/>
        <pc:sldMkLst>
          <pc:docMk/>
          <pc:sldMk cId="1804542452" sldId="313"/>
        </pc:sldMkLst>
      </pc:sldChg>
      <pc:sldChg chg="add modTransition">
        <pc:chgData name="Jacob Mlynarski" userId="5c8c5ce1edfe4dd6" providerId="LiveId" clId="{EA34CD77-B017-48F4-80DC-E98A38773462}" dt="2026-09-13T01:05:41.539" v="660"/>
        <pc:sldMkLst>
          <pc:docMk/>
          <pc:sldMk cId="4189949778" sldId="314"/>
        </pc:sldMkLst>
      </pc:sldChg>
      <pc:sldChg chg="add modTransition">
        <pc:chgData name="Jacob Mlynarski" userId="5c8c5ce1edfe4dd6" providerId="LiveId" clId="{EA34CD77-B017-48F4-80DC-E98A38773462}" dt="2026-09-13T01:05:41.539" v="660"/>
        <pc:sldMkLst>
          <pc:docMk/>
          <pc:sldMk cId="2411128053" sldId="315"/>
        </pc:sldMkLst>
      </pc:sldChg>
      <pc:sldChg chg="add modTransition">
        <pc:chgData name="Jacob Mlynarski" userId="5c8c5ce1edfe4dd6" providerId="LiveId" clId="{EA34CD77-B017-48F4-80DC-E98A38773462}" dt="2026-09-13T01:05:41.539" v="660"/>
        <pc:sldMkLst>
          <pc:docMk/>
          <pc:sldMk cId="1650228494" sldId="316"/>
        </pc:sldMkLst>
      </pc:sldChg>
      <pc:sldChg chg="modSp add mod modTransition">
        <pc:chgData name="Jacob Mlynarski" userId="5c8c5ce1edfe4dd6" providerId="LiveId" clId="{EA34CD77-B017-48F4-80DC-E98A38773462}" dt="2026-09-13T01:05:41.539" v="660"/>
        <pc:sldMkLst>
          <pc:docMk/>
          <pc:sldMk cId="1096605537" sldId="317"/>
        </pc:sldMkLst>
        <pc:graphicFrameChg chg="modGraphic">
          <ac:chgData name="Jacob Mlynarski" userId="5c8c5ce1edfe4dd6" providerId="LiveId" clId="{EA34CD77-B017-48F4-80DC-E98A38773462}" dt="2026-09-12T09:52:49.983" v="195" actId="14734"/>
          <ac:graphicFrameMkLst>
            <pc:docMk/>
            <pc:sldMk cId="1096605537" sldId="317"/>
            <ac:graphicFrameMk id="6" creationId="{00000000-0000-0000-0000-000000000000}"/>
          </ac:graphicFrameMkLst>
        </pc:graphicFrameChg>
      </pc:sldChg>
      <pc:sldChg chg="modSp add mod modTransition">
        <pc:chgData name="Jacob Mlynarski" userId="5c8c5ce1edfe4dd6" providerId="LiveId" clId="{EA34CD77-B017-48F4-80DC-E98A38773462}" dt="2026-09-13T01:05:41.539" v="660"/>
        <pc:sldMkLst>
          <pc:docMk/>
          <pc:sldMk cId="3897586361" sldId="318"/>
        </pc:sldMkLst>
        <pc:spChg chg="mod">
          <ac:chgData name="Jacob Mlynarski" userId="5c8c5ce1edfe4dd6" providerId="LiveId" clId="{EA34CD77-B017-48F4-80DC-E98A38773462}" dt="2026-09-12T09:53:33.964" v="197" actId="1076"/>
          <ac:spMkLst>
            <pc:docMk/>
            <pc:sldMk cId="3897586361" sldId="318"/>
            <ac:spMk id="3" creationId="{F6E7C33B-8955-4DF9-A2BF-F146BCB1B6AF}"/>
          </ac:spMkLst>
        </pc:spChg>
        <pc:graphicFrameChg chg="mod modGraphic">
          <ac:chgData name="Jacob Mlynarski" userId="5c8c5ce1edfe4dd6" providerId="LiveId" clId="{EA34CD77-B017-48F4-80DC-E98A38773462}" dt="2026-09-12T09:56:00.860" v="252" actId="20577"/>
          <ac:graphicFrameMkLst>
            <pc:docMk/>
            <pc:sldMk cId="3897586361" sldId="318"/>
            <ac:graphicFrameMk id="9" creationId="{00000000-0000-0000-0000-000000000000}"/>
          </ac:graphicFrameMkLst>
        </pc:graphicFrameChg>
      </pc:sldChg>
      <pc:sldChg chg="modSp add mod modTransition">
        <pc:chgData name="Jacob Mlynarski" userId="5c8c5ce1edfe4dd6" providerId="LiveId" clId="{EA34CD77-B017-48F4-80DC-E98A38773462}" dt="2026-09-13T01:05:41.539" v="660"/>
        <pc:sldMkLst>
          <pc:docMk/>
          <pc:sldMk cId="1424861973" sldId="319"/>
        </pc:sldMkLst>
        <pc:spChg chg="mod">
          <ac:chgData name="Jacob Mlynarski" userId="5c8c5ce1edfe4dd6" providerId="LiveId" clId="{EA34CD77-B017-48F4-80DC-E98A38773462}" dt="2026-09-12T09:57:03.233" v="258" actId="1076"/>
          <ac:spMkLst>
            <pc:docMk/>
            <pc:sldMk cId="1424861973" sldId="319"/>
            <ac:spMk id="3" creationId="{FEDA5681-CD6A-4ADE-965F-B501C3E50BF4}"/>
          </ac:spMkLst>
        </pc:spChg>
        <pc:graphicFrameChg chg="mod modGraphic">
          <ac:chgData name="Jacob Mlynarski" userId="5c8c5ce1edfe4dd6" providerId="LiveId" clId="{EA34CD77-B017-48F4-80DC-E98A38773462}" dt="2026-09-12T09:59:59.659" v="352" actId="255"/>
          <ac:graphicFrameMkLst>
            <pc:docMk/>
            <pc:sldMk cId="1424861973" sldId="319"/>
            <ac:graphicFrameMk id="9" creationId="{00000000-0000-0000-0000-000000000000}"/>
          </ac:graphicFrameMkLst>
        </pc:graphicFrameChg>
      </pc:sldChg>
      <pc:sldChg chg="add modTransition">
        <pc:chgData name="Jacob Mlynarski" userId="5c8c5ce1edfe4dd6" providerId="LiveId" clId="{EA34CD77-B017-48F4-80DC-E98A38773462}" dt="2026-09-13T01:05:41.539" v="660"/>
        <pc:sldMkLst>
          <pc:docMk/>
          <pc:sldMk cId="3601649106" sldId="320"/>
        </pc:sldMkLst>
      </pc:sldChg>
      <pc:sldChg chg="add modTransition">
        <pc:chgData name="Jacob Mlynarski" userId="5c8c5ce1edfe4dd6" providerId="LiveId" clId="{EA34CD77-B017-48F4-80DC-E98A38773462}" dt="2026-09-13T01:05:41.539" v="660"/>
        <pc:sldMkLst>
          <pc:docMk/>
          <pc:sldMk cId="4112823401" sldId="321"/>
        </pc:sldMkLst>
      </pc:sldChg>
      <pc:sldChg chg="modSp add mod ord modTransition">
        <pc:chgData name="Jacob Mlynarski" userId="5c8c5ce1edfe4dd6" providerId="LiveId" clId="{EA34CD77-B017-48F4-80DC-E98A38773462}" dt="2026-09-13T01:05:41.539" v="660"/>
        <pc:sldMkLst>
          <pc:docMk/>
          <pc:sldMk cId="143941625" sldId="322"/>
        </pc:sldMkLst>
        <pc:spChg chg="mod">
          <ac:chgData name="Jacob Mlynarski" userId="5c8c5ce1edfe4dd6" providerId="LiveId" clId="{EA34CD77-B017-48F4-80DC-E98A38773462}" dt="2026-09-12T09:28:54.007" v="65" actId="20577"/>
          <ac:spMkLst>
            <pc:docMk/>
            <pc:sldMk cId="143941625" sldId="322"/>
            <ac:spMk id="2" creationId="{E305DA7C-80D2-974D-51F0-86F6CF4000E7}"/>
          </ac:spMkLst>
        </pc:spChg>
      </pc:sldChg>
      <pc:sldChg chg="addSp modSp new mod modTransition">
        <pc:chgData name="Jacob Mlynarski" userId="5c8c5ce1edfe4dd6" providerId="LiveId" clId="{EA34CD77-B017-48F4-80DC-E98A38773462}" dt="2026-09-13T01:33:48.952" v="665" actId="20577"/>
        <pc:sldMkLst>
          <pc:docMk/>
          <pc:sldMk cId="1124065519" sldId="323"/>
        </pc:sldMkLst>
        <pc:spChg chg="mod">
          <ac:chgData name="Jacob Mlynarski" userId="5c8c5ce1edfe4dd6" providerId="LiveId" clId="{EA34CD77-B017-48F4-80DC-E98A38773462}" dt="2026-09-12T10:03:48.895" v="409" actId="20577"/>
          <ac:spMkLst>
            <pc:docMk/>
            <pc:sldMk cId="1124065519" sldId="323"/>
            <ac:spMk id="2" creationId="{1302024A-0AD1-354B-B714-AE0EEA2DD128}"/>
          </ac:spMkLst>
        </pc:spChg>
        <pc:spChg chg="mod">
          <ac:chgData name="Jacob Mlynarski" userId="5c8c5ce1edfe4dd6" providerId="LiveId" clId="{EA34CD77-B017-48F4-80DC-E98A38773462}" dt="2026-09-13T01:33:48.952" v="665" actId="20577"/>
          <ac:spMkLst>
            <pc:docMk/>
            <pc:sldMk cId="1124065519" sldId="323"/>
            <ac:spMk id="3" creationId="{BE9E2E02-F28B-C226-BF5B-21D86897F5BB}"/>
          </ac:spMkLst>
        </pc:spChg>
        <pc:picChg chg="add mod">
          <ac:chgData name="Jacob Mlynarski" userId="5c8c5ce1edfe4dd6" providerId="LiveId" clId="{EA34CD77-B017-48F4-80DC-E98A38773462}" dt="2026-09-12T10:03:30.732" v="359" actId="14100"/>
          <ac:picMkLst>
            <pc:docMk/>
            <pc:sldMk cId="1124065519" sldId="323"/>
            <ac:picMk id="4" creationId="{02601523-A5E5-5F9B-1909-CC44666356D9}"/>
          </ac:picMkLst>
        </pc:picChg>
      </pc:sldChg>
      <pc:sldChg chg="new del">
        <pc:chgData name="Jacob Mlynarski" userId="5c8c5ce1edfe4dd6" providerId="LiveId" clId="{EA34CD77-B017-48F4-80DC-E98A38773462}" dt="2026-09-13T04:48:43.860" v="954" actId="2696"/>
        <pc:sldMkLst>
          <pc:docMk/>
          <pc:sldMk cId="508934230" sldId="324"/>
        </pc:sldMkLst>
      </pc:sldChg>
      <pc:sldChg chg="addSp delSp modSp new mod modClrScheme chgLayout">
        <pc:chgData name="Jacob Mlynarski" userId="5c8c5ce1edfe4dd6" providerId="LiveId" clId="{EA34CD77-B017-48F4-80DC-E98A38773462}" dt="2026-09-13T04:47:48.575" v="953" actId="1076"/>
        <pc:sldMkLst>
          <pc:docMk/>
          <pc:sldMk cId="1293510798" sldId="325"/>
        </pc:sldMkLst>
        <pc:spChg chg="mod ord">
          <ac:chgData name="Jacob Mlynarski" userId="5c8c5ce1edfe4dd6" providerId="LiveId" clId="{EA34CD77-B017-48F4-80DC-E98A38773462}" dt="2026-09-13T04:40:37.191" v="720" actId="1076"/>
          <ac:spMkLst>
            <pc:docMk/>
            <pc:sldMk cId="1293510798" sldId="325"/>
            <ac:spMk id="2" creationId="{E4EBAFB5-9444-FA15-5D41-D0304B747F3A}"/>
          </ac:spMkLst>
        </pc:spChg>
        <pc:spChg chg="del mod ord">
          <ac:chgData name="Jacob Mlynarski" userId="5c8c5ce1edfe4dd6" providerId="LiveId" clId="{EA34CD77-B017-48F4-80DC-E98A38773462}" dt="2026-09-13T04:40:32.883" v="719" actId="700"/>
          <ac:spMkLst>
            <pc:docMk/>
            <pc:sldMk cId="1293510798" sldId="325"/>
            <ac:spMk id="3" creationId="{89B2FDB7-C117-732B-B3F2-917BFCA04A35}"/>
          </ac:spMkLst>
        </pc:spChg>
        <pc:spChg chg="add mod ord">
          <ac:chgData name="Jacob Mlynarski" userId="5c8c5ce1edfe4dd6" providerId="LiveId" clId="{EA34CD77-B017-48F4-80DC-E98A38773462}" dt="2026-09-13T04:41:18.097" v="766" actId="20577"/>
          <ac:spMkLst>
            <pc:docMk/>
            <pc:sldMk cId="1293510798" sldId="325"/>
            <ac:spMk id="8" creationId="{92F37F33-273F-2381-DCE3-B3418E029D80}"/>
          </ac:spMkLst>
        </pc:spChg>
        <pc:spChg chg="add mod ord">
          <ac:chgData name="Jacob Mlynarski" userId="5c8c5ce1edfe4dd6" providerId="LiveId" clId="{EA34CD77-B017-48F4-80DC-E98A38773462}" dt="2026-09-13T04:44:01.205" v="850" actId="20577"/>
          <ac:spMkLst>
            <pc:docMk/>
            <pc:sldMk cId="1293510798" sldId="325"/>
            <ac:spMk id="9" creationId="{FA4D02A5-3DA7-2D3D-4AE5-F8462A6D07B8}"/>
          </ac:spMkLst>
        </pc:spChg>
        <pc:spChg chg="add mod ord">
          <ac:chgData name="Jacob Mlynarski" userId="5c8c5ce1edfe4dd6" providerId="LiveId" clId="{EA34CD77-B017-48F4-80DC-E98A38773462}" dt="2026-09-13T04:47:11.721" v="949" actId="20577"/>
          <ac:spMkLst>
            <pc:docMk/>
            <pc:sldMk cId="1293510798" sldId="325"/>
            <ac:spMk id="10" creationId="{1B5D8FB0-FACF-FD88-EC12-53ECCB6785C2}"/>
          </ac:spMkLst>
        </pc:spChg>
        <pc:picChg chg="add mod">
          <ac:chgData name="Jacob Mlynarski" userId="5c8c5ce1edfe4dd6" providerId="LiveId" clId="{EA34CD77-B017-48F4-80DC-E98A38773462}" dt="2026-09-13T04:40:16.070" v="715" actId="1076"/>
          <ac:picMkLst>
            <pc:docMk/>
            <pc:sldMk cId="1293510798" sldId="325"/>
            <ac:picMk id="4" creationId="{BAA55B61-C687-A64D-DCFB-2FF8EFF1A118}"/>
          </ac:picMkLst>
        </pc:picChg>
        <pc:picChg chg="add del mod">
          <ac:chgData name="Jacob Mlynarski" userId="5c8c5ce1edfe4dd6" providerId="LiveId" clId="{EA34CD77-B017-48F4-80DC-E98A38773462}" dt="2026-09-13T04:39:50.458" v="704" actId="478"/>
          <ac:picMkLst>
            <pc:docMk/>
            <pc:sldMk cId="1293510798" sldId="325"/>
            <ac:picMk id="5" creationId="{ABF99340-6530-59EC-94EF-FDF5E00E6DCD}"/>
          </ac:picMkLst>
        </pc:picChg>
        <pc:picChg chg="add mod">
          <ac:chgData name="Jacob Mlynarski" userId="5c8c5ce1edfe4dd6" providerId="LiveId" clId="{EA34CD77-B017-48F4-80DC-E98A38773462}" dt="2026-09-13T04:40:15.060" v="714" actId="14100"/>
          <ac:picMkLst>
            <pc:docMk/>
            <pc:sldMk cId="1293510798" sldId="325"/>
            <ac:picMk id="7" creationId="{7440FF28-8C9A-F212-9AE5-00A76A9F5DA9}"/>
          </ac:picMkLst>
        </pc:picChg>
        <pc:picChg chg="add mod">
          <ac:chgData name="Jacob Mlynarski" userId="5c8c5ce1edfe4dd6" providerId="LiveId" clId="{EA34CD77-B017-48F4-80DC-E98A38773462}" dt="2026-09-13T04:44:58.943" v="860" actId="1076"/>
          <ac:picMkLst>
            <pc:docMk/>
            <pc:sldMk cId="1293510798" sldId="325"/>
            <ac:picMk id="11" creationId="{D19FE698-DF89-9CE7-A733-09D7C533B2AD}"/>
          </ac:picMkLst>
        </pc:picChg>
        <pc:picChg chg="add mod">
          <ac:chgData name="Jacob Mlynarski" userId="5c8c5ce1edfe4dd6" providerId="LiveId" clId="{EA34CD77-B017-48F4-80DC-E98A38773462}" dt="2026-09-13T04:44:53.297" v="859" actId="1076"/>
          <ac:picMkLst>
            <pc:docMk/>
            <pc:sldMk cId="1293510798" sldId="325"/>
            <ac:picMk id="12" creationId="{0953BCA7-3786-314B-A106-C996738CFF60}"/>
          </ac:picMkLst>
        </pc:picChg>
        <pc:picChg chg="add mod">
          <ac:chgData name="Jacob Mlynarski" userId="5c8c5ce1edfe4dd6" providerId="LiveId" clId="{EA34CD77-B017-48F4-80DC-E98A38773462}" dt="2026-09-13T04:47:48.575" v="953" actId="1076"/>
          <ac:picMkLst>
            <pc:docMk/>
            <pc:sldMk cId="1293510798" sldId="325"/>
            <ac:picMk id="13" creationId="{F60A6D90-CE4D-4BD1-0CA4-8A01E85A83A0}"/>
          </ac:picMkLst>
        </pc:picChg>
      </pc:sldChg>
      <pc:sldChg chg="new del">
        <pc:chgData name="Jacob Mlynarski" userId="5c8c5ce1edfe4dd6" providerId="LiveId" clId="{EA34CD77-B017-48F4-80DC-E98A38773462}" dt="2026-09-13T04:40:28.082" v="718" actId="680"/>
        <pc:sldMkLst>
          <pc:docMk/>
          <pc:sldMk cId="1580561394" sldId="32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223F0-1BE4-D5C9-332F-EFCADC077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E92E4-DC77-4EB5-B08C-C893AC5E8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499BB-44F8-0973-7CA2-76462AFDF657}"/>
              </a:ext>
            </a:extLst>
          </p:cNvPr>
          <p:cNvSpPr>
            <a:spLocks noGrp="1"/>
          </p:cNvSpPr>
          <p:nvPr>
            <p:ph type="body" idx="1"/>
          </p:nvPr>
        </p:nvSpPr>
        <p:spPr/>
        <p:txBody>
          <a:bodyPr/>
          <a:lstStyle/>
          <a:p>
            <a:r>
              <a:t>90-minute core route: opening/revision 7 min; sets 15; basic counting and factorial 15; permutations/combinations 18; numbers 8; arithmetic 14; A13 exit plus synthesis 8 (5 independent, 2 feedback, 1 synthesis). Reserve 5 minutes for recovery (85 + 5 = 90). Choose only targeted optional challenges within those section budgets. A12 must never displace A13. Teacher explanations are short; students first commit individually, then compare in pairs.</a:t>
            </a:r>
          </a:p>
          <a:p>
            <a:endParaRPr/>
          </a:p>
          <a:p>
            <a:r>
              <a:t>[Sources]</a:t>
            </a:r>
          </a:p>
          <a:p>
            <a:r>
              <a:t>- Statistics Week 1 Lecture.pptx</a:t>
            </a:r>
          </a:p>
        </p:txBody>
      </p:sp>
      <p:sp>
        <p:nvSpPr>
          <p:cNvPr id="4" name="Slide Number Placeholder 3">
            <a:extLst>
              <a:ext uri="{FF2B5EF4-FFF2-40B4-BE49-F238E27FC236}">
                <a16:creationId xmlns:a16="http://schemas.microsoft.com/office/drawing/2014/main" id="{8898914D-2D4A-2D16-25C4-61B1FA2ED4A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28112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time: 3–4 minutes. Mix the bag, then ask one seated student to take five tokens without looking. Keep the drawn tokens outside the bag. Record the cumulative black and white totals on the board. Ask for the same simultaneous vote: 1 black, 2 white, 3 not enough information. Repeat twice with different students, mixing the remaining tokens before each draw. The rows mean totals after 5, 10 and 15 unique tokens, not three separate totals to add together. Check each row’s black plus white count equals the number examined. Ask whether the prediction or confidence changed. More evidence need not make this particular prediction more accurate. With only 15 examined, the unseen 35 could still change which </a:t>
            </a:r>
            <a:r>
              <a:rPr dirty="0" err="1"/>
              <a:t>colour</a:t>
            </a:r>
            <a:r>
              <a:rPr dirty="0"/>
              <a:t> is most common.</a:t>
            </a:r>
          </a:p>
          <a:p>
            <a:endParaRPr dirty="0"/>
          </a:p>
          <a:p>
            <a:r>
              <a:rPr dirty="0"/>
              <a:t>[Sources]</a:t>
            </a:r>
          </a:p>
          <a:p>
            <a:r>
              <a:rPr dirty="0"/>
              <a:t>Visual template: IFY_Statistics_Week_1_Class_A_Clean_Topology.pptx, version 2. </a:t>
            </a:r>
            <a:r>
              <a:rPr dirty="0" err="1"/>
              <a:t>Bellerbys</a:t>
            </a:r>
            <a:r>
              <a:rPr dirty="0"/>
              <a:t> source layouts, backgrounds, logo and Aptos fonts.</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minutes. Before advancing to this reveal, empty the bag. Combine the remaining tokens with all 15 already drawn, sort by colour and count all 50. Use these fixed values only if the prepared bag contains 35 black and 15 white tokens as directed. Compare the actual class draws with the full count without inventing sample data. An accurate prediction is not proof that every small sample will give the correct answer.</a:t>
            </a:r>
          </a:p>
          <a:p>
            <a:endParaRPr/>
          </a:p>
          <a:p>
            <a:r>
              <a:t>[Sources]</a:t>
            </a:r>
          </a:p>
          <a:p>
            <a:r>
              <a:t>Visual template: IFY_Statistics_Week_1_Class_A_Clean_Topology.pptx, version 2. Bellerbys source layouts, backgrounds, logo and Aptos fonts.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45–60 seconds. Use the students’ actual experience to explain the steps. We described the observed tokens, made a prediction about the unseen bag and checked it against a complete count. Formal sampling methods come later. Connect to Class A: today’s mathematical tools help us organise data and calculate accurately.</a:t>
            </a:r>
          </a:p>
          <a:p>
            <a:endParaRPr/>
          </a:p>
          <a:p>
            <a:r>
              <a:t>[Sources]</a:t>
            </a:r>
          </a:p>
          <a:p>
            <a:r>
              <a:t>Visual template: IFY_Statistics_Week_1_Class_A_Clean_Topology.pptx, version 2. Bellerbys source layouts, backgrounds, logo and Aptos fonts.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10 seconds. Transition from the ungraded activity into how assessment works.</a:t>
            </a:r>
          </a:p>
          <a:p>
            <a:endParaRPr/>
          </a:p>
          <a:p>
            <a:r>
              <a:t>[Sources]</a:t>
            </a:r>
          </a:p>
          <a:p>
            <a:r>
              <a:t>Visual template: IFY_Statistics_Week_1_Class_A_Clean_Topology.pptx, version 2. Bellerbys source layouts, backgrounds, logo and Aptos fonts.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 Formative assessment supports learning and contributes 0% to the final module mark. Summative assessment contributes to the final mark. Both can produce useful feedback. Use the Mystery Bag as an example of an ungraded learning activity. Clarify the distinction between formative feedback on a portfolio draft and the assessed final portfolio.</a:t>
            </a:r>
          </a:p>
          <a:p>
            <a:endParaRPr/>
          </a:p>
          <a:p>
            <a:r>
              <a:t>[Sources]</a:t>
            </a:r>
          </a:p>
          <a:p>
            <a:r>
              <a:t>Template: Week_1_Introduction_and_Mystery_Bag_Bellerbys.pptx, existing Bellerbys layouts and fonts.</a:t>
            </a:r>
          </a:p>
          <a:p>
            <a:r>
              <a:t>Calendar: IFY-Statistics-Teaching-Plan-With-Assessments.pdf, version 1, pages 1–4. This is the agreed tutor teaching plan.</a:t>
            </a:r>
          </a:p>
          <a:p>
            <a:r>
              <a:t>Official assessment structure: IFY Statistics with Project Skills Module Spec(2).docx and (3).docx, assessment table. Semester 2 Week 13 Lesson 1 slide 8 confirms formative 0%; Week 22 SA2 and SA3 briefs give format and length.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 All numbers are Semester 1 teaching weeks. FA1 covers Weeks 1–3: announced in Week 2 Class A, taken in the final 30 minutes of Week 3 Class C. FA2 covers Weeks 4–6: announced in Week 5 Class A, taken in the final 30 minutes of Week 6 Class C. FA3 covers Weeks 7–9: announced in Week 8 Class A, taken in the final 30 minutes of Week 9 Class C. Mock announced in Week 11 Class A and taken in Week 12 Class C: 60 minutes, approximately 60 marks. Tutorial corrections are in Weeks 5, 8 and 11. These are local planned formative timings. The summative exam is 2 hours, worth 40%, at the end of Semester 1. Its exact institutional week/date is not specified. Do not call the Week 12 mock the summative exam.</a:t>
            </a:r>
          </a:p>
          <a:p>
            <a:endParaRPr/>
          </a:p>
          <a:p>
            <a:r>
              <a:t>[Sources]</a:t>
            </a:r>
          </a:p>
          <a:p>
            <a:r>
              <a:t>Template: Week_1_Introduction_and_Mystery_Bag_Bellerbys.pptx, existing Bellerbys layouts and fonts.</a:t>
            </a:r>
          </a:p>
          <a:p>
            <a:r>
              <a:t>Calendar: IFY-Statistics-Teaching-Plan-With-Assessments.pdf, version 1, pages 1–4. This is the agreed tutor teaching plan.</a:t>
            </a:r>
          </a:p>
          <a:p>
            <a:r>
              <a:t>Official assessment structure: IFY Statistics with Project Skills Module Spec(2).docx and (3).docx, assessment table. Semester 2 Week 13 Lesson 1 slide 8 confirms formative 0%; Week 22 SA2 and SA3 briefs give format and length.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minutes. These are Semester 2 weeks 1–12, equivalent to programme weeks 13–24. Project briefs SA2 and SA3 are issued in Week 1 Class A, and weekly SA3 evidence recording begins that week. Proposal assigned Week 3 Class A, submitted Week 4 Class C as a local formative checkpoint. Progress review prepared Week 5 Class C, held Week 6 Class B. Timed rehearsal prepared Week 6 Class C, held Week 7 Class C. Drafts prepared Week 9 Class C, reviewed Week 10 Class C. In Week 11, group SA2 draft feedback occurs in Class A and individual SA3 feedback in Class B. Mock presentations are prepared in Week 11 Class C and held in Week 12 Classes A/B. Week 12 Class C is for corrections and final submission checks. These milestones are formative, 0%. The plan explicitly leaves final SA2 and SA3 submission dates unconfirmed. Do not label Week 12 mocks as summative submissions.</a:t>
            </a:r>
          </a:p>
          <a:p>
            <a:endParaRPr/>
          </a:p>
          <a:p>
            <a:r>
              <a:t>[Sources]</a:t>
            </a:r>
          </a:p>
          <a:p>
            <a:r>
              <a:t>Template: Week_1_Introduction_and_Mystery_Bag_Bellerbys.pptx, existing Bellerbys layouts and fonts.</a:t>
            </a:r>
          </a:p>
          <a:p>
            <a:r>
              <a:t>Calendar: IFY-Statistics-Teaching-Plan-With-Assessments.pdf, version 1, pages 1–4. This is the agreed tutor teaching plan.</a:t>
            </a:r>
          </a:p>
          <a:p>
            <a:r>
              <a:t>Official assessment structure: IFY Statistics with Project Skills Module Spec(2).docx and (3).docx, assessment table. Semester 2 Week 13 Lesson 1 slide 8 confirms formative 0%; Week 22 SA2 and SA3 briefs give format and length.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 The official weighting is 40% unseen examination, 30% group presentation or vlog, 30% individual sustainability portfolio/blog. This adds to 100%. The exam lasts 2 hours at the end of Semester 1; the group presentation/vlog takes place at the end of Semester 2. The individual portfolio develops continuously and is a summative assessment. Exact weeks and submission dates have not been supplied by the institution. Overall module pass threshold is 40%; progression requirements may vary by pathway.</a:t>
            </a:r>
          </a:p>
          <a:p>
            <a:endParaRPr/>
          </a:p>
          <a:p>
            <a:r>
              <a:t>[Sources]</a:t>
            </a:r>
          </a:p>
          <a:p>
            <a:r>
              <a:t>Template: Week_1_Introduction_and_Mystery_Bag_Bellerbys.pptx, existing Bellerbys layouts and fonts.</a:t>
            </a:r>
          </a:p>
          <a:p>
            <a:r>
              <a:t>Calendar: IFY-Statistics-Teaching-Plan-With-Assessments.pdf, version 1, pages 1–4. This is the agreed tutor teaching plan.</a:t>
            </a:r>
          </a:p>
          <a:p>
            <a:r>
              <a:t>Official assessment structure: IFY Statistics with Project Skills Module Spec(2).docx and (3).docx, assessment table. Semester 2 Week 13 Lesson 1 slide 8 confirms formative 0%; Week 22 SA2 and SA3 briefs give format and length.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 minutes. Both outputs relate to the same sustainability investigation. The group presentation can be live or a recorded vlog, and must accompany a group artefact. Explain artefact as something the group creates, such as a model, poster or video. A vlog here is a recorded video presentation. Each member has up to 9 minutes; the brief says material after the ninth minute is not marked. The individual portfolio/blog records and reflects on personal contribution and learning with weekly entries/evidence. Its limit is 1500 words or equivalent; the brief excludes bibliography, references and tables from the word count. The weekly record supports the assessed portfolio; it is not a separate additional 30% task. Do not launch permanent groups or topics during this introduction.</a:t>
            </a:r>
          </a:p>
          <a:p>
            <a:endParaRPr/>
          </a:p>
          <a:p>
            <a:r>
              <a:t>[Sources]</a:t>
            </a:r>
          </a:p>
          <a:p>
            <a:r>
              <a:t>Template: Week_1_Introduction_and_Mystery_Bag_Bellerbys.pptx, existing Bellerbys layouts and fonts.</a:t>
            </a:r>
          </a:p>
          <a:p>
            <a:r>
              <a:t>Calendar: IFY-Statistics-Teaching-Plan-With-Assessments.pdf, version 1, pages 1–4. This is the agreed tutor teaching plan.</a:t>
            </a:r>
          </a:p>
          <a:p>
            <a:r>
              <a:t>Official assessment structure: IFY Statistics with Project Skills Module Spec(2).docx and (3).docx, assessment table. Semester 2 Week 13 Lesson 1 slide 8 confirms formative 0%; Week 22 SA2 and SA3 briefs give format and length.</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90-minute core route: opening/revision 7 min; sets 15; basic counting and factorial 15; permutations/combinations 18; numbers 8; arithmetic 14; A13 exit plus synthesis 8 (5 independent, 2 feedback, 1 synthesis). Reserve 5 minutes for recovery (85 + 5 = 90). Choose only targeted optional challenges within those section budgets. A12 must never displace A13. Teacher explanations are short; students first commit individually, then compare in pairs.</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each objective to one later check: A2 sets, A8 counting, A9 number types, A10 arithmetic. Ask students to name the objective they most want to strengthen.</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four minutes of individual retrieval. Ask students to mark confident, unsure or guessed. Do not reveal until everyone commits.</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for the operation performed first in R1 and the two choice stages in R4. Use confidence marks to choose one misconception to revisit.</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for one familiar set. Transition to precise membership, not subjective descriptions.</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whether changing order or repeating an element changes the set. Watch for treating duplicate entries as new elements.</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each symbol aloud with students. Check that n(A) is a count, whereas A names the set itself.</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write all four complete English sentences, then pair-check. Do not accept reading the glyph name instead of its meaning.</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different valid sentence forms. Check that the empty set is not described as containing zero.</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to the inherited Venn regions for both, either-or-both and outside A. Define U before asking about complement.</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solve independently then compare sets, not just their cardinalities. Ask them to mark shared elements first.</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that union contains no duplicates. Ask a student to count its seven elements and justify the complement using U.</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A3 is core applied set-counting practice. Students draw the rectangle and two circles, placing the overlap first. Give an individual attempt before pair discussion; check how students distinguish totals from disjoint regions.</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Reveal the completed Venn only after students draw. Check the four disjoint regions total 30. Main error: adding 18 and 14 without subtracting the overlap.</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the retrieval outfit question to a general count of complete outcomes.</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Have pairs check that every shirt occurs with both trousers. One complete outcome contains one of each item.</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how many decisions make a meal. Contrast a repeat-allowed code with a no-repeat selection; choices may shrink.</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Core Q1–Q3. Q4 is optional. Ask students to draw slots and write the choices above each slot; for Q4 uppercase A–Z gives 26 choices and 0–9 gives 10.</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that 0 may be the first PIN digit. Repeats allowed means the number of choices remains unchanged.</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five students or names to explain 5,4,3,2,1 remaining choices. Note the definitions of n! and 0! without detouring into proofs.</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Core Q1–Q3; Q4 optional. Ask students to write the decreasing multiplication before the result.</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Q4 the first book is fixed, leaving exactly five distinct books to arrange. Connect to filling fewer than all positions.</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swap test: same people in different labelled roles means a different outcome. Read n and r aloud and state no repeats.</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to identify n=5 and r=3 in the substitution. The 2! cancels the unused tail of 5!, leaving 5×4×3.</a:t>
            </a:r>
          </a:p>
          <a:p>
            <a:endParaRPr/>
          </a:p>
          <a:p>
            <a:r>
              <a:t>[Sources]</a:t>
            </a:r>
          </a:p>
          <a:p>
            <a:r>
              <a:t>- Week_1_Class_1_Mathematical_Foundations_A (2).pptx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Core Q1–Q3; Q4 optional. Q4 is a number rather than a PIN, so its first digit cannot be zero.</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two initial factors 9 in Q4: 9 choices for the first non-zero digit, then 9 unused digits including zero.</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how often one group of three appears in the ordered count. Its 3! arrangements all represent the same equal-role group.</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same students to isolate the difference between permutations and combinations. Do not introduce the leader answer before A8 Q5.</a:t>
            </a:r>
          </a:p>
          <a:p>
            <a:endParaRPr/>
          </a:p>
          <a:p>
            <a:r>
              <a:t>[Sources]</a:t>
            </a:r>
          </a:p>
          <a:p>
            <a:r>
              <a:t>- Week_1_Class_1_Mathematical_Foundations_A (2).pptx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Core Q1–Q3; Q4 optional. Students justify why order does not matter before they touch a calculator.</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Q1 to model substitution and cancellation. For optional Q4 there are two group-selection stages, so multiply their counts.</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situation first. Ask which test distinguishes permutation from combination: does swapping items change the outcome?</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Core Q1–Q4; Q5 optional. Students choose a method and explain their choice before calculating. Keep Q5 answer hidden until attempts are complete.</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each method as well as its count. For optional Q5 first choose the group then its leader; alternatively divide 336 by 2! because the two ordinary members can swap.</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from counting to the number and operation rules needed for later calculations.</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course convention: natural numbers begin at 1; whole numbers include 0. Emphasise that a terminating or repeating decimal is rational.</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why a number may belong to several families. When one type is requested, use the smallest applicable family after simplifying.</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simplify each number then classify. Watch the minus sign outside √64 and the whole fraction beneath the Q3 radical.</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why Q3 and Q4 are rational, and why a square root is not automatically irrational. All six answers are real.</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oral translation of sum, difference, product and quotient. Explain adjacency and ask why 12 is the GCD of 24 and 36.</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M/D have equal priority, as do A/S; work left to right within each pair. BODMAS and PEMDAS describe the same order.</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to identify the next operation before each line. Each equality changes one operation only. Use the second example only if needed to reinforce left-to-right priority.</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to identify the next operation before each line. Each equality changes one operation only. Use the second example only if needed to reinforce left-to-right priority.</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identify the first incorrect equality, not merely the final wrong answer. Then correct the calculation and explain the rule.</a:t>
            </a:r>
          </a:p>
          <a:p>
            <a:endParaRPr/>
          </a:p>
          <a:p>
            <a:r>
              <a:t>[Sources]</a:t>
            </a:r>
          </a:p>
          <a:p>
            <a:r>
              <a:t>- Statistics Week 1 Lecture.pptx</a:t>
            </a:r>
          </a:p>
          <a:p>
            <a:r>
              <a:t>- Statistics Week 1 Seminar 1 - Questions.docx</a:t>
            </a:r>
          </a:p>
          <a:p>
            <a:r>
              <a:t>- Statistics Week 1 Seminar 1 - Answers.docx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explanations of priority and left-to-right order. Ask students to name which exact step in each original chain fails.</a:t>
            </a:r>
          </a:p>
          <a:p>
            <a:endParaRPr/>
          </a:p>
          <a:p>
            <a:r>
              <a:t>[Sources]</a:t>
            </a:r>
          </a:p>
          <a:p>
            <a:r>
              <a:t>- Statistics Week 1 Lecture.pptx</a:t>
            </a:r>
          </a:p>
          <a:p>
            <a:r>
              <a:t>- Statistics Week 1 Seminar 1 - Questions.docx</a:t>
            </a:r>
          </a:p>
          <a:p>
            <a:r>
              <a:t>- Statistics Week 1 Seminar 1 - Answers.docx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A11 is optional extension: select Q1 as a short check if time permits; Q2–Q3 stretch secure students. Do not compromise A13 exit time.</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answer reveal. Every line keeps the unchanged terms visible and applies only one operation. Have students name that operation.</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answer reveal. Every line keeps the unchanged terms visible and applies only one operation. Have students name that operation.</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answer reveal. Every line keeps the unchanged terms visible and applies only one operation. Have students name that operation.</a:t>
            </a:r>
          </a:p>
          <a:p>
            <a:endParaRPr/>
          </a:p>
          <a:p>
            <a:r>
              <a:t>[Sources]</a:t>
            </a:r>
          </a:p>
          <a:p>
            <a:r>
              <a:t>- Statistics Week 1 Lecture.pptx</a:t>
            </a:r>
          </a:p>
          <a:p>
            <a:r>
              <a:t>- White, Stimmel &amp; Searcy, Basic Math and Pre-Algebra, Cliffs Study Solver (2003).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A12 is optional extension, not part of the core route. Start only if A13 exit time and the 5-minute recovery buffer are protected. Otherwise assign after class; keep it available in the deck.</a:t>
            </a:r>
          </a:p>
          <a:p>
            <a:endParaRPr/>
          </a:p>
          <a:p>
            <a:r>
              <a:t>[Sources]</a:t>
            </a:r>
          </a:p>
          <a:p>
            <a:r>
              <a:t>- CliffsStudySolver Algebra I, Part 1, Chapter 1, problem 1, book p.67 / PDF p.85.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A12 reveal follows student attempt. Work inside brackets, then evaluate powers/root, multiplication, and addition/subtraction left to right. Preserve A13 time.</a:t>
            </a:r>
          </a:p>
          <a:p>
            <a:endParaRPr/>
          </a:p>
          <a:p>
            <a:r>
              <a:t>[Sources]</a:t>
            </a:r>
          </a:p>
          <a:p>
            <a:r>
              <a:t>- CliffsStudySolver Algebra I, Part 1, official solution, book p.68 / PDF p.86.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A12 reveal follows student attempt. Work inside brackets, then evaluate powers/root, multiplication, and addition/subtraction left to right. Preserve A13 time.</a:t>
            </a:r>
          </a:p>
          <a:p>
            <a:endParaRPr/>
          </a:p>
          <a:p>
            <a:r>
              <a:t>[Sources]</a:t>
            </a:r>
          </a:p>
          <a:p>
            <a:r>
              <a:t>- CliffsStudySolver Algebra I, Part 1, official solution, book p.68 / PDF p.86.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Protect five minutes of independent exit work even if optional challenges are skipped, followed by two minutes of feedback and one minute of synthesis. Students show method plus main steps. Collect or inspect responses before revealing.</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one answer per objective. Use errors to plan the opening retrieval in Class B; ask students to correct one step in a different colour.</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to name one method they can now explain. Bridge to equations, unit conversion, percentages and ratios in Class B.</a:t>
            </a:r>
          </a:p>
          <a:p>
            <a:endParaRPr/>
          </a:p>
          <a:p>
            <a:r>
              <a:t>[Sources]</a:t>
            </a:r>
          </a:p>
          <a:p>
            <a:r>
              <a:t>- Statistics Week 1 Lecture.pptx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der 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4">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5">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1384914"/>
            <a:ext cx="5012602"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ext and image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ext and image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ext and logo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112934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11293444" cy="4330731"/>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B27F821-23A1-E30C-4CF7-BCB0A54C884C}"/>
              </a:ext>
            </a:extLst>
          </p:cNvPr>
          <p:cNvSpPr>
            <a:spLocks noGrp="1"/>
          </p:cNvSpPr>
          <p:nvPr>
            <p:ph idx="2"/>
          </p:nvPr>
        </p:nvSpPr>
        <p:spPr>
          <a:xfrm>
            <a:off x="6172200" y="1979534"/>
            <a:ext cx="555203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3" y="1979534"/>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Content Placeholder 2">
            <a:extLst>
              <a:ext uri="{FF2B5EF4-FFF2-40B4-BE49-F238E27FC236}">
                <a16:creationId xmlns:a16="http://schemas.microsoft.com/office/drawing/2014/main" id="{39B8B3E1-3E22-853B-33F7-08DB9B6F05C9}"/>
              </a:ext>
            </a:extLst>
          </p:cNvPr>
          <p:cNvSpPr>
            <a:spLocks noGrp="1"/>
          </p:cNvSpPr>
          <p:nvPr>
            <p:ph idx="10"/>
          </p:nvPr>
        </p:nvSpPr>
        <p:spPr>
          <a:xfrm>
            <a:off x="4293873" y="1989591"/>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Content Placeholder 2">
            <a:extLst>
              <a:ext uri="{FF2B5EF4-FFF2-40B4-BE49-F238E27FC236}">
                <a16:creationId xmlns:a16="http://schemas.microsoft.com/office/drawing/2014/main" id="{03F7CAF5-096C-F6FE-105D-033F35B064E8}"/>
              </a:ext>
            </a:extLst>
          </p:cNvPr>
          <p:cNvSpPr>
            <a:spLocks noGrp="1"/>
          </p:cNvSpPr>
          <p:nvPr>
            <p:ph idx="11"/>
          </p:nvPr>
        </p:nvSpPr>
        <p:spPr>
          <a:xfrm>
            <a:off x="8119985" y="1979534"/>
            <a:ext cx="3604253"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ext and stat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8150498"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815049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ext and testimonia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4119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41194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Column with 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Picture Placeholder 4">
            <a:extLst>
              <a:ext uri="{FF2B5EF4-FFF2-40B4-BE49-F238E27FC236}">
                <a16:creationId xmlns:a16="http://schemas.microsoft.com/office/drawing/2014/main" id="{1D4466F3-6EF4-7C6C-700F-D82BD03B0915}"/>
              </a:ext>
            </a:extLst>
          </p:cNvPr>
          <p:cNvSpPr>
            <a:spLocks noGrp="1"/>
          </p:cNvSpPr>
          <p:nvPr>
            <p:ph type="pic" idx="10"/>
          </p:nvPr>
        </p:nvSpPr>
        <p:spPr>
          <a:xfrm>
            <a:off x="6096000" y="1979613"/>
            <a:ext cx="5627688" cy="4351337"/>
          </a:xfrm>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4" name="Chart Placeholder 3">
            <a:extLst>
              <a:ext uri="{FF2B5EF4-FFF2-40B4-BE49-F238E27FC236}">
                <a16:creationId xmlns:a16="http://schemas.microsoft.com/office/drawing/2014/main" id="{06F8C7EE-44FF-25E2-FD85-4A9A4E59F43C}"/>
              </a:ext>
            </a:extLst>
          </p:cNvPr>
          <p:cNvSpPr>
            <a:spLocks noGrp="1"/>
          </p:cNvSpPr>
          <p:nvPr>
            <p:ph type="chart" idx="10"/>
          </p:nvPr>
        </p:nvSpPr>
        <p:spPr>
          <a:xfrm>
            <a:off x="430213" y="1928813"/>
            <a:ext cx="11293475" cy="4354512"/>
          </a:xfrm>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3" name="Table Placeholder 2">
            <a:extLst>
              <a:ext uri="{FF2B5EF4-FFF2-40B4-BE49-F238E27FC236}">
                <a16:creationId xmlns:a16="http://schemas.microsoft.com/office/drawing/2014/main" id="{9F2E8F34-9DD5-6734-21E2-9B7CCAD9F297}"/>
              </a:ext>
            </a:extLst>
          </p:cNvPr>
          <p:cNvSpPr>
            <a:spLocks noGrp="1"/>
          </p:cNvSpPr>
          <p:nvPr>
            <p:ph type="tbl" idx="10"/>
          </p:nvPr>
        </p:nvSpPr>
        <p:spPr>
          <a:xfrm>
            <a:off x="430213" y="1919288"/>
            <a:ext cx="11293475" cy="4391025"/>
          </a:xfrm>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8C7BB9-ED14-2EE7-B747-6D3AC509C6F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C5B5F42-1935-63EA-A56F-BCFFCC5F384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4A4FD98-5FB3-0F33-190B-F09E379EA8D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577B4DDA-DC7A-BA44-95F8-6F5B47B98114}" type="datetimeFigureOut">
              <a:t>9/14/2026</a:t>
            </a:fld>
            <a:endParaRPr/>
          </a:p>
        </p:txBody>
      </p:sp>
      <p:sp>
        <p:nvSpPr>
          <p:cNvPr id="5" name="Footer Placeholder 4">
            <a:extLst>
              <a:ext uri="{FF2B5EF4-FFF2-40B4-BE49-F238E27FC236}">
                <a16:creationId xmlns:a16="http://schemas.microsoft.com/office/drawing/2014/main" id="{34199F5F-1ACA-4A1A-5173-27733EE4567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FB4C4A5E-3279-A2E1-BFFA-8259ABF8BC49}"/>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CF9A60C2-D39C-DE40-8B64-BE745D99ECE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17.xml"/><Relationship Id="rId6" Type="http://schemas.openxmlformats.org/officeDocument/2006/relationships/image" Target="../media/image31.jpg"/><Relationship Id="rId5" Type="http://schemas.openxmlformats.org/officeDocument/2006/relationships/image" Target="../media/image30.jpg"/><Relationship Id="rId4" Type="http://schemas.openxmlformats.org/officeDocument/2006/relationships/image" Target="../media/image29.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10514-A5BE-4E60-B672-518F368A2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05DA7C-80D2-974D-51F0-86F6CF4000E7}"/>
              </a:ext>
            </a:extLst>
          </p:cNvPr>
          <p:cNvSpPr>
            <a:spLocks noGrp="1"/>
          </p:cNvSpPr>
          <p:nvPr>
            <p:ph type="ctrTitle"/>
          </p:nvPr>
        </p:nvSpPr>
        <p:spPr>
          <a:xfrm>
            <a:off x="356102" y="2154457"/>
            <a:ext cx="5739898" cy="4050399"/>
          </a:xfrm>
        </p:spPr>
        <p:txBody>
          <a:bodyPr>
            <a:normAutofit/>
          </a:bodyPr>
          <a:lstStyle/>
          <a:p>
            <a:r>
              <a:rPr sz="4900" dirty="0"/>
              <a:t>IFY Statistics</a:t>
            </a:r>
          </a:p>
          <a:p>
            <a:r>
              <a:rPr sz="2700" dirty="0"/>
              <a:t>Semester 1 • Week 1 • Class A</a:t>
            </a:r>
          </a:p>
          <a:p>
            <a:r>
              <a:rPr sz="4900" dirty="0"/>
              <a:t> </a:t>
            </a:r>
          </a:p>
          <a:p>
            <a:r>
              <a:rPr lang="en-US" sz="4900" dirty="0"/>
              <a:t>Introduction to Statistics</a:t>
            </a:r>
            <a:endParaRPr sz="4900" dirty="0"/>
          </a:p>
        </p:txBody>
      </p:sp>
    </p:spTree>
    <p:extLst>
      <p:ext uri="{BB962C8B-B14F-4D97-AF65-F5344CB8AC3E}">
        <p14:creationId xmlns:p14="http://schemas.microsoft.com/office/powerpoint/2010/main" val="14394162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t">
            <a:noAutofit/>
          </a:bodyPr>
          <a:lstStyle/>
          <a:p>
            <a:pPr algn="l">
              <a:lnSpc>
                <a:spcPct val="90000"/>
              </a:lnSpc>
              <a:buNone/>
              <a:defRPr sz="4400" b="0">
                <a:solidFill>
                  <a:srgbClr val="111111"/>
                </a:solidFill>
                <a:latin typeface="Aptos Display"/>
                <a:ea typeface="Aptos Display"/>
                <a:cs typeface="Aptos Display"/>
              </a:defRPr>
            </a:pPr>
            <a:r>
              <a:rPr sz="4400" b="0" dirty="0">
                <a:solidFill>
                  <a:srgbClr val="111111"/>
                </a:solidFill>
                <a:latin typeface="Aptos Display"/>
                <a:ea typeface="Aptos Display"/>
                <a:cs typeface="Aptos Display"/>
              </a:rPr>
              <a:t>Your lecturer</a:t>
            </a:r>
          </a:p>
        </p:txBody>
      </p:sp>
      <p:sp>
        <p:nvSpPr>
          <p:cNvPr id="3" name="intro-text-1">
            <a:extLst>
              <a:ext uri="{FF2B5EF4-FFF2-40B4-BE49-F238E27FC236}">
                <a16:creationId xmlns:a16="http://schemas.microsoft.com/office/drawing/2014/main" id="{5376974B-6C02-4526-ACE8-B622F88B1F2F}"/>
              </a:ext>
            </a:extLst>
          </p:cNvPr>
          <p:cNvSpPr>
            <a:spLocks noGrp="1"/>
          </p:cNvSpPr>
          <p:nvPr/>
        </p:nvSpPr>
        <p:spPr>
          <a:xfrm>
            <a:off x="428625" y="1905000"/>
            <a:ext cx="11296650" cy="457200"/>
          </a:xfrm>
          <a:prstGeom prst="rect">
            <a:avLst/>
          </a:prstGeom>
          <a:noFill/>
          <a:ln w="0">
            <a:noFill/>
          </a:ln>
        </p:spPr>
        <p:txBody>
          <a:bodyPr wrap="square" lIns="0" tIns="0" rIns="0" bIns="0" anchor="t">
            <a:noAutofit/>
          </a:bodyPr>
          <a:lstStyle/>
          <a:p>
            <a:pPr algn="l">
              <a:buNone/>
              <a:defRPr sz="2925" b="1">
                <a:solidFill>
                  <a:srgbClr val="111111"/>
                </a:solidFill>
                <a:latin typeface="Aptos"/>
                <a:ea typeface="Aptos"/>
                <a:cs typeface="Aptos"/>
              </a:defRPr>
            </a:pPr>
            <a:r>
              <a:rPr sz="2925" b="1" dirty="0">
                <a:solidFill>
                  <a:srgbClr val="111111"/>
                </a:solidFill>
                <a:latin typeface="Aptos"/>
                <a:ea typeface="Aptos"/>
                <a:cs typeface="Aptos"/>
              </a:rPr>
              <a:t>Jacob Mlynarski</a:t>
            </a:r>
          </a:p>
        </p:txBody>
      </p:sp>
      <p:sp>
        <p:nvSpPr>
          <p:cNvPr id="4" name="intro-text-2">
            <a:extLst>
              <a:ext uri="{FF2B5EF4-FFF2-40B4-BE49-F238E27FC236}">
                <a16:creationId xmlns:a16="http://schemas.microsoft.com/office/drawing/2014/main" id="{0EBCB20F-7CF4-445D-90AE-DAC2A0F2360B}"/>
              </a:ext>
            </a:extLst>
          </p:cNvPr>
          <p:cNvSpPr>
            <a:spLocks noGrp="1"/>
          </p:cNvSpPr>
          <p:nvPr/>
        </p:nvSpPr>
        <p:spPr>
          <a:xfrm>
            <a:off x="428625" y="2381250"/>
            <a:ext cx="11296650" cy="323850"/>
          </a:xfrm>
          <a:prstGeom prst="rect">
            <a:avLst/>
          </a:prstGeom>
          <a:noFill/>
          <a:ln w="0">
            <a:noFill/>
          </a:ln>
        </p:spPr>
        <p:txBody>
          <a:bodyPr wrap="square" lIns="0" tIns="0" rIns="0" bIns="0" anchor="t">
            <a:noAutofit/>
          </a:bodyPr>
          <a:lstStyle/>
          <a:p>
            <a:pPr algn="l">
              <a:buNone/>
              <a:defRPr sz="2025" b="0">
                <a:solidFill>
                  <a:srgbClr val="111111"/>
                </a:solidFill>
                <a:latin typeface="Aptos"/>
                <a:ea typeface="Aptos"/>
                <a:cs typeface="Aptos"/>
              </a:defRPr>
            </a:pPr>
            <a:r>
              <a:rPr sz="2025" b="0" dirty="0">
                <a:solidFill>
                  <a:srgbClr val="111111"/>
                </a:solidFill>
                <a:latin typeface="Aptos"/>
                <a:ea typeface="Aptos"/>
                <a:cs typeface="Aptos"/>
              </a:rPr>
              <a:t>Lecturer at Xi’an Eurasia University</a:t>
            </a:r>
          </a:p>
        </p:txBody>
      </p:sp>
      <p:sp>
        <p:nvSpPr>
          <p:cNvPr id="5" name="intro-text-3">
            <a:extLst>
              <a:ext uri="{FF2B5EF4-FFF2-40B4-BE49-F238E27FC236}">
                <a16:creationId xmlns:a16="http://schemas.microsoft.com/office/drawing/2014/main" id="{9280D259-E37B-498D-861C-7D623E4006FC}"/>
              </a:ext>
            </a:extLst>
          </p:cNvPr>
          <p:cNvSpPr>
            <a:spLocks noGrp="1"/>
          </p:cNvSpPr>
          <p:nvPr/>
        </p:nvSpPr>
        <p:spPr>
          <a:xfrm>
            <a:off x="428625" y="2895600"/>
            <a:ext cx="6477000" cy="361950"/>
          </a:xfrm>
          <a:prstGeom prst="rect">
            <a:avLst/>
          </a:prstGeom>
          <a:noFill/>
          <a:ln w="0">
            <a:noFill/>
          </a:ln>
        </p:spPr>
        <p:txBody>
          <a:bodyPr wrap="square" lIns="0" tIns="0" rIns="0" bIns="0" anchor="t">
            <a:noAutofit/>
          </a:bodyPr>
          <a:lstStyle/>
          <a:p>
            <a:pPr algn="l">
              <a:buNone/>
              <a:defRPr sz="2175" b="1">
                <a:solidFill>
                  <a:srgbClr val="111111"/>
                </a:solidFill>
                <a:latin typeface="Aptos"/>
                <a:ea typeface="Aptos"/>
                <a:cs typeface="Aptos"/>
              </a:defRPr>
            </a:pPr>
            <a:r>
              <a:rPr sz="2175" b="1">
                <a:solidFill>
                  <a:srgbClr val="111111"/>
                </a:solidFill>
                <a:latin typeface="Aptos"/>
                <a:ea typeface="Aptos"/>
                <a:cs typeface="Aptos"/>
              </a:rPr>
              <a:t>Education</a:t>
            </a:r>
          </a:p>
        </p:txBody>
      </p:sp>
      <p:sp>
        <p:nvSpPr>
          <p:cNvPr id="6" name="intro-text-4">
            <a:extLst>
              <a:ext uri="{FF2B5EF4-FFF2-40B4-BE49-F238E27FC236}">
                <a16:creationId xmlns:a16="http://schemas.microsoft.com/office/drawing/2014/main" id="{9C23200B-663B-46E3-BC36-0EDA083B8365}"/>
              </a:ext>
            </a:extLst>
          </p:cNvPr>
          <p:cNvSpPr>
            <a:spLocks noGrp="1"/>
          </p:cNvSpPr>
          <p:nvPr/>
        </p:nvSpPr>
        <p:spPr>
          <a:xfrm>
            <a:off x="7913304" y="3819525"/>
            <a:ext cx="4238625" cy="361950"/>
          </a:xfrm>
          <a:prstGeom prst="rect">
            <a:avLst/>
          </a:prstGeom>
          <a:noFill/>
          <a:ln w="0">
            <a:noFill/>
          </a:ln>
        </p:spPr>
        <p:txBody>
          <a:bodyPr wrap="square" lIns="0" tIns="0" rIns="0" bIns="0" anchor="t">
            <a:noAutofit/>
          </a:bodyPr>
          <a:lstStyle/>
          <a:p>
            <a:pPr algn="l">
              <a:buNone/>
              <a:defRPr sz="2175" b="1">
                <a:solidFill>
                  <a:srgbClr val="111111"/>
                </a:solidFill>
                <a:latin typeface="Aptos"/>
                <a:ea typeface="Aptos"/>
                <a:cs typeface="Aptos"/>
              </a:defRPr>
            </a:pPr>
            <a:r>
              <a:rPr sz="2175" b="1" dirty="0">
                <a:solidFill>
                  <a:srgbClr val="111111"/>
                </a:solidFill>
                <a:latin typeface="Aptos"/>
                <a:ea typeface="Aptos"/>
                <a:cs typeface="Aptos"/>
              </a:rPr>
              <a:t>Subjects I teach</a:t>
            </a:r>
          </a:p>
        </p:txBody>
      </p:sp>
      <p:sp>
        <p:nvSpPr>
          <p:cNvPr id="7" name="intro-text-5">
            <a:extLst>
              <a:ext uri="{FF2B5EF4-FFF2-40B4-BE49-F238E27FC236}">
                <a16:creationId xmlns:a16="http://schemas.microsoft.com/office/drawing/2014/main" id="{C81F34D4-A5F7-42B8-BE54-C2B18D731593}"/>
              </a:ext>
            </a:extLst>
          </p:cNvPr>
          <p:cNvSpPr>
            <a:spLocks noGrp="1"/>
          </p:cNvSpPr>
          <p:nvPr/>
        </p:nvSpPr>
        <p:spPr>
          <a:xfrm>
            <a:off x="428625" y="3333750"/>
            <a:ext cx="6762750" cy="304800"/>
          </a:xfrm>
          <a:prstGeom prst="rect">
            <a:avLst/>
          </a:prstGeom>
          <a:noFill/>
          <a:ln w="0">
            <a:noFill/>
          </a:ln>
        </p:spPr>
        <p:txBody>
          <a:bodyPr wrap="square" lIns="0" tIns="0" rIns="0" bIns="0" anchor="t">
            <a:noAutofit/>
          </a:bodyPr>
          <a:lstStyle/>
          <a:p>
            <a:pPr algn="l">
              <a:buNone/>
              <a:defRPr sz="1875" b="1">
                <a:solidFill>
                  <a:srgbClr val="111111"/>
                </a:solidFill>
                <a:latin typeface="Aptos"/>
                <a:ea typeface="Aptos"/>
                <a:cs typeface="Aptos"/>
              </a:defRPr>
            </a:pPr>
            <a:r>
              <a:rPr sz="1875" b="1" dirty="0">
                <a:solidFill>
                  <a:srgbClr val="111111"/>
                </a:solidFill>
                <a:latin typeface="Aptos"/>
                <a:ea typeface="Aptos"/>
                <a:cs typeface="Aptos"/>
              </a:rPr>
              <a:t>MBA Business Administration</a:t>
            </a:r>
          </a:p>
        </p:txBody>
      </p:sp>
      <p:sp>
        <p:nvSpPr>
          <p:cNvPr id="8" name="intro-text-6">
            <a:extLst>
              <a:ext uri="{FF2B5EF4-FFF2-40B4-BE49-F238E27FC236}">
                <a16:creationId xmlns:a16="http://schemas.microsoft.com/office/drawing/2014/main" id="{7148830C-E73A-4852-A119-4B70087C418C}"/>
              </a:ext>
            </a:extLst>
          </p:cNvPr>
          <p:cNvSpPr>
            <a:spLocks noGrp="1"/>
          </p:cNvSpPr>
          <p:nvPr/>
        </p:nvSpPr>
        <p:spPr>
          <a:xfrm>
            <a:off x="428625" y="3648075"/>
            <a:ext cx="6762750" cy="285750"/>
          </a:xfrm>
          <a:prstGeom prst="rect">
            <a:avLst/>
          </a:prstGeom>
          <a:noFill/>
          <a:ln w="0">
            <a:noFill/>
          </a:ln>
        </p:spPr>
        <p:txBody>
          <a:bodyPr wrap="square" lIns="0" tIns="0" rIns="0" bIns="0" anchor="t">
            <a:noAutofit/>
          </a:bodyPr>
          <a:lstStyle/>
          <a:p>
            <a:pPr algn="l">
              <a:buNone/>
              <a:defRPr sz="1725" b="0">
                <a:solidFill>
                  <a:srgbClr val="111111"/>
                </a:solidFill>
                <a:latin typeface="Aptos"/>
                <a:ea typeface="Aptos"/>
                <a:cs typeface="Aptos"/>
              </a:defRPr>
            </a:pPr>
            <a:r>
              <a:rPr sz="1725" b="0" dirty="0">
                <a:solidFill>
                  <a:srgbClr val="111111"/>
                </a:solidFill>
                <a:latin typeface="Aptos"/>
                <a:ea typeface="Aptos"/>
                <a:cs typeface="Aptos"/>
              </a:rPr>
              <a:t>University of Illinois Urbana-Champaign</a:t>
            </a:r>
            <a:r>
              <a:rPr lang="en-US" sz="1725" b="0" dirty="0">
                <a:solidFill>
                  <a:srgbClr val="111111"/>
                </a:solidFill>
                <a:latin typeface="Aptos"/>
                <a:ea typeface="Aptos"/>
                <a:cs typeface="Aptos"/>
              </a:rPr>
              <a:t>, USA</a:t>
            </a:r>
            <a:endParaRPr sz="1725" b="0" dirty="0">
              <a:solidFill>
                <a:srgbClr val="111111"/>
              </a:solidFill>
              <a:latin typeface="Aptos"/>
              <a:ea typeface="Aptos"/>
              <a:cs typeface="Aptos"/>
            </a:endParaRPr>
          </a:p>
        </p:txBody>
      </p:sp>
      <p:sp>
        <p:nvSpPr>
          <p:cNvPr id="9" name="intro-text-7">
            <a:extLst>
              <a:ext uri="{FF2B5EF4-FFF2-40B4-BE49-F238E27FC236}">
                <a16:creationId xmlns:a16="http://schemas.microsoft.com/office/drawing/2014/main" id="{B45C5D39-A3D4-4EC0-9FD8-128CFE45C058}"/>
              </a:ext>
            </a:extLst>
          </p:cNvPr>
          <p:cNvSpPr>
            <a:spLocks noGrp="1"/>
          </p:cNvSpPr>
          <p:nvPr/>
        </p:nvSpPr>
        <p:spPr>
          <a:xfrm>
            <a:off x="428625" y="4000500"/>
            <a:ext cx="6762750" cy="304800"/>
          </a:xfrm>
          <a:prstGeom prst="rect">
            <a:avLst/>
          </a:prstGeom>
          <a:noFill/>
          <a:ln w="0">
            <a:noFill/>
          </a:ln>
        </p:spPr>
        <p:txBody>
          <a:bodyPr wrap="square" lIns="0" tIns="0" rIns="0" bIns="0" anchor="t">
            <a:noAutofit/>
          </a:bodyPr>
          <a:lstStyle/>
          <a:p>
            <a:pPr algn="l">
              <a:buNone/>
              <a:defRPr sz="1875" b="1">
                <a:solidFill>
                  <a:srgbClr val="111111"/>
                </a:solidFill>
                <a:latin typeface="Aptos"/>
                <a:ea typeface="Aptos"/>
                <a:cs typeface="Aptos"/>
              </a:defRPr>
            </a:pPr>
            <a:r>
              <a:rPr sz="1875" b="1" dirty="0">
                <a:solidFill>
                  <a:srgbClr val="111111"/>
                </a:solidFill>
                <a:latin typeface="Aptos"/>
                <a:ea typeface="Aptos"/>
                <a:cs typeface="Aptos"/>
              </a:rPr>
              <a:t>MA Educational Leadership and Management</a:t>
            </a:r>
          </a:p>
        </p:txBody>
      </p:sp>
      <p:sp>
        <p:nvSpPr>
          <p:cNvPr id="10" name="intro-text-8">
            <a:extLst>
              <a:ext uri="{FF2B5EF4-FFF2-40B4-BE49-F238E27FC236}">
                <a16:creationId xmlns:a16="http://schemas.microsoft.com/office/drawing/2014/main" id="{272B80C1-C97C-4F8E-9BEA-750621254FDA}"/>
              </a:ext>
            </a:extLst>
          </p:cNvPr>
          <p:cNvSpPr>
            <a:spLocks noGrp="1"/>
          </p:cNvSpPr>
          <p:nvPr/>
        </p:nvSpPr>
        <p:spPr>
          <a:xfrm>
            <a:off x="428625" y="4314825"/>
            <a:ext cx="6762750" cy="285750"/>
          </a:xfrm>
          <a:prstGeom prst="rect">
            <a:avLst/>
          </a:prstGeom>
          <a:noFill/>
          <a:ln w="0">
            <a:noFill/>
          </a:ln>
        </p:spPr>
        <p:txBody>
          <a:bodyPr wrap="square" lIns="0" tIns="0" rIns="0" bIns="0" anchor="t">
            <a:noAutofit/>
          </a:bodyPr>
          <a:lstStyle/>
          <a:p>
            <a:pPr algn="l">
              <a:buNone/>
              <a:defRPr sz="1725" b="0">
                <a:solidFill>
                  <a:srgbClr val="111111"/>
                </a:solidFill>
                <a:latin typeface="Aptos"/>
                <a:ea typeface="Aptos"/>
                <a:cs typeface="Aptos"/>
              </a:defRPr>
            </a:pPr>
            <a:r>
              <a:rPr sz="1725" b="0" dirty="0">
                <a:solidFill>
                  <a:srgbClr val="111111"/>
                </a:solidFill>
                <a:latin typeface="Aptos"/>
                <a:ea typeface="Aptos"/>
                <a:cs typeface="Aptos"/>
              </a:rPr>
              <a:t>University of Nottingham</a:t>
            </a:r>
            <a:r>
              <a:rPr lang="en-US" sz="1725" b="0" dirty="0">
                <a:solidFill>
                  <a:srgbClr val="111111"/>
                </a:solidFill>
                <a:latin typeface="Aptos"/>
                <a:ea typeface="Aptos"/>
                <a:cs typeface="Aptos"/>
              </a:rPr>
              <a:t>, UK</a:t>
            </a:r>
            <a:endParaRPr sz="1725" b="0" dirty="0">
              <a:solidFill>
                <a:srgbClr val="111111"/>
              </a:solidFill>
              <a:latin typeface="Aptos"/>
              <a:ea typeface="Aptos"/>
              <a:cs typeface="Aptos"/>
            </a:endParaRPr>
          </a:p>
        </p:txBody>
      </p:sp>
      <p:sp>
        <p:nvSpPr>
          <p:cNvPr id="11" name="intro-text-9">
            <a:extLst>
              <a:ext uri="{FF2B5EF4-FFF2-40B4-BE49-F238E27FC236}">
                <a16:creationId xmlns:a16="http://schemas.microsoft.com/office/drawing/2014/main" id="{E9A471CC-F446-4DBD-BC6B-E39069904CCA}"/>
              </a:ext>
            </a:extLst>
          </p:cNvPr>
          <p:cNvSpPr>
            <a:spLocks noGrp="1"/>
          </p:cNvSpPr>
          <p:nvPr/>
        </p:nvSpPr>
        <p:spPr>
          <a:xfrm>
            <a:off x="428625" y="4667250"/>
            <a:ext cx="6762750" cy="304800"/>
          </a:xfrm>
          <a:prstGeom prst="rect">
            <a:avLst/>
          </a:prstGeom>
          <a:noFill/>
          <a:ln w="0">
            <a:noFill/>
          </a:ln>
        </p:spPr>
        <p:txBody>
          <a:bodyPr wrap="square" lIns="0" tIns="0" rIns="0" bIns="0" anchor="t">
            <a:noAutofit/>
          </a:bodyPr>
          <a:lstStyle/>
          <a:p>
            <a:pPr algn="l">
              <a:buNone/>
              <a:defRPr sz="1875" b="1">
                <a:solidFill>
                  <a:srgbClr val="111111"/>
                </a:solidFill>
                <a:latin typeface="Aptos"/>
                <a:ea typeface="Aptos"/>
                <a:cs typeface="Aptos"/>
              </a:defRPr>
            </a:pPr>
            <a:r>
              <a:rPr sz="1875" b="1" dirty="0">
                <a:solidFill>
                  <a:srgbClr val="111111"/>
                </a:solidFill>
                <a:latin typeface="Aptos"/>
                <a:ea typeface="Aptos"/>
                <a:cs typeface="Aptos"/>
              </a:rPr>
              <a:t>MA TESOL </a:t>
            </a:r>
          </a:p>
        </p:txBody>
      </p:sp>
      <p:sp>
        <p:nvSpPr>
          <p:cNvPr id="12" name="intro-text-10">
            <a:extLst>
              <a:ext uri="{FF2B5EF4-FFF2-40B4-BE49-F238E27FC236}">
                <a16:creationId xmlns:a16="http://schemas.microsoft.com/office/drawing/2014/main" id="{ED457A3E-A9E6-4F53-9530-46329FE3BE12}"/>
              </a:ext>
            </a:extLst>
          </p:cNvPr>
          <p:cNvSpPr>
            <a:spLocks noGrp="1"/>
          </p:cNvSpPr>
          <p:nvPr/>
        </p:nvSpPr>
        <p:spPr>
          <a:xfrm>
            <a:off x="428625" y="4981575"/>
            <a:ext cx="6762750" cy="285750"/>
          </a:xfrm>
          <a:prstGeom prst="rect">
            <a:avLst/>
          </a:prstGeom>
          <a:noFill/>
          <a:ln w="0">
            <a:noFill/>
          </a:ln>
        </p:spPr>
        <p:txBody>
          <a:bodyPr wrap="square" lIns="0" tIns="0" rIns="0" bIns="0" anchor="t">
            <a:noAutofit/>
          </a:bodyPr>
          <a:lstStyle/>
          <a:p>
            <a:pPr algn="l">
              <a:buNone/>
              <a:defRPr sz="1725" b="0">
                <a:solidFill>
                  <a:srgbClr val="111111"/>
                </a:solidFill>
                <a:latin typeface="Aptos"/>
                <a:ea typeface="Aptos"/>
                <a:cs typeface="Aptos"/>
              </a:defRPr>
            </a:pPr>
            <a:r>
              <a:rPr sz="1725" b="0" dirty="0">
                <a:solidFill>
                  <a:srgbClr val="111111"/>
                </a:solidFill>
                <a:latin typeface="Aptos"/>
                <a:ea typeface="Aptos"/>
                <a:cs typeface="Aptos"/>
              </a:rPr>
              <a:t>University of Liverpool</a:t>
            </a:r>
            <a:r>
              <a:rPr lang="en-US" sz="1725" b="0" dirty="0">
                <a:solidFill>
                  <a:srgbClr val="111111"/>
                </a:solidFill>
                <a:latin typeface="Aptos"/>
                <a:ea typeface="Aptos"/>
                <a:cs typeface="Aptos"/>
              </a:rPr>
              <a:t>, UK</a:t>
            </a:r>
            <a:endParaRPr sz="1725" b="0" dirty="0">
              <a:solidFill>
                <a:srgbClr val="111111"/>
              </a:solidFill>
              <a:latin typeface="Aptos"/>
              <a:ea typeface="Aptos"/>
              <a:cs typeface="Aptos"/>
            </a:endParaRPr>
          </a:p>
        </p:txBody>
      </p:sp>
      <p:sp>
        <p:nvSpPr>
          <p:cNvPr id="13" name="intro-text-11">
            <a:extLst>
              <a:ext uri="{FF2B5EF4-FFF2-40B4-BE49-F238E27FC236}">
                <a16:creationId xmlns:a16="http://schemas.microsoft.com/office/drawing/2014/main" id="{A5146FA0-AEA2-43C9-AD6E-C24FB9460060}"/>
              </a:ext>
            </a:extLst>
          </p:cNvPr>
          <p:cNvSpPr>
            <a:spLocks noGrp="1"/>
          </p:cNvSpPr>
          <p:nvPr/>
        </p:nvSpPr>
        <p:spPr>
          <a:xfrm>
            <a:off x="428625" y="5334000"/>
            <a:ext cx="6762750" cy="304800"/>
          </a:xfrm>
          <a:prstGeom prst="rect">
            <a:avLst/>
          </a:prstGeom>
          <a:noFill/>
          <a:ln w="0">
            <a:noFill/>
          </a:ln>
        </p:spPr>
        <p:txBody>
          <a:bodyPr wrap="square" lIns="0" tIns="0" rIns="0" bIns="0" anchor="t">
            <a:noAutofit/>
          </a:bodyPr>
          <a:lstStyle/>
          <a:p>
            <a:pPr algn="l">
              <a:buNone/>
              <a:defRPr sz="1875" b="1">
                <a:solidFill>
                  <a:srgbClr val="111111"/>
                </a:solidFill>
                <a:latin typeface="Aptos"/>
                <a:ea typeface="Aptos"/>
                <a:cs typeface="Aptos"/>
              </a:defRPr>
            </a:pPr>
            <a:r>
              <a:rPr sz="1875" b="1" dirty="0">
                <a:solidFill>
                  <a:srgbClr val="111111"/>
                </a:solidFill>
                <a:latin typeface="Aptos"/>
                <a:ea typeface="Aptos"/>
                <a:cs typeface="Aptos"/>
              </a:rPr>
              <a:t>BA </a:t>
            </a:r>
            <a:r>
              <a:rPr lang="en-US" sz="1875" b="1" dirty="0">
                <a:solidFill>
                  <a:srgbClr val="111111"/>
                </a:solidFill>
                <a:latin typeface="Aptos"/>
                <a:ea typeface="Aptos"/>
                <a:cs typeface="Aptos"/>
              </a:rPr>
              <a:t>Education</a:t>
            </a:r>
            <a:r>
              <a:rPr sz="1875" b="1" dirty="0">
                <a:solidFill>
                  <a:srgbClr val="111111"/>
                </a:solidFill>
                <a:latin typeface="Aptos"/>
                <a:ea typeface="Aptos"/>
                <a:cs typeface="Aptos"/>
              </a:rPr>
              <a:t> </a:t>
            </a:r>
          </a:p>
        </p:txBody>
      </p:sp>
      <p:sp>
        <p:nvSpPr>
          <p:cNvPr id="14" name="intro-text-12">
            <a:extLst>
              <a:ext uri="{FF2B5EF4-FFF2-40B4-BE49-F238E27FC236}">
                <a16:creationId xmlns:a16="http://schemas.microsoft.com/office/drawing/2014/main" id="{F2A8BFAB-43B5-48A5-B0B1-ED5E0B4390B1}"/>
              </a:ext>
            </a:extLst>
          </p:cNvPr>
          <p:cNvSpPr>
            <a:spLocks noGrp="1"/>
          </p:cNvSpPr>
          <p:nvPr/>
        </p:nvSpPr>
        <p:spPr>
          <a:xfrm>
            <a:off x="428625" y="5648325"/>
            <a:ext cx="6762750" cy="285750"/>
          </a:xfrm>
          <a:prstGeom prst="rect">
            <a:avLst/>
          </a:prstGeom>
          <a:noFill/>
          <a:ln w="0">
            <a:noFill/>
          </a:ln>
        </p:spPr>
        <p:txBody>
          <a:bodyPr wrap="square" lIns="0" tIns="0" rIns="0" bIns="0" anchor="t">
            <a:noAutofit/>
          </a:bodyPr>
          <a:lstStyle/>
          <a:p>
            <a:pPr algn="l">
              <a:buNone/>
              <a:defRPr sz="1725" b="0">
                <a:solidFill>
                  <a:srgbClr val="111111"/>
                </a:solidFill>
                <a:latin typeface="Aptos"/>
                <a:ea typeface="Aptos"/>
                <a:cs typeface="Aptos"/>
              </a:defRPr>
            </a:pPr>
            <a:r>
              <a:rPr lang="en-US" sz="1725" b="0" dirty="0">
                <a:solidFill>
                  <a:srgbClr val="111111"/>
                </a:solidFill>
                <a:latin typeface="Aptos"/>
                <a:ea typeface="Aptos"/>
                <a:cs typeface="Aptos"/>
              </a:rPr>
              <a:t>UMCS, PL</a:t>
            </a:r>
            <a:endParaRPr sz="1725" b="0" dirty="0">
              <a:solidFill>
                <a:srgbClr val="111111"/>
              </a:solidFill>
              <a:latin typeface="Aptos"/>
              <a:ea typeface="Aptos"/>
              <a:cs typeface="Aptos"/>
            </a:endParaRPr>
          </a:p>
        </p:txBody>
      </p:sp>
      <p:sp>
        <p:nvSpPr>
          <p:cNvPr id="15" name="intro-text-13">
            <a:extLst>
              <a:ext uri="{FF2B5EF4-FFF2-40B4-BE49-F238E27FC236}">
                <a16:creationId xmlns:a16="http://schemas.microsoft.com/office/drawing/2014/main" id="{E261F260-BFC5-4031-9B98-080C2785BF41}"/>
              </a:ext>
            </a:extLst>
          </p:cNvPr>
          <p:cNvSpPr>
            <a:spLocks noGrp="1"/>
          </p:cNvSpPr>
          <p:nvPr/>
        </p:nvSpPr>
        <p:spPr>
          <a:xfrm>
            <a:off x="7913304" y="4257675"/>
            <a:ext cx="4238625" cy="361950"/>
          </a:xfrm>
          <a:prstGeom prst="rect">
            <a:avLst/>
          </a:prstGeom>
          <a:noFill/>
          <a:ln w="0">
            <a:noFill/>
          </a:ln>
        </p:spPr>
        <p:txBody>
          <a:bodyPr wrap="square" lIns="0" tIns="0" rIns="0" bIns="0" anchor="t">
            <a:noAutofit/>
          </a:bodyPr>
          <a:lstStyle/>
          <a:p>
            <a:pPr algn="l">
              <a:buNone/>
              <a:defRPr sz="2100" b="0">
                <a:solidFill>
                  <a:srgbClr val="111111"/>
                </a:solidFill>
                <a:latin typeface="Aptos"/>
                <a:ea typeface="Aptos"/>
                <a:cs typeface="Aptos"/>
              </a:defRPr>
            </a:pPr>
            <a:r>
              <a:rPr sz="2100" b="0" dirty="0">
                <a:solidFill>
                  <a:srgbClr val="111111"/>
                </a:solidFill>
                <a:latin typeface="Aptos"/>
                <a:ea typeface="Aptos"/>
                <a:cs typeface="Aptos"/>
              </a:rPr>
              <a:t>Statistics</a:t>
            </a:r>
          </a:p>
        </p:txBody>
      </p:sp>
      <p:sp>
        <p:nvSpPr>
          <p:cNvPr id="16" name="intro-text-14">
            <a:extLst>
              <a:ext uri="{FF2B5EF4-FFF2-40B4-BE49-F238E27FC236}">
                <a16:creationId xmlns:a16="http://schemas.microsoft.com/office/drawing/2014/main" id="{69F82D7C-FE18-4A25-9417-4289A9986372}"/>
              </a:ext>
            </a:extLst>
          </p:cNvPr>
          <p:cNvSpPr>
            <a:spLocks noGrp="1"/>
          </p:cNvSpPr>
          <p:nvPr/>
        </p:nvSpPr>
        <p:spPr>
          <a:xfrm>
            <a:off x="7913304" y="4676775"/>
            <a:ext cx="4238625" cy="361950"/>
          </a:xfrm>
          <a:prstGeom prst="rect">
            <a:avLst/>
          </a:prstGeom>
          <a:noFill/>
          <a:ln w="0">
            <a:noFill/>
          </a:ln>
        </p:spPr>
        <p:txBody>
          <a:bodyPr wrap="square" lIns="0" tIns="0" rIns="0" bIns="0" anchor="t">
            <a:noAutofit/>
          </a:bodyPr>
          <a:lstStyle/>
          <a:p>
            <a:pPr algn="l">
              <a:buNone/>
              <a:defRPr sz="2100" b="0">
                <a:solidFill>
                  <a:srgbClr val="111111"/>
                </a:solidFill>
                <a:latin typeface="Aptos"/>
                <a:ea typeface="Aptos"/>
                <a:cs typeface="Aptos"/>
              </a:defRPr>
            </a:pPr>
            <a:r>
              <a:rPr sz="2100" b="0" dirty="0">
                <a:solidFill>
                  <a:srgbClr val="111111"/>
                </a:solidFill>
                <a:latin typeface="Aptos"/>
                <a:ea typeface="Aptos"/>
                <a:cs typeface="Aptos"/>
              </a:rPr>
              <a:t>Corporate Finance</a:t>
            </a:r>
          </a:p>
        </p:txBody>
      </p:sp>
      <p:sp>
        <p:nvSpPr>
          <p:cNvPr id="17" name="intro-text-15">
            <a:extLst>
              <a:ext uri="{FF2B5EF4-FFF2-40B4-BE49-F238E27FC236}">
                <a16:creationId xmlns:a16="http://schemas.microsoft.com/office/drawing/2014/main" id="{3AE54C9C-084E-4176-BC74-DB503B200848}"/>
              </a:ext>
            </a:extLst>
          </p:cNvPr>
          <p:cNvSpPr>
            <a:spLocks noGrp="1"/>
          </p:cNvSpPr>
          <p:nvPr/>
        </p:nvSpPr>
        <p:spPr>
          <a:xfrm>
            <a:off x="7913304" y="5095875"/>
            <a:ext cx="4238625" cy="361950"/>
          </a:xfrm>
          <a:prstGeom prst="rect">
            <a:avLst/>
          </a:prstGeom>
          <a:noFill/>
          <a:ln w="0">
            <a:noFill/>
          </a:ln>
        </p:spPr>
        <p:txBody>
          <a:bodyPr wrap="square" lIns="0" tIns="0" rIns="0" bIns="0" anchor="t">
            <a:noAutofit/>
          </a:bodyPr>
          <a:lstStyle/>
          <a:p>
            <a:pPr algn="l">
              <a:buNone/>
              <a:defRPr sz="2100" b="0">
                <a:solidFill>
                  <a:srgbClr val="111111"/>
                </a:solidFill>
                <a:latin typeface="Aptos"/>
                <a:ea typeface="Aptos"/>
                <a:cs typeface="Aptos"/>
              </a:defRPr>
            </a:pPr>
            <a:r>
              <a:rPr sz="2100" b="0" dirty="0">
                <a:solidFill>
                  <a:srgbClr val="111111"/>
                </a:solidFill>
                <a:latin typeface="Aptos"/>
                <a:ea typeface="Aptos"/>
                <a:cs typeface="Aptos"/>
              </a:rPr>
              <a:t>Management</a:t>
            </a:r>
            <a:r>
              <a:rPr lang="en-US" sz="2100" b="0" dirty="0">
                <a:solidFill>
                  <a:srgbClr val="111111"/>
                </a:solidFill>
                <a:latin typeface="Aptos"/>
                <a:ea typeface="Aptos"/>
                <a:cs typeface="Aptos"/>
              </a:rPr>
              <a:t> 101</a:t>
            </a:r>
            <a:endParaRPr sz="2100" b="0" dirty="0">
              <a:solidFill>
                <a:srgbClr val="111111"/>
              </a:solidFill>
              <a:latin typeface="Aptos"/>
              <a:ea typeface="Aptos"/>
              <a:cs typeface="Aptos"/>
            </a:endParaRPr>
          </a:p>
        </p:txBody>
      </p:sp>
      <p:sp>
        <p:nvSpPr>
          <p:cNvPr id="18" name="intro-text-16">
            <a:extLst>
              <a:ext uri="{FF2B5EF4-FFF2-40B4-BE49-F238E27FC236}">
                <a16:creationId xmlns:a16="http://schemas.microsoft.com/office/drawing/2014/main" id="{9BDC4F14-C6E7-420A-9933-75FB0F3A9CBC}"/>
              </a:ext>
            </a:extLst>
          </p:cNvPr>
          <p:cNvSpPr>
            <a:spLocks noGrp="1"/>
          </p:cNvSpPr>
          <p:nvPr/>
        </p:nvSpPr>
        <p:spPr>
          <a:xfrm>
            <a:off x="7913304" y="5514975"/>
            <a:ext cx="4238625" cy="361950"/>
          </a:xfrm>
          <a:prstGeom prst="rect">
            <a:avLst/>
          </a:prstGeom>
          <a:noFill/>
          <a:ln w="0">
            <a:noFill/>
          </a:ln>
        </p:spPr>
        <p:txBody>
          <a:bodyPr wrap="square" lIns="0" tIns="0" rIns="0" bIns="0" anchor="t">
            <a:noAutofit/>
          </a:bodyPr>
          <a:lstStyle/>
          <a:p>
            <a:pPr algn="l">
              <a:buNone/>
              <a:defRPr sz="2100" b="0">
                <a:solidFill>
                  <a:srgbClr val="111111"/>
                </a:solidFill>
                <a:latin typeface="Aptos"/>
                <a:ea typeface="Aptos"/>
                <a:cs typeface="Aptos"/>
              </a:defRPr>
            </a:pPr>
            <a:r>
              <a:rPr sz="2100" b="0" dirty="0">
                <a:solidFill>
                  <a:srgbClr val="111111"/>
                </a:solidFill>
                <a:latin typeface="Aptos"/>
                <a:ea typeface="Aptos"/>
                <a:cs typeface="Aptos"/>
              </a:rPr>
              <a:t>Project Management</a:t>
            </a:r>
          </a:p>
        </p:txBody>
      </p:sp>
      <p:pic>
        <p:nvPicPr>
          <p:cNvPr id="22" name="Picture 21">
            <a:extLst>
              <a:ext uri="{FF2B5EF4-FFF2-40B4-BE49-F238E27FC236}">
                <a16:creationId xmlns:a16="http://schemas.microsoft.com/office/drawing/2014/main" id="{3AEA8E94-646F-D756-04A4-0DD17BFEDC69}"/>
              </a:ext>
            </a:extLst>
          </p:cNvPr>
          <p:cNvPicPr>
            <a:picLocks noChangeAspect="1"/>
          </p:cNvPicPr>
          <p:nvPr/>
        </p:nvPicPr>
        <p:blipFill>
          <a:blip r:embed="rId3"/>
          <a:stretch>
            <a:fillRect/>
          </a:stretch>
        </p:blipFill>
        <p:spPr>
          <a:xfrm>
            <a:off x="7310681" y="255213"/>
            <a:ext cx="3294257" cy="3124504"/>
          </a:xfrm>
          <a:prstGeom prst="rect">
            <a:avLst/>
          </a:prstGeom>
        </p:spPr>
      </p:pic>
    </p:spTree>
    <p:extLst>
      <p:ext uri="{BB962C8B-B14F-4D97-AF65-F5344CB8AC3E}">
        <p14:creationId xmlns:p14="http://schemas.microsoft.com/office/powerpoint/2010/main" val="35750653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t">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Outside the classroom</a:t>
            </a:r>
          </a:p>
        </p:txBody>
      </p:sp>
      <p:sp>
        <p:nvSpPr>
          <p:cNvPr id="4" name="intro-text-19">
            <a:extLst>
              <a:ext uri="{FF2B5EF4-FFF2-40B4-BE49-F238E27FC236}">
                <a16:creationId xmlns:a16="http://schemas.microsoft.com/office/drawing/2014/main" id="{FDEA5915-1723-43D7-95D5-2C2712F34A03}"/>
              </a:ext>
            </a:extLst>
          </p:cNvPr>
          <p:cNvSpPr>
            <a:spLocks noGrp="1"/>
          </p:cNvSpPr>
          <p:nvPr/>
        </p:nvSpPr>
        <p:spPr>
          <a:xfrm>
            <a:off x="3365462" y="1607915"/>
            <a:ext cx="3238500" cy="419100"/>
          </a:xfrm>
          <a:prstGeom prst="rect">
            <a:avLst/>
          </a:prstGeom>
          <a:noFill/>
          <a:ln w="0">
            <a:noFill/>
          </a:ln>
        </p:spPr>
        <p:txBody>
          <a:bodyPr wrap="square" lIns="0" tIns="0" rIns="0" bIns="0" anchor="t">
            <a:noAutofit/>
          </a:bodyPr>
          <a:lstStyle/>
          <a:p>
            <a:pPr algn="l">
              <a:buNone/>
              <a:defRPr sz="2550" b="1">
                <a:solidFill>
                  <a:srgbClr val="111111"/>
                </a:solidFill>
                <a:latin typeface="Aptos"/>
                <a:ea typeface="Aptos"/>
                <a:cs typeface="Aptos"/>
              </a:defRPr>
            </a:pPr>
            <a:r>
              <a:rPr sz="2550" b="1" dirty="0">
                <a:solidFill>
                  <a:srgbClr val="111111"/>
                </a:solidFill>
                <a:latin typeface="Aptos"/>
                <a:ea typeface="Aptos"/>
                <a:cs typeface="Aptos"/>
              </a:rPr>
              <a:t>Board games</a:t>
            </a:r>
          </a:p>
        </p:txBody>
      </p:sp>
      <p:sp>
        <p:nvSpPr>
          <p:cNvPr id="5" name="intro-text-20">
            <a:extLst>
              <a:ext uri="{FF2B5EF4-FFF2-40B4-BE49-F238E27FC236}">
                <a16:creationId xmlns:a16="http://schemas.microsoft.com/office/drawing/2014/main" id="{E2F0F768-43A6-4D07-926D-03971169C195}"/>
              </a:ext>
            </a:extLst>
          </p:cNvPr>
          <p:cNvSpPr>
            <a:spLocks noGrp="1"/>
          </p:cNvSpPr>
          <p:nvPr/>
        </p:nvSpPr>
        <p:spPr>
          <a:xfrm>
            <a:off x="9538607" y="1503140"/>
            <a:ext cx="3238500" cy="419100"/>
          </a:xfrm>
          <a:prstGeom prst="rect">
            <a:avLst/>
          </a:prstGeom>
          <a:noFill/>
          <a:ln w="0">
            <a:noFill/>
          </a:ln>
        </p:spPr>
        <p:txBody>
          <a:bodyPr wrap="square" lIns="0" tIns="0" rIns="0" bIns="0" anchor="t">
            <a:noAutofit/>
          </a:bodyPr>
          <a:lstStyle/>
          <a:p>
            <a:pPr algn="l">
              <a:buNone/>
              <a:defRPr sz="2550" b="1">
                <a:solidFill>
                  <a:srgbClr val="111111"/>
                </a:solidFill>
                <a:latin typeface="Aptos"/>
                <a:ea typeface="Aptos"/>
                <a:cs typeface="Aptos"/>
              </a:defRPr>
            </a:pPr>
            <a:r>
              <a:rPr sz="2550" b="1" dirty="0">
                <a:solidFill>
                  <a:srgbClr val="111111"/>
                </a:solidFill>
                <a:latin typeface="Aptos"/>
                <a:ea typeface="Aptos"/>
                <a:cs typeface="Aptos"/>
              </a:rPr>
              <a:t>3D printing</a:t>
            </a:r>
          </a:p>
        </p:txBody>
      </p:sp>
      <p:pic>
        <p:nvPicPr>
          <p:cNvPr id="3" name="Picture 2" descr="Fantasy Flight Games | Twilight Imperium 4th Edition | Board Game | Ages  14+ | 3-6 Players | 240-480 Minute Playing Time : Amazon.co.uk: Toys &amp; Games">
            <a:extLst>
              <a:ext uri="{FF2B5EF4-FFF2-40B4-BE49-F238E27FC236}">
                <a16:creationId xmlns:a16="http://schemas.microsoft.com/office/drawing/2014/main" id="{1BEFF5AB-7BCB-E9C6-B3CD-AA2A9CFB5FC5}"/>
              </a:ext>
            </a:extLst>
          </p:cNvPr>
          <p:cNvPicPr>
            <a:picLocks noChangeAspect="1"/>
          </p:cNvPicPr>
          <p:nvPr/>
        </p:nvPicPr>
        <p:blipFill>
          <a:blip r:embed="rId3"/>
          <a:stretch>
            <a:fillRect/>
          </a:stretch>
        </p:blipFill>
        <p:spPr>
          <a:xfrm>
            <a:off x="206828" y="2051957"/>
            <a:ext cx="2754086" cy="2754086"/>
          </a:xfrm>
          <a:prstGeom prst="rect">
            <a:avLst/>
          </a:prstGeom>
        </p:spPr>
      </p:pic>
      <p:pic>
        <p:nvPicPr>
          <p:cNvPr id="6" name="Picture 5" descr="Nemesis Board Game - Sci-Fi Survival Horror Adventure Game – Asmodee USA">
            <a:extLst>
              <a:ext uri="{FF2B5EF4-FFF2-40B4-BE49-F238E27FC236}">
                <a16:creationId xmlns:a16="http://schemas.microsoft.com/office/drawing/2014/main" id="{83B357CE-FEC1-AA33-3782-6E104B77B482}"/>
              </a:ext>
            </a:extLst>
          </p:cNvPr>
          <p:cNvPicPr>
            <a:picLocks noChangeAspect="1"/>
          </p:cNvPicPr>
          <p:nvPr/>
        </p:nvPicPr>
        <p:blipFill>
          <a:blip r:embed="rId4"/>
          <a:stretch>
            <a:fillRect/>
          </a:stretch>
        </p:blipFill>
        <p:spPr>
          <a:xfrm>
            <a:off x="3086099" y="2051957"/>
            <a:ext cx="2754085" cy="2754085"/>
          </a:xfrm>
          <a:prstGeom prst="rect">
            <a:avLst/>
          </a:prstGeom>
        </p:spPr>
      </p:pic>
      <p:pic>
        <p:nvPicPr>
          <p:cNvPr id="7" name="Picture 6" descr="CATAN | CATAN">
            <a:extLst>
              <a:ext uri="{FF2B5EF4-FFF2-40B4-BE49-F238E27FC236}">
                <a16:creationId xmlns:a16="http://schemas.microsoft.com/office/drawing/2014/main" id="{02851601-3244-6E33-C113-5C1641D1220F}"/>
              </a:ext>
            </a:extLst>
          </p:cNvPr>
          <p:cNvPicPr>
            <a:picLocks noChangeAspect="1"/>
          </p:cNvPicPr>
          <p:nvPr/>
        </p:nvPicPr>
        <p:blipFill>
          <a:blip r:embed="rId5"/>
          <a:stretch>
            <a:fillRect/>
          </a:stretch>
        </p:blipFill>
        <p:spPr>
          <a:xfrm>
            <a:off x="5963559" y="2051957"/>
            <a:ext cx="2754085" cy="2754085"/>
          </a:xfrm>
          <a:prstGeom prst="rect">
            <a:avLst/>
          </a:prstGeom>
        </p:spPr>
      </p:pic>
      <p:pic>
        <p:nvPicPr>
          <p:cNvPr id="9" name="Picture 8" descr="Finished a major round of upgrades for my Voron 2.4r2,… : r/VORONDesign">
            <a:extLst>
              <a:ext uri="{FF2B5EF4-FFF2-40B4-BE49-F238E27FC236}">
                <a16:creationId xmlns:a16="http://schemas.microsoft.com/office/drawing/2014/main" id="{6AC06826-5B27-2564-5FB7-6ADCA1B4C732}"/>
              </a:ext>
            </a:extLst>
          </p:cNvPr>
          <p:cNvPicPr>
            <a:picLocks noChangeAspect="1"/>
          </p:cNvPicPr>
          <p:nvPr/>
        </p:nvPicPr>
        <p:blipFill>
          <a:blip r:embed="rId6"/>
          <a:stretch>
            <a:fillRect/>
          </a:stretch>
        </p:blipFill>
        <p:spPr>
          <a:xfrm>
            <a:off x="8842828" y="2051957"/>
            <a:ext cx="3142344" cy="2741613"/>
          </a:xfrm>
          <a:prstGeom prst="rect">
            <a:avLst/>
          </a:prstGeom>
        </p:spPr>
      </p:pic>
    </p:spTree>
    <p:extLst>
      <p:ext uri="{BB962C8B-B14F-4D97-AF65-F5344CB8AC3E}">
        <p14:creationId xmlns:p14="http://schemas.microsoft.com/office/powerpoint/2010/main" val="3663025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t">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Mystery Bag</a:t>
            </a:r>
          </a:p>
        </p:txBody>
      </p:sp>
      <p:sp>
        <p:nvSpPr>
          <p:cNvPr id="3" name="intro-text-21">
            <a:extLst>
              <a:ext uri="{FF2B5EF4-FFF2-40B4-BE49-F238E27FC236}">
                <a16:creationId xmlns:a16="http://schemas.microsoft.com/office/drawing/2014/main" id="{0703F024-BE7B-4A19-A155-80371A916806}"/>
              </a:ext>
            </a:extLst>
          </p:cNvPr>
          <p:cNvSpPr>
            <a:spLocks noGrp="1"/>
          </p:cNvSpPr>
          <p:nvPr/>
        </p:nvSpPr>
        <p:spPr>
          <a:xfrm>
            <a:off x="428625" y="1981200"/>
            <a:ext cx="6905625" cy="428625"/>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dirty="0">
                <a:solidFill>
                  <a:srgbClr val="111111"/>
                </a:solidFill>
                <a:latin typeface="Aptos"/>
                <a:ea typeface="Aptos"/>
                <a:cs typeface="Aptos"/>
              </a:rPr>
              <a:t>50 tokens. Two </a:t>
            </a:r>
            <a:r>
              <a:rPr sz="2550" b="0" dirty="0" err="1">
                <a:solidFill>
                  <a:srgbClr val="111111"/>
                </a:solidFill>
                <a:latin typeface="Aptos"/>
                <a:ea typeface="Aptos"/>
                <a:cs typeface="Aptos"/>
              </a:rPr>
              <a:t>colours</a:t>
            </a:r>
            <a:r>
              <a:rPr sz="2550" b="0" dirty="0">
                <a:solidFill>
                  <a:srgbClr val="111111"/>
                </a:solidFill>
                <a:latin typeface="Aptos"/>
                <a:ea typeface="Aptos"/>
                <a:cs typeface="Aptos"/>
              </a:rPr>
              <a:t>.</a:t>
            </a:r>
          </a:p>
        </p:txBody>
      </p:sp>
      <p:sp>
        <p:nvSpPr>
          <p:cNvPr id="4" name="intro-text-22">
            <a:extLst>
              <a:ext uri="{FF2B5EF4-FFF2-40B4-BE49-F238E27FC236}">
                <a16:creationId xmlns:a16="http://schemas.microsoft.com/office/drawing/2014/main" id="{A708B9BF-B113-4D4A-9B6B-D9EEE543AB41}"/>
              </a:ext>
            </a:extLst>
          </p:cNvPr>
          <p:cNvSpPr>
            <a:spLocks noGrp="1"/>
          </p:cNvSpPr>
          <p:nvPr/>
        </p:nvSpPr>
        <p:spPr>
          <a:xfrm>
            <a:off x="428625" y="2628900"/>
            <a:ext cx="7239000" cy="800100"/>
          </a:xfrm>
          <a:prstGeom prst="rect">
            <a:avLst/>
          </a:prstGeom>
          <a:noFill/>
          <a:ln w="0">
            <a:noFill/>
          </a:ln>
        </p:spPr>
        <p:txBody>
          <a:bodyPr wrap="square" lIns="0" tIns="0" rIns="0" bIns="0" anchor="t">
            <a:noAutofit/>
          </a:bodyPr>
          <a:lstStyle/>
          <a:p>
            <a:pPr algn="l">
              <a:buNone/>
              <a:defRPr sz="2925" b="1">
                <a:solidFill>
                  <a:srgbClr val="111111"/>
                </a:solidFill>
                <a:latin typeface="Aptos"/>
                <a:ea typeface="Aptos"/>
                <a:cs typeface="Aptos"/>
              </a:defRPr>
            </a:pPr>
            <a:r>
              <a:rPr sz="2925" b="1" dirty="0">
                <a:solidFill>
                  <a:srgbClr val="111111"/>
                </a:solidFill>
                <a:latin typeface="Aptos"/>
                <a:ea typeface="Aptos"/>
                <a:cs typeface="Aptos"/>
              </a:rPr>
              <a:t>Which </a:t>
            </a:r>
            <a:r>
              <a:rPr sz="2925" b="1" dirty="0" err="1">
                <a:solidFill>
                  <a:srgbClr val="111111"/>
                </a:solidFill>
                <a:latin typeface="Aptos"/>
                <a:ea typeface="Aptos"/>
                <a:cs typeface="Aptos"/>
              </a:rPr>
              <a:t>colour</a:t>
            </a:r>
            <a:r>
              <a:rPr sz="2925" b="1" dirty="0">
                <a:solidFill>
                  <a:srgbClr val="111111"/>
                </a:solidFill>
                <a:latin typeface="Aptos"/>
                <a:ea typeface="Aptos"/>
                <a:cs typeface="Aptos"/>
              </a:rPr>
              <a:t> is more common?</a:t>
            </a:r>
          </a:p>
        </p:txBody>
      </p:sp>
      <p:sp>
        <p:nvSpPr>
          <p:cNvPr id="5" name="intro-text-23">
            <a:extLst>
              <a:ext uri="{FF2B5EF4-FFF2-40B4-BE49-F238E27FC236}">
                <a16:creationId xmlns:a16="http://schemas.microsoft.com/office/drawing/2014/main" id="{CDE2C974-330C-433C-AA6D-FF223E7DC3C3}"/>
              </a:ext>
            </a:extLst>
          </p:cNvPr>
          <p:cNvSpPr>
            <a:spLocks noGrp="1"/>
          </p:cNvSpPr>
          <p:nvPr/>
        </p:nvSpPr>
        <p:spPr>
          <a:xfrm>
            <a:off x="428625" y="3695700"/>
            <a:ext cx="7048500" cy="38100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lang="en-US" sz="2250" dirty="0">
                <a:solidFill>
                  <a:srgbClr val="111111"/>
                </a:solidFill>
                <a:latin typeface="Aptos"/>
                <a:ea typeface="Aptos"/>
                <a:cs typeface="Aptos"/>
              </a:rPr>
              <a:t>S</a:t>
            </a:r>
            <a:r>
              <a:rPr sz="2250" b="0" dirty="0">
                <a:solidFill>
                  <a:srgbClr val="111111"/>
                </a:solidFill>
                <a:latin typeface="Aptos"/>
                <a:ea typeface="Aptos"/>
                <a:cs typeface="Aptos"/>
              </a:rPr>
              <a:t>how your prediction:</a:t>
            </a:r>
          </a:p>
        </p:txBody>
      </p:sp>
      <p:sp>
        <p:nvSpPr>
          <p:cNvPr id="6" name="intro-text-24">
            <a:extLst>
              <a:ext uri="{FF2B5EF4-FFF2-40B4-BE49-F238E27FC236}">
                <a16:creationId xmlns:a16="http://schemas.microsoft.com/office/drawing/2014/main" id="{C4C45C6A-99E7-4212-9589-3872C70F9AF4}"/>
              </a:ext>
            </a:extLst>
          </p:cNvPr>
          <p:cNvSpPr>
            <a:spLocks noGrp="1"/>
          </p:cNvSpPr>
          <p:nvPr/>
        </p:nvSpPr>
        <p:spPr>
          <a:xfrm>
            <a:off x="714375" y="4229100"/>
            <a:ext cx="6715125" cy="36195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dirty="0">
                <a:solidFill>
                  <a:srgbClr val="111111"/>
                </a:solidFill>
                <a:latin typeface="Aptos"/>
                <a:ea typeface="Aptos"/>
                <a:cs typeface="Aptos"/>
              </a:rPr>
              <a:t>1 finger     Black</a:t>
            </a:r>
          </a:p>
        </p:txBody>
      </p:sp>
      <p:sp>
        <p:nvSpPr>
          <p:cNvPr id="7" name="intro-text-25">
            <a:extLst>
              <a:ext uri="{FF2B5EF4-FFF2-40B4-BE49-F238E27FC236}">
                <a16:creationId xmlns:a16="http://schemas.microsoft.com/office/drawing/2014/main" id="{377D234E-0EAC-4B17-90CB-3DB11BE3136D}"/>
              </a:ext>
            </a:extLst>
          </p:cNvPr>
          <p:cNvSpPr>
            <a:spLocks noGrp="1"/>
          </p:cNvSpPr>
          <p:nvPr/>
        </p:nvSpPr>
        <p:spPr>
          <a:xfrm>
            <a:off x="714375" y="4686300"/>
            <a:ext cx="6715125" cy="36195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2 fingers   White</a:t>
            </a:r>
          </a:p>
        </p:txBody>
      </p:sp>
      <p:sp>
        <p:nvSpPr>
          <p:cNvPr id="8" name="intro-text-26">
            <a:extLst>
              <a:ext uri="{FF2B5EF4-FFF2-40B4-BE49-F238E27FC236}">
                <a16:creationId xmlns:a16="http://schemas.microsoft.com/office/drawing/2014/main" id="{F0C311E6-DCFC-460F-892B-F99A8DC709AC}"/>
              </a:ext>
            </a:extLst>
          </p:cNvPr>
          <p:cNvSpPr>
            <a:spLocks noGrp="1"/>
          </p:cNvSpPr>
          <p:nvPr/>
        </p:nvSpPr>
        <p:spPr>
          <a:xfrm>
            <a:off x="714375" y="5143500"/>
            <a:ext cx="7048500" cy="7239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dirty="0">
                <a:solidFill>
                  <a:srgbClr val="111111"/>
                </a:solidFill>
                <a:latin typeface="Aptos"/>
                <a:ea typeface="Aptos"/>
                <a:cs typeface="Aptos"/>
              </a:rPr>
              <a:t>3 fingers   Not enough information</a:t>
            </a:r>
          </a:p>
        </p:txBody>
      </p:sp>
      <p:pic>
        <p:nvPicPr>
          <p:cNvPr id="17" name="Picture 16"/>
          <p:cNvPicPr>
            <a:picLocks noChangeAspect="1"/>
          </p:cNvPicPr>
          <p:nvPr/>
        </p:nvPicPr>
        <p:blipFill>
          <a:blip r:embed="rId3"/>
          <a:stretch/>
        </p:blipFill>
        <p:spPr>
          <a:xfrm>
            <a:off x="8572500" y="1809750"/>
            <a:ext cx="3143250" cy="4191000"/>
          </a:xfrm>
          <a:prstGeom prst="rect">
            <a:avLst/>
          </a:prstGeom>
        </p:spPr>
      </p:pic>
    </p:spTree>
    <p:extLst>
      <p:ext uri="{BB962C8B-B14F-4D97-AF65-F5344CB8AC3E}">
        <p14:creationId xmlns:p14="http://schemas.microsoft.com/office/powerpoint/2010/main" val="359057439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t">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does our evidence suggest?</a:t>
            </a:r>
          </a:p>
        </p:txBody>
      </p:sp>
      <p:sp>
        <p:nvSpPr>
          <p:cNvPr id="3" name="intro-text-27">
            <a:extLst>
              <a:ext uri="{FF2B5EF4-FFF2-40B4-BE49-F238E27FC236}">
                <a16:creationId xmlns:a16="http://schemas.microsoft.com/office/drawing/2014/main" id="{47FA33D4-6CF9-488C-AD0D-62B758E901B5}"/>
              </a:ext>
            </a:extLst>
          </p:cNvPr>
          <p:cNvSpPr>
            <a:spLocks noGrp="1"/>
          </p:cNvSpPr>
          <p:nvPr/>
        </p:nvSpPr>
        <p:spPr>
          <a:xfrm>
            <a:off x="428625" y="1952625"/>
            <a:ext cx="11296650" cy="42862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Draw 5 without looking. Keep them outside the bag.</a:t>
            </a:r>
          </a:p>
        </p:txBody>
      </p:sp>
      <p:graphicFrame>
        <p:nvGraphicFramePr>
          <p:cNvPr id="10" name="Table 9"/>
          <p:cNvGraphicFramePr/>
          <p:nvPr/>
        </p:nvGraphicFramePr>
        <p:xfrm>
          <a:off x="428625" y="2590800"/>
          <a:ext cx="11296650" cy="2505075"/>
        </p:xfrm>
        <a:graphic>
          <a:graphicData uri="http://schemas.openxmlformats.org/drawingml/2006/table">
            <a:tbl>
              <a:tblPr firstRow="1"/>
              <a:tblGrid>
                <a:gridCol w="481965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590550">
                <a:tc>
                  <a:txBody>
                    <a:bodyPr/>
                    <a:lstStyle/>
                    <a:p>
                      <a:pPr algn="l">
                        <a:buNone/>
                      </a:pPr>
                      <a:r>
                        <a:rPr sz="2175" b="1">
                          <a:solidFill>
                            <a:srgbClr val="FFFFFF"/>
                          </a:solidFill>
                          <a:latin typeface="Aptos"/>
                          <a:ea typeface="Aptos"/>
                          <a:cs typeface="Aptos"/>
                        </a:rPr>
                        <a:t>Tokens examined</a:t>
                      </a:r>
                    </a:p>
                  </a:txBody>
                  <a:tcPr marL="133350" marR="114300" marT="95250" marB="95250" anchor="ctr">
                    <a:solidFill>
                      <a:srgbClr val="D6171D"/>
                    </a:solidFill>
                  </a:tcPr>
                </a:tc>
                <a:tc>
                  <a:txBody>
                    <a:bodyPr/>
                    <a:lstStyle/>
                    <a:p>
                      <a:pPr algn="l">
                        <a:buNone/>
                      </a:pPr>
                      <a:r>
                        <a:rPr sz="2175" b="1">
                          <a:solidFill>
                            <a:srgbClr val="FFFFFF"/>
                          </a:solidFill>
                          <a:latin typeface="Aptos"/>
                          <a:ea typeface="Aptos"/>
                          <a:cs typeface="Aptos"/>
                        </a:rPr>
                        <a:t>Black</a:t>
                      </a:r>
                    </a:p>
                  </a:txBody>
                  <a:tcPr marL="133350" marR="114300" marT="95250" marB="95250" anchor="ctr">
                    <a:solidFill>
                      <a:srgbClr val="D6171D"/>
                    </a:solidFill>
                  </a:tcPr>
                </a:tc>
                <a:tc>
                  <a:txBody>
                    <a:bodyPr/>
                    <a:lstStyle/>
                    <a:p>
                      <a:pPr algn="l">
                        <a:buNone/>
                      </a:pPr>
                      <a:r>
                        <a:rPr sz="2175" b="1">
                          <a:solidFill>
                            <a:srgbClr val="FFFFFF"/>
                          </a:solidFill>
                          <a:latin typeface="Aptos"/>
                          <a:ea typeface="Aptos"/>
                          <a:cs typeface="Aptos"/>
                        </a:rPr>
                        <a:t>White</a:t>
                      </a:r>
                    </a:p>
                  </a:txBody>
                  <a:tcPr marL="133350" marR="114300" marT="95250" marB="95250" anchor="ctr">
                    <a:solidFill>
                      <a:srgbClr val="D6171D"/>
                    </a:solidFill>
                  </a:tcPr>
                </a:tc>
                <a:extLst>
                  <a:ext uri="{0D108BD9-81ED-4DB2-BD59-A6C34878D82A}">
                    <a16:rowId xmlns:a16="http://schemas.microsoft.com/office/drawing/2014/main" val="10000"/>
                  </a:ext>
                </a:extLst>
              </a:tr>
              <a:tr h="638175">
                <a:tc>
                  <a:txBody>
                    <a:bodyPr/>
                    <a:lstStyle/>
                    <a:p>
                      <a:pPr algn="l">
                        <a:buNone/>
                      </a:pPr>
                      <a:r>
                        <a:rPr sz="2175" b="0" dirty="0">
                          <a:solidFill>
                            <a:srgbClr val="111111"/>
                          </a:solidFill>
                          <a:latin typeface="Aptos"/>
                          <a:ea typeface="Aptos"/>
                          <a:cs typeface="Aptos"/>
                        </a:rPr>
                        <a:t>First 5</a:t>
                      </a:r>
                    </a:p>
                  </a:txBody>
                  <a:tcPr marL="133350" marR="114300" marT="95250" marB="95250" anchor="ctr">
                    <a:solidFill>
                      <a:srgbClr val="FFFFFF"/>
                    </a:solidFill>
                  </a:tcPr>
                </a:tc>
                <a:tc>
                  <a:txBody>
                    <a:bodyPr/>
                    <a:lstStyle/>
                    <a:p>
                      <a:pPr algn="l">
                        <a:buNone/>
                      </a:pPr>
                      <a:r>
                        <a:rPr sz="2175" b="0" dirty="0">
                          <a:solidFill>
                            <a:srgbClr val="111111"/>
                          </a:solidFill>
                          <a:latin typeface="Aptos"/>
                          <a:ea typeface="Aptos"/>
                          <a:cs typeface="Aptos"/>
                        </a:rPr>
                        <a:t>_____</a:t>
                      </a:r>
                    </a:p>
                  </a:txBody>
                  <a:tcPr marL="133350" marR="114300" marT="95250" marB="95250" anchor="ctr">
                    <a:solidFill>
                      <a:srgbClr val="FFFFFF"/>
                    </a:solidFill>
                  </a:tcPr>
                </a:tc>
                <a:tc>
                  <a:txBody>
                    <a:bodyPr/>
                    <a:lstStyle/>
                    <a:p>
                      <a:pPr algn="l">
                        <a:buNone/>
                      </a:pPr>
                      <a:r>
                        <a:rPr sz="2175" b="0">
                          <a:solidFill>
                            <a:srgbClr val="111111"/>
                          </a:solidFill>
                          <a:latin typeface="Aptos"/>
                          <a:ea typeface="Aptos"/>
                          <a:cs typeface="Aptos"/>
                        </a:rPr>
                        <a:t>_____</a:t>
                      </a:r>
                    </a:p>
                  </a:txBody>
                  <a:tcPr marL="133350" marR="114300" marT="95250" marB="95250" anchor="ctr">
                    <a:solidFill>
                      <a:srgbClr val="FFFFFF"/>
                    </a:solidFill>
                  </a:tcPr>
                </a:tc>
                <a:extLst>
                  <a:ext uri="{0D108BD9-81ED-4DB2-BD59-A6C34878D82A}">
                    <a16:rowId xmlns:a16="http://schemas.microsoft.com/office/drawing/2014/main" val="10001"/>
                  </a:ext>
                </a:extLst>
              </a:tr>
              <a:tr h="638175">
                <a:tc>
                  <a:txBody>
                    <a:bodyPr/>
                    <a:lstStyle/>
                    <a:p>
                      <a:pPr algn="l">
                        <a:buNone/>
                      </a:pPr>
                      <a:r>
                        <a:rPr sz="2175" b="0">
                          <a:solidFill>
                            <a:srgbClr val="111111"/>
                          </a:solidFill>
                          <a:latin typeface="Aptos"/>
                          <a:ea typeface="Aptos"/>
                          <a:cs typeface="Aptos"/>
                        </a:rPr>
                        <a:t>First 10</a:t>
                      </a:r>
                    </a:p>
                  </a:txBody>
                  <a:tcPr marL="133350" marR="114300" marT="95250" marB="95250" anchor="ctr">
                    <a:solidFill>
                      <a:srgbClr val="EEF8FF"/>
                    </a:solidFill>
                  </a:tcPr>
                </a:tc>
                <a:tc>
                  <a:txBody>
                    <a:bodyPr/>
                    <a:lstStyle/>
                    <a:p>
                      <a:pPr algn="l">
                        <a:buNone/>
                      </a:pPr>
                      <a:r>
                        <a:rPr sz="2175" b="0">
                          <a:solidFill>
                            <a:srgbClr val="111111"/>
                          </a:solidFill>
                          <a:latin typeface="Aptos"/>
                          <a:ea typeface="Aptos"/>
                          <a:cs typeface="Aptos"/>
                        </a:rPr>
                        <a:t>_____</a:t>
                      </a:r>
                    </a:p>
                  </a:txBody>
                  <a:tcPr marL="133350" marR="114300" marT="95250" marB="95250" anchor="ctr">
                    <a:solidFill>
                      <a:srgbClr val="EEF8FF"/>
                    </a:solidFill>
                  </a:tcPr>
                </a:tc>
                <a:tc>
                  <a:txBody>
                    <a:bodyPr/>
                    <a:lstStyle/>
                    <a:p>
                      <a:pPr algn="l">
                        <a:buNone/>
                      </a:pPr>
                      <a:r>
                        <a:rPr sz="2175" b="0">
                          <a:solidFill>
                            <a:srgbClr val="111111"/>
                          </a:solidFill>
                          <a:latin typeface="Aptos"/>
                          <a:ea typeface="Aptos"/>
                          <a:cs typeface="Aptos"/>
                        </a:rPr>
                        <a:t>_____</a:t>
                      </a:r>
                    </a:p>
                  </a:txBody>
                  <a:tcPr marL="133350" marR="114300" marT="95250" marB="95250" anchor="ctr">
                    <a:solidFill>
                      <a:srgbClr val="EEF8FF"/>
                    </a:solidFill>
                  </a:tcPr>
                </a:tc>
                <a:extLst>
                  <a:ext uri="{0D108BD9-81ED-4DB2-BD59-A6C34878D82A}">
                    <a16:rowId xmlns:a16="http://schemas.microsoft.com/office/drawing/2014/main" val="10002"/>
                  </a:ext>
                </a:extLst>
              </a:tr>
              <a:tr h="638175">
                <a:tc>
                  <a:txBody>
                    <a:bodyPr/>
                    <a:lstStyle/>
                    <a:p>
                      <a:pPr algn="l">
                        <a:buNone/>
                      </a:pPr>
                      <a:r>
                        <a:rPr sz="2175" b="0">
                          <a:solidFill>
                            <a:srgbClr val="111111"/>
                          </a:solidFill>
                          <a:latin typeface="Aptos"/>
                          <a:ea typeface="Aptos"/>
                          <a:cs typeface="Aptos"/>
                        </a:rPr>
                        <a:t>First 15</a:t>
                      </a:r>
                    </a:p>
                  </a:txBody>
                  <a:tcPr marL="133350" marR="114300" marT="95250" marB="95250" anchor="ctr">
                    <a:solidFill>
                      <a:srgbClr val="FFFFFF"/>
                    </a:solidFill>
                  </a:tcPr>
                </a:tc>
                <a:tc>
                  <a:txBody>
                    <a:bodyPr/>
                    <a:lstStyle/>
                    <a:p>
                      <a:pPr algn="l">
                        <a:buNone/>
                      </a:pPr>
                      <a:r>
                        <a:rPr sz="2175" b="0">
                          <a:solidFill>
                            <a:srgbClr val="111111"/>
                          </a:solidFill>
                          <a:latin typeface="Aptos"/>
                          <a:ea typeface="Aptos"/>
                          <a:cs typeface="Aptos"/>
                        </a:rPr>
                        <a:t>_____</a:t>
                      </a:r>
                    </a:p>
                  </a:txBody>
                  <a:tcPr marL="133350" marR="114300" marT="95250" marB="95250" anchor="ctr">
                    <a:solidFill>
                      <a:srgbClr val="FFFFFF"/>
                    </a:solidFill>
                  </a:tcPr>
                </a:tc>
                <a:tc>
                  <a:txBody>
                    <a:bodyPr/>
                    <a:lstStyle/>
                    <a:p>
                      <a:pPr algn="l">
                        <a:buNone/>
                      </a:pPr>
                      <a:r>
                        <a:rPr sz="2175" b="0" dirty="0">
                          <a:solidFill>
                            <a:srgbClr val="111111"/>
                          </a:solidFill>
                          <a:latin typeface="Aptos"/>
                          <a:ea typeface="Aptos"/>
                          <a:cs typeface="Aptos"/>
                        </a:rPr>
                        <a:t>_____</a:t>
                      </a:r>
                    </a:p>
                  </a:txBody>
                  <a:tcPr marL="133350" marR="11430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5" name="intro-text-28">
            <a:extLst>
              <a:ext uri="{FF2B5EF4-FFF2-40B4-BE49-F238E27FC236}">
                <a16:creationId xmlns:a16="http://schemas.microsoft.com/office/drawing/2014/main" id="{0FF211F7-1128-479F-8C45-A74CA40794EA}"/>
              </a:ext>
            </a:extLst>
          </p:cNvPr>
          <p:cNvSpPr>
            <a:spLocks noGrp="1"/>
          </p:cNvSpPr>
          <p:nvPr/>
        </p:nvSpPr>
        <p:spPr>
          <a:xfrm>
            <a:off x="428625" y="5276850"/>
            <a:ext cx="11296650" cy="43815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dirty="0">
                <a:solidFill>
                  <a:srgbClr val="111111"/>
                </a:solidFill>
                <a:latin typeface="Aptos"/>
                <a:ea typeface="Aptos"/>
                <a:cs typeface="Aptos"/>
              </a:rPr>
              <a:t>Did your prediction change? What evidence supports it?</a:t>
            </a:r>
          </a:p>
        </p:txBody>
      </p:sp>
      <p:sp>
        <p:nvSpPr>
          <p:cNvPr id="6" name="intro-text-29">
            <a:extLst>
              <a:ext uri="{FF2B5EF4-FFF2-40B4-BE49-F238E27FC236}">
                <a16:creationId xmlns:a16="http://schemas.microsoft.com/office/drawing/2014/main" id="{EE3AF2AA-F1A4-4DCB-A7E0-A8AD5997C870}"/>
              </a:ext>
            </a:extLst>
          </p:cNvPr>
          <p:cNvSpPr>
            <a:spLocks noGrp="1"/>
          </p:cNvSpPr>
          <p:nvPr/>
        </p:nvSpPr>
        <p:spPr>
          <a:xfrm>
            <a:off x="428625" y="5772150"/>
            <a:ext cx="11296650" cy="40005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dirty="0">
                <a:solidFill>
                  <a:srgbClr val="111111"/>
                </a:solidFill>
                <a:latin typeface="Aptos"/>
                <a:ea typeface="Aptos"/>
                <a:cs typeface="Aptos"/>
              </a:rPr>
              <a:t>Could the unseen tokens change the result?</a:t>
            </a:r>
          </a:p>
        </p:txBody>
      </p:sp>
    </p:spTree>
    <p:extLst>
      <p:ext uri="{BB962C8B-B14F-4D97-AF65-F5344CB8AC3E}">
        <p14:creationId xmlns:p14="http://schemas.microsoft.com/office/powerpoint/2010/main" val="180454245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t">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full result</a:t>
            </a:r>
          </a:p>
        </p:txBody>
      </p:sp>
      <p:graphicFrame>
        <p:nvGraphicFramePr>
          <p:cNvPr id="10" name="Table 9"/>
          <p:cNvGraphicFramePr/>
          <p:nvPr/>
        </p:nvGraphicFramePr>
        <p:xfrm>
          <a:off x="428625" y="2019300"/>
          <a:ext cx="6667500" cy="2990850"/>
        </p:xfrm>
        <a:graphic>
          <a:graphicData uri="http://schemas.openxmlformats.org/drawingml/2006/table">
            <a:tbl>
              <a:tblPr firstRow="1"/>
              <a:tblGrid>
                <a:gridCol w="42862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tblGrid>
              <a:tr h="619125">
                <a:tc>
                  <a:txBody>
                    <a:bodyPr/>
                    <a:lstStyle/>
                    <a:p>
                      <a:pPr algn="l">
                        <a:buNone/>
                      </a:pPr>
                      <a:r>
                        <a:rPr sz="2550" b="1">
                          <a:solidFill>
                            <a:srgbClr val="FFFFFF"/>
                          </a:solidFill>
                          <a:latin typeface="Aptos"/>
                          <a:ea typeface="Aptos"/>
                          <a:cs typeface="Aptos"/>
                        </a:rPr>
                        <a:t>Colour</a:t>
                      </a:r>
                    </a:p>
                  </a:txBody>
                  <a:tcPr marL="133350" marR="114300" marT="95250" marB="95250" anchor="ctr">
                    <a:solidFill>
                      <a:srgbClr val="D6171D"/>
                    </a:solidFill>
                  </a:tcPr>
                </a:tc>
                <a:tc>
                  <a:txBody>
                    <a:bodyPr/>
                    <a:lstStyle/>
                    <a:p>
                      <a:pPr algn="l">
                        <a:buNone/>
                      </a:pPr>
                      <a:r>
                        <a:rPr sz="2550" b="1">
                          <a:solidFill>
                            <a:srgbClr val="FFFFFF"/>
                          </a:solidFill>
                          <a:latin typeface="Aptos"/>
                          <a:ea typeface="Aptos"/>
                          <a:cs typeface="Aptos"/>
                        </a:rPr>
                        <a:t>Tokens</a:t>
                      </a:r>
                    </a:p>
                  </a:txBody>
                  <a:tcPr marL="133350" marR="114300" marT="95250" marB="95250" anchor="ctr">
                    <a:solidFill>
                      <a:srgbClr val="D6171D"/>
                    </a:solidFill>
                  </a:tcPr>
                </a:tc>
                <a:extLst>
                  <a:ext uri="{0D108BD9-81ED-4DB2-BD59-A6C34878D82A}">
                    <a16:rowId xmlns:a16="http://schemas.microsoft.com/office/drawing/2014/main" val="10000"/>
                  </a:ext>
                </a:extLst>
              </a:tr>
              <a:tr h="790575">
                <a:tc>
                  <a:txBody>
                    <a:bodyPr/>
                    <a:lstStyle/>
                    <a:p>
                      <a:pPr algn="l">
                        <a:buNone/>
                      </a:pPr>
                      <a:r>
                        <a:rPr sz="2550" b="0">
                          <a:solidFill>
                            <a:srgbClr val="111111"/>
                          </a:solidFill>
                          <a:latin typeface="Aptos"/>
                          <a:ea typeface="Aptos"/>
                          <a:cs typeface="Aptos"/>
                        </a:rPr>
                        <a:t>Black</a:t>
                      </a:r>
                    </a:p>
                  </a:txBody>
                  <a:tcPr marL="133350" marR="114300" marT="95250" marB="95250" anchor="ctr">
                    <a:solidFill>
                      <a:srgbClr val="FFFFFF"/>
                    </a:solidFill>
                  </a:tcPr>
                </a:tc>
                <a:tc>
                  <a:txBody>
                    <a:bodyPr/>
                    <a:lstStyle/>
                    <a:p>
                      <a:pPr algn="l">
                        <a:buNone/>
                      </a:pPr>
                      <a:r>
                        <a:rPr sz="2550" b="0">
                          <a:solidFill>
                            <a:srgbClr val="111111"/>
                          </a:solidFill>
                          <a:latin typeface="Aptos"/>
                          <a:ea typeface="Aptos"/>
                          <a:cs typeface="Aptos"/>
                        </a:rPr>
                        <a:t>35</a:t>
                      </a:r>
                    </a:p>
                  </a:txBody>
                  <a:tcPr marL="133350" marR="114300" marT="95250" marB="95250" anchor="ctr">
                    <a:solidFill>
                      <a:srgbClr val="FFFFFF"/>
                    </a:solidFill>
                  </a:tcPr>
                </a:tc>
                <a:extLst>
                  <a:ext uri="{0D108BD9-81ED-4DB2-BD59-A6C34878D82A}">
                    <a16:rowId xmlns:a16="http://schemas.microsoft.com/office/drawing/2014/main" val="10001"/>
                  </a:ext>
                </a:extLst>
              </a:tr>
              <a:tr h="790575">
                <a:tc>
                  <a:txBody>
                    <a:bodyPr/>
                    <a:lstStyle/>
                    <a:p>
                      <a:pPr algn="l">
                        <a:buNone/>
                      </a:pPr>
                      <a:r>
                        <a:rPr sz="2550" b="0">
                          <a:solidFill>
                            <a:srgbClr val="111111"/>
                          </a:solidFill>
                          <a:latin typeface="Aptos"/>
                          <a:ea typeface="Aptos"/>
                          <a:cs typeface="Aptos"/>
                        </a:rPr>
                        <a:t>White</a:t>
                      </a:r>
                    </a:p>
                  </a:txBody>
                  <a:tcPr marL="133350" marR="114300" marT="95250" marB="95250" anchor="ctr">
                    <a:solidFill>
                      <a:srgbClr val="EEF8FF"/>
                    </a:solidFill>
                  </a:tcPr>
                </a:tc>
                <a:tc>
                  <a:txBody>
                    <a:bodyPr/>
                    <a:lstStyle/>
                    <a:p>
                      <a:pPr algn="l">
                        <a:buNone/>
                      </a:pPr>
                      <a:r>
                        <a:rPr sz="2550" b="0">
                          <a:solidFill>
                            <a:srgbClr val="111111"/>
                          </a:solidFill>
                          <a:latin typeface="Aptos"/>
                          <a:ea typeface="Aptos"/>
                          <a:cs typeface="Aptos"/>
                        </a:rPr>
                        <a:t>15</a:t>
                      </a:r>
                    </a:p>
                  </a:txBody>
                  <a:tcPr marL="133350" marR="114300" marT="95250" marB="95250" anchor="ctr">
                    <a:solidFill>
                      <a:srgbClr val="EEF8FF"/>
                    </a:solidFill>
                  </a:tcPr>
                </a:tc>
                <a:extLst>
                  <a:ext uri="{0D108BD9-81ED-4DB2-BD59-A6C34878D82A}">
                    <a16:rowId xmlns:a16="http://schemas.microsoft.com/office/drawing/2014/main" val="10002"/>
                  </a:ext>
                </a:extLst>
              </a:tr>
              <a:tr h="790575">
                <a:tc>
                  <a:txBody>
                    <a:bodyPr/>
                    <a:lstStyle/>
                    <a:p>
                      <a:pPr algn="l">
                        <a:buNone/>
                      </a:pPr>
                      <a:r>
                        <a:rPr sz="2550" b="0">
                          <a:solidFill>
                            <a:srgbClr val="111111"/>
                          </a:solidFill>
                          <a:latin typeface="Aptos"/>
                          <a:ea typeface="Aptos"/>
                          <a:cs typeface="Aptos"/>
                        </a:rPr>
                        <a:t>Total</a:t>
                      </a:r>
                    </a:p>
                  </a:txBody>
                  <a:tcPr marL="133350" marR="114300" marT="95250" marB="95250" anchor="ctr">
                    <a:solidFill>
                      <a:srgbClr val="FFFFFF"/>
                    </a:solidFill>
                  </a:tcPr>
                </a:tc>
                <a:tc>
                  <a:txBody>
                    <a:bodyPr/>
                    <a:lstStyle/>
                    <a:p>
                      <a:pPr algn="l">
                        <a:buNone/>
                      </a:pPr>
                      <a:r>
                        <a:rPr sz="2550" b="0">
                          <a:solidFill>
                            <a:srgbClr val="111111"/>
                          </a:solidFill>
                          <a:latin typeface="Aptos"/>
                          <a:ea typeface="Aptos"/>
                          <a:cs typeface="Aptos"/>
                        </a:rPr>
                        <a:t>50</a:t>
                      </a:r>
                    </a:p>
                  </a:txBody>
                  <a:tcPr marL="133350" marR="11430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4" name="intro-text-30">
            <a:extLst>
              <a:ext uri="{FF2B5EF4-FFF2-40B4-BE49-F238E27FC236}">
                <a16:creationId xmlns:a16="http://schemas.microsoft.com/office/drawing/2014/main" id="{BF43E23F-443B-48E6-8999-C094E61E6ACF}"/>
              </a:ext>
            </a:extLst>
          </p:cNvPr>
          <p:cNvSpPr>
            <a:spLocks noGrp="1"/>
          </p:cNvSpPr>
          <p:nvPr/>
        </p:nvSpPr>
        <p:spPr>
          <a:xfrm>
            <a:off x="7810500" y="2076450"/>
            <a:ext cx="3857625" cy="457200"/>
          </a:xfrm>
          <a:prstGeom prst="rect">
            <a:avLst/>
          </a:prstGeom>
          <a:noFill/>
          <a:ln w="0">
            <a:noFill/>
          </a:ln>
        </p:spPr>
        <p:txBody>
          <a:bodyPr wrap="square" lIns="0" tIns="0" rIns="0" bIns="0" anchor="t">
            <a:noAutofit/>
          </a:bodyPr>
          <a:lstStyle/>
          <a:p>
            <a:pPr algn="l">
              <a:buNone/>
              <a:defRPr sz="2550" b="1">
                <a:solidFill>
                  <a:srgbClr val="111111"/>
                </a:solidFill>
                <a:latin typeface="Aptos"/>
                <a:ea typeface="Aptos"/>
                <a:cs typeface="Aptos"/>
              </a:defRPr>
            </a:pPr>
            <a:r>
              <a:rPr sz="2550" b="1">
                <a:solidFill>
                  <a:srgbClr val="111111"/>
                </a:solidFill>
                <a:latin typeface="Aptos"/>
                <a:ea typeface="Aptos"/>
                <a:cs typeface="Aptos"/>
              </a:rPr>
              <a:t>Our evidence</a:t>
            </a:r>
          </a:p>
        </p:txBody>
      </p:sp>
      <p:sp>
        <p:nvSpPr>
          <p:cNvPr id="5" name="intro-text-31">
            <a:extLst>
              <a:ext uri="{FF2B5EF4-FFF2-40B4-BE49-F238E27FC236}">
                <a16:creationId xmlns:a16="http://schemas.microsoft.com/office/drawing/2014/main" id="{29CCB64D-66F9-49CD-89E2-9459B3470B98}"/>
              </a:ext>
            </a:extLst>
          </p:cNvPr>
          <p:cNvSpPr>
            <a:spLocks noGrp="1"/>
          </p:cNvSpPr>
          <p:nvPr/>
        </p:nvSpPr>
        <p:spPr>
          <a:xfrm>
            <a:off x="7810500" y="2781300"/>
            <a:ext cx="3857625" cy="142875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Did the first 15 tokens give us a useful picture of the whole bag?</a:t>
            </a:r>
          </a:p>
        </p:txBody>
      </p:sp>
      <p:sp>
        <p:nvSpPr>
          <p:cNvPr id="6" name="intro-text-32">
            <a:extLst>
              <a:ext uri="{FF2B5EF4-FFF2-40B4-BE49-F238E27FC236}">
                <a16:creationId xmlns:a16="http://schemas.microsoft.com/office/drawing/2014/main" id="{8BDE5624-CBAC-440B-81E9-F45394DBAB80}"/>
              </a:ext>
            </a:extLst>
          </p:cNvPr>
          <p:cNvSpPr>
            <a:spLocks noGrp="1"/>
          </p:cNvSpPr>
          <p:nvPr/>
        </p:nvSpPr>
        <p:spPr>
          <a:xfrm>
            <a:off x="7810500" y="4457700"/>
            <a:ext cx="3857625" cy="1190625"/>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Would a different draw necessarily look the same?</a:t>
            </a:r>
          </a:p>
        </p:txBody>
      </p:sp>
      <p:sp>
        <p:nvSpPr>
          <p:cNvPr id="7" name="intro-text-33">
            <a:extLst>
              <a:ext uri="{FF2B5EF4-FFF2-40B4-BE49-F238E27FC236}">
                <a16:creationId xmlns:a16="http://schemas.microsoft.com/office/drawing/2014/main" id="{C3E437EE-73EC-4A2F-A7D5-1BEDEAADA872}"/>
              </a:ext>
            </a:extLst>
          </p:cNvPr>
          <p:cNvSpPr>
            <a:spLocks noGrp="1"/>
          </p:cNvSpPr>
          <p:nvPr/>
        </p:nvSpPr>
        <p:spPr>
          <a:xfrm>
            <a:off x="428625" y="5514975"/>
            <a:ext cx="11296650" cy="476250"/>
          </a:xfrm>
          <a:prstGeom prst="rect">
            <a:avLst/>
          </a:prstGeom>
          <a:noFill/>
          <a:ln w="0">
            <a:noFill/>
          </a:ln>
        </p:spPr>
        <p:txBody>
          <a:bodyPr wrap="square" lIns="0" tIns="0" rIns="0" bIns="0" anchor="t">
            <a:noAutofit/>
          </a:bodyPr>
          <a:lstStyle/>
          <a:p>
            <a:pPr algn="l">
              <a:buNone/>
              <a:defRPr sz="2475" b="1">
                <a:solidFill>
                  <a:srgbClr val="111111"/>
                </a:solidFill>
                <a:latin typeface="Aptos"/>
                <a:ea typeface="Aptos"/>
                <a:cs typeface="Aptos"/>
              </a:defRPr>
            </a:pPr>
            <a:r>
              <a:rPr sz="2475" b="1">
                <a:solidFill>
                  <a:srgbClr val="111111"/>
                </a:solidFill>
                <a:latin typeface="Aptos"/>
                <a:ea typeface="Aptos"/>
                <a:cs typeface="Aptos"/>
              </a:rPr>
              <a:t>Black was more common: 35 out of 50 tokens.</a:t>
            </a:r>
          </a:p>
        </p:txBody>
      </p:sp>
    </p:spTree>
    <p:extLst>
      <p:ext uri="{BB962C8B-B14F-4D97-AF65-F5344CB8AC3E}">
        <p14:creationId xmlns:p14="http://schemas.microsoft.com/office/powerpoint/2010/main" val="418994977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t">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 just did statistics</a:t>
            </a:r>
          </a:p>
        </p:txBody>
      </p:sp>
      <p:sp>
        <p:nvSpPr>
          <p:cNvPr id="3" name="intro-text-34">
            <a:extLst>
              <a:ext uri="{FF2B5EF4-FFF2-40B4-BE49-F238E27FC236}">
                <a16:creationId xmlns:a16="http://schemas.microsoft.com/office/drawing/2014/main" id="{18B8B200-3690-4E2B-AF70-FAFE49408625}"/>
              </a:ext>
            </a:extLst>
          </p:cNvPr>
          <p:cNvSpPr>
            <a:spLocks noGrp="1"/>
          </p:cNvSpPr>
          <p:nvPr/>
        </p:nvSpPr>
        <p:spPr>
          <a:xfrm>
            <a:off x="428625" y="2057400"/>
            <a:ext cx="3143250" cy="419100"/>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Asked a question</a:t>
            </a:r>
          </a:p>
        </p:txBody>
      </p:sp>
      <p:sp>
        <p:nvSpPr>
          <p:cNvPr id="4" name="intro-text-35">
            <a:extLst>
              <a:ext uri="{FF2B5EF4-FFF2-40B4-BE49-F238E27FC236}">
                <a16:creationId xmlns:a16="http://schemas.microsoft.com/office/drawing/2014/main" id="{4193E7B7-BBA5-4147-AAD9-F4297060FF4A}"/>
              </a:ext>
            </a:extLst>
          </p:cNvPr>
          <p:cNvSpPr>
            <a:spLocks noGrp="1"/>
          </p:cNvSpPr>
          <p:nvPr/>
        </p:nvSpPr>
        <p:spPr>
          <a:xfrm>
            <a:off x="3905250" y="2057400"/>
            <a:ext cx="7810500" cy="6858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Which colour is more common?</a:t>
            </a:r>
          </a:p>
        </p:txBody>
      </p:sp>
      <p:sp>
        <p:nvSpPr>
          <p:cNvPr id="5" name="intro-text-36">
            <a:extLst>
              <a:ext uri="{FF2B5EF4-FFF2-40B4-BE49-F238E27FC236}">
                <a16:creationId xmlns:a16="http://schemas.microsoft.com/office/drawing/2014/main" id="{354B4648-0448-48F2-A215-F5BFBD30A3EE}"/>
              </a:ext>
            </a:extLst>
          </p:cNvPr>
          <p:cNvSpPr>
            <a:spLocks noGrp="1"/>
          </p:cNvSpPr>
          <p:nvPr/>
        </p:nvSpPr>
        <p:spPr>
          <a:xfrm>
            <a:off x="428625" y="2847975"/>
            <a:ext cx="3143250" cy="419100"/>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Collected data</a:t>
            </a:r>
          </a:p>
        </p:txBody>
      </p:sp>
      <p:sp>
        <p:nvSpPr>
          <p:cNvPr id="6" name="intro-text-37">
            <a:extLst>
              <a:ext uri="{FF2B5EF4-FFF2-40B4-BE49-F238E27FC236}">
                <a16:creationId xmlns:a16="http://schemas.microsoft.com/office/drawing/2014/main" id="{9F219EEC-FD20-44BE-8A66-97888D2C78A8}"/>
              </a:ext>
            </a:extLst>
          </p:cNvPr>
          <p:cNvSpPr>
            <a:spLocks noGrp="1"/>
          </p:cNvSpPr>
          <p:nvPr/>
        </p:nvSpPr>
        <p:spPr>
          <a:xfrm>
            <a:off x="3905250" y="2847975"/>
            <a:ext cx="7810500" cy="6858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We drew tokens and recorded the colours.</a:t>
            </a:r>
          </a:p>
        </p:txBody>
      </p:sp>
      <p:sp>
        <p:nvSpPr>
          <p:cNvPr id="7" name="intro-text-38">
            <a:extLst>
              <a:ext uri="{FF2B5EF4-FFF2-40B4-BE49-F238E27FC236}">
                <a16:creationId xmlns:a16="http://schemas.microsoft.com/office/drawing/2014/main" id="{F9FBFC7E-A5EB-49BF-BC87-47BF8941866C}"/>
              </a:ext>
            </a:extLst>
          </p:cNvPr>
          <p:cNvSpPr>
            <a:spLocks noGrp="1"/>
          </p:cNvSpPr>
          <p:nvPr/>
        </p:nvSpPr>
        <p:spPr>
          <a:xfrm>
            <a:off x="428625" y="3638550"/>
            <a:ext cx="3143250" cy="419100"/>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Used evidence</a:t>
            </a:r>
          </a:p>
        </p:txBody>
      </p:sp>
      <p:sp>
        <p:nvSpPr>
          <p:cNvPr id="8" name="intro-text-39">
            <a:extLst>
              <a:ext uri="{FF2B5EF4-FFF2-40B4-BE49-F238E27FC236}">
                <a16:creationId xmlns:a16="http://schemas.microsoft.com/office/drawing/2014/main" id="{3BBAE70C-2608-47DE-AAD4-4F408E307B95}"/>
              </a:ext>
            </a:extLst>
          </p:cNvPr>
          <p:cNvSpPr>
            <a:spLocks noGrp="1"/>
          </p:cNvSpPr>
          <p:nvPr/>
        </p:nvSpPr>
        <p:spPr>
          <a:xfrm>
            <a:off x="3905250" y="3638550"/>
            <a:ext cx="7810500" cy="6858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We made or revised a prediction.</a:t>
            </a:r>
          </a:p>
        </p:txBody>
      </p:sp>
      <p:sp>
        <p:nvSpPr>
          <p:cNvPr id="9" name="intro-text-40">
            <a:extLst>
              <a:ext uri="{FF2B5EF4-FFF2-40B4-BE49-F238E27FC236}">
                <a16:creationId xmlns:a16="http://schemas.microsoft.com/office/drawing/2014/main" id="{25D8197E-103C-4BE9-8F49-4BAF5E5F3F78}"/>
              </a:ext>
            </a:extLst>
          </p:cNvPr>
          <p:cNvSpPr>
            <a:spLocks noGrp="1"/>
          </p:cNvSpPr>
          <p:nvPr/>
        </p:nvSpPr>
        <p:spPr>
          <a:xfrm>
            <a:off x="428625" y="4429125"/>
            <a:ext cx="3143250" cy="419100"/>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Checked the result</a:t>
            </a:r>
          </a:p>
        </p:txBody>
      </p:sp>
      <p:sp>
        <p:nvSpPr>
          <p:cNvPr id="10" name="intro-text-41">
            <a:extLst>
              <a:ext uri="{FF2B5EF4-FFF2-40B4-BE49-F238E27FC236}">
                <a16:creationId xmlns:a16="http://schemas.microsoft.com/office/drawing/2014/main" id="{A8B8E7F0-C9C6-4EEB-8043-0586DFD2606D}"/>
              </a:ext>
            </a:extLst>
          </p:cNvPr>
          <p:cNvSpPr>
            <a:spLocks noGrp="1"/>
          </p:cNvSpPr>
          <p:nvPr/>
        </p:nvSpPr>
        <p:spPr>
          <a:xfrm>
            <a:off x="3905250" y="4429125"/>
            <a:ext cx="7810500" cy="6858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We counted the whole bag.</a:t>
            </a:r>
          </a:p>
        </p:txBody>
      </p:sp>
      <p:sp>
        <p:nvSpPr>
          <p:cNvPr id="11" name="intro-text-42">
            <a:extLst>
              <a:ext uri="{FF2B5EF4-FFF2-40B4-BE49-F238E27FC236}">
                <a16:creationId xmlns:a16="http://schemas.microsoft.com/office/drawing/2014/main" id="{8E65D8F7-60FA-40D3-84EC-0892847CF774}"/>
              </a:ext>
            </a:extLst>
          </p:cNvPr>
          <p:cNvSpPr>
            <a:spLocks noGrp="1"/>
          </p:cNvSpPr>
          <p:nvPr/>
        </p:nvSpPr>
        <p:spPr>
          <a:xfrm>
            <a:off x="428625" y="5467350"/>
            <a:ext cx="11296650" cy="7524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Statistics helps us learn from data when we cannot check everything.</a:t>
            </a:r>
          </a:p>
        </p:txBody>
      </p:sp>
    </p:spTree>
    <p:extLst>
      <p:ext uri="{BB962C8B-B14F-4D97-AF65-F5344CB8AC3E}">
        <p14:creationId xmlns:p14="http://schemas.microsoft.com/office/powerpoint/2010/main" val="241112805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024A-0AD1-354B-B714-AE0EEA2DD128}"/>
              </a:ext>
            </a:extLst>
          </p:cNvPr>
          <p:cNvSpPr>
            <a:spLocks noGrp="1"/>
          </p:cNvSpPr>
          <p:nvPr>
            <p:ph type="title"/>
          </p:nvPr>
        </p:nvSpPr>
        <p:spPr/>
        <p:txBody>
          <a:bodyPr/>
          <a:lstStyle/>
          <a:p>
            <a:r>
              <a:rPr lang="en-US" dirty="0"/>
              <a:t>Course Learning Curve</a:t>
            </a:r>
          </a:p>
        </p:txBody>
      </p:sp>
      <p:sp>
        <p:nvSpPr>
          <p:cNvPr id="3" name="Content Placeholder 2">
            <a:extLst>
              <a:ext uri="{FF2B5EF4-FFF2-40B4-BE49-F238E27FC236}">
                <a16:creationId xmlns:a16="http://schemas.microsoft.com/office/drawing/2014/main" id="{BE9E2E02-F28B-C226-BF5B-21D86897F5BB}"/>
              </a:ext>
            </a:extLst>
          </p:cNvPr>
          <p:cNvSpPr>
            <a:spLocks noGrp="1"/>
          </p:cNvSpPr>
          <p:nvPr>
            <p:ph idx="1"/>
          </p:nvPr>
        </p:nvSpPr>
        <p:spPr>
          <a:xfrm>
            <a:off x="430794" y="1952374"/>
            <a:ext cx="6279099" cy="4330731"/>
          </a:xfrm>
        </p:spPr>
        <p:txBody>
          <a:bodyPr/>
          <a:lstStyle/>
          <a:p>
            <a:r>
              <a:rPr lang="en-US" dirty="0"/>
              <a:t>Treat the first 3-5 weeks as a K12 revision </a:t>
            </a:r>
          </a:p>
          <a:p>
            <a:r>
              <a:rPr lang="en-US" dirty="0"/>
              <a:t>The course picks up in week 5 and gets significantly more difficult with every week </a:t>
            </a:r>
          </a:p>
        </p:txBody>
      </p:sp>
      <p:pic>
        <p:nvPicPr>
          <p:cNvPr id="4" name="Picture 3" descr="steep_learning_curve | Diagnostics">
            <a:extLst>
              <a:ext uri="{FF2B5EF4-FFF2-40B4-BE49-F238E27FC236}">
                <a16:creationId xmlns:a16="http://schemas.microsoft.com/office/drawing/2014/main" id="{02601523-A5E5-5F9B-1909-CC44666356D9}"/>
              </a:ext>
            </a:extLst>
          </p:cNvPr>
          <p:cNvPicPr>
            <a:picLocks noChangeAspect="1"/>
          </p:cNvPicPr>
          <p:nvPr/>
        </p:nvPicPr>
        <p:blipFill>
          <a:blip r:embed="rId2"/>
          <a:stretch>
            <a:fillRect/>
          </a:stretch>
        </p:blipFill>
        <p:spPr>
          <a:xfrm>
            <a:off x="7438085" y="283335"/>
            <a:ext cx="4191000" cy="6131619"/>
          </a:xfrm>
          <a:prstGeom prst="rect">
            <a:avLst/>
          </a:prstGeom>
        </p:spPr>
      </p:pic>
    </p:spTree>
    <p:extLst>
      <p:ext uri="{BB962C8B-B14F-4D97-AF65-F5344CB8AC3E}">
        <p14:creationId xmlns:p14="http://schemas.microsoft.com/office/powerpoint/2010/main" val="1124065519"/>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2F37F33-273F-2381-DCE3-B3418E029D80}"/>
              </a:ext>
            </a:extLst>
          </p:cNvPr>
          <p:cNvSpPr>
            <a:spLocks noGrp="1"/>
          </p:cNvSpPr>
          <p:nvPr>
            <p:ph idx="1"/>
          </p:nvPr>
        </p:nvSpPr>
        <p:spPr>
          <a:xfrm>
            <a:off x="300164" y="1253331"/>
            <a:ext cx="3604254" cy="4351338"/>
          </a:xfrm>
        </p:spPr>
        <p:txBody>
          <a:bodyPr/>
          <a:lstStyle/>
          <a:p>
            <a:r>
              <a:rPr lang="en-US" dirty="0"/>
              <a:t>A Folder (12 Sleeves)</a:t>
            </a:r>
          </a:p>
        </p:txBody>
      </p:sp>
      <p:sp>
        <p:nvSpPr>
          <p:cNvPr id="2" name="Title 1">
            <a:extLst>
              <a:ext uri="{FF2B5EF4-FFF2-40B4-BE49-F238E27FC236}">
                <a16:creationId xmlns:a16="http://schemas.microsoft.com/office/drawing/2014/main" id="{E4EBAFB5-9444-FA15-5D41-D0304B747F3A}"/>
              </a:ext>
            </a:extLst>
          </p:cNvPr>
          <p:cNvSpPr>
            <a:spLocks noGrp="1"/>
          </p:cNvSpPr>
          <p:nvPr>
            <p:ph type="title"/>
          </p:nvPr>
        </p:nvSpPr>
        <p:spPr>
          <a:xfrm>
            <a:off x="1138365" y="308669"/>
            <a:ext cx="11293444" cy="794395"/>
          </a:xfrm>
        </p:spPr>
        <p:txBody>
          <a:bodyPr/>
          <a:lstStyle/>
          <a:p>
            <a:r>
              <a:rPr lang="en-US" altLang="zh-CN" dirty="0"/>
              <a:t>What will you need? </a:t>
            </a:r>
            <a:endParaRPr lang="en-US" dirty="0"/>
          </a:p>
        </p:txBody>
      </p:sp>
      <p:sp>
        <p:nvSpPr>
          <p:cNvPr id="9" name="Content Placeholder 8">
            <a:extLst>
              <a:ext uri="{FF2B5EF4-FFF2-40B4-BE49-F238E27FC236}">
                <a16:creationId xmlns:a16="http://schemas.microsoft.com/office/drawing/2014/main" id="{FA4D02A5-3DA7-2D3D-4AE5-F8462A6D07B8}"/>
              </a:ext>
            </a:extLst>
          </p:cNvPr>
          <p:cNvSpPr>
            <a:spLocks noGrp="1"/>
          </p:cNvSpPr>
          <p:nvPr>
            <p:ph idx="10"/>
          </p:nvPr>
        </p:nvSpPr>
        <p:spPr>
          <a:xfrm>
            <a:off x="4293873" y="1253331"/>
            <a:ext cx="3604254" cy="5087598"/>
          </a:xfrm>
        </p:spPr>
        <p:txBody>
          <a:bodyPr>
            <a:normAutofit/>
          </a:bodyPr>
          <a:lstStyle/>
          <a:p>
            <a:pPr>
              <a:lnSpc>
                <a:spcPct val="100000"/>
              </a:lnSpc>
            </a:pPr>
            <a:r>
              <a:rPr lang="en-US" sz="2400" dirty="0"/>
              <a:t>Ruler</a:t>
            </a:r>
          </a:p>
          <a:p>
            <a:pPr>
              <a:lnSpc>
                <a:spcPct val="100000"/>
              </a:lnSpc>
            </a:pPr>
            <a:r>
              <a:rPr lang="en-US" sz="2400" dirty="0"/>
              <a:t>Protractor</a:t>
            </a:r>
          </a:p>
          <a:p>
            <a:pPr>
              <a:lnSpc>
                <a:spcPct val="100000"/>
              </a:lnSpc>
            </a:pPr>
            <a:r>
              <a:rPr lang="en-US" sz="2400" dirty="0"/>
              <a:t>Compass</a:t>
            </a:r>
          </a:p>
          <a:p>
            <a:pPr>
              <a:lnSpc>
                <a:spcPct val="100000"/>
              </a:lnSpc>
            </a:pPr>
            <a:r>
              <a:rPr lang="en-US" sz="2400" dirty="0"/>
              <a:t>Scientific Calculator</a:t>
            </a:r>
          </a:p>
        </p:txBody>
      </p:sp>
      <p:sp>
        <p:nvSpPr>
          <p:cNvPr id="10" name="Content Placeholder 9">
            <a:extLst>
              <a:ext uri="{FF2B5EF4-FFF2-40B4-BE49-F238E27FC236}">
                <a16:creationId xmlns:a16="http://schemas.microsoft.com/office/drawing/2014/main" id="{1B5D8FB0-FACF-FD88-EC12-53ECCB6785C2}"/>
              </a:ext>
            </a:extLst>
          </p:cNvPr>
          <p:cNvSpPr>
            <a:spLocks noGrp="1"/>
          </p:cNvSpPr>
          <p:nvPr>
            <p:ph idx="11"/>
          </p:nvPr>
        </p:nvSpPr>
        <p:spPr>
          <a:xfrm>
            <a:off x="8119985" y="1344386"/>
            <a:ext cx="3604253" cy="4986486"/>
          </a:xfrm>
        </p:spPr>
        <p:txBody>
          <a:bodyPr/>
          <a:lstStyle/>
          <a:p>
            <a:r>
              <a:rPr lang="en-US" dirty="0"/>
              <a:t>Computer </a:t>
            </a:r>
          </a:p>
          <a:p>
            <a:pPr marL="0" indent="0">
              <a:buNone/>
            </a:pPr>
            <a:r>
              <a:rPr lang="en-US" dirty="0"/>
              <a:t>Either Win or Mac </a:t>
            </a:r>
          </a:p>
          <a:p>
            <a:pPr marL="0" indent="0">
              <a:buNone/>
            </a:pPr>
            <a:r>
              <a:rPr lang="en-US" b="1" dirty="0">
                <a:solidFill>
                  <a:srgbClr val="FF0000"/>
                </a:solidFill>
              </a:rPr>
              <a:t>MUST</a:t>
            </a:r>
            <a:r>
              <a:rPr lang="en-US" dirty="0"/>
              <a:t> have MS Office (pref. an English ver.)  </a:t>
            </a:r>
          </a:p>
        </p:txBody>
      </p:sp>
      <p:pic>
        <p:nvPicPr>
          <p:cNvPr id="4" name="Picture 3" descr="Amazon.com : 4 Pack 7-Pocket Expanding File, Plastic Expandable File Folder  with Pockets, A4/Letter Size Accordion Organizer Folder, for School and  Office Supplies - Black&amp;Blue&amp;Pink&amp;Yellow : Office Products">
            <a:extLst>
              <a:ext uri="{FF2B5EF4-FFF2-40B4-BE49-F238E27FC236}">
                <a16:creationId xmlns:a16="http://schemas.microsoft.com/office/drawing/2014/main" id="{BAA55B61-C687-A64D-DCFB-2FF8EFF1A118}"/>
              </a:ext>
            </a:extLst>
          </p:cNvPr>
          <p:cNvPicPr>
            <a:picLocks noChangeAspect="1"/>
          </p:cNvPicPr>
          <p:nvPr/>
        </p:nvPicPr>
        <p:blipFill>
          <a:blip r:embed="rId2"/>
          <a:stretch>
            <a:fillRect/>
          </a:stretch>
        </p:blipFill>
        <p:spPr>
          <a:xfrm>
            <a:off x="62218" y="1762352"/>
            <a:ext cx="2899068" cy="2234293"/>
          </a:xfrm>
          <a:prstGeom prst="rect">
            <a:avLst/>
          </a:prstGeom>
        </p:spPr>
      </p:pic>
      <p:pic>
        <p:nvPicPr>
          <p:cNvPr id="7" name="Picture 6">
            <a:extLst>
              <a:ext uri="{FF2B5EF4-FFF2-40B4-BE49-F238E27FC236}">
                <a16:creationId xmlns:a16="http://schemas.microsoft.com/office/drawing/2014/main" id="{7440FF28-8C9A-F212-9AE5-00A76A9F5D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135" y="3515292"/>
            <a:ext cx="2811235" cy="3254829"/>
          </a:xfrm>
          <a:prstGeom prst="rect">
            <a:avLst/>
          </a:prstGeom>
        </p:spPr>
      </p:pic>
      <p:pic>
        <p:nvPicPr>
          <p:cNvPr id="11" name="Picture 10" descr="12 Inch Professional Large Woodworking Compass 6 Inch Protractor 12 In Ruler  | eBay">
            <a:extLst>
              <a:ext uri="{FF2B5EF4-FFF2-40B4-BE49-F238E27FC236}">
                <a16:creationId xmlns:a16="http://schemas.microsoft.com/office/drawing/2014/main" id="{D19FE698-DF89-9CE7-A733-09D7C533B2AD}"/>
              </a:ext>
            </a:extLst>
          </p:cNvPr>
          <p:cNvPicPr>
            <a:picLocks noChangeAspect="1"/>
          </p:cNvPicPr>
          <p:nvPr/>
        </p:nvPicPr>
        <p:blipFill>
          <a:blip r:embed="rId4"/>
          <a:stretch>
            <a:fillRect/>
          </a:stretch>
        </p:blipFill>
        <p:spPr>
          <a:xfrm>
            <a:off x="3611625" y="3676650"/>
            <a:ext cx="2664279" cy="2664279"/>
          </a:xfrm>
          <a:prstGeom prst="rect">
            <a:avLst/>
          </a:prstGeom>
        </p:spPr>
      </p:pic>
      <p:pic>
        <p:nvPicPr>
          <p:cNvPr id="12" name="Picture 11" descr="Casio FX-82ES Plus 2nd Edition - Non-Programmable Scientific Calculator,  252 Functions, Black : Amazon.com.au: Health, Household &amp; Personal Care">
            <a:extLst>
              <a:ext uri="{FF2B5EF4-FFF2-40B4-BE49-F238E27FC236}">
                <a16:creationId xmlns:a16="http://schemas.microsoft.com/office/drawing/2014/main" id="{0953BCA7-3786-314B-A106-C996738CFF60}"/>
              </a:ext>
            </a:extLst>
          </p:cNvPr>
          <p:cNvPicPr>
            <a:picLocks noChangeAspect="1"/>
          </p:cNvPicPr>
          <p:nvPr/>
        </p:nvPicPr>
        <p:blipFill>
          <a:blip r:embed="rId5"/>
          <a:stretch>
            <a:fillRect/>
          </a:stretch>
        </p:blipFill>
        <p:spPr>
          <a:xfrm>
            <a:off x="6118602" y="3142917"/>
            <a:ext cx="1779525" cy="3715083"/>
          </a:xfrm>
          <a:prstGeom prst="rect">
            <a:avLst/>
          </a:prstGeom>
        </p:spPr>
      </p:pic>
      <p:pic>
        <p:nvPicPr>
          <p:cNvPr id="13" name="Picture 12" descr="What Is Excel? A Beginner's Overview | Deskbright">
            <a:extLst>
              <a:ext uri="{FF2B5EF4-FFF2-40B4-BE49-F238E27FC236}">
                <a16:creationId xmlns:a16="http://schemas.microsoft.com/office/drawing/2014/main" id="{F60A6D90-CE4D-4BD1-0CA4-8A01E85A83A0}"/>
              </a:ext>
            </a:extLst>
          </p:cNvPr>
          <p:cNvPicPr>
            <a:picLocks noChangeAspect="1"/>
          </p:cNvPicPr>
          <p:nvPr/>
        </p:nvPicPr>
        <p:blipFill>
          <a:blip r:embed="rId6"/>
          <a:stretch>
            <a:fillRect/>
          </a:stretch>
        </p:blipFill>
        <p:spPr>
          <a:xfrm>
            <a:off x="8528166" y="3797130"/>
            <a:ext cx="3196072" cy="2214562"/>
          </a:xfrm>
          <a:prstGeom prst="rect">
            <a:avLst/>
          </a:prstGeom>
        </p:spPr>
      </p:pic>
    </p:spTree>
    <p:extLst>
      <p:ext uri="{BB962C8B-B14F-4D97-AF65-F5344CB8AC3E}">
        <p14:creationId xmlns:p14="http://schemas.microsoft.com/office/powerpoint/2010/main" val="1293510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FC3C-67FB-B165-3C59-7A316881487C}"/>
              </a:ext>
            </a:extLst>
          </p:cNvPr>
          <p:cNvSpPr>
            <a:spLocks noGrp="1"/>
          </p:cNvSpPr>
          <p:nvPr>
            <p:ph type="ctrTitle"/>
          </p:nvPr>
        </p:nvSpPr>
        <p:spPr>
          <a:xfrm>
            <a:off x="356101" y="2154457"/>
            <a:ext cx="5739899" cy="3488697"/>
          </a:xfrm>
        </p:spPr>
        <p:txBody>
          <a:bodyPr lIns="0" tIns="0" rIns="0" bIns="0">
            <a:noAutofit/>
          </a:bodyPr>
          <a:lstStyle/>
          <a:p>
            <a:pPr>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Assessment</a:t>
            </a:r>
          </a:p>
          <a:p>
            <a:pPr>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Practice and</a:t>
            </a:r>
          </a:p>
          <a:p>
            <a:pPr>
              <a:buNone/>
              <a:defRPr sz="5400">
                <a:solidFill>
                  <a:srgbClr val="FFFFFF"/>
                </a:solidFill>
                <a:latin typeface="Aptos Display"/>
                <a:ea typeface="Aptos Display"/>
                <a:cs typeface="Aptos Display"/>
              </a:defRPr>
            </a:pPr>
            <a:r>
              <a:rPr sz="5400">
                <a:solidFill>
                  <a:srgbClr val="FFFFFF"/>
                </a:solidFill>
                <a:latin typeface="Aptos Display"/>
                <a:ea typeface="Aptos Display"/>
                <a:cs typeface="Aptos Display"/>
              </a:rPr>
              <a:t>final marks</a:t>
            </a:r>
          </a:p>
        </p:txBody>
      </p:sp>
    </p:spTree>
    <p:extLst>
      <p:ext uri="{BB962C8B-B14F-4D97-AF65-F5344CB8AC3E}">
        <p14:creationId xmlns:p14="http://schemas.microsoft.com/office/powerpoint/2010/main" val="165022849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t">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Formative and summative assessment</a:t>
            </a:r>
          </a:p>
        </p:txBody>
      </p:sp>
      <p:graphicFrame>
        <p:nvGraphicFramePr>
          <p:cNvPr id="6" name="Table 5"/>
          <p:cNvGraphicFramePr/>
          <p:nvPr>
            <p:extLst>
              <p:ext uri="{D42A27DB-BD31-4B8C-83A1-F6EECF244321}">
                <p14:modId xmlns:p14="http://schemas.microsoft.com/office/powerpoint/2010/main" val="2864776384"/>
              </p:ext>
            </p:extLst>
          </p:nvPr>
        </p:nvGraphicFramePr>
        <p:xfrm>
          <a:off x="428625" y="2009775"/>
          <a:ext cx="11296650" cy="3840480"/>
        </p:xfrm>
        <a:graphic>
          <a:graphicData uri="http://schemas.openxmlformats.org/drawingml/2006/table">
            <a:tbl>
              <a:tblPr firstRow="1"/>
              <a:tblGrid>
                <a:gridCol w="215265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4762500">
                  <a:extLst>
                    <a:ext uri="{9D8B030D-6E8A-4147-A177-3AD203B41FA5}">
                      <a16:colId xmlns:a16="http://schemas.microsoft.com/office/drawing/2014/main" val="20002"/>
                    </a:ext>
                  </a:extLst>
                </a:gridCol>
              </a:tblGrid>
              <a:tr h="561975">
                <a:tc>
                  <a:txBody>
                    <a:bodyPr/>
                    <a:lstStyle/>
                    <a:p>
                      <a:endParaRPr/>
                    </a:p>
                  </a:txBody>
                  <a:tcPr marL="123825" marR="114300" marT="76200" marB="76200" anchor="ctr">
                    <a:solidFill>
                      <a:srgbClr val="D6171D"/>
                    </a:solidFill>
                  </a:tcPr>
                </a:tc>
                <a:tc>
                  <a:txBody>
                    <a:bodyPr/>
                    <a:lstStyle/>
                    <a:p>
                      <a:pPr algn="l"/>
                      <a:r>
                        <a:rPr sz="2025" b="1">
                          <a:solidFill>
                            <a:srgbClr val="FFFFFF"/>
                          </a:solidFill>
                          <a:latin typeface="Aptos"/>
                          <a:ea typeface="Aptos"/>
                          <a:cs typeface="Aptos"/>
                        </a:rPr>
                        <a:t>Formative</a:t>
                      </a:r>
                    </a:p>
                  </a:txBody>
                  <a:tcPr marL="123825" marR="114300" marT="76200" marB="76200" anchor="ctr">
                    <a:solidFill>
                      <a:srgbClr val="D6171D"/>
                    </a:solidFill>
                  </a:tcPr>
                </a:tc>
                <a:tc>
                  <a:txBody>
                    <a:bodyPr/>
                    <a:lstStyle/>
                    <a:p>
                      <a:pPr algn="l"/>
                      <a:r>
                        <a:rPr sz="2025" b="1">
                          <a:solidFill>
                            <a:srgbClr val="FFFFFF"/>
                          </a:solidFill>
                          <a:latin typeface="Aptos"/>
                          <a:ea typeface="Aptos"/>
                          <a:cs typeface="Aptos"/>
                        </a:rPr>
                        <a:t>Summative</a:t>
                      </a:r>
                    </a:p>
                  </a:txBody>
                  <a:tcPr marL="123825" marR="114300" marT="76200" marB="76200" anchor="ctr">
                    <a:solidFill>
                      <a:srgbClr val="D6171D"/>
                    </a:solidFill>
                  </a:tcPr>
                </a:tc>
                <a:extLst>
                  <a:ext uri="{0D108BD9-81ED-4DB2-BD59-A6C34878D82A}">
                    <a16:rowId xmlns:a16="http://schemas.microsoft.com/office/drawing/2014/main" val="10000"/>
                  </a:ext>
                </a:extLst>
              </a:tr>
              <a:tr h="685800">
                <a:tc>
                  <a:txBody>
                    <a:bodyPr/>
                    <a:lstStyle/>
                    <a:p>
                      <a:pPr algn="l"/>
                      <a:r>
                        <a:rPr sz="2025" b="0">
                          <a:solidFill>
                            <a:srgbClr val="111111"/>
                          </a:solidFill>
                          <a:latin typeface="Aptos"/>
                          <a:ea typeface="Aptos"/>
                          <a:cs typeface="Aptos"/>
                        </a:rPr>
                        <a:t>Purpose</a:t>
                      </a:r>
                    </a:p>
                  </a:txBody>
                  <a:tcPr marL="123825" marR="114300" marT="76200" marB="76200" anchor="ctr">
                    <a:solidFill>
                      <a:srgbClr val="FFFFFF"/>
                    </a:solidFill>
                  </a:tcPr>
                </a:tc>
                <a:tc>
                  <a:txBody>
                    <a:bodyPr/>
                    <a:lstStyle/>
                    <a:p>
                      <a:pPr algn="l"/>
                      <a:r>
                        <a:rPr sz="2025" b="0">
                          <a:solidFill>
                            <a:srgbClr val="111111"/>
                          </a:solidFill>
                          <a:latin typeface="Aptos"/>
                          <a:ea typeface="Aptos"/>
                          <a:cs typeface="Aptos"/>
                        </a:rPr>
                        <a:t>Practise and improve.</a:t>
                      </a:r>
                    </a:p>
                  </a:txBody>
                  <a:tcPr marL="123825" marR="114300" marT="76200" marB="76200" anchor="ctr">
                    <a:solidFill>
                      <a:srgbClr val="FFFFFF"/>
                    </a:solidFill>
                  </a:tcPr>
                </a:tc>
                <a:tc>
                  <a:txBody>
                    <a:bodyPr/>
                    <a:lstStyle/>
                    <a:p>
                      <a:pPr algn="l"/>
                      <a:r>
                        <a:rPr sz="2025" b="0">
                          <a:solidFill>
                            <a:srgbClr val="111111"/>
                          </a:solidFill>
                          <a:latin typeface="Aptos"/>
                          <a:ea typeface="Aptos"/>
                          <a:cs typeface="Aptos"/>
                        </a:rPr>
                        <a:t>Show what you have learned.</a:t>
                      </a:r>
                    </a:p>
                  </a:txBody>
                  <a:tcPr marL="123825" marR="114300" marT="76200" marB="76200" anchor="ctr">
                    <a:solidFill>
                      <a:srgbClr val="FFFFFF"/>
                    </a:solidFill>
                  </a:tcPr>
                </a:tc>
                <a:extLst>
                  <a:ext uri="{0D108BD9-81ED-4DB2-BD59-A6C34878D82A}">
                    <a16:rowId xmlns:a16="http://schemas.microsoft.com/office/drawing/2014/main" val="10001"/>
                  </a:ext>
                </a:extLst>
              </a:tr>
              <a:tr h="619125">
                <a:tc>
                  <a:txBody>
                    <a:bodyPr/>
                    <a:lstStyle/>
                    <a:p>
                      <a:pPr algn="l"/>
                      <a:r>
                        <a:rPr sz="2025" b="0">
                          <a:solidFill>
                            <a:srgbClr val="111111"/>
                          </a:solidFill>
                          <a:latin typeface="Aptos"/>
                          <a:ea typeface="Aptos"/>
                          <a:cs typeface="Aptos"/>
                        </a:rPr>
                        <a:t>Final mark</a:t>
                      </a:r>
                    </a:p>
                  </a:txBody>
                  <a:tcPr marL="123825" marR="114300" marT="76200" marB="76200" anchor="ctr">
                    <a:solidFill>
                      <a:srgbClr val="EEF8FF"/>
                    </a:solidFill>
                  </a:tcPr>
                </a:tc>
                <a:tc>
                  <a:txBody>
                    <a:bodyPr/>
                    <a:lstStyle/>
                    <a:p>
                      <a:pPr algn="l"/>
                      <a:r>
                        <a:rPr sz="2025" b="0" dirty="0">
                          <a:solidFill>
                            <a:srgbClr val="111111"/>
                          </a:solidFill>
                          <a:latin typeface="Aptos"/>
                          <a:ea typeface="Aptos"/>
                          <a:cs typeface="Aptos"/>
                        </a:rPr>
                        <a:t>0%</a:t>
                      </a:r>
                      <a:r>
                        <a:rPr lang="en-US" sz="2025" b="0" dirty="0">
                          <a:solidFill>
                            <a:srgbClr val="111111"/>
                          </a:solidFill>
                          <a:latin typeface="Aptos"/>
                          <a:ea typeface="Aptos"/>
                          <a:cs typeface="Aptos"/>
                        </a:rPr>
                        <a:t> (Does not count to Final Mark)</a:t>
                      </a:r>
                      <a:endParaRPr sz="2025" b="0" dirty="0">
                        <a:solidFill>
                          <a:srgbClr val="111111"/>
                        </a:solidFill>
                        <a:latin typeface="Aptos"/>
                        <a:ea typeface="Aptos"/>
                        <a:cs typeface="Aptos"/>
                      </a:endParaRPr>
                    </a:p>
                  </a:txBody>
                  <a:tcPr marL="123825" marR="114300" marT="76200" marB="76200" anchor="ctr">
                    <a:solidFill>
                      <a:srgbClr val="EEF8FF"/>
                    </a:solidFill>
                  </a:tcPr>
                </a:tc>
                <a:tc>
                  <a:txBody>
                    <a:bodyPr/>
                    <a:lstStyle/>
                    <a:p>
                      <a:pPr algn="l"/>
                      <a:r>
                        <a:rPr sz="2025" b="0" dirty="0">
                          <a:solidFill>
                            <a:srgbClr val="111111"/>
                          </a:solidFill>
                          <a:latin typeface="Aptos"/>
                          <a:ea typeface="Aptos"/>
                          <a:cs typeface="Aptos"/>
                        </a:rPr>
                        <a:t>Counts towards your final mark.</a:t>
                      </a:r>
                    </a:p>
                  </a:txBody>
                  <a:tcPr marL="123825" marR="114300" marT="76200" marB="76200" anchor="ctr">
                    <a:solidFill>
                      <a:srgbClr val="EEF8FF"/>
                    </a:solidFill>
                  </a:tcPr>
                </a:tc>
                <a:extLst>
                  <a:ext uri="{0D108BD9-81ED-4DB2-BD59-A6C34878D82A}">
                    <a16:rowId xmlns:a16="http://schemas.microsoft.com/office/drawing/2014/main" val="10002"/>
                  </a:ext>
                </a:extLst>
              </a:tr>
              <a:tr h="904331">
                <a:tc>
                  <a:txBody>
                    <a:bodyPr/>
                    <a:lstStyle/>
                    <a:p>
                      <a:pPr algn="l"/>
                      <a:r>
                        <a:rPr sz="2025" b="0">
                          <a:solidFill>
                            <a:srgbClr val="111111"/>
                          </a:solidFill>
                          <a:latin typeface="Aptos"/>
                          <a:ea typeface="Aptos"/>
                          <a:cs typeface="Aptos"/>
                        </a:rPr>
                        <a:t>Examples</a:t>
                      </a:r>
                    </a:p>
                  </a:txBody>
                  <a:tcPr marL="123825" marR="114300" marT="76200" marB="76200" anchor="ctr">
                    <a:solidFill>
                      <a:srgbClr val="FFFFFF"/>
                    </a:solidFill>
                  </a:tcPr>
                </a:tc>
                <a:tc>
                  <a:txBody>
                    <a:bodyPr/>
                    <a:lstStyle/>
                    <a:p>
                      <a:pPr algn="l"/>
                      <a:r>
                        <a:rPr sz="2025" b="0" dirty="0">
                          <a:solidFill>
                            <a:srgbClr val="111111"/>
                          </a:solidFill>
                          <a:latin typeface="Aptos"/>
                          <a:ea typeface="Aptos"/>
                          <a:cs typeface="Aptos"/>
                        </a:rPr>
                        <a:t>Quizzes, short tests,</a:t>
                      </a:r>
                    </a:p>
                    <a:p>
                      <a:pPr algn="l"/>
                      <a:r>
                        <a:rPr sz="2025" b="0" dirty="0">
                          <a:solidFill>
                            <a:srgbClr val="111111"/>
                          </a:solidFill>
                          <a:latin typeface="Aptos"/>
                          <a:ea typeface="Aptos"/>
                          <a:cs typeface="Aptos"/>
                        </a:rPr>
                        <a:t>drafts and mocks</a:t>
                      </a:r>
                    </a:p>
                  </a:txBody>
                  <a:tcPr marL="123825" marR="114300" marT="76200" marB="76200" anchor="ctr">
                    <a:solidFill>
                      <a:srgbClr val="FFFFFF"/>
                    </a:solidFill>
                  </a:tcPr>
                </a:tc>
                <a:tc>
                  <a:txBody>
                    <a:bodyPr/>
                    <a:lstStyle/>
                    <a:p>
                      <a:pPr algn="l"/>
                      <a:r>
                        <a:rPr lang="en-US" sz="2025" b="1" dirty="0">
                          <a:solidFill>
                            <a:srgbClr val="111111"/>
                          </a:solidFill>
                          <a:latin typeface="Aptos"/>
                          <a:ea typeface="Aptos"/>
                          <a:cs typeface="Aptos"/>
                        </a:rPr>
                        <a:t>Semester 1</a:t>
                      </a:r>
                      <a:r>
                        <a:rPr lang="en-US" sz="2025" b="0" dirty="0">
                          <a:solidFill>
                            <a:srgbClr val="111111"/>
                          </a:solidFill>
                          <a:latin typeface="Aptos"/>
                          <a:ea typeface="Aptos"/>
                          <a:cs typeface="Aptos"/>
                        </a:rPr>
                        <a:t>: Final </a:t>
                      </a:r>
                      <a:r>
                        <a:rPr sz="2025" b="0" dirty="0">
                          <a:solidFill>
                            <a:srgbClr val="111111"/>
                          </a:solidFill>
                          <a:latin typeface="Aptos"/>
                          <a:ea typeface="Aptos"/>
                          <a:cs typeface="Aptos"/>
                        </a:rPr>
                        <a:t>Exam </a:t>
                      </a:r>
                      <a:endParaRPr lang="en-US" sz="2025" b="0" dirty="0">
                        <a:solidFill>
                          <a:srgbClr val="111111"/>
                        </a:solidFill>
                        <a:latin typeface="Aptos"/>
                        <a:ea typeface="Aptos"/>
                        <a:cs typeface="Aptos"/>
                      </a:endParaRPr>
                    </a:p>
                    <a:p>
                      <a:pPr algn="l"/>
                      <a:r>
                        <a:rPr lang="en-US" sz="2025" b="1" dirty="0">
                          <a:solidFill>
                            <a:srgbClr val="111111"/>
                          </a:solidFill>
                          <a:latin typeface="Aptos"/>
                          <a:ea typeface="Aptos"/>
                          <a:cs typeface="Aptos"/>
                        </a:rPr>
                        <a:t>Semester 2</a:t>
                      </a:r>
                      <a:r>
                        <a:rPr lang="en-US" sz="2025" b="0" dirty="0">
                          <a:solidFill>
                            <a:srgbClr val="111111"/>
                          </a:solidFill>
                          <a:latin typeface="Aptos"/>
                          <a:ea typeface="Aptos"/>
                          <a:cs typeface="Aptos"/>
                        </a:rPr>
                        <a:t>: </a:t>
                      </a:r>
                      <a:r>
                        <a:rPr sz="2025" b="0" dirty="0">
                          <a:solidFill>
                            <a:srgbClr val="111111"/>
                          </a:solidFill>
                          <a:latin typeface="Aptos"/>
                          <a:ea typeface="Aptos"/>
                          <a:cs typeface="Aptos"/>
                        </a:rPr>
                        <a:t>group presentation/vlog,</a:t>
                      </a:r>
                    </a:p>
                    <a:p>
                      <a:pPr algn="l"/>
                      <a:r>
                        <a:rPr sz="2025" b="0" dirty="0">
                          <a:solidFill>
                            <a:srgbClr val="111111"/>
                          </a:solidFill>
                          <a:latin typeface="Aptos"/>
                          <a:ea typeface="Aptos"/>
                          <a:cs typeface="Aptos"/>
                        </a:rPr>
                        <a:t>individual portfolio/blog</a:t>
                      </a:r>
                    </a:p>
                  </a:txBody>
                  <a:tcPr marL="123825" marR="114300" marT="76200" marB="76200" anchor="ctr">
                    <a:solidFill>
                      <a:srgbClr val="FFFFFF"/>
                    </a:solidFill>
                  </a:tcPr>
                </a:tc>
                <a:extLst>
                  <a:ext uri="{0D108BD9-81ED-4DB2-BD59-A6C34878D82A}">
                    <a16:rowId xmlns:a16="http://schemas.microsoft.com/office/drawing/2014/main" val="10003"/>
                  </a:ext>
                </a:extLst>
              </a:tr>
              <a:tr h="895350">
                <a:tc>
                  <a:txBody>
                    <a:bodyPr/>
                    <a:lstStyle/>
                    <a:p>
                      <a:pPr algn="l"/>
                      <a:r>
                        <a:rPr sz="2025" b="0">
                          <a:solidFill>
                            <a:srgbClr val="111111"/>
                          </a:solidFill>
                          <a:latin typeface="Aptos"/>
                          <a:ea typeface="Aptos"/>
                          <a:cs typeface="Aptos"/>
                        </a:rPr>
                        <a:t>Feedback</a:t>
                      </a:r>
                    </a:p>
                  </a:txBody>
                  <a:tcPr marL="123825" marR="114300" marT="76200" marB="76200" anchor="ctr">
                    <a:solidFill>
                      <a:srgbClr val="EEF8FF"/>
                    </a:solidFill>
                  </a:tcPr>
                </a:tc>
                <a:tc>
                  <a:txBody>
                    <a:bodyPr/>
                    <a:lstStyle/>
                    <a:p>
                      <a:pPr algn="l"/>
                      <a:r>
                        <a:rPr sz="2025" b="0">
                          <a:solidFill>
                            <a:srgbClr val="111111"/>
                          </a:solidFill>
                          <a:latin typeface="Aptos"/>
                          <a:ea typeface="Aptos"/>
                          <a:cs typeface="Aptos"/>
                        </a:rPr>
                        <a:t>Use it to correct mistakes</a:t>
                      </a:r>
                    </a:p>
                    <a:p>
                      <a:pPr algn="l"/>
                      <a:r>
                        <a:rPr sz="2025" b="0">
                          <a:solidFill>
                            <a:srgbClr val="111111"/>
                          </a:solidFill>
                          <a:latin typeface="Aptos"/>
                          <a:ea typeface="Aptos"/>
                          <a:cs typeface="Aptos"/>
                        </a:rPr>
                        <a:t>and improve your next attempt.</a:t>
                      </a:r>
                    </a:p>
                  </a:txBody>
                  <a:tcPr marL="123825" marR="114300" marT="76200" marB="76200" anchor="ctr">
                    <a:solidFill>
                      <a:srgbClr val="EEF8FF"/>
                    </a:solidFill>
                  </a:tcPr>
                </a:tc>
                <a:tc>
                  <a:txBody>
                    <a:bodyPr/>
                    <a:lstStyle/>
                    <a:p>
                      <a:pPr algn="l"/>
                      <a:r>
                        <a:rPr sz="2025" b="0" dirty="0">
                          <a:solidFill>
                            <a:srgbClr val="111111"/>
                          </a:solidFill>
                          <a:latin typeface="Aptos"/>
                          <a:ea typeface="Aptos"/>
                          <a:cs typeface="Aptos"/>
                        </a:rPr>
                        <a:t>Receive a result against</a:t>
                      </a:r>
                    </a:p>
                    <a:p>
                      <a:pPr algn="l"/>
                      <a:r>
                        <a:rPr sz="2025" b="0" dirty="0">
                          <a:solidFill>
                            <a:srgbClr val="111111"/>
                          </a:solidFill>
                          <a:latin typeface="Aptos"/>
                          <a:ea typeface="Aptos"/>
                          <a:cs typeface="Aptos"/>
                        </a:rPr>
                        <a:t>the assessment criteria.</a:t>
                      </a:r>
                    </a:p>
                  </a:txBody>
                  <a:tcPr marL="123825" marR="114300" marT="76200" marB="76200" anchor="ctr">
                    <a:solidFill>
                      <a:srgbClr val="EEF8FF"/>
                    </a:solidFill>
                  </a:tcPr>
                </a:tc>
                <a:extLst>
                  <a:ext uri="{0D108BD9-81ED-4DB2-BD59-A6C34878D82A}">
                    <a16:rowId xmlns:a16="http://schemas.microsoft.com/office/drawing/2014/main" val="10004"/>
                  </a:ext>
                </a:extLst>
              </a:tr>
            </a:tbl>
          </a:graphicData>
        </a:graphic>
      </p:graphicFrame>
      <p:sp>
        <p:nvSpPr>
          <p:cNvPr id="4" name="assessment-1">
            <a:extLst>
              <a:ext uri="{FF2B5EF4-FFF2-40B4-BE49-F238E27FC236}">
                <a16:creationId xmlns:a16="http://schemas.microsoft.com/office/drawing/2014/main" id="{CC176DD2-6571-4166-85A0-9984048F3DBE}"/>
              </a:ext>
            </a:extLst>
          </p:cNvPr>
          <p:cNvSpPr>
            <a:spLocks noGrp="1"/>
          </p:cNvSpPr>
          <p:nvPr/>
        </p:nvSpPr>
        <p:spPr>
          <a:xfrm>
            <a:off x="428625" y="5876925"/>
            <a:ext cx="11296650" cy="400050"/>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Draft feedback is formative. The final portfolio counts towards your mark.</a:t>
            </a:r>
          </a:p>
        </p:txBody>
      </p:sp>
    </p:spTree>
    <p:extLst>
      <p:ext uri="{BB962C8B-B14F-4D97-AF65-F5344CB8AC3E}">
        <p14:creationId xmlns:p14="http://schemas.microsoft.com/office/powerpoint/2010/main" val="109660553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t">
            <a:noAutofit/>
          </a:bodyPr>
          <a:lstStyle/>
          <a:p>
            <a:pPr algn="l">
              <a:lnSpc>
                <a:spcPct val="90000"/>
              </a:lnSpc>
              <a:buNone/>
              <a:defRPr sz="4400" b="0">
                <a:solidFill>
                  <a:srgbClr val="111111"/>
                </a:solidFill>
                <a:latin typeface="Aptos Display"/>
                <a:ea typeface="Aptos Display"/>
                <a:cs typeface="Aptos Display"/>
              </a:defRPr>
            </a:pPr>
            <a:r>
              <a:rPr sz="4400" b="0" dirty="0">
                <a:solidFill>
                  <a:srgbClr val="111111"/>
                </a:solidFill>
                <a:latin typeface="Aptos Display"/>
                <a:ea typeface="Aptos Display"/>
                <a:cs typeface="Aptos Display"/>
              </a:rPr>
              <a:t>Semester 1: assessment weeks</a:t>
            </a:r>
          </a:p>
        </p:txBody>
      </p:sp>
      <p:sp>
        <p:nvSpPr>
          <p:cNvPr id="3" name="assessment-2">
            <a:extLst>
              <a:ext uri="{FF2B5EF4-FFF2-40B4-BE49-F238E27FC236}">
                <a16:creationId xmlns:a16="http://schemas.microsoft.com/office/drawing/2014/main" id="{F6E7C33B-8955-4DF9-A2BF-F146BCB1B6AF}"/>
              </a:ext>
            </a:extLst>
          </p:cNvPr>
          <p:cNvSpPr>
            <a:spLocks noGrp="1"/>
          </p:cNvSpPr>
          <p:nvPr/>
        </p:nvSpPr>
        <p:spPr>
          <a:xfrm>
            <a:off x="447675" y="1560290"/>
            <a:ext cx="11296650" cy="361950"/>
          </a:xfrm>
          <a:prstGeom prst="rect">
            <a:avLst/>
          </a:prstGeom>
          <a:noFill/>
          <a:ln w="0">
            <a:noFill/>
          </a:ln>
        </p:spPr>
        <p:txBody>
          <a:bodyPr wrap="square" lIns="0" tIns="0" rIns="0" bIns="0" anchor="t">
            <a:noAutofit/>
          </a:bodyPr>
          <a:lstStyle/>
          <a:p>
            <a:pPr algn="l">
              <a:defRPr sz="1950" b="0">
                <a:solidFill>
                  <a:srgbClr val="111111"/>
                </a:solidFill>
                <a:latin typeface="Aptos"/>
                <a:ea typeface="Aptos"/>
                <a:cs typeface="Aptos"/>
              </a:defRPr>
            </a:pPr>
            <a:r>
              <a:rPr sz="1950" b="0" dirty="0">
                <a:solidFill>
                  <a:srgbClr val="111111"/>
                </a:solidFill>
                <a:latin typeface="Aptos"/>
                <a:ea typeface="Aptos"/>
                <a:cs typeface="Aptos"/>
              </a:rPr>
              <a:t>Semester 1 weeks. These formative checks take place in Class C.</a:t>
            </a:r>
          </a:p>
        </p:txBody>
      </p:sp>
      <p:graphicFrame>
        <p:nvGraphicFramePr>
          <p:cNvPr id="9" name="Table 8"/>
          <p:cNvGraphicFramePr/>
          <p:nvPr>
            <p:extLst>
              <p:ext uri="{D42A27DB-BD31-4B8C-83A1-F6EECF244321}">
                <p14:modId xmlns:p14="http://schemas.microsoft.com/office/powerpoint/2010/main" val="1841310572"/>
              </p:ext>
            </p:extLst>
          </p:nvPr>
        </p:nvGraphicFramePr>
        <p:xfrm>
          <a:off x="427578" y="1905000"/>
          <a:ext cx="11296650" cy="3676650"/>
        </p:xfrm>
        <a:graphic>
          <a:graphicData uri="http://schemas.openxmlformats.org/drawingml/2006/table">
            <a:tbl>
              <a:tblPr firstRow="1"/>
              <a:tblGrid>
                <a:gridCol w="43053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4895850">
                  <a:extLst>
                    <a:ext uri="{9D8B030D-6E8A-4147-A177-3AD203B41FA5}">
                      <a16:colId xmlns:a16="http://schemas.microsoft.com/office/drawing/2014/main" val="20002"/>
                    </a:ext>
                  </a:extLst>
                </a:gridCol>
              </a:tblGrid>
              <a:tr h="533400">
                <a:tc>
                  <a:txBody>
                    <a:bodyPr/>
                    <a:lstStyle/>
                    <a:p>
                      <a:pPr algn="l"/>
                      <a:r>
                        <a:rPr lang="en-US" sz="2025" b="1" dirty="0">
                          <a:solidFill>
                            <a:srgbClr val="FFFFFF"/>
                          </a:solidFill>
                          <a:latin typeface="Aptos"/>
                          <a:ea typeface="Aptos"/>
                          <a:cs typeface="Aptos"/>
                        </a:rPr>
                        <a:t>A</a:t>
                      </a:r>
                      <a:r>
                        <a:rPr sz="2025" b="1" dirty="0">
                          <a:solidFill>
                            <a:srgbClr val="FFFFFF"/>
                          </a:solidFill>
                          <a:latin typeface="Aptos"/>
                          <a:ea typeface="Aptos"/>
                          <a:cs typeface="Aptos"/>
                        </a:rPr>
                        <a:t>ssessment</a:t>
                      </a:r>
                    </a:p>
                  </a:txBody>
                  <a:tcPr marL="123825" marR="114300" marT="76200" marB="76200" anchor="ctr">
                    <a:solidFill>
                      <a:srgbClr val="D6171D"/>
                    </a:solidFill>
                  </a:tcPr>
                </a:tc>
                <a:tc>
                  <a:txBody>
                    <a:bodyPr/>
                    <a:lstStyle/>
                    <a:p>
                      <a:pPr algn="l"/>
                      <a:r>
                        <a:rPr sz="2025" b="1">
                          <a:solidFill>
                            <a:srgbClr val="FFFFFF"/>
                          </a:solidFill>
                          <a:latin typeface="Aptos"/>
                          <a:ea typeface="Aptos"/>
                          <a:cs typeface="Aptos"/>
                        </a:rPr>
                        <a:t>Announced</a:t>
                      </a:r>
                    </a:p>
                  </a:txBody>
                  <a:tcPr marL="123825" marR="114300" marT="76200" marB="76200" anchor="ctr">
                    <a:solidFill>
                      <a:srgbClr val="D6171D"/>
                    </a:solidFill>
                  </a:tcPr>
                </a:tc>
                <a:tc>
                  <a:txBody>
                    <a:bodyPr/>
                    <a:lstStyle/>
                    <a:p>
                      <a:pPr algn="l"/>
                      <a:r>
                        <a:rPr sz="2025" b="1">
                          <a:solidFill>
                            <a:srgbClr val="FFFFFF"/>
                          </a:solidFill>
                          <a:latin typeface="Aptos"/>
                          <a:ea typeface="Aptos"/>
                          <a:cs typeface="Aptos"/>
                        </a:rPr>
                        <a:t>Taken</a:t>
                      </a:r>
                    </a:p>
                  </a:txBody>
                  <a:tcPr marL="123825" marR="114300" marT="76200" marB="76200" anchor="ctr">
                    <a:solidFill>
                      <a:srgbClr val="D6171D"/>
                    </a:solidFill>
                  </a:tcPr>
                </a:tc>
                <a:extLst>
                  <a:ext uri="{0D108BD9-81ED-4DB2-BD59-A6C34878D82A}">
                    <a16:rowId xmlns:a16="http://schemas.microsoft.com/office/drawing/2014/main" val="10000"/>
                  </a:ext>
                </a:extLst>
              </a:tr>
              <a:tr h="628650">
                <a:tc>
                  <a:txBody>
                    <a:bodyPr/>
                    <a:lstStyle/>
                    <a:p>
                      <a:pPr algn="l"/>
                      <a:r>
                        <a:rPr sz="2025" b="0" dirty="0">
                          <a:solidFill>
                            <a:srgbClr val="111111"/>
                          </a:solidFill>
                          <a:latin typeface="Aptos"/>
                          <a:ea typeface="Aptos"/>
                          <a:cs typeface="Aptos"/>
                        </a:rPr>
                        <a:t>FA1: Weeks 1–3 content</a:t>
                      </a:r>
                    </a:p>
                  </a:txBody>
                  <a:tcPr marL="123825" marR="114300" marT="76200" marB="76200" anchor="ctr">
                    <a:solidFill>
                      <a:srgbClr val="FFFFFF"/>
                    </a:solidFill>
                  </a:tcPr>
                </a:tc>
                <a:tc>
                  <a:txBody>
                    <a:bodyPr/>
                    <a:lstStyle/>
                    <a:p>
                      <a:pPr algn="l"/>
                      <a:r>
                        <a:rPr sz="2025" b="0">
                          <a:solidFill>
                            <a:srgbClr val="111111"/>
                          </a:solidFill>
                          <a:latin typeface="Aptos"/>
                          <a:ea typeface="Aptos"/>
                          <a:cs typeface="Aptos"/>
                        </a:rPr>
                        <a:t>Week 2</a:t>
                      </a:r>
                    </a:p>
                  </a:txBody>
                  <a:tcPr marL="123825" marR="114300" marT="76200" marB="76200" anchor="ctr">
                    <a:solidFill>
                      <a:srgbClr val="FFFFFF"/>
                    </a:solidFill>
                  </a:tcPr>
                </a:tc>
                <a:tc>
                  <a:txBody>
                    <a:bodyPr/>
                    <a:lstStyle/>
                    <a:p>
                      <a:pPr algn="l"/>
                      <a:r>
                        <a:rPr sz="2025" b="0" dirty="0">
                          <a:solidFill>
                            <a:srgbClr val="111111"/>
                          </a:solidFill>
                          <a:latin typeface="Aptos"/>
                          <a:ea typeface="Aptos"/>
                          <a:cs typeface="Aptos"/>
                        </a:rPr>
                        <a:t>Week 3, Class C (30 min)</a:t>
                      </a:r>
                      <a:r>
                        <a:rPr lang="en-US" sz="2025" b="0" dirty="0">
                          <a:solidFill>
                            <a:srgbClr val="111111"/>
                          </a:solidFill>
                          <a:latin typeface="Aptos"/>
                          <a:ea typeface="Aptos"/>
                          <a:cs typeface="Aptos"/>
                        </a:rPr>
                        <a:t> </a:t>
                      </a:r>
                      <a:r>
                        <a:rPr lang="en-US" sz="2025" b="1" dirty="0">
                          <a:solidFill>
                            <a:srgbClr val="FF0000"/>
                          </a:solidFill>
                          <a:latin typeface="Aptos"/>
                          <a:ea typeface="Aptos"/>
                          <a:cs typeface="Aptos"/>
                        </a:rPr>
                        <a:t>(0%)</a:t>
                      </a:r>
                      <a:endParaRPr sz="2025" b="1" dirty="0">
                        <a:solidFill>
                          <a:srgbClr val="FF0000"/>
                        </a:solidFill>
                        <a:latin typeface="Aptos"/>
                        <a:ea typeface="Aptos"/>
                        <a:cs typeface="Aptos"/>
                      </a:endParaRPr>
                    </a:p>
                  </a:txBody>
                  <a:tcPr marL="123825" marR="114300" marT="76200" marB="76200" anchor="ctr">
                    <a:solidFill>
                      <a:srgbClr val="FFFFFF"/>
                    </a:solidFill>
                  </a:tcPr>
                </a:tc>
                <a:extLst>
                  <a:ext uri="{0D108BD9-81ED-4DB2-BD59-A6C34878D82A}">
                    <a16:rowId xmlns:a16="http://schemas.microsoft.com/office/drawing/2014/main" val="10001"/>
                  </a:ext>
                </a:extLst>
              </a:tr>
              <a:tr h="628650">
                <a:tc>
                  <a:txBody>
                    <a:bodyPr/>
                    <a:lstStyle/>
                    <a:p>
                      <a:pPr algn="l"/>
                      <a:r>
                        <a:rPr sz="2025" b="0">
                          <a:solidFill>
                            <a:srgbClr val="111111"/>
                          </a:solidFill>
                          <a:latin typeface="Aptos"/>
                          <a:ea typeface="Aptos"/>
                          <a:cs typeface="Aptos"/>
                        </a:rPr>
                        <a:t>FA2: Weeks 4–6 content</a:t>
                      </a:r>
                    </a:p>
                  </a:txBody>
                  <a:tcPr marL="123825" marR="114300" marT="76200" marB="76200" anchor="ctr">
                    <a:solidFill>
                      <a:srgbClr val="EEF8FF"/>
                    </a:solidFill>
                  </a:tcPr>
                </a:tc>
                <a:tc>
                  <a:txBody>
                    <a:bodyPr/>
                    <a:lstStyle/>
                    <a:p>
                      <a:pPr algn="l"/>
                      <a:r>
                        <a:rPr sz="2025" b="0" dirty="0">
                          <a:solidFill>
                            <a:srgbClr val="111111"/>
                          </a:solidFill>
                          <a:latin typeface="Aptos"/>
                          <a:ea typeface="Aptos"/>
                          <a:cs typeface="Aptos"/>
                        </a:rPr>
                        <a:t>Week 5</a:t>
                      </a:r>
                    </a:p>
                  </a:txBody>
                  <a:tcPr marL="123825" marR="114300" marT="76200" marB="76200" anchor="ctr">
                    <a:solidFill>
                      <a:srgbClr val="EEF8FF"/>
                    </a:solidFill>
                  </a:tcPr>
                </a:tc>
                <a:tc>
                  <a:txBody>
                    <a:bodyPr/>
                    <a:lstStyle/>
                    <a:p>
                      <a:pPr algn="l"/>
                      <a:r>
                        <a:rPr sz="2025" b="0" dirty="0">
                          <a:solidFill>
                            <a:srgbClr val="111111"/>
                          </a:solidFill>
                          <a:latin typeface="Aptos"/>
                          <a:ea typeface="Aptos"/>
                          <a:cs typeface="Aptos"/>
                        </a:rPr>
                        <a:t>Week 6, Class C (30 min)</a:t>
                      </a:r>
                      <a:r>
                        <a:rPr lang="en-US" sz="2025" b="0" dirty="0">
                          <a:solidFill>
                            <a:srgbClr val="111111"/>
                          </a:solidFill>
                          <a:latin typeface="Aptos"/>
                          <a:ea typeface="Aptos"/>
                          <a:cs typeface="Aptos"/>
                        </a:rPr>
                        <a:t> </a:t>
                      </a:r>
                      <a:r>
                        <a:rPr lang="en-US" sz="2025" b="1" dirty="0">
                          <a:solidFill>
                            <a:srgbClr val="FF0000"/>
                          </a:solidFill>
                          <a:latin typeface="+mn-lt"/>
                          <a:ea typeface="Aptos"/>
                          <a:cs typeface="Aptos"/>
                        </a:rPr>
                        <a:t>(0%)</a:t>
                      </a:r>
                      <a:endParaRPr sz="2025" b="0" dirty="0">
                        <a:solidFill>
                          <a:srgbClr val="111111"/>
                        </a:solidFill>
                        <a:latin typeface="Aptos"/>
                        <a:ea typeface="Aptos"/>
                        <a:cs typeface="Aptos"/>
                      </a:endParaRPr>
                    </a:p>
                  </a:txBody>
                  <a:tcPr marL="123825" marR="114300" marT="76200" marB="76200" anchor="ctr">
                    <a:solidFill>
                      <a:srgbClr val="EEF8FF"/>
                    </a:solidFill>
                  </a:tcPr>
                </a:tc>
                <a:extLst>
                  <a:ext uri="{0D108BD9-81ED-4DB2-BD59-A6C34878D82A}">
                    <a16:rowId xmlns:a16="http://schemas.microsoft.com/office/drawing/2014/main" val="10002"/>
                  </a:ext>
                </a:extLst>
              </a:tr>
              <a:tr h="628650">
                <a:tc>
                  <a:txBody>
                    <a:bodyPr/>
                    <a:lstStyle/>
                    <a:p>
                      <a:pPr algn="l"/>
                      <a:r>
                        <a:rPr sz="2025" b="0">
                          <a:solidFill>
                            <a:srgbClr val="111111"/>
                          </a:solidFill>
                          <a:latin typeface="Aptos"/>
                          <a:ea typeface="Aptos"/>
                          <a:cs typeface="Aptos"/>
                        </a:rPr>
                        <a:t>FA3: Weeks 7–9 content</a:t>
                      </a:r>
                    </a:p>
                  </a:txBody>
                  <a:tcPr marL="123825" marR="114300" marT="76200" marB="76200" anchor="ctr">
                    <a:solidFill>
                      <a:srgbClr val="FFFFFF"/>
                    </a:solidFill>
                  </a:tcPr>
                </a:tc>
                <a:tc>
                  <a:txBody>
                    <a:bodyPr/>
                    <a:lstStyle/>
                    <a:p>
                      <a:pPr algn="l"/>
                      <a:r>
                        <a:rPr sz="2025" b="0">
                          <a:solidFill>
                            <a:srgbClr val="111111"/>
                          </a:solidFill>
                          <a:latin typeface="Aptos"/>
                          <a:ea typeface="Aptos"/>
                          <a:cs typeface="Aptos"/>
                        </a:rPr>
                        <a:t>Week 8</a:t>
                      </a:r>
                    </a:p>
                  </a:txBody>
                  <a:tcPr marL="123825" marR="114300" marT="76200" marB="76200" anchor="ctr">
                    <a:solidFill>
                      <a:srgbClr val="FFFFFF"/>
                    </a:solidFill>
                  </a:tcPr>
                </a:tc>
                <a:tc>
                  <a:txBody>
                    <a:bodyPr/>
                    <a:lstStyle/>
                    <a:p>
                      <a:pPr algn="l"/>
                      <a:r>
                        <a:rPr sz="2025" b="0" dirty="0">
                          <a:solidFill>
                            <a:srgbClr val="111111"/>
                          </a:solidFill>
                          <a:latin typeface="Aptos"/>
                          <a:ea typeface="Aptos"/>
                          <a:cs typeface="Aptos"/>
                        </a:rPr>
                        <a:t>Week 9, Class C (30 min)</a:t>
                      </a:r>
                      <a:r>
                        <a:rPr lang="en-US" sz="2025" b="0" dirty="0">
                          <a:solidFill>
                            <a:srgbClr val="111111"/>
                          </a:solidFill>
                          <a:latin typeface="Aptos"/>
                          <a:ea typeface="Aptos"/>
                          <a:cs typeface="Aptos"/>
                        </a:rPr>
                        <a:t> </a:t>
                      </a:r>
                      <a:r>
                        <a:rPr lang="en-US" sz="2025" b="1" dirty="0">
                          <a:solidFill>
                            <a:srgbClr val="FF0000"/>
                          </a:solidFill>
                          <a:latin typeface="+mn-lt"/>
                          <a:ea typeface="Aptos"/>
                          <a:cs typeface="Aptos"/>
                        </a:rPr>
                        <a:t>(0%)</a:t>
                      </a:r>
                      <a:endParaRPr sz="2025" b="0" dirty="0">
                        <a:solidFill>
                          <a:srgbClr val="111111"/>
                        </a:solidFill>
                        <a:latin typeface="Aptos"/>
                        <a:ea typeface="Aptos"/>
                        <a:cs typeface="Aptos"/>
                      </a:endParaRPr>
                    </a:p>
                  </a:txBody>
                  <a:tcPr marL="123825" marR="114300" marT="76200" marB="76200" anchor="ctr">
                    <a:solidFill>
                      <a:srgbClr val="FFFFFF"/>
                    </a:solidFill>
                  </a:tcPr>
                </a:tc>
                <a:extLst>
                  <a:ext uri="{0D108BD9-81ED-4DB2-BD59-A6C34878D82A}">
                    <a16:rowId xmlns:a16="http://schemas.microsoft.com/office/drawing/2014/main" val="10003"/>
                  </a:ext>
                </a:extLst>
              </a:tr>
              <a:tr h="628650">
                <a:tc>
                  <a:txBody>
                    <a:bodyPr/>
                    <a:lstStyle/>
                    <a:p>
                      <a:pPr algn="l"/>
                      <a:r>
                        <a:rPr sz="2025" b="0" dirty="0">
                          <a:solidFill>
                            <a:srgbClr val="111111"/>
                          </a:solidFill>
                          <a:latin typeface="Aptos"/>
                          <a:ea typeface="Aptos"/>
                          <a:cs typeface="Aptos"/>
                        </a:rPr>
                        <a:t>Mock examination</a:t>
                      </a:r>
                    </a:p>
                  </a:txBody>
                  <a:tcPr marL="123825" marR="114300" marT="76200" marB="76200" anchor="ctr">
                    <a:solidFill>
                      <a:srgbClr val="EEF8FF"/>
                    </a:solidFill>
                  </a:tcPr>
                </a:tc>
                <a:tc>
                  <a:txBody>
                    <a:bodyPr/>
                    <a:lstStyle/>
                    <a:p>
                      <a:pPr algn="l"/>
                      <a:r>
                        <a:rPr sz="2025" b="0" dirty="0">
                          <a:solidFill>
                            <a:srgbClr val="111111"/>
                          </a:solidFill>
                          <a:latin typeface="Aptos"/>
                          <a:ea typeface="Aptos"/>
                          <a:cs typeface="Aptos"/>
                        </a:rPr>
                        <a:t>Week 11</a:t>
                      </a:r>
                    </a:p>
                  </a:txBody>
                  <a:tcPr marL="123825" marR="114300" marT="76200" marB="76200" anchor="ctr">
                    <a:solidFill>
                      <a:srgbClr val="EEF8FF"/>
                    </a:solidFill>
                  </a:tcPr>
                </a:tc>
                <a:tc>
                  <a:txBody>
                    <a:bodyPr/>
                    <a:lstStyle/>
                    <a:p>
                      <a:pPr algn="l"/>
                      <a:r>
                        <a:rPr sz="2025" b="0" dirty="0">
                          <a:solidFill>
                            <a:srgbClr val="111111"/>
                          </a:solidFill>
                          <a:latin typeface="Aptos"/>
                          <a:ea typeface="Aptos"/>
                          <a:cs typeface="Aptos"/>
                        </a:rPr>
                        <a:t>Week 12, Class C (60 min)</a:t>
                      </a:r>
                      <a:r>
                        <a:rPr lang="en-US" sz="2025" b="0" dirty="0">
                          <a:solidFill>
                            <a:srgbClr val="111111"/>
                          </a:solidFill>
                          <a:latin typeface="Aptos"/>
                          <a:ea typeface="Aptos"/>
                          <a:cs typeface="Aptos"/>
                        </a:rPr>
                        <a:t> </a:t>
                      </a:r>
                      <a:r>
                        <a:rPr lang="en-US" sz="2025" b="1" dirty="0">
                          <a:solidFill>
                            <a:srgbClr val="FF0000"/>
                          </a:solidFill>
                          <a:latin typeface="+mn-lt"/>
                          <a:ea typeface="Aptos"/>
                          <a:cs typeface="Aptos"/>
                        </a:rPr>
                        <a:t>(0%)</a:t>
                      </a:r>
                      <a:endParaRPr sz="2025" b="0" dirty="0">
                        <a:solidFill>
                          <a:srgbClr val="111111"/>
                        </a:solidFill>
                        <a:latin typeface="Aptos"/>
                        <a:ea typeface="Aptos"/>
                        <a:cs typeface="Aptos"/>
                      </a:endParaRPr>
                    </a:p>
                  </a:txBody>
                  <a:tcPr marL="123825" marR="114300" marT="76200" marB="76200" anchor="ctr">
                    <a:solidFill>
                      <a:srgbClr val="EEF8FF"/>
                    </a:solidFill>
                  </a:tcPr>
                </a:tc>
                <a:extLst>
                  <a:ext uri="{0D108BD9-81ED-4DB2-BD59-A6C34878D82A}">
                    <a16:rowId xmlns:a16="http://schemas.microsoft.com/office/drawing/2014/main" val="10004"/>
                  </a:ext>
                </a:extLst>
              </a:tr>
              <a:tr h="628650">
                <a:tc>
                  <a:txBody>
                    <a:bodyPr/>
                    <a:lstStyle/>
                    <a:p>
                      <a:pPr algn="l"/>
                      <a:r>
                        <a:rPr lang="en-US" sz="2025" b="1" dirty="0">
                          <a:solidFill>
                            <a:srgbClr val="FF0000"/>
                          </a:solidFill>
                          <a:latin typeface="Aptos"/>
                          <a:ea typeface="Aptos"/>
                          <a:cs typeface="Aptos"/>
                        </a:rPr>
                        <a:t>Final Exam</a:t>
                      </a:r>
                      <a:endParaRPr sz="2025" b="1" dirty="0">
                        <a:solidFill>
                          <a:srgbClr val="FF0000"/>
                        </a:solidFill>
                        <a:latin typeface="Aptos"/>
                        <a:ea typeface="Aptos"/>
                        <a:cs typeface="Aptos"/>
                      </a:endParaRPr>
                    </a:p>
                  </a:txBody>
                  <a:tcPr marL="123825" marR="114300" marT="76200" marB="76200" anchor="ctr">
                    <a:solidFill>
                      <a:srgbClr val="EEF8FF"/>
                    </a:solidFill>
                  </a:tcPr>
                </a:tc>
                <a:tc>
                  <a:txBody>
                    <a:bodyPr/>
                    <a:lstStyle/>
                    <a:p>
                      <a:pPr algn="l"/>
                      <a:r>
                        <a:rPr lang="en-US" sz="2025" b="1" dirty="0">
                          <a:solidFill>
                            <a:srgbClr val="FF0000"/>
                          </a:solidFill>
                          <a:latin typeface="Aptos"/>
                          <a:ea typeface="Aptos"/>
                          <a:cs typeface="Aptos"/>
                        </a:rPr>
                        <a:t>TBC</a:t>
                      </a:r>
                      <a:endParaRPr sz="2025" b="1" dirty="0">
                        <a:solidFill>
                          <a:srgbClr val="FF0000"/>
                        </a:solidFill>
                        <a:latin typeface="Aptos"/>
                        <a:ea typeface="Aptos"/>
                        <a:cs typeface="Aptos"/>
                      </a:endParaRPr>
                    </a:p>
                  </a:txBody>
                  <a:tcPr marL="123825" marR="114300" marT="76200" marB="76200" anchor="ctr">
                    <a:solidFill>
                      <a:srgbClr val="EEF8FF"/>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25" b="1" dirty="0">
                          <a:solidFill>
                            <a:srgbClr val="FF0000"/>
                          </a:solidFill>
                          <a:latin typeface="+mn-lt"/>
                          <a:ea typeface="Aptos"/>
                          <a:cs typeface="Aptos"/>
                        </a:rPr>
                        <a:t>Week 14* (40%)</a:t>
                      </a:r>
                    </a:p>
                  </a:txBody>
                  <a:tcPr marL="123825" marR="114300" marT="76200" marB="76200" anchor="ctr">
                    <a:solidFill>
                      <a:srgbClr val="EEF8FF"/>
                    </a:solidFill>
                  </a:tcPr>
                </a:tc>
                <a:extLst>
                  <a:ext uri="{0D108BD9-81ED-4DB2-BD59-A6C34878D82A}">
                    <a16:rowId xmlns:a16="http://schemas.microsoft.com/office/drawing/2014/main" val="4023168274"/>
                  </a:ext>
                </a:extLst>
              </a:tr>
            </a:tbl>
          </a:graphicData>
        </a:graphic>
      </p:graphicFrame>
      <p:sp>
        <p:nvSpPr>
          <p:cNvPr id="5" name="assessment-3">
            <a:extLst>
              <a:ext uri="{FF2B5EF4-FFF2-40B4-BE49-F238E27FC236}">
                <a16:creationId xmlns:a16="http://schemas.microsoft.com/office/drawing/2014/main" id="{68B06C3E-5FC7-4DA1-90EA-5FE6D8F780F0}"/>
              </a:ext>
            </a:extLst>
          </p:cNvPr>
          <p:cNvSpPr>
            <a:spLocks noGrp="1"/>
          </p:cNvSpPr>
          <p:nvPr/>
        </p:nvSpPr>
        <p:spPr>
          <a:xfrm>
            <a:off x="428625" y="5657850"/>
            <a:ext cx="11296650" cy="40005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Summative: 2-hour examination, 40%, at the end of Semester 1.</a:t>
            </a:r>
          </a:p>
        </p:txBody>
      </p:sp>
      <p:sp>
        <p:nvSpPr>
          <p:cNvPr id="6" name="assessment-4">
            <a:extLst>
              <a:ext uri="{FF2B5EF4-FFF2-40B4-BE49-F238E27FC236}">
                <a16:creationId xmlns:a16="http://schemas.microsoft.com/office/drawing/2014/main" id="{1438D8DD-F73B-4C0B-AE6B-8697117B3EB9}"/>
              </a:ext>
            </a:extLst>
          </p:cNvPr>
          <p:cNvSpPr>
            <a:spLocks noGrp="1"/>
          </p:cNvSpPr>
          <p:nvPr/>
        </p:nvSpPr>
        <p:spPr>
          <a:xfrm>
            <a:off x="428625" y="6067425"/>
            <a:ext cx="11296650" cy="304800"/>
          </a:xfrm>
          <a:prstGeom prst="rect">
            <a:avLst/>
          </a:prstGeom>
          <a:noFill/>
          <a:ln w="0">
            <a:noFill/>
          </a:ln>
        </p:spPr>
        <p:txBody>
          <a:bodyPr wrap="square" lIns="0" tIns="0" rIns="0" bIns="0" anchor="t">
            <a:noAutofit/>
          </a:bodyPr>
          <a:lstStyle/>
          <a:p>
            <a:pPr algn="l">
              <a:defRPr sz="1800" b="0">
                <a:solidFill>
                  <a:srgbClr val="111111"/>
                </a:solidFill>
                <a:latin typeface="Aptos"/>
                <a:ea typeface="Aptos"/>
                <a:cs typeface="Aptos"/>
              </a:defRPr>
            </a:pPr>
            <a:r>
              <a:rPr sz="1800" b="0">
                <a:solidFill>
                  <a:srgbClr val="111111"/>
                </a:solidFill>
                <a:latin typeface="Aptos"/>
                <a:ea typeface="Aptos"/>
                <a:cs typeface="Aptos"/>
              </a:rPr>
              <a:t>Exact exam week/date: to be confirmed.</a:t>
            </a:r>
          </a:p>
        </p:txBody>
      </p:sp>
    </p:spTree>
    <p:extLst>
      <p:ext uri="{BB962C8B-B14F-4D97-AF65-F5344CB8AC3E}">
        <p14:creationId xmlns:p14="http://schemas.microsoft.com/office/powerpoint/2010/main" val="389758636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t">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Semester 2: assessment weeks</a:t>
            </a:r>
          </a:p>
        </p:txBody>
      </p:sp>
      <p:sp>
        <p:nvSpPr>
          <p:cNvPr id="3" name="assessment-5">
            <a:extLst>
              <a:ext uri="{FF2B5EF4-FFF2-40B4-BE49-F238E27FC236}">
                <a16:creationId xmlns:a16="http://schemas.microsoft.com/office/drawing/2014/main" id="{FEDA5681-CD6A-4ADE-965F-B501C3E50BF4}"/>
              </a:ext>
            </a:extLst>
          </p:cNvPr>
          <p:cNvSpPr>
            <a:spLocks noGrp="1"/>
          </p:cNvSpPr>
          <p:nvPr/>
        </p:nvSpPr>
        <p:spPr>
          <a:xfrm>
            <a:off x="447675" y="1556432"/>
            <a:ext cx="11296650" cy="361950"/>
          </a:xfrm>
          <a:prstGeom prst="rect">
            <a:avLst/>
          </a:prstGeom>
          <a:noFill/>
          <a:ln w="0">
            <a:noFill/>
          </a:ln>
        </p:spPr>
        <p:txBody>
          <a:bodyPr wrap="square" lIns="0" tIns="0" rIns="0" bIns="0" anchor="t">
            <a:noAutofit/>
          </a:bodyPr>
          <a:lstStyle/>
          <a:p>
            <a:pPr algn="l">
              <a:defRPr sz="1950" b="0">
                <a:solidFill>
                  <a:srgbClr val="111111"/>
                </a:solidFill>
                <a:latin typeface="Aptos"/>
                <a:ea typeface="Aptos"/>
                <a:cs typeface="Aptos"/>
              </a:defRPr>
            </a:pPr>
            <a:r>
              <a:rPr sz="1950" b="0" dirty="0">
                <a:solidFill>
                  <a:srgbClr val="111111"/>
                </a:solidFill>
                <a:latin typeface="Aptos"/>
                <a:ea typeface="Aptos"/>
                <a:cs typeface="Aptos"/>
              </a:rPr>
              <a:t>Semester 2 weeks</a:t>
            </a:r>
          </a:p>
        </p:txBody>
      </p:sp>
      <p:graphicFrame>
        <p:nvGraphicFramePr>
          <p:cNvPr id="9" name="Table 8"/>
          <p:cNvGraphicFramePr/>
          <p:nvPr>
            <p:extLst>
              <p:ext uri="{D42A27DB-BD31-4B8C-83A1-F6EECF244321}">
                <p14:modId xmlns:p14="http://schemas.microsoft.com/office/powerpoint/2010/main" val="298708842"/>
              </p:ext>
            </p:extLst>
          </p:nvPr>
        </p:nvGraphicFramePr>
        <p:xfrm>
          <a:off x="447675" y="1918382"/>
          <a:ext cx="11296650" cy="3576447"/>
        </p:xfrm>
        <a:graphic>
          <a:graphicData uri="http://schemas.openxmlformats.org/drawingml/2006/table">
            <a:tbl>
              <a:tblPr firstRow="1"/>
              <a:tblGrid>
                <a:gridCol w="4476750">
                  <a:extLst>
                    <a:ext uri="{9D8B030D-6E8A-4147-A177-3AD203B41FA5}">
                      <a16:colId xmlns:a16="http://schemas.microsoft.com/office/drawing/2014/main" val="20000"/>
                    </a:ext>
                  </a:extLst>
                </a:gridCol>
                <a:gridCol w="234315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tblGrid>
              <a:tr h="504825">
                <a:tc>
                  <a:txBody>
                    <a:bodyPr/>
                    <a:lstStyle/>
                    <a:p>
                      <a:pPr algn="l"/>
                      <a:r>
                        <a:rPr sz="1875" b="1" dirty="0">
                          <a:solidFill>
                            <a:srgbClr val="FFFFFF"/>
                          </a:solidFill>
                          <a:latin typeface="Aptos"/>
                          <a:ea typeface="Aptos"/>
                          <a:cs typeface="Aptos"/>
                        </a:rPr>
                        <a:t>Formative checkpoint</a:t>
                      </a:r>
                    </a:p>
                  </a:txBody>
                  <a:tcPr marL="123825" marR="114300" marT="76200" marB="76200" anchor="ctr">
                    <a:solidFill>
                      <a:srgbClr val="D6171D"/>
                    </a:solidFill>
                  </a:tcPr>
                </a:tc>
                <a:tc>
                  <a:txBody>
                    <a:bodyPr/>
                    <a:lstStyle/>
                    <a:p>
                      <a:pPr algn="l"/>
                      <a:r>
                        <a:rPr sz="1875" b="1">
                          <a:solidFill>
                            <a:srgbClr val="FFFFFF"/>
                          </a:solidFill>
                          <a:latin typeface="Aptos"/>
                          <a:ea typeface="Aptos"/>
                          <a:cs typeface="Aptos"/>
                        </a:rPr>
                        <a:t>Preparation</a:t>
                      </a:r>
                    </a:p>
                  </a:txBody>
                  <a:tcPr marL="123825" marR="114300" marT="76200" marB="76200" anchor="ctr">
                    <a:solidFill>
                      <a:srgbClr val="D6171D"/>
                    </a:solidFill>
                  </a:tcPr>
                </a:tc>
                <a:tc>
                  <a:txBody>
                    <a:bodyPr/>
                    <a:lstStyle/>
                    <a:p>
                      <a:pPr algn="l"/>
                      <a:r>
                        <a:rPr sz="1875" b="1">
                          <a:solidFill>
                            <a:srgbClr val="FFFFFF"/>
                          </a:solidFill>
                          <a:latin typeface="Aptos"/>
                          <a:ea typeface="Aptos"/>
                          <a:cs typeface="Aptos"/>
                        </a:rPr>
                        <a:t>Due / takes place</a:t>
                      </a:r>
                    </a:p>
                  </a:txBody>
                  <a:tcPr marL="123825" marR="114300" marT="76200" marB="76200" anchor="ctr">
                    <a:solidFill>
                      <a:srgbClr val="D6171D"/>
                    </a:solidFill>
                  </a:tcPr>
                </a:tc>
                <a:extLst>
                  <a:ext uri="{0D108BD9-81ED-4DB2-BD59-A6C34878D82A}">
                    <a16:rowId xmlns:a16="http://schemas.microsoft.com/office/drawing/2014/main" val="10000"/>
                  </a:ext>
                </a:extLst>
              </a:tr>
              <a:tr h="438150">
                <a:tc>
                  <a:txBody>
                    <a:bodyPr/>
                    <a:lstStyle/>
                    <a:p>
                      <a:pPr algn="l"/>
                      <a:r>
                        <a:rPr sz="1875" b="0">
                          <a:solidFill>
                            <a:srgbClr val="111111"/>
                          </a:solidFill>
                          <a:latin typeface="Aptos"/>
                          <a:ea typeface="Aptos"/>
                          <a:cs typeface="Aptos"/>
                        </a:rPr>
                        <a:t>Project proposal</a:t>
                      </a:r>
                    </a:p>
                  </a:txBody>
                  <a:tcPr marL="123825" marR="114300" marT="76200" marB="76200" anchor="ctr">
                    <a:solidFill>
                      <a:srgbClr val="FFFFFF"/>
                    </a:solidFill>
                  </a:tcPr>
                </a:tc>
                <a:tc>
                  <a:txBody>
                    <a:bodyPr/>
                    <a:lstStyle/>
                    <a:p>
                      <a:pPr algn="l"/>
                      <a:r>
                        <a:rPr sz="1875" b="0">
                          <a:solidFill>
                            <a:srgbClr val="111111"/>
                          </a:solidFill>
                          <a:latin typeface="Aptos"/>
                          <a:ea typeface="Aptos"/>
                          <a:cs typeface="Aptos"/>
                        </a:rPr>
                        <a:t>Week 3</a:t>
                      </a:r>
                    </a:p>
                  </a:txBody>
                  <a:tcPr marL="123825" marR="114300" marT="76200" marB="76200" anchor="ctr">
                    <a:solidFill>
                      <a:srgbClr val="FFFFFF"/>
                    </a:solidFill>
                  </a:tcPr>
                </a:tc>
                <a:tc>
                  <a:txBody>
                    <a:bodyPr/>
                    <a:lstStyle/>
                    <a:p>
                      <a:pPr algn="l"/>
                      <a:r>
                        <a:rPr sz="1880" b="0" dirty="0">
                          <a:solidFill>
                            <a:srgbClr val="111111"/>
                          </a:solidFill>
                          <a:latin typeface="Aptos"/>
                          <a:ea typeface="Aptos"/>
                          <a:cs typeface="Aptos"/>
                        </a:rPr>
                        <a:t>Week 4, Class C</a:t>
                      </a:r>
                      <a:r>
                        <a:rPr lang="en-US" sz="1880" b="0" dirty="0">
                          <a:solidFill>
                            <a:srgbClr val="111111"/>
                          </a:solidFill>
                          <a:latin typeface="Aptos"/>
                          <a:ea typeface="Aptos"/>
                          <a:cs typeface="Aptos"/>
                        </a:rPr>
                        <a:t> </a:t>
                      </a:r>
                      <a:r>
                        <a:rPr lang="en-US" sz="1880" b="1" dirty="0">
                          <a:solidFill>
                            <a:srgbClr val="FF0000"/>
                          </a:solidFill>
                          <a:latin typeface="+mn-lt"/>
                          <a:ea typeface="Aptos"/>
                          <a:cs typeface="Aptos"/>
                        </a:rPr>
                        <a:t>(0%)</a:t>
                      </a:r>
                      <a:endParaRPr sz="1880" b="0" dirty="0">
                        <a:solidFill>
                          <a:srgbClr val="111111"/>
                        </a:solidFill>
                        <a:latin typeface="Aptos"/>
                        <a:ea typeface="Aptos"/>
                        <a:cs typeface="Aptos"/>
                      </a:endParaRPr>
                    </a:p>
                  </a:txBody>
                  <a:tcPr marL="123825" marR="114300" marT="76200" marB="76200" anchor="ctr">
                    <a:solidFill>
                      <a:srgbClr val="FFFFFF"/>
                    </a:solidFill>
                  </a:tcPr>
                </a:tc>
                <a:extLst>
                  <a:ext uri="{0D108BD9-81ED-4DB2-BD59-A6C34878D82A}">
                    <a16:rowId xmlns:a16="http://schemas.microsoft.com/office/drawing/2014/main" val="10001"/>
                  </a:ext>
                </a:extLst>
              </a:tr>
              <a:tr h="438150">
                <a:tc>
                  <a:txBody>
                    <a:bodyPr/>
                    <a:lstStyle/>
                    <a:p>
                      <a:pPr algn="l"/>
                      <a:r>
                        <a:rPr sz="1875" b="0">
                          <a:solidFill>
                            <a:srgbClr val="111111"/>
                          </a:solidFill>
                          <a:latin typeface="Aptos"/>
                          <a:ea typeface="Aptos"/>
                          <a:cs typeface="Aptos"/>
                        </a:rPr>
                        <a:t>Project progress review</a:t>
                      </a:r>
                    </a:p>
                  </a:txBody>
                  <a:tcPr marL="123825" marR="114300" marT="76200" marB="76200" anchor="ctr">
                    <a:solidFill>
                      <a:srgbClr val="EEF8FF"/>
                    </a:solidFill>
                  </a:tcPr>
                </a:tc>
                <a:tc>
                  <a:txBody>
                    <a:bodyPr/>
                    <a:lstStyle/>
                    <a:p>
                      <a:pPr algn="l"/>
                      <a:r>
                        <a:rPr sz="1875" b="0">
                          <a:solidFill>
                            <a:srgbClr val="111111"/>
                          </a:solidFill>
                          <a:latin typeface="Aptos"/>
                          <a:ea typeface="Aptos"/>
                          <a:cs typeface="Aptos"/>
                        </a:rPr>
                        <a:t>Week 5</a:t>
                      </a:r>
                    </a:p>
                  </a:txBody>
                  <a:tcPr marL="123825" marR="114300" marT="76200" marB="76200" anchor="ctr">
                    <a:solidFill>
                      <a:srgbClr val="EEF8FF"/>
                    </a:solidFill>
                  </a:tcPr>
                </a:tc>
                <a:tc>
                  <a:txBody>
                    <a:bodyPr/>
                    <a:lstStyle/>
                    <a:p>
                      <a:pPr algn="l"/>
                      <a:r>
                        <a:rPr sz="1880" b="0" dirty="0">
                          <a:solidFill>
                            <a:srgbClr val="111111"/>
                          </a:solidFill>
                          <a:latin typeface="Aptos"/>
                          <a:ea typeface="Aptos"/>
                          <a:cs typeface="Aptos"/>
                        </a:rPr>
                        <a:t>Week 6, Class B</a:t>
                      </a:r>
                      <a:r>
                        <a:rPr lang="en-US" sz="1880" b="0" dirty="0">
                          <a:solidFill>
                            <a:srgbClr val="111111"/>
                          </a:solidFill>
                          <a:latin typeface="Aptos"/>
                          <a:ea typeface="Aptos"/>
                          <a:cs typeface="Aptos"/>
                        </a:rPr>
                        <a:t> </a:t>
                      </a:r>
                      <a:r>
                        <a:rPr lang="en-US" sz="1880" b="1" dirty="0">
                          <a:solidFill>
                            <a:srgbClr val="FF0000"/>
                          </a:solidFill>
                          <a:latin typeface="+mn-lt"/>
                          <a:ea typeface="Aptos"/>
                          <a:cs typeface="Aptos"/>
                        </a:rPr>
                        <a:t>(0%)</a:t>
                      </a:r>
                      <a:endParaRPr sz="1880" b="0" dirty="0">
                        <a:solidFill>
                          <a:srgbClr val="111111"/>
                        </a:solidFill>
                        <a:latin typeface="Aptos"/>
                        <a:ea typeface="Aptos"/>
                        <a:cs typeface="Aptos"/>
                      </a:endParaRPr>
                    </a:p>
                  </a:txBody>
                  <a:tcPr marL="123825" marR="114300" marT="76200" marB="76200" anchor="ctr">
                    <a:solidFill>
                      <a:srgbClr val="EEF8FF"/>
                    </a:solidFill>
                  </a:tcPr>
                </a:tc>
                <a:extLst>
                  <a:ext uri="{0D108BD9-81ED-4DB2-BD59-A6C34878D82A}">
                    <a16:rowId xmlns:a16="http://schemas.microsoft.com/office/drawing/2014/main" val="10002"/>
                  </a:ext>
                </a:extLst>
              </a:tr>
              <a:tr h="438150">
                <a:tc>
                  <a:txBody>
                    <a:bodyPr/>
                    <a:lstStyle/>
                    <a:p>
                      <a:pPr algn="l"/>
                      <a:r>
                        <a:rPr sz="1875" b="0">
                          <a:solidFill>
                            <a:srgbClr val="111111"/>
                          </a:solidFill>
                          <a:latin typeface="Aptos"/>
                          <a:ea typeface="Aptos"/>
                          <a:cs typeface="Aptos"/>
                        </a:rPr>
                        <a:t>Timed rehearsal</a:t>
                      </a:r>
                    </a:p>
                  </a:txBody>
                  <a:tcPr marL="123825" marR="114300" marT="76200" marB="76200" anchor="ctr">
                    <a:solidFill>
                      <a:srgbClr val="FFFFFF"/>
                    </a:solidFill>
                  </a:tcPr>
                </a:tc>
                <a:tc>
                  <a:txBody>
                    <a:bodyPr/>
                    <a:lstStyle/>
                    <a:p>
                      <a:pPr algn="l"/>
                      <a:r>
                        <a:rPr sz="1875" b="0" dirty="0">
                          <a:solidFill>
                            <a:srgbClr val="111111"/>
                          </a:solidFill>
                          <a:latin typeface="Aptos"/>
                          <a:ea typeface="Aptos"/>
                          <a:cs typeface="Aptos"/>
                        </a:rPr>
                        <a:t>Week 6</a:t>
                      </a:r>
                    </a:p>
                  </a:txBody>
                  <a:tcPr marL="123825" marR="114300" marT="76200" marB="76200" anchor="ctr">
                    <a:solidFill>
                      <a:srgbClr val="FFFFFF"/>
                    </a:solidFill>
                  </a:tcPr>
                </a:tc>
                <a:tc>
                  <a:txBody>
                    <a:bodyPr/>
                    <a:lstStyle/>
                    <a:p>
                      <a:pPr algn="l"/>
                      <a:r>
                        <a:rPr sz="1880" b="0" dirty="0">
                          <a:solidFill>
                            <a:srgbClr val="111111"/>
                          </a:solidFill>
                          <a:latin typeface="Aptos"/>
                          <a:ea typeface="Aptos"/>
                          <a:cs typeface="Aptos"/>
                        </a:rPr>
                        <a:t>Week 7, Class C</a:t>
                      </a:r>
                      <a:r>
                        <a:rPr lang="en-US" sz="1880" b="0" dirty="0">
                          <a:solidFill>
                            <a:srgbClr val="111111"/>
                          </a:solidFill>
                          <a:latin typeface="Aptos"/>
                          <a:ea typeface="Aptos"/>
                          <a:cs typeface="Aptos"/>
                        </a:rPr>
                        <a:t> </a:t>
                      </a:r>
                      <a:r>
                        <a:rPr lang="en-US" sz="1880" b="1" dirty="0">
                          <a:solidFill>
                            <a:srgbClr val="FF0000"/>
                          </a:solidFill>
                          <a:latin typeface="+mn-lt"/>
                          <a:ea typeface="Aptos"/>
                          <a:cs typeface="Aptos"/>
                        </a:rPr>
                        <a:t>(0%)</a:t>
                      </a:r>
                      <a:endParaRPr sz="1880" b="0" dirty="0">
                        <a:solidFill>
                          <a:srgbClr val="111111"/>
                        </a:solidFill>
                        <a:latin typeface="Aptos"/>
                        <a:ea typeface="Aptos"/>
                        <a:cs typeface="Aptos"/>
                      </a:endParaRPr>
                    </a:p>
                  </a:txBody>
                  <a:tcPr marL="123825" marR="114300" marT="76200" marB="76200" anchor="ctr">
                    <a:solidFill>
                      <a:srgbClr val="FFFFFF"/>
                    </a:solidFill>
                  </a:tcPr>
                </a:tc>
                <a:extLst>
                  <a:ext uri="{0D108BD9-81ED-4DB2-BD59-A6C34878D82A}">
                    <a16:rowId xmlns:a16="http://schemas.microsoft.com/office/drawing/2014/main" val="10003"/>
                  </a:ext>
                </a:extLst>
              </a:tr>
              <a:tr h="438150">
                <a:tc>
                  <a:txBody>
                    <a:bodyPr/>
                    <a:lstStyle/>
                    <a:p>
                      <a:pPr algn="l"/>
                      <a:r>
                        <a:rPr sz="1875" b="0" dirty="0">
                          <a:solidFill>
                            <a:srgbClr val="111111"/>
                          </a:solidFill>
                          <a:latin typeface="Aptos"/>
                          <a:ea typeface="Aptos"/>
                          <a:cs typeface="Aptos"/>
                        </a:rPr>
                        <a:t>Draft review</a:t>
                      </a:r>
                    </a:p>
                  </a:txBody>
                  <a:tcPr marL="123825" marR="114300" marT="76200" marB="76200" anchor="ctr">
                    <a:solidFill>
                      <a:srgbClr val="EEF8FF"/>
                    </a:solidFill>
                  </a:tcPr>
                </a:tc>
                <a:tc>
                  <a:txBody>
                    <a:bodyPr/>
                    <a:lstStyle/>
                    <a:p>
                      <a:pPr algn="l"/>
                      <a:r>
                        <a:rPr sz="1875" b="0" dirty="0">
                          <a:solidFill>
                            <a:srgbClr val="111111"/>
                          </a:solidFill>
                          <a:latin typeface="Aptos"/>
                          <a:ea typeface="Aptos"/>
                          <a:cs typeface="Aptos"/>
                        </a:rPr>
                        <a:t>Week 9</a:t>
                      </a:r>
                    </a:p>
                  </a:txBody>
                  <a:tcPr marL="123825" marR="114300" marT="76200" marB="76200" anchor="ctr">
                    <a:solidFill>
                      <a:srgbClr val="EEF8FF"/>
                    </a:solidFill>
                  </a:tcPr>
                </a:tc>
                <a:tc>
                  <a:txBody>
                    <a:bodyPr/>
                    <a:lstStyle/>
                    <a:p>
                      <a:pPr algn="l"/>
                      <a:r>
                        <a:rPr sz="1880" b="0" dirty="0">
                          <a:solidFill>
                            <a:srgbClr val="111111"/>
                          </a:solidFill>
                          <a:latin typeface="Aptos"/>
                          <a:ea typeface="Aptos"/>
                          <a:cs typeface="Aptos"/>
                        </a:rPr>
                        <a:t>Week 10, Class C</a:t>
                      </a:r>
                      <a:r>
                        <a:rPr lang="en-US" sz="1880" b="0" dirty="0">
                          <a:solidFill>
                            <a:srgbClr val="111111"/>
                          </a:solidFill>
                          <a:latin typeface="Aptos"/>
                          <a:ea typeface="Aptos"/>
                          <a:cs typeface="Aptos"/>
                        </a:rPr>
                        <a:t> </a:t>
                      </a:r>
                      <a:r>
                        <a:rPr lang="en-US" sz="1880" b="1" dirty="0">
                          <a:solidFill>
                            <a:srgbClr val="FF0000"/>
                          </a:solidFill>
                          <a:latin typeface="+mn-lt"/>
                          <a:ea typeface="Aptos"/>
                          <a:cs typeface="Aptos"/>
                        </a:rPr>
                        <a:t>(0%)</a:t>
                      </a:r>
                      <a:endParaRPr sz="1880" b="0" dirty="0">
                        <a:solidFill>
                          <a:srgbClr val="111111"/>
                        </a:solidFill>
                        <a:latin typeface="Aptos"/>
                        <a:ea typeface="Aptos"/>
                        <a:cs typeface="Aptos"/>
                      </a:endParaRPr>
                    </a:p>
                  </a:txBody>
                  <a:tcPr marL="123825" marR="114300" marT="76200" marB="76200" anchor="ctr">
                    <a:solidFill>
                      <a:srgbClr val="EEF8FF"/>
                    </a:solidFill>
                  </a:tcPr>
                </a:tc>
                <a:extLst>
                  <a:ext uri="{0D108BD9-81ED-4DB2-BD59-A6C34878D82A}">
                    <a16:rowId xmlns:a16="http://schemas.microsoft.com/office/drawing/2014/main" val="10004"/>
                  </a:ext>
                </a:extLst>
              </a:tr>
              <a:tr h="438150">
                <a:tc>
                  <a:txBody>
                    <a:bodyPr/>
                    <a:lstStyle/>
                    <a:p>
                      <a:pPr algn="l"/>
                      <a:r>
                        <a:rPr sz="1875" b="0">
                          <a:solidFill>
                            <a:srgbClr val="111111"/>
                          </a:solidFill>
                          <a:latin typeface="Aptos"/>
                          <a:ea typeface="Aptos"/>
                          <a:cs typeface="Aptos"/>
                        </a:rPr>
                        <a:t>Draft feedback</a:t>
                      </a:r>
                    </a:p>
                  </a:txBody>
                  <a:tcPr marL="123825" marR="114300" marT="76200" marB="76200" anchor="ctr">
                    <a:solidFill>
                      <a:srgbClr val="FFFFFF"/>
                    </a:solidFill>
                  </a:tcPr>
                </a:tc>
                <a:tc>
                  <a:txBody>
                    <a:bodyPr/>
                    <a:lstStyle/>
                    <a:p>
                      <a:pPr algn="l"/>
                      <a:r>
                        <a:rPr sz="1875" b="0">
                          <a:solidFill>
                            <a:srgbClr val="111111"/>
                          </a:solidFill>
                          <a:latin typeface="Aptos"/>
                          <a:ea typeface="Aptos"/>
                          <a:cs typeface="Aptos"/>
                        </a:rPr>
                        <a:t>From Week 9</a:t>
                      </a:r>
                    </a:p>
                  </a:txBody>
                  <a:tcPr marL="123825" marR="114300" marT="76200" marB="76200" anchor="ctr">
                    <a:solidFill>
                      <a:srgbClr val="FFFFFF"/>
                    </a:solidFill>
                  </a:tcPr>
                </a:tc>
                <a:tc>
                  <a:txBody>
                    <a:bodyPr/>
                    <a:lstStyle/>
                    <a:p>
                      <a:pPr algn="l"/>
                      <a:r>
                        <a:rPr sz="1880" b="0" dirty="0">
                          <a:solidFill>
                            <a:srgbClr val="111111"/>
                          </a:solidFill>
                          <a:latin typeface="Aptos"/>
                          <a:ea typeface="Aptos"/>
                          <a:cs typeface="Aptos"/>
                        </a:rPr>
                        <a:t>Week 11, Classes A/B</a:t>
                      </a:r>
                      <a:r>
                        <a:rPr lang="en-US" sz="1880" b="0" dirty="0">
                          <a:solidFill>
                            <a:srgbClr val="111111"/>
                          </a:solidFill>
                          <a:latin typeface="Aptos"/>
                          <a:ea typeface="Aptos"/>
                          <a:cs typeface="Aptos"/>
                        </a:rPr>
                        <a:t> </a:t>
                      </a:r>
                      <a:r>
                        <a:rPr lang="en-US" sz="1880" b="1" dirty="0">
                          <a:solidFill>
                            <a:srgbClr val="FF0000"/>
                          </a:solidFill>
                          <a:latin typeface="+mn-lt"/>
                          <a:ea typeface="Aptos"/>
                          <a:cs typeface="Aptos"/>
                        </a:rPr>
                        <a:t>(0%)</a:t>
                      </a:r>
                      <a:endParaRPr sz="1880" b="0" dirty="0">
                        <a:solidFill>
                          <a:srgbClr val="111111"/>
                        </a:solidFill>
                        <a:latin typeface="Aptos"/>
                        <a:ea typeface="Aptos"/>
                        <a:cs typeface="Aptos"/>
                      </a:endParaRPr>
                    </a:p>
                  </a:txBody>
                  <a:tcPr marL="123825" marR="114300" marT="76200" marB="76200" anchor="ctr">
                    <a:solidFill>
                      <a:srgbClr val="FFFFFF"/>
                    </a:solidFill>
                  </a:tcPr>
                </a:tc>
                <a:extLst>
                  <a:ext uri="{0D108BD9-81ED-4DB2-BD59-A6C34878D82A}">
                    <a16:rowId xmlns:a16="http://schemas.microsoft.com/office/drawing/2014/main" val="10005"/>
                  </a:ext>
                </a:extLst>
              </a:tr>
              <a:tr h="438150">
                <a:tc>
                  <a:txBody>
                    <a:bodyPr/>
                    <a:lstStyle/>
                    <a:p>
                      <a:pPr algn="l"/>
                      <a:r>
                        <a:rPr sz="1875" b="0" dirty="0">
                          <a:solidFill>
                            <a:srgbClr val="111111"/>
                          </a:solidFill>
                          <a:latin typeface="Aptos"/>
                          <a:ea typeface="Aptos"/>
                          <a:cs typeface="Aptos"/>
                        </a:rPr>
                        <a:t>Mock presentations</a:t>
                      </a:r>
                    </a:p>
                  </a:txBody>
                  <a:tcPr marL="123825" marR="114300" marT="76200" marB="76200" anchor="ctr">
                    <a:solidFill>
                      <a:srgbClr val="EEF8FF"/>
                    </a:solidFill>
                  </a:tcPr>
                </a:tc>
                <a:tc>
                  <a:txBody>
                    <a:bodyPr/>
                    <a:lstStyle/>
                    <a:p>
                      <a:pPr algn="l"/>
                      <a:r>
                        <a:rPr sz="1875" b="0" dirty="0">
                          <a:solidFill>
                            <a:srgbClr val="111111"/>
                          </a:solidFill>
                          <a:latin typeface="Aptos"/>
                          <a:ea typeface="Aptos"/>
                          <a:cs typeface="Aptos"/>
                        </a:rPr>
                        <a:t>Week 11</a:t>
                      </a:r>
                    </a:p>
                  </a:txBody>
                  <a:tcPr marL="123825" marR="114300" marT="76200" marB="76200" anchor="ctr">
                    <a:solidFill>
                      <a:srgbClr val="EEF8FF"/>
                    </a:solidFill>
                  </a:tcPr>
                </a:tc>
                <a:tc>
                  <a:txBody>
                    <a:bodyPr/>
                    <a:lstStyle/>
                    <a:p>
                      <a:pPr algn="l"/>
                      <a:r>
                        <a:rPr sz="1880" b="0" dirty="0">
                          <a:solidFill>
                            <a:srgbClr val="111111"/>
                          </a:solidFill>
                          <a:latin typeface="Aptos"/>
                          <a:ea typeface="Aptos"/>
                          <a:cs typeface="Aptos"/>
                        </a:rPr>
                        <a:t>Week 12, Classes A/B</a:t>
                      </a:r>
                      <a:r>
                        <a:rPr lang="en-US" sz="1880" b="0" dirty="0">
                          <a:solidFill>
                            <a:srgbClr val="111111"/>
                          </a:solidFill>
                          <a:latin typeface="Aptos"/>
                          <a:ea typeface="Aptos"/>
                          <a:cs typeface="Aptos"/>
                        </a:rPr>
                        <a:t> </a:t>
                      </a:r>
                      <a:r>
                        <a:rPr lang="en-US" sz="1880" b="1" dirty="0">
                          <a:solidFill>
                            <a:srgbClr val="FF0000"/>
                          </a:solidFill>
                          <a:latin typeface="+mn-lt"/>
                          <a:ea typeface="Aptos"/>
                          <a:cs typeface="Aptos"/>
                        </a:rPr>
                        <a:t>(0%)</a:t>
                      </a:r>
                      <a:endParaRPr sz="1880" b="0" dirty="0">
                        <a:solidFill>
                          <a:srgbClr val="111111"/>
                        </a:solidFill>
                        <a:latin typeface="Aptos"/>
                        <a:ea typeface="Aptos"/>
                        <a:cs typeface="Aptos"/>
                      </a:endParaRPr>
                    </a:p>
                  </a:txBody>
                  <a:tcPr marL="123825" marR="114300" marT="76200" marB="76200" anchor="ctr">
                    <a:solidFill>
                      <a:srgbClr val="EEF8FF"/>
                    </a:solidFill>
                  </a:tcPr>
                </a:tc>
                <a:extLst>
                  <a:ext uri="{0D108BD9-81ED-4DB2-BD59-A6C34878D82A}">
                    <a16:rowId xmlns:a16="http://schemas.microsoft.com/office/drawing/2014/main" val="10006"/>
                  </a:ext>
                </a:extLst>
              </a:tr>
              <a:tr h="438150">
                <a:tc>
                  <a:txBody>
                    <a:bodyPr/>
                    <a:lstStyle/>
                    <a:p>
                      <a:pPr algn="l"/>
                      <a:r>
                        <a:rPr lang="en-US" sz="1875" b="0" dirty="0">
                          <a:solidFill>
                            <a:srgbClr val="111111"/>
                          </a:solidFill>
                          <a:latin typeface="Aptos"/>
                          <a:ea typeface="Aptos"/>
                          <a:cs typeface="Aptos"/>
                        </a:rPr>
                        <a:t>Final Presentation  </a:t>
                      </a:r>
                      <a:r>
                        <a:rPr lang="en-US" sz="1875" b="1" dirty="0">
                          <a:solidFill>
                            <a:srgbClr val="FF0000"/>
                          </a:solidFill>
                          <a:latin typeface="Aptos"/>
                          <a:ea typeface="Aptos"/>
                          <a:cs typeface="Aptos"/>
                        </a:rPr>
                        <a:t>| </a:t>
                      </a:r>
                      <a:r>
                        <a:rPr lang="en-US" sz="1875" b="0" dirty="0">
                          <a:solidFill>
                            <a:srgbClr val="111111"/>
                          </a:solidFill>
                          <a:latin typeface="Aptos"/>
                          <a:ea typeface="Aptos"/>
                          <a:cs typeface="Aptos"/>
                        </a:rPr>
                        <a:t> Portfolio/vlog</a:t>
                      </a:r>
                      <a:endParaRPr sz="1875" b="0" dirty="0">
                        <a:solidFill>
                          <a:srgbClr val="111111"/>
                        </a:solidFill>
                        <a:latin typeface="Aptos"/>
                        <a:ea typeface="Aptos"/>
                        <a:cs typeface="Aptos"/>
                      </a:endParaRPr>
                    </a:p>
                  </a:txBody>
                  <a:tcPr marL="123825" marR="114300" marT="76200" marB="76200" anchor="ctr">
                    <a:solidFill>
                      <a:srgbClr val="EEF8FF"/>
                    </a:solidFill>
                  </a:tcPr>
                </a:tc>
                <a:tc>
                  <a:txBody>
                    <a:bodyPr/>
                    <a:lstStyle/>
                    <a:p>
                      <a:pPr algn="l"/>
                      <a:r>
                        <a:rPr lang="en-US" sz="1875" b="0" dirty="0">
                          <a:solidFill>
                            <a:srgbClr val="111111"/>
                          </a:solidFill>
                          <a:latin typeface="Aptos"/>
                          <a:ea typeface="Aptos"/>
                          <a:cs typeface="Aptos"/>
                        </a:rPr>
                        <a:t>TBC</a:t>
                      </a:r>
                      <a:endParaRPr sz="1875" b="0" dirty="0">
                        <a:solidFill>
                          <a:srgbClr val="111111"/>
                        </a:solidFill>
                        <a:latin typeface="Aptos"/>
                        <a:ea typeface="Aptos"/>
                        <a:cs typeface="Aptos"/>
                      </a:endParaRPr>
                    </a:p>
                  </a:txBody>
                  <a:tcPr marL="123825" marR="114300" marT="76200" marB="76200" anchor="ctr">
                    <a:solidFill>
                      <a:srgbClr val="EEF8FF"/>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75" b="0" dirty="0">
                          <a:solidFill>
                            <a:srgbClr val="111111"/>
                          </a:solidFill>
                          <a:latin typeface="+mn-lt"/>
                          <a:ea typeface="Aptos"/>
                          <a:cs typeface="Aptos"/>
                        </a:rPr>
                        <a:t>Week 13* (</a:t>
                      </a:r>
                      <a:r>
                        <a:rPr lang="en-US" sz="1875" b="1" dirty="0">
                          <a:solidFill>
                            <a:srgbClr val="FF0000"/>
                          </a:solidFill>
                          <a:latin typeface="+mn-lt"/>
                          <a:ea typeface="Aptos"/>
                          <a:cs typeface="Aptos"/>
                        </a:rPr>
                        <a:t>30% + 30%)</a:t>
                      </a:r>
                    </a:p>
                  </a:txBody>
                  <a:tcPr marL="123825" marR="114300" marT="76200" marB="76200" anchor="ctr">
                    <a:solidFill>
                      <a:srgbClr val="EEF8FF"/>
                    </a:solidFill>
                  </a:tcPr>
                </a:tc>
                <a:extLst>
                  <a:ext uri="{0D108BD9-81ED-4DB2-BD59-A6C34878D82A}">
                    <a16:rowId xmlns:a16="http://schemas.microsoft.com/office/drawing/2014/main" val="3760465717"/>
                  </a:ext>
                </a:extLst>
              </a:tr>
            </a:tbl>
          </a:graphicData>
        </a:graphic>
      </p:graphicFrame>
      <p:sp>
        <p:nvSpPr>
          <p:cNvPr id="5" name="assessment-6">
            <a:extLst>
              <a:ext uri="{FF2B5EF4-FFF2-40B4-BE49-F238E27FC236}">
                <a16:creationId xmlns:a16="http://schemas.microsoft.com/office/drawing/2014/main" id="{86F9C621-563E-4A8A-8249-78EF1FAA7244}"/>
              </a:ext>
            </a:extLst>
          </p:cNvPr>
          <p:cNvSpPr>
            <a:spLocks noGrp="1"/>
          </p:cNvSpPr>
          <p:nvPr/>
        </p:nvSpPr>
        <p:spPr>
          <a:xfrm>
            <a:off x="428625" y="5667375"/>
            <a:ext cx="11296650" cy="323850"/>
          </a:xfrm>
          <a:prstGeom prst="rect">
            <a:avLst/>
          </a:prstGeom>
          <a:noFill/>
          <a:ln w="0">
            <a:noFill/>
          </a:ln>
        </p:spPr>
        <p:txBody>
          <a:bodyPr wrap="square" lIns="0" tIns="0" rIns="0" bIns="0" anchor="t">
            <a:noAutofit/>
          </a:bodyPr>
          <a:lstStyle/>
          <a:p>
            <a:pPr algn="l">
              <a:defRPr sz="1875" b="0">
                <a:solidFill>
                  <a:srgbClr val="111111"/>
                </a:solidFill>
                <a:latin typeface="Aptos"/>
                <a:ea typeface="Aptos"/>
                <a:cs typeface="Aptos"/>
              </a:defRPr>
            </a:pPr>
            <a:r>
              <a:rPr sz="1875" b="0">
                <a:solidFill>
                  <a:srgbClr val="111111"/>
                </a:solidFill>
                <a:latin typeface="Aptos"/>
                <a:ea typeface="Aptos"/>
                <a:cs typeface="Aptos"/>
              </a:rPr>
              <a:t>Project briefs: Week 1. Keep your individual evidence record each week.</a:t>
            </a:r>
          </a:p>
        </p:txBody>
      </p:sp>
      <p:sp>
        <p:nvSpPr>
          <p:cNvPr id="6" name="assessment-7">
            <a:extLst>
              <a:ext uri="{FF2B5EF4-FFF2-40B4-BE49-F238E27FC236}">
                <a16:creationId xmlns:a16="http://schemas.microsoft.com/office/drawing/2014/main" id="{0DF7AE26-FE32-46E7-A8F1-31856AB63F6B}"/>
              </a:ext>
            </a:extLst>
          </p:cNvPr>
          <p:cNvSpPr>
            <a:spLocks noGrp="1"/>
          </p:cNvSpPr>
          <p:nvPr/>
        </p:nvSpPr>
        <p:spPr>
          <a:xfrm>
            <a:off x="428625" y="6057900"/>
            <a:ext cx="11296650" cy="314325"/>
          </a:xfrm>
          <a:prstGeom prst="rect">
            <a:avLst/>
          </a:prstGeom>
          <a:noFill/>
          <a:ln w="0">
            <a:noFill/>
          </a:ln>
        </p:spPr>
        <p:txBody>
          <a:bodyPr wrap="square" lIns="0" tIns="0" rIns="0" bIns="0" anchor="t">
            <a:noAutofit/>
          </a:bodyPr>
          <a:lstStyle/>
          <a:p>
            <a:pPr algn="l">
              <a:defRPr sz="1875" b="1">
                <a:solidFill>
                  <a:srgbClr val="111111"/>
                </a:solidFill>
                <a:latin typeface="Aptos"/>
                <a:ea typeface="Aptos"/>
                <a:cs typeface="Aptos"/>
              </a:defRPr>
            </a:pPr>
            <a:r>
              <a:rPr sz="1875" b="1">
                <a:solidFill>
                  <a:srgbClr val="111111"/>
                </a:solidFill>
                <a:latin typeface="Aptos"/>
                <a:ea typeface="Aptos"/>
                <a:cs typeface="Aptos"/>
              </a:rPr>
              <a:t>Final assessment weeks/submission dates: to be confirmed.</a:t>
            </a:r>
          </a:p>
        </p:txBody>
      </p:sp>
    </p:spTree>
    <p:extLst>
      <p:ext uri="{BB962C8B-B14F-4D97-AF65-F5344CB8AC3E}">
        <p14:creationId xmlns:p14="http://schemas.microsoft.com/office/powerpoint/2010/main" val="142486197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t">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final module mark</a:t>
            </a:r>
          </a:p>
        </p:txBody>
      </p:sp>
      <p:graphicFrame>
        <p:nvGraphicFramePr>
          <p:cNvPr id="8" name="Table 7"/>
          <p:cNvGraphicFramePr/>
          <p:nvPr>
            <p:extLst>
              <p:ext uri="{D42A27DB-BD31-4B8C-83A1-F6EECF244321}">
                <p14:modId xmlns:p14="http://schemas.microsoft.com/office/powerpoint/2010/main" val="3105821610"/>
              </p:ext>
            </p:extLst>
          </p:nvPr>
        </p:nvGraphicFramePr>
        <p:xfrm>
          <a:off x="428625" y="2009775"/>
          <a:ext cx="11296650" cy="3381375"/>
        </p:xfrm>
        <a:graphic>
          <a:graphicData uri="http://schemas.openxmlformats.org/drawingml/2006/table">
            <a:tbl>
              <a:tblPr firstRow="1"/>
              <a:tblGrid>
                <a:gridCol w="5562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362450">
                  <a:extLst>
                    <a:ext uri="{9D8B030D-6E8A-4147-A177-3AD203B41FA5}">
                      <a16:colId xmlns:a16="http://schemas.microsoft.com/office/drawing/2014/main" val="20002"/>
                    </a:ext>
                  </a:extLst>
                </a:gridCol>
              </a:tblGrid>
              <a:tr h="552450">
                <a:tc>
                  <a:txBody>
                    <a:bodyPr/>
                    <a:lstStyle/>
                    <a:p>
                      <a:pPr algn="l"/>
                      <a:r>
                        <a:rPr sz="1950" b="1">
                          <a:solidFill>
                            <a:srgbClr val="FFFFFF"/>
                          </a:solidFill>
                          <a:latin typeface="Aptos"/>
                          <a:ea typeface="Aptos"/>
                          <a:cs typeface="Aptos"/>
                        </a:rPr>
                        <a:t>Summative assessment</a:t>
                      </a:r>
                    </a:p>
                  </a:txBody>
                  <a:tcPr marL="123825" marR="114300" marT="76200" marB="76200" anchor="ctr">
                    <a:solidFill>
                      <a:srgbClr val="D6171D"/>
                    </a:solidFill>
                  </a:tcPr>
                </a:tc>
                <a:tc>
                  <a:txBody>
                    <a:bodyPr/>
                    <a:lstStyle/>
                    <a:p>
                      <a:pPr algn="l"/>
                      <a:r>
                        <a:rPr sz="1950" b="1">
                          <a:solidFill>
                            <a:srgbClr val="FFFFFF"/>
                          </a:solidFill>
                          <a:latin typeface="Aptos"/>
                          <a:ea typeface="Aptos"/>
                          <a:cs typeface="Aptos"/>
                        </a:rPr>
                        <a:t>Weight</a:t>
                      </a:r>
                    </a:p>
                  </a:txBody>
                  <a:tcPr marL="123825" marR="114300" marT="76200" marB="76200" anchor="ctr">
                    <a:solidFill>
                      <a:srgbClr val="D6171D"/>
                    </a:solidFill>
                  </a:tcPr>
                </a:tc>
                <a:tc>
                  <a:txBody>
                    <a:bodyPr/>
                    <a:lstStyle/>
                    <a:p>
                      <a:pPr algn="l"/>
                      <a:r>
                        <a:rPr sz="1950" b="1">
                          <a:solidFill>
                            <a:srgbClr val="FFFFFF"/>
                          </a:solidFill>
                          <a:latin typeface="Aptos"/>
                          <a:ea typeface="Aptos"/>
                          <a:cs typeface="Aptos"/>
                        </a:rPr>
                        <a:t>When</a:t>
                      </a:r>
                    </a:p>
                  </a:txBody>
                  <a:tcPr marL="123825" marR="114300" marT="76200" marB="76200" anchor="ctr">
                    <a:solidFill>
                      <a:srgbClr val="D6171D"/>
                    </a:solidFill>
                  </a:tcPr>
                </a:tc>
                <a:extLst>
                  <a:ext uri="{0D108BD9-81ED-4DB2-BD59-A6C34878D82A}">
                    <a16:rowId xmlns:a16="http://schemas.microsoft.com/office/drawing/2014/main" val="10000"/>
                  </a:ext>
                </a:extLst>
              </a:tr>
              <a:tr h="942975">
                <a:tc>
                  <a:txBody>
                    <a:bodyPr/>
                    <a:lstStyle/>
                    <a:p>
                      <a:pPr algn="l"/>
                      <a:r>
                        <a:rPr sz="1950" b="0" dirty="0">
                          <a:solidFill>
                            <a:srgbClr val="111111"/>
                          </a:solidFill>
                          <a:latin typeface="Aptos"/>
                          <a:ea typeface="Aptos"/>
                          <a:cs typeface="Aptos"/>
                        </a:rPr>
                        <a:t>Unseen examination</a:t>
                      </a:r>
                    </a:p>
                    <a:p>
                      <a:pPr algn="l"/>
                      <a:r>
                        <a:rPr sz="1950" b="0" dirty="0">
                          <a:solidFill>
                            <a:srgbClr val="111111"/>
                          </a:solidFill>
                          <a:latin typeface="Aptos"/>
                          <a:ea typeface="Aptos"/>
                          <a:cs typeface="Aptos"/>
                        </a:rPr>
                        <a:t>2 hours</a:t>
                      </a:r>
                    </a:p>
                  </a:txBody>
                  <a:tcPr marL="123825" marR="114300" marT="76200" marB="76200" anchor="ctr">
                    <a:solidFill>
                      <a:srgbClr val="FFFFFF"/>
                    </a:solidFill>
                  </a:tcPr>
                </a:tc>
                <a:tc>
                  <a:txBody>
                    <a:bodyPr/>
                    <a:lstStyle/>
                    <a:p>
                      <a:pPr algn="l"/>
                      <a:r>
                        <a:rPr sz="1950" b="1" dirty="0">
                          <a:solidFill>
                            <a:srgbClr val="FF0000"/>
                          </a:solidFill>
                          <a:latin typeface="Aptos"/>
                          <a:ea typeface="Aptos"/>
                          <a:cs typeface="Aptos"/>
                        </a:rPr>
                        <a:t>40%</a:t>
                      </a:r>
                    </a:p>
                  </a:txBody>
                  <a:tcPr marL="123825" marR="114300" marT="76200" marB="76200" anchor="ctr">
                    <a:solidFill>
                      <a:srgbClr val="FFFFFF"/>
                    </a:solidFill>
                  </a:tcPr>
                </a:tc>
                <a:tc>
                  <a:txBody>
                    <a:bodyPr/>
                    <a:lstStyle/>
                    <a:p>
                      <a:pPr algn="l"/>
                      <a:r>
                        <a:rPr sz="1950" b="0">
                          <a:solidFill>
                            <a:srgbClr val="111111"/>
                          </a:solidFill>
                          <a:latin typeface="Aptos"/>
                          <a:ea typeface="Aptos"/>
                          <a:cs typeface="Aptos"/>
                        </a:rPr>
                        <a:t>End of Semester 1</a:t>
                      </a:r>
                    </a:p>
                    <a:p>
                      <a:pPr algn="l"/>
                      <a:r>
                        <a:rPr sz="1950" b="0">
                          <a:solidFill>
                            <a:srgbClr val="111111"/>
                          </a:solidFill>
                          <a:latin typeface="Aptos"/>
                          <a:ea typeface="Aptos"/>
                          <a:cs typeface="Aptos"/>
                        </a:rPr>
                        <a:t>Exact week/date to be confirmed</a:t>
                      </a:r>
                    </a:p>
                  </a:txBody>
                  <a:tcPr marL="123825" marR="114300" marT="76200" marB="76200" anchor="ctr">
                    <a:solidFill>
                      <a:srgbClr val="FFFFFF"/>
                    </a:solidFill>
                  </a:tcPr>
                </a:tc>
                <a:extLst>
                  <a:ext uri="{0D108BD9-81ED-4DB2-BD59-A6C34878D82A}">
                    <a16:rowId xmlns:a16="http://schemas.microsoft.com/office/drawing/2014/main" val="10001"/>
                  </a:ext>
                </a:extLst>
              </a:tr>
              <a:tr h="942975">
                <a:tc>
                  <a:txBody>
                    <a:bodyPr/>
                    <a:lstStyle/>
                    <a:p>
                      <a:pPr algn="l"/>
                      <a:r>
                        <a:rPr sz="1950" b="0" dirty="0">
                          <a:solidFill>
                            <a:srgbClr val="111111"/>
                          </a:solidFill>
                          <a:latin typeface="Aptos"/>
                          <a:ea typeface="Aptos"/>
                          <a:cs typeface="Aptos"/>
                        </a:rPr>
                        <a:t>Group presentation or vlog</a:t>
                      </a:r>
                    </a:p>
                  </a:txBody>
                  <a:tcPr marL="123825" marR="114300" marT="76200" marB="76200" anchor="ctr">
                    <a:solidFill>
                      <a:srgbClr val="EEF8FF"/>
                    </a:solidFill>
                  </a:tcPr>
                </a:tc>
                <a:tc>
                  <a:txBody>
                    <a:bodyPr/>
                    <a:lstStyle/>
                    <a:p>
                      <a:pPr algn="l"/>
                      <a:r>
                        <a:rPr sz="1950" b="1" dirty="0">
                          <a:solidFill>
                            <a:srgbClr val="FF0000"/>
                          </a:solidFill>
                          <a:latin typeface="Aptos"/>
                          <a:ea typeface="Aptos"/>
                          <a:cs typeface="Aptos"/>
                        </a:rPr>
                        <a:t>30%</a:t>
                      </a:r>
                    </a:p>
                  </a:txBody>
                  <a:tcPr marL="123825" marR="114300" marT="76200" marB="76200" anchor="ctr">
                    <a:solidFill>
                      <a:srgbClr val="EEF8FF"/>
                    </a:solidFill>
                  </a:tcPr>
                </a:tc>
                <a:tc>
                  <a:txBody>
                    <a:bodyPr/>
                    <a:lstStyle/>
                    <a:p>
                      <a:pPr algn="l"/>
                      <a:r>
                        <a:rPr sz="1950" b="0">
                          <a:solidFill>
                            <a:srgbClr val="111111"/>
                          </a:solidFill>
                          <a:latin typeface="Aptos"/>
                          <a:ea typeface="Aptos"/>
                          <a:cs typeface="Aptos"/>
                        </a:rPr>
                        <a:t>End of Semester 2</a:t>
                      </a:r>
                    </a:p>
                    <a:p>
                      <a:pPr algn="l"/>
                      <a:r>
                        <a:rPr sz="1950" b="0">
                          <a:solidFill>
                            <a:srgbClr val="111111"/>
                          </a:solidFill>
                          <a:latin typeface="Aptos"/>
                          <a:ea typeface="Aptos"/>
                          <a:cs typeface="Aptos"/>
                        </a:rPr>
                        <a:t>Exact week/date to be confirmed</a:t>
                      </a:r>
                    </a:p>
                  </a:txBody>
                  <a:tcPr marL="123825" marR="114300" marT="76200" marB="76200" anchor="ctr">
                    <a:solidFill>
                      <a:srgbClr val="EEF8FF"/>
                    </a:solidFill>
                  </a:tcPr>
                </a:tc>
                <a:extLst>
                  <a:ext uri="{0D108BD9-81ED-4DB2-BD59-A6C34878D82A}">
                    <a16:rowId xmlns:a16="http://schemas.microsoft.com/office/drawing/2014/main" val="10002"/>
                  </a:ext>
                </a:extLst>
              </a:tr>
              <a:tr h="942975">
                <a:tc>
                  <a:txBody>
                    <a:bodyPr/>
                    <a:lstStyle/>
                    <a:p>
                      <a:pPr algn="l"/>
                      <a:r>
                        <a:rPr sz="1950" b="0" dirty="0">
                          <a:solidFill>
                            <a:srgbClr val="111111"/>
                          </a:solidFill>
                          <a:latin typeface="Aptos"/>
                          <a:ea typeface="Aptos"/>
                          <a:cs typeface="Aptos"/>
                        </a:rPr>
                        <a:t>Individual sustainability</a:t>
                      </a:r>
                    </a:p>
                    <a:p>
                      <a:pPr algn="l"/>
                      <a:r>
                        <a:rPr sz="1950" b="0" dirty="0">
                          <a:solidFill>
                            <a:srgbClr val="111111"/>
                          </a:solidFill>
                          <a:latin typeface="Aptos"/>
                          <a:ea typeface="Aptos"/>
                          <a:cs typeface="Aptos"/>
                        </a:rPr>
                        <a:t>portfolio or blog</a:t>
                      </a:r>
                    </a:p>
                  </a:txBody>
                  <a:tcPr marL="123825" marR="114300" marT="76200" marB="76200" anchor="ctr">
                    <a:solidFill>
                      <a:srgbClr val="FFFFFF"/>
                    </a:solidFill>
                  </a:tcPr>
                </a:tc>
                <a:tc>
                  <a:txBody>
                    <a:bodyPr/>
                    <a:lstStyle/>
                    <a:p>
                      <a:pPr algn="l"/>
                      <a:r>
                        <a:rPr sz="1950" b="1" dirty="0">
                          <a:solidFill>
                            <a:srgbClr val="FF0000"/>
                          </a:solidFill>
                          <a:latin typeface="Aptos"/>
                          <a:ea typeface="Aptos"/>
                          <a:cs typeface="Aptos"/>
                        </a:rPr>
                        <a:t>30%</a:t>
                      </a:r>
                    </a:p>
                  </a:txBody>
                  <a:tcPr marL="123825" marR="114300" marT="76200" marB="76200" anchor="ctr">
                    <a:solidFill>
                      <a:srgbClr val="FFFFFF"/>
                    </a:solidFill>
                  </a:tcPr>
                </a:tc>
                <a:tc>
                  <a:txBody>
                    <a:bodyPr/>
                    <a:lstStyle/>
                    <a:p>
                      <a:pPr algn="l"/>
                      <a:r>
                        <a:rPr sz="1950" b="0" dirty="0">
                          <a:solidFill>
                            <a:srgbClr val="111111"/>
                          </a:solidFill>
                          <a:latin typeface="Aptos"/>
                          <a:ea typeface="Aptos"/>
                          <a:cs typeface="Aptos"/>
                        </a:rPr>
                        <a:t>Developed continuously</a:t>
                      </a:r>
                    </a:p>
                    <a:p>
                      <a:pPr algn="l"/>
                      <a:r>
                        <a:rPr sz="1950" b="0" dirty="0">
                          <a:solidFill>
                            <a:srgbClr val="111111"/>
                          </a:solidFill>
                          <a:latin typeface="Aptos"/>
                          <a:ea typeface="Aptos"/>
                          <a:cs typeface="Aptos"/>
                        </a:rPr>
                        <a:t>Final deadline to be confirmed</a:t>
                      </a:r>
                    </a:p>
                  </a:txBody>
                  <a:tcPr marL="123825" marR="114300" marT="76200" marB="76200" anchor="ctr">
                    <a:solidFill>
                      <a:srgbClr val="FFFFFF"/>
                    </a:solidFill>
                  </a:tcPr>
                </a:tc>
                <a:extLst>
                  <a:ext uri="{0D108BD9-81ED-4DB2-BD59-A6C34878D82A}">
                    <a16:rowId xmlns:a16="http://schemas.microsoft.com/office/drawing/2014/main" val="10003"/>
                  </a:ext>
                </a:extLst>
              </a:tr>
            </a:tbl>
          </a:graphicData>
        </a:graphic>
      </p:graphicFrame>
      <p:sp>
        <p:nvSpPr>
          <p:cNvPr id="4" name="assessment-8">
            <a:extLst>
              <a:ext uri="{FF2B5EF4-FFF2-40B4-BE49-F238E27FC236}">
                <a16:creationId xmlns:a16="http://schemas.microsoft.com/office/drawing/2014/main" id="{B89AE209-085C-4108-B3B8-96F46C64B173}"/>
              </a:ext>
            </a:extLst>
          </p:cNvPr>
          <p:cNvSpPr>
            <a:spLocks noGrp="1"/>
          </p:cNvSpPr>
          <p:nvPr/>
        </p:nvSpPr>
        <p:spPr>
          <a:xfrm>
            <a:off x="428625" y="5619750"/>
            <a:ext cx="4762500" cy="390525"/>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dirty="0">
                <a:solidFill>
                  <a:srgbClr val="FF0000"/>
                </a:solidFill>
                <a:latin typeface="Aptos"/>
                <a:ea typeface="Aptos"/>
                <a:cs typeface="Aptos"/>
              </a:rPr>
              <a:t>40% + 30% + 30% = 100%</a:t>
            </a:r>
          </a:p>
        </p:txBody>
      </p:sp>
      <p:sp>
        <p:nvSpPr>
          <p:cNvPr id="5" name="assessment-9">
            <a:extLst>
              <a:ext uri="{FF2B5EF4-FFF2-40B4-BE49-F238E27FC236}">
                <a16:creationId xmlns:a16="http://schemas.microsoft.com/office/drawing/2014/main" id="{2DA5E46F-A081-4B0E-9073-CD07BECC7F4B}"/>
              </a:ext>
            </a:extLst>
          </p:cNvPr>
          <p:cNvSpPr>
            <a:spLocks noGrp="1"/>
          </p:cNvSpPr>
          <p:nvPr/>
        </p:nvSpPr>
        <p:spPr>
          <a:xfrm>
            <a:off x="5524500" y="5619750"/>
            <a:ext cx="6191250" cy="390525"/>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Module pass mark: 40% overall*</a:t>
            </a:r>
          </a:p>
        </p:txBody>
      </p:sp>
      <p:sp>
        <p:nvSpPr>
          <p:cNvPr id="6" name="assessment-10">
            <a:extLst>
              <a:ext uri="{FF2B5EF4-FFF2-40B4-BE49-F238E27FC236}">
                <a16:creationId xmlns:a16="http://schemas.microsoft.com/office/drawing/2014/main" id="{BC8753ED-6942-49AB-8895-88F8E2ABC9D3}"/>
              </a:ext>
            </a:extLst>
          </p:cNvPr>
          <p:cNvSpPr>
            <a:spLocks noGrp="1"/>
          </p:cNvSpPr>
          <p:nvPr/>
        </p:nvSpPr>
        <p:spPr>
          <a:xfrm>
            <a:off x="5524500" y="6067425"/>
            <a:ext cx="6191250" cy="266700"/>
          </a:xfrm>
          <a:prstGeom prst="rect">
            <a:avLst/>
          </a:prstGeom>
          <a:noFill/>
          <a:ln w="0">
            <a:noFill/>
          </a:ln>
        </p:spPr>
        <p:txBody>
          <a:bodyPr wrap="square" lIns="0" tIns="0" rIns="0" bIns="0" anchor="t">
            <a:noAutofit/>
          </a:bodyPr>
          <a:lstStyle/>
          <a:p>
            <a:pPr algn="l">
              <a:defRPr sz="1500" b="0">
                <a:solidFill>
                  <a:srgbClr val="111111"/>
                </a:solidFill>
                <a:latin typeface="Aptos"/>
                <a:ea typeface="Aptos"/>
                <a:cs typeface="Aptos"/>
              </a:defRPr>
            </a:pPr>
            <a:r>
              <a:rPr sz="1500" b="0">
                <a:solidFill>
                  <a:srgbClr val="111111"/>
                </a:solidFill>
                <a:latin typeface="Aptos"/>
                <a:ea typeface="Aptos"/>
                <a:cs typeface="Aptos"/>
              </a:rPr>
              <a:t>*Pathway progression requirements may differ.</a:t>
            </a:r>
          </a:p>
        </p:txBody>
      </p:sp>
    </p:spTree>
    <p:extLst>
      <p:ext uri="{BB962C8B-B14F-4D97-AF65-F5344CB8AC3E}">
        <p14:creationId xmlns:p14="http://schemas.microsoft.com/office/powerpoint/2010/main" val="3601649106"/>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t">
            <a:no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Semester 2: presentation and portfolio</a:t>
            </a:r>
          </a:p>
        </p:txBody>
      </p:sp>
      <p:graphicFrame>
        <p:nvGraphicFramePr>
          <p:cNvPr id="6" name="Table 5"/>
          <p:cNvGraphicFramePr/>
          <p:nvPr>
            <p:extLst>
              <p:ext uri="{D42A27DB-BD31-4B8C-83A1-F6EECF244321}">
                <p14:modId xmlns:p14="http://schemas.microsoft.com/office/powerpoint/2010/main" val="1642845581"/>
              </p:ext>
            </p:extLst>
          </p:nvPr>
        </p:nvGraphicFramePr>
        <p:xfrm>
          <a:off x="428625" y="2009775"/>
          <a:ext cx="11296650" cy="3943350"/>
        </p:xfrm>
        <a:graphic>
          <a:graphicData uri="http://schemas.openxmlformats.org/drawingml/2006/table">
            <a:tbl>
              <a:tblPr firstRow="1"/>
              <a:tblGrid>
                <a:gridCol w="2438400">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590550">
                <a:tc>
                  <a:txBody>
                    <a:bodyPr/>
                    <a:lstStyle/>
                    <a:p>
                      <a:endParaRPr/>
                    </a:p>
                  </a:txBody>
                  <a:tcPr marL="123825" marR="114300" marT="76200" marB="76200" anchor="ctr">
                    <a:solidFill>
                      <a:srgbClr val="D6171D"/>
                    </a:solidFill>
                  </a:tcPr>
                </a:tc>
                <a:tc>
                  <a:txBody>
                    <a:bodyPr/>
                    <a:lstStyle/>
                    <a:p>
                      <a:pPr algn="l"/>
                      <a:r>
                        <a:rPr sz="1950" b="1">
                          <a:solidFill>
                            <a:srgbClr val="FFFFFF"/>
                          </a:solidFill>
                          <a:latin typeface="Aptos"/>
                          <a:ea typeface="Aptos"/>
                          <a:cs typeface="Aptos"/>
                        </a:rPr>
                        <a:t>Group presentation / vlog</a:t>
                      </a:r>
                    </a:p>
                  </a:txBody>
                  <a:tcPr marL="123825" marR="114300" marT="76200" marB="76200" anchor="ctr">
                    <a:solidFill>
                      <a:srgbClr val="D6171D"/>
                    </a:solidFill>
                  </a:tcPr>
                </a:tc>
                <a:tc>
                  <a:txBody>
                    <a:bodyPr/>
                    <a:lstStyle/>
                    <a:p>
                      <a:pPr algn="l"/>
                      <a:r>
                        <a:rPr sz="1950" b="1">
                          <a:solidFill>
                            <a:srgbClr val="FFFFFF"/>
                          </a:solidFill>
                          <a:latin typeface="Aptos"/>
                          <a:ea typeface="Aptos"/>
                          <a:cs typeface="Aptos"/>
                        </a:rPr>
                        <a:t>Individual portfolio / blog</a:t>
                      </a:r>
                    </a:p>
                  </a:txBody>
                  <a:tcPr marL="123825" marR="114300" marT="76200" marB="76200" anchor="ctr">
                    <a:solidFill>
                      <a:srgbClr val="D6171D"/>
                    </a:solidFill>
                  </a:tcPr>
                </a:tc>
                <a:extLst>
                  <a:ext uri="{0D108BD9-81ED-4DB2-BD59-A6C34878D82A}">
                    <a16:rowId xmlns:a16="http://schemas.microsoft.com/office/drawing/2014/main" val="10000"/>
                  </a:ext>
                </a:extLst>
              </a:tr>
              <a:tr h="533400">
                <a:tc>
                  <a:txBody>
                    <a:bodyPr/>
                    <a:lstStyle/>
                    <a:p>
                      <a:pPr algn="l"/>
                      <a:r>
                        <a:rPr sz="1950" b="0">
                          <a:solidFill>
                            <a:srgbClr val="111111"/>
                          </a:solidFill>
                          <a:latin typeface="Aptos"/>
                          <a:ea typeface="Aptos"/>
                          <a:cs typeface="Aptos"/>
                        </a:rPr>
                        <a:t>Who?</a:t>
                      </a:r>
                    </a:p>
                  </a:txBody>
                  <a:tcPr marL="123825" marR="114300" marT="76200" marB="76200" anchor="ctr">
                    <a:solidFill>
                      <a:srgbClr val="FFFFFF"/>
                    </a:solidFill>
                  </a:tcPr>
                </a:tc>
                <a:tc>
                  <a:txBody>
                    <a:bodyPr/>
                    <a:lstStyle/>
                    <a:p>
                      <a:pPr algn="l"/>
                      <a:r>
                        <a:rPr sz="1950" b="0">
                          <a:solidFill>
                            <a:srgbClr val="111111"/>
                          </a:solidFill>
                          <a:latin typeface="Aptos"/>
                          <a:ea typeface="Aptos"/>
                          <a:cs typeface="Aptos"/>
                        </a:rPr>
                        <a:t>Your group</a:t>
                      </a:r>
                    </a:p>
                  </a:txBody>
                  <a:tcPr marL="123825" marR="114300" marT="76200" marB="76200" anchor="ctr">
                    <a:solidFill>
                      <a:srgbClr val="FFFFFF"/>
                    </a:solidFill>
                  </a:tcPr>
                </a:tc>
                <a:tc>
                  <a:txBody>
                    <a:bodyPr/>
                    <a:lstStyle/>
                    <a:p>
                      <a:pPr algn="l"/>
                      <a:r>
                        <a:rPr sz="1950" b="0">
                          <a:solidFill>
                            <a:srgbClr val="111111"/>
                          </a:solidFill>
                          <a:latin typeface="Aptos"/>
                          <a:ea typeface="Aptos"/>
                          <a:cs typeface="Aptos"/>
                        </a:rPr>
                        <a:t>You individually</a:t>
                      </a:r>
                    </a:p>
                  </a:txBody>
                  <a:tcPr marL="123825" marR="114300" marT="76200" marB="76200" anchor="ctr">
                    <a:solidFill>
                      <a:srgbClr val="FFFFFF"/>
                    </a:solidFill>
                  </a:tcPr>
                </a:tc>
                <a:extLst>
                  <a:ext uri="{0D108BD9-81ED-4DB2-BD59-A6C34878D82A}">
                    <a16:rowId xmlns:a16="http://schemas.microsoft.com/office/drawing/2014/main" val="10001"/>
                  </a:ext>
                </a:extLst>
              </a:tr>
              <a:tr h="866775">
                <a:tc>
                  <a:txBody>
                    <a:bodyPr/>
                    <a:lstStyle/>
                    <a:p>
                      <a:pPr algn="l"/>
                      <a:r>
                        <a:rPr sz="1950" b="0">
                          <a:solidFill>
                            <a:srgbClr val="111111"/>
                          </a:solidFill>
                          <a:latin typeface="Aptos"/>
                          <a:ea typeface="Aptos"/>
                          <a:cs typeface="Aptos"/>
                        </a:rPr>
                        <a:t>What do I submit?</a:t>
                      </a:r>
                    </a:p>
                  </a:txBody>
                  <a:tcPr marL="123825" marR="114300" marT="76200" marB="76200" anchor="ctr">
                    <a:solidFill>
                      <a:srgbClr val="EEF8FF"/>
                    </a:solidFill>
                  </a:tcPr>
                </a:tc>
                <a:tc>
                  <a:txBody>
                    <a:bodyPr/>
                    <a:lstStyle/>
                    <a:p>
                      <a:pPr algn="l"/>
                      <a:r>
                        <a:rPr sz="1950" b="0">
                          <a:solidFill>
                            <a:srgbClr val="111111"/>
                          </a:solidFill>
                          <a:latin typeface="Aptos"/>
                          <a:ea typeface="Aptos"/>
                          <a:cs typeface="Aptos"/>
                        </a:rPr>
                        <a:t>Live talk or recorded video,</a:t>
                      </a:r>
                    </a:p>
                    <a:p>
                      <a:pPr algn="l"/>
                      <a:r>
                        <a:rPr sz="1950" b="0">
                          <a:solidFill>
                            <a:srgbClr val="111111"/>
                          </a:solidFill>
                          <a:latin typeface="Aptos"/>
                          <a:ea typeface="Aptos"/>
                          <a:cs typeface="Aptos"/>
                        </a:rPr>
                        <a:t>plus a group project item</a:t>
                      </a:r>
                    </a:p>
                  </a:txBody>
                  <a:tcPr marL="123825" marR="114300" marT="76200" marB="76200" anchor="ctr">
                    <a:solidFill>
                      <a:srgbClr val="EEF8FF"/>
                    </a:solidFill>
                  </a:tcPr>
                </a:tc>
                <a:tc>
                  <a:txBody>
                    <a:bodyPr/>
                    <a:lstStyle/>
                    <a:p>
                      <a:pPr algn="l"/>
                      <a:r>
                        <a:rPr sz="1950" b="0">
                          <a:solidFill>
                            <a:srgbClr val="111111"/>
                          </a:solidFill>
                          <a:latin typeface="Aptos"/>
                          <a:ea typeface="Aptos"/>
                          <a:cs typeface="Aptos"/>
                        </a:rPr>
                        <a:t>Written portfolio or blog</a:t>
                      </a:r>
                    </a:p>
                    <a:p>
                      <a:pPr algn="l"/>
                      <a:r>
                        <a:rPr sz="1950" b="0">
                          <a:solidFill>
                            <a:srgbClr val="111111"/>
                          </a:solidFill>
                          <a:latin typeface="Aptos"/>
                          <a:ea typeface="Aptos"/>
                          <a:cs typeface="Aptos"/>
                        </a:rPr>
                        <a:t>with weekly entries</a:t>
                      </a:r>
                    </a:p>
                  </a:txBody>
                  <a:tcPr marL="123825" marR="114300" marT="76200" marB="76200" anchor="ctr">
                    <a:solidFill>
                      <a:srgbClr val="EEF8FF"/>
                    </a:solidFill>
                  </a:tcPr>
                </a:tc>
                <a:extLst>
                  <a:ext uri="{0D108BD9-81ED-4DB2-BD59-A6C34878D82A}">
                    <a16:rowId xmlns:a16="http://schemas.microsoft.com/office/drawing/2014/main" val="10002"/>
                  </a:ext>
                </a:extLst>
              </a:tr>
              <a:tr h="809625">
                <a:tc>
                  <a:txBody>
                    <a:bodyPr/>
                    <a:lstStyle/>
                    <a:p>
                      <a:pPr algn="l"/>
                      <a:r>
                        <a:rPr sz="1950" b="0">
                          <a:solidFill>
                            <a:srgbClr val="111111"/>
                          </a:solidFill>
                          <a:latin typeface="Aptos"/>
                          <a:ea typeface="Aptos"/>
                          <a:cs typeface="Aptos"/>
                        </a:rPr>
                        <a:t>What do I explain?</a:t>
                      </a:r>
                    </a:p>
                  </a:txBody>
                  <a:tcPr marL="123825" marR="114300" marT="76200" marB="76200" anchor="ctr">
                    <a:solidFill>
                      <a:srgbClr val="FFFFFF"/>
                    </a:solidFill>
                  </a:tcPr>
                </a:tc>
                <a:tc>
                  <a:txBody>
                    <a:bodyPr/>
                    <a:lstStyle/>
                    <a:p>
                      <a:pPr algn="l"/>
                      <a:r>
                        <a:rPr sz="1950" b="0">
                          <a:solidFill>
                            <a:srgbClr val="111111"/>
                          </a:solidFill>
                          <a:latin typeface="Aptos"/>
                          <a:ea typeface="Aptos"/>
                          <a:cs typeface="Aptos"/>
                        </a:rPr>
                        <a:t>Research, evidence</a:t>
                      </a:r>
                    </a:p>
                    <a:p>
                      <a:pPr algn="l"/>
                      <a:r>
                        <a:rPr sz="1950" b="0">
                          <a:solidFill>
                            <a:srgbClr val="111111"/>
                          </a:solidFill>
                          <a:latin typeface="Aptos"/>
                          <a:ea typeface="Aptos"/>
                          <a:cs typeface="Aptos"/>
                        </a:rPr>
                        <a:t>and conclusions</a:t>
                      </a:r>
                    </a:p>
                  </a:txBody>
                  <a:tcPr marL="123825" marR="114300" marT="76200" marB="76200" anchor="ctr">
                    <a:solidFill>
                      <a:srgbClr val="FFFFFF"/>
                    </a:solidFill>
                  </a:tcPr>
                </a:tc>
                <a:tc>
                  <a:txBody>
                    <a:bodyPr/>
                    <a:lstStyle/>
                    <a:p>
                      <a:pPr algn="l"/>
                      <a:r>
                        <a:rPr sz="1950" b="0">
                          <a:solidFill>
                            <a:srgbClr val="111111"/>
                          </a:solidFill>
                          <a:latin typeface="Aptos"/>
                          <a:ea typeface="Aptos"/>
                          <a:cs typeface="Aptos"/>
                        </a:rPr>
                        <a:t>Your contribution and learning,</a:t>
                      </a:r>
                    </a:p>
                    <a:p>
                      <a:pPr algn="l"/>
                      <a:r>
                        <a:rPr sz="1950" b="0">
                          <a:solidFill>
                            <a:srgbClr val="111111"/>
                          </a:solidFill>
                          <a:latin typeface="Aptos"/>
                          <a:ea typeface="Aptos"/>
                          <a:cs typeface="Aptos"/>
                        </a:rPr>
                        <a:t>with specific examples</a:t>
                      </a:r>
                    </a:p>
                  </a:txBody>
                  <a:tcPr marL="123825" marR="114300" marT="76200" marB="76200" anchor="ctr">
                    <a:solidFill>
                      <a:srgbClr val="FFFFFF"/>
                    </a:solidFill>
                  </a:tcPr>
                </a:tc>
                <a:extLst>
                  <a:ext uri="{0D108BD9-81ED-4DB2-BD59-A6C34878D82A}">
                    <a16:rowId xmlns:a16="http://schemas.microsoft.com/office/drawing/2014/main" val="10003"/>
                  </a:ext>
                </a:extLst>
              </a:tr>
              <a:tr h="609600">
                <a:tc>
                  <a:txBody>
                    <a:bodyPr/>
                    <a:lstStyle/>
                    <a:p>
                      <a:pPr algn="l"/>
                      <a:r>
                        <a:rPr sz="1950" b="0">
                          <a:solidFill>
                            <a:srgbClr val="111111"/>
                          </a:solidFill>
                          <a:latin typeface="Aptos"/>
                          <a:ea typeface="Aptos"/>
                          <a:cs typeface="Aptos"/>
                        </a:rPr>
                        <a:t>Length</a:t>
                      </a:r>
                    </a:p>
                  </a:txBody>
                  <a:tcPr marL="123825" marR="114300" marT="76200" marB="76200" anchor="ctr">
                    <a:solidFill>
                      <a:srgbClr val="EEF8FF"/>
                    </a:solidFill>
                  </a:tcPr>
                </a:tc>
                <a:tc>
                  <a:txBody>
                    <a:bodyPr/>
                    <a:lstStyle/>
                    <a:p>
                      <a:pPr algn="l"/>
                      <a:r>
                        <a:rPr sz="1950" b="0">
                          <a:solidFill>
                            <a:srgbClr val="111111"/>
                          </a:solidFill>
                          <a:latin typeface="Aptos"/>
                          <a:ea typeface="Aptos"/>
                          <a:cs typeface="Aptos"/>
                        </a:rPr>
                        <a:t>Up to 9 minutes per member</a:t>
                      </a:r>
                    </a:p>
                  </a:txBody>
                  <a:tcPr marL="123825" marR="114300" marT="76200" marB="76200" anchor="ctr">
                    <a:solidFill>
                      <a:srgbClr val="EEF8FF"/>
                    </a:solidFill>
                  </a:tcPr>
                </a:tc>
                <a:tc>
                  <a:txBody>
                    <a:bodyPr/>
                    <a:lstStyle/>
                    <a:p>
                      <a:pPr algn="l"/>
                      <a:r>
                        <a:rPr sz="1950" b="0">
                          <a:solidFill>
                            <a:srgbClr val="111111"/>
                          </a:solidFill>
                          <a:latin typeface="Aptos"/>
                          <a:ea typeface="Aptos"/>
                          <a:cs typeface="Aptos"/>
                        </a:rPr>
                        <a:t>1,500 words or equivalent</a:t>
                      </a:r>
                    </a:p>
                  </a:txBody>
                  <a:tcPr marL="123825" marR="114300" marT="76200" marB="76200" anchor="ctr">
                    <a:solidFill>
                      <a:srgbClr val="EEF8FF"/>
                    </a:solidFill>
                  </a:tcPr>
                </a:tc>
                <a:extLst>
                  <a:ext uri="{0D108BD9-81ED-4DB2-BD59-A6C34878D82A}">
                    <a16:rowId xmlns:a16="http://schemas.microsoft.com/office/drawing/2014/main" val="10004"/>
                  </a:ext>
                </a:extLst>
              </a:tr>
              <a:tr h="533400">
                <a:tc>
                  <a:txBody>
                    <a:bodyPr/>
                    <a:lstStyle/>
                    <a:p>
                      <a:pPr algn="l"/>
                      <a:r>
                        <a:rPr sz="1950" b="0">
                          <a:solidFill>
                            <a:srgbClr val="111111"/>
                          </a:solidFill>
                          <a:latin typeface="Aptos"/>
                          <a:ea typeface="Aptos"/>
                          <a:cs typeface="Aptos"/>
                        </a:rPr>
                        <a:t>Weight</a:t>
                      </a:r>
                    </a:p>
                  </a:txBody>
                  <a:tcPr marL="123825" marR="114300" marT="76200" marB="76200" anchor="ctr">
                    <a:solidFill>
                      <a:srgbClr val="FFFFFF"/>
                    </a:solidFill>
                  </a:tcPr>
                </a:tc>
                <a:tc>
                  <a:txBody>
                    <a:bodyPr/>
                    <a:lstStyle/>
                    <a:p>
                      <a:pPr algn="l"/>
                      <a:r>
                        <a:rPr sz="1950" b="1" dirty="0">
                          <a:solidFill>
                            <a:srgbClr val="FF0000"/>
                          </a:solidFill>
                          <a:latin typeface="Aptos"/>
                          <a:ea typeface="Aptos"/>
                          <a:cs typeface="Aptos"/>
                        </a:rPr>
                        <a:t>30%</a:t>
                      </a:r>
                    </a:p>
                  </a:txBody>
                  <a:tcPr marL="123825" marR="114300" marT="76200" marB="76200" anchor="ctr">
                    <a:solidFill>
                      <a:srgbClr val="FFFFFF"/>
                    </a:solidFill>
                  </a:tcPr>
                </a:tc>
                <a:tc>
                  <a:txBody>
                    <a:bodyPr/>
                    <a:lstStyle/>
                    <a:p>
                      <a:pPr algn="l"/>
                      <a:r>
                        <a:rPr sz="1950" b="1" dirty="0">
                          <a:solidFill>
                            <a:srgbClr val="FF0000"/>
                          </a:solidFill>
                          <a:latin typeface="Aptos"/>
                          <a:ea typeface="Aptos"/>
                          <a:cs typeface="Aptos"/>
                        </a:rPr>
                        <a:t>30%</a:t>
                      </a:r>
                    </a:p>
                  </a:txBody>
                  <a:tcPr marL="123825" marR="114300" marT="76200" marB="76200" anchor="ctr">
                    <a:solidFill>
                      <a:srgbClr val="FFFFFF"/>
                    </a:solidFill>
                  </a:tcPr>
                </a:tc>
                <a:extLst>
                  <a:ext uri="{0D108BD9-81ED-4DB2-BD59-A6C34878D82A}">
                    <a16:rowId xmlns:a16="http://schemas.microsoft.com/office/drawing/2014/main" val="10005"/>
                  </a:ext>
                </a:extLst>
              </a:tr>
            </a:tbl>
          </a:graphicData>
        </a:graphic>
      </p:graphicFrame>
      <p:sp>
        <p:nvSpPr>
          <p:cNvPr id="4" name="assessment-11">
            <a:extLst>
              <a:ext uri="{FF2B5EF4-FFF2-40B4-BE49-F238E27FC236}">
                <a16:creationId xmlns:a16="http://schemas.microsoft.com/office/drawing/2014/main" id="{E1F72F2B-956F-413C-9AD9-94D688EE9E74}"/>
              </a:ext>
            </a:extLst>
          </p:cNvPr>
          <p:cNvSpPr>
            <a:spLocks noGrp="1"/>
          </p:cNvSpPr>
          <p:nvPr/>
        </p:nvSpPr>
        <p:spPr>
          <a:xfrm>
            <a:off x="428625" y="6096000"/>
            <a:ext cx="11296650" cy="285750"/>
          </a:xfrm>
          <a:prstGeom prst="rect">
            <a:avLst/>
          </a:prstGeom>
          <a:noFill/>
          <a:ln w="0">
            <a:noFill/>
          </a:ln>
        </p:spPr>
        <p:txBody>
          <a:bodyPr wrap="square" lIns="0" tIns="0" rIns="0" bIns="0" anchor="t">
            <a:noAutofit/>
          </a:bodyPr>
          <a:lstStyle/>
          <a:p>
            <a:pPr algn="l">
              <a:defRPr sz="1800" b="0">
                <a:solidFill>
                  <a:srgbClr val="111111"/>
                </a:solidFill>
                <a:latin typeface="Aptos"/>
                <a:ea typeface="Aptos"/>
                <a:cs typeface="Aptos"/>
              </a:defRPr>
            </a:pPr>
            <a:r>
              <a:rPr sz="1800" b="0">
                <a:solidFill>
                  <a:srgbClr val="111111"/>
                </a:solidFill>
                <a:latin typeface="Aptos"/>
                <a:ea typeface="Aptos"/>
                <a:cs typeface="Aptos"/>
              </a:rPr>
              <a:t>Project item (artefact): for example, a model, poster or video.</a:t>
            </a:r>
          </a:p>
        </p:txBody>
      </p:sp>
    </p:spTree>
    <p:extLst>
      <p:ext uri="{BB962C8B-B14F-4D97-AF65-F5344CB8AC3E}">
        <p14:creationId xmlns:p14="http://schemas.microsoft.com/office/powerpoint/2010/main" val="4112823401"/>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0EE20-CE2E-3013-3D7D-3F4166CBDECE}"/>
              </a:ext>
            </a:extLst>
          </p:cNvPr>
          <p:cNvSpPr>
            <a:spLocks noGrp="1"/>
          </p:cNvSpPr>
          <p:nvPr>
            <p:ph type="ctrTitle"/>
          </p:nvPr>
        </p:nvSpPr>
        <p:spPr>
          <a:xfrm>
            <a:off x="356102" y="2154457"/>
            <a:ext cx="5739898" cy="4050399"/>
          </a:xfrm>
        </p:spPr>
        <p:txBody>
          <a:bodyPr>
            <a:normAutofit fontScale="90000"/>
          </a:bodyPr>
          <a:lstStyle/>
          <a:p>
            <a:r>
              <a:rPr sz="4900"/>
              <a:t>IFY Statistics</a:t>
            </a:r>
          </a:p>
          <a:p>
            <a:r>
              <a:rPr sz="2700"/>
              <a:t>Semester 1 • Week 1 • Class A</a:t>
            </a:r>
          </a:p>
          <a:p>
            <a:r>
              <a:rPr sz="4900"/>
              <a:t> </a:t>
            </a:r>
          </a:p>
          <a:p>
            <a:r>
              <a:rPr sz="4900"/>
              <a:t>Mathematical Foundations I</a:t>
            </a:r>
          </a:p>
          <a:p>
            <a:r>
              <a:rPr sz="4900"/>
              <a:t>Sets, Counting &amp; Arithmetic</a:t>
            </a:r>
          </a:p>
        </p:txBody>
      </p:sp>
    </p:spTree>
    <p:extLst>
      <p:ext uri="{BB962C8B-B14F-4D97-AF65-F5344CB8AC3E}">
        <p14:creationId xmlns:p14="http://schemas.microsoft.com/office/powerpoint/2010/main" val="3742239900"/>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A432B-6C29-CECE-F753-22599BF6B9BE}"/>
              </a:ext>
            </a:extLst>
          </p:cNvPr>
          <p:cNvSpPr>
            <a:spLocks noGrp="1"/>
          </p:cNvSpPr>
          <p:nvPr>
            <p:ph type="title"/>
          </p:nvPr>
        </p:nvSpPr>
        <p:spPr>
          <a:xfrm>
            <a:off x="430816" y="1023080"/>
            <a:ext cx="11293412" cy="794385"/>
          </a:xfrm>
        </p:spPr>
        <p:txBody>
          <a:bodyPr lIns="0" tIns="0" rIns="0" bIns="0" anchor="ct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Learning objectives</a:t>
            </a:r>
          </a:p>
        </p:txBody>
      </p:sp>
      <p:sp>
        <p:nvSpPr>
          <p:cNvPr id="3" name="Content Placeholder 2">
            <a:extLst>
              <a:ext uri="{FF2B5EF4-FFF2-40B4-BE49-F238E27FC236}">
                <a16:creationId xmlns:a16="http://schemas.microsoft.com/office/drawing/2014/main" id="{687BD87F-0408-E997-042C-156B8CFB34A6}"/>
              </a:ext>
            </a:extLst>
          </p:cNvPr>
          <p:cNvSpPr>
            <a:spLocks noGrp="1"/>
          </p:cNvSpPr>
          <p:nvPr>
            <p:ph idx="1"/>
          </p:nvPr>
        </p:nvSpPr>
        <p:spPr>
          <a:xfrm>
            <a:off x="430816" y="1952339"/>
            <a:ext cx="7337108" cy="4351306"/>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By the end of this class, you should be able to:</a:t>
            </a:r>
          </a:p>
          <a:p>
            <a:pPr marL="0" indent="0" algn="l">
              <a:lnSpc>
                <a:spcPct val="106000"/>
              </a:lnSpc>
              <a:spcAft>
                <a:spcPts val="7"/>
              </a:spcAft>
              <a:buNone/>
              <a:defRPr sz="2325" b="0">
                <a:solidFill>
                  <a:srgbClr val="111111"/>
                </a:solidFill>
                <a:latin typeface="Aptos"/>
                <a:ea typeface="Aptos"/>
                <a:cs typeface="Aptos"/>
              </a:defRPr>
            </a:pPr>
            <a:r>
              <a:rPr sz="2325" b="0" dirty="0">
                <a:solidFill>
                  <a:srgbClr val="111111"/>
                </a:solidFill>
                <a:latin typeface="Aptos"/>
                <a:ea typeface="Aptos"/>
                <a:cs typeface="Aptos"/>
              </a:rPr>
              <a:t>use basic set notation and set operations;</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choose and apply a counting method;</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classify common types of real numbers;</a:t>
            </a:r>
          </a:p>
          <a:p>
            <a:pPr marL="0" indent="0" algn="l">
              <a:lnSpc>
                <a:spcPct val="106000"/>
              </a:lnSpc>
              <a:spcAft>
                <a:spcPts val="7"/>
              </a:spcAft>
              <a:buNone/>
              <a:defRPr sz="2325" b="0">
                <a:solidFill>
                  <a:srgbClr val="111111"/>
                </a:solidFill>
                <a:latin typeface="Aptos"/>
                <a:ea typeface="Aptos"/>
                <a:cs typeface="Aptos"/>
              </a:defRPr>
            </a:pPr>
            <a:r>
              <a:rPr sz="2325" b="0" dirty="0">
                <a:solidFill>
                  <a:srgbClr val="111111"/>
                </a:solidFill>
                <a:latin typeface="Aptos"/>
                <a:ea typeface="Aptos"/>
                <a:cs typeface="Aptos"/>
              </a:rPr>
              <a:t>use the same order in PEMDAS and BODMAS.</a:t>
            </a:r>
          </a:p>
        </p:txBody>
      </p:sp>
    </p:spTree>
    <p:extLst>
      <p:ext uri="{BB962C8B-B14F-4D97-AF65-F5344CB8AC3E}">
        <p14:creationId xmlns:p14="http://schemas.microsoft.com/office/powerpoint/2010/main" val="3657064892"/>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Quick revision</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Work individually. Mark each answer: confident, unsure or guessed.</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R1  3 + 5 × 2</a:t>
            </a:r>
            <a:r>
              <a:rPr lang="en-US" sz="2325" b="1">
                <a:solidFill>
                  <a:srgbClr val="111111"/>
                </a:solidFill>
                <a:latin typeface="Aptos"/>
                <a:ea typeface="Aptos"/>
                <a:cs typeface="Aptos"/>
              </a:rPr>
              <a:t> </a:t>
            </a:r>
            <a:endParaRPr sz="2325" b="1">
              <a:solidFill>
                <a:srgbClr val="111111"/>
              </a:solidFill>
              <a:latin typeface="Aptos"/>
              <a:ea typeface="Aptos"/>
              <a:cs typeface="Aptos"/>
            </a:endParaRP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R2  Is −3 an integer?</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R3  If A = {2, 4, 6}, is 4 ∈ A?</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R4  How many outfits can be made from 3 shirts and 2 pairs of trousers?</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Revision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R1</a:t>
            </a:r>
            <a:r>
              <a:rPr sz="2325" b="0">
                <a:solidFill>
                  <a:srgbClr val="111111"/>
                </a:solidFill>
                <a:latin typeface="Aptos"/>
                <a:ea typeface="Aptos"/>
                <a:cs typeface="Aptos"/>
              </a:rPr>
              <a:t>  3 + 5 × 2 = 13</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R2</a:t>
            </a:r>
            <a:r>
              <a:rPr sz="2325" b="0">
                <a:solidFill>
                  <a:srgbClr val="111111"/>
                </a:solidFill>
                <a:latin typeface="Aptos"/>
                <a:ea typeface="Aptos"/>
                <a:cs typeface="Aptos"/>
              </a:rPr>
              <a:t>  Yes. −3 is an integer.</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R3</a:t>
            </a:r>
            <a:r>
              <a:rPr sz="2325" b="0">
                <a:solidFill>
                  <a:srgbClr val="111111"/>
                </a:solidFill>
                <a:latin typeface="Aptos"/>
                <a:ea typeface="Aptos"/>
                <a:cs typeface="Aptos"/>
              </a:rPr>
              <a:t>  Yes. 4 ∈ A.</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R4</a:t>
            </a:r>
            <a:r>
              <a:rPr sz="2325" b="0">
                <a:solidFill>
                  <a:srgbClr val="111111"/>
                </a:solidFill>
                <a:latin typeface="Aptos"/>
                <a:ea typeface="Aptos"/>
                <a:cs typeface="Aptos"/>
              </a:rPr>
              <a:t>  3 × 2 = 6 outfits.</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7"/>
              </a:spcAft>
              <a:buNone/>
              <a:defRPr sz="2325" b="0">
                <a:solidFill>
                  <a:srgbClr val="111111"/>
                </a:solidFill>
                <a:latin typeface="Aptos"/>
                <a:ea typeface="Aptos"/>
                <a:cs typeface="Aptos"/>
              </a:defRPr>
            </a:pPr>
            <a:r>
              <a:rPr sz="2325" b="0">
                <a:solidFill>
                  <a:srgbClr val="111111"/>
                </a:solidFill>
                <a:latin typeface="Aptos"/>
                <a:ea typeface="Aptos"/>
                <a:cs typeface="Aptos"/>
              </a:rPr>
              <a:t>Use your confidence marks to identify the topics needing the most attention.</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FC3C-67FB-B165-3C59-7A316881487C}"/>
              </a:ext>
            </a:extLst>
          </p:cNvPr>
          <p:cNvSpPr>
            <a:spLocks noGrp="1"/>
          </p:cNvSpPr>
          <p:nvPr>
            <p:ph type="ctrTitle"/>
          </p:nvPr>
        </p:nvSpPr>
        <p:spPr>
          <a:xfrm>
            <a:off x="356101" y="2154457"/>
            <a:ext cx="5739899" cy="3488697"/>
          </a:xfrm>
        </p:spPr>
        <p:txBody>
          <a:bodyPr>
            <a:normAutofit/>
          </a:bodyPr>
          <a:lstStyle/>
          <a:p>
            <a:r>
              <a:t>Section 1:</a:t>
            </a:r>
          </a:p>
          <a:p>
            <a:r>
              <a:t>Sets and</a:t>
            </a:r>
          </a:p>
          <a:p>
            <a:r>
              <a:t>Notation</a:t>
            </a:r>
          </a:p>
        </p:txBody>
      </p:sp>
    </p:spTree>
    <p:extLst>
      <p:ext uri="{BB962C8B-B14F-4D97-AF65-F5344CB8AC3E}">
        <p14:creationId xmlns:p14="http://schemas.microsoft.com/office/powerpoint/2010/main" val="3422886428"/>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 set is a clear collection</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Set: a collection of distinct objects.</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Well-defined means we can decide clearly whether an object belongs.</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Elements or members: the objects inside the set.</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A = {2, 4, 6, 8}</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Braces { } show the elements.</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Order does not change a set.</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Repeating an element does not create a new element.</a:t>
            </a:r>
          </a:p>
        </p:txBody>
      </p:sp>
    </p:spTree>
    <p:extLst>
      <p:ext uri="{BB962C8B-B14F-4D97-AF65-F5344CB8AC3E}">
        <p14:creationId xmlns:p14="http://schemas.microsoft.com/office/powerpoint/2010/main" val="3281361232"/>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Essential set notation</a:t>
            </a:r>
          </a:p>
        </p:txBody>
      </p:sp>
      <p:graphicFrame>
        <p:nvGraphicFramePr>
          <p:cNvPr id="5" name="Bellerbys teaching table"/>
          <p:cNvGraphicFramePr/>
          <p:nvPr/>
        </p:nvGraphicFramePr>
        <p:xfrm>
          <a:off x="430816" y="1952625"/>
          <a:ext cx="11544300" cy="4000500"/>
        </p:xfrm>
        <a:graphic>
          <a:graphicData uri="http://schemas.openxmlformats.org/drawingml/2006/table">
            <a:tbl>
              <a:tblPr/>
              <a:tblGrid>
                <a:gridCol w="1714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6115050">
                  <a:extLst>
                    <a:ext uri="{9D8B030D-6E8A-4147-A177-3AD203B41FA5}">
                      <a16:colId xmlns:a16="http://schemas.microsoft.com/office/drawing/2014/main" val="20002"/>
                    </a:ext>
                  </a:extLst>
                </a:gridCol>
              </a:tblGrid>
              <a:tr h="571500">
                <a:tc>
                  <a:txBody>
                    <a:bodyPr/>
                    <a:lstStyle/>
                    <a:p>
                      <a:pPr algn="l">
                        <a:buNone/>
                      </a:pPr>
                      <a:r>
                        <a:rPr sz="1575" b="1">
                          <a:solidFill>
                            <a:srgbClr val="FFFFFF"/>
                          </a:solidFill>
                          <a:latin typeface="Aptos"/>
                          <a:ea typeface="Aptos"/>
                          <a:cs typeface="Aptos"/>
                        </a:rPr>
                        <a:t>Symbol</a:t>
                      </a:r>
                    </a:p>
                  </a:txBody>
                  <a:tcPr anchor="ctr">
                    <a:solidFill>
                      <a:srgbClr val="D6171D"/>
                    </a:solidFill>
                  </a:tcPr>
                </a:tc>
                <a:tc>
                  <a:txBody>
                    <a:bodyPr/>
                    <a:lstStyle/>
                    <a:p>
                      <a:pPr algn="l">
                        <a:buNone/>
                      </a:pPr>
                      <a:r>
                        <a:rPr sz="1575" b="1">
                          <a:solidFill>
                            <a:srgbClr val="FFFFFF"/>
                          </a:solidFill>
                          <a:latin typeface="Aptos"/>
                          <a:ea typeface="Aptos"/>
                          <a:cs typeface="Aptos"/>
                        </a:rPr>
                        <a:t>Read it aloud</a:t>
                      </a:r>
                    </a:p>
                  </a:txBody>
                  <a:tcPr anchor="ctr">
                    <a:solidFill>
                      <a:srgbClr val="D6171D"/>
                    </a:solidFill>
                  </a:tcPr>
                </a:tc>
                <a:tc>
                  <a:txBody>
                    <a:bodyPr/>
                    <a:lstStyle/>
                    <a:p>
                      <a:pPr algn="l">
                        <a:buNone/>
                      </a:pPr>
                      <a:r>
                        <a:rPr sz="1575" b="1">
                          <a:solidFill>
                            <a:srgbClr val="FFFFFF"/>
                          </a:solidFill>
                          <a:latin typeface="Aptos"/>
                          <a:ea typeface="Aptos"/>
                          <a:cs typeface="Aptos"/>
                        </a:rPr>
                        <a:t>Meaning / example</a:t>
                      </a:r>
                    </a:p>
                  </a:txBody>
                  <a:tcPr anchor="ctr">
                    <a:solidFill>
                      <a:srgbClr val="D6171D"/>
                    </a:solidFill>
                  </a:tcPr>
                </a:tc>
                <a:extLst>
                  <a:ext uri="{0D108BD9-81ED-4DB2-BD59-A6C34878D82A}">
                    <a16:rowId xmlns:a16="http://schemas.microsoft.com/office/drawing/2014/main" val="10000"/>
                  </a:ext>
                </a:extLst>
              </a:tr>
              <a:tr h="571500">
                <a:tc>
                  <a:txBody>
                    <a:bodyPr/>
                    <a:lstStyle/>
                    <a:p>
                      <a:pPr algn="l">
                        <a:buNone/>
                      </a:pPr>
                      <a:r>
                        <a:rPr sz="1500" b="0">
                          <a:solidFill>
                            <a:srgbClr val="000000"/>
                          </a:solidFill>
                          <a:latin typeface="Aptos"/>
                          <a:ea typeface="Aptos"/>
                          <a:cs typeface="Aptos"/>
                        </a:rPr>
                        <a:t>{ }</a:t>
                      </a:r>
                    </a:p>
                  </a:txBody>
                  <a:tcPr anchor="ctr">
                    <a:solidFill>
                      <a:srgbClr val="FFFFFF"/>
                    </a:solidFill>
                  </a:tcPr>
                </a:tc>
                <a:tc>
                  <a:txBody>
                    <a:bodyPr/>
                    <a:lstStyle/>
                    <a:p>
                      <a:pPr algn="l">
                        <a:buNone/>
                      </a:pPr>
                      <a:r>
                        <a:rPr sz="1500" b="0">
                          <a:solidFill>
                            <a:srgbClr val="000000"/>
                          </a:solidFill>
                          <a:latin typeface="Aptos"/>
                          <a:ea typeface="Aptos"/>
                          <a:cs typeface="Aptos"/>
                        </a:rPr>
                        <a:t>“braces” / “curly brackets”</a:t>
                      </a:r>
                    </a:p>
                  </a:txBody>
                  <a:tcPr anchor="ctr">
                    <a:solidFill>
                      <a:srgbClr val="FFFFFF"/>
                    </a:solidFill>
                  </a:tcPr>
                </a:tc>
                <a:tc>
                  <a:txBody>
                    <a:bodyPr/>
                    <a:lstStyle/>
                    <a:p>
                      <a:pPr algn="l">
                        <a:buNone/>
                      </a:pPr>
                      <a:r>
                        <a:rPr sz="1500" b="0">
                          <a:solidFill>
                            <a:srgbClr val="000000"/>
                          </a:solidFill>
                          <a:latin typeface="Aptos"/>
                          <a:ea typeface="Aptos"/>
                          <a:cs typeface="Aptos"/>
                        </a:rPr>
                        <a:t>A is the set containing 1, 2 and 3</a:t>
                      </a:r>
                    </a:p>
                  </a:txBody>
                  <a:tcPr anchor="ctr">
                    <a:solidFill>
                      <a:srgbClr val="FFFFFF"/>
                    </a:solidFill>
                  </a:tcPr>
                </a:tc>
                <a:extLst>
                  <a:ext uri="{0D108BD9-81ED-4DB2-BD59-A6C34878D82A}">
                    <a16:rowId xmlns:a16="http://schemas.microsoft.com/office/drawing/2014/main" val="10001"/>
                  </a:ext>
                </a:extLst>
              </a:tr>
              <a:tr h="571500">
                <a:tc>
                  <a:txBody>
                    <a:bodyPr/>
                    <a:lstStyle/>
                    <a:p>
                      <a:pPr algn="l">
                        <a:buNone/>
                      </a:pPr>
                      <a:r>
                        <a:rPr sz="1500" b="0">
                          <a:solidFill>
                            <a:srgbClr val="000000"/>
                          </a:solidFill>
                          <a:latin typeface="Aptos"/>
                          <a:ea typeface="Aptos"/>
                          <a:cs typeface="Aptos"/>
                        </a:rPr>
                        <a:t>∈</a:t>
                      </a:r>
                    </a:p>
                  </a:txBody>
                  <a:tcPr anchor="ctr">
                    <a:solidFill>
                      <a:srgbClr val="EFF8FF"/>
                    </a:solidFill>
                  </a:tcPr>
                </a:tc>
                <a:tc>
                  <a:txBody>
                    <a:bodyPr/>
                    <a:lstStyle/>
                    <a:p>
                      <a:pPr algn="l">
                        <a:buNone/>
                      </a:pPr>
                      <a:r>
                        <a:rPr sz="1500" b="0">
                          <a:solidFill>
                            <a:srgbClr val="000000"/>
                          </a:solidFill>
                          <a:latin typeface="Aptos"/>
                          <a:ea typeface="Aptos"/>
                          <a:cs typeface="Aptos"/>
                        </a:rPr>
                        <a:t>“is an element of”</a:t>
                      </a:r>
                    </a:p>
                  </a:txBody>
                  <a:tcPr anchor="ctr">
                    <a:solidFill>
                      <a:srgbClr val="EFF8FF"/>
                    </a:solidFill>
                  </a:tcPr>
                </a:tc>
                <a:tc>
                  <a:txBody>
                    <a:bodyPr/>
                    <a:lstStyle/>
                    <a:p>
                      <a:pPr algn="l">
                        <a:buNone/>
                      </a:pPr>
                      <a:r>
                        <a:rPr sz="1500" b="0">
                          <a:solidFill>
                            <a:srgbClr val="000000"/>
                          </a:solidFill>
                          <a:latin typeface="Aptos"/>
                          <a:ea typeface="Aptos"/>
                          <a:cs typeface="Aptos"/>
                        </a:rPr>
                        <a:t>2 ∈ A</a:t>
                      </a:r>
                    </a:p>
                  </a:txBody>
                  <a:tcPr anchor="ctr">
                    <a:solidFill>
                      <a:srgbClr val="EFF8FF"/>
                    </a:solidFill>
                  </a:tcPr>
                </a:tc>
                <a:extLst>
                  <a:ext uri="{0D108BD9-81ED-4DB2-BD59-A6C34878D82A}">
                    <a16:rowId xmlns:a16="http://schemas.microsoft.com/office/drawing/2014/main" val="10002"/>
                  </a:ext>
                </a:extLst>
              </a:tr>
              <a:tr h="571500">
                <a:tc>
                  <a:txBody>
                    <a:bodyPr/>
                    <a:lstStyle/>
                    <a:p>
                      <a:pPr algn="l">
                        <a:buNone/>
                      </a:pPr>
                      <a:r>
                        <a:rPr sz="1500" b="0">
                          <a:solidFill>
                            <a:srgbClr val="000000"/>
                          </a:solidFill>
                          <a:latin typeface="Aptos"/>
                          <a:ea typeface="Aptos"/>
                          <a:cs typeface="Aptos"/>
                        </a:rPr>
                        <a:t>∉</a:t>
                      </a:r>
                    </a:p>
                  </a:txBody>
                  <a:tcPr anchor="ctr">
                    <a:solidFill>
                      <a:srgbClr val="FFFFFF"/>
                    </a:solidFill>
                  </a:tcPr>
                </a:tc>
                <a:tc>
                  <a:txBody>
                    <a:bodyPr/>
                    <a:lstStyle/>
                    <a:p>
                      <a:pPr algn="l">
                        <a:buNone/>
                      </a:pPr>
                      <a:r>
                        <a:rPr sz="1500" b="0">
                          <a:solidFill>
                            <a:srgbClr val="000000"/>
                          </a:solidFill>
                          <a:latin typeface="Aptos"/>
                          <a:ea typeface="Aptos"/>
                          <a:cs typeface="Aptos"/>
                        </a:rPr>
                        <a:t>“is not an element of”</a:t>
                      </a:r>
                    </a:p>
                  </a:txBody>
                  <a:tcPr anchor="ctr">
                    <a:solidFill>
                      <a:srgbClr val="FFFFFF"/>
                    </a:solidFill>
                  </a:tcPr>
                </a:tc>
                <a:tc>
                  <a:txBody>
                    <a:bodyPr/>
                    <a:lstStyle/>
                    <a:p>
                      <a:pPr algn="l">
                        <a:buNone/>
                      </a:pPr>
                      <a:r>
                        <a:rPr sz="1500" b="0" dirty="0">
                          <a:solidFill>
                            <a:srgbClr val="000000"/>
                          </a:solidFill>
                          <a:latin typeface="Aptos"/>
                          <a:ea typeface="Aptos"/>
                          <a:cs typeface="Aptos"/>
                        </a:rPr>
                        <a:t>5 ∉ A</a:t>
                      </a:r>
                    </a:p>
                  </a:txBody>
                  <a:tcPr anchor="ctr">
                    <a:solidFill>
                      <a:srgbClr val="FFFFFF"/>
                    </a:solidFill>
                  </a:tcPr>
                </a:tc>
                <a:extLst>
                  <a:ext uri="{0D108BD9-81ED-4DB2-BD59-A6C34878D82A}">
                    <a16:rowId xmlns:a16="http://schemas.microsoft.com/office/drawing/2014/main" val="10003"/>
                  </a:ext>
                </a:extLst>
              </a:tr>
              <a:tr h="571500">
                <a:tc>
                  <a:txBody>
                    <a:bodyPr/>
                    <a:lstStyle/>
                    <a:p>
                      <a:pPr algn="l">
                        <a:buNone/>
                      </a:pPr>
                      <a:r>
                        <a:rPr sz="1500" b="0">
                          <a:solidFill>
                            <a:srgbClr val="000000"/>
                          </a:solidFill>
                          <a:latin typeface="Aptos"/>
                          <a:ea typeface="Aptos"/>
                          <a:cs typeface="Aptos"/>
                        </a:rPr>
                        <a:t>n(A)</a:t>
                      </a:r>
                    </a:p>
                  </a:txBody>
                  <a:tcPr anchor="ctr">
                    <a:solidFill>
                      <a:srgbClr val="EFF8FF"/>
                    </a:solidFill>
                  </a:tcPr>
                </a:tc>
                <a:tc>
                  <a:txBody>
                    <a:bodyPr/>
                    <a:lstStyle/>
                    <a:p>
                      <a:pPr algn="l">
                        <a:buNone/>
                      </a:pPr>
                      <a:r>
                        <a:rPr sz="1500" b="0">
                          <a:solidFill>
                            <a:srgbClr val="000000"/>
                          </a:solidFill>
                          <a:latin typeface="Aptos"/>
                          <a:ea typeface="Aptos"/>
                          <a:cs typeface="Aptos"/>
                        </a:rPr>
                        <a:t>“number of elements in A”</a:t>
                      </a:r>
                    </a:p>
                  </a:txBody>
                  <a:tcPr anchor="ctr">
                    <a:solidFill>
                      <a:srgbClr val="EFF8FF"/>
                    </a:solidFill>
                  </a:tcPr>
                </a:tc>
                <a:tc>
                  <a:txBody>
                    <a:bodyPr/>
                    <a:lstStyle/>
                    <a:p>
                      <a:pPr algn="l">
                        <a:buNone/>
                      </a:pPr>
                      <a:r>
                        <a:rPr sz="1500" b="0" dirty="0">
                          <a:solidFill>
                            <a:srgbClr val="000000"/>
                          </a:solidFill>
                          <a:latin typeface="Aptos"/>
                          <a:ea typeface="Aptos"/>
                          <a:cs typeface="Aptos"/>
                        </a:rPr>
                        <a:t>n(A) = 3</a:t>
                      </a:r>
                    </a:p>
                  </a:txBody>
                  <a:tcPr anchor="ctr">
                    <a:solidFill>
                      <a:srgbClr val="EFF8FF"/>
                    </a:solidFill>
                  </a:tcPr>
                </a:tc>
                <a:extLst>
                  <a:ext uri="{0D108BD9-81ED-4DB2-BD59-A6C34878D82A}">
                    <a16:rowId xmlns:a16="http://schemas.microsoft.com/office/drawing/2014/main" val="10004"/>
                  </a:ext>
                </a:extLst>
              </a:tr>
              <a:tr h="571500">
                <a:tc>
                  <a:txBody>
                    <a:bodyPr/>
                    <a:lstStyle/>
                    <a:p>
                      <a:pPr algn="l">
                        <a:buNone/>
                      </a:pPr>
                      <a:r>
                        <a:rPr sz="1500" b="0">
                          <a:solidFill>
                            <a:srgbClr val="000000"/>
                          </a:solidFill>
                          <a:latin typeface="Aptos"/>
                          <a:ea typeface="Aptos"/>
                          <a:cs typeface="Aptos"/>
                        </a:rPr>
                        <a:t>∅</a:t>
                      </a:r>
                    </a:p>
                  </a:txBody>
                  <a:tcPr anchor="ctr">
                    <a:solidFill>
                      <a:srgbClr val="FFFFFF"/>
                    </a:solidFill>
                  </a:tcPr>
                </a:tc>
                <a:tc>
                  <a:txBody>
                    <a:bodyPr/>
                    <a:lstStyle/>
                    <a:p>
                      <a:pPr algn="l">
                        <a:buNone/>
                      </a:pPr>
                      <a:r>
                        <a:rPr sz="1500" b="0">
                          <a:solidFill>
                            <a:srgbClr val="000000"/>
                          </a:solidFill>
                          <a:latin typeface="Aptos"/>
                          <a:ea typeface="Aptos"/>
                          <a:cs typeface="Aptos"/>
                        </a:rPr>
                        <a:t>“empty set”</a:t>
                      </a:r>
                    </a:p>
                  </a:txBody>
                  <a:tcPr anchor="ctr">
                    <a:solidFill>
                      <a:srgbClr val="FFFFFF"/>
                    </a:solidFill>
                  </a:tcPr>
                </a:tc>
                <a:tc>
                  <a:txBody>
                    <a:bodyPr/>
                    <a:lstStyle/>
                    <a:p>
                      <a:pPr algn="l">
                        <a:buNone/>
                      </a:pPr>
                      <a:r>
                        <a:rPr sz="1500" b="0">
                          <a:solidFill>
                            <a:srgbClr val="000000"/>
                          </a:solidFill>
                          <a:latin typeface="Aptos"/>
                          <a:ea typeface="Aptos"/>
                          <a:cs typeface="Aptos"/>
                        </a:rPr>
                        <a:t>a set with no elements</a:t>
                      </a:r>
                    </a:p>
                  </a:txBody>
                  <a:tcPr anchor="ctr">
                    <a:solidFill>
                      <a:srgbClr val="FFFFFF"/>
                    </a:solidFill>
                  </a:tcPr>
                </a:tc>
                <a:extLst>
                  <a:ext uri="{0D108BD9-81ED-4DB2-BD59-A6C34878D82A}">
                    <a16:rowId xmlns:a16="http://schemas.microsoft.com/office/drawing/2014/main" val="10005"/>
                  </a:ext>
                </a:extLst>
              </a:tr>
              <a:tr h="571500">
                <a:tc>
                  <a:txBody>
                    <a:bodyPr/>
                    <a:lstStyle/>
                    <a:p>
                      <a:pPr algn="l">
                        <a:buNone/>
                      </a:pPr>
                      <a:r>
                        <a:rPr sz="1500" b="0">
                          <a:solidFill>
                            <a:srgbClr val="000000"/>
                          </a:solidFill>
                          <a:latin typeface="Aptos"/>
                          <a:ea typeface="Aptos"/>
                          <a:cs typeface="Aptos"/>
                        </a:rPr>
                        <a:t>U</a:t>
                      </a:r>
                    </a:p>
                  </a:txBody>
                  <a:tcPr anchor="ctr">
                    <a:solidFill>
                      <a:srgbClr val="EFF8FF"/>
                    </a:solidFill>
                  </a:tcPr>
                </a:tc>
                <a:tc>
                  <a:txBody>
                    <a:bodyPr/>
                    <a:lstStyle/>
                    <a:p>
                      <a:pPr algn="l">
                        <a:buNone/>
                      </a:pPr>
                      <a:r>
                        <a:rPr sz="1500" b="0">
                          <a:solidFill>
                            <a:srgbClr val="000000"/>
                          </a:solidFill>
                          <a:latin typeface="Aptos"/>
                          <a:ea typeface="Aptos"/>
                          <a:cs typeface="Aptos"/>
                        </a:rPr>
                        <a:t>“universal set”</a:t>
                      </a:r>
                    </a:p>
                  </a:txBody>
                  <a:tcPr anchor="ctr">
                    <a:solidFill>
                      <a:srgbClr val="EFF8FF"/>
                    </a:solidFill>
                  </a:tcPr>
                </a:tc>
                <a:tc>
                  <a:txBody>
                    <a:bodyPr/>
                    <a:lstStyle/>
                    <a:p>
                      <a:pPr algn="l">
                        <a:buNone/>
                      </a:pPr>
                      <a:r>
                        <a:rPr sz="1500" b="0" dirty="0">
                          <a:solidFill>
                            <a:srgbClr val="000000"/>
                          </a:solidFill>
                          <a:latin typeface="Aptos"/>
                          <a:ea typeface="Aptos"/>
                          <a:cs typeface="Aptos"/>
                        </a:rPr>
                        <a:t>all values being considered</a:t>
                      </a:r>
                    </a:p>
                  </a:txBody>
                  <a:tcPr anchor="ctr">
                    <a:solidFill>
                      <a:srgbClr val="EFF8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80955064"/>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 Symbol Decoder</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7"/>
              </a:spcAft>
              <a:buNone/>
              <a:defRPr sz="2325" b="0">
                <a:solidFill>
                  <a:srgbClr val="111111"/>
                </a:solidFill>
                <a:latin typeface="Aptos"/>
                <a:ea typeface="Aptos"/>
                <a:cs typeface="Aptos"/>
              </a:defRPr>
            </a:pPr>
            <a:r>
              <a:rPr sz="2325" b="0">
                <a:solidFill>
                  <a:srgbClr val="111111"/>
                </a:solidFill>
                <a:latin typeface="Aptos"/>
                <a:ea typeface="Aptos"/>
                <a:cs typeface="Aptos"/>
              </a:rPr>
              <a:t>Write each statement as a complete English sentence.</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  4 ∈ A</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  7 ∉ A</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  n(A) = 5</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Q4  B = ∅</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7"/>
              </a:spcAft>
              <a:buNone/>
              <a:defRPr sz="2325" b="0">
                <a:solidFill>
                  <a:srgbClr val="111111"/>
                </a:solidFill>
                <a:latin typeface="Aptos"/>
                <a:ea typeface="Aptos"/>
                <a:cs typeface="Aptos"/>
              </a:defRPr>
            </a:pPr>
            <a:r>
              <a:rPr sz="2325" b="0">
                <a:solidFill>
                  <a:srgbClr val="111111"/>
                </a:solidFill>
                <a:latin typeface="Aptos"/>
                <a:ea typeface="Aptos"/>
                <a:cs typeface="Aptos"/>
              </a:rPr>
              <a:t>Compare your sentences with a partner.</a:t>
            </a:r>
          </a:p>
        </p:txBody>
      </p:sp>
      <p:sp>
        <p:nvSpPr>
          <p:cNvPr id="4" name="Handout reference A1">
            <a:extLst>
              <a:ext uri="{FF2B5EF4-FFF2-40B4-BE49-F238E27FC236}">
                <a16:creationId xmlns:a16="http://schemas.microsoft.com/office/drawing/2014/main" id="{36AD6142-88F0-4A0A-B6EE-77DF9F4BE1A9}"/>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 Worked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a:t>
            </a:r>
            <a:r>
              <a:rPr sz="2325" b="0">
                <a:solidFill>
                  <a:srgbClr val="111111"/>
                </a:solidFill>
                <a:latin typeface="Aptos"/>
                <a:ea typeface="Aptos"/>
                <a:cs typeface="Aptos"/>
              </a:rPr>
              <a:t>  Four is an element of set A.</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a:t>
            </a:r>
            <a:r>
              <a:rPr sz="2325" b="0">
                <a:solidFill>
                  <a:srgbClr val="111111"/>
                </a:solidFill>
                <a:latin typeface="Aptos"/>
                <a:ea typeface="Aptos"/>
                <a:cs typeface="Aptos"/>
              </a:rPr>
              <a:t>  Seven is not an element of set A.</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a:t>
            </a:r>
            <a:r>
              <a:rPr sz="2325" b="0">
                <a:solidFill>
                  <a:srgbClr val="111111"/>
                </a:solidFill>
                <a:latin typeface="Aptos"/>
                <a:ea typeface="Aptos"/>
                <a:cs typeface="Aptos"/>
              </a:rPr>
              <a:t>  Set A contains five elements.</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Q4</a:t>
            </a:r>
            <a:r>
              <a:rPr sz="2325" b="0">
                <a:solidFill>
                  <a:srgbClr val="111111"/>
                </a:solidFill>
                <a:latin typeface="Aptos"/>
                <a:ea typeface="Aptos"/>
                <a:cs typeface="Aptos"/>
              </a:rPr>
              <a:t>  Set B has no elements.</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Mathematical symbols should be readable as language.</a:t>
            </a:r>
          </a:p>
        </p:txBody>
      </p:sp>
      <p:sp>
        <p:nvSpPr>
          <p:cNvPr id="4" name="Handout reference A1">
            <a:extLst>
              <a:ext uri="{FF2B5EF4-FFF2-40B4-BE49-F238E27FC236}">
                <a16:creationId xmlns:a16="http://schemas.microsoft.com/office/drawing/2014/main" id="{68C86512-4B29-4409-A4A7-681A7DF6F611}"/>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Union, intersection and complement</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5667375" cy="4330732"/>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1" dirty="0">
                <a:solidFill>
                  <a:srgbClr val="111111"/>
                </a:solidFill>
                <a:latin typeface="Aptos"/>
                <a:ea typeface="Aptos"/>
                <a:cs typeface="Aptos"/>
              </a:rPr>
              <a:t>Intersection</a:t>
            </a:r>
            <a:r>
              <a:rPr sz="2325" b="0" dirty="0">
                <a:solidFill>
                  <a:srgbClr val="111111"/>
                </a:solidFill>
                <a:latin typeface="Aptos"/>
                <a:ea typeface="Aptos"/>
                <a:cs typeface="Aptos"/>
              </a:rPr>
              <a:t> (A ∩ B):</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elements in both A and B.</a:t>
            </a:r>
          </a:p>
          <a:p>
            <a:pPr marL="0" indent="0" algn="l">
              <a:lnSpc>
                <a:spcPct val="106000"/>
              </a:lnSpc>
              <a:spcAft>
                <a:spcPts val="6"/>
              </a:spcAft>
              <a:buNone/>
              <a:defRPr sz="2325" b="0">
                <a:solidFill>
                  <a:srgbClr val="111111"/>
                </a:solidFill>
                <a:latin typeface="Aptos"/>
                <a:ea typeface="Aptos"/>
                <a:cs typeface="Aptos"/>
              </a:defRPr>
            </a:pPr>
            <a:r>
              <a:rPr sz="2325" b="1" dirty="0">
                <a:solidFill>
                  <a:srgbClr val="111111"/>
                </a:solidFill>
                <a:latin typeface="Aptos"/>
                <a:ea typeface="Aptos"/>
                <a:cs typeface="Aptos"/>
              </a:rPr>
              <a:t>Union</a:t>
            </a:r>
            <a:r>
              <a:rPr sz="2325" b="0" dirty="0">
                <a:solidFill>
                  <a:srgbClr val="111111"/>
                </a:solidFill>
                <a:latin typeface="Aptos"/>
                <a:ea typeface="Aptos"/>
                <a:cs typeface="Aptos"/>
              </a:rPr>
              <a:t> (A ∪ B):</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in A, in B, or in both.</a:t>
            </a:r>
          </a:p>
          <a:p>
            <a:pPr marL="0" indent="0" algn="l">
              <a:lnSpc>
                <a:spcPct val="106000"/>
              </a:lnSpc>
              <a:spcAft>
                <a:spcPts val="6"/>
              </a:spcAft>
              <a:buNone/>
              <a:defRPr sz="2325" b="0">
                <a:solidFill>
                  <a:srgbClr val="111111"/>
                </a:solidFill>
                <a:latin typeface="Aptos"/>
                <a:ea typeface="Aptos"/>
                <a:cs typeface="Aptos"/>
              </a:defRPr>
            </a:pPr>
            <a:r>
              <a:rPr sz="2325" b="1" dirty="0">
                <a:solidFill>
                  <a:srgbClr val="111111"/>
                </a:solidFill>
                <a:latin typeface="Aptos"/>
                <a:ea typeface="Aptos"/>
                <a:cs typeface="Aptos"/>
              </a:rPr>
              <a:t>Complement</a:t>
            </a:r>
            <a:r>
              <a:rPr sz="2325" b="0" dirty="0">
                <a:solidFill>
                  <a:srgbClr val="111111"/>
                </a:solidFill>
                <a:latin typeface="Aptos"/>
                <a:ea typeface="Aptos"/>
                <a:cs typeface="Aptos"/>
              </a:rPr>
              <a:t> (Aᶜ or A′):</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in U, but not in A.</a:t>
            </a:r>
          </a:p>
          <a:p>
            <a:pPr marL="0" indent="0" algn="l">
              <a:lnSpc>
                <a:spcPct val="106000"/>
              </a:lnSpc>
              <a:spcAft>
                <a:spcPts val="7"/>
              </a:spcAft>
              <a:buNone/>
              <a:defRPr sz="2325" b="0">
                <a:solidFill>
                  <a:srgbClr val="111111"/>
                </a:solidFill>
                <a:latin typeface="Aptos"/>
                <a:ea typeface="Aptos"/>
                <a:cs typeface="Aptos"/>
              </a:defRPr>
            </a:pPr>
            <a:r>
              <a:rPr sz="2325" b="0" dirty="0">
                <a:solidFill>
                  <a:srgbClr val="111111"/>
                </a:solidFill>
                <a:latin typeface="Aptos"/>
                <a:ea typeface="Aptos"/>
                <a:cs typeface="Aptos"/>
              </a:rPr>
              <a:t>Define the universal set U first.</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Here, U is the rectangle.</a:t>
            </a:r>
          </a:p>
        </p:txBody>
      </p:sp>
      <p:pic>
        <p:nvPicPr>
          <p:cNvPr id="7" name="Picture 6"/>
          <p:cNvPicPr>
            <a:picLocks noChangeAspect="1"/>
          </p:cNvPicPr>
          <p:nvPr/>
        </p:nvPicPr>
        <p:blipFill>
          <a:blip r:embed="rId3"/>
          <a:stretch>
            <a:fillRect/>
          </a:stretch>
        </p:blipFill>
        <p:spPr>
          <a:xfrm>
            <a:off x="6361611" y="1952374"/>
            <a:ext cx="5617029" cy="4273110"/>
          </a:xfrm>
          <a:prstGeom prst="rect">
            <a:avLst/>
          </a:prstGeom>
        </p:spPr>
      </p:pic>
    </p:spTree>
    <p:extLst>
      <p:ext uri="{BB962C8B-B14F-4D97-AF65-F5344CB8AC3E}">
        <p14:creationId xmlns:p14="http://schemas.microsoft.com/office/powerpoint/2010/main" val="3126976634"/>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A2: Venn Detective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U = {1,2,3,4,5,6,7,8,9,10}</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A = {1,2,4,6,8}     B = {2,3,6,7,8}</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  Find A ∩ B.</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  Find A ∪ B.</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  Find Aᶜ.</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Q4  Find n(A ∪ B).</a:t>
            </a:r>
          </a:p>
        </p:txBody>
      </p:sp>
      <p:sp>
        <p:nvSpPr>
          <p:cNvPr id="4" name="Handout reference A2">
            <a:extLst>
              <a:ext uri="{FF2B5EF4-FFF2-40B4-BE49-F238E27FC236}">
                <a16:creationId xmlns:a16="http://schemas.microsoft.com/office/drawing/2014/main" id="{19EF999E-4699-491F-BBCC-4208783D6F37}"/>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2</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A2: Worked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a:t>
            </a:r>
            <a:r>
              <a:rPr sz="2325" b="0">
                <a:solidFill>
                  <a:srgbClr val="111111"/>
                </a:solidFill>
                <a:latin typeface="Aptos"/>
                <a:ea typeface="Aptos"/>
                <a:cs typeface="Aptos"/>
              </a:rPr>
              <a:t>  A ∩ B = {2, 6, 8}</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a:t>
            </a:r>
            <a:r>
              <a:rPr sz="2325" b="0">
                <a:solidFill>
                  <a:srgbClr val="111111"/>
                </a:solidFill>
                <a:latin typeface="Aptos"/>
                <a:ea typeface="Aptos"/>
                <a:cs typeface="Aptos"/>
              </a:rPr>
              <a:t>  A ∪ B = {1, 2, 3, 4, 6, 7, 8}</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a:t>
            </a:r>
            <a:r>
              <a:rPr sz="2325" b="0">
                <a:solidFill>
                  <a:srgbClr val="111111"/>
                </a:solidFill>
                <a:latin typeface="Aptos"/>
                <a:ea typeface="Aptos"/>
                <a:cs typeface="Aptos"/>
              </a:rPr>
              <a:t>  Aᶜ = {3, 5, 7, 9, 10}</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Q4</a:t>
            </a:r>
            <a:r>
              <a:rPr sz="2325" b="0">
                <a:solidFill>
                  <a:srgbClr val="111111"/>
                </a:solidFill>
                <a:latin typeface="Aptos"/>
                <a:ea typeface="Aptos"/>
                <a:cs typeface="Aptos"/>
              </a:rPr>
              <a:t>  n(A ∪ B) = 7</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7"/>
              </a:spcAft>
              <a:buNone/>
              <a:defRPr sz="2325" b="0">
                <a:solidFill>
                  <a:srgbClr val="111111"/>
                </a:solidFill>
                <a:latin typeface="Aptos"/>
                <a:ea typeface="Aptos"/>
                <a:cs typeface="Aptos"/>
              </a:defRPr>
            </a:pPr>
            <a:r>
              <a:rPr sz="2325" b="0">
                <a:solidFill>
                  <a:srgbClr val="111111"/>
                </a:solidFill>
                <a:latin typeface="Aptos"/>
                <a:ea typeface="Aptos"/>
                <a:cs typeface="Aptos"/>
              </a:rPr>
              <a:t>Remember: intersection = shared; union = combined; complement = in U but outside A.</a:t>
            </a:r>
          </a:p>
        </p:txBody>
      </p:sp>
      <p:sp>
        <p:nvSpPr>
          <p:cNvPr id="4" name="Handout reference A2">
            <a:extLst>
              <a:ext uri="{FF2B5EF4-FFF2-40B4-BE49-F238E27FC236}">
                <a16:creationId xmlns:a16="http://schemas.microsoft.com/office/drawing/2014/main" id="{ACE16B67-CA26-47AF-8538-43076D697960}"/>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2</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A3: Class survey sets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A class contains 30 students.</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n(M) = 18 join Music; n(S) = 14 join Sport.</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n(M ∩ S) = 6 join both groups.</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Q1  Draw and label a Venn diagram.</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Q2  Find Music only and Sport only.</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Q3  Find n(M ∪ S).</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Q4  Find how many join neither group.</a:t>
            </a:r>
          </a:p>
        </p:txBody>
      </p:sp>
      <p:sp>
        <p:nvSpPr>
          <p:cNvPr id="4" name="Handout reference A3">
            <a:extLst>
              <a:ext uri="{FF2B5EF4-FFF2-40B4-BE49-F238E27FC236}">
                <a16:creationId xmlns:a16="http://schemas.microsoft.com/office/drawing/2014/main" id="{20996DFB-EBA6-4E34-9F30-7CB4F4C7B74E}"/>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3</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A3: Worked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5667375" cy="4330732"/>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a:t>
            </a:r>
            <a:r>
              <a:rPr sz="2325" b="0">
                <a:solidFill>
                  <a:srgbClr val="111111"/>
                </a:solidFill>
                <a:latin typeface="Aptos"/>
                <a:ea typeface="Aptos"/>
                <a:cs typeface="Aptos"/>
              </a:rPr>
              <a:t>  Place both = 6 first.</a:t>
            </a:r>
          </a:p>
          <a:p>
            <a:pPr marL="0" indent="0" algn="l">
              <a:lnSpc>
                <a:spcPct val="106000"/>
              </a:lnSpc>
              <a:spcAft>
                <a:spcPts val="6"/>
              </a:spcAft>
              <a:buNone/>
              <a:defRPr sz="2325" b="0">
                <a:solidFill>
                  <a:srgbClr val="111111"/>
                </a:solidFill>
                <a:latin typeface="Aptos"/>
                <a:ea typeface="Aptos"/>
                <a:cs typeface="Aptos"/>
              </a:defRPr>
            </a:pPr>
            <a:r>
              <a:rPr sz="2325" b="1">
                <a:solidFill>
                  <a:srgbClr val="111111"/>
                </a:solidFill>
                <a:latin typeface="Aptos"/>
                <a:ea typeface="Aptos"/>
                <a:cs typeface="Aptos"/>
              </a:rPr>
              <a:t>Q2</a:t>
            </a:r>
            <a:r>
              <a:rPr sz="2325" b="0">
                <a:solidFill>
                  <a:srgbClr val="111111"/>
                </a:solidFill>
                <a:latin typeface="Aptos"/>
                <a:ea typeface="Aptos"/>
                <a:cs typeface="Aptos"/>
              </a:rPr>
              <a:t>  Music only = 18 − 6 = 12</a:t>
            </a:r>
          </a:p>
          <a:p>
            <a:pPr marL="0" indent="0" algn="l">
              <a:lnSpc>
                <a:spcPct val="106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    Sport only = 14 − 6 = 8</a:t>
            </a:r>
          </a:p>
          <a:p>
            <a:pPr marL="0" indent="0" algn="l">
              <a:lnSpc>
                <a:spcPct val="106000"/>
              </a:lnSpc>
              <a:spcAft>
                <a:spcPts val="6"/>
              </a:spcAft>
              <a:buNone/>
              <a:defRPr sz="2325" b="0">
                <a:solidFill>
                  <a:srgbClr val="111111"/>
                </a:solidFill>
                <a:latin typeface="Aptos"/>
                <a:ea typeface="Aptos"/>
                <a:cs typeface="Aptos"/>
              </a:defRPr>
            </a:pPr>
            <a:r>
              <a:rPr sz="2325" b="1">
                <a:solidFill>
                  <a:srgbClr val="111111"/>
                </a:solidFill>
                <a:latin typeface="Aptos"/>
                <a:ea typeface="Aptos"/>
                <a:cs typeface="Aptos"/>
              </a:rPr>
              <a:t>Q3</a:t>
            </a:r>
            <a:r>
              <a:rPr sz="2325" b="0">
                <a:solidFill>
                  <a:srgbClr val="111111"/>
                </a:solidFill>
                <a:latin typeface="Aptos"/>
                <a:ea typeface="Aptos"/>
                <a:cs typeface="Aptos"/>
              </a:rPr>
              <a:t>  n(M ∪ S) = 12 + 6 + 8</a:t>
            </a:r>
          </a:p>
          <a:p>
            <a:pPr marL="42" indent="0" algn="l">
              <a:lnSpc>
                <a:spcPct val="106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    = 26</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Q4</a:t>
            </a:r>
            <a:r>
              <a:rPr sz="2325" b="0">
                <a:solidFill>
                  <a:srgbClr val="111111"/>
                </a:solidFill>
                <a:latin typeface="Aptos"/>
                <a:ea typeface="Aptos"/>
                <a:cs typeface="Aptos"/>
              </a:rPr>
              <a:t>  Neither = 30 − 26 = 4</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Check: 12 + 6 + 8 + 4 = 30</a:t>
            </a:r>
          </a:p>
        </p:txBody>
      </p:sp>
      <p:sp>
        <p:nvSpPr>
          <p:cNvPr id="4" name="Venn universal set U">
            <a:extLst>
              <a:ext uri="{FF2B5EF4-FFF2-40B4-BE49-F238E27FC236}">
                <a16:creationId xmlns:a16="http://schemas.microsoft.com/office/drawing/2014/main" id="{A325D350-6650-432A-9CE3-3864683C6EBD}"/>
              </a:ext>
            </a:extLst>
          </p:cNvPr>
          <p:cNvSpPr>
            <a:spLocks noGrp="1"/>
          </p:cNvSpPr>
          <p:nvPr/>
        </p:nvSpPr>
        <p:spPr>
          <a:xfrm>
            <a:off x="6353175" y="2476500"/>
            <a:ext cx="5191125" cy="3209925"/>
          </a:xfrm>
          <a:prstGeom prst="rect">
            <a:avLst/>
          </a:prstGeom>
          <a:noFill/>
          <a:ln w="19050">
            <a:solidFill>
              <a:srgbClr val="111111"/>
            </a:solidFill>
          </a:ln>
        </p:spPr>
        <p:txBody>
          <a:bodyPr/>
          <a:lstStyle/>
          <a:p>
            <a:endParaRPr lang="en-US"/>
          </a:p>
        </p:txBody>
      </p:sp>
      <p:sp>
        <p:nvSpPr>
          <p:cNvPr id="5" name="Music circle">
            <a:extLst>
              <a:ext uri="{FF2B5EF4-FFF2-40B4-BE49-F238E27FC236}">
                <a16:creationId xmlns:a16="http://schemas.microsoft.com/office/drawing/2014/main" id="{B0F92362-10E4-49CB-9DE0-1243552F7CCA}"/>
              </a:ext>
            </a:extLst>
          </p:cNvPr>
          <p:cNvSpPr>
            <a:spLocks noGrp="1"/>
          </p:cNvSpPr>
          <p:nvPr/>
        </p:nvSpPr>
        <p:spPr>
          <a:xfrm>
            <a:off x="6705600" y="3181350"/>
            <a:ext cx="2571750" cy="1971675"/>
          </a:xfrm>
          <a:prstGeom prst="ellipse">
            <a:avLst/>
          </a:prstGeom>
          <a:noFill/>
          <a:ln w="19050">
            <a:solidFill>
              <a:srgbClr val="111111"/>
            </a:solidFill>
          </a:ln>
        </p:spPr>
        <p:txBody>
          <a:bodyPr/>
          <a:lstStyle/>
          <a:p>
            <a:endParaRPr lang="en-US"/>
          </a:p>
        </p:txBody>
      </p:sp>
      <p:sp>
        <p:nvSpPr>
          <p:cNvPr id="6" name="Sport circle">
            <a:extLst>
              <a:ext uri="{FF2B5EF4-FFF2-40B4-BE49-F238E27FC236}">
                <a16:creationId xmlns:a16="http://schemas.microsoft.com/office/drawing/2014/main" id="{279EA7A2-6682-496D-A190-A5BAE49B7B25}"/>
              </a:ext>
            </a:extLst>
          </p:cNvPr>
          <p:cNvSpPr>
            <a:spLocks noGrp="1"/>
          </p:cNvSpPr>
          <p:nvPr/>
        </p:nvSpPr>
        <p:spPr>
          <a:xfrm>
            <a:off x="8572500" y="3181350"/>
            <a:ext cx="2571750" cy="1971675"/>
          </a:xfrm>
          <a:prstGeom prst="ellipse">
            <a:avLst/>
          </a:prstGeom>
          <a:noFill/>
          <a:ln w="19050">
            <a:solidFill>
              <a:srgbClr val="111111"/>
            </a:solidFill>
          </a:ln>
        </p:spPr>
        <p:txBody>
          <a:bodyPr/>
          <a:lstStyle/>
          <a:p>
            <a:endParaRPr lang="en-US"/>
          </a:p>
        </p:txBody>
      </p:sp>
      <p:sp>
        <p:nvSpPr>
          <p:cNvPr id="7" name="Native mathematics n(U) = 30">
            <a:extLst>
              <a:ext uri="{FF2B5EF4-FFF2-40B4-BE49-F238E27FC236}">
                <a16:creationId xmlns:a16="http://schemas.microsoft.com/office/drawing/2014/main" id="{6C4D641F-D167-4521-A99D-139A76CAF3A8}"/>
              </a:ext>
            </a:extLst>
          </p:cNvPr>
          <p:cNvSpPr>
            <a:spLocks noGrp="1"/>
          </p:cNvSpPr>
          <p:nvPr/>
        </p:nvSpPr>
        <p:spPr>
          <a:xfrm>
            <a:off x="6543675" y="2628900"/>
            <a:ext cx="3810000" cy="419100"/>
          </a:xfrm>
          <a:prstGeom prst="rect">
            <a:avLst/>
          </a:prstGeom>
          <a:noFill/>
          <a:ln w="0">
            <a:noFill/>
          </a:ln>
        </p:spPr>
        <p:txBody>
          <a:bodyPr wrap="none" lIns="0" tIns="0" rIns="0" bIns="0" anchor="t">
            <a:noAutofit/>
          </a:bodyPr>
          <a:lstStyle/>
          <a:p>
            <a:pPr marL="0" indent="0" algn="l">
              <a:lnSpc>
                <a:spcPct val="100000"/>
              </a:lnSpc>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n(U) = 30</a:t>
            </a:r>
          </a:p>
        </p:txBody>
      </p:sp>
      <p:sp>
        <p:nvSpPr>
          <p:cNvPr id="8" name="Native mathematics Music">
            <a:extLst>
              <a:ext uri="{FF2B5EF4-FFF2-40B4-BE49-F238E27FC236}">
                <a16:creationId xmlns:a16="http://schemas.microsoft.com/office/drawing/2014/main" id="{8A2BA39D-8DD9-48C1-BA1D-6948F88BE95F}"/>
              </a:ext>
            </a:extLst>
          </p:cNvPr>
          <p:cNvSpPr>
            <a:spLocks noGrp="1"/>
          </p:cNvSpPr>
          <p:nvPr/>
        </p:nvSpPr>
        <p:spPr>
          <a:xfrm>
            <a:off x="7124700" y="3476625"/>
            <a:ext cx="1381125" cy="381000"/>
          </a:xfrm>
          <a:prstGeom prst="rect">
            <a:avLst/>
          </a:prstGeom>
          <a:noFill/>
          <a:ln w="0">
            <a:noFill/>
          </a:ln>
        </p:spPr>
        <p:txBody>
          <a:bodyPr wrap="none" lIns="0" tIns="0" rIns="0" bIns="0" anchor="t">
            <a:noAutofit/>
          </a:bodyPr>
          <a:lstStyle/>
          <a:p>
            <a:pPr marL="0" indent="0" algn="l">
              <a:lnSpc>
                <a:spcPct val="100000"/>
              </a:lnSpc>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Music</a:t>
            </a:r>
          </a:p>
        </p:txBody>
      </p:sp>
      <p:sp>
        <p:nvSpPr>
          <p:cNvPr id="9" name="Native mathematics Sport">
            <a:extLst>
              <a:ext uri="{FF2B5EF4-FFF2-40B4-BE49-F238E27FC236}">
                <a16:creationId xmlns:a16="http://schemas.microsoft.com/office/drawing/2014/main" id="{63689564-050F-4C0A-AC07-64E76964BE0C}"/>
              </a:ext>
            </a:extLst>
          </p:cNvPr>
          <p:cNvSpPr>
            <a:spLocks noGrp="1"/>
          </p:cNvSpPr>
          <p:nvPr/>
        </p:nvSpPr>
        <p:spPr>
          <a:xfrm>
            <a:off x="9525000" y="3476625"/>
            <a:ext cx="1285875" cy="381000"/>
          </a:xfrm>
          <a:prstGeom prst="rect">
            <a:avLst/>
          </a:prstGeom>
          <a:noFill/>
          <a:ln w="0">
            <a:noFill/>
          </a:ln>
        </p:spPr>
        <p:txBody>
          <a:bodyPr wrap="none" lIns="0" tIns="0" rIns="0" bIns="0" anchor="t">
            <a:noAutofit/>
          </a:bodyPr>
          <a:lstStyle/>
          <a:p>
            <a:pPr marL="0" indent="0" algn="l">
              <a:lnSpc>
                <a:spcPct val="100000"/>
              </a:lnSpc>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Sport</a:t>
            </a:r>
          </a:p>
        </p:txBody>
      </p:sp>
      <p:sp>
        <p:nvSpPr>
          <p:cNvPr id="10" name="Native mathematics 12">
            <a:extLst>
              <a:ext uri="{FF2B5EF4-FFF2-40B4-BE49-F238E27FC236}">
                <a16:creationId xmlns:a16="http://schemas.microsoft.com/office/drawing/2014/main" id="{7754A65D-5F84-438B-8C76-28159D98E842}"/>
              </a:ext>
            </a:extLst>
          </p:cNvPr>
          <p:cNvSpPr>
            <a:spLocks noGrp="1"/>
          </p:cNvSpPr>
          <p:nvPr/>
        </p:nvSpPr>
        <p:spPr>
          <a:xfrm>
            <a:off x="7372350" y="4114800"/>
            <a:ext cx="762000" cy="457200"/>
          </a:xfrm>
          <a:prstGeom prst="rect">
            <a:avLst/>
          </a:prstGeom>
          <a:noFill/>
          <a:ln w="0">
            <a:noFill/>
          </a:ln>
        </p:spPr>
        <p:txBody>
          <a:bodyPr wrap="none" lIns="0" tIns="0" rIns="0" bIns="0" anchor="t">
            <a:noAutofit/>
          </a:bodyPr>
          <a:lstStyle/>
          <a:p>
            <a:pPr marL="0" indent="0" algn="ctr">
              <a:lnSpc>
                <a:spcPct val="100000"/>
              </a:lnSpc>
              <a:spcAft>
                <a:spcPts val="0"/>
              </a:spcAft>
              <a:buNone/>
              <a:defRPr sz="2625" b="0">
                <a:solidFill>
                  <a:srgbClr val="111111"/>
                </a:solidFill>
                <a:latin typeface="Aptos"/>
                <a:ea typeface="Aptos"/>
                <a:cs typeface="Aptos"/>
              </a:defRPr>
            </a:pPr>
            <a:r>
              <a:rPr sz="2625" b="0">
                <a:solidFill>
                  <a:srgbClr val="111111"/>
                </a:solidFill>
                <a:latin typeface="Aptos"/>
                <a:ea typeface="Aptos"/>
                <a:cs typeface="Aptos"/>
              </a:rPr>
              <a:t>12</a:t>
            </a:r>
          </a:p>
        </p:txBody>
      </p:sp>
      <p:sp>
        <p:nvSpPr>
          <p:cNvPr id="11" name="Native mathematics 6">
            <a:extLst>
              <a:ext uri="{FF2B5EF4-FFF2-40B4-BE49-F238E27FC236}">
                <a16:creationId xmlns:a16="http://schemas.microsoft.com/office/drawing/2014/main" id="{3BA003F2-BAF4-4D8B-A1E4-624E5BBD42C5}"/>
              </a:ext>
            </a:extLst>
          </p:cNvPr>
          <p:cNvSpPr>
            <a:spLocks noGrp="1"/>
          </p:cNvSpPr>
          <p:nvPr/>
        </p:nvSpPr>
        <p:spPr>
          <a:xfrm>
            <a:off x="8629650" y="4114800"/>
            <a:ext cx="590550" cy="457200"/>
          </a:xfrm>
          <a:prstGeom prst="rect">
            <a:avLst/>
          </a:prstGeom>
          <a:noFill/>
          <a:ln w="0">
            <a:noFill/>
          </a:ln>
        </p:spPr>
        <p:txBody>
          <a:bodyPr wrap="none" lIns="0" tIns="0" rIns="0" bIns="0" anchor="t">
            <a:noAutofit/>
          </a:bodyPr>
          <a:lstStyle/>
          <a:p>
            <a:pPr marL="0" indent="0" algn="ctr">
              <a:lnSpc>
                <a:spcPct val="100000"/>
              </a:lnSpc>
              <a:spcAft>
                <a:spcPts val="0"/>
              </a:spcAft>
              <a:buNone/>
              <a:defRPr sz="2625" b="0">
                <a:solidFill>
                  <a:srgbClr val="111111"/>
                </a:solidFill>
                <a:latin typeface="Aptos"/>
                <a:ea typeface="Aptos"/>
                <a:cs typeface="Aptos"/>
              </a:defRPr>
            </a:pPr>
            <a:r>
              <a:rPr sz="2625" b="0">
                <a:solidFill>
                  <a:srgbClr val="111111"/>
                </a:solidFill>
                <a:latin typeface="Aptos"/>
                <a:ea typeface="Aptos"/>
                <a:cs typeface="Aptos"/>
              </a:rPr>
              <a:t>6</a:t>
            </a:r>
          </a:p>
        </p:txBody>
      </p:sp>
      <p:sp>
        <p:nvSpPr>
          <p:cNvPr id="12" name="Native mathematics 8">
            <a:extLst>
              <a:ext uri="{FF2B5EF4-FFF2-40B4-BE49-F238E27FC236}">
                <a16:creationId xmlns:a16="http://schemas.microsoft.com/office/drawing/2014/main" id="{B38BE501-A5FA-4F01-8EF6-5254BA80D709}"/>
              </a:ext>
            </a:extLst>
          </p:cNvPr>
          <p:cNvSpPr>
            <a:spLocks noGrp="1"/>
          </p:cNvSpPr>
          <p:nvPr/>
        </p:nvSpPr>
        <p:spPr>
          <a:xfrm>
            <a:off x="9906000" y="4114800"/>
            <a:ext cx="666750" cy="457200"/>
          </a:xfrm>
          <a:prstGeom prst="rect">
            <a:avLst/>
          </a:prstGeom>
          <a:noFill/>
          <a:ln w="0">
            <a:noFill/>
          </a:ln>
        </p:spPr>
        <p:txBody>
          <a:bodyPr wrap="none" lIns="0" tIns="0" rIns="0" bIns="0" anchor="t">
            <a:noAutofit/>
          </a:bodyPr>
          <a:lstStyle/>
          <a:p>
            <a:pPr marL="0" indent="0" algn="ctr">
              <a:lnSpc>
                <a:spcPct val="100000"/>
              </a:lnSpc>
              <a:spcAft>
                <a:spcPts val="0"/>
              </a:spcAft>
              <a:buNone/>
              <a:defRPr sz="2625" b="0">
                <a:solidFill>
                  <a:srgbClr val="111111"/>
                </a:solidFill>
                <a:latin typeface="Aptos"/>
                <a:ea typeface="Aptos"/>
                <a:cs typeface="Aptos"/>
              </a:defRPr>
            </a:pPr>
            <a:r>
              <a:rPr sz="2625" b="0">
                <a:solidFill>
                  <a:srgbClr val="111111"/>
                </a:solidFill>
                <a:latin typeface="Aptos"/>
                <a:ea typeface="Aptos"/>
                <a:cs typeface="Aptos"/>
              </a:rPr>
              <a:t>8</a:t>
            </a:r>
          </a:p>
        </p:txBody>
      </p:sp>
      <p:sp>
        <p:nvSpPr>
          <p:cNvPr id="13" name="Native mathematics 4">
            <a:extLst>
              <a:ext uri="{FF2B5EF4-FFF2-40B4-BE49-F238E27FC236}">
                <a16:creationId xmlns:a16="http://schemas.microsoft.com/office/drawing/2014/main" id="{EB1D3B89-013A-4D11-8C2C-AD6423A9521E}"/>
              </a:ext>
            </a:extLst>
          </p:cNvPr>
          <p:cNvSpPr>
            <a:spLocks noGrp="1"/>
          </p:cNvSpPr>
          <p:nvPr/>
        </p:nvSpPr>
        <p:spPr>
          <a:xfrm>
            <a:off x="10953750" y="5238750"/>
            <a:ext cx="476250" cy="38100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4</a:t>
            </a:r>
          </a:p>
        </p:txBody>
      </p:sp>
      <p:sp>
        <p:nvSpPr>
          <p:cNvPr id="14" name="Handout reference A3">
            <a:extLst>
              <a:ext uri="{FF2B5EF4-FFF2-40B4-BE49-F238E27FC236}">
                <a16:creationId xmlns:a16="http://schemas.microsoft.com/office/drawing/2014/main" id="{6F63B98D-88C8-4473-AB40-FDB04B5D7AD2}"/>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3</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FC3C-67FB-B165-3C59-7A316881487C}"/>
              </a:ext>
            </a:extLst>
          </p:cNvPr>
          <p:cNvSpPr>
            <a:spLocks noGrp="1"/>
          </p:cNvSpPr>
          <p:nvPr>
            <p:ph type="ctrTitle"/>
          </p:nvPr>
        </p:nvSpPr>
        <p:spPr>
          <a:xfrm>
            <a:off x="356101" y="2154457"/>
            <a:ext cx="5739899" cy="3488697"/>
          </a:xfrm>
        </p:spPr>
        <p:txBody>
          <a:bodyPr>
            <a:normAutofit/>
          </a:bodyPr>
          <a:lstStyle/>
          <a:p>
            <a:r>
              <a:t>Section 2:</a:t>
            </a:r>
          </a:p>
          <a:p>
            <a:r>
              <a:t>Counting</a:t>
            </a:r>
          </a:p>
          <a:p>
            <a:r>
              <a:t>Methods</a:t>
            </a:r>
          </a:p>
        </p:txBody>
      </p:sp>
    </p:spTree>
    <p:extLst>
      <p:ext uri="{BB962C8B-B14F-4D97-AF65-F5344CB8AC3E}">
        <p14:creationId xmlns:p14="http://schemas.microsoft.com/office/powerpoint/2010/main" val="3422886428"/>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List possibilities first</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Shirts: red, blue or green.     Trousers: black or grey.</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Red–black       Red–grey</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Blue–black      Blue–grey</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Green–black     Green–grey</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Complete outcome: one shirt and one pair of trousers.</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3 shirts × 2 trousers = 6 complete outfits</a:t>
            </a:r>
          </a:p>
        </p:txBody>
      </p:sp>
    </p:spTree>
    <p:extLst>
      <p:ext uri="{BB962C8B-B14F-4D97-AF65-F5344CB8AC3E}">
        <p14:creationId xmlns:p14="http://schemas.microsoft.com/office/powerpoint/2010/main" val="32813612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Multiply choices at each stage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Stage: one decision or one position to fill.</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Basic Counting Principle: count the choices at every stage, then multiply.</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4 main</a:t>
            </a:r>
            <a:r>
              <a:rPr lang="en-US" sz="2325" b="0" dirty="0">
                <a:solidFill>
                  <a:srgbClr val="111111"/>
                </a:solidFill>
                <a:latin typeface="Aptos"/>
                <a:ea typeface="Aptos"/>
                <a:cs typeface="Aptos"/>
              </a:rPr>
              <a:t> dishes</a:t>
            </a:r>
            <a:r>
              <a:rPr sz="2325" b="0" dirty="0">
                <a:solidFill>
                  <a:srgbClr val="111111"/>
                </a:solidFill>
                <a:latin typeface="Aptos"/>
                <a:ea typeface="Aptos"/>
                <a:cs typeface="Aptos"/>
              </a:rPr>
              <a:t> × 3 drinks × 2 desserts = 24 meals</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Repeats allowed: the same choice remains available.</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No repeats / without replacement: a used choice is unavailable.</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If branches differ, draw a tree or count each valid branch.</a:t>
            </a:r>
          </a:p>
        </p:txBody>
      </p:sp>
    </p:spTree>
    <p:extLst>
      <p:ext uri="{BB962C8B-B14F-4D97-AF65-F5344CB8AC3E}">
        <p14:creationId xmlns:p14="http://schemas.microsoft.com/office/powerpoint/2010/main" val="3281361232"/>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A4: Basic counting practice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330732"/>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Draw one slot for each choice, then multiply.</a:t>
            </a:r>
          </a:p>
          <a:p>
            <a:pPr marL="0" indent="0" algn="l">
              <a:lnSpc>
                <a:spcPct val="106000"/>
              </a:lnSpc>
              <a:spcAft>
                <a:spcPts val="4"/>
              </a:spcAft>
              <a:buNone/>
              <a:defRPr sz="2325" b="0">
                <a:solidFill>
                  <a:srgbClr val="111111"/>
                </a:solidFill>
                <a:latin typeface="Aptos"/>
                <a:ea typeface="Aptos"/>
                <a:cs typeface="Aptos"/>
              </a:defRPr>
            </a:pPr>
            <a:endParaRPr sz="2325" b="0">
              <a:solidFill>
                <a:srgbClr val="111111"/>
              </a:solidFill>
              <a:latin typeface="Aptos"/>
              <a:ea typeface="Aptos"/>
              <a:cs typeface="Aptos"/>
            </a:endParaRP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  Choose 1 snack from 4 and 1 drink from 3.</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  Choose one digit 0–9, then one letter A–F.</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  Create a 3-digit PIN; 0 may be first and repeats are allowed.</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Q4  Optional: two uppercase letters A–Z, then three digits 0–9.</a:t>
            </a:r>
          </a:p>
          <a:p>
            <a:pPr marL="0" indent="0" algn="l">
              <a:lnSpc>
                <a:spcPct val="106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    Repeats are allowed.</a:t>
            </a:r>
          </a:p>
        </p:txBody>
      </p:sp>
      <p:sp>
        <p:nvSpPr>
          <p:cNvPr id="4" name="Handout reference A4">
            <a:extLst>
              <a:ext uri="{FF2B5EF4-FFF2-40B4-BE49-F238E27FC236}">
                <a16:creationId xmlns:a16="http://schemas.microsoft.com/office/drawing/2014/main" id="{8E596699-921E-4F74-BCAC-636F4846089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4</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A4: Worked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a:t>
            </a:r>
            <a:r>
              <a:rPr sz="2325" b="0">
                <a:solidFill>
                  <a:srgbClr val="111111"/>
                </a:solidFill>
                <a:latin typeface="Aptos"/>
                <a:ea typeface="Aptos"/>
                <a:cs typeface="Aptos"/>
              </a:rPr>
              <a:t>  4 × 3 = 12 snack-and-drink choices</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a:t>
            </a:r>
            <a:r>
              <a:rPr sz="2325" b="0">
                <a:solidFill>
                  <a:srgbClr val="111111"/>
                </a:solidFill>
                <a:latin typeface="Aptos"/>
                <a:ea typeface="Aptos"/>
                <a:cs typeface="Aptos"/>
              </a:rPr>
              <a:t>  10 × 6 = 60 digit-and-letter codes</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a:t>
            </a:r>
            <a:r>
              <a:rPr sz="2325" b="0">
                <a:solidFill>
                  <a:srgbClr val="111111"/>
                </a:solidFill>
                <a:latin typeface="Aptos"/>
                <a:ea typeface="Aptos"/>
                <a:cs typeface="Aptos"/>
              </a:rPr>
              <a:t>  10 × 10 × 10 = 1,000 PINs</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Q4</a:t>
            </a:r>
            <a:r>
              <a:rPr sz="2325" b="0">
                <a:solidFill>
                  <a:srgbClr val="111111"/>
                </a:solidFill>
                <a:latin typeface="Aptos"/>
                <a:ea typeface="Aptos"/>
                <a:cs typeface="Aptos"/>
              </a:rPr>
              <a:t>  26 × 26 × 10 × 10 × 10 = 676,000 codes</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The wording decides whether each choice remains available.</a:t>
            </a:r>
          </a:p>
        </p:txBody>
      </p:sp>
      <p:sp>
        <p:nvSpPr>
          <p:cNvPr id="4" name="Handout reference A4">
            <a:extLst>
              <a:ext uri="{FF2B5EF4-FFF2-40B4-BE49-F238E27FC236}">
                <a16:creationId xmlns:a16="http://schemas.microsoft.com/office/drawing/2014/main" id="{AFF061A9-63CD-4671-A12B-F5EFDCB42E64}"/>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4</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Factorial arranges every item</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1" dirty="0">
                <a:solidFill>
                  <a:srgbClr val="111111"/>
                </a:solidFill>
                <a:latin typeface="Aptos"/>
                <a:ea typeface="Aptos"/>
                <a:cs typeface="Aptos"/>
              </a:rPr>
              <a:t>Five different students stand in one line.</a:t>
            </a:r>
            <a:r>
              <a:rPr lang="en-US" sz="2325" b="1" dirty="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lang="en-US" sz="2325" b="1" dirty="0">
                <a:solidFill>
                  <a:srgbClr val="111111"/>
                </a:solidFill>
                <a:latin typeface="Aptos"/>
                <a:ea typeface="Aptos"/>
                <a:cs typeface="Aptos"/>
              </a:rPr>
              <a:t>How many possible choices are there? </a:t>
            </a:r>
            <a:endParaRPr sz="2325" b="1" dirty="0">
              <a:solidFill>
                <a:srgbClr val="111111"/>
              </a:solidFill>
              <a:latin typeface="Aptos"/>
              <a:ea typeface="Aptos"/>
              <a:cs typeface="Aptos"/>
            </a:endParaRP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5 choices × 4 × 3 × 2 × 1 = 120 arrangements</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Factorial: n! = n × (n−1) × … × 2 × 1</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n: the number of distinct items being arranged.</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5! = 120     and, by definition, 0! = 1</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Factorial is a shortcut for multiplying decreasing choices.</a:t>
            </a:r>
          </a:p>
        </p:txBody>
      </p:sp>
      <p:pic>
        <p:nvPicPr>
          <p:cNvPr id="1026" name="Picture 2" descr="9,300+ Kids In Line Stock Photos and Royalty-Free Pictures - iStock">
            <a:extLst>
              <a:ext uri="{FF2B5EF4-FFF2-40B4-BE49-F238E27FC236}">
                <a16:creationId xmlns:a16="http://schemas.microsoft.com/office/drawing/2014/main" id="{8DBF810E-E3F4-7E94-1F3A-D72963804B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5849" y="1259388"/>
            <a:ext cx="4442791" cy="2054428"/>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1D1B2E8A-F569-CFB4-EFEA-3DB24314ECAA}"/>
              </a:ext>
            </a:extLst>
          </p:cNvPr>
          <p:cNvCxnSpPr/>
          <p:nvPr/>
        </p:nvCxnSpPr>
        <p:spPr>
          <a:xfrm>
            <a:off x="5727348" y="2353105"/>
            <a:ext cx="20673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1361232"/>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A5: Factorial practice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7"/>
              </a:spcAft>
              <a:buNone/>
              <a:defRPr sz="2325" b="0">
                <a:solidFill>
                  <a:srgbClr val="111111"/>
                </a:solidFill>
                <a:latin typeface="Aptos"/>
                <a:ea typeface="Aptos"/>
                <a:cs typeface="Aptos"/>
              </a:defRPr>
            </a:pPr>
            <a:r>
              <a:rPr sz="2325" b="0" dirty="0">
                <a:solidFill>
                  <a:srgbClr val="111111"/>
                </a:solidFill>
                <a:latin typeface="Aptos"/>
                <a:ea typeface="Aptos"/>
                <a:cs typeface="Aptos"/>
              </a:rPr>
              <a:t>Write the multiplication before the factorial answer.</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Q1  Arrange 4 different books in a row.</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Q2  Arrange 6 students in a line.</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Q3  Arrange 8 different photographs in a row.</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Q4  Optional challenge: 6 books are arranged, but Statistics must be first.</a:t>
            </a:r>
          </a:p>
        </p:txBody>
      </p:sp>
      <p:sp>
        <p:nvSpPr>
          <p:cNvPr id="4" name="Handout reference A5">
            <a:extLst>
              <a:ext uri="{FF2B5EF4-FFF2-40B4-BE49-F238E27FC236}">
                <a16:creationId xmlns:a16="http://schemas.microsoft.com/office/drawing/2014/main" id="{E5AE6A0E-417D-427E-A694-42116E3FE226}"/>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5</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A5: Worked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330732"/>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Q1</a:t>
            </a:r>
            <a:r>
              <a:rPr sz="2325" b="0" dirty="0">
                <a:solidFill>
                  <a:srgbClr val="111111"/>
                </a:solidFill>
                <a:latin typeface="Aptos"/>
                <a:ea typeface="Aptos"/>
                <a:cs typeface="Aptos"/>
              </a:rPr>
              <a:t>  4! = 4 × 3 × 2 × 1 = 24</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Q2</a:t>
            </a:r>
            <a:r>
              <a:rPr sz="2325" b="0" dirty="0">
                <a:solidFill>
                  <a:srgbClr val="111111"/>
                </a:solidFill>
                <a:latin typeface="Aptos"/>
                <a:ea typeface="Aptos"/>
                <a:cs typeface="Aptos"/>
              </a:rPr>
              <a:t>  6! = 6 × 5 × 4 × 3 × 2 × 1 = 720</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Q3</a:t>
            </a:r>
            <a:r>
              <a:rPr sz="2325" b="0" dirty="0">
                <a:solidFill>
                  <a:srgbClr val="111111"/>
                </a:solidFill>
                <a:latin typeface="Aptos"/>
                <a:ea typeface="Aptos"/>
                <a:cs typeface="Aptos"/>
              </a:rPr>
              <a:t>  8! = 8 × 7 × 6 × 5 × 4 × 3 × 2 × 1 = 40,320</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Q4</a:t>
            </a:r>
            <a:r>
              <a:rPr sz="2325" b="0" dirty="0">
                <a:solidFill>
                  <a:srgbClr val="111111"/>
                </a:solidFill>
                <a:latin typeface="Aptos"/>
                <a:ea typeface="Aptos"/>
                <a:cs typeface="Aptos"/>
              </a:rPr>
              <a:t>  Fix Statistics first, then arrange the other 5 books.</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5! = 5 × 4 × 3 × 2 × 1 = 120</a:t>
            </a:r>
          </a:p>
          <a:p>
            <a:pPr marL="0" indent="0" algn="l">
              <a:lnSpc>
                <a:spcPct val="106000"/>
              </a:lnSpc>
              <a:spcAft>
                <a:spcPts val="8"/>
              </a:spcAft>
              <a:buNone/>
              <a:defRPr sz="2325" b="0">
                <a:solidFill>
                  <a:srgbClr val="111111"/>
                </a:solidFill>
                <a:latin typeface="Aptos"/>
                <a:ea typeface="Aptos"/>
                <a:cs typeface="Aptos"/>
              </a:defRPr>
            </a:pPr>
            <a:endParaRPr sz="2325" b="0" dirty="0">
              <a:solidFill>
                <a:srgbClr val="111111"/>
              </a:solidFill>
              <a:latin typeface="Aptos"/>
              <a:ea typeface="Aptos"/>
              <a:cs typeface="Aptos"/>
            </a:endParaRPr>
          </a:p>
          <a:p>
            <a:pPr marL="0" indent="0" algn="l">
              <a:lnSpc>
                <a:spcPct val="106000"/>
              </a:lnSpc>
              <a:spcAft>
                <a:spcPts val="8"/>
              </a:spcAft>
              <a:buNone/>
              <a:defRPr sz="2325" b="0">
                <a:solidFill>
                  <a:srgbClr val="111111"/>
                </a:solidFill>
                <a:latin typeface="Aptos"/>
                <a:ea typeface="Aptos"/>
                <a:cs typeface="Aptos"/>
              </a:defRPr>
            </a:pPr>
            <a:r>
              <a:rPr sz="2325" b="0" dirty="0">
                <a:solidFill>
                  <a:srgbClr val="111111"/>
                </a:solidFill>
                <a:latin typeface="Aptos"/>
                <a:ea typeface="Aptos"/>
                <a:cs typeface="Aptos"/>
              </a:rPr>
              <a:t>Next: what if only some positions are filled?</a:t>
            </a:r>
          </a:p>
        </p:txBody>
      </p:sp>
      <p:sp>
        <p:nvSpPr>
          <p:cNvPr id="4" name="Handout reference A5">
            <a:extLst>
              <a:ext uri="{FF2B5EF4-FFF2-40B4-BE49-F238E27FC236}">
                <a16:creationId xmlns:a16="http://schemas.microsoft.com/office/drawing/2014/main" id="{09DEC0C0-1237-4ACC-A333-7FB092FD4D2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5</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Permutation: different roles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1619250"/>
          </a:xfrm>
        </p:spPr>
        <p:txBody>
          <a:bodyPr lIns="0" tIns="0" rIns="0" bIns="0" anchor="t">
            <a:noAutofit/>
          </a:bodyPr>
          <a:lstStyle/>
          <a:p>
            <a:pPr marL="0" indent="0" algn="l">
              <a:lnSpc>
                <a:spcPct val="106000"/>
              </a:lnSpc>
              <a:spcAft>
                <a:spcPts val="7"/>
              </a:spcAft>
              <a:buNone/>
              <a:defRPr sz="2325" b="0">
                <a:solidFill>
                  <a:srgbClr val="111111"/>
                </a:solidFill>
                <a:latin typeface="Aptos"/>
                <a:ea typeface="Aptos"/>
                <a:cs typeface="Aptos"/>
              </a:defRPr>
            </a:pPr>
            <a:r>
              <a:rPr sz="2325" b="0" dirty="0">
                <a:solidFill>
                  <a:srgbClr val="111111"/>
                </a:solidFill>
                <a:latin typeface="Aptos"/>
                <a:ea typeface="Aptos"/>
                <a:cs typeface="Aptos"/>
              </a:rPr>
              <a:t>Use a permutation when swapping selected items creates a new result.</a:t>
            </a:r>
          </a:p>
          <a:p>
            <a:pPr marL="0" indent="0" algn="l">
              <a:lnSpc>
                <a:spcPct val="106000"/>
              </a:lnSpc>
              <a:spcAft>
                <a:spcPts val="6"/>
              </a:spcAft>
              <a:buNone/>
              <a:defRPr sz="2325" b="0">
                <a:solidFill>
                  <a:srgbClr val="111111"/>
                </a:solidFill>
                <a:latin typeface="Aptos"/>
                <a:ea typeface="Aptos"/>
                <a:cs typeface="Aptos"/>
              </a:defRPr>
            </a:pPr>
            <a:r>
              <a:rPr sz="2325" b="1" dirty="0">
                <a:solidFill>
                  <a:srgbClr val="111111"/>
                </a:solidFill>
                <a:latin typeface="Aptos"/>
                <a:ea typeface="Aptos"/>
                <a:cs typeface="Aptos"/>
              </a:rPr>
              <a:t>From 5 students, fill 3 roles: president, secretary, treasurer.</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5 × 4 × 3 = 60 ordered results</a:t>
            </a:r>
          </a:p>
        </p:txBody>
      </p:sp>
      <p:sp>
        <p:nvSpPr>
          <p:cNvPr id="4" name="Native mathematics n = items availabl">
            <a:extLst>
              <a:ext uri="{FF2B5EF4-FFF2-40B4-BE49-F238E27FC236}">
                <a16:creationId xmlns:a16="http://schemas.microsoft.com/office/drawing/2014/main" id="{458842E6-ABDE-4745-852B-D6E397B92D47}"/>
              </a:ext>
            </a:extLst>
          </p:cNvPr>
          <p:cNvSpPr>
            <a:spLocks noGrp="1"/>
          </p:cNvSpPr>
          <p:nvPr/>
        </p:nvSpPr>
        <p:spPr>
          <a:xfrm>
            <a:off x="428625" y="3952875"/>
            <a:ext cx="619125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n = items available; r = positions filled</a:t>
            </a:r>
          </a:p>
        </p:txBody>
      </p:sp>
      <p:sp>
        <p:nvSpPr>
          <p:cNvPr id="5" name="Native mathematics Distinct items; no">
            <a:extLst>
              <a:ext uri="{FF2B5EF4-FFF2-40B4-BE49-F238E27FC236}">
                <a16:creationId xmlns:a16="http://schemas.microsoft.com/office/drawing/2014/main" id="{D1BB6221-CDC9-4D6D-946E-BE946C1AC734}"/>
              </a:ext>
            </a:extLst>
          </p:cNvPr>
          <p:cNvSpPr>
            <a:spLocks noGrp="1"/>
          </p:cNvSpPr>
          <p:nvPr/>
        </p:nvSpPr>
        <p:spPr>
          <a:xfrm>
            <a:off x="428625" y="4438650"/>
            <a:ext cx="619125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dirty="0">
                <a:solidFill>
                  <a:srgbClr val="FF0000"/>
                </a:solidFill>
                <a:latin typeface="Aptos"/>
                <a:ea typeface="Aptos"/>
                <a:cs typeface="Aptos"/>
              </a:rPr>
              <a:t>Distinct items</a:t>
            </a:r>
            <a:r>
              <a:rPr sz="2325" b="0" dirty="0">
                <a:solidFill>
                  <a:srgbClr val="111111"/>
                </a:solidFill>
                <a:latin typeface="Aptos"/>
                <a:ea typeface="Aptos"/>
                <a:cs typeface="Aptos"/>
              </a:rPr>
              <a:t>; no repeats; 0 ≤ r ≤ n.</a:t>
            </a:r>
          </a:p>
        </p:txBody>
      </p:sp>
      <p:sp>
        <p:nvSpPr>
          <p:cNvPr id="6" name="Native mathematics Calculator key: nP">
            <a:extLst>
              <a:ext uri="{FF2B5EF4-FFF2-40B4-BE49-F238E27FC236}">
                <a16:creationId xmlns:a16="http://schemas.microsoft.com/office/drawing/2014/main" id="{9C0751A0-0AAE-4958-B688-8EAD8FA59175}"/>
              </a:ext>
            </a:extLst>
          </p:cNvPr>
          <p:cNvSpPr>
            <a:spLocks noGrp="1"/>
          </p:cNvSpPr>
          <p:nvPr/>
        </p:nvSpPr>
        <p:spPr>
          <a:xfrm>
            <a:off x="428625" y="4924425"/>
            <a:ext cx="571500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dirty="0">
                <a:solidFill>
                  <a:srgbClr val="111111"/>
                </a:solidFill>
                <a:latin typeface="Aptos"/>
                <a:ea typeface="Aptos"/>
                <a:cs typeface="Aptos"/>
              </a:rPr>
              <a:t>Calculator key: </a:t>
            </a:r>
            <a:r>
              <a:rPr sz="2325" b="1" dirty="0">
                <a:solidFill>
                  <a:srgbClr val="111111"/>
                </a:solidFill>
                <a:latin typeface="Aptos"/>
                <a:ea typeface="Aptos"/>
                <a:cs typeface="Aptos"/>
              </a:rPr>
              <a:t>nPr</a:t>
            </a:r>
          </a:p>
        </p:txBody>
      </p:sp>
      <p:sp>
        <p:nvSpPr>
          <p:cNvPr id="7" name="Native mathematics P(n,r) =">
            <a:extLst>
              <a:ext uri="{FF2B5EF4-FFF2-40B4-BE49-F238E27FC236}">
                <a16:creationId xmlns:a16="http://schemas.microsoft.com/office/drawing/2014/main" id="{9640CD28-BE02-4E43-9151-90BE657BB24E}"/>
              </a:ext>
            </a:extLst>
          </p:cNvPr>
          <p:cNvSpPr>
            <a:spLocks noGrp="1"/>
          </p:cNvSpPr>
          <p:nvPr/>
        </p:nvSpPr>
        <p:spPr>
          <a:xfrm>
            <a:off x="7210425" y="4314825"/>
            <a:ext cx="1398072" cy="447675"/>
          </a:xfrm>
          <a:prstGeom prst="rect">
            <a:avLst/>
          </a:prstGeom>
          <a:noFill/>
          <a:ln w="0">
            <a:noFill/>
          </a:ln>
        </p:spPr>
        <p:txBody>
          <a:bodyPr wrap="none" lIns="0" tIns="0" rIns="0" bIns="0" anchor="t">
            <a:noAutofit/>
          </a:bodyPr>
          <a:lstStyle/>
          <a:p>
            <a:pPr marL="0" indent="0" algn="l">
              <a:lnSpc>
                <a:spcPct val="100000"/>
              </a:lnSpc>
              <a:spcAft>
                <a:spcPts val="0"/>
              </a:spcAft>
              <a:buNone/>
              <a:defRPr sz="2625" b="0">
                <a:solidFill>
                  <a:srgbClr val="111111"/>
                </a:solidFill>
                <a:latin typeface="Aptos"/>
                <a:ea typeface="Aptos"/>
                <a:cs typeface="Aptos"/>
              </a:defRPr>
            </a:pPr>
            <a:r>
              <a:rPr sz="2625" b="0">
                <a:solidFill>
                  <a:srgbClr val="111111"/>
                </a:solidFill>
                <a:latin typeface="Aptos"/>
                <a:ea typeface="Aptos"/>
                <a:cs typeface="Aptos"/>
              </a:rPr>
              <a:t>P(n,r) =</a:t>
            </a:r>
          </a:p>
        </p:txBody>
      </p:sp>
      <p:sp>
        <p:nvSpPr>
          <p:cNvPr id="8" name="Native mathematics n!">
            <a:extLst>
              <a:ext uri="{FF2B5EF4-FFF2-40B4-BE49-F238E27FC236}">
                <a16:creationId xmlns:a16="http://schemas.microsoft.com/office/drawing/2014/main" id="{3CE37B99-E129-4287-91EB-505477CCAF0C}"/>
              </a:ext>
            </a:extLst>
          </p:cNvPr>
          <p:cNvSpPr>
            <a:spLocks noGrp="1"/>
          </p:cNvSpPr>
          <p:nvPr/>
        </p:nvSpPr>
        <p:spPr>
          <a:xfrm>
            <a:off x="8608497" y="4124325"/>
            <a:ext cx="1647825" cy="381000"/>
          </a:xfrm>
          <a:prstGeom prst="rect">
            <a:avLst/>
          </a:prstGeom>
          <a:noFill/>
          <a:ln w="0">
            <a:noFill/>
          </a:ln>
        </p:spPr>
        <p:txBody>
          <a:bodyPr wrap="none" lIns="0" tIns="0" rIns="0" bIns="0" anchor="t">
            <a:noAutofit/>
          </a:bodyPr>
          <a:lstStyle/>
          <a:p>
            <a:pPr marL="0" indent="0" algn="ctr">
              <a:lnSpc>
                <a:spcPct val="100000"/>
              </a:lnSpc>
              <a:spcAft>
                <a:spcPts val="0"/>
              </a:spcAft>
              <a:buNone/>
              <a:defRPr sz="2625" b="0">
                <a:solidFill>
                  <a:srgbClr val="111111"/>
                </a:solidFill>
                <a:latin typeface="Aptos"/>
                <a:ea typeface="Aptos"/>
                <a:cs typeface="Aptos"/>
              </a:defRPr>
            </a:pPr>
            <a:r>
              <a:rPr sz="2625" b="0">
                <a:solidFill>
                  <a:srgbClr val="111111"/>
                </a:solidFill>
                <a:latin typeface="Aptos"/>
                <a:ea typeface="Aptos"/>
                <a:cs typeface="Aptos"/>
              </a:rPr>
              <a:t>n!</a:t>
            </a:r>
          </a:p>
        </p:txBody>
      </p:sp>
      <p:sp>
        <p:nvSpPr>
          <p:cNvPr id="9" name="Fraction or radical rule">
            <a:extLst>
              <a:ext uri="{FF2B5EF4-FFF2-40B4-BE49-F238E27FC236}">
                <a16:creationId xmlns:a16="http://schemas.microsoft.com/office/drawing/2014/main" id="{64A00BB2-61B8-4AAE-BCDF-C6DBE04EA4D8}"/>
              </a:ext>
            </a:extLst>
          </p:cNvPr>
          <p:cNvSpPr>
            <a:spLocks noGrp="1"/>
          </p:cNvSpPr>
          <p:nvPr/>
        </p:nvSpPr>
        <p:spPr>
          <a:xfrm>
            <a:off x="8608497" y="4486275"/>
            <a:ext cx="1647825" cy="0"/>
          </a:xfrm>
          <a:prstGeom prst="line">
            <a:avLst/>
          </a:prstGeom>
          <a:ln w="14288">
            <a:solidFill>
              <a:srgbClr val="111111"/>
            </a:solidFill>
          </a:ln>
        </p:spPr>
        <p:txBody>
          <a:bodyPr/>
          <a:lstStyle/>
          <a:p>
            <a:endParaRPr lang="en-US"/>
          </a:p>
        </p:txBody>
      </p:sp>
      <p:sp>
        <p:nvSpPr>
          <p:cNvPr id="10" name="Native mathematics (n − r)!">
            <a:extLst>
              <a:ext uri="{FF2B5EF4-FFF2-40B4-BE49-F238E27FC236}">
                <a16:creationId xmlns:a16="http://schemas.microsoft.com/office/drawing/2014/main" id="{A5888904-C1D8-4263-99DD-193A665949A8}"/>
              </a:ext>
            </a:extLst>
          </p:cNvPr>
          <p:cNvSpPr>
            <a:spLocks noGrp="1"/>
          </p:cNvSpPr>
          <p:nvPr/>
        </p:nvSpPr>
        <p:spPr>
          <a:xfrm>
            <a:off x="8608497" y="4524375"/>
            <a:ext cx="1647825" cy="400050"/>
          </a:xfrm>
          <a:prstGeom prst="rect">
            <a:avLst/>
          </a:prstGeom>
          <a:noFill/>
          <a:ln w="0">
            <a:noFill/>
          </a:ln>
        </p:spPr>
        <p:txBody>
          <a:bodyPr wrap="none" lIns="0" tIns="0" rIns="0" bIns="0" anchor="t">
            <a:noAutofit/>
          </a:bodyPr>
          <a:lstStyle/>
          <a:p>
            <a:pPr marL="0" indent="0" algn="ctr">
              <a:lnSpc>
                <a:spcPct val="100000"/>
              </a:lnSpc>
              <a:spcAft>
                <a:spcPts val="0"/>
              </a:spcAft>
              <a:buNone/>
              <a:defRPr sz="2625" b="0">
                <a:solidFill>
                  <a:srgbClr val="111111"/>
                </a:solidFill>
                <a:latin typeface="Aptos"/>
                <a:ea typeface="Aptos"/>
                <a:cs typeface="Aptos"/>
              </a:defRPr>
            </a:pPr>
            <a:r>
              <a:rPr sz="2625" b="0">
                <a:solidFill>
                  <a:srgbClr val="111111"/>
                </a:solidFill>
                <a:latin typeface="Aptos"/>
                <a:ea typeface="Aptos"/>
                <a:cs typeface="Aptos"/>
              </a:rPr>
              <a:t>(n − r)!</a:t>
            </a:r>
          </a:p>
        </p:txBody>
      </p:sp>
      <p:sp>
        <p:nvSpPr>
          <p:cNvPr id="11" name="TextBox 10">
            <a:extLst>
              <a:ext uri="{FF2B5EF4-FFF2-40B4-BE49-F238E27FC236}">
                <a16:creationId xmlns:a16="http://schemas.microsoft.com/office/drawing/2014/main" id="{D827A014-8DB4-B1A6-C2F8-8FA8AC672151}"/>
              </a:ext>
            </a:extLst>
          </p:cNvPr>
          <p:cNvSpPr txBox="1"/>
          <p:nvPr/>
        </p:nvSpPr>
        <p:spPr>
          <a:xfrm>
            <a:off x="6878472" y="3766782"/>
            <a:ext cx="3862316" cy="1586268"/>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281361232"/>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Permutation: fill three roles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1381125"/>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Five students: A, B, C, D and E.</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Fill three labelled roles: President | Secretary | Treasurer.</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Choices shrink: 5 for president, then 4, then 3.</a:t>
            </a:r>
          </a:p>
        </p:txBody>
      </p:sp>
      <p:sp>
        <p:nvSpPr>
          <p:cNvPr id="4" name="Native mathematics P(5,3) =">
            <a:extLst>
              <a:ext uri="{FF2B5EF4-FFF2-40B4-BE49-F238E27FC236}">
                <a16:creationId xmlns:a16="http://schemas.microsoft.com/office/drawing/2014/main" id="{BB35452C-D5E3-494F-BB1C-082309A98654}"/>
              </a:ext>
            </a:extLst>
          </p:cNvPr>
          <p:cNvSpPr>
            <a:spLocks noGrp="1"/>
          </p:cNvSpPr>
          <p:nvPr/>
        </p:nvSpPr>
        <p:spPr>
          <a:xfrm>
            <a:off x="428625" y="3733800"/>
            <a:ext cx="1404899" cy="447675"/>
          </a:xfrm>
          <a:prstGeom prst="rect">
            <a:avLst/>
          </a:prstGeom>
          <a:noFill/>
          <a:ln w="0">
            <a:noFill/>
          </a:ln>
        </p:spPr>
        <p:txBody>
          <a:bodyPr wrap="none" lIns="0" tIns="0" rIns="0" bIns="0" anchor="t">
            <a:noAutofit/>
          </a:bodyPr>
          <a:lstStyle/>
          <a:p>
            <a:pPr marL="0" indent="0" algn="l">
              <a:lnSpc>
                <a:spcPct val="100000"/>
              </a:lnSpc>
              <a:spcAft>
                <a:spcPts val="0"/>
              </a:spcAft>
              <a:buNone/>
              <a:defRPr sz="2475" b="0">
                <a:solidFill>
                  <a:srgbClr val="111111"/>
                </a:solidFill>
                <a:latin typeface="Aptos"/>
                <a:ea typeface="Aptos"/>
                <a:cs typeface="Aptos"/>
              </a:defRPr>
            </a:pPr>
            <a:r>
              <a:rPr sz="2475" b="0">
                <a:solidFill>
                  <a:srgbClr val="111111"/>
                </a:solidFill>
                <a:latin typeface="Aptos"/>
                <a:ea typeface="Aptos"/>
                <a:cs typeface="Aptos"/>
              </a:rPr>
              <a:t>P(5,3) =</a:t>
            </a:r>
          </a:p>
        </p:txBody>
      </p:sp>
      <p:sp>
        <p:nvSpPr>
          <p:cNvPr id="5" name="Native mathematics 5!">
            <a:extLst>
              <a:ext uri="{FF2B5EF4-FFF2-40B4-BE49-F238E27FC236}">
                <a16:creationId xmlns:a16="http://schemas.microsoft.com/office/drawing/2014/main" id="{1A10B15B-6A3F-458D-9401-416CFCF1BDBB}"/>
              </a:ext>
            </a:extLst>
          </p:cNvPr>
          <p:cNvSpPr>
            <a:spLocks noGrp="1"/>
          </p:cNvSpPr>
          <p:nvPr/>
        </p:nvSpPr>
        <p:spPr>
          <a:xfrm>
            <a:off x="1833524" y="3543300"/>
            <a:ext cx="1504950" cy="361950"/>
          </a:xfrm>
          <a:prstGeom prst="rect">
            <a:avLst/>
          </a:prstGeom>
          <a:noFill/>
          <a:ln w="0">
            <a:noFill/>
          </a:ln>
        </p:spPr>
        <p:txBody>
          <a:bodyPr wrap="none" lIns="0" tIns="0" rIns="0" bIns="0" anchor="t">
            <a:noAutofit/>
          </a:bodyPr>
          <a:lstStyle/>
          <a:p>
            <a:pPr marL="0" indent="0" algn="ctr">
              <a:lnSpc>
                <a:spcPct val="100000"/>
              </a:lnSpc>
              <a:spcAft>
                <a:spcPts val="0"/>
              </a:spcAft>
              <a:buNone/>
              <a:defRPr sz="2475" b="0">
                <a:solidFill>
                  <a:srgbClr val="111111"/>
                </a:solidFill>
                <a:latin typeface="Aptos"/>
                <a:ea typeface="Aptos"/>
                <a:cs typeface="Aptos"/>
              </a:defRPr>
            </a:pPr>
            <a:r>
              <a:rPr sz="2475" b="0">
                <a:solidFill>
                  <a:srgbClr val="111111"/>
                </a:solidFill>
                <a:latin typeface="Aptos"/>
                <a:ea typeface="Aptos"/>
                <a:cs typeface="Aptos"/>
              </a:rPr>
              <a:t>5!</a:t>
            </a:r>
          </a:p>
        </p:txBody>
      </p:sp>
      <p:sp>
        <p:nvSpPr>
          <p:cNvPr id="6" name="Fraction or radical rule">
            <a:extLst>
              <a:ext uri="{FF2B5EF4-FFF2-40B4-BE49-F238E27FC236}">
                <a16:creationId xmlns:a16="http://schemas.microsoft.com/office/drawing/2014/main" id="{6250E074-BC53-4C3E-9A42-384D0EC7FE1D}"/>
              </a:ext>
            </a:extLst>
          </p:cNvPr>
          <p:cNvSpPr>
            <a:spLocks noGrp="1"/>
          </p:cNvSpPr>
          <p:nvPr/>
        </p:nvSpPr>
        <p:spPr>
          <a:xfrm>
            <a:off x="1833524" y="3886200"/>
            <a:ext cx="1504950" cy="0"/>
          </a:xfrm>
          <a:prstGeom prst="line">
            <a:avLst/>
          </a:prstGeom>
          <a:ln w="14288">
            <a:solidFill>
              <a:srgbClr val="111111"/>
            </a:solidFill>
          </a:ln>
        </p:spPr>
        <p:txBody>
          <a:bodyPr/>
          <a:lstStyle/>
          <a:p>
            <a:endParaRPr lang="en-US"/>
          </a:p>
        </p:txBody>
      </p:sp>
      <p:sp>
        <p:nvSpPr>
          <p:cNvPr id="7" name="Native mathematics (5 − 3)!">
            <a:extLst>
              <a:ext uri="{FF2B5EF4-FFF2-40B4-BE49-F238E27FC236}">
                <a16:creationId xmlns:a16="http://schemas.microsoft.com/office/drawing/2014/main" id="{4B51C6F8-48C6-4673-8B80-A1D2392E1B98}"/>
              </a:ext>
            </a:extLst>
          </p:cNvPr>
          <p:cNvSpPr>
            <a:spLocks noGrp="1"/>
          </p:cNvSpPr>
          <p:nvPr/>
        </p:nvSpPr>
        <p:spPr>
          <a:xfrm>
            <a:off x="1833524" y="3924300"/>
            <a:ext cx="1504950" cy="381000"/>
          </a:xfrm>
          <a:prstGeom prst="rect">
            <a:avLst/>
          </a:prstGeom>
          <a:noFill/>
          <a:ln w="0">
            <a:noFill/>
          </a:ln>
        </p:spPr>
        <p:txBody>
          <a:bodyPr wrap="none" lIns="0" tIns="0" rIns="0" bIns="0" anchor="t">
            <a:noAutofit/>
          </a:bodyPr>
          <a:lstStyle/>
          <a:p>
            <a:pPr marL="0" indent="0" algn="ctr">
              <a:lnSpc>
                <a:spcPct val="100000"/>
              </a:lnSpc>
              <a:spcAft>
                <a:spcPts val="0"/>
              </a:spcAft>
              <a:buNone/>
              <a:defRPr sz="2475" b="0">
                <a:solidFill>
                  <a:srgbClr val="111111"/>
                </a:solidFill>
                <a:latin typeface="Aptos"/>
                <a:ea typeface="Aptos"/>
                <a:cs typeface="Aptos"/>
              </a:defRPr>
            </a:pPr>
            <a:r>
              <a:rPr sz="2475" b="0">
                <a:solidFill>
                  <a:srgbClr val="111111"/>
                </a:solidFill>
                <a:latin typeface="Aptos"/>
                <a:ea typeface="Aptos"/>
                <a:cs typeface="Aptos"/>
              </a:rPr>
              <a:t>(5 − 3)!</a:t>
            </a:r>
          </a:p>
        </p:txBody>
      </p:sp>
      <p:sp>
        <p:nvSpPr>
          <p:cNvPr id="8" name="Native mathematics =">
            <a:extLst>
              <a:ext uri="{FF2B5EF4-FFF2-40B4-BE49-F238E27FC236}">
                <a16:creationId xmlns:a16="http://schemas.microsoft.com/office/drawing/2014/main" id="{295CAFBE-71CD-45A7-9DB5-2B55782F775F}"/>
              </a:ext>
            </a:extLst>
          </p:cNvPr>
          <p:cNvSpPr>
            <a:spLocks noGrp="1"/>
          </p:cNvSpPr>
          <p:nvPr/>
        </p:nvSpPr>
        <p:spPr>
          <a:xfrm>
            <a:off x="3471824" y="3733800"/>
            <a:ext cx="34844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475" b="0">
                <a:solidFill>
                  <a:srgbClr val="111111"/>
                </a:solidFill>
                <a:latin typeface="Aptos"/>
                <a:ea typeface="Aptos"/>
                <a:cs typeface="Aptos"/>
              </a:defRPr>
            </a:pPr>
            <a:r>
              <a:rPr sz="2475" b="0">
                <a:solidFill>
                  <a:srgbClr val="111111"/>
                </a:solidFill>
                <a:latin typeface="Aptos"/>
                <a:ea typeface="Aptos"/>
                <a:cs typeface="Aptos"/>
              </a:rPr>
              <a:t>=</a:t>
            </a:r>
          </a:p>
        </p:txBody>
      </p:sp>
      <p:sp>
        <p:nvSpPr>
          <p:cNvPr id="9" name="Native mathematics 5!">
            <a:extLst>
              <a:ext uri="{FF2B5EF4-FFF2-40B4-BE49-F238E27FC236}">
                <a16:creationId xmlns:a16="http://schemas.microsoft.com/office/drawing/2014/main" id="{20829268-3A1E-4548-8BA2-45DA975FD27C}"/>
              </a:ext>
            </a:extLst>
          </p:cNvPr>
          <p:cNvSpPr>
            <a:spLocks noGrp="1"/>
          </p:cNvSpPr>
          <p:nvPr/>
        </p:nvSpPr>
        <p:spPr>
          <a:xfrm>
            <a:off x="3820272" y="3543300"/>
            <a:ext cx="819150" cy="361950"/>
          </a:xfrm>
          <a:prstGeom prst="rect">
            <a:avLst/>
          </a:prstGeom>
          <a:noFill/>
          <a:ln w="0">
            <a:noFill/>
          </a:ln>
        </p:spPr>
        <p:txBody>
          <a:bodyPr wrap="none" lIns="0" tIns="0" rIns="0" bIns="0" anchor="t">
            <a:noAutofit/>
          </a:bodyPr>
          <a:lstStyle/>
          <a:p>
            <a:pPr marL="0" indent="0" algn="ctr">
              <a:lnSpc>
                <a:spcPct val="100000"/>
              </a:lnSpc>
              <a:spcAft>
                <a:spcPts val="0"/>
              </a:spcAft>
              <a:buNone/>
              <a:defRPr sz="2475" b="0">
                <a:solidFill>
                  <a:srgbClr val="111111"/>
                </a:solidFill>
                <a:latin typeface="Aptos"/>
                <a:ea typeface="Aptos"/>
                <a:cs typeface="Aptos"/>
              </a:defRPr>
            </a:pPr>
            <a:r>
              <a:rPr sz="2475" b="0" dirty="0">
                <a:solidFill>
                  <a:srgbClr val="111111"/>
                </a:solidFill>
                <a:latin typeface="Aptos"/>
                <a:ea typeface="Aptos"/>
                <a:cs typeface="Aptos"/>
              </a:rPr>
              <a:t>5!</a:t>
            </a:r>
          </a:p>
        </p:txBody>
      </p:sp>
      <p:sp>
        <p:nvSpPr>
          <p:cNvPr id="10" name="Fraction or radical rule">
            <a:extLst>
              <a:ext uri="{FF2B5EF4-FFF2-40B4-BE49-F238E27FC236}">
                <a16:creationId xmlns:a16="http://schemas.microsoft.com/office/drawing/2014/main" id="{581DA5E5-6498-4945-B0E8-5AF06B0CA2CB}"/>
              </a:ext>
            </a:extLst>
          </p:cNvPr>
          <p:cNvSpPr>
            <a:spLocks noGrp="1"/>
          </p:cNvSpPr>
          <p:nvPr/>
        </p:nvSpPr>
        <p:spPr>
          <a:xfrm>
            <a:off x="3820272" y="3886200"/>
            <a:ext cx="819150" cy="0"/>
          </a:xfrm>
          <a:prstGeom prst="line">
            <a:avLst/>
          </a:prstGeom>
          <a:ln w="14288">
            <a:solidFill>
              <a:srgbClr val="111111"/>
            </a:solidFill>
          </a:ln>
        </p:spPr>
        <p:txBody>
          <a:bodyPr/>
          <a:lstStyle/>
          <a:p>
            <a:endParaRPr lang="en-US"/>
          </a:p>
        </p:txBody>
      </p:sp>
      <p:sp>
        <p:nvSpPr>
          <p:cNvPr id="11" name="Native mathematics 2!">
            <a:extLst>
              <a:ext uri="{FF2B5EF4-FFF2-40B4-BE49-F238E27FC236}">
                <a16:creationId xmlns:a16="http://schemas.microsoft.com/office/drawing/2014/main" id="{184F5325-9496-45C3-A9D8-E7D003382392}"/>
              </a:ext>
            </a:extLst>
          </p:cNvPr>
          <p:cNvSpPr>
            <a:spLocks noGrp="1"/>
          </p:cNvSpPr>
          <p:nvPr/>
        </p:nvSpPr>
        <p:spPr>
          <a:xfrm>
            <a:off x="3820272" y="3924300"/>
            <a:ext cx="819150" cy="381000"/>
          </a:xfrm>
          <a:prstGeom prst="rect">
            <a:avLst/>
          </a:prstGeom>
          <a:noFill/>
          <a:ln w="0">
            <a:noFill/>
          </a:ln>
        </p:spPr>
        <p:txBody>
          <a:bodyPr wrap="none" lIns="0" tIns="0" rIns="0" bIns="0" anchor="t">
            <a:noAutofit/>
          </a:bodyPr>
          <a:lstStyle/>
          <a:p>
            <a:pPr marL="0" indent="0" algn="ctr">
              <a:lnSpc>
                <a:spcPct val="100000"/>
              </a:lnSpc>
              <a:spcAft>
                <a:spcPts val="0"/>
              </a:spcAft>
              <a:buNone/>
              <a:defRPr sz="2475" b="0">
                <a:solidFill>
                  <a:srgbClr val="111111"/>
                </a:solidFill>
                <a:latin typeface="Aptos"/>
                <a:ea typeface="Aptos"/>
                <a:cs typeface="Aptos"/>
              </a:defRPr>
            </a:pPr>
            <a:r>
              <a:rPr sz="2475" b="0">
                <a:solidFill>
                  <a:srgbClr val="111111"/>
                </a:solidFill>
                <a:latin typeface="Aptos"/>
                <a:ea typeface="Aptos"/>
                <a:cs typeface="Aptos"/>
              </a:rPr>
              <a:t>2!</a:t>
            </a:r>
          </a:p>
        </p:txBody>
      </p:sp>
      <p:sp>
        <p:nvSpPr>
          <p:cNvPr id="12" name="Native mathematics = 5 × 4 × 3 = 60">
            <a:extLst>
              <a:ext uri="{FF2B5EF4-FFF2-40B4-BE49-F238E27FC236}">
                <a16:creationId xmlns:a16="http://schemas.microsoft.com/office/drawing/2014/main" id="{70CB26DF-913B-4901-88C0-C050655451AD}"/>
              </a:ext>
            </a:extLst>
          </p:cNvPr>
          <p:cNvSpPr>
            <a:spLocks noGrp="1"/>
          </p:cNvSpPr>
          <p:nvPr/>
        </p:nvSpPr>
        <p:spPr>
          <a:xfrm>
            <a:off x="4772772" y="3733800"/>
            <a:ext cx="2628839" cy="447675"/>
          </a:xfrm>
          <a:prstGeom prst="rect">
            <a:avLst/>
          </a:prstGeom>
          <a:noFill/>
          <a:ln w="0">
            <a:noFill/>
          </a:ln>
        </p:spPr>
        <p:txBody>
          <a:bodyPr wrap="none" lIns="0" tIns="0" rIns="0" bIns="0" anchor="t">
            <a:noAutofit/>
          </a:bodyPr>
          <a:lstStyle/>
          <a:p>
            <a:pPr marL="0" indent="0" algn="l">
              <a:lnSpc>
                <a:spcPct val="100000"/>
              </a:lnSpc>
              <a:spcAft>
                <a:spcPts val="0"/>
              </a:spcAft>
              <a:buNone/>
              <a:defRPr sz="2475" b="0">
                <a:solidFill>
                  <a:srgbClr val="111111"/>
                </a:solidFill>
                <a:latin typeface="Aptos"/>
                <a:ea typeface="Aptos"/>
                <a:cs typeface="Aptos"/>
              </a:defRPr>
            </a:pPr>
            <a:r>
              <a:rPr sz="2475" b="0">
                <a:solidFill>
                  <a:srgbClr val="111111"/>
                </a:solidFill>
                <a:latin typeface="Aptos"/>
                <a:ea typeface="Aptos"/>
                <a:cs typeface="Aptos"/>
              </a:rPr>
              <a:t>= 5 × 4 × 3 = 60</a:t>
            </a:r>
          </a:p>
        </p:txBody>
      </p:sp>
      <p:sp>
        <p:nvSpPr>
          <p:cNvPr id="13" name="Native mathematics Swap test: A–B–C a">
            <a:extLst>
              <a:ext uri="{FF2B5EF4-FFF2-40B4-BE49-F238E27FC236}">
                <a16:creationId xmlns:a16="http://schemas.microsoft.com/office/drawing/2014/main" id="{11157475-4A88-4031-AB2D-83494715F905}"/>
              </a:ext>
            </a:extLst>
          </p:cNvPr>
          <p:cNvSpPr>
            <a:spLocks noGrp="1"/>
          </p:cNvSpPr>
          <p:nvPr/>
        </p:nvSpPr>
        <p:spPr>
          <a:xfrm>
            <a:off x="428625" y="4762500"/>
            <a:ext cx="1095375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Swap test: A–B–C and B–A–C are different.</a:t>
            </a:r>
          </a:p>
        </p:txBody>
      </p:sp>
      <p:sp>
        <p:nvSpPr>
          <p:cNvPr id="14" name="Native mathematics The people are the">
            <a:extLst>
              <a:ext uri="{FF2B5EF4-FFF2-40B4-BE49-F238E27FC236}">
                <a16:creationId xmlns:a16="http://schemas.microsoft.com/office/drawing/2014/main" id="{0C3B5F85-D530-4104-A6C1-60CCCD81D112}"/>
              </a:ext>
            </a:extLst>
          </p:cNvPr>
          <p:cNvSpPr>
            <a:spLocks noGrp="1"/>
          </p:cNvSpPr>
          <p:nvPr/>
        </p:nvSpPr>
        <p:spPr>
          <a:xfrm>
            <a:off x="428625" y="5238750"/>
            <a:ext cx="1095375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 people are the same, but their roles changed.</a:t>
            </a:r>
          </a:p>
        </p:txBody>
      </p:sp>
      <p:sp>
        <p:nvSpPr>
          <p:cNvPr id="15" name="Native mathematics Different roles or">
            <a:extLst>
              <a:ext uri="{FF2B5EF4-FFF2-40B4-BE49-F238E27FC236}">
                <a16:creationId xmlns:a16="http://schemas.microsoft.com/office/drawing/2014/main" id="{8C3213F9-A7E0-481A-A451-EAA6DAA5151F}"/>
              </a:ext>
            </a:extLst>
          </p:cNvPr>
          <p:cNvSpPr>
            <a:spLocks noGrp="1"/>
          </p:cNvSpPr>
          <p:nvPr/>
        </p:nvSpPr>
        <p:spPr>
          <a:xfrm>
            <a:off x="428625" y="5715000"/>
            <a:ext cx="1095375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1">
                <a:solidFill>
                  <a:srgbClr val="111111"/>
                </a:solidFill>
                <a:latin typeface="Aptos"/>
                <a:ea typeface="Aptos"/>
                <a:cs typeface="Aptos"/>
              </a:defRPr>
            </a:pPr>
            <a:r>
              <a:rPr sz="2325" b="1" dirty="0">
                <a:solidFill>
                  <a:srgbClr val="FF0000"/>
                </a:solidFill>
                <a:latin typeface="Aptos"/>
                <a:ea typeface="Aptos"/>
                <a:cs typeface="Aptos"/>
              </a:rPr>
              <a:t>Different roles or positions → permutation.</a:t>
            </a:r>
          </a:p>
        </p:txBody>
      </p:sp>
    </p:spTree>
    <p:extLst>
      <p:ext uri="{BB962C8B-B14F-4D97-AF65-F5344CB8AC3E}">
        <p14:creationId xmlns:p14="http://schemas.microsoft.com/office/powerpoint/2010/main" val="3281361232"/>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A6: Permutation practice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Q1  Choose a president and vice-president from 8 students.</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Q2  Arrange 4 letters selected from 9 different letters.</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Q3  Award gold, silver and bronze to 6 teams.</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Q4  Optional challenge: how many 5-digit numbers have no repeated digits?</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For question 4, remember that the first digit cannot be 0.</a:t>
            </a:r>
          </a:p>
        </p:txBody>
      </p:sp>
      <p:sp>
        <p:nvSpPr>
          <p:cNvPr id="4" name="Handout reference A6">
            <a:extLst>
              <a:ext uri="{FF2B5EF4-FFF2-40B4-BE49-F238E27FC236}">
                <a16:creationId xmlns:a16="http://schemas.microsoft.com/office/drawing/2014/main" id="{E8D2AAB9-EB56-4A8D-BD56-D126E63D22A1}"/>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6</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A6: Worked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a:t>
            </a:r>
            <a:r>
              <a:rPr sz="2325" b="0">
                <a:solidFill>
                  <a:srgbClr val="111111"/>
                </a:solidFill>
                <a:latin typeface="Aptos"/>
                <a:ea typeface="Aptos"/>
                <a:cs typeface="Aptos"/>
              </a:rPr>
              <a:t>  P(8,2) = 8 × 7 = 56</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a:t>
            </a:r>
            <a:r>
              <a:rPr sz="2325" b="0">
                <a:solidFill>
                  <a:srgbClr val="111111"/>
                </a:solidFill>
                <a:latin typeface="Aptos"/>
                <a:ea typeface="Aptos"/>
                <a:cs typeface="Aptos"/>
              </a:rPr>
              <a:t>  P(9,4) = 9 × 8 × 7 × 6 = 3,024</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a:t>
            </a:r>
            <a:r>
              <a:rPr sz="2325" b="0">
                <a:solidFill>
                  <a:srgbClr val="111111"/>
                </a:solidFill>
                <a:latin typeface="Aptos"/>
                <a:ea typeface="Aptos"/>
                <a:cs typeface="Aptos"/>
              </a:rPr>
              <a:t>  P(6,3) = 6 × 5 × 4 = 120</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Q4</a:t>
            </a:r>
            <a:r>
              <a:rPr sz="2325" b="0">
                <a:solidFill>
                  <a:srgbClr val="111111"/>
                </a:solidFill>
                <a:latin typeface="Aptos"/>
                <a:ea typeface="Aptos"/>
                <a:cs typeface="Aptos"/>
              </a:rPr>
              <a:t>  9 × 9 × 8 × 7 × 6 = 27,216 five-digit numbers</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Ordered positions make each different arrangement count.</a:t>
            </a:r>
          </a:p>
        </p:txBody>
      </p:sp>
      <p:sp>
        <p:nvSpPr>
          <p:cNvPr id="4" name="Handout reference A6">
            <a:extLst>
              <a:ext uri="{FF2B5EF4-FFF2-40B4-BE49-F238E27FC236}">
                <a16:creationId xmlns:a16="http://schemas.microsoft.com/office/drawing/2014/main" id="{48345556-E9E5-481A-A6D6-3B76845E2A84}"/>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6</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Combination: equal roles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1905000"/>
          </a:xfrm>
        </p:spPr>
        <p:txBody>
          <a:bodyPr lIns="0" tIns="0" rIns="0" bIns="0" anchor="t">
            <a:noAutofit/>
          </a:bodyPr>
          <a:lstStyle/>
          <a:p>
            <a:pPr marL="0" indent="0" algn="l">
              <a:lnSpc>
                <a:spcPct val="106000"/>
              </a:lnSpc>
              <a:spcAft>
                <a:spcPts val="7"/>
              </a:spcAft>
              <a:buNone/>
              <a:defRPr sz="2325" b="0">
                <a:solidFill>
                  <a:srgbClr val="111111"/>
                </a:solidFill>
                <a:latin typeface="Aptos"/>
                <a:ea typeface="Aptos"/>
                <a:cs typeface="Aptos"/>
              </a:defRPr>
            </a:pPr>
            <a:r>
              <a:rPr sz="2325" b="0" dirty="0">
                <a:solidFill>
                  <a:srgbClr val="111111"/>
                </a:solidFill>
                <a:latin typeface="Aptos"/>
                <a:ea typeface="Aptos"/>
                <a:cs typeface="Aptos"/>
              </a:rPr>
              <a:t>Use a combination when swapping selected items does not create a new group.</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From 5 students, choose 3 representatives with </a:t>
            </a:r>
            <a:r>
              <a:rPr sz="2325" b="1" dirty="0">
                <a:solidFill>
                  <a:srgbClr val="FF0000"/>
                </a:solidFill>
                <a:latin typeface="Aptos"/>
                <a:ea typeface="Aptos"/>
                <a:cs typeface="Aptos"/>
              </a:rPr>
              <a:t>equal roles</a:t>
            </a:r>
            <a:r>
              <a:rPr sz="2325" b="0" dirty="0">
                <a:solidFill>
                  <a:srgbClr val="111111"/>
                </a:solidFill>
                <a:latin typeface="Aptos"/>
                <a:ea typeface="Aptos"/>
                <a:cs typeface="Aptos"/>
              </a:rPr>
              <a:t>.</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The 60 ordered results count every group 3! = 6 times.</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60 ÷ 6 = 10 different groups</a:t>
            </a:r>
          </a:p>
        </p:txBody>
      </p:sp>
      <p:sp>
        <p:nvSpPr>
          <p:cNvPr id="4" name="Native mathematics n = total availabl">
            <a:extLst>
              <a:ext uri="{FF2B5EF4-FFF2-40B4-BE49-F238E27FC236}">
                <a16:creationId xmlns:a16="http://schemas.microsoft.com/office/drawing/2014/main" id="{879ABFF8-12F3-42A6-99AB-B0088E1DE168}"/>
              </a:ext>
            </a:extLst>
          </p:cNvPr>
          <p:cNvSpPr>
            <a:spLocks noGrp="1"/>
          </p:cNvSpPr>
          <p:nvPr/>
        </p:nvSpPr>
        <p:spPr>
          <a:xfrm>
            <a:off x="428625" y="4524375"/>
            <a:ext cx="657225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dirty="0">
                <a:solidFill>
                  <a:srgbClr val="111111"/>
                </a:solidFill>
                <a:latin typeface="Aptos"/>
                <a:ea typeface="Aptos"/>
                <a:cs typeface="Aptos"/>
              </a:rPr>
              <a:t>n = total available; r = group size</a:t>
            </a:r>
          </a:p>
        </p:txBody>
      </p:sp>
      <p:sp>
        <p:nvSpPr>
          <p:cNvPr id="5" name="Native mathematics Calculator key: nC">
            <a:extLst>
              <a:ext uri="{FF2B5EF4-FFF2-40B4-BE49-F238E27FC236}">
                <a16:creationId xmlns:a16="http://schemas.microsoft.com/office/drawing/2014/main" id="{5FA76AC7-EC49-46D9-B986-81C2591460EA}"/>
              </a:ext>
            </a:extLst>
          </p:cNvPr>
          <p:cNvSpPr>
            <a:spLocks noGrp="1"/>
          </p:cNvSpPr>
          <p:nvPr/>
        </p:nvSpPr>
        <p:spPr>
          <a:xfrm>
            <a:off x="428625" y="5048250"/>
            <a:ext cx="628650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dirty="0">
                <a:solidFill>
                  <a:srgbClr val="111111"/>
                </a:solidFill>
                <a:latin typeface="Aptos"/>
                <a:ea typeface="Aptos"/>
                <a:cs typeface="Aptos"/>
              </a:rPr>
              <a:t>Calculator key: </a:t>
            </a:r>
            <a:r>
              <a:rPr sz="2325" b="1" dirty="0" err="1">
                <a:solidFill>
                  <a:srgbClr val="111111"/>
                </a:solidFill>
                <a:latin typeface="Aptos"/>
                <a:ea typeface="Aptos"/>
                <a:cs typeface="Aptos"/>
              </a:rPr>
              <a:t>nCr</a:t>
            </a:r>
            <a:endParaRPr sz="2325" b="1" dirty="0">
              <a:solidFill>
                <a:srgbClr val="111111"/>
              </a:solidFill>
              <a:latin typeface="Aptos"/>
              <a:ea typeface="Aptos"/>
              <a:cs typeface="Aptos"/>
            </a:endParaRPr>
          </a:p>
        </p:txBody>
      </p:sp>
      <p:sp>
        <p:nvSpPr>
          <p:cNvPr id="6" name="Native mathematics C(n,r) =">
            <a:extLst>
              <a:ext uri="{FF2B5EF4-FFF2-40B4-BE49-F238E27FC236}">
                <a16:creationId xmlns:a16="http://schemas.microsoft.com/office/drawing/2014/main" id="{E55449FF-2920-42CE-9A2F-01427FE7745D}"/>
              </a:ext>
            </a:extLst>
          </p:cNvPr>
          <p:cNvSpPr>
            <a:spLocks noGrp="1"/>
          </p:cNvSpPr>
          <p:nvPr/>
        </p:nvSpPr>
        <p:spPr>
          <a:xfrm>
            <a:off x="7648575" y="4552950"/>
            <a:ext cx="1309314" cy="447675"/>
          </a:xfrm>
          <a:prstGeom prst="rect">
            <a:avLst/>
          </a:prstGeom>
          <a:noFill/>
          <a:ln w="0">
            <a:noFill/>
          </a:ln>
        </p:spPr>
        <p:txBody>
          <a:bodyPr wrap="none" lIns="0" tIns="0" rIns="0" bIns="0" anchor="t">
            <a:noAutofit/>
          </a:bodyPr>
          <a:lstStyle/>
          <a:p>
            <a:pPr marL="0" indent="0" algn="l">
              <a:lnSpc>
                <a:spcPct val="100000"/>
              </a:lnSpc>
              <a:spcAft>
                <a:spcPts val="0"/>
              </a:spcAft>
              <a:buNone/>
              <a:defRPr sz="2400" b="0">
                <a:solidFill>
                  <a:srgbClr val="111111"/>
                </a:solidFill>
                <a:latin typeface="Aptos"/>
                <a:ea typeface="Aptos"/>
                <a:cs typeface="Aptos"/>
              </a:defRPr>
            </a:pPr>
            <a:r>
              <a:rPr sz="2400" b="0">
                <a:solidFill>
                  <a:srgbClr val="111111"/>
                </a:solidFill>
                <a:latin typeface="Aptos"/>
                <a:ea typeface="Aptos"/>
                <a:cs typeface="Aptos"/>
              </a:rPr>
              <a:t>C(n,r) =</a:t>
            </a:r>
          </a:p>
        </p:txBody>
      </p:sp>
      <p:sp>
        <p:nvSpPr>
          <p:cNvPr id="7" name="Native mathematics n!">
            <a:extLst>
              <a:ext uri="{FF2B5EF4-FFF2-40B4-BE49-F238E27FC236}">
                <a16:creationId xmlns:a16="http://schemas.microsoft.com/office/drawing/2014/main" id="{74870A8F-F2FB-45F4-A0D3-1FF2816AC713}"/>
              </a:ext>
            </a:extLst>
          </p:cNvPr>
          <p:cNvSpPr>
            <a:spLocks noGrp="1"/>
          </p:cNvSpPr>
          <p:nvPr/>
        </p:nvSpPr>
        <p:spPr>
          <a:xfrm>
            <a:off x="8957889" y="4362450"/>
            <a:ext cx="1790700" cy="352425"/>
          </a:xfrm>
          <a:prstGeom prst="rect">
            <a:avLst/>
          </a:prstGeom>
          <a:noFill/>
          <a:ln w="0">
            <a:noFill/>
          </a:ln>
        </p:spPr>
        <p:txBody>
          <a:bodyPr wrap="none" lIns="0" tIns="0" rIns="0" bIns="0" anchor="t">
            <a:noAutofit/>
          </a:bodyPr>
          <a:lstStyle/>
          <a:p>
            <a:pPr marL="0" indent="0" algn="ctr">
              <a:lnSpc>
                <a:spcPct val="100000"/>
              </a:lnSpc>
              <a:spcAft>
                <a:spcPts val="0"/>
              </a:spcAft>
              <a:buNone/>
              <a:defRPr sz="2400" b="0">
                <a:solidFill>
                  <a:srgbClr val="111111"/>
                </a:solidFill>
                <a:latin typeface="Aptos"/>
                <a:ea typeface="Aptos"/>
                <a:cs typeface="Aptos"/>
              </a:defRPr>
            </a:pPr>
            <a:r>
              <a:rPr sz="2400" b="0">
                <a:solidFill>
                  <a:srgbClr val="111111"/>
                </a:solidFill>
                <a:latin typeface="Aptos"/>
                <a:ea typeface="Aptos"/>
                <a:cs typeface="Aptos"/>
              </a:rPr>
              <a:t>n!</a:t>
            </a:r>
          </a:p>
        </p:txBody>
      </p:sp>
      <p:sp>
        <p:nvSpPr>
          <p:cNvPr id="8" name="Fraction or radical rule">
            <a:extLst>
              <a:ext uri="{FF2B5EF4-FFF2-40B4-BE49-F238E27FC236}">
                <a16:creationId xmlns:a16="http://schemas.microsoft.com/office/drawing/2014/main" id="{63AB1511-7832-4109-B68D-D559C471B52E}"/>
              </a:ext>
            </a:extLst>
          </p:cNvPr>
          <p:cNvSpPr>
            <a:spLocks noGrp="1"/>
          </p:cNvSpPr>
          <p:nvPr/>
        </p:nvSpPr>
        <p:spPr>
          <a:xfrm>
            <a:off x="8957889" y="4695825"/>
            <a:ext cx="1790700" cy="0"/>
          </a:xfrm>
          <a:prstGeom prst="line">
            <a:avLst/>
          </a:prstGeom>
          <a:ln w="14288">
            <a:solidFill>
              <a:srgbClr val="111111"/>
            </a:solidFill>
          </a:ln>
        </p:spPr>
        <p:txBody>
          <a:bodyPr/>
          <a:lstStyle/>
          <a:p>
            <a:endParaRPr lang="en-US"/>
          </a:p>
        </p:txBody>
      </p:sp>
      <p:sp>
        <p:nvSpPr>
          <p:cNvPr id="9" name="Native mathematics r!(n − r)!">
            <a:extLst>
              <a:ext uri="{FF2B5EF4-FFF2-40B4-BE49-F238E27FC236}">
                <a16:creationId xmlns:a16="http://schemas.microsoft.com/office/drawing/2014/main" id="{0A4E2357-84D2-4FEF-96ED-233D4442A677}"/>
              </a:ext>
            </a:extLst>
          </p:cNvPr>
          <p:cNvSpPr>
            <a:spLocks noGrp="1"/>
          </p:cNvSpPr>
          <p:nvPr/>
        </p:nvSpPr>
        <p:spPr>
          <a:xfrm>
            <a:off x="8957889" y="4733925"/>
            <a:ext cx="1790700" cy="371475"/>
          </a:xfrm>
          <a:prstGeom prst="rect">
            <a:avLst/>
          </a:prstGeom>
          <a:noFill/>
          <a:ln w="0">
            <a:noFill/>
          </a:ln>
        </p:spPr>
        <p:txBody>
          <a:bodyPr wrap="none" lIns="0" tIns="0" rIns="0" bIns="0" anchor="t">
            <a:noAutofit/>
          </a:bodyPr>
          <a:lstStyle/>
          <a:p>
            <a:pPr marL="0" indent="0" algn="ctr">
              <a:lnSpc>
                <a:spcPct val="100000"/>
              </a:lnSpc>
              <a:spcAft>
                <a:spcPts val="0"/>
              </a:spcAft>
              <a:buNone/>
              <a:defRPr sz="2400" b="0">
                <a:solidFill>
                  <a:srgbClr val="111111"/>
                </a:solidFill>
                <a:latin typeface="Aptos"/>
                <a:ea typeface="Aptos"/>
                <a:cs typeface="Aptos"/>
              </a:defRPr>
            </a:pPr>
            <a:r>
              <a:rPr sz="2400" b="0">
                <a:solidFill>
                  <a:srgbClr val="111111"/>
                </a:solidFill>
                <a:latin typeface="Aptos"/>
                <a:ea typeface="Aptos"/>
                <a:cs typeface="Aptos"/>
              </a:rPr>
              <a:t>r!(n − r)!</a:t>
            </a:r>
          </a:p>
        </p:txBody>
      </p:sp>
      <p:sp>
        <p:nvSpPr>
          <p:cNvPr id="10" name="TextBox 9">
            <a:extLst>
              <a:ext uri="{FF2B5EF4-FFF2-40B4-BE49-F238E27FC236}">
                <a16:creationId xmlns:a16="http://schemas.microsoft.com/office/drawing/2014/main" id="{51D8F270-4423-F2E3-91DE-F8A8CDC28DC9}"/>
              </a:ext>
            </a:extLst>
          </p:cNvPr>
          <p:cNvSpPr txBox="1"/>
          <p:nvPr/>
        </p:nvSpPr>
        <p:spPr>
          <a:xfrm>
            <a:off x="7206018" y="3916907"/>
            <a:ext cx="3916907" cy="1733266"/>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281361232"/>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Combination: the group stays the same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1619250"/>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Choose 3 equal-role representatives from 5 students.</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{A, B, C} = {C, A, B}: the group did not change.</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Each group appears 3! = 6 times in the ordered count.</a:t>
            </a:r>
          </a:p>
        </p:txBody>
      </p:sp>
      <p:sp>
        <p:nvSpPr>
          <p:cNvPr id="4" name="Native mathematics C(5,3) =">
            <a:extLst>
              <a:ext uri="{FF2B5EF4-FFF2-40B4-BE49-F238E27FC236}">
                <a16:creationId xmlns:a16="http://schemas.microsoft.com/office/drawing/2014/main" id="{1D1E948E-0A54-4FB3-AE74-32B5428419B2}"/>
              </a:ext>
            </a:extLst>
          </p:cNvPr>
          <p:cNvSpPr>
            <a:spLocks noGrp="1"/>
          </p:cNvSpPr>
          <p:nvPr/>
        </p:nvSpPr>
        <p:spPr>
          <a:xfrm>
            <a:off x="428625" y="4019550"/>
            <a:ext cx="146314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C(5,3) =</a:t>
            </a:r>
          </a:p>
        </p:txBody>
      </p:sp>
      <p:sp>
        <p:nvSpPr>
          <p:cNvPr id="5" name="Native mathematics 5!">
            <a:extLst>
              <a:ext uri="{FF2B5EF4-FFF2-40B4-BE49-F238E27FC236}">
                <a16:creationId xmlns:a16="http://schemas.microsoft.com/office/drawing/2014/main" id="{62BCF5B0-86A7-4233-B09C-31D590C5C445}"/>
              </a:ext>
            </a:extLst>
          </p:cNvPr>
          <p:cNvSpPr>
            <a:spLocks noGrp="1"/>
          </p:cNvSpPr>
          <p:nvPr/>
        </p:nvSpPr>
        <p:spPr>
          <a:xfrm>
            <a:off x="1891772" y="3829050"/>
            <a:ext cx="1066800" cy="371475"/>
          </a:xfrm>
          <a:prstGeom prst="rect">
            <a:avLst/>
          </a:prstGeom>
          <a:noFill/>
          <a:ln w="0">
            <a:noFill/>
          </a:ln>
        </p:spPr>
        <p:txBody>
          <a:bodyPr wrap="none" lIns="0" tIns="0" rIns="0" bIns="0" anchor="t">
            <a:noAutofit/>
          </a:bodyPr>
          <a:lstStyle/>
          <a:p>
            <a:pPr marL="0" indent="0" algn="ctr">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5!</a:t>
            </a:r>
          </a:p>
        </p:txBody>
      </p:sp>
      <p:sp>
        <p:nvSpPr>
          <p:cNvPr id="6" name="Fraction or radical rule">
            <a:extLst>
              <a:ext uri="{FF2B5EF4-FFF2-40B4-BE49-F238E27FC236}">
                <a16:creationId xmlns:a16="http://schemas.microsoft.com/office/drawing/2014/main" id="{AA844B4A-4DBD-4575-A21B-C9EEC1679FEC}"/>
              </a:ext>
            </a:extLst>
          </p:cNvPr>
          <p:cNvSpPr>
            <a:spLocks noGrp="1"/>
          </p:cNvSpPr>
          <p:nvPr/>
        </p:nvSpPr>
        <p:spPr>
          <a:xfrm>
            <a:off x="1891772" y="4181475"/>
            <a:ext cx="1066800" cy="0"/>
          </a:xfrm>
          <a:prstGeom prst="line">
            <a:avLst/>
          </a:prstGeom>
          <a:ln w="14288">
            <a:solidFill>
              <a:srgbClr val="111111"/>
            </a:solidFill>
          </a:ln>
        </p:spPr>
        <p:txBody>
          <a:bodyPr/>
          <a:lstStyle/>
          <a:p>
            <a:endParaRPr lang="en-US"/>
          </a:p>
        </p:txBody>
      </p:sp>
      <p:sp>
        <p:nvSpPr>
          <p:cNvPr id="7" name="Native mathematics 3!2!">
            <a:extLst>
              <a:ext uri="{FF2B5EF4-FFF2-40B4-BE49-F238E27FC236}">
                <a16:creationId xmlns:a16="http://schemas.microsoft.com/office/drawing/2014/main" id="{9B1FC2FB-6B29-4936-8C7D-2435D8D27691}"/>
              </a:ext>
            </a:extLst>
          </p:cNvPr>
          <p:cNvSpPr>
            <a:spLocks noGrp="1"/>
          </p:cNvSpPr>
          <p:nvPr/>
        </p:nvSpPr>
        <p:spPr>
          <a:xfrm>
            <a:off x="1891772" y="4219575"/>
            <a:ext cx="1066800" cy="390525"/>
          </a:xfrm>
          <a:prstGeom prst="rect">
            <a:avLst/>
          </a:prstGeom>
          <a:noFill/>
          <a:ln w="0">
            <a:noFill/>
          </a:ln>
        </p:spPr>
        <p:txBody>
          <a:bodyPr wrap="none" lIns="0" tIns="0" rIns="0" bIns="0" anchor="t">
            <a:noAutofit/>
          </a:bodyPr>
          <a:lstStyle/>
          <a:p>
            <a:pPr marL="0" indent="0" algn="ctr">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3!2!</a:t>
            </a:r>
          </a:p>
        </p:txBody>
      </p:sp>
      <p:sp>
        <p:nvSpPr>
          <p:cNvPr id="8" name="Native mathematics =">
            <a:extLst>
              <a:ext uri="{FF2B5EF4-FFF2-40B4-BE49-F238E27FC236}">
                <a16:creationId xmlns:a16="http://schemas.microsoft.com/office/drawing/2014/main" id="{24B7B4B4-C6D0-43FB-BFE8-5FFED4C3C35B}"/>
              </a:ext>
            </a:extLst>
          </p:cNvPr>
          <p:cNvSpPr>
            <a:spLocks noGrp="1"/>
          </p:cNvSpPr>
          <p:nvPr/>
        </p:nvSpPr>
        <p:spPr>
          <a:xfrm>
            <a:off x="3091922" y="4019550"/>
            <a:ext cx="354741" cy="447675"/>
          </a:xfrm>
          <a:prstGeom prst="rect">
            <a:avLst/>
          </a:prstGeom>
          <a:noFill/>
          <a:ln w="0">
            <a:noFill/>
          </a:ln>
        </p:spPr>
        <p:txBody>
          <a:bodyPr wrap="none" lIns="0" tIns="0" rIns="0" bIns="0" anchor="t">
            <a:noAutofit/>
          </a:bodyPr>
          <a:lstStyle/>
          <a:p>
            <a:pPr marL="0" indent="0" algn="l">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a:t>
            </a:r>
          </a:p>
        </p:txBody>
      </p:sp>
      <p:sp>
        <p:nvSpPr>
          <p:cNvPr id="9" name="Native mathematics 5 × 4 × 3">
            <a:extLst>
              <a:ext uri="{FF2B5EF4-FFF2-40B4-BE49-F238E27FC236}">
                <a16:creationId xmlns:a16="http://schemas.microsoft.com/office/drawing/2014/main" id="{8CC8EC4F-CF8C-4090-B264-D6B3F7068341}"/>
              </a:ext>
            </a:extLst>
          </p:cNvPr>
          <p:cNvSpPr>
            <a:spLocks noGrp="1"/>
          </p:cNvSpPr>
          <p:nvPr/>
        </p:nvSpPr>
        <p:spPr>
          <a:xfrm>
            <a:off x="3446663" y="3829050"/>
            <a:ext cx="1743075" cy="371475"/>
          </a:xfrm>
          <a:prstGeom prst="rect">
            <a:avLst/>
          </a:prstGeom>
          <a:noFill/>
          <a:ln w="0">
            <a:noFill/>
          </a:ln>
        </p:spPr>
        <p:txBody>
          <a:bodyPr wrap="none" lIns="0" tIns="0" rIns="0" bIns="0" anchor="t">
            <a:noAutofit/>
          </a:bodyPr>
          <a:lstStyle/>
          <a:p>
            <a:pPr marL="0" indent="0" algn="ctr">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5 × 4 × 3</a:t>
            </a:r>
          </a:p>
        </p:txBody>
      </p:sp>
      <p:sp>
        <p:nvSpPr>
          <p:cNvPr id="10" name="Fraction or radical rule">
            <a:extLst>
              <a:ext uri="{FF2B5EF4-FFF2-40B4-BE49-F238E27FC236}">
                <a16:creationId xmlns:a16="http://schemas.microsoft.com/office/drawing/2014/main" id="{3919E171-2F0A-4854-B88E-4893F9BD999B}"/>
              </a:ext>
            </a:extLst>
          </p:cNvPr>
          <p:cNvSpPr>
            <a:spLocks noGrp="1"/>
          </p:cNvSpPr>
          <p:nvPr/>
        </p:nvSpPr>
        <p:spPr>
          <a:xfrm>
            <a:off x="3446663" y="4181475"/>
            <a:ext cx="1743075" cy="0"/>
          </a:xfrm>
          <a:prstGeom prst="line">
            <a:avLst/>
          </a:prstGeom>
          <a:ln w="14288">
            <a:solidFill>
              <a:srgbClr val="111111"/>
            </a:solidFill>
          </a:ln>
        </p:spPr>
        <p:txBody>
          <a:bodyPr/>
          <a:lstStyle/>
          <a:p>
            <a:endParaRPr lang="en-US"/>
          </a:p>
        </p:txBody>
      </p:sp>
      <p:sp>
        <p:nvSpPr>
          <p:cNvPr id="11" name="Native mathematics 3 × 2 × 1">
            <a:extLst>
              <a:ext uri="{FF2B5EF4-FFF2-40B4-BE49-F238E27FC236}">
                <a16:creationId xmlns:a16="http://schemas.microsoft.com/office/drawing/2014/main" id="{21840E9B-577B-4FF2-92E9-3F5C16C80873}"/>
              </a:ext>
            </a:extLst>
          </p:cNvPr>
          <p:cNvSpPr>
            <a:spLocks noGrp="1"/>
          </p:cNvSpPr>
          <p:nvPr/>
        </p:nvSpPr>
        <p:spPr>
          <a:xfrm>
            <a:off x="3446663" y="4219575"/>
            <a:ext cx="1743075" cy="390525"/>
          </a:xfrm>
          <a:prstGeom prst="rect">
            <a:avLst/>
          </a:prstGeom>
          <a:noFill/>
          <a:ln w="0">
            <a:noFill/>
          </a:ln>
        </p:spPr>
        <p:txBody>
          <a:bodyPr wrap="none" lIns="0" tIns="0" rIns="0" bIns="0" anchor="t">
            <a:noAutofit/>
          </a:bodyPr>
          <a:lstStyle/>
          <a:p>
            <a:pPr marL="0" indent="0" algn="ctr">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3 × 2 × 1</a:t>
            </a:r>
          </a:p>
        </p:txBody>
      </p:sp>
      <p:sp>
        <p:nvSpPr>
          <p:cNvPr id="12" name="Native mathematics = 10">
            <a:extLst>
              <a:ext uri="{FF2B5EF4-FFF2-40B4-BE49-F238E27FC236}">
                <a16:creationId xmlns:a16="http://schemas.microsoft.com/office/drawing/2014/main" id="{CC7B55C8-70A1-4DA3-9D37-4E1288D456FB}"/>
              </a:ext>
            </a:extLst>
          </p:cNvPr>
          <p:cNvSpPr>
            <a:spLocks noGrp="1"/>
          </p:cNvSpPr>
          <p:nvPr/>
        </p:nvSpPr>
        <p:spPr>
          <a:xfrm>
            <a:off x="5323088" y="4019550"/>
            <a:ext cx="858911" cy="447675"/>
          </a:xfrm>
          <a:prstGeom prst="rect">
            <a:avLst/>
          </a:prstGeom>
          <a:noFill/>
          <a:ln w="0">
            <a:noFill/>
          </a:ln>
        </p:spPr>
        <p:txBody>
          <a:bodyPr wrap="none" lIns="0" tIns="0" rIns="0" bIns="0" anchor="t">
            <a:noAutofit/>
          </a:bodyPr>
          <a:lstStyle/>
          <a:p>
            <a:pPr marL="0" indent="0" algn="l">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 10</a:t>
            </a:r>
          </a:p>
        </p:txBody>
      </p:sp>
      <p:sp>
        <p:nvSpPr>
          <p:cNvPr id="13" name="Native mathematics C(5,3) = P(5,3) ÷ ">
            <a:extLst>
              <a:ext uri="{FF2B5EF4-FFF2-40B4-BE49-F238E27FC236}">
                <a16:creationId xmlns:a16="http://schemas.microsoft.com/office/drawing/2014/main" id="{5793554C-FD0B-4C1C-BC1B-2D3F94B43D27}"/>
              </a:ext>
            </a:extLst>
          </p:cNvPr>
          <p:cNvSpPr>
            <a:spLocks noGrp="1"/>
          </p:cNvSpPr>
          <p:nvPr/>
        </p:nvSpPr>
        <p:spPr>
          <a:xfrm>
            <a:off x="428625" y="5048250"/>
            <a:ext cx="10953750" cy="419100"/>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C(5,3) = P(5,3) ÷ 3! = 60 ÷ 6 = 10 groups</a:t>
            </a:r>
          </a:p>
        </p:txBody>
      </p:sp>
      <p:sp>
        <p:nvSpPr>
          <p:cNvPr id="14" name="Native mathematics Same people + equa">
            <a:extLst>
              <a:ext uri="{FF2B5EF4-FFF2-40B4-BE49-F238E27FC236}">
                <a16:creationId xmlns:a16="http://schemas.microsoft.com/office/drawing/2014/main" id="{91080D8C-76FA-4724-8B07-A16B8175D6FE}"/>
              </a:ext>
            </a:extLst>
          </p:cNvPr>
          <p:cNvSpPr>
            <a:spLocks noGrp="1"/>
          </p:cNvSpPr>
          <p:nvPr/>
        </p:nvSpPr>
        <p:spPr>
          <a:xfrm>
            <a:off x="428625" y="5619750"/>
            <a:ext cx="10953750" cy="419100"/>
          </a:xfrm>
          <a:prstGeom prst="rect">
            <a:avLst/>
          </a:prstGeom>
          <a:noFill/>
          <a:ln w="0">
            <a:noFill/>
          </a:ln>
        </p:spPr>
        <p:txBody>
          <a:bodyPr wrap="none" lIns="0" tIns="0" rIns="0" bIns="0" anchor="t">
            <a:noAutofit/>
          </a:bodyPr>
          <a:lstStyle/>
          <a:p>
            <a:pPr marL="0" indent="0" algn="l">
              <a:lnSpc>
                <a:spcPct val="100000"/>
              </a:lnSpc>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Same people + equal roles → combination.</a:t>
            </a:r>
          </a:p>
        </p:txBody>
      </p:sp>
    </p:spTree>
    <p:extLst>
      <p:ext uri="{BB962C8B-B14F-4D97-AF65-F5344CB8AC3E}">
        <p14:creationId xmlns:p14="http://schemas.microsoft.com/office/powerpoint/2010/main" val="3281361232"/>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A7: Combination practice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Q1  Choose 3 students from 8 for one team.</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Q2  Choose 4 survey participants from 10 students.</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Q3  Choose 2 different toppings from 7.</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Q4  Optional challenge: choose 2 of 5 Year-1 and 2 of 6 Year-2 students.</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a:t>
            </a:r>
          </a:p>
          <a:p>
            <a:pPr marL="0" indent="0" algn="l">
              <a:lnSpc>
                <a:spcPct val="106000"/>
              </a:lnSpc>
              <a:spcAft>
                <a:spcPts val="7"/>
              </a:spcAft>
              <a:buNone/>
              <a:defRPr sz="2325" b="0">
                <a:solidFill>
                  <a:srgbClr val="111111"/>
                </a:solidFill>
                <a:latin typeface="Aptos"/>
                <a:ea typeface="Aptos"/>
                <a:cs typeface="Aptos"/>
              </a:defRPr>
            </a:pPr>
            <a:r>
              <a:rPr sz="2325" b="0" dirty="0">
                <a:solidFill>
                  <a:srgbClr val="111111"/>
                </a:solidFill>
                <a:latin typeface="Aptos"/>
                <a:ea typeface="Aptos"/>
                <a:cs typeface="Aptos"/>
              </a:rPr>
              <a:t>Explain why order does not matter before calculating.</a:t>
            </a:r>
          </a:p>
        </p:txBody>
      </p:sp>
      <p:sp>
        <p:nvSpPr>
          <p:cNvPr id="4" name="Handout reference A7">
            <a:extLst>
              <a:ext uri="{FF2B5EF4-FFF2-40B4-BE49-F238E27FC236}">
                <a16:creationId xmlns:a16="http://schemas.microsoft.com/office/drawing/2014/main" id="{7E92404E-8254-437B-B788-3ADA767974FF}"/>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7</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A7: Worked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57200"/>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a:t>
            </a:r>
            <a:r>
              <a:rPr sz="2325" b="0">
                <a:solidFill>
                  <a:srgbClr val="111111"/>
                </a:solidFill>
                <a:latin typeface="Aptos"/>
                <a:ea typeface="Aptos"/>
                <a:cs typeface="Aptos"/>
              </a:rPr>
              <a:t>  Choose a group: substitute n = 8 and r = 3.</a:t>
            </a:r>
          </a:p>
        </p:txBody>
      </p:sp>
      <p:sp>
        <p:nvSpPr>
          <p:cNvPr id="4" name="Native mathematics C(8,3) =">
            <a:extLst>
              <a:ext uri="{FF2B5EF4-FFF2-40B4-BE49-F238E27FC236}">
                <a16:creationId xmlns:a16="http://schemas.microsoft.com/office/drawing/2014/main" id="{B799F36E-30D9-48D6-9FEB-37DAD8FD3848}"/>
              </a:ext>
            </a:extLst>
          </p:cNvPr>
          <p:cNvSpPr>
            <a:spLocks noGrp="1"/>
          </p:cNvSpPr>
          <p:nvPr/>
        </p:nvSpPr>
        <p:spPr>
          <a:xfrm>
            <a:off x="762000" y="2886075"/>
            <a:ext cx="146314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C(8,3) =</a:t>
            </a:r>
          </a:p>
        </p:txBody>
      </p:sp>
      <p:sp>
        <p:nvSpPr>
          <p:cNvPr id="5" name="Native mathematics 8!">
            <a:extLst>
              <a:ext uri="{FF2B5EF4-FFF2-40B4-BE49-F238E27FC236}">
                <a16:creationId xmlns:a16="http://schemas.microsoft.com/office/drawing/2014/main" id="{65CBC28C-9712-4D37-83ED-78E327D138F2}"/>
              </a:ext>
            </a:extLst>
          </p:cNvPr>
          <p:cNvSpPr>
            <a:spLocks noGrp="1"/>
          </p:cNvSpPr>
          <p:nvPr/>
        </p:nvSpPr>
        <p:spPr>
          <a:xfrm>
            <a:off x="2225147" y="2695575"/>
            <a:ext cx="1143000" cy="371475"/>
          </a:xfrm>
          <a:prstGeom prst="rect">
            <a:avLst/>
          </a:prstGeom>
          <a:noFill/>
          <a:ln w="0">
            <a:noFill/>
          </a:ln>
        </p:spPr>
        <p:txBody>
          <a:bodyPr wrap="none" lIns="0" tIns="0" rIns="0" bIns="0" anchor="t">
            <a:noAutofit/>
          </a:bodyPr>
          <a:lstStyle/>
          <a:p>
            <a:pPr marL="0" indent="0" algn="ctr">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8!</a:t>
            </a:r>
          </a:p>
        </p:txBody>
      </p:sp>
      <p:sp>
        <p:nvSpPr>
          <p:cNvPr id="6" name="Fraction or radical rule">
            <a:extLst>
              <a:ext uri="{FF2B5EF4-FFF2-40B4-BE49-F238E27FC236}">
                <a16:creationId xmlns:a16="http://schemas.microsoft.com/office/drawing/2014/main" id="{F11ED2DD-5808-47C9-837D-CA35F5C2CB92}"/>
              </a:ext>
            </a:extLst>
          </p:cNvPr>
          <p:cNvSpPr>
            <a:spLocks noGrp="1"/>
          </p:cNvSpPr>
          <p:nvPr/>
        </p:nvSpPr>
        <p:spPr>
          <a:xfrm>
            <a:off x="2225147" y="3048000"/>
            <a:ext cx="1143000" cy="0"/>
          </a:xfrm>
          <a:prstGeom prst="line">
            <a:avLst/>
          </a:prstGeom>
          <a:ln w="14288">
            <a:solidFill>
              <a:srgbClr val="111111"/>
            </a:solidFill>
          </a:ln>
        </p:spPr>
        <p:txBody>
          <a:bodyPr/>
          <a:lstStyle/>
          <a:p>
            <a:endParaRPr lang="en-US"/>
          </a:p>
        </p:txBody>
      </p:sp>
      <p:sp>
        <p:nvSpPr>
          <p:cNvPr id="7" name="Native mathematics 3!5!">
            <a:extLst>
              <a:ext uri="{FF2B5EF4-FFF2-40B4-BE49-F238E27FC236}">
                <a16:creationId xmlns:a16="http://schemas.microsoft.com/office/drawing/2014/main" id="{8915F8DB-2B5D-4894-BA79-42B89882D93D}"/>
              </a:ext>
            </a:extLst>
          </p:cNvPr>
          <p:cNvSpPr>
            <a:spLocks noGrp="1"/>
          </p:cNvSpPr>
          <p:nvPr/>
        </p:nvSpPr>
        <p:spPr>
          <a:xfrm>
            <a:off x="2225147" y="3086100"/>
            <a:ext cx="1143000" cy="390525"/>
          </a:xfrm>
          <a:prstGeom prst="rect">
            <a:avLst/>
          </a:prstGeom>
          <a:noFill/>
          <a:ln w="0">
            <a:noFill/>
          </a:ln>
        </p:spPr>
        <p:txBody>
          <a:bodyPr wrap="none" lIns="0" tIns="0" rIns="0" bIns="0" anchor="t">
            <a:noAutofit/>
          </a:bodyPr>
          <a:lstStyle/>
          <a:p>
            <a:pPr marL="0" indent="0" algn="ctr">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3!5!</a:t>
            </a:r>
          </a:p>
        </p:txBody>
      </p:sp>
      <p:sp>
        <p:nvSpPr>
          <p:cNvPr id="8" name="Native mathematics =">
            <a:extLst>
              <a:ext uri="{FF2B5EF4-FFF2-40B4-BE49-F238E27FC236}">
                <a16:creationId xmlns:a16="http://schemas.microsoft.com/office/drawing/2014/main" id="{27D6823A-6966-4740-870F-B39663F32533}"/>
              </a:ext>
            </a:extLst>
          </p:cNvPr>
          <p:cNvSpPr>
            <a:spLocks noGrp="1"/>
          </p:cNvSpPr>
          <p:nvPr/>
        </p:nvSpPr>
        <p:spPr>
          <a:xfrm>
            <a:off x="3501497" y="2886075"/>
            <a:ext cx="354741" cy="447675"/>
          </a:xfrm>
          <a:prstGeom prst="rect">
            <a:avLst/>
          </a:prstGeom>
          <a:noFill/>
          <a:ln w="0">
            <a:noFill/>
          </a:ln>
        </p:spPr>
        <p:txBody>
          <a:bodyPr wrap="none" lIns="0" tIns="0" rIns="0" bIns="0" anchor="t">
            <a:noAutofit/>
          </a:bodyPr>
          <a:lstStyle/>
          <a:p>
            <a:pPr marL="0" indent="0" algn="l">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a:t>
            </a:r>
          </a:p>
        </p:txBody>
      </p:sp>
      <p:sp>
        <p:nvSpPr>
          <p:cNvPr id="9" name="Native mathematics 8 × 7 × 6">
            <a:extLst>
              <a:ext uri="{FF2B5EF4-FFF2-40B4-BE49-F238E27FC236}">
                <a16:creationId xmlns:a16="http://schemas.microsoft.com/office/drawing/2014/main" id="{3B518ECC-CF90-4A56-AC14-CC8953440CEC}"/>
              </a:ext>
            </a:extLst>
          </p:cNvPr>
          <p:cNvSpPr>
            <a:spLocks noGrp="1"/>
          </p:cNvSpPr>
          <p:nvPr/>
        </p:nvSpPr>
        <p:spPr>
          <a:xfrm>
            <a:off x="3856238" y="2695575"/>
            <a:ext cx="1695450" cy="371475"/>
          </a:xfrm>
          <a:prstGeom prst="rect">
            <a:avLst/>
          </a:prstGeom>
          <a:noFill/>
          <a:ln w="0">
            <a:noFill/>
          </a:ln>
        </p:spPr>
        <p:txBody>
          <a:bodyPr wrap="none" lIns="0" tIns="0" rIns="0" bIns="0" anchor="t">
            <a:noAutofit/>
          </a:bodyPr>
          <a:lstStyle/>
          <a:p>
            <a:pPr marL="0" indent="0" algn="ctr">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8 × 7 × 6</a:t>
            </a:r>
          </a:p>
        </p:txBody>
      </p:sp>
      <p:sp>
        <p:nvSpPr>
          <p:cNvPr id="10" name="Fraction or radical rule">
            <a:extLst>
              <a:ext uri="{FF2B5EF4-FFF2-40B4-BE49-F238E27FC236}">
                <a16:creationId xmlns:a16="http://schemas.microsoft.com/office/drawing/2014/main" id="{C72E19D3-B1D2-49A2-996D-A188D962D8E8}"/>
              </a:ext>
            </a:extLst>
          </p:cNvPr>
          <p:cNvSpPr>
            <a:spLocks noGrp="1"/>
          </p:cNvSpPr>
          <p:nvPr/>
        </p:nvSpPr>
        <p:spPr>
          <a:xfrm>
            <a:off x="3856238" y="3048000"/>
            <a:ext cx="1695450" cy="0"/>
          </a:xfrm>
          <a:prstGeom prst="line">
            <a:avLst/>
          </a:prstGeom>
          <a:ln w="14288">
            <a:solidFill>
              <a:srgbClr val="111111"/>
            </a:solidFill>
          </a:ln>
        </p:spPr>
        <p:txBody>
          <a:bodyPr/>
          <a:lstStyle/>
          <a:p>
            <a:endParaRPr lang="en-US"/>
          </a:p>
        </p:txBody>
      </p:sp>
      <p:sp>
        <p:nvSpPr>
          <p:cNvPr id="11" name="Native mathematics 3 × 2 × 1">
            <a:extLst>
              <a:ext uri="{FF2B5EF4-FFF2-40B4-BE49-F238E27FC236}">
                <a16:creationId xmlns:a16="http://schemas.microsoft.com/office/drawing/2014/main" id="{B39CDC9C-1C12-4958-9269-15E7B595AE2D}"/>
              </a:ext>
            </a:extLst>
          </p:cNvPr>
          <p:cNvSpPr>
            <a:spLocks noGrp="1"/>
          </p:cNvSpPr>
          <p:nvPr/>
        </p:nvSpPr>
        <p:spPr>
          <a:xfrm>
            <a:off x="3856238" y="3086100"/>
            <a:ext cx="1695450" cy="390525"/>
          </a:xfrm>
          <a:prstGeom prst="rect">
            <a:avLst/>
          </a:prstGeom>
          <a:noFill/>
          <a:ln w="0">
            <a:noFill/>
          </a:ln>
        </p:spPr>
        <p:txBody>
          <a:bodyPr wrap="none" lIns="0" tIns="0" rIns="0" bIns="0" anchor="t">
            <a:noAutofit/>
          </a:bodyPr>
          <a:lstStyle/>
          <a:p>
            <a:pPr marL="0" indent="0" algn="ctr">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3 × 2 × 1</a:t>
            </a:r>
          </a:p>
        </p:txBody>
      </p:sp>
      <p:sp>
        <p:nvSpPr>
          <p:cNvPr id="12" name="Native mathematics = 56">
            <a:extLst>
              <a:ext uri="{FF2B5EF4-FFF2-40B4-BE49-F238E27FC236}">
                <a16:creationId xmlns:a16="http://schemas.microsoft.com/office/drawing/2014/main" id="{A00304A2-408E-49BB-A3C1-8B8201848E53}"/>
              </a:ext>
            </a:extLst>
          </p:cNvPr>
          <p:cNvSpPr>
            <a:spLocks noGrp="1"/>
          </p:cNvSpPr>
          <p:nvPr/>
        </p:nvSpPr>
        <p:spPr>
          <a:xfrm>
            <a:off x="5685038" y="2886075"/>
            <a:ext cx="858911" cy="447675"/>
          </a:xfrm>
          <a:prstGeom prst="rect">
            <a:avLst/>
          </a:prstGeom>
          <a:noFill/>
          <a:ln w="0">
            <a:noFill/>
          </a:ln>
        </p:spPr>
        <p:txBody>
          <a:bodyPr wrap="none" lIns="0" tIns="0" rIns="0" bIns="0" anchor="t">
            <a:noAutofit/>
          </a:bodyPr>
          <a:lstStyle/>
          <a:p>
            <a:pPr marL="0" indent="0" algn="l">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 56</a:t>
            </a:r>
          </a:p>
        </p:txBody>
      </p:sp>
      <p:sp>
        <p:nvSpPr>
          <p:cNvPr id="13" name="Native mathematics Q2  C(10,4) = 210">
            <a:extLst>
              <a:ext uri="{FF2B5EF4-FFF2-40B4-BE49-F238E27FC236}">
                <a16:creationId xmlns:a16="http://schemas.microsoft.com/office/drawing/2014/main" id="{5C28BF03-04C9-4C55-BC73-60E215FD3E76}"/>
              </a:ext>
            </a:extLst>
          </p:cNvPr>
          <p:cNvSpPr>
            <a:spLocks noGrp="1"/>
          </p:cNvSpPr>
          <p:nvPr/>
        </p:nvSpPr>
        <p:spPr>
          <a:xfrm>
            <a:off x="428625" y="3857625"/>
            <a:ext cx="1085850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Q2</a:t>
            </a:r>
            <a:r>
              <a:rPr sz="2325" b="0">
                <a:solidFill>
                  <a:srgbClr val="111111"/>
                </a:solidFill>
                <a:latin typeface="Aptos"/>
                <a:ea typeface="Aptos"/>
                <a:cs typeface="Aptos"/>
              </a:rPr>
              <a:t>  C(10,4) = 210</a:t>
            </a:r>
          </a:p>
        </p:txBody>
      </p:sp>
      <p:sp>
        <p:nvSpPr>
          <p:cNvPr id="14" name="Native mathematics Q3  C(7,2) = 21">
            <a:extLst>
              <a:ext uri="{FF2B5EF4-FFF2-40B4-BE49-F238E27FC236}">
                <a16:creationId xmlns:a16="http://schemas.microsoft.com/office/drawing/2014/main" id="{3C02E495-8C14-47B2-8BBA-0CA0EB6E7EFE}"/>
              </a:ext>
            </a:extLst>
          </p:cNvPr>
          <p:cNvSpPr>
            <a:spLocks noGrp="1"/>
          </p:cNvSpPr>
          <p:nvPr/>
        </p:nvSpPr>
        <p:spPr>
          <a:xfrm>
            <a:off x="428625" y="4343400"/>
            <a:ext cx="1085850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Q3</a:t>
            </a:r>
            <a:r>
              <a:rPr sz="2325" b="0">
                <a:solidFill>
                  <a:srgbClr val="111111"/>
                </a:solidFill>
                <a:latin typeface="Aptos"/>
                <a:ea typeface="Aptos"/>
                <a:cs typeface="Aptos"/>
              </a:rPr>
              <a:t>  C(7,2) = 21</a:t>
            </a:r>
          </a:p>
        </p:txBody>
      </p:sp>
      <p:sp>
        <p:nvSpPr>
          <p:cNvPr id="15" name="Native mathematics Q4  C(5,2) × C(6,2">
            <a:extLst>
              <a:ext uri="{FF2B5EF4-FFF2-40B4-BE49-F238E27FC236}">
                <a16:creationId xmlns:a16="http://schemas.microsoft.com/office/drawing/2014/main" id="{BC492A05-5F4B-402D-962C-3B48FAC5A279}"/>
              </a:ext>
            </a:extLst>
          </p:cNvPr>
          <p:cNvSpPr>
            <a:spLocks noGrp="1"/>
          </p:cNvSpPr>
          <p:nvPr/>
        </p:nvSpPr>
        <p:spPr>
          <a:xfrm>
            <a:off x="428625" y="4829175"/>
            <a:ext cx="1085850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Q4</a:t>
            </a:r>
            <a:r>
              <a:rPr sz="2325" b="0">
                <a:solidFill>
                  <a:srgbClr val="111111"/>
                </a:solidFill>
                <a:latin typeface="Aptos"/>
                <a:ea typeface="Aptos"/>
                <a:cs typeface="Aptos"/>
              </a:rPr>
              <a:t>  C(5,2) × C(6,2) = 10 × 15 = 150</a:t>
            </a:r>
          </a:p>
        </p:txBody>
      </p:sp>
      <p:sp>
        <p:nvSpPr>
          <p:cNvPr id="16" name="Native mathematics The optional chall">
            <a:extLst>
              <a:ext uri="{FF2B5EF4-FFF2-40B4-BE49-F238E27FC236}">
                <a16:creationId xmlns:a16="http://schemas.microsoft.com/office/drawing/2014/main" id="{6227CCCC-F3DB-4FE1-875F-EC5FB745D67E}"/>
              </a:ext>
            </a:extLst>
          </p:cNvPr>
          <p:cNvSpPr>
            <a:spLocks noGrp="1"/>
          </p:cNvSpPr>
          <p:nvPr/>
        </p:nvSpPr>
        <p:spPr>
          <a:xfrm>
            <a:off x="428625" y="5562600"/>
            <a:ext cx="1095375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The optional challenge has two group-selection stages: multiply.</a:t>
            </a:r>
          </a:p>
        </p:txBody>
      </p:sp>
      <p:sp>
        <p:nvSpPr>
          <p:cNvPr id="17" name="Handout reference A7">
            <a:extLst>
              <a:ext uri="{FF2B5EF4-FFF2-40B4-BE49-F238E27FC236}">
                <a16:creationId xmlns:a16="http://schemas.microsoft.com/office/drawing/2014/main" id="{CC49A3C6-18FA-471D-9332-558BD6304061}"/>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7</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Choose the counting method</a:t>
            </a:r>
          </a:p>
        </p:txBody>
      </p:sp>
      <p:graphicFrame>
        <p:nvGraphicFramePr>
          <p:cNvPr id="5" name="Bellerbys teaching table"/>
          <p:cNvGraphicFramePr/>
          <p:nvPr/>
        </p:nvGraphicFramePr>
        <p:xfrm>
          <a:off x="430816" y="1952625"/>
          <a:ext cx="11544300" cy="4000500"/>
        </p:xfrm>
        <a:graphic>
          <a:graphicData uri="http://schemas.openxmlformats.org/drawingml/2006/table">
            <a:tbl>
              <a:tblPr/>
              <a:tblGrid>
                <a:gridCol w="333375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686050">
                  <a:extLst>
                    <a:ext uri="{9D8B030D-6E8A-4147-A177-3AD203B41FA5}">
                      <a16:colId xmlns:a16="http://schemas.microsoft.com/office/drawing/2014/main" val="20003"/>
                    </a:ext>
                  </a:extLst>
                </a:gridCol>
              </a:tblGrid>
              <a:tr h="666750">
                <a:tc>
                  <a:txBody>
                    <a:bodyPr/>
                    <a:lstStyle/>
                    <a:p>
                      <a:pPr algn="l">
                        <a:buNone/>
                      </a:pPr>
                      <a:r>
                        <a:rPr sz="1425" b="1">
                          <a:solidFill>
                            <a:srgbClr val="FFFFFF"/>
                          </a:solidFill>
                          <a:latin typeface="Aptos"/>
                          <a:ea typeface="Aptos"/>
                          <a:cs typeface="Aptos"/>
                        </a:rPr>
                        <a:t>Situation</a:t>
                      </a:r>
                    </a:p>
                  </a:txBody>
                  <a:tcPr anchor="ctr">
                    <a:solidFill>
                      <a:srgbClr val="D6171D"/>
                    </a:solidFill>
                  </a:tcPr>
                </a:tc>
                <a:tc>
                  <a:txBody>
                    <a:bodyPr/>
                    <a:lstStyle/>
                    <a:p>
                      <a:pPr algn="l">
                        <a:buNone/>
                      </a:pPr>
                      <a:r>
                        <a:rPr sz="1425" b="1">
                          <a:solidFill>
                            <a:srgbClr val="FFFFFF"/>
                          </a:solidFill>
                          <a:latin typeface="Aptos"/>
                          <a:ea typeface="Aptos"/>
                          <a:cs typeface="Aptos"/>
                        </a:rPr>
                        <a:t>Question to ask</a:t>
                      </a:r>
                    </a:p>
                  </a:txBody>
                  <a:tcPr anchor="ctr">
                    <a:solidFill>
                      <a:srgbClr val="D6171D"/>
                    </a:solidFill>
                  </a:tcPr>
                </a:tc>
                <a:tc>
                  <a:txBody>
                    <a:bodyPr/>
                    <a:lstStyle/>
                    <a:p>
                      <a:pPr algn="l">
                        <a:buNone/>
                      </a:pPr>
                      <a:r>
                        <a:rPr sz="1425" b="1">
                          <a:solidFill>
                            <a:srgbClr val="FFFFFF"/>
                          </a:solidFill>
                          <a:latin typeface="Aptos"/>
                          <a:ea typeface="Aptos"/>
                          <a:cs typeface="Aptos"/>
                        </a:rPr>
                        <a:t>Method</a:t>
                      </a:r>
                    </a:p>
                  </a:txBody>
                  <a:tcPr anchor="ctr">
                    <a:solidFill>
                      <a:srgbClr val="D6171D"/>
                    </a:solidFill>
                  </a:tcPr>
                </a:tc>
                <a:tc>
                  <a:txBody>
                    <a:bodyPr/>
                    <a:lstStyle/>
                    <a:p>
                      <a:pPr algn="l">
                        <a:buNone/>
                      </a:pPr>
                      <a:r>
                        <a:rPr sz="1425" b="1">
                          <a:solidFill>
                            <a:srgbClr val="FFFFFF"/>
                          </a:solidFill>
                          <a:latin typeface="Aptos"/>
                          <a:ea typeface="Aptos"/>
                          <a:cs typeface="Aptos"/>
                        </a:rPr>
                        <a:t>Typical calculation</a:t>
                      </a:r>
                    </a:p>
                  </a:txBody>
                  <a:tcPr anchor="ctr">
                    <a:solidFill>
                      <a:srgbClr val="D6171D"/>
                    </a:solidFill>
                  </a:tcPr>
                </a:tc>
                <a:extLst>
                  <a:ext uri="{0D108BD9-81ED-4DB2-BD59-A6C34878D82A}">
                    <a16:rowId xmlns:a16="http://schemas.microsoft.com/office/drawing/2014/main" val="10000"/>
                  </a:ext>
                </a:extLst>
              </a:tr>
              <a:tr h="666750">
                <a:tc>
                  <a:txBody>
                    <a:bodyPr/>
                    <a:lstStyle/>
                    <a:p>
                      <a:pPr algn="l">
                        <a:buNone/>
                      </a:pPr>
                      <a:r>
                        <a:rPr sz="1350" b="0">
                          <a:solidFill>
                            <a:srgbClr val="000000"/>
                          </a:solidFill>
                          <a:latin typeface="Aptos"/>
                          <a:ea typeface="Aptos"/>
                          <a:cs typeface="Aptos"/>
                        </a:rPr>
                        <a:t>Separate choice stages</a:t>
                      </a:r>
                    </a:p>
                  </a:txBody>
                  <a:tcPr anchor="ctr">
                    <a:solidFill>
                      <a:srgbClr val="FFFFFF"/>
                    </a:solidFill>
                  </a:tcPr>
                </a:tc>
                <a:tc>
                  <a:txBody>
                    <a:bodyPr/>
                    <a:lstStyle/>
                    <a:p>
                      <a:pPr algn="l">
                        <a:buNone/>
                      </a:pPr>
                      <a:r>
                        <a:rPr sz="1350" b="0" dirty="0">
                          <a:solidFill>
                            <a:srgbClr val="000000"/>
                          </a:solidFill>
                          <a:latin typeface="Aptos"/>
                          <a:ea typeface="Aptos"/>
                          <a:cs typeface="Aptos"/>
                        </a:rPr>
                        <a:t>One choice from each stage?</a:t>
                      </a:r>
                    </a:p>
                  </a:txBody>
                  <a:tcPr anchor="ctr">
                    <a:solidFill>
                      <a:srgbClr val="FFFFFF"/>
                    </a:solidFill>
                  </a:tcPr>
                </a:tc>
                <a:tc>
                  <a:txBody>
                    <a:bodyPr/>
                    <a:lstStyle/>
                    <a:p>
                      <a:pPr algn="l">
                        <a:buNone/>
                      </a:pPr>
                      <a:r>
                        <a:rPr sz="1350" b="0" dirty="0">
                          <a:solidFill>
                            <a:srgbClr val="000000"/>
                          </a:solidFill>
                          <a:latin typeface="Aptos"/>
                          <a:ea typeface="Aptos"/>
                          <a:cs typeface="Aptos"/>
                        </a:rPr>
                        <a:t>Basic counting</a:t>
                      </a:r>
                    </a:p>
                  </a:txBody>
                  <a:tcPr anchor="ctr">
                    <a:solidFill>
                      <a:srgbClr val="FFFFFF"/>
                    </a:solidFill>
                  </a:tcPr>
                </a:tc>
                <a:tc>
                  <a:txBody>
                    <a:bodyPr/>
                    <a:lstStyle/>
                    <a:p>
                      <a:pPr algn="l">
                        <a:buNone/>
                      </a:pPr>
                      <a:r>
                        <a:rPr sz="1350" b="0">
                          <a:solidFill>
                            <a:srgbClr val="000000"/>
                          </a:solidFill>
                          <a:latin typeface="Aptos"/>
                          <a:ea typeface="Aptos"/>
                          <a:cs typeface="Aptos"/>
                        </a:rPr>
                        <a:t>multiply stage choices</a:t>
                      </a:r>
                    </a:p>
                  </a:txBody>
                  <a:tcPr anchor="ctr">
                    <a:solidFill>
                      <a:srgbClr val="FFFFFF"/>
                    </a:solidFill>
                  </a:tcPr>
                </a:tc>
                <a:extLst>
                  <a:ext uri="{0D108BD9-81ED-4DB2-BD59-A6C34878D82A}">
                    <a16:rowId xmlns:a16="http://schemas.microsoft.com/office/drawing/2014/main" val="10001"/>
                  </a:ext>
                </a:extLst>
              </a:tr>
              <a:tr h="666750">
                <a:tc>
                  <a:txBody>
                    <a:bodyPr/>
                    <a:lstStyle/>
                    <a:p>
                      <a:pPr algn="l">
                        <a:buNone/>
                      </a:pPr>
                      <a:r>
                        <a:rPr sz="1350" b="0">
                          <a:solidFill>
                            <a:srgbClr val="000000"/>
                          </a:solidFill>
                          <a:latin typeface="Aptos"/>
                          <a:ea typeface="Aptos"/>
                          <a:cs typeface="Aptos"/>
                        </a:rPr>
                        <a:t>Arrange every item</a:t>
                      </a:r>
                    </a:p>
                  </a:txBody>
                  <a:tcPr anchor="ctr">
                    <a:solidFill>
                      <a:srgbClr val="EFF8FF"/>
                    </a:solidFill>
                  </a:tcPr>
                </a:tc>
                <a:tc>
                  <a:txBody>
                    <a:bodyPr/>
                    <a:lstStyle/>
                    <a:p>
                      <a:pPr algn="l">
                        <a:buNone/>
                      </a:pPr>
                      <a:r>
                        <a:rPr sz="1350" b="0">
                          <a:solidFill>
                            <a:srgbClr val="000000"/>
                          </a:solidFill>
                          <a:latin typeface="Aptos"/>
                          <a:ea typeface="Aptos"/>
                          <a:cs typeface="Aptos"/>
                        </a:rPr>
                        <a:t>Are all distinct items ordered?</a:t>
                      </a:r>
                    </a:p>
                  </a:txBody>
                  <a:tcPr anchor="ctr">
                    <a:solidFill>
                      <a:srgbClr val="EFF8FF"/>
                    </a:solidFill>
                  </a:tcPr>
                </a:tc>
                <a:tc>
                  <a:txBody>
                    <a:bodyPr/>
                    <a:lstStyle/>
                    <a:p>
                      <a:pPr algn="l">
                        <a:buNone/>
                      </a:pPr>
                      <a:r>
                        <a:rPr sz="1350" b="0" dirty="0">
                          <a:solidFill>
                            <a:srgbClr val="000000"/>
                          </a:solidFill>
                          <a:latin typeface="Aptos"/>
                          <a:ea typeface="Aptos"/>
                          <a:cs typeface="Aptos"/>
                        </a:rPr>
                        <a:t>Factorial</a:t>
                      </a:r>
                    </a:p>
                  </a:txBody>
                  <a:tcPr anchor="ctr">
                    <a:solidFill>
                      <a:srgbClr val="EFF8FF"/>
                    </a:solidFill>
                  </a:tcPr>
                </a:tc>
                <a:tc>
                  <a:txBody>
                    <a:bodyPr/>
                    <a:lstStyle/>
                    <a:p>
                      <a:pPr algn="l">
                        <a:buNone/>
                      </a:pPr>
                      <a:r>
                        <a:rPr sz="1350" b="0">
                          <a:solidFill>
                            <a:srgbClr val="000000"/>
                          </a:solidFill>
                          <a:latin typeface="Aptos"/>
                          <a:ea typeface="Aptos"/>
                          <a:cs typeface="Aptos"/>
                        </a:rPr>
                        <a:t>n!</a:t>
                      </a:r>
                    </a:p>
                  </a:txBody>
                  <a:tcPr anchor="ctr">
                    <a:solidFill>
                      <a:srgbClr val="EFF8FF"/>
                    </a:solidFill>
                  </a:tcPr>
                </a:tc>
                <a:extLst>
                  <a:ext uri="{0D108BD9-81ED-4DB2-BD59-A6C34878D82A}">
                    <a16:rowId xmlns:a16="http://schemas.microsoft.com/office/drawing/2014/main" val="10002"/>
                  </a:ext>
                </a:extLst>
              </a:tr>
              <a:tr h="666750">
                <a:tc>
                  <a:txBody>
                    <a:bodyPr/>
                    <a:lstStyle/>
                    <a:p>
                      <a:pPr algn="l">
                        <a:buNone/>
                      </a:pPr>
                      <a:r>
                        <a:rPr sz="1350" b="0">
                          <a:solidFill>
                            <a:srgbClr val="000000"/>
                          </a:solidFill>
                          <a:latin typeface="Aptos"/>
                          <a:ea typeface="Aptos"/>
                          <a:cs typeface="Aptos"/>
                        </a:rPr>
                        <a:t>Fill different roles</a:t>
                      </a:r>
                    </a:p>
                  </a:txBody>
                  <a:tcPr anchor="ctr">
                    <a:solidFill>
                      <a:srgbClr val="FFFFFF"/>
                    </a:solidFill>
                  </a:tcPr>
                </a:tc>
                <a:tc>
                  <a:txBody>
                    <a:bodyPr/>
                    <a:lstStyle/>
                    <a:p>
                      <a:pPr algn="l">
                        <a:buNone/>
                      </a:pPr>
                      <a:r>
                        <a:rPr sz="1350" b="0">
                          <a:solidFill>
                            <a:srgbClr val="000000"/>
                          </a:solidFill>
                          <a:latin typeface="Aptos"/>
                          <a:ea typeface="Aptos"/>
                          <a:cs typeface="Aptos"/>
                        </a:rPr>
                        <a:t>Would swapping people change it?</a:t>
                      </a:r>
                    </a:p>
                  </a:txBody>
                  <a:tcPr anchor="ctr">
                    <a:solidFill>
                      <a:srgbClr val="FFFFFF"/>
                    </a:solidFill>
                  </a:tcPr>
                </a:tc>
                <a:tc>
                  <a:txBody>
                    <a:bodyPr/>
                    <a:lstStyle/>
                    <a:p>
                      <a:pPr algn="l">
                        <a:buNone/>
                      </a:pPr>
                      <a:r>
                        <a:rPr sz="1350" b="0" dirty="0">
                          <a:solidFill>
                            <a:srgbClr val="000000"/>
                          </a:solidFill>
                          <a:latin typeface="Aptos"/>
                          <a:ea typeface="Aptos"/>
                          <a:cs typeface="Aptos"/>
                        </a:rPr>
                        <a:t>Permutation</a:t>
                      </a:r>
                    </a:p>
                  </a:txBody>
                  <a:tcPr anchor="ctr">
                    <a:solidFill>
                      <a:srgbClr val="FFFFFF"/>
                    </a:solidFill>
                  </a:tcPr>
                </a:tc>
                <a:tc>
                  <a:txBody>
                    <a:bodyPr/>
                    <a:lstStyle/>
                    <a:p>
                      <a:pPr algn="l">
                        <a:buNone/>
                      </a:pPr>
                      <a:r>
                        <a:rPr sz="1350" b="0">
                          <a:solidFill>
                            <a:srgbClr val="000000"/>
                          </a:solidFill>
                          <a:latin typeface="Aptos"/>
                          <a:ea typeface="Aptos"/>
                          <a:cs typeface="Aptos"/>
                        </a:rPr>
                        <a:t>P(n,r) / nPr</a:t>
                      </a:r>
                    </a:p>
                  </a:txBody>
                  <a:tcPr anchor="ctr">
                    <a:solidFill>
                      <a:srgbClr val="FFFFFF"/>
                    </a:solidFill>
                  </a:tcPr>
                </a:tc>
                <a:extLst>
                  <a:ext uri="{0D108BD9-81ED-4DB2-BD59-A6C34878D82A}">
                    <a16:rowId xmlns:a16="http://schemas.microsoft.com/office/drawing/2014/main" val="10003"/>
                  </a:ext>
                </a:extLst>
              </a:tr>
              <a:tr h="666750">
                <a:tc>
                  <a:txBody>
                    <a:bodyPr/>
                    <a:lstStyle/>
                    <a:p>
                      <a:pPr algn="l">
                        <a:buNone/>
                      </a:pPr>
                      <a:r>
                        <a:rPr sz="1350" b="0">
                          <a:solidFill>
                            <a:srgbClr val="000000"/>
                          </a:solidFill>
                          <a:latin typeface="Aptos"/>
                          <a:ea typeface="Aptos"/>
                          <a:cs typeface="Aptos"/>
                        </a:rPr>
                        <a:t>Choose one equal-role group</a:t>
                      </a:r>
                    </a:p>
                  </a:txBody>
                  <a:tcPr anchor="ctr">
                    <a:solidFill>
                      <a:srgbClr val="EFF8FF"/>
                    </a:solidFill>
                  </a:tcPr>
                </a:tc>
                <a:tc>
                  <a:txBody>
                    <a:bodyPr/>
                    <a:lstStyle/>
                    <a:p>
                      <a:pPr algn="l">
                        <a:buNone/>
                      </a:pPr>
                      <a:r>
                        <a:rPr sz="1350" b="0">
                          <a:solidFill>
                            <a:srgbClr val="000000"/>
                          </a:solidFill>
                          <a:latin typeface="Aptos"/>
                          <a:ea typeface="Aptos"/>
                          <a:cs typeface="Aptos"/>
                        </a:rPr>
                        <a:t>Would swapping people keep it?</a:t>
                      </a:r>
                    </a:p>
                  </a:txBody>
                  <a:tcPr anchor="ctr">
                    <a:solidFill>
                      <a:srgbClr val="EFF8FF"/>
                    </a:solidFill>
                  </a:tcPr>
                </a:tc>
                <a:tc>
                  <a:txBody>
                    <a:bodyPr/>
                    <a:lstStyle/>
                    <a:p>
                      <a:pPr algn="l">
                        <a:buNone/>
                      </a:pPr>
                      <a:r>
                        <a:rPr sz="1350" b="0">
                          <a:solidFill>
                            <a:srgbClr val="000000"/>
                          </a:solidFill>
                          <a:latin typeface="Aptos"/>
                          <a:ea typeface="Aptos"/>
                          <a:cs typeface="Aptos"/>
                        </a:rPr>
                        <a:t>Combination</a:t>
                      </a:r>
                    </a:p>
                  </a:txBody>
                  <a:tcPr anchor="ctr">
                    <a:solidFill>
                      <a:srgbClr val="EFF8FF"/>
                    </a:solidFill>
                  </a:tcPr>
                </a:tc>
                <a:tc>
                  <a:txBody>
                    <a:bodyPr/>
                    <a:lstStyle/>
                    <a:p>
                      <a:pPr algn="l">
                        <a:buNone/>
                      </a:pPr>
                      <a:r>
                        <a:rPr sz="1350" b="0">
                          <a:solidFill>
                            <a:srgbClr val="000000"/>
                          </a:solidFill>
                          <a:latin typeface="Aptos"/>
                          <a:ea typeface="Aptos"/>
                          <a:cs typeface="Aptos"/>
                        </a:rPr>
                        <a:t>C(n,r) / nCr</a:t>
                      </a:r>
                    </a:p>
                  </a:txBody>
                  <a:tcPr anchor="ctr">
                    <a:solidFill>
                      <a:srgbClr val="EFF8FF"/>
                    </a:solidFill>
                  </a:tcPr>
                </a:tc>
                <a:extLst>
                  <a:ext uri="{0D108BD9-81ED-4DB2-BD59-A6C34878D82A}">
                    <a16:rowId xmlns:a16="http://schemas.microsoft.com/office/drawing/2014/main" val="10004"/>
                  </a:ext>
                </a:extLst>
              </a:tr>
              <a:tr h="666750">
                <a:tc>
                  <a:txBody>
                    <a:bodyPr/>
                    <a:lstStyle/>
                    <a:p>
                      <a:pPr algn="l">
                        <a:buNone/>
                      </a:pPr>
                      <a:r>
                        <a:rPr sz="1350" b="0">
                          <a:solidFill>
                            <a:srgbClr val="000000"/>
                          </a:solidFill>
                          <a:latin typeface="Aptos"/>
                          <a:ea typeface="Aptos"/>
                          <a:cs typeface="Aptos"/>
                        </a:rPr>
                        <a:t>Restrictions or repeats</a:t>
                      </a:r>
                    </a:p>
                  </a:txBody>
                  <a:tcPr anchor="ctr">
                    <a:solidFill>
                      <a:srgbClr val="FFFFFF"/>
                    </a:solidFill>
                  </a:tcPr>
                </a:tc>
                <a:tc>
                  <a:txBody>
                    <a:bodyPr/>
                    <a:lstStyle/>
                    <a:p>
                      <a:pPr algn="l">
                        <a:buNone/>
                      </a:pPr>
                      <a:r>
                        <a:rPr sz="1350" b="0">
                          <a:solidFill>
                            <a:srgbClr val="000000"/>
                          </a:solidFill>
                          <a:latin typeface="Aptos"/>
                          <a:ea typeface="Aptos"/>
                          <a:cs typeface="Aptos"/>
                        </a:rPr>
                        <a:t>How many choices remain in each slot?</a:t>
                      </a:r>
                    </a:p>
                  </a:txBody>
                  <a:tcPr anchor="ctr">
                    <a:solidFill>
                      <a:srgbClr val="FFFFFF"/>
                    </a:solidFill>
                  </a:tcPr>
                </a:tc>
                <a:tc>
                  <a:txBody>
                    <a:bodyPr/>
                    <a:lstStyle/>
                    <a:p>
                      <a:pPr algn="l">
                        <a:buNone/>
                      </a:pPr>
                      <a:r>
                        <a:rPr sz="1350" b="0">
                          <a:solidFill>
                            <a:srgbClr val="000000"/>
                          </a:solidFill>
                          <a:latin typeface="Aptos"/>
                          <a:ea typeface="Aptos"/>
                          <a:cs typeface="Aptos"/>
                        </a:rPr>
                        <a:t>Count slots</a:t>
                      </a:r>
                    </a:p>
                  </a:txBody>
                  <a:tcPr anchor="ctr">
                    <a:solidFill>
                      <a:srgbClr val="FFFFFF"/>
                    </a:solidFill>
                  </a:tcPr>
                </a:tc>
                <a:tc>
                  <a:txBody>
                    <a:bodyPr/>
                    <a:lstStyle/>
                    <a:p>
                      <a:pPr algn="l">
                        <a:buNone/>
                      </a:pPr>
                      <a:r>
                        <a:rPr sz="1350" b="0" dirty="0">
                          <a:solidFill>
                            <a:srgbClr val="000000"/>
                          </a:solidFill>
                          <a:latin typeface="Aptos"/>
                          <a:ea typeface="Aptos"/>
                          <a:cs typeface="Aptos"/>
                        </a:rPr>
                        <a:t>multiply valid choices</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80955064"/>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A8: Choose, explain, calculate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  Choose 1 main from 5, 1 drink from 4 and 1 dessert from 2.</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  Choose captain and vice-captain from 9 students.</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  Choose 2 equal-role delegates from 9 students.</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Q4  Arrange all 7 laboratory samples in a row.</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Q5  Optional challenge: choose a 3-person committee from 8, then its leader.</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Choose one or more methods: Basic counting, Factorial, Permutation or Combination. Explain your choice in one sentence.</a:t>
            </a:r>
          </a:p>
        </p:txBody>
      </p:sp>
      <p:sp>
        <p:nvSpPr>
          <p:cNvPr id="4" name="Handout reference A8">
            <a:extLst>
              <a:ext uri="{FF2B5EF4-FFF2-40B4-BE49-F238E27FC236}">
                <a16:creationId xmlns:a16="http://schemas.microsoft.com/office/drawing/2014/main" id="{06A9E1A7-52E8-45AC-8A55-693BD6CC2D29}"/>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8</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A8: Worked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3095625"/>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Q1</a:t>
            </a:r>
            <a:r>
              <a:rPr sz="2325" b="0" dirty="0">
                <a:solidFill>
                  <a:srgbClr val="111111"/>
                </a:solidFill>
                <a:latin typeface="Aptos"/>
                <a:ea typeface="Aptos"/>
                <a:cs typeface="Aptos"/>
              </a:rPr>
              <a:t>  Basic counting: 5 × 4 × 2 = 40</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Q2</a:t>
            </a:r>
            <a:r>
              <a:rPr sz="2325" b="0" dirty="0">
                <a:solidFill>
                  <a:srgbClr val="111111"/>
                </a:solidFill>
                <a:latin typeface="Aptos"/>
                <a:ea typeface="Aptos"/>
                <a:cs typeface="Aptos"/>
              </a:rPr>
              <a:t>  Permutation: P(9,2) = 9 × 8 = 72</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Q3</a:t>
            </a:r>
            <a:r>
              <a:rPr sz="2325" b="0" dirty="0">
                <a:solidFill>
                  <a:srgbClr val="111111"/>
                </a:solidFill>
                <a:latin typeface="Aptos"/>
                <a:ea typeface="Aptos"/>
                <a:cs typeface="Aptos"/>
              </a:rPr>
              <a:t>  Combination: C(9,2) = 36</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Q4</a:t>
            </a:r>
            <a:r>
              <a:rPr sz="2325" b="0" dirty="0">
                <a:solidFill>
                  <a:srgbClr val="111111"/>
                </a:solidFill>
                <a:latin typeface="Aptos"/>
                <a:ea typeface="Aptos"/>
                <a:cs typeface="Aptos"/>
              </a:rPr>
              <a:t>  Factorial: 7! = 5,040</a:t>
            </a: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Q5</a:t>
            </a:r>
            <a:r>
              <a:rPr sz="2325" b="0" dirty="0">
                <a:solidFill>
                  <a:srgbClr val="111111"/>
                </a:solidFill>
                <a:latin typeface="Aptos"/>
                <a:ea typeface="Aptos"/>
                <a:cs typeface="Aptos"/>
              </a:rPr>
              <a:t>  Optional: choose the committee, then its leader.</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    C(8,3) × 3 = 56 × 3 = 168</a:t>
            </a:r>
          </a:p>
        </p:txBody>
      </p:sp>
      <p:sp>
        <p:nvSpPr>
          <p:cNvPr id="4" name="Native mathematics Alternative:">
            <a:extLst>
              <a:ext uri="{FF2B5EF4-FFF2-40B4-BE49-F238E27FC236}">
                <a16:creationId xmlns:a16="http://schemas.microsoft.com/office/drawing/2014/main" id="{ABE77819-14A3-4028-95C3-5EF2CCB00B48}"/>
              </a:ext>
            </a:extLst>
          </p:cNvPr>
          <p:cNvSpPr>
            <a:spLocks noGrp="1"/>
          </p:cNvSpPr>
          <p:nvPr/>
        </p:nvSpPr>
        <p:spPr>
          <a:xfrm>
            <a:off x="762000" y="5429250"/>
            <a:ext cx="1797268"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Alternative:</a:t>
            </a:r>
          </a:p>
        </p:txBody>
      </p:sp>
      <p:sp>
        <p:nvSpPr>
          <p:cNvPr id="5" name="Native mathematics 8 × 7 × 6">
            <a:extLst>
              <a:ext uri="{FF2B5EF4-FFF2-40B4-BE49-F238E27FC236}">
                <a16:creationId xmlns:a16="http://schemas.microsoft.com/office/drawing/2014/main" id="{C1124E41-7A41-4607-92FA-B92938108DBE}"/>
              </a:ext>
            </a:extLst>
          </p:cNvPr>
          <p:cNvSpPr>
            <a:spLocks noGrp="1"/>
          </p:cNvSpPr>
          <p:nvPr/>
        </p:nvSpPr>
        <p:spPr>
          <a:xfrm>
            <a:off x="2559268" y="5238750"/>
            <a:ext cx="1581150" cy="34290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8 × 7 × 6</a:t>
            </a:r>
          </a:p>
        </p:txBody>
      </p:sp>
      <p:sp>
        <p:nvSpPr>
          <p:cNvPr id="6" name="Fraction or radical rule">
            <a:extLst>
              <a:ext uri="{FF2B5EF4-FFF2-40B4-BE49-F238E27FC236}">
                <a16:creationId xmlns:a16="http://schemas.microsoft.com/office/drawing/2014/main" id="{C0996DA2-8877-46C5-A030-BA3C0403AAD6}"/>
              </a:ext>
            </a:extLst>
          </p:cNvPr>
          <p:cNvSpPr>
            <a:spLocks noGrp="1"/>
          </p:cNvSpPr>
          <p:nvPr/>
        </p:nvSpPr>
        <p:spPr>
          <a:xfrm>
            <a:off x="2559268" y="5562600"/>
            <a:ext cx="1581150" cy="0"/>
          </a:xfrm>
          <a:prstGeom prst="line">
            <a:avLst/>
          </a:prstGeom>
          <a:ln w="14288">
            <a:solidFill>
              <a:srgbClr val="111111"/>
            </a:solidFill>
          </a:ln>
        </p:spPr>
        <p:txBody>
          <a:bodyPr/>
          <a:lstStyle/>
          <a:p>
            <a:endParaRPr lang="en-US"/>
          </a:p>
        </p:txBody>
      </p:sp>
      <p:sp>
        <p:nvSpPr>
          <p:cNvPr id="7" name="Native mathematics 2!">
            <a:extLst>
              <a:ext uri="{FF2B5EF4-FFF2-40B4-BE49-F238E27FC236}">
                <a16:creationId xmlns:a16="http://schemas.microsoft.com/office/drawing/2014/main" id="{8603C33E-3BA9-4867-B4D5-7165CAF0F9EF}"/>
              </a:ext>
            </a:extLst>
          </p:cNvPr>
          <p:cNvSpPr>
            <a:spLocks noGrp="1"/>
          </p:cNvSpPr>
          <p:nvPr/>
        </p:nvSpPr>
        <p:spPr>
          <a:xfrm>
            <a:off x="2559268" y="5600700"/>
            <a:ext cx="1581150" cy="36195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2!</a:t>
            </a:r>
          </a:p>
        </p:txBody>
      </p:sp>
      <p:sp>
        <p:nvSpPr>
          <p:cNvPr id="8" name="Native mathematics =">
            <a:extLst>
              <a:ext uri="{FF2B5EF4-FFF2-40B4-BE49-F238E27FC236}">
                <a16:creationId xmlns:a16="http://schemas.microsoft.com/office/drawing/2014/main" id="{5BA24139-19A2-4718-BC42-4F3FC28F71F5}"/>
              </a:ext>
            </a:extLst>
          </p:cNvPr>
          <p:cNvSpPr>
            <a:spLocks noGrp="1"/>
          </p:cNvSpPr>
          <p:nvPr/>
        </p:nvSpPr>
        <p:spPr>
          <a:xfrm>
            <a:off x="4273768" y="5429250"/>
            <a:ext cx="335966"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a:t>
            </a:r>
          </a:p>
        </p:txBody>
      </p:sp>
      <p:sp>
        <p:nvSpPr>
          <p:cNvPr id="9" name="Native mathematics 336">
            <a:extLst>
              <a:ext uri="{FF2B5EF4-FFF2-40B4-BE49-F238E27FC236}">
                <a16:creationId xmlns:a16="http://schemas.microsoft.com/office/drawing/2014/main" id="{A2EC8E62-9983-4817-A70F-361895E877D9}"/>
              </a:ext>
            </a:extLst>
          </p:cNvPr>
          <p:cNvSpPr>
            <a:spLocks noGrp="1"/>
          </p:cNvSpPr>
          <p:nvPr/>
        </p:nvSpPr>
        <p:spPr>
          <a:xfrm>
            <a:off x="4609734" y="5238750"/>
            <a:ext cx="819150" cy="34290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336</a:t>
            </a:r>
          </a:p>
        </p:txBody>
      </p:sp>
      <p:sp>
        <p:nvSpPr>
          <p:cNvPr id="10" name="Fraction or radical rule">
            <a:extLst>
              <a:ext uri="{FF2B5EF4-FFF2-40B4-BE49-F238E27FC236}">
                <a16:creationId xmlns:a16="http://schemas.microsoft.com/office/drawing/2014/main" id="{CC304BB1-1718-4664-B578-C9750D3242E7}"/>
              </a:ext>
            </a:extLst>
          </p:cNvPr>
          <p:cNvSpPr>
            <a:spLocks noGrp="1"/>
          </p:cNvSpPr>
          <p:nvPr/>
        </p:nvSpPr>
        <p:spPr>
          <a:xfrm>
            <a:off x="4609734" y="5562600"/>
            <a:ext cx="819150" cy="0"/>
          </a:xfrm>
          <a:prstGeom prst="line">
            <a:avLst/>
          </a:prstGeom>
          <a:ln w="14288">
            <a:solidFill>
              <a:srgbClr val="111111"/>
            </a:solidFill>
          </a:ln>
        </p:spPr>
        <p:txBody>
          <a:bodyPr/>
          <a:lstStyle/>
          <a:p>
            <a:endParaRPr lang="en-US"/>
          </a:p>
        </p:txBody>
      </p:sp>
      <p:sp>
        <p:nvSpPr>
          <p:cNvPr id="11" name="Native mathematics 2!">
            <a:extLst>
              <a:ext uri="{FF2B5EF4-FFF2-40B4-BE49-F238E27FC236}">
                <a16:creationId xmlns:a16="http://schemas.microsoft.com/office/drawing/2014/main" id="{C8A03996-BA5F-4499-ADFC-3F0B810994A0}"/>
              </a:ext>
            </a:extLst>
          </p:cNvPr>
          <p:cNvSpPr>
            <a:spLocks noGrp="1"/>
          </p:cNvSpPr>
          <p:nvPr/>
        </p:nvSpPr>
        <p:spPr>
          <a:xfrm>
            <a:off x="4609734" y="5600700"/>
            <a:ext cx="819150" cy="36195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2!</a:t>
            </a:r>
          </a:p>
        </p:txBody>
      </p:sp>
      <p:sp>
        <p:nvSpPr>
          <p:cNvPr id="12" name="Native mathematics = 168">
            <a:extLst>
              <a:ext uri="{FF2B5EF4-FFF2-40B4-BE49-F238E27FC236}">
                <a16:creationId xmlns:a16="http://schemas.microsoft.com/office/drawing/2014/main" id="{802EA61C-3922-45A1-BDC1-460E17ECC997}"/>
              </a:ext>
            </a:extLst>
          </p:cNvPr>
          <p:cNvSpPr>
            <a:spLocks noGrp="1"/>
          </p:cNvSpPr>
          <p:nvPr/>
        </p:nvSpPr>
        <p:spPr>
          <a:xfrm>
            <a:off x="5562234" y="5429250"/>
            <a:ext cx="979673"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168</a:t>
            </a:r>
          </a:p>
        </p:txBody>
      </p:sp>
      <p:sp>
        <p:nvSpPr>
          <p:cNvPr id="13" name="Native mathematics Two ordinary membe">
            <a:extLst>
              <a:ext uri="{FF2B5EF4-FFF2-40B4-BE49-F238E27FC236}">
                <a16:creationId xmlns:a16="http://schemas.microsoft.com/office/drawing/2014/main" id="{58DA1259-6DE1-42B1-9E96-9FD8DEC481D8}"/>
              </a:ext>
            </a:extLst>
          </p:cNvPr>
          <p:cNvSpPr>
            <a:spLocks noGrp="1"/>
          </p:cNvSpPr>
          <p:nvPr/>
        </p:nvSpPr>
        <p:spPr>
          <a:xfrm>
            <a:off x="6667500" y="5429250"/>
            <a:ext cx="485775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Two ordinary members can swap.</a:t>
            </a:r>
          </a:p>
        </p:txBody>
      </p:sp>
      <p:sp>
        <p:nvSpPr>
          <p:cNvPr id="14" name="Handout reference A8">
            <a:extLst>
              <a:ext uri="{FF2B5EF4-FFF2-40B4-BE49-F238E27FC236}">
                <a16:creationId xmlns:a16="http://schemas.microsoft.com/office/drawing/2014/main" id="{FDA9BF53-5DD9-4A59-8D7F-2E0BB93B0DE6}"/>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8</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FC3C-67FB-B165-3C59-7A316881487C}"/>
              </a:ext>
            </a:extLst>
          </p:cNvPr>
          <p:cNvSpPr>
            <a:spLocks noGrp="1"/>
          </p:cNvSpPr>
          <p:nvPr>
            <p:ph type="ctrTitle"/>
          </p:nvPr>
        </p:nvSpPr>
        <p:spPr>
          <a:xfrm>
            <a:off x="356101" y="2154457"/>
            <a:ext cx="5739899" cy="3488697"/>
          </a:xfrm>
        </p:spPr>
        <p:txBody>
          <a:bodyPr>
            <a:normAutofit/>
          </a:bodyPr>
          <a:lstStyle/>
          <a:p>
            <a:r>
              <a:t>Section 3:</a:t>
            </a:r>
          </a:p>
          <a:p>
            <a:r>
              <a:t>Numbers and</a:t>
            </a:r>
          </a:p>
          <a:p>
            <a:r>
              <a:t>Arithmetic</a:t>
            </a:r>
          </a:p>
        </p:txBody>
      </p:sp>
    </p:spTree>
    <p:extLst>
      <p:ext uri="{BB962C8B-B14F-4D97-AF65-F5344CB8AC3E}">
        <p14:creationId xmlns:p14="http://schemas.microsoft.com/office/powerpoint/2010/main" val="3422886428"/>
      </p:ext>
    </p:ext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Types of real numbers</a:t>
            </a:r>
          </a:p>
        </p:txBody>
      </p:sp>
      <p:graphicFrame>
        <p:nvGraphicFramePr>
          <p:cNvPr id="15" name="Bellerbys teaching table"/>
          <p:cNvGraphicFramePr/>
          <p:nvPr>
            <p:extLst>
              <p:ext uri="{D42A27DB-BD31-4B8C-83A1-F6EECF244321}">
                <p14:modId xmlns:p14="http://schemas.microsoft.com/office/powerpoint/2010/main" val="540901365"/>
              </p:ext>
            </p:extLst>
          </p:nvPr>
        </p:nvGraphicFramePr>
        <p:xfrm>
          <a:off x="430816" y="1952625"/>
          <a:ext cx="11544300" cy="4023360"/>
        </p:xfrm>
        <a:graphic>
          <a:graphicData uri="http://schemas.openxmlformats.org/drawingml/2006/table">
            <a:tbl>
              <a:tblPr/>
              <a:tblGrid>
                <a:gridCol w="161925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4019550">
                  <a:extLst>
                    <a:ext uri="{9D8B030D-6E8A-4147-A177-3AD203B41FA5}">
                      <a16:colId xmlns:a16="http://schemas.microsoft.com/office/drawing/2014/main" val="20003"/>
                    </a:ext>
                  </a:extLst>
                </a:gridCol>
              </a:tblGrid>
              <a:tr h="571500">
                <a:tc>
                  <a:txBody>
                    <a:bodyPr/>
                    <a:lstStyle/>
                    <a:p>
                      <a:pPr algn="l">
                        <a:buNone/>
                      </a:pPr>
                      <a:r>
                        <a:rPr sz="1650" b="1">
                          <a:solidFill>
                            <a:srgbClr val="FFFFFF"/>
                          </a:solidFill>
                          <a:latin typeface="Aptos"/>
                          <a:ea typeface="Aptos"/>
                          <a:cs typeface="Aptos"/>
                        </a:rPr>
                        <a:t>Type</a:t>
                      </a:r>
                    </a:p>
                  </a:txBody>
                  <a:tcPr anchor="ctr">
                    <a:solidFill>
                      <a:srgbClr val="D6171D"/>
                    </a:solidFill>
                  </a:tcPr>
                </a:tc>
                <a:tc>
                  <a:txBody>
                    <a:bodyPr/>
                    <a:lstStyle/>
                    <a:p>
                      <a:pPr algn="l">
                        <a:buNone/>
                      </a:pPr>
                      <a:r>
                        <a:rPr sz="1650" b="1">
                          <a:solidFill>
                            <a:srgbClr val="FFFFFF"/>
                          </a:solidFill>
                          <a:latin typeface="Aptos"/>
                          <a:ea typeface="Aptos"/>
                          <a:cs typeface="Aptos"/>
                        </a:rPr>
                        <a:t>Definition</a:t>
                      </a:r>
                    </a:p>
                  </a:txBody>
                  <a:tcPr anchor="ctr">
                    <a:solidFill>
                      <a:srgbClr val="D6171D"/>
                    </a:solidFill>
                  </a:tcPr>
                </a:tc>
                <a:tc>
                  <a:txBody>
                    <a:bodyPr/>
                    <a:lstStyle/>
                    <a:p>
                      <a:pPr algn="l">
                        <a:buNone/>
                      </a:pPr>
                      <a:r>
                        <a:rPr sz="1650" b="1">
                          <a:solidFill>
                            <a:srgbClr val="FFFFFF"/>
                          </a:solidFill>
                          <a:latin typeface="Aptos"/>
                          <a:ea typeface="Aptos"/>
                          <a:cs typeface="Aptos"/>
                        </a:rPr>
                        <a:t>Examples</a:t>
                      </a:r>
                    </a:p>
                  </a:txBody>
                  <a:tcPr anchor="ctr">
                    <a:solidFill>
                      <a:srgbClr val="D6171D"/>
                    </a:solidFill>
                  </a:tcPr>
                </a:tc>
                <a:tc>
                  <a:txBody>
                    <a:bodyPr/>
                    <a:lstStyle/>
                    <a:p>
                      <a:pPr algn="l">
                        <a:buNone/>
                      </a:pPr>
                      <a:r>
                        <a:rPr sz="1650" b="1">
                          <a:solidFill>
                            <a:srgbClr val="FFFFFF"/>
                          </a:solidFill>
                          <a:latin typeface="Aptos"/>
                          <a:ea typeface="Aptos"/>
                          <a:cs typeface="Aptos"/>
                        </a:rPr>
                        <a:t>Important detail</a:t>
                      </a:r>
                    </a:p>
                  </a:txBody>
                  <a:tcPr anchor="ctr">
                    <a:solidFill>
                      <a:srgbClr val="D6171D"/>
                    </a:solidFill>
                  </a:tcPr>
                </a:tc>
                <a:extLst>
                  <a:ext uri="{0D108BD9-81ED-4DB2-BD59-A6C34878D82A}">
                    <a16:rowId xmlns:a16="http://schemas.microsoft.com/office/drawing/2014/main" val="10000"/>
                  </a:ext>
                </a:extLst>
              </a:tr>
              <a:tr h="571500">
                <a:tc>
                  <a:txBody>
                    <a:bodyPr/>
                    <a:lstStyle/>
                    <a:p>
                      <a:pPr algn="l">
                        <a:buNone/>
                      </a:pPr>
                      <a:r>
                        <a:rPr sz="1575" b="0" dirty="0">
                          <a:solidFill>
                            <a:srgbClr val="000000"/>
                          </a:solidFill>
                          <a:latin typeface="Aptos"/>
                          <a:ea typeface="Aptos"/>
                          <a:cs typeface="Aptos"/>
                        </a:rPr>
                        <a:t>Natural</a:t>
                      </a:r>
                    </a:p>
                  </a:txBody>
                  <a:tcPr anchor="ctr">
                    <a:solidFill>
                      <a:srgbClr val="FFFFFF"/>
                    </a:solidFill>
                  </a:tcPr>
                </a:tc>
                <a:tc>
                  <a:txBody>
                    <a:bodyPr/>
                    <a:lstStyle/>
                    <a:p>
                      <a:pPr algn="l">
                        <a:buNone/>
                      </a:pPr>
                      <a:r>
                        <a:rPr sz="1575" b="0">
                          <a:solidFill>
                            <a:srgbClr val="000000"/>
                          </a:solidFill>
                          <a:latin typeface="Aptos"/>
                          <a:ea typeface="Aptos"/>
                          <a:cs typeface="Aptos"/>
                        </a:rPr>
                        <a:t>counting numbers</a:t>
                      </a:r>
                    </a:p>
                  </a:txBody>
                  <a:tcPr anchor="ctr">
                    <a:solidFill>
                      <a:srgbClr val="FFFFFF"/>
                    </a:solidFill>
                  </a:tcPr>
                </a:tc>
                <a:tc>
                  <a:txBody>
                    <a:bodyPr/>
                    <a:lstStyle/>
                    <a:p>
                      <a:pPr algn="l">
                        <a:buNone/>
                      </a:pPr>
                      <a:r>
                        <a:rPr sz="1575" b="0" dirty="0">
                          <a:solidFill>
                            <a:srgbClr val="000000"/>
                          </a:solidFill>
                          <a:latin typeface="Aptos"/>
                          <a:ea typeface="Aptos"/>
                          <a:cs typeface="Aptos"/>
                        </a:rPr>
                        <a:t>1, 2, 3, …</a:t>
                      </a:r>
                    </a:p>
                  </a:txBody>
                  <a:tcPr anchor="ctr">
                    <a:solidFill>
                      <a:srgbClr val="FFFFFF"/>
                    </a:solidFill>
                  </a:tcPr>
                </a:tc>
                <a:tc>
                  <a:txBody>
                    <a:bodyPr/>
                    <a:lstStyle/>
                    <a:p>
                      <a:pPr algn="l">
                        <a:buNone/>
                      </a:pPr>
                      <a:r>
                        <a:rPr sz="1575" b="0">
                          <a:solidFill>
                            <a:srgbClr val="000000"/>
                          </a:solidFill>
                          <a:latin typeface="Aptos"/>
                          <a:ea typeface="Aptos"/>
                          <a:cs typeface="Aptos"/>
                        </a:rPr>
                        <a:t>Positive whole numbers </a:t>
                      </a:r>
                    </a:p>
                  </a:txBody>
                  <a:tcPr anchor="ctr">
                    <a:solidFill>
                      <a:srgbClr val="FFFFFF"/>
                    </a:solidFill>
                  </a:tcPr>
                </a:tc>
                <a:extLst>
                  <a:ext uri="{0D108BD9-81ED-4DB2-BD59-A6C34878D82A}">
                    <a16:rowId xmlns:a16="http://schemas.microsoft.com/office/drawing/2014/main" val="10001"/>
                  </a:ext>
                </a:extLst>
              </a:tr>
              <a:tr h="571500">
                <a:tc>
                  <a:txBody>
                    <a:bodyPr/>
                    <a:lstStyle/>
                    <a:p>
                      <a:pPr algn="l">
                        <a:buNone/>
                      </a:pPr>
                      <a:r>
                        <a:rPr sz="1575" b="0" dirty="0">
                          <a:solidFill>
                            <a:srgbClr val="000000"/>
                          </a:solidFill>
                          <a:latin typeface="Aptos"/>
                          <a:ea typeface="Aptos"/>
                          <a:cs typeface="Aptos"/>
                        </a:rPr>
                        <a:t>Whole</a:t>
                      </a:r>
                    </a:p>
                  </a:txBody>
                  <a:tcPr anchor="ctr">
                    <a:solidFill>
                      <a:srgbClr val="EFF8FF"/>
                    </a:solidFill>
                  </a:tcPr>
                </a:tc>
                <a:tc>
                  <a:txBody>
                    <a:bodyPr/>
                    <a:lstStyle/>
                    <a:p>
                      <a:pPr algn="l">
                        <a:buNone/>
                      </a:pPr>
                      <a:r>
                        <a:rPr sz="1575" b="0" dirty="0">
                          <a:solidFill>
                            <a:srgbClr val="000000"/>
                          </a:solidFill>
                          <a:latin typeface="Aptos"/>
                          <a:ea typeface="Aptos"/>
                          <a:cs typeface="Aptos"/>
                        </a:rPr>
                        <a:t>natural numbers and 0</a:t>
                      </a:r>
                    </a:p>
                  </a:txBody>
                  <a:tcPr anchor="ctr">
                    <a:solidFill>
                      <a:srgbClr val="EFF8FF"/>
                    </a:solidFill>
                  </a:tcPr>
                </a:tc>
                <a:tc>
                  <a:txBody>
                    <a:bodyPr/>
                    <a:lstStyle/>
                    <a:p>
                      <a:pPr algn="l">
                        <a:buNone/>
                      </a:pPr>
                      <a:r>
                        <a:rPr sz="1575" b="0" dirty="0">
                          <a:solidFill>
                            <a:srgbClr val="000000"/>
                          </a:solidFill>
                          <a:latin typeface="Aptos"/>
                          <a:ea typeface="Aptos"/>
                          <a:cs typeface="Aptos"/>
                        </a:rPr>
                        <a:t>0, 1, 2, …</a:t>
                      </a:r>
                    </a:p>
                  </a:txBody>
                  <a:tcPr anchor="ctr">
                    <a:solidFill>
                      <a:srgbClr val="EFF8FF"/>
                    </a:solidFill>
                  </a:tcPr>
                </a:tc>
                <a:tc>
                  <a:txBody>
                    <a:bodyPr/>
                    <a:lstStyle/>
                    <a:p>
                      <a:pPr algn="l">
                        <a:buNone/>
                      </a:pPr>
                      <a:r>
                        <a:rPr sz="1575" b="0">
                          <a:solidFill>
                            <a:srgbClr val="000000"/>
                          </a:solidFill>
                          <a:latin typeface="Aptos"/>
                          <a:ea typeface="Aptos"/>
                          <a:cs typeface="Aptos"/>
                        </a:rPr>
                        <a:t>Non-negative integers; includes 0</a:t>
                      </a:r>
                    </a:p>
                  </a:txBody>
                  <a:tcPr anchor="ctr">
                    <a:solidFill>
                      <a:srgbClr val="EFF8FF"/>
                    </a:solidFill>
                  </a:tcPr>
                </a:tc>
                <a:extLst>
                  <a:ext uri="{0D108BD9-81ED-4DB2-BD59-A6C34878D82A}">
                    <a16:rowId xmlns:a16="http://schemas.microsoft.com/office/drawing/2014/main" val="10002"/>
                  </a:ext>
                </a:extLst>
              </a:tr>
              <a:tr h="571500">
                <a:tc>
                  <a:txBody>
                    <a:bodyPr/>
                    <a:lstStyle/>
                    <a:p>
                      <a:pPr algn="l">
                        <a:buNone/>
                      </a:pPr>
                      <a:r>
                        <a:rPr sz="1575" b="0">
                          <a:solidFill>
                            <a:srgbClr val="000000"/>
                          </a:solidFill>
                          <a:latin typeface="Aptos"/>
                          <a:ea typeface="Aptos"/>
                          <a:cs typeface="Aptos"/>
                        </a:rPr>
                        <a:t>Integer</a:t>
                      </a:r>
                    </a:p>
                  </a:txBody>
                  <a:tcPr anchor="ctr">
                    <a:solidFill>
                      <a:srgbClr val="FFFFFF"/>
                    </a:solidFill>
                  </a:tcPr>
                </a:tc>
                <a:tc>
                  <a:txBody>
                    <a:bodyPr/>
                    <a:lstStyle/>
                    <a:p>
                      <a:pPr algn="l">
                        <a:buNone/>
                      </a:pPr>
                      <a:r>
                        <a:rPr sz="1575" b="0" dirty="0">
                          <a:solidFill>
                            <a:srgbClr val="000000"/>
                          </a:solidFill>
                          <a:latin typeface="Aptos"/>
                          <a:ea typeface="Aptos"/>
                          <a:cs typeface="Aptos"/>
                        </a:rPr>
                        <a:t>negative, zero, positive</a:t>
                      </a:r>
                    </a:p>
                  </a:txBody>
                  <a:tcPr anchor="ctr">
                    <a:solidFill>
                      <a:srgbClr val="FFFFFF"/>
                    </a:solidFill>
                  </a:tcPr>
                </a:tc>
                <a:tc>
                  <a:txBody>
                    <a:bodyPr/>
                    <a:lstStyle/>
                    <a:p>
                      <a:pPr algn="l">
                        <a:buNone/>
                      </a:pPr>
                      <a:r>
                        <a:rPr sz="1575" b="0">
                          <a:solidFill>
                            <a:srgbClr val="000000"/>
                          </a:solidFill>
                          <a:latin typeface="Aptos"/>
                          <a:ea typeface="Aptos"/>
                          <a:cs typeface="Aptos"/>
                        </a:rPr>
                        <a:t>−5, 0, 12</a:t>
                      </a:r>
                    </a:p>
                  </a:txBody>
                  <a:tcPr anchor="ctr">
                    <a:solidFill>
                      <a:srgbClr val="FFFFFF"/>
                    </a:solidFill>
                  </a:tcPr>
                </a:tc>
                <a:tc>
                  <a:txBody>
                    <a:bodyPr/>
                    <a:lstStyle/>
                    <a:p>
                      <a:pPr algn="l">
                        <a:buNone/>
                      </a:pPr>
                      <a:r>
                        <a:rPr sz="1600"/>
                        <a:t>Positive and negative whole numbers, including zero</a:t>
                      </a:r>
                      <a:endParaRPr sz="1575" b="0">
                        <a:solidFill>
                          <a:srgbClr val="000000"/>
                        </a:solidFill>
                        <a:latin typeface="Aptos"/>
                        <a:ea typeface="Aptos"/>
                        <a:cs typeface="Aptos"/>
                      </a:endParaRPr>
                    </a:p>
                  </a:txBody>
                  <a:tcPr anchor="ctr">
                    <a:solidFill>
                      <a:srgbClr val="FFFFFF"/>
                    </a:solidFill>
                  </a:tcPr>
                </a:tc>
                <a:extLst>
                  <a:ext uri="{0D108BD9-81ED-4DB2-BD59-A6C34878D82A}">
                    <a16:rowId xmlns:a16="http://schemas.microsoft.com/office/drawing/2014/main" val="10003"/>
                  </a:ext>
                </a:extLst>
              </a:tr>
              <a:tr h="571500">
                <a:tc>
                  <a:txBody>
                    <a:bodyPr/>
                    <a:lstStyle/>
                    <a:p>
                      <a:pPr algn="l">
                        <a:buNone/>
                      </a:pPr>
                      <a:r>
                        <a:rPr sz="1575" b="0">
                          <a:solidFill>
                            <a:srgbClr val="000000"/>
                          </a:solidFill>
                          <a:latin typeface="Aptos"/>
                          <a:ea typeface="Aptos"/>
                          <a:cs typeface="Aptos"/>
                        </a:rPr>
                        <a:t>Rational</a:t>
                      </a:r>
                    </a:p>
                  </a:txBody>
                  <a:tcPr anchor="ctr">
                    <a:solidFill>
                      <a:srgbClr val="EFF8FF"/>
                    </a:solidFill>
                  </a:tcPr>
                </a:tc>
                <a:tc>
                  <a:txBody>
                    <a:bodyPr/>
                    <a:lstStyle/>
                    <a:p>
                      <a:pPr algn="l">
                        <a:buNone/>
                      </a:pPr>
                      <a:r>
                        <a:rPr sz="1575" b="0" dirty="0">
                          <a:solidFill>
                            <a:srgbClr val="000000"/>
                          </a:solidFill>
                          <a:latin typeface="Aptos"/>
                          <a:ea typeface="Aptos"/>
                          <a:cs typeface="Aptos"/>
                        </a:rPr>
                        <a:t>can be written as</a:t>
                      </a:r>
                    </a:p>
                  </a:txBody>
                  <a:tcPr anchor="ctr">
                    <a:solidFill>
                      <a:srgbClr val="EFF8FF"/>
                    </a:solidFill>
                  </a:tcPr>
                </a:tc>
                <a:tc>
                  <a:txBody>
                    <a:bodyPr/>
                    <a:lstStyle/>
                    <a:p>
                      <a:pPr algn="l">
                        <a:buNone/>
                      </a:pPr>
                      <a:r>
                        <a:rPr sz="1575" b="0" dirty="0">
                          <a:solidFill>
                            <a:srgbClr val="000000"/>
                          </a:solidFill>
                          <a:latin typeface="Aptos"/>
                          <a:ea typeface="Aptos"/>
                          <a:cs typeface="Aptos"/>
                        </a:rPr>
                        <a:t>−2, 0.25</a:t>
                      </a:r>
                    </a:p>
                  </a:txBody>
                  <a:tcPr anchor="ctr">
                    <a:solidFill>
                      <a:srgbClr val="EFF8FF"/>
                    </a:solidFill>
                  </a:tcPr>
                </a:tc>
                <a:tc>
                  <a:txBody>
                    <a:bodyPr/>
                    <a:lstStyle/>
                    <a:p>
                      <a:pPr algn="l">
                        <a:buNone/>
                      </a:pPr>
                      <a:r>
                        <a:rPr sz="1600"/>
                        <a:t>p and q are integers; q ≠ 0; decimal terminates or repeats</a:t>
                      </a:r>
                      <a:endParaRPr sz="1575" b="0">
                        <a:solidFill>
                          <a:srgbClr val="000000"/>
                        </a:solidFill>
                        <a:latin typeface="Aptos"/>
                        <a:ea typeface="Aptos"/>
                        <a:cs typeface="Aptos"/>
                      </a:endParaRPr>
                    </a:p>
                  </a:txBody>
                  <a:tcPr anchor="ctr">
                    <a:solidFill>
                      <a:srgbClr val="EFF8FF"/>
                    </a:solidFill>
                  </a:tcPr>
                </a:tc>
                <a:extLst>
                  <a:ext uri="{0D108BD9-81ED-4DB2-BD59-A6C34878D82A}">
                    <a16:rowId xmlns:a16="http://schemas.microsoft.com/office/drawing/2014/main" val="10004"/>
                  </a:ext>
                </a:extLst>
              </a:tr>
              <a:tr h="571500">
                <a:tc>
                  <a:txBody>
                    <a:bodyPr/>
                    <a:lstStyle/>
                    <a:p>
                      <a:pPr algn="l">
                        <a:buNone/>
                      </a:pPr>
                      <a:r>
                        <a:rPr sz="1575" b="0">
                          <a:solidFill>
                            <a:srgbClr val="000000"/>
                          </a:solidFill>
                          <a:latin typeface="Aptos"/>
                          <a:ea typeface="Aptos"/>
                          <a:cs typeface="Aptos"/>
                        </a:rPr>
                        <a:t>Irrational</a:t>
                      </a:r>
                    </a:p>
                  </a:txBody>
                  <a:tcPr anchor="ctr">
                    <a:solidFill>
                      <a:srgbClr val="FFFFFF"/>
                    </a:solidFill>
                  </a:tcPr>
                </a:tc>
                <a:tc>
                  <a:txBody>
                    <a:bodyPr/>
                    <a:lstStyle/>
                    <a:p>
                      <a:pPr algn="l">
                        <a:buNone/>
                      </a:pPr>
                      <a:r>
                        <a:rPr sz="1575" b="0" dirty="0">
                          <a:solidFill>
                            <a:srgbClr val="000000"/>
                          </a:solidFill>
                          <a:latin typeface="Aptos"/>
                          <a:ea typeface="Aptos"/>
                          <a:cs typeface="Aptos"/>
                        </a:rPr>
                        <a:t>cannot be written in </a:t>
                      </a:r>
                      <a:r>
                        <a:rPr lang="en-US" sz="1575" b="0" dirty="0">
                          <a:solidFill>
                            <a:srgbClr val="000000"/>
                          </a:solidFill>
                          <a:latin typeface="Aptos"/>
                          <a:ea typeface="Aptos"/>
                          <a:cs typeface="Aptos"/>
                        </a:rPr>
                        <a:t>rational</a:t>
                      </a:r>
                      <a:r>
                        <a:rPr sz="1575" b="0" dirty="0">
                          <a:solidFill>
                            <a:srgbClr val="000000"/>
                          </a:solidFill>
                          <a:latin typeface="Aptos"/>
                          <a:ea typeface="Aptos"/>
                          <a:cs typeface="Aptos"/>
                        </a:rPr>
                        <a:t> form</a:t>
                      </a:r>
                    </a:p>
                  </a:txBody>
                  <a:tcPr anchor="ctr">
                    <a:solidFill>
                      <a:srgbClr val="FFFFFF"/>
                    </a:solidFill>
                  </a:tcPr>
                </a:tc>
                <a:tc>
                  <a:txBody>
                    <a:bodyPr/>
                    <a:lstStyle/>
                    <a:p>
                      <a:pPr algn="l">
                        <a:buNone/>
                      </a:pPr>
                      <a:r>
                        <a:rPr sz="1575" b="0" dirty="0">
                          <a:solidFill>
                            <a:srgbClr val="000000"/>
                          </a:solidFill>
                          <a:latin typeface="Aptos"/>
                          <a:ea typeface="Aptos"/>
                          <a:cs typeface="Aptos"/>
                        </a:rPr>
                        <a:t>π</a:t>
                      </a:r>
                    </a:p>
                  </a:txBody>
                  <a:tcPr anchor="ctr">
                    <a:solidFill>
                      <a:srgbClr val="FFFFFF"/>
                    </a:solidFill>
                  </a:tcPr>
                </a:tc>
                <a:tc>
                  <a:txBody>
                    <a:bodyPr/>
                    <a:lstStyle/>
                    <a:p>
                      <a:pPr algn="l">
                        <a:buNone/>
                      </a:pPr>
                      <a:r>
                        <a:rPr sz="1600"/>
                        <a:t>Cannot be written as a ratio of integers; decimal neither terminates nor repeats</a:t>
                      </a:r>
                      <a:endParaRPr sz="1575" b="0">
                        <a:solidFill>
                          <a:srgbClr val="000000"/>
                        </a:solidFill>
                        <a:latin typeface="Aptos"/>
                        <a:ea typeface="Aptos"/>
                        <a:cs typeface="Aptos"/>
                      </a:endParaRPr>
                    </a:p>
                  </a:txBody>
                  <a:tcPr anchor="ctr">
                    <a:solidFill>
                      <a:srgbClr val="FFFFFF"/>
                    </a:solidFill>
                  </a:tcPr>
                </a:tc>
                <a:extLst>
                  <a:ext uri="{0D108BD9-81ED-4DB2-BD59-A6C34878D82A}">
                    <a16:rowId xmlns:a16="http://schemas.microsoft.com/office/drawing/2014/main" val="10005"/>
                  </a:ext>
                </a:extLst>
              </a:tr>
              <a:tr h="571500">
                <a:tc>
                  <a:txBody>
                    <a:bodyPr/>
                    <a:lstStyle/>
                    <a:p>
                      <a:pPr algn="l">
                        <a:buNone/>
                      </a:pPr>
                      <a:r>
                        <a:rPr sz="1575" b="0">
                          <a:solidFill>
                            <a:srgbClr val="000000"/>
                          </a:solidFill>
                          <a:latin typeface="Aptos"/>
                          <a:ea typeface="Aptos"/>
                          <a:cs typeface="Aptos"/>
                        </a:rPr>
                        <a:t>Real</a:t>
                      </a:r>
                    </a:p>
                  </a:txBody>
                  <a:tcPr anchor="ctr">
                    <a:solidFill>
                      <a:srgbClr val="EFF8FF"/>
                    </a:solidFill>
                  </a:tcPr>
                </a:tc>
                <a:tc>
                  <a:txBody>
                    <a:bodyPr/>
                    <a:lstStyle/>
                    <a:p>
                      <a:pPr algn="l">
                        <a:buNone/>
                      </a:pPr>
                      <a:r>
                        <a:rPr sz="1575" b="0">
                          <a:solidFill>
                            <a:srgbClr val="000000"/>
                          </a:solidFill>
                          <a:latin typeface="Aptos"/>
                          <a:ea typeface="Aptos"/>
                          <a:cs typeface="Aptos"/>
                        </a:rPr>
                        <a:t>includes rational and irrational</a:t>
                      </a:r>
                    </a:p>
                  </a:txBody>
                  <a:tcPr anchor="ctr">
                    <a:solidFill>
                      <a:srgbClr val="EFF8FF"/>
                    </a:solidFill>
                  </a:tcPr>
                </a:tc>
                <a:tc>
                  <a:txBody>
                    <a:bodyPr/>
                    <a:lstStyle/>
                    <a:p>
                      <a:pPr algn="l">
                        <a:buNone/>
                      </a:pPr>
                      <a:r>
                        <a:rPr sz="1575" b="0" dirty="0">
                          <a:solidFill>
                            <a:srgbClr val="000000"/>
                          </a:solidFill>
                          <a:latin typeface="Aptos"/>
                          <a:ea typeface="Aptos"/>
                          <a:cs typeface="Aptos"/>
                        </a:rPr>
                        <a:t>all examples above</a:t>
                      </a:r>
                    </a:p>
                  </a:txBody>
                  <a:tcPr anchor="ctr">
                    <a:solidFill>
                      <a:srgbClr val="EFF8FF"/>
                    </a:solidFill>
                  </a:tcPr>
                </a:tc>
                <a:tc>
                  <a:txBody>
                    <a:bodyPr/>
                    <a:lstStyle/>
                    <a:p>
                      <a:pPr algn="l">
                        <a:buNone/>
                      </a:pPr>
                      <a:r>
                        <a:rPr sz="1575" b="0" dirty="0">
                          <a:solidFill>
                            <a:srgbClr val="000000"/>
                          </a:solidFill>
                          <a:latin typeface="Aptos"/>
                          <a:ea typeface="Aptos"/>
                          <a:cs typeface="Aptos"/>
                        </a:rPr>
                        <a:t>points on the number line</a:t>
                      </a:r>
                    </a:p>
                  </a:txBody>
                  <a:tcPr anchor="ctr">
                    <a:solidFill>
                      <a:srgbClr val="EFF8FF"/>
                    </a:solidFill>
                  </a:tcPr>
                </a:tc>
                <a:extLst>
                  <a:ext uri="{0D108BD9-81ED-4DB2-BD59-A6C34878D82A}">
                    <a16:rowId xmlns:a16="http://schemas.microsoft.com/office/drawing/2014/main" val="10006"/>
                  </a:ext>
                </a:extLst>
              </a:tr>
            </a:tbl>
          </a:graphicData>
        </a:graphic>
      </p:graphicFrame>
      <p:sp>
        <p:nvSpPr>
          <p:cNvPr id="4" name="Native mathematics p">
            <a:extLst>
              <a:ext uri="{FF2B5EF4-FFF2-40B4-BE49-F238E27FC236}">
                <a16:creationId xmlns:a16="http://schemas.microsoft.com/office/drawing/2014/main" id="{4F098AF8-3B53-4616-8168-6F69D7297F79}"/>
              </a:ext>
            </a:extLst>
          </p:cNvPr>
          <p:cNvSpPr>
            <a:spLocks noGrp="1"/>
          </p:cNvSpPr>
          <p:nvPr/>
        </p:nvSpPr>
        <p:spPr>
          <a:xfrm>
            <a:off x="4143375" y="4276725"/>
            <a:ext cx="381000" cy="247650"/>
          </a:xfrm>
          <a:prstGeom prst="rect">
            <a:avLst/>
          </a:prstGeom>
          <a:noFill/>
          <a:ln w="0">
            <a:noFill/>
          </a:ln>
        </p:spPr>
        <p:txBody>
          <a:bodyPr wrap="none" lIns="0" tIns="0" rIns="0" bIns="0" anchor="t">
            <a:noAutofit/>
          </a:bodyPr>
          <a:lstStyle/>
          <a:p>
            <a:pPr marL="0" indent="0" algn="ctr">
              <a:lnSpc>
                <a:spcPct val="100000"/>
              </a:lnSpc>
              <a:spcAft>
                <a:spcPts val="0"/>
              </a:spcAft>
              <a:buNone/>
              <a:defRPr sz="1575" b="0">
                <a:solidFill>
                  <a:srgbClr val="111111"/>
                </a:solidFill>
                <a:latin typeface="Aptos"/>
                <a:ea typeface="Aptos"/>
                <a:cs typeface="Aptos"/>
              </a:defRPr>
            </a:pPr>
            <a:r>
              <a:rPr sz="1575" b="0">
                <a:solidFill>
                  <a:srgbClr val="111111"/>
                </a:solidFill>
                <a:latin typeface="Aptos"/>
                <a:ea typeface="Aptos"/>
                <a:cs typeface="Aptos"/>
              </a:rPr>
              <a:t>p</a:t>
            </a:r>
          </a:p>
        </p:txBody>
      </p:sp>
      <p:sp>
        <p:nvSpPr>
          <p:cNvPr id="5" name="Fraction or radical rule">
            <a:extLst>
              <a:ext uri="{FF2B5EF4-FFF2-40B4-BE49-F238E27FC236}">
                <a16:creationId xmlns:a16="http://schemas.microsoft.com/office/drawing/2014/main" id="{AA5B7236-77A5-4FBE-BCDC-A93601828B54}"/>
              </a:ext>
            </a:extLst>
          </p:cNvPr>
          <p:cNvSpPr>
            <a:spLocks noGrp="1"/>
          </p:cNvSpPr>
          <p:nvPr/>
        </p:nvSpPr>
        <p:spPr>
          <a:xfrm>
            <a:off x="4143375" y="4505325"/>
            <a:ext cx="381000" cy="0"/>
          </a:xfrm>
          <a:prstGeom prst="line">
            <a:avLst/>
          </a:prstGeom>
          <a:ln w="14288">
            <a:solidFill>
              <a:srgbClr val="111111"/>
            </a:solidFill>
          </a:ln>
        </p:spPr>
        <p:txBody>
          <a:bodyPr/>
          <a:lstStyle/>
          <a:p>
            <a:endParaRPr lang="en-US"/>
          </a:p>
        </p:txBody>
      </p:sp>
      <p:sp>
        <p:nvSpPr>
          <p:cNvPr id="6" name="Native mathematics q">
            <a:extLst>
              <a:ext uri="{FF2B5EF4-FFF2-40B4-BE49-F238E27FC236}">
                <a16:creationId xmlns:a16="http://schemas.microsoft.com/office/drawing/2014/main" id="{C53FBA87-1693-4E5B-8CD0-FD9A95C9835C}"/>
              </a:ext>
            </a:extLst>
          </p:cNvPr>
          <p:cNvSpPr>
            <a:spLocks noGrp="1"/>
          </p:cNvSpPr>
          <p:nvPr/>
        </p:nvSpPr>
        <p:spPr>
          <a:xfrm>
            <a:off x="4143375" y="4543425"/>
            <a:ext cx="381000" cy="266700"/>
          </a:xfrm>
          <a:prstGeom prst="rect">
            <a:avLst/>
          </a:prstGeom>
          <a:noFill/>
          <a:ln w="0">
            <a:noFill/>
          </a:ln>
        </p:spPr>
        <p:txBody>
          <a:bodyPr wrap="none" lIns="0" tIns="0" rIns="0" bIns="0" anchor="t">
            <a:noAutofit/>
          </a:bodyPr>
          <a:lstStyle/>
          <a:p>
            <a:pPr marL="0" indent="0" algn="ctr">
              <a:lnSpc>
                <a:spcPct val="100000"/>
              </a:lnSpc>
              <a:spcAft>
                <a:spcPts val="0"/>
              </a:spcAft>
              <a:buNone/>
              <a:defRPr sz="1575" b="0">
                <a:solidFill>
                  <a:srgbClr val="111111"/>
                </a:solidFill>
                <a:latin typeface="Aptos"/>
                <a:ea typeface="Aptos"/>
                <a:cs typeface="Aptos"/>
              </a:defRPr>
            </a:pPr>
            <a:r>
              <a:rPr sz="1575" b="0">
                <a:solidFill>
                  <a:srgbClr val="111111"/>
                </a:solidFill>
                <a:latin typeface="Aptos"/>
                <a:ea typeface="Aptos"/>
                <a:cs typeface="Aptos"/>
              </a:rPr>
              <a:t>q</a:t>
            </a:r>
          </a:p>
        </p:txBody>
      </p:sp>
      <p:sp>
        <p:nvSpPr>
          <p:cNvPr id="7" name="Native mathematics 3">
            <a:extLst>
              <a:ext uri="{FF2B5EF4-FFF2-40B4-BE49-F238E27FC236}">
                <a16:creationId xmlns:a16="http://schemas.microsoft.com/office/drawing/2014/main" id="{5B65F7F9-4FBB-470B-B16A-227D718995F0}"/>
              </a:ext>
            </a:extLst>
          </p:cNvPr>
          <p:cNvSpPr>
            <a:spLocks noGrp="1"/>
          </p:cNvSpPr>
          <p:nvPr/>
        </p:nvSpPr>
        <p:spPr>
          <a:xfrm>
            <a:off x="7000875" y="4276725"/>
            <a:ext cx="381000" cy="247650"/>
          </a:xfrm>
          <a:prstGeom prst="rect">
            <a:avLst/>
          </a:prstGeom>
          <a:noFill/>
          <a:ln w="0">
            <a:noFill/>
          </a:ln>
        </p:spPr>
        <p:txBody>
          <a:bodyPr wrap="none" lIns="0" tIns="0" rIns="0" bIns="0" anchor="t">
            <a:noAutofit/>
          </a:bodyPr>
          <a:lstStyle/>
          <a:p>
            <a:pPr marL="0" indent="0" algn="ctr">
              <a:lnSpc>
                <a:spcPct val="100000"/>
              </a:lnSpc>
              <a:spcAft>
                <a:spcPts val="0"/>
              </a:spcAft>
              <a:buNone/>
              <a:defRPr sz="1575" b="0">
                <a:solidFill>
                  <a:srgbClr val="111111"/>
                </a:solidFill>
                <a:latin typeface="Aptos"/>
                <a:ea typeface="Aptos"/>
                <a:cs typeface="Aptos"/>
              </a:defRPr>
            </a:pPr>
            <a:r>
              <a:rPr sz="1575" b="0">
                <a:solidFill>
                  <a:srgbClr val="111111"/>
                </a:solidFill>
                <a:latin typeface="Aptos"/>
                <a:ea typeface="Aptos"/>
                <a:cs typeface="Aptos"/>
              </a:rPr>
              <a:t>3</a:t>
            </a:r>
          </a:p>
        </p:txBody>
      </p:sp>
      <p:sp>
        <p:nvSpPr>
          <p:cNvPr id="8" name="Fraction or radical rule">
            <a:extLst>
              <a:ext uri="{FF2B5EF4-FFF2-40B4-BE49-F238E27FC236}">
                <a16:creationId xmlns:a16="http://schemas.microsoft.com/office/drawing/2014/main" id="{F00C7DD2-A7A8-48CE-A0A2-FBB71E8DFD30}"/>
              </a:ext>
            </a:extLst>
          </p:cNvPr>
          <p:cNvSpPr>
            <a:spLocks noGrp="1"/>
          </p:cNvSpPr>
          <p:nvPr/>
        </p:nvSpPr>
        <p:spPr>
          <a:xfrm>
            <a:off x="7000875" y="4505325"/>
            <a:ext cx="381000" cy="0"/>
          </a:xfrm>
          <a:prstGeom prst="line">
            <a:avLst/>
          </a:prstGeom>
          <a:ln w="14288">
            <a:solidFill>
              <a:srgbClr val="111111"/>
            </a:solidFill>
          </a:ln>
        </p:spPr>
        <p:txBody>
          <a:bodyPr/>
          <a:lstStyle/>
          <a:p>
            <a:endParaRPr lang="en-US"/>
          </a:p>
        </p:txBody>
      </p:sp>
      <p:sp>
        <p:nvSpPr>
          <p:cNvPr id="9" name="Native mathematics 4">
            <a:extLst>
              <a:ext uri="{FF2B5EF4-FFF2-40B4-BE49-F238E27FC236}">
                <a16:creationId xmlns:a16="http://schemas.microsoft.com/office/drawing/2014/main" id="{295FB00E-9887-44FB-B39C-48F9BB201236}"/>
              </a:ext>
            </a:extLst>
          </p:cNvPr>
          <p:cNvSpPr>
            <a:spLocks noGrp="1"/>
          </p:cNvSpPr>
          <p:nvPr/>
        </p:nvSpPr>
        <p:spPr>
          <a:xfrm>
            <a:off x="7000875" y="4543425"/>
            <a:ext cx="381000" cy="266700"/>
          </a:xfrm>
          <a:prstGeom prst="rect">
            <a:avLst/>
          </a:prstGeom>
          <a:noFill/>
          <a:ln w="0">
            <a:noFill/>
          </a:ln>
        </p:spPr>
        <p:txBody>
          <a:bodyPr wrap="none" lIns="0" tIns="0" rIns="0" bIns="0" anchor="t">
            <a:noAutofit/>
          </a:bodyPr>
          <a:lstStyle/>
          <a:p>
            <a:pPr marL="0" indent="0" algn="ctr">
              <a:lnSpc>
                <a:spcPct val="100000"/>
              </a:lnSpc>
              <a:spcAft>
                <a:spcPts val="0"/>
              </a:spcAft>
              <a:buNone/>
              <a:defRPr sz="1575" b="0">
                <a:solidFill>
                  <a:srgbClr val="111111"/>
                </a:solidFill>
                <a:latin typeface="Aptos"/>
                <a:ea typeface="Aptos"/>
                <a:cs typeface="Aptos"/>
              </a:defRPr>
            </a:pPr>
            <a:r>
              <a:rPr sz="1575" b="0">
                <a:solidFill>
                  <a:srgbClr val="111111"/>
                </a:solidFill>
                <a:latin typeface="Aptos"/>
                <a:ea typeface="Aptos"/>
                <a:cs typeface="Aptos"/>
              </a:rPr>
              <a:t>4</a:t>
            </a:r>
          </a:p>
        </p:txBody>
      </p:sp>
      <p:sp>
        <p:nvSpPr>
          <p:cNvPr id="10" name="Native mathematics √">
            <a:extLst>
              <a:ext uri="{FF2B5EF4-FFF2-40B4-BE49-F238E27FC236}">
                <a16:creationId xmlns:a16="http://schemas.microsoft.com/office/drawing/2014/main" id="{8C1980C4-E016-479B-BC92-9E4EF7F1A520}"/>
              </a:ext>
            </a:extLst>
          </p:cNvPr>
          <p:cNvSpPr>
            <a:spLocks noGrp="1"/>
          </p:cNvSpPr>
          <p:nvPr/>
        </p:nvSpPr>
        <p:spPr>
          <a:xfrm>
            <a:off x="6143625" y="4895850"/>
            <a:ext cx="197168" cy="361950"/>
          </a:xfrm>
          <a:prstGeom prst="rect">
            <a:avLst/>
          </a:prstGeom>
          <a:noFill/>
          <a:ln w="0">
            <a:noFill/>
          </a:ln>
        </p:spPr>
        <p:txBody>
          <a:bodyPr wrap="none" lIns="0" tIns="0" rIns="0" bIns="0" anchor="t">
            <a:noAutofit/>
          </a:bodyPr>
          <a:lstStyle/>
          <a:p>
            <a:pPr marL="0" indent="0" algn="l">
              <a:lnSpc>
                <a:spcPct val="100000"/>
              </a:lnSpc>
              <a:spcAft>
                <a:spcPts val="0"/>
              </a:spcAft>
              <a:buNone/>
              <a:defRPr sz="2400" b="0">
                <a:solidFill>
                  <a:srgbClr val="111111"/>
                </a:solidFill>
                <a:latin typeface="Aptos"/>
                <a:ea typeface="Aptos"/>
                <a:cs typeface="Aptos"/>
              </a:defRPr>
            </a:pPr>
            <a:r>
              <a:rPr sz="2400" b="0" dirty="0">
                <a:solidFill>
                  <a:srgbClr val="111111"/>
                </a:solidFill>
                <a:latin typeface="Aptos"/>
                <a:ea typeface="Aptos"/>
                <a:cs typeface="Aptos"/>
              </a:rPr>
              <a:t>√</a:t>
            </a:r>
          </a:p>
        </p:txBody>
      </p:sp>
      <p:sp>
        <p:nvSpPr>
          <p:cNvPr id="11" name="Native mathematics 2">
            <a:extLst>
              <a:ext uri="{FF2B5EF4-FFF2-40B4-BE49-F238E27FC236}">
                <a16:creationId xmlns:a16="http://schemas.microsoft.com/office/drawing/2014/main" id="{5A6CB0C8-903B-44A2-9B77-60765D8D6366}"/>
              </a:ext>
            </a:extLst>
          </p:cNvPr>
          <p:cNvSpPr>
            <a:spLocks noGrp="1"/>
          </p:cNvSpPr>
          <p:nvPr/>
        </p:nvSpPr>
        <p:spPr>
          <a:xfrm>
            <a:off x="6301359" y="4943475"/>
            <a:ext cx="269794" cy="314325"/>
          </a:xfrm>
          <a:prstGeom prst="rect">
            <a:avLst/>
          </a:prstGeom>
          <a:noFill/>
          <a:ln w="0">
            <a:noFill/>
          </a:ln>
        </p:spPr>
        <p:txBody>
          <a:bodyPr wrap="none" lIns="0" tIns="0" rIns="0" bIns="0" anchor="t">
            <a:noAutofit/>
          </a:bodyPr>
          <a:lstStyle/>
          <a:p>
            <a:pPr marL="0" indent="0" algn="l">
              <a:lnSpc>
                <a:spcPct val="100000"/>
              </a:lnSpc>
              <a:spcAft>
                <a:spcPts val="0"/>
              </a:spcAft>
              <a:buNone/>
              <a:defRPr sz="1725" b="0">
                <a:solidFill>
                  <a:srgbClr val="111111"/>
                </a:solidFill>
                <a:latin typeface="Aptos"/>
                <a:ea typeface="Aptos"/>
                <a:cs typeface="Aptos"/>
              </a:defRPr>
            </a:pPr>
            <a:r>
              <a:rPr sz="1725" b="0" dirty="0">
                <a:solidFill>
                  <a:srgbClr val="111111"/>
                </a:solidFill>
                <a:latin typeface="Aptos"/>
                <a:ea typeface="Aptos"/>
                <a:cs typeface="Aptos"/>
              </a:rPr>
              <a:t>2</a:t>
            </a:r>
          </a:p>
        </p:txBody>
      </p:sp>
    </p:spTree>
    <p:extLst>
      <p:ext uri="{BB962C8B-B14F-4D97-AF65-F5344CB8AC3E}">
        <p14:creationId xmlns:p14="http://schemas.microsoft.com/office/powerpoint/2010/main" val="1680955064"/>
      </p:ext>
    </p:ext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Number families overlap</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2000250"/>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Natural </a:t>
            </a:r>
            <a:r>
              <a:rPr sz="2325" b="1" dirty="0">
                <a:solidFill>
                  <a:srgbClr val="FF0000"/>
                </a:solidFill>
                <a:latin typeface="Aptos"/>
                <a:ea typeface="Aptos"/>
                <a:cs typeface="Aptos"/>
              </a:rPr>
              <a:t>⊂</a:t>
            </a:r>
            <a:r>
              <a:rPr sz="2325" b="0" dirty="0">
                <a:solidFill>
                  <a:srgbClr val="111111"/>
                </a:solidFill>
                <a:latin typeface="Aptos"/>
                <a:ea typeface="Aptos"/>
                <a:cs typeface="Aptos"/>
              </a:rPr>
              <a:t> Whole </a:t>
            </a:r>
            <a:r>
              <a:rPr sz="2325" b="1" dirty="0">
                <a:solidFill>
                  <a:srgbClr val="FF0000"/>
                </a:solidFill>
                <a:latin typeface="Aptos"/>
                <a:ea typeface="Aptos"/>
                <a:cs typeface="Aptos"/>
              </a:rPr>
              <a:t>⊂</a:t>
            </a:r>
            <a:r>
              <a:rPr sz="2325" b="0" dirty="0">
                <a:solidFill>
                  <a:srgbClr val="111111"/>
                </a:solidFill>
                <a:latin typeface="Aptos"/>
                <a:ea typeface="Aptos"/>
                <a:cs typeface="Aptos"/>
              </a:rPr>
              <a:t> Integer </a:t>
            </a:r>
            <a:r>
              <a:rPr sz="2325" b="1" dirty="0">
                <a:solidFill>
                  <a:srgbClr val="FF0000"/>
                </a:solidFill>
                <a:latin typeface="Aptos"/>
                <a:ea typeface="Aptos"/>
                <a:cs typeface="Aptos"/>
              </a:rPr>
              <a:t>⊂</a:t>
            </a:r>
            <a:r>
              <a:rPr sz="2325" b="0" dirty="0">
                <a:solidFill>
                  <a:srgbClr val="111111"/>
                </a:solidFill>
                <a:latin typeface="Aptos"/>
                <a:ea typeface="Aptos"/>
                <a:cs typeface="Aptos"/>
              </a:rPr>
              <a:t> Rational </a:t>
            </a:r>
            <a:r>
              <a:rPr sz="2325" b="1" dirty="0">
                <a:solidFill>
                  <a:srgbClr val="FF0000"/>
                </a:solidFill>
                <a:latin typeface="Aptos"/>
                <a:ea typeface="Aptos"/>
                <a:cs typeface="Aptos"/>
              </a:rPr>
              <a:t>⊂</a:t>
            </a:r>
            <a:r>
              <a:rPr sz="2325" b="0" dirty="0">
                <a:solidFill>
                  <a:srgbClr val="111111"/>
                </a:solidFill>
                <a:latin typeface="Aptos"/>
                <a:ea typeface="Aptos"/>
                <a:cs typeface="Aptos"/>
              </a:rPr>
              <a:t> Real</a:t>
            </a:r>
          </a:p>
          <a:p>
            <a:pPr marL="0" indent="0" algn="l">
              <a:lnSpc>
                <a:spcPct val="106000"/>
              </a:lnSpc>
              <a:spcAft>
                <a:spcPts val="4"/>
              </a:spcAft>
              <a:buNone/>
              <a:defRPr sz="2325" b="0">
                <a:solidFill>
                  <a:srgbClr val="111111"/>
                </a:solidFill>
                <a:latin typeface="Aptos"/>
                <a:ea typeface="Aptos"/>
                <a:cs typeface="Aptos"/>
              </a:defRPr>
            </a:pPr>
            <a:endParaRPr sz="2325" b="0" dirty="0">
              <a:solidFill>
                <a:srgbClr val="111111"/>
              </a:solidFill>
              <a:latin typeface="Aptos"/>
              <a:ea typeface="Aptos"/>
              <a:cs typeface="Aptos"/>
            </a:endParaRP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Irrational numbers are real but not rational.</a:t>
            </a:r>
          </a:p>
          <a:p>
            <a:pPr marL="0" indent="0" algn="l">
              <a:lnSpc>
                <a:spcPct val="106000"/>
              </a:lnSpc>
              <a:spcAft>
                <a:spcPts val="4"/>
              </a:spcAft>
              <a:buNone/>
              <a:defRPr sz="2325" b="0">
                <a:solidFill>
                  <a:srgbClr val="111111"/>
                </a:solidFill>
                <a:latin typeface="Aptos"/>
                <a:ea typeface="Aptos"/>
                <a:cs typeface="Aptos"/>
              </a:defRPr>
            </a:pPr>
            <a:r>
              <a:rPr sz="2325" b="0" dirty="0">
                <a:solidFill>
                  <a:srgbClr val="111111"/>
                </a:solidFill>
                <a:latin typeface="Aptos"/>
                <a:ea typeface="Aptos"/>
                <a:cs typeface="Aptos"/>
              </a:rPr>
              <a:t>When one type is requested, choose the smallest applicable category.</a:t>
            </a:r>
          </a:p>
        </p:txBody>
      </p:sp>
      <p:sp>
        <p:nvSpPr>
          <p:cNvPr id="4" name="Native mathematics Simplify first:">
            <a:extLst>
              <a:ext uri="{FF2B5EF4-FFF2-40B4-BE49-F238E27FC236}">
                <a16:creationId xmlns:a16="http://schemas.microsoft.com/office/drawing/2014/main" id="{4951C00F-E11B-4A23-B668-C8A4EABA7C6D}"/>
              </a:ext>
            </a:extLst>
          </p:cNvPr>
          <p:cNvSpPr>
            <a:spLocks noGrp="1"/>
          </p:cNvSpPr>
          <p:nvPr/>
        </p:nvSpPr>
        <p:spPr>
          <a:xfrm>
            <a:off x="428625" y="4400550"/>
            <a:ext cx="2017029"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Simplify first:</a:t>
            </a:r>
          </a:p>
        </p:txBody>
      </p:sp>
      <p:sp>
        <p:nvSpPr>
          <p:cNvPr id="5" name="Native mathematics √">
            <a:extLst>
              <a:ext uri="{FF2B5EF4-FFF2-40B4-BE49-F238E27FC236}">
                <a16:creationId xmlns:a16="http://schemas.microsoft.com/office/drawing/2014/main" id="{F0FB84B0-C3EA-4BFF-9160-E2C443FDDC23}"/>
              </a:ext>
            </a:extLst>
          </p:cNvPr>
          <p:cNvSpPr>
            <a:spLocks noGrp="1"/>
          </p:cNvSpPr>
          <p:nvPr/>
        </p:nvSpPr>
        <p:spPr>
          <a:xfrm>
            <a:off x="2445654" y="4352925"/>
            <a:ext cx="265748" cy="438150"/>
          </a:xfrm>
          <a:prstGeom prst="rect">
            <a:avLst/>
          </a:prstGeom>
          <a:noFill/>
          <a:ln w="0">
            <a:noFill/>
          </a:ln>
        </p:spPr>
        <p:txBody>
          <a:bodyPr wrap="none" lIns="0" tIns="0" rIns="0" bIns="0" anchor="t">
            <a:noAutofit/>
          </a:bodyPr>
          <a:lstStyle/>
          <a:p>
            <a:pPr marL="0" indent="0" algn="l">
              <a:lnSpc>
                <a:spcPct val="100000"/>
              </a:lnSpc>
              <a:spcAft>
                <a:spcPts val="0"/>
              </a:spcAft>
              <a:buNone/>
              <a:defRPr sz="3000" b="0">
                <a:solidFill>
                  <a:srgbClr val="111111"/>
                </a:solidFill>
                <a:latin typeface="Aptos"/>
                <a:ea typeface="Aptos"/>
                <a:cs typeface="Aptos"/>
              </a:defRPr>
            </a:pPr>
            <a:r>
              <a:rPr sz="3000" b="0">
                <a:solidFill>
                  <a:srgbClr val="111111"/>
                </a:solidFill>
                <a:latin typeface="Aptos"/>
                <a:ea typeface="Aptos"/>
                <a:cs typeface="Aptos"/>
              </a:rPr>
              <a:t>√</a:t>
            </a:r>
          </a:p>
        </p:txBody>
      </p:sp>
      <p:sp>
        <p:nvSpPr>
          <p:cNvPr id="6" name="Native mathematics 9">
            <a:extLst>
              <a:ext uri="{FF2B5EF4-FFF2-40B4-BE49-F238E27FC236}">
                <a16:creationId xmlns:a16="http://schemas.microsoft.com/office/drawing/2014/main" id="{2997663D-0576-40C1-9259-9A633BF90C04}"/>
              </a:ext>
            </a:extLst>
          </p:cNvPr>
          <p:cNvSpPr>
            <a:spLocks noGrp="1"/>
          </p:cNvSpPr>
          <p:nvPr/>
        </p:nvSpPr>
        <p:spPr>
          <a:xfrm>
            <a:off x="2658252" y="4400550"/>
            <a:ext cx="317266" cy="3905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9</a:t>
            </a:r>
          </a:p>
        </p:txBody>
      </p:sp>
      <p:sp>
        <p:nvSpPr>
          <p:cNvPr id="8" name="Native mathematics = 3, so">
            <a:extLst>
              <a:ext uri="{FF2B5EF4-FFF2-40B4-BE49-F238E27FC236}">
                <a16:creationId xmlns:a16="http://schemas.microsoft.com/office/drawing/2014/main" id="{00304FCE-AFA9-4667-AF3B-A147DED73586}"/>
              </a:ext>
            </a:extLst>
          </p:cNvPr>
          <p:cNvSpPr>
            <a:spLocks noGrp="1"/>
          </p:cNvSpPr>
          <p:nvPr/>
        </p:nvSpPr>
        <p:spPr>
          <a:xfrm>
            <a:off x="3070768" y="4400550"/>
            <a:ext cx="1144814"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3, so</a:t>
            </a:r>
          </a:p>
        </p:txBody>
      </p:sp>
      <p:sp>
        <p:nvSpPr>
          <p:cNvPr id="9" name="Native mathematics √">
            <a:extLst>
              <a:ext uri="{FF2B5EF4-FFF2-40B4-BE49-F238E27FC236}">
                <a16:creationId xmlns:a16="http://schemas.microsoft.com/office/drawing/2014/main" id="{DEC0F58F-06CA-4B74-947B-8F50F2D9F5A4}"/>
              </a:ext>
            </a:extLst>
          </p:cNvPr>
          <p:cNvSpPr>
            <a:spLocks noGrp="1"/>
          </p:cNvSpPr>
          <p:nvPr/>
        </p:nvSpPr>
        <p:spPr>
          <a:xfrm>
            <a:off x="4215582" y="4352925"/>
            <a:ext cx="265748" cy="438150"/>
          </a:xfrm>
          <a:prstGeom prst="rect">
            <a:avLst/>
          </a:prstGeom>
          <a:noFill/>
          <a:ln w="0">
            <a:noFill/>
          </a:ln>
        </p:spPr>
        <p:txBody>
          <a:bodyPr wrap="none" lIns="0" tIns="0" rIns="0" bIns="0" anchor="t">
            <a:noAutofit/>
          </a:bodyPr>
          <a:lstStyle/>
          <a:p>
            <a:pPr marL="0" indent="0" algn="l">
              <a:lnSpc>
                <a:spcPct val="100000"/>
              </a:lnSpc>
              <a:spcAft>
                <a:spcPts val="0"/>
              </a:spcAft>
              <a:buNone/>
              <a:defRPr sz="3000" b="0">
                <a:solidFill>
                  <a:srgbClr val="111111"/>
                </a:solidFill>
                <a:latin typeface="Aptos"/>
                <a:ea typeface="Aptos"/>
                <a:cs typeface="Aptos"/>
              </a:defRPr>
            </a:pPr>
            <a:r>
              <a:rPr sz="3000" b="0">
                <a:solidFill>
                  <a:srgbClr val="111111"/>
                </a:solidFill>
                <a:latin typeface="Aptos"/>
                <a:ea typeface="Aptos"/>
                <a:cs typeface="Aptos"/>
              </a:rPr>
              <a:t>√</a:t>
            </a:r>
          </a:p>
        </p:txBody>
      </p:sp>
      <p:sp>
        <p:nvSpPr>
          <p:cNvPr id="10" name="Native mathematics 9">
            <a:extLst>
              <a:ext uri="{FF2B5EF4-FFF2-40B4-BE49-F238E27FC236}">
                <a16:creationId xmlns:a16="http://schemas.microsoft.com/office/drawing/2014/main" id="{753E527A-9CC2-4980-ADC0-D78DB23F970A}"/>
              </a:ext>
            </a:extLst>
          </p:cNvPr>
          <p:cNvSpPr>
            <a:spLocks noGrp="1"/>
          </p:cNvSpPr>
          <p:nvPr/>
        </p:nvSpPr>
        <p:spPr>
          <a:xfrm>
            <a:off x="4428180" y="4400550"/>
            <a:ext cx="317266" cy="3905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9</a:t>
            </a:r>
          </a:p>
        </p:txBody>
      </p:sp>
      <p:sp>
        <p:nvSpPr>
          <p:cNvPr id="12" name="Native mathematics is a natural numbe">
            <a:extLst>
              <a:ext uri="{FF2B5EF4-FFF2-40B4-BE49-F238E27FC236}">
                <a16:creationId xmlns:a16="http://schemas.microsoft.com/office/drawing/2014/main" id="{2669DF61-D42A-4769-ACFD-AFB9CFB454C7}"/>
              </a:ext>
            </a:extLst>
          </p:cNvPr>
          <p:cNvSpPr>
            <a:spLocks noGrp="1"/>
          </p:cNvSpPr>
          <p:nvPr/>
        </p:nvSpPr>
        <p:spPr>
          <a:xfrm>
            <a:off x="4840696" y="4400550"/>
            <a:ext cx="3047345"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is a natural number.</a:t>
            </a:r>
          </a:p>
        </p:txBody>
      </p:sp>
      <p:sp>
        <p:nvSpPr>
          <p:cNvPr id="13" name="Native mathematics A fraction is not ">
            <a:extLst>
              <a:ext uri="{FF2B5EF4-FFF2-40B4-BE49-F238E27FC236}">
                <a16:creationId xmlns:a16="http://schemas.microsoft.com/office/drawing/2014/main" id="{6953C09E-C15C-4130-9155-4F243B5E9C33}"/>
              </a:ext>
            </a:extLst>
          </p:cNvPr>
          <p:cNvSpPr>
            <a:spLocks noGrp="1"/>
          </p:cNvSpPr>
          <p:nvPr/>
        </p:nvSpPr>
        <p:spPr>
          <a:xfrm>
            <a:off x="428625" y="5362575"/>
            <a:ext cx="5877779"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A fraction is not automatically irrational:</a:t>
            </a:r>
          </a:p>
        </p:txBody>
      </p:sp>
      <p:sp>
        <p:nvSpPr>
          <p:cNvPr id="14" name="Native mathematics 22">
            <a:extLst>
              <a:ext uri="{FF2B5EF4-FFF2-40B4-BE49-F238E27FC236}">
                <a16:creationId xmlns:a16="http://schemas.microsoft.com/office/drawing/2014/main" id="{99A59844-EEC8-483B-BF83-F8B1AAEF87CA}"/>
              </a:ext>
            </a:extLst>
          </p:cNvPr>
          <p:cNvSpPr>
            <a:spLocks noGrp="1"/>
          </p:cNvSpPr>
          <p:nvPr/>
        </p:nvSpPr>
        <p:spPr>
          <a:xfrm>
            <a:off x="6306404" y="5172075"/>
            <a:ext cx="590550" cy="34290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22</a:t>
            </a:r>
          </a:p>
        </p:txBody>
      </p:sp>
      <p:sp>
        <p:nvSpPr>
          <p:cNvPr id="15" name="Fraction or radical rule">
            <a:extLst>
              <a:ext uri="{FF2B5EF4-FFF2-40B4-BE49-F238E27FC236}">
                <a16:creationId xmlns:a16="http://schemas.microsoft.com/office/drawing/2014/main" id="{79262F1D-6C68-442D-9359-8800F0901C1B}"/>
              </a:ext>
            </a:extLst>
          </p:cNvPr>
          <p:cNvSpPr>
            <a:spLocks noGrp="1"/>
          </p:cNvSpPr>
          <p:nvPr/>
        </p:nvSpPr>
        <p:spPr>
          <a:xfrm>
            <a:off x="6306404" y="5495925"/>
            <a:ext cx="590550" cy="0"/>
          </a:xfrm>
          <a:prstGeom prst="line">
            <a:avLst/>
          </a:prstGeom>
          <a:ln w="14288">
            <a:solidFill>
              <a:srgbClr val="111111"/>
            </a:solidFill>
          </a:ln>
        </p:spPr>
        <p:txBody>
          <a:bodyPr/>
          <a:lstStyle/>
          <a:p>
            <a:endParaRPr lang="en-US"/>
          </a:p>
        </p:txBody>
      </p:sp>
      <p:sp>
        <p:nvSpPr>
          <p:cNvPr id="16" name="Native mathematics 7">
            <a:extLst>
              <a:ext uri="{FF2B5EF4-FFF2-40B4-BE49-F238E27FC236}">
                <a16:creationId xmlns:a16="http://schemas.microsoft.com/office/drawing/2014/main" id="{407E10CB-9E28-4F20-A313-9F069D23023B}"/>
              </a:ext>
            </a:extLst>
          </p:cNvPr>
          <p:cNvSpPr>
            <a:spLocks noGrp="1"/>
          </p:cNvSpPr>
          <p:nvPr/>
        </p:nvSpPr>
        <p:spPr>
          <a:xfrm>
            <a:off x="6306404" y="5534025"/>
            <a:ext cx="590550" cy="36195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7</a:t>
            </a:r>
          </a:p>
        </p:txBody>
      </p:sp>
      <p:sp>
        <p:nvSpPr>
          <p:cNvPr id="17" name="Native mathematics is rational.">
            <a:extLst>
              <a:ext uri="{FF2B5EF4-FFF2-40B4-BE49-F238E27FC236}">
                <a16:creationId xmlns:a16="http://schemas.microsoft.com/office/drawing/2014/main" id="{82E03474-0DE0-4D9F-91EF-07349C2BF2F7}"/>
              </a:ext>
            </a:extLst>
          </p:cNvPr>
          <p:cNvSpPr>
            <a:spLocks noGrp="1"/>
          </p:cNvSpPr>
          <p:nvPr/>
        </p:nvSpPr>
        <p:spPr>
          <a:xfrm>
            <a:off x="7030304" y="5362575"/>
            <a:ext cx="165015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is rational.</a:t>
            </a:r>
          </a:p>
        </p:txBody>
      </p:sp>
    </p:spTree>
    <p:extLst>
      <p:ext uri="{BB962C8B-B14F-4D97-AF65-F5344CB8AC3E}">
        <p14:creationId xmlns:p14="http://schemas.microsoft.com/office/powerpoint/2010/main" val="3281361232"/>
      </p:ext>
    </p:extLst>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A9: Simplify, then classify</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619125"/>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Choose the smallest applicable category. Simplify first.</a:t>
            </a:r>
          </a:p>
        </p:txBody>
      </p:sp>
      <p:sp>
        <p:nvSpPr>
          <p:cNvPr id="4" name="Native mathematics Q1  0">
            <a:extLst>
              <a:ext uri="{FF2B5EF4-FFF2-40B4-BE49-F238E27FC236}">
                <a16:creationId xmlns:a16="http://schemas.microsoft.com/office/drawing/2014/main" id="{BCB73F63-AEC6-4B47-828E-3B5BC04F328F}"/>
              </a:ext>
            </a:extLst>
          </p:cNvPr>
          <p:cNvSpPr>
            <a:spLocks noGrp="1"/>
          </p:cNvSpPr>
          <p:nvPr/>
        </p:nvSpPr>
        <p:spPr>
          <a:xfrm>
            <a:off x="857250" y="2971800"/>
            <a:ext cx="4857750" cy="571500"/>
          </a:xfrm>
          <a:prstGeom prst="rect">
            <a:avLst/>
          </a:prstGeom>
          <a:noFill/>
          <a:ln w="0">
            <a:noFill/>
          </a:ln>
        </p:spPr>
        <p:txBody>
          <a:bodyPr wrap="none" lIns="0" tIns="0" rIns="0" bIns="0" anchor="t">
            <a:noAutofit/>
          </a:bodyPr>
          <a:lstStyle/>
          <a:p>
            <a:pPr marL="0" indent="0" algn="l">
              <a:lnSpc>
                <a:spcPct val="100000"/>
              </a:lnSpc>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Q1  0</a:t>
            </a:r>
          </a:p>
        </p:txBody>
      </p:sp>
      <p:sp>
        <p:nvSpPr>
          <p:cNvPr id="5" name="Native mathematics Q2  −">
            <a:extLst>
              <a:ext uri="{FF2B5EF4-FFF2-40B4-BE49-F238E27FC236}">
                <a16:creationId xmlns:a16="http://schemas.microsoft.com/office/drawing/2014/main" id="{079B28F5-5A39-402A-B5CD-CBE132F9C0C8}"/>
              </a:ext>
            </a:extLst>
          </p:cNvPr>
          <p:cNvSpPr>
            <a:spLocks noGrp="1"/>
          </p:cNvSpPr>
          <p:nvPr/>
        </p:nvSpPr>
        <p:spPr>
          <a:xfrm>
            <a:off x="857250" y="4124325"/>
            <a:ext cx="96089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dirty="0">
                <a:solidFill>
                  <a:srgbClr val="111111"/>
                </a:solidFill>
                <a:latin typeface="Aptos"/>
                <a:ea typeface="Aptos"/>
                <a:cs typeface="Aptos"/>
              </a:rPr>
              <a:t>Q2  </a:t>
            </a:r>
            <a:r>
              <a:rPr lang="en-US" sz="2325" b="1" dirty="0">
                <a:solidFill>
                  <a:srgbClr val="111111"/>
                </a:solidFill>
                <a:latin typeface="Aptos"/>
                <a:ea typeface="Aptos"/>
                <a:cs typeface="Aptos"/>
              </a:rPr>
              <a:t>     </a:t>
            </a:r>
            <a:r>
              <a:rPr sz="2325" b="1" dirty="0">
                <a:solidFill>
                  <a:srgbClr val="111111"/>
                </a:solidFill>
                <a:latin typeface="Aptos"/>
                <a:ea typeface="Aptos"/>
                <a:cs typeface="Aptos"/>
              </a:rPr>
              <a:t>−</a:t>
            </a:r>
          </a:p>
        </p:txBody>
      </p:sp>
      <p:sp>
        <p:nvSpPr>
          <p:cNvPr id="6" name="Native mathematics √">
            <a:extLst>
              <a:ext uri="{FF2B5EF4-FFF2-40B4-BE49-F238E27FC236}">
                <a16:creationId xmlns:a16="http://schemas.microsoft.com/office/drawing/2014/main" id="{77E4F733-642F-4293-B7BC-2C0D0AC10CDE}"/>
              </a:ext>
            </a:extLst>
          </p:cNvPr>
          <p:cNvSpPr>
            <a:spLocks noGrp="1"/>
          </p:cNvSpPr>
          <p:nvPr/>
        </p:nvSpPr>
        <p:spPr>
          <a:xfrm>
            <a:off x="1818147" y="4076700"/>
            <a:ext cx="265748" cy="438150"/>
          </a:xfrm>
          <a:prstGeom prst="rect">
            <a:avLst/>
          </a:prstGeom>
          <a:noFill/>
          <a:ln w="0">
            <a:noFill/>
          </a:ln>
        </p:spPr>
        <p:txBody>
          <a:bodyPr wrap="none" lIns="0" tIns="0" rIns="0" bIns="0" anchor="t">
            <a:noAutofit/>
          </a:bodyPr>
          <a:lstStyle/>
          <a:p>
            <a:pPr marL="0" indent="0" algn="l">
              <a:lnSpc>
                <a:spcPct val="100000"/>
              </a:lnSpc>
              <a:spcAft>
                <a:spcPts val="0"/>
              </a:spcAft>
              <a:buNone/>
              <a:defRPr sz="3000" b="0">
                <a:solidFill>
                  <a:srgbClr val="111111"/>
                </a:solidFill>
                <a:latin typeface="Aptos"/>
                <a:ea typeface="Aptos"/>
                <a:cs typeface="Aptos"/>
              </a:defRPr>
            </a:pPr>
            <a:r>
              <a:rPr sz="3000" b="1">
                <a:solidFill>
                  <a:srgbClr val="111111"/>
                </a:solidFill>
                <a:latin typeface="Aptos"/>
                <a:ea typeface="Aptos"/>
                <a:cs typeface="Aptos"/>
              </a:rPr>
              <a:t>√</a:t>
            </a:r>
          </a:p>
        </p:txBody>
      </p:sp>
      <p:sp>
        <p:nvSpPr>
          <p:cNvPr id="7" name="Native mathematics 64">
            <a:extLst>
              <a:ext uri="{FF2B5EF4-FFF2-40B4-BE49-F238E27FC236}">
                <a16:creationId xmlns:a16="http://schemas.microsoft.com/office/drawing/2014/main" id="{A0E7A7A4-A51A-4441-9530-1F16BCB860DA}"/>
              </a:ext>
            </a:extLst>
          </p:cNvPr>
          <p:cNvSpPr>
            <a:spLocks noGrp="1"/>
          </p:cNvSpPr>
          <p:nvPr/>
        </p:nvSpPr>
        <p:spPr>
          <a:xfrm>
            <a:off x="2030745" y="4124325"/>
            <a:ext cx="501183" cy="3905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dirty="0">
                <a:solidFill>
                  <a:srgbClr val="111111"/>
                </a:solidFill>
                <a:latin typeface="Aptos"/>
                <a:ea typeface="Aptos"/>
                <a:cs typeface="Aptos"/>
              </a:rPr>
              <a:t>64</a:t>
            </a:r>
          </a:p>
        </p:txBody>
      </p:sp>
      <p:sp>
        <p:nvSpPr>
          <p:cNvPr id="9" name="Native mathematics Q3">
            <a:extLst>
              <a:ext uri="{FF2B5EF4-FFF2-40B4-BE49-F238E27FC236}">
                <a16:creationId xmlns:a16="http://schemas.microsoft.com/office/drawing/2014/main" id="{CF96A85D-3778-413B-91A4-A3357BAB6FDB}"/>
              </a:ext>
            </a:extLst>
          </p:cNvPr>
          <p:cNvSpPr>
            <a:spLocks noGrp="1"/>
          </p:cNvSpPr>
          <p:nvPr/>
        </p:nvSpPr>
        <p:spPr>
          <a:xfrm>
            <a:off x="857250" y="5133975"/>
            <a:ext cx="58399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Q3</a:t>
            </a:r>
          </a:p>
        </p:txBody>
      </p:sp>
      <p:sp>
        <p:nvSpPr>
          <p:cNvPr id="10" name="Native mathematics √">
            <a:extLst>
              <a:ext uri="{FF2B5EF4-FFF2-40B4-BE49-F238E27FC236}">
                <a16:creationId xmlns:a16="http://schemas.microsoft.com/office/drawing/2014/main" id="{8DF4EA4F-5639-479F-BA1F-626CA7E47D2E}"/>
              </a:ext>
            </a:extLst>
          </p:cNvPr>
          <p:cNvSpPr>
            <a:spLocks noGrp="1"/>
          </p:cNvSpPr>
          <p:nvPr/>
        </p:nvSpPr>
        <p:spPr>
          <a:xfrm>
            <a:off x="1441247" y="4895850"/>
            <a:ext cx="400050" cy="876300"/>
          </a:xfrm>
          <a:prstGeom prst="rect">
            <a:avLst/>
          </a:prstGeom>
          <a:noFill/>
          <a:ln w="0">
            <a:noFill/>
          </a:ln>
        </p:spPr>
        <p:txBody>
          <a:bodyPr wrap="none" lIns="0" tIns="0" rIns="0" bIns="0" anchor="t">
            <a:noAutofit/>
          </a:bodyPr>
          <a:lstStyle/>
          <a:p>
            <a:pPr marL="0" indent="0" algn="l">
              <a:lnSpc>
                <a:spcPct val="100000"/>
              </a:lnSpc>
              <a:spcAft>
                <a:spcPts val="0"/>
              </a:spcAft>
              <a:buNone/>
              <a:defRPr sz="5231" b="0">
                <a:solidFill>
                  <a:srgbClr val="111111"/>
                </a:solidFill>
                <a:latin typeface="Aptos"/>
                <a:ea typeface="Aptos"/>
                <a:cs typeface="Aptos"/>
              </a:defRPr>
            </a:pPr>
            <a:r>
              <a:rPr sz="5231" b="1">
                <a:solidFill>
                  <a:srgbClr val="111111"/>
                </a:solidFill>
                <a:latin typeface="Aptos"/>
                <a:ea typeface="Aptos"/>
                <a:cs typeface="Aptos"/>
              </a:rPr>
              <a:t>√</a:t>
            </a:r>
          </a:p>
        </p:txBody>
      </p:sp>
      <p:sp>
        <p:nvSpPr>
          <p:cNvPr id="11" name="Native mathematics 49">
            <a:extLst>
              <a:ext uri="{FF2B5EF4-FFF2-40B4-BE49-F238E27FC236}">
                <a16:creationId xmlns:a16="http://schemas.microsoft.com/office/drawing/2014/main" id="{02097A9F-BB63-445B-A4D9-6791DF720590}"/>
              </a:ext>
            </a:extLst>
          </p:cNvPr>
          <p:cNvSpPr>
            <a:spLocks noGrp="1"/>
          </p:cNvSpPr>
          <p:nvPr/>
        </p:nvSpPr>
        <p:spPr>
          <a:xfrm>
            <a:off x="1765097" y="4962525"/>
            <a:ext cx="653583" cy="34290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49</a:t>
            </a:r>
          </a:p>
        </p:txBody>
      </p:sp>
      <p:sp>
        <p:nvSpPr>
          <p:cNvPr id="12" name="Fraction or radical rule">
            <a:extLst>
              <a:ext uri="{FF2B5EF4-FFF2-40B4-BE49-F238E27FC236}">
                <a16:creationId xmlns:a16="http://schemas.microsoft.com/office/drawing/2014/main" id="{010678CA-080B-47F3-BB5E-1FE990C35F4E}"/>
              </a:ext>
            </a:extLst>
          </p:cNvPr>
          <p:cNvSpPr>
            <a:spLocks noGrp="1"/>
          </p:cNvSpPr>
          <p:nvPr/>
        </p:nvSpPr>
        <p:spPr>
          <a:xfrm>
            <a:off x="1765097" y="5286375"/>
            <a:ext cx="653583" cy="0"/>
          </a:xfrm>
          <a:prstGeom prst="line">
            <a:avLst/>
          </a:prstGeom>
          <a:ln w="14288">
            <a:solidFill>
              <a:srgbClr val="111111"/>
            </a:solidFill>
          </a:ln>
        </p:spPr>
        <p:txBody>
          <a:bodyPr/>
          <a:lstStyle/>
          <a:p>
            <a:endParaRPr lang="en-US"/>
          </a:p>
        </p:txBody>
      </p:sp>
      <p:sp>
        <p:nvSpPr>
          <p:cNvPr id="13" name="Native mathematics 4">
            <a:extLst>
              <a:ext uri="{FF2B5EF4-FFF2-40B4-BE49-F238E27FC236}">
                <a16:creationId xmlns:a16="http://schemas.microsoft.com/office/drawing/2014/main" id="{91B2040E-C9AE-480A-8043-9B0295EF89E3}"/>
              </a:ext>
            </a:extLst>
          </p:cNvPr>
          <p:cNvSpPr>
            <a:spLocks noGrp="1"/>
          </p:cNvSpPr>
          <p:nvPr/>
        </p:nvSpPr>
        <p:spPr>
          <a:xfrm>
            <a:off x="1765097" y="5324475"/>
            <a:ext cx="653583" cy="36195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4</a:t>
            </a:r>
          </a:p>
        </p:txBody>
      </p:sp>
      <p:sp>
        <p:nvSpPr>
          <p:cNvPr id="15" name="Native mathematics Q4  0.272727…">
            <a:extLst>
              <a:ext uri="{FF2B5EF4-FFF2-40B4-BE49-F238E27FC236}">
                <a16:creationId xmlns:a16="http://schemas.microsoft.com/office/drawing/2014/main" id="{D9A206BA-2005-476D-A6DA-44349DEA8816}"/>
              </a:ext>
            </a:extLst>
          </p:cNvPr>
          <p:cNvSpPr>
            <a:spLocks noGrp="1"/>
          </p:cNvSpPr>
          <p:nvPr/>
        </p:nvSpPr>
        <p:spPr>
          <a:xfrm>
            <a:off x="6572250" y="2971800"/>
            <a:ext cx="457200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Q4  0.272727…</a:t>
            </a:r>
          </a:p>
        </p:txBody>
      </p:sp>
      <p:sp>
        <p:nvSpPr>
          <p:cNvPr id="16" name="Native mathematics 27 repeats">
            <a:extLst>
              <a:ext uri="{FF2B5EF4-FFF2-40B4-BE49-F238E27FC236}">
                <a16:creationId xmlns:a16="http://schemas.microsoft.com/office/drawing/2014/main" id="{77A31941-A7F6-4F74-BC10-1337608B4B03}"/>
              </a:ext>
            </a:extLst>
          </p:cNvPr>
          <p:cNvSpPr>
            <a:spLocks noGrp="1"/>
          </p:cNvSpPr>
          <p:nvPr/>
        </p:nvSpPr>
        <p:spPr>
          <a:xfrm>
            <a:off x="7162800" y="3419475"/>
            <a:ext cx="381000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27 repeats</a:t>
            </a:r>
          </a:p>
        </p:txBody>
      </p:sp>
      <p:sp>
        <p:nvSpPr>
          <p:cNvPr id="17" name="Native mathematics Q5">
            <a:extLst>
              <a:ext uri="{FF2B5EF4-FFF2-40B4-BE49-F238E27FC236}">
                <a16:creationId xmlns:a16="http://schemas.microsoft.com/office/drawing/2014/main" id="{189A317B-EF60-4E62-BDB9-DE76A7FE714D}"/>
              </a:ext>
            </a:extLst>
          </p:cNvPr>
          <p:cNvSpPr>
            <a:spLocks noGrp="1"/>
          </p:cNvSpPr>
          <p:nvPr/>
        </p:nvSpPr>
        <p:spPr>
          <a:xfrm>
            <a:off x="6572250" y="4124325"/>
            <a:ext cx="58399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Q5</a:t>
            </a:r>
          </a:p>
        </p:txBody>
      </p:sp>
      <p:sp>
        <p:nvSpPr>
          <p:cNvPr id="18" name="Native mathematics √">
            <a:extLst>
              <a:ext uri="{FF2B5EF4-FFF2-40B4-BE49-F238E27FC236}">
                <a16:creationId xmlns:a16="http://schemas.microsoft.com/office/drawing/2014/main" id="{AB07973C-89CD-4429-B7CB-61A680CFCCD0}"/>
              </a:ext>
            </a:extLst>
          </p:cNvPr>
          <p:cNvSpPr>
            <a:spLocks noGrp="1"/>
          </p:cNvSpPr>
          <p:nvPr/>
        </p:nvSpPr>
        <p:spPr>
          <a:xfrm>
            <a:off x="7156247" y="4076700"/>
            <a:ext cx="265748" cy="438150"/>
          </a:xfrm>
          <a:prstGeom prst="rect">
            <a:avLst/>
          </a:prstGeom>
          <a:noFill/>
          <a:ln w="0">
            <a:noFill/>
          </a:ln>
        </p:spPr>
        <p:txBody>
          <a:bodyPr wrap="none" lIns="0" tIns="0" rIns="0" bIns="0" anchor="t">
            <a:noAutofit/>
          </a:bodyPr>
          <a:lstStyle/>
          <a:p>
            <a:pPr marL="0" indent="0" algn="l">
              <a:lnSpc>
                <a:spcPct val="100000"/>
              </a:lnSpc>
              <a:spcAft>
                <a:spcPts val="0"/>
              </a:spcAft>
              <a:buNone/>
              <a:defRPr sz="3000" b="0">
                <a:solidFill>
                  <a:srgbClr val="111111"/>
                </a:solidFill>
                <a:latin typeface="Aptos"/>
                <a:ea typeface="Aptos"/>
                <a:cs typeface="Aptos"/>
              </a:defRPr>
            </a:pPr>
            <a:r>
              <a:rPr sz="3000" b="1">
                <a:solidFill>
                  <a:srgbClr val="111111"/>
                </a:solidFill>
                <a:latin typeface="Aptos"/>
                <a:ea typeface="Aptos"/>
                <a:cs typeface="Aptos"/>
              </a:rPr>
              <a:t>√</a:t>
            </a:r>
          </a:p>
        </p:txBody>
      </p:sp>
      <p:sp>
        <p:nvSpPr>
          <p:cNvPr id="19" name="Native mathematics 18">
            <a:extLst>
              <a:ext uri="{FF2B5EF4-FFF2-40B4-BE49-F238E27FC236}">
                <a16:creationId xmlns:a16="http://schemas.microsoft.com/office/drawing/2014/main" id="{3A71D58A-DA46-4E70-AADA-62D3430C31F6}"/>
              </a:ext>
            </a:extLst>
          </p:cNvPr>
          <p:cNvSpPr>
            <a:spLocks noGrp="1"/>
          </p:cNvSpPr>
          <p:nvPr/>
        </p:nvSpPr>
        <p:spPr>
          <a:xfrm>
            <a:off x="7368845" y="4124325"/>
            <a:ext cx="501183" cy="3905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18</a:t>
            </a:r>
          </a:p>
        </p:txBody>
      </p:sp>
      <p:sp>
        <p:nvSpPr>
          <p:cNvPr id="21" name="Native mathematics Q6  π">
            <a:extLst>
              <a:ext uri="{FF2B5EF4-FFF2-40B4-BE49-F238E27FC236}">
                <a16:creationId xmlns:a16="http://schemas.microsoft.com/office/drawing/2014/main" id="{10DC063A-675A-40F5-852C-9FABDE13D698}"/>
              </a:ext>
            </a:extLst>
          </p:cNvPr>
          <p:cNvSpPr>
            <a:spLocks noGrp="1"/>
          </p:cNvSpPr>
          <p:nvPr/>
        </p:nvSpPr>
        <p:spPr>
          <a:xfrm>
            <a:off x="6572250" y="5276850"/>
            <a:ext cx="4572000" cy="571500"/>
          </a:xfrm>
          <a:prstGeom prst="rect">
            <a:avLst/>
          </a:prstGeom>
          <a:noFill/>
          <a:ln w="0">
            <a:noFill/>
          </a:ln>
        </p:spPr>
        <p:txBody>
          <a:bodyPr wrap="none" lIns="0" tIns="0" rIns="0" bIns="0" anchor="t">
            <a:noAutofit/>
          </a:bodyPr>
          <a:lstStyle/>
          <a:p>
            <a:pPr marL="0" indent="0" algn="l">
              <a:lnSpc>
                <a:spcPct val="100000"/>
              </a:lnSpc>
              <a:spcAft>
                <a:spcPts val="0"/>
              </a:spcAft>
              <a:buNone/>
              <a:defRPr sz="2325" b="1">
                <a:solidFill>
                  <a:srgbClr val="111111"/>
                </a:solidFill>
                <a:latin typeface="Aptos"/>
                <a:ea typeface="Aptos"/>
                <a:cs typeface="Aptos"/>
              </a:defRPr>
            </a:pPr>
            <a:r>
              <a:rPr sz="2325" b="1">
                <a:solidFill>
                  <a:srgbClr val="111111"/>
                </a:solidFill>
                <a:latin typeface="Aptos"/>
                <a:ea typeface="Aptos"/>
                <a:cs typeface="Aptos"/>
              </a:rPr>
              <a:t>Q6  π</a:t>
            </a:r>
          </a:p>
        </p:txBody>
      </p:sp>
      <p:sp>
        <p:nvSpPr>
          <p:cNvPr id="22" name="Handout reference A9">
            <a:extLst>
              <a:ext uri="{FF2B5EF4-FFF2-40B4-BE49-F238E27FC236}">
                <a16:creationId xmlns:a16="http://schemas.microsoft.com/office/drawing/2014/main" id="{DB4971E0-9BC2-45C7-B7C2-3DA1E15CA006}"/>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9</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A9: Worked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5905500"/>
            <a:ext cx="11293412" cy="381000"/>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0" dirty="0">
                <a:solidFill>
                  <a:srgbClr val="111111"/>
                </a:solidFill>
                <a:latin typeface="Aptos"/>
                <a:ea typeface="Aptos"/>
                <a:cs typeface="Aptos"/>
              </a:rPr>
              <a:t>All six values are real numbers.</a:t>
            </a:r>
          </a:p>
        </p:txBody>
      </p:sp>
      <p:sp>
        <p:nvSpPr>
          <p:cNvPr id="4" name="Native mathematics Q1  0 → whole">
            <a:extLst>
              <a:ext uri="{FF2B5EF4-FFF2-40B4-BE49-F238E27FC236}">
                <a16:creationId xmlns:a16="http://schemas.microsoft.com/office/drawing/2014/main" id="{B78F5655-11AA-4DD8-AA05-AD18D56547D0}"/>
              </a:ext>
            </a:extLst>
          </p:cNvPr>
          <p:cNvSpPr>
            <a:spLocks noGrp="1"/>
          </p:cNvSpPr>
          <p:nvPr/>
        </p:nvSpPr>
        <p:spPr>
          <a:xfrm>
            <a:off x="857250" y="2190750"/>
            <a:ext cx="4953000" cy="571500"/>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Q1</a:t>
            </a:r>
            <a:r>
              <a:rPr sz="2325" b="0">
                <a:solidFill>
                  <a:srgbClr val="111111"/>
                </a:solidFill>
                <a:latin typeface="Aptos"/>
                <a:ea typeface="Aptos"/>
                <a:cs typeface="Aptos"/>
              </a:rPr>
              <a:t>  0 → whole</a:t>
            </a:r>
          </a:p>
        </p:txBody>
      </p:sp>
      <p:sp>
        <p:nvSpPr>
          <p:cNvPr id="5" name="Native mathematics Q2  −">
            <a:extLst>
              <a:ext uri="{FF2B5EF4-FFF2-40B4-BE49-F238E27FC236}">
                <a16:creationId xmlns:a16="http://schemas.microsoft.com/office/drawing/2014/main" id="{5C5FE7C7-D846-4DFB-93EE-3BC8DCF96AF7}"/>
              </a:ext>
            </a:extLst>
          </p:cNvPr>
          <p:cNvSpPr>
            <a:spLocks noGrp="1"/>
          </p:cNvSpPr>
          <p:nvPr/>
        </p:nvSpPr>
        <p:spPr>
          <a:xfrm>
            <a:off x="857250" y="3429000"/>
            <a:ext cx="96089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dirty="0">
                <a:solidFill>
                  <a:srgbClr val="111111"/>
                </a:solidFill>
                <a:latin typeface="Aptos"/>
                <a:ea typeface="Aptos"/>
                <a:cs typeface="Aptos"/>
              </a:rPr>
              <a:t>Q2</a:t>
            </a:r>
            <a:r>
              <a:rPr sz="2325" b="0" dirty="0">
                <a:solidFill>
                  <a:srgbClr val="111111"/>
                </a:solidFill>
                <a:latin typeface="Aptos"/>
                <a:ea typeface="Aptos"/>
                <a:cs typeface="Aptos"/>
              </a:rPr>
              <a:t>  </a:t>
            </a:r>
            <a:r>
              <a:rPr lang="en-US" sz="2325" b="0" dirty="0">
                <a:solidFill>
                  <a:srgbClr val="111111"/>
                </a:solidFill>
                <a:latin typeface="Aptos"/>
                <a:ea typeface="Aptos"/>
                <a:cs typeface="Aptos"/>
              </a:rPr>
              <a:t>     </a:t>
            </a:r>
            <a:r>
              <a:rPr sz="2325" b="0" dirty="0">
                <a:solidFill>
                  <a:srgbClr val="111111"/>
                </a:solidFill>
                <a:latin typeface="Aptos"/>
                <a:ea typeface="Aptos"/>
                <a:cs typeface="Aptos"/>
              </a:rPr>
              <a:t>−</a:t>
            </a:r>
          </a:p>
        </p:txBody>
      </p:sp>
      <p:sp>
        <p:nvSpPr>
          <p:cNvPr id="6" name="Native mathematics √">
            <a:extLst>
              <a:ext uri="{FF2B5EF4-FFF2-40B4-BE49-F238E27FC236}">
                <a16:creationId xmlns:a16="http://schemas.microsoft.com/office/drawing/2014/main" id="{20FEB90C-996A-48E5-8AF4-3BDD3F65FB7C}"/>
              </a:ext>
            </a:extLst>
          </p:cNvPr>
          <p:cNvSpPr>
            <a:spLocks noGrp="1"/>
          </p:cNvSpPr>
          <p:nvPr/>
        </p:nvSpPr>
        <p:spPr>
          <a:xfrm>
            <a:off x="1818147" y="3381375"/>
            <a:ext cx="265748" cy="438150"/>
          </a:xfrm>
          <a:prstGeom prst="rect">
            <a:avLst/>
          </a:prstGeom>
          <a:noFill/>
          <a:ln w="0">
            <a:noFill/>
          </a:ln>
        </p:spPr>
        <p:txBody>
          <a:bodyPr wrap="none" lIns="0" tIns="0" rIns="0" bIns="0" anchor="t">
            <a:noAutofit/>
          </a:bodyPr>
          <a:lstStyle/>
          <a:p>
            <a:pPr marL="0" indent="0" algn="l">
              <a:lnSpc>
                <a:spcPct val="100000"/>
              </a:lnSpc>
              <a:spcAft>
                <a:spcPts val="0"/>
              </a:spcAft>
              <a:buNone/>
              <a:defRPr sz="3000" b="0">
                <a:solidFill>
                  <a:srgbClr val="111111"/>
                </a:solidFill>
                <a:latin typeface="Aptos"/>
                <a:ea typeface="Aptos"/>
                <a:cs typeface="Aptos"/>
              </a:defRPr>
            </a:pPr>
            <a:r>
              <a:rPr sz="3000" b="0">
                <a:solidFill>
                  <a:srgbClr val="111111"/>
                </a:solidFill>
                <a:latin typeface="Aptos"/>
                <a:ea typeface="Aptos"/>
                <a:cs typeface="Aptos"/>
              </a:rPr>
              <a:t>√</a:t>
            </a:r>
          </a:p>
        </p:txBody>
      </p:sp>
      <p:sp>
        <p:nvSpPr>
          <p:cNvPr id="7" name="Native mathematics 64">
            <a:extLst>
              <a:ext uri="{FF2B5EF4-FFF2-40B4-BE49-F238E27FC236}">
                <a16:creationId xmlns:a16="http://schemas.microsoft.com/office/drawing/2014/main" id="{F32CF358-0C6A-4C27-98EC-40C6F75241E3}"/>
              </a:ext>
            </a:extLst>
          </p:cNvPr>
          <p:cNvSpPr>
            <a:spLocks noGrp="1"/>
          </p:cNvSpPr>
          <p:nvPr/>
        </p:nvSpPr>
        <p:spPr>
          <a:xfrm>
            <a:off x="2030745" y="3429000"/>
            <a:ext cx="501183" cy="3905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64</a:t>
            </a:r>
          </a:p>
        </p:txBody>
      </p:sp>
      <p:sp>
        <p:nvSpPr>
          <p:cNvPr id="9" name="Native mathematics = −8 → integer">
            <a:extLst>
              <a:ext uri="{FF2B5EF4-FFF2-40B4-BE49-F238E27FC236}">
                <a16:creationId xmlns:a16="http://schemas.microsoft.com/office/drawing/2014/main" id="{12D858C5-4B45-47E1-9497-A042BD0C8865}"/>
              </a:ext>
            </a:extLst>
          </p:cNvPr>
          <p:cNvSpPr>
            <a:spLocks noGrp="1"/>
          </p:cNvSpPr>
          <p:nvPr/>
        </p:nvSpPr>
        <p:spPr>
          <a:xfrm>
            <a:off x="2627178" y="3429000"/>
            <a:ext cx="2330562"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−8 → integer</a:t>
            </a:r>
          </a:p>
        </p:txBody>
      </p:sp>
      <p:sp>
        <p:nvSpPr>
          <p:cNvPr id="10" name="Native mathematics Q3">
            <a:extLst>
              <a:ext uri="{FF2B5EF4-FFF2-40B4-BE49-F238E27FC236}">
                <a16:creationId xmlns:a16="http://schemas.microsoft.com/office/drawing/2014/main" id="{DBC51AE0-8D1A-47C4-8C70-6F7CF252F699}"/>
              </a:ext>
            </a:extLst>
          </p:cNvPr>
          <p:cNvSpPr>
            <a:spLocks noGrp="1"/>
          </p:cNvSpPr>
          <p:nvPr/>
        </p:nvSpPr>
        <p:spPr>
          <a:xfrm>
            <a:off x="857250" y="4743450"/>
            <a:ext cx="58399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Q3</a:t>
            </a:r>
          </a:p>
        </p:txBody>
      </p:sp>
      <p:sp>
        <p:nvSpPr>
          <p:cNvPr id="11" name="Native mathematics √">
            <a:extLst>
              <a:ext uri="{FF2B5EF4-FFF2-40B4-BE49-F238E27FC236}">
                <a16:creationId xmlns:a16="http://schemas.microsoft.com/office/drawing/2014/main" id="{8DB08045-09F1-4BFF-8223-A68D8599D6FD}"/>
              </a:ext>
            </a:extLst>
          </p:cNvPr>
          <p:cNvSpPr>
            <a:spLocks noGrp="1"/>
          </p:cNvSpPr>
          <p:nvPr/>
        </p:nvSpPr>
        <p:spPr>
          <a:xfrm>
            <a:off x="1441247" y="4505325"/>
            <a:ext cx="400050" cy="876300"/>
          </a:xfrm>
          <a:prstGeom prst="rect">
            <a:avLst/>
          </a:prstGeom>
          <a:noFill/>
          <a:ln w="0">
            <a:noFill/>
          </a:ln>
        </p:spPr>
        <p:txBody>
          <a:bodyPr wrap="none" lIns="0" tIns="0" rIns="0" bIns="0" anchor="t">
            <a:noAutofit/>
          </a:bodyPr>
          <a:lstStyle/>
          <a:p>
            <a:pPr marL="0" indent="0" algn="l">
              <a:lnSpc>
                <a:spcPct val="100000"/>
              </a:lnSpc>
              <a:spcAft>
                <a:spcPts val="0"/>
              </a:spcAft>
              <a:buNone/>
              <a:defRPr sz="5231" b="0">
                <a:solidFill>
                  <a:srgbClr val="111111"/>
                </a:solidFill>
                <a:latin typeface="Aptos"/>
                <a:ea typeface="Aptos"/>
                <a:cs typeface="Aptos"/>
              </a:defRPr>
            </a:pPr>
            <a:r>
              <a:rPr sz="5231" b="0">
                <a:solidFill>
                  <a:srgbClr val="111111"/>
                </a:solidFill>
                <a:latin typeface="Aptos"/>
                <a:ea typeface="Aptos"/>
                <a:cs typeface="Aptos"/>
              </a:rPr>
              <a:t>√</a:t>
            </a:r>
          </a:p>
        </p:txBody>
      </p:sp>
      <p:sp>
        <p:nvSpPr>
          <p:cNvPr id="12" name="Native mathematics 49">
            <a:extLst>
              <a:ext uri="{FF2B5EF4-FFF2-40B4-BE49-F238E27FC236}">
                <a16:creationId xmlns:a16="http://schemas.microsoft.com/office/drawing/2014/main" id="{C016FBB8-E168-44A4-8FEA-97DB9AA9C23C}"/>
              </a:ext>
            </a:extLst>
          </p:cNvPr>
          <p:cNvSpPr>
            <a:spLocks noGrp="1"/>
          </p:cNvSpPr>
          <p:nvPr/>
        </p:nvSpPr>
        <p:spPr>
          <a:xfrm>
            <a:off x="1765097" y="4572000"/>
            <a:ext cx="653583" cy="34290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49</a:t>
            </a:r>
          </a:p>
        </p:txBody>
      </p:sp>
      <p:sp>
        <p:nvSpPr>
          <p:cNvPr id="13" name="Fraction or radical rule">
            <a:extLst>
              <a:ext uri="{FF2B5EF4-FFF2-40B4-BE49-F238E27FC236}">
                <a16:creationId xmlns:a16="http://schemas.microsoft.com/office/drawing/2014/main" id="{CF5D6CCD-56BD-424B-87B0-010427293E4D}"/>
              </a:ext>
            </a:extLst>
          </p:cNvPr>
          <p:cNvSpPr>
            <a:spLocks noGrp="1"/>
          </p:cNvSpPr>
          <p:nvPr/>
        </p:nvSpPr>
        <p:spPr>
          <a:xfrm>
            <a:off x="1765097" y="4895850"/>
            <a:ext cx="653583" cy="0"/>
          </a:xfrm>
          <a:prstGeom prst="line">
            <a:avLst/>
          </a:prstGeom>
          <a:ln w="14288">
            <a:solidFill>
              <a:srgbClr val="111111"/>
            </a:solidFill>
          </a:ln>
        </p:spPr>
        <p:txBody>
          <a:bodyPr/>
          <a:lstStyle/>
          <a:p>
            <a:endParaRPr lang="en-US"/>
          </a:p>
        </p:txBody>
      </p:sp>
      <p:sp>
        <p:nvSpPr>
          <p:cNvPr id="14" name="Native mathematics 4">
            <a:extLst>
              <a:ext uri="{FF2B5EF4-FFF2-40B4-BE49-F238E27FC236}">
                <a16:creationId xmlns:a16="http://schemas.microsoft.com/office/drawing/2014/main" id="{D376AD62-44B5-4E5F-91A0-D3D5AC9F9CBB}"/>
              </a:ext>
            </a:extLst>
          </p:cNvPr>
          <p:cNvSpPr>
            <a:spLocks noGrp="1"/>
          </p:cNvSpPr>
          <p:nvPr/>
        </p:nvSpPr>
        <p:spPr>
          <a:xfrm>
            <a:off x="1765097" y="4933950"/>
            <a:ext cx="653583" cy="36195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4</a:t>
            </a:r>
          </a:p>
        </p:txBody>
      </p:sp>
      <p:sp>
        <p:nvSpPr>
          <p:cNvPr id="16" name="Native mathematics =">
            <a:extLst>
              <a:ext uri="{FF2B5EF4-FFF2-40B4-BE49-F238E27FC236}">
                <a16:creationId xmlns:a16="http://schemas.microsoft.com/office/drawing/2014/main" id="{3952EDC9-2242-4B86-933A-BDC364DFC4EF}"/>
              </a:ext>
            </a:extLst>
          </p:cNvPr>
          <p:cNvSpPr>
            <a:spLocks noGrp="1"/>
          </p:cNvSpPr>
          <p:nvPr/>
        </p:nvSpPr>
        <p:spPr>
          <a:xfrm>
            <a:off x="2513929" y="4743450"/>
            <a:ext cx="335966"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a:t>
            </a:r>
          </a:p>
        </p:txBody>
      </p:sp>
      <p:sp>
        <p:nvSpPr>
          <p:cNvPr id="17" name="Native mathematics 7">
            <a:extLst>
              <a:ext uri="{FF2B5EF4-FFF2-40B4-BE49-F238E27FC236}">
                <a16:creationId xmlns:a16="http://schemas.microsoft.com/office/drawing/2014/main" id="{65EA3573-53C6-4B88-8D3A-91DA3A8A47B8}"/>
              </a:ext>
            </a:extLst>
          </p:cNvPr>
          <p:cNvSpPr>
            <a:spLocks noGrp="1"/>
          </p:cNvSpPr>
          <p:nvPr/>
        </p:nvSpPr>
        <p:spPr>
          <a:xfrm>
            <a:off x="2849895" y="4552950"/>
            <a:ext cx="476250" cy="34290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7</a:t>
            </a:r>
          </a:p>
        </p:txBody>
      </p:sp>
      <p:sp>
        <p:nvSpPr>
          <p:cNvPr id="18" name="Fraction or radical rule">
            <a:extLst>
              <a:ext uri="{FF2B5EF4-FFF2-40B4-BE49-F238E27FC236}">
                <a16:creationId xmlns:a16="http://schemas.microsoft.com/office/drawing/2014/main" id="{73CFEB0F-9999-484D-ADFF-D81CFE3A5D95}"/>
              </a:ext>
            </a:extLst>
          </p:cNvPr>
          <p:cNvSpPr>
            <a:spLocks noGrp="1"/>
          </p:cNvSpPr>
          <p:nvPr/>
        </p:nvSpPr>
        <p:spPr>
          <a:xfrm>
            <a:off x="2849895" y="4876800"/>
            <a:ext cx="476250" cy="0"/>
          </a:xfrm>
          <a:prstGeom prst="line">
            <a:avLst/>
          </a:prstGeom>
          <a:ln w="14288">
            <a:solidFill>
              <a:srgbClr val="111111"/>
            </a:solidFill>
          </a:ln>
        </p:spPr>
        <p:txBody>
          <a:bodyPr/>
          <a:lstStyle/>
          <a:p>
            <a:endParaRPr lang="en-US"/>
          </a:p>
        </p:txBody>
      </p:sp>
      <p:sp>
        <p:nvSpPr>
          <p:cNvPr id="19" name="Native mathematics 2">
            <a:extLst>
              <a:ext uri="{FF2B5EF4-FFF2-40B4-BE49-F238E27FC236}">
                <a16:creationId xmlns:a16="http://schemas.microsoft.com/office/drawing/2014/main" id="{C1FF208E-39DD-446D-B203-31A565E92EB0}"/>
              </a:ext>
            </a:extLst>
          </p:cNvPr>
          <p:cNvSpPr>
            <a:spLocks noGrp="1"/>
          </p:cNvSpPr>
          <p:nvPr/>
        </p:nvSpPr>
        <p:spPr>
          <a:xfrm>
            <a:off x="2849895" y="4914900"/>
            <a:ext cx="476250" cy="36195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2</a:t>
            </a:r>
          </a:p>
        </p:txBody>
      </p:sp>
      <p:sp>
        <p:nvSpPr>
          <p:cNvPr id="20" name="Native mathematics → rational">
            <a:extLst>
              <a:ext uri="{FF2B5EF4-FFF2-40B4-BE49-F238E27FC236}">
                <a16:creationId xmlns:a16="http://schemas.microsoft.com/office/drawing/2014/main" id="{CCA2827D-2AA6-4C23-BA9B-B45F0D43E14E}"/>
              </a:ext>
            </a:extLst>
          </p:cNvPr>
          <p:cNvSpPr>
            <a:spLocks noGrp="1"/>
          </p:cNvSpPr>
          <p:nvPr/>
        </p:nvSpPr>
        <p:spPr>
          <a:xfrm>
            <a:off x="3459495" y="4743450"/>
            <a:ext cx="165015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rational</a:t>
            </a:r>
          </a:p>
        </p:txBody>
      </p:sp>
      <p:sp>
        <p:nvSpPr>
          <p:cNvPr id="21" name="Native mathematics Q4  0.272727… =">
            <a:extLst>
              <a:ext uri="{FF2B5EF4-FFF2-40B4-BE49-F238E27FC236}">
                <a16:creationId xmlns:a16="http://schemas.microsoft.com/office/drawing/2014/main" id="{F4E70D1B-2602-4AED-96BF-F0FA31EFC027}"/>
              </a:ext>
            </a:extLst>
          </p:cNvPr>
          <p:cNvSpPr>
            <a:spLocks noGrp="1"/>
          </p:cNvSpPr>
          <p:nvPr/>
        </p:nvSpPr>
        <p:spPr>
          <a:xfrm>
            <a:off x="6572250" y="2057400"/>
            <a:ext cx="4857750" cy="4286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dirty="0">
                <a:solidFill>
                  <a:srgbClr val="111111"/>
                </a:solidFill>
                <a:latin typeface="Aptos"/>
                <a:ea typeface="Aptos"/>
                <a:cs typeface="Aptos"/>
              </a:rPr>
              <a:t>Q4</a:t>
            </a:r>
            <a:r>
              <a:rPr sz="2325" b="0" dirty="0">
                <a:solidFill>
                  <a:srgbClr val="111111"/>
                </a:solidFill>
                <a:latin typeface="Aptos"/>
                <a:ea typeface="Aptos"/>
                <a:cs typeface="Aptos"/>
              </a:rPr>
              <a:t>  0.272727… =</a:t>
            </a:r>
          </a:p>
        </p:txBody>
      </p:sp>
      <p:sp>
        <p:nvSpPr>
          <p:cNvPr id="22" name="Native mathematics 3">
            <a:extLst>
              <a:ext uri="{FF2B5EF4-FFF2-40B4-BE49-F238E27FC236}">
                <a16:creationId xmlns:a16="http://schemas.microsoft.com/office/drawing/2014/main" id="{888B8657-0411-4B96-8229-4D11413F25EE}"/>
              </a:ext>
            </a:extLst>
          </p:cNvPr>
          <p:cNvSpPr>
            <a:spLocks noGrp="1"/>
          </p:cNvSpPr>
          <p:nvPr/>
        </p:nvSpPr>
        <p:spPr>
          <a:xfrm>
            <a:off x="7162800" y="2438400"/>
            <a:ext cx="504825" cy="34290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3</a:t>
            </a:r>
          </a:p>
        </p:txBody>
      </p:sp>
      <p:sp>
        <p:nvSpPr>
          <p:cNvPr id="23" name="Fraction or radical rule">
            <a:extLst>
              <a:ext uri="{FF2B5EF4-FFF2-40B4-BE49-F238E27FC236}">
                <a16:creationId xmlns:a16="http://schemas.microsoft.com/office/drawing/2014/main" id="{3B96DB96-3F69-4E82-99AA-7EA8C7415891}"/>
              </a:ext>
            </a:extLst>
          </p:cNvPr>
          <p:cNvSpPr>
            <a:spLocks noGrp="1"/>
          </p:cNvSpPr>
          <p:nvPr/>
        </p:nvSpPr>
        <p:spPr>
          <a:xfrm>
            <a:off x="7162800" y="2762250"/>
            <a:ext cx="504825" cy="0"/>
          </a:xfrm>
          <a:prstGeom prst="line">
            <a:avLst/>
          </a:prstGeom>
          <a:ln w="14288">
            <a:solidFill>
              <a:srgbClr val="111111"/>
            </a:solidFill>
          </a:ln>
        </p:spPr>
        <p:txBody>
          <a:bodyPr/>
          <a:lstStyle/>
          <a:p>
            <a:endParaRPr lang="en-US"/>
          </a:p>
        </p:txBody>
      </p:sp>
      <p:sp>
        <p:nvSpPr>
          <p:cNvPr id="24" name="Native mathematics 11">
            <a:extLst>
              <a:ext uri="{FF2B5EF4-FFF2-40B4-BE49-F238E27FC236}">
                <a16:creationId xmlns:a16="http://schemas.microsoft.com/office/drawing/2014/main" id="{B7C4D190-964D-4497-B71A-66A4CA2BE5B8}"/>
              </a:ext>
            </a:extLst>
          </p:cNvPr>
          <p:cNvSpPr>
            <a:spLocks noGrp="1"/>
          </p:cNvSpPr>
          <p:nvPr/>
        </p:nvSpPr>
        <p:spPr>
          <a:xfrm>
            <a:off x="7162800" y="2800350"/>
            <a:ext cx="504825" cy="361950"/>
          </a:xfrm>
          <a:prstGeom prst="rect">
            <a:avLst/>
          </a:prstGeom>
          <a:noFill/>
          <a:ln w="0">
            <a:noFill/>
          </a:ln>
        </p:spPr>
        <p:txBody>
          <a:bodyPr wrap="none" lIns="0" tIns="0" rIns="0" bIns="0" anchor="t">
            <a:noAutofit/>
          </a:bodyPr>
          <a:lstStyle/>
          <a:p>
            <a:pPr marL="0" indent="0" algn="ctr">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11</a:t>
            </a:r>
          </a:p>
        </p:txBody>
      </p:sp>
      <p:sp>
        <p:nvSpPr>
          <p:cNvPr id="25" name="Native mathematics → rational">
            <a:extLst>
              <a:ext uri="{FF2B5EF4-FFF2-40B4-BE49-F238E27FC236}">
                <a16:creationId xmlns:a16="http://schemas.microsoft.com/office/drawing/2014/main" id="{37A67200-80EA-4734-A49B-A0381097331B}"/>
              </a:ext>
            </a:extLst>
          </p:cNvPr>
          <p:cNvSpPr>
            <a:spLocks noGrp="1"/>
          </p:cNvSpPr>
          <p:nvPr/>
        </p:nvSpPr>
        <p:spPr>
          <a:xfrm>
            <a:off x="7800975" y="2628900"/>
            <a:ext cx="165015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rational</a:t>
            </a:r>
          </a:p>
        </p:txBody>
      </p:sp>
      <p:sp>
        <p:nvSpPr>
          <p:cNvPr id="26" name="Native mathematics Q5">
            <a:extLst>
              <a:ext uri="{FF2B5EF4-FFF2-40B4-BE49-F238E27FC236}">
                <a16:creationId xmlns:a16="http://schemas.microsoft.com/office/drawing/2014/main" id="{1A9B0EF5-F541-402C-9154-D4C6E8869AC4}"/>
              </a:ext>
            </a:extLst>
          </p:cNvPr>
          <p:cNvSpPr>
            <a:spLocks noGrp="1"/>
          </p:cNvSpPr>
          <p:nvPr/>
        </p:nvSpPr>
        <p:spPr>
          <a:xfrm>
            <a:off x="6572250" y="3848100"/>
            <a:ext cx="58399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Q5</a:t>
            </a:r>
          </a:p>
        </p:txBody>
      </p:sp>
      <p:sp>
        <p:nvSpPr>
          <p:cNvPr id="27" name="Native mathematics √">
            <a:extLst>
              <a:ext uri="{FF2B5EF4-FFF2-40B4-BE49-F238E27FC236}">
                <a16:creationId xmlns:a16="http://schemas.microsoft.com/office/drawing/2014/main" id="{9A9DAB91-0FB8-4814-A28F-69CE6CD1E1DD}"/>
              </a:ext>
            </a:extLst>
          </p:cNvPr>
          <p:cNvSpPr>
            <a:spLocks noGrp="1"/>
          </p:cNvSpPr>
          <p:nvPr/>
        </p:nvSpPr>
        <p:spPr>
          <a:xfrm>
            <a:off x="7156247" y="3800475"/>
            <a:ext cx="265748" cy="438150"/>
          </a:xfrm>
          <a:prstGeom prst="rect">
            <a:avLst/>
          </a:prstGeom>
          <a:noFill/>
          <a:ln w="0">
            <a:noFill/>
          </a:ln>
        </p:spPr>
        <p:txBody>
          <a:bodyPr wrap="none" lIns="0" tIns="0" rIns="0" bIns="0" anchor="t">
            <a:noAutofit/>
          </a:bodyPr>
          <a:lstStyle/>
          <a:p>
            <a:pPr marL="0" indent="0" algn="l">
              <a:lnSpc>
                <a:spcPct val="100000"/>
              </a:lnSpc>
              <a:spcAft>
                <a:spcPts val="0"/>
              </a:spcAft>
              <a:buNone/>
              <a:defRPr sz="3000" b="0">
                <a:solidFill>
                  <a:srgbClr val="111111"/>
                </a:solidFill>
                <a:latin typeface="Aptos"/>
                <a:ea typeface="Aptos"/>
                <a:cs typeface="Aptos"/>
              </a:defRPr>
            </a:pPr>
            <a:r>
              <a:rPr sz="3000" b="0">
                <a:solidFill>
                  <a:srgbClr val="111111"/>
                </a:solidFill>
                <a:latin typeface="Aptos"/>
                <a:ea typeface="Aptos"/>
                <a:cs typeface="Aptos"/>
              </a:rPr>
              <a:t>√</a:t>
            </a:r>
          </a:p>
        </p:txBody>
      </p:sp>
      <p:sp>
        <p:nvSpPr>
          <p:cNvPr id="28" name="Native mathematics 18">
            <a:extLst>
              <a:ext uri="{FF2B5EF4-FFF2-40B4-BE49-F238E27FC236}">
                <a16:creationId xmlns:a16="http://schemas.microsoft.com/office/drawing/2014/main" id="{BAAF5AB2-E3DD-4524-8BF3-23EF84BEF935}"/>
              </a:ext>
            </a:extLst>
          </p:cNvPr>
          <p:cNvSpPr>
            <a:spLocks noGrp="1"/>
          </p:cNvSpPr>
          <p:nvPr/>
        </p:nvSpPr>
        <p:spPr>
          <a:xfrm>
            <a:off x="7368845" y="3848100"/>
            <a:ext cx="501183" cy="3905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18</a:t>
            </a:r>
          </a:p>
        </p:txBody>
      </p:sp>
      <p:sp>
        <p:nvSpPr>
          <p:cNvPr id="30" name="Native mathematics = 3">
            <a:extLst>
              <a:ext uri="{FF2B5EF4-FFF2-40B4-BE49-F238E27FC236}">
                <a16:creationId xmlns:a16="http://schemas.microsoft.com/office/drawing/2014/main" id="{BE125291-9F0F-4CA9-B713-B9B64F5245FB}"/>
              </a:ext>
            </a:extLst>
          </p:cNvPr>
          <p:cNvSpPr>
            <a:spLocks noGrp="1"/>
          </p:cNvSpPr>
          <p:nvPr/>
        </p:nvSpPr>
        <p:spPr>
          <a:xfrm>
            <a:off x="7965277" y="3848100"/>
            <a:ext cx="611840"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dirty="0">
                <a:solidFill>
                  <a:srgbClr val="111111"/>
                </a:solidFill>
                <a:latin typeface="Aptos"/>
                <a:ea typeface="Aptos"/>
                <a:cs typeface="Aptos"/>
              </a:rPr>
              <a:t>= </a:t>
            </a:r>
            <a:r>
              <a:rPr lang="en-US" sz="2325" b="0" dirty="0">
                <a:solidFill>
                  <a:srgbClr val="111111"/>
                </a:solidFill>
                <a:latin typeface="Aptos"/>
                <a:ea typeface="Aptos"/>
                <a:cs typeface="Aptos"/>
              </a:rPr>
              <a:t>   </a:t>
            </a:r>
            <a:r>
              <a:rPr sz="2325" b="0" dirty="0">
                <a:solidFill>
                  <a:srgbClr val="111111"/>
                </a:solidFill>
                <a:latin typeface="Aptos"/>
                <a:ea typeface="Aptos"/>
                <a:cs typeface="Aptos"/>
              </a:rPr>
              <a:t>3</a:t>
            </a:r>
          </a:p>
        </p:txBody>
      </p:sp>
      <p:sp>
        <p:nvSpPr>
          <p:cNvPr id="31" name="Native mathematics √">
            <a:extLst>
              <a:ext uri="{FF2B5EF4-FFF2-40B4-BE49-F238E27FC236}">
                <a16:creationId xmlns:a16="http://schemas.microsoft.com/office/drawing/2014/main" id="{F7CDBF94-AD6D-4FB1-8FA1-226C85D5BF6C}"/>
              </a:ext>
            </a:extLst>
          </p:cNvPr>
          <p:cNvSpPr>
            <a:spLocks noGrp="1"/>
          </p:cNvSpPr>
          <p:nvPr/>
        </p:nvSpPr>
        <p:spPr>
          <a:xfrm>
            <a:off x="8577118" y="3800475"/>
            <a:ext cx="265748" cy="438150"/>
          </a:xfrm>
          <a:prstGeom prst="rect">
            <a:avLst/>
          </a:prstGeom>
          <a:noFill/>
          <a:ln w="0">
            <a:noFill/>
          </a:ln>
        </p:spPr>
        <p:txBody>
          <a:bodyPr wrap="none" lIns="0" tIns="0" rIns="0" bIns="0" anchor="t">
            <a:noAutofit/>
          </a:bodyPr>
          <a:lstStyle/>
          <a:p>
            <a:pPr marL="0" indent="0" algn="l">
              <a:lnSpc>
                <a:spcPct val="100000"/>
              </a:lnSpc>
              <a:spcAft>
                <a:spcPts val="0"/>
              </a:spcAft>
              <a:buNone/>
              <a:defRPr sz="3000" b="0">
                <a:solidFill>
                  <a:srgbClr val="111111"/>
                </a:solidFill>
                <a:latin typeface="Aptos"/>
                <a:ea typeface="Aptos"/>
                <a:cs typeface="Aptos"/>
              </a:defRPr>
            </a:pPr>
            <a:r>
              <a:rPr sz="3000" b="0">
                <a:solidFill>
                  <a:srgbClr val="111111"/>
                </a:solidFill>
                <a:latin typeface="Aptos"/>
                <a:ea typeface="Aptos"/>
                <a:cs typeface="Aptos"/>
              </a:rPr>
              <a:t>√</a:t>
            </a:r>
          </a:p>
        </p:txBody>
      </p:sp>
      <p:sp>
        <p:nvSpPr>
          <p:cNvPr id="32" name="Native mathematics 2">
            <a:extLst>
              <a:ext uri="{FF2B5EF4-FFF2-40B4-BE49-F238E27FC236}">
                <a16:creationId xmlns:a16="http://schemas.microsoft.com/office/drawing/2014/main" id="{E264BB54-13D7-4E99-8128-80A3EF58E137}"/>
              </a:ext>
            </a:extLst>
          </p:cNvPr>
          <p:cNvSpPr>
            <a:spLocks noGrp="1"/>
          </p:cNvSpPr>
          <p:nvPr/>
        </p:nvSpPr>
        <p:spPr>
          <a:xfrm>
            <a:off x="8789716" y="3848100"/>
            <a:ext cx="317266" cy="3905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2</a:t>
            </a:r>
          </a:p>
        </p:txBody>
      </p:sp>
      <p:sp>
        <p:nvSpPr>
          <p:cNvPr id="34" name="Native mathematics → irrational">
            <a:extLst>
              <a:ext uri="{FF2B5EF4-FFF2-40B4-BE49-F238E27FC236}">
                <a16:creationId xmlns:a16="http://schemas.microsoft.com/office/drawing/2014/main" id="{662C5BFC-5509-4298-BB78-B208D49B9B56}"/>
              </a:ext>
            </a:extLst>
          </p:cNvPr>
          <p:cNvSpPr>
            <a:spLocks noGrp="1"/>
          </p:cNvSpPr>
          <p:nvPr/>
        </p:nvSpPr>
        <p:spPr>
          <a:xfrm>
            <a:off x="9202232" y="3848100"/>
            <a:ext cx="1833753"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irrational</a:t>
            </a:r>
          </a:p>
        </p:txBody>
      </p:sp>
      <p:sp>
        <p:nvSpPr>
          <p:cNvPr id="35" name="Native mathematics Q6  π → irrational">
            <a:extLst>
              <a:ext uri="{FF2B5EF4-FFF2-40B4-BE49-F238E27FC236}">
                <a16:creationId xmlns:a16="http://schemas.microsoft.com/office/drawing/2014/main" id="{D00D870A-5836-4345-9E53-0D4F34A92840}"/>
              </a:ext>
            </a:extLst>
          </p:cNvPr>
          <p:cNvSpPr>
            <a:spLocks noGrp="1"/>
          </p:cNvSpPr>
          <p:nvPr/>
        </p:nvSpPr>
        <p:spPr>
          <a:xfrm>
            <a:off x="6572250" y="4933950"/>
            <a:ext cx="4762500" cy="5238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1">
                <a:solidFill>
                  <a:srgbClr val="111111"/>
                </a:solidFill>
                <a:latin typeface="Aptos"/>
                <a:ea typeface="Aptos"/>
                <a:cs typeface="Aptos"/>
              </a:rPr>
              <a:t>Q6</a:t>
            </a:r>
            <a:r>
              <a:rPr sz="2325" b="0">
                <a:solidFill>
                  <a:srgbClr val="111111"/>
                </a:solidFill>
                <a:latin typeface="Aptos"/>
                <a:ea typeface="Aptos"/>
                <a:cs typeface="Aptos"/>
              </a:rPr>
              <a:t>  π → irrational</a:t>
            </a:r>
          </a:p>
        </p:txBody>
      </p:sp>
      <p:sp>
        <p:nvSpPr>
          <p:cNvPr id="36" name="Handout reference A9">
            <a:extLst>
              <a:ext uri="{FF2B5EF4-FFF2-40B4-BE49-F238E27FC236}">
                <a16:creationId xmlns:a16="http://schemas.microsoft.com/office/drawing/2014/main" id="{DE8EA71E-C13D-4486-BDD0-DC38652C3002}"/>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9</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Arithmetic vocabulary</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Addition (+): sum or total</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Subtraction (−): difference or decrease</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Multiplication (×): product; the word “of”</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Division (÷): quotient or “per”</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Power / root: squared, cubed, square root</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Greatest common divisor (GCD): largest positive integer that divides both numbers exactly</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Adjacency also means multiplication: 4(6) = 4 × 6.</a:t>
            </a:r>
          </a:p>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Example: GCD(24, 36) = 12.</a:t>
            </a:r>
          </a:p>
        </p:txBody>
      </p:sp>
    </p:spTree>
    <p:extLst>
      <p:ext uri="{BB962C8B-B14F-4D97-AF65-F5344CB8AC3E}">
        <p14:creationId xmlns:p14="http://schemas.microsoft.com/office/powerpoint/2010/main" val="3217942731"/>
      </p:ext>
    </p:extLst>
  </p:cSld>
  <p:clrMapOvr>
    <a:masterClrMapping/>
  </p:clrMapOvr>
  <p:transition spd="slow">
    <p:push di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PEMDAS and BODMAS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330732"/>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1" dirty="0">
                <a:solidFill>
                  <a:srgbClr val="111111"/>
                </a:solidFill>
                <a:latin typeface="Aptos"/>
                <a:ea typeface="Aptos"/>
                <a:cs typeface="Aptos"/>
              </a:rPr>
              <a:t>P</a:t>
            </a:r>
            <a:r>
              <a:rPr sz="2325" b="0" dirty="0">
                <a:solidFill>
                  <a:srgbClr val="111111"/>
                </a:solidFill>
                <a:latin typeface="Aptos"/>
                <a:ea typeface="Aptos"/>
                <a:cs typeface="Aptos"/>
              </a:rPr>
              <a:t>  Parentheses (brackets)</a:t>
            </a:r>
          </a:p>
          <a:p>
            <a:pPr marL="0" indent="0" algn="l">
              <a:lnSpc>
                <a:spcPct val="106000"/>
              </a:lnSpc>
              <a:spcAft>
                <a:spcPts val="6"/>
              </a:spcAft>
              <a:buNone/>
              <a:defRPr sz="2325" b="0">
                <a:solidFill>
                  <a:srgbClr val="111111"/>
                </a:solidFill>
                <a:latin typeface="Aptos"/>
                <a:ea typeface="Aptos"/>
                <a:cs typeface="Aptos"/>
              </a:defRPr>
            </a:pPr>
            <a:r>
              <a:rPr sz="2325" b="1" dirty="0">
                <a:solidFill>
                  <a:srgbClr val="111111"/>
                </a:solidFill>
                <a:latin typeface="Aptos"/>
                <a:ea typeface="Aptos"/>
                <a:cs typeface="Aptos"/>
              </a:rPr>
              <a:t>E</a:t>
            </a:r>
            <a:r>
              <a:rPr sz="2325" b="0" dirty="0">
                <a:solidFill>
                  <a:srgbClr val="111111"/>
                </a:solidFill>
                <a:latin typeface="Aptos"/>
                <a:ea typeface="Aptos"/>
                <a:cs typeface="Aptos"/>
              </a:rPr>
              <a:t>  Exponents: powers and roots</a:t>
            </a:r>
          </a:p>
          <a:p>
            <a:pPr marL="0" indent="0" algn="l">
              <a:lnSpc>
                <a:spcPct val="106000"/>
              </a:lnSpc>
              <a:spcAft>
                <a:spcPts val="6"/>
              </a:spcAft>
              <a:buNone/>
              <a:defRPr sz="2325" b="0">
                <a:solidFill>
                  <a:srgbClr val="111111"/>
                </a:solidFill>
                <a:latin typeface="Aptos"/>
                <a:ea typeface="Aptos"/>
                <a:cs typeface="Aptos"/>
              </a:defRPr>
            </a:pPr>
            <a:r>
              <a:rPr sz="2325" b="1" dirty="0">
                <a:solidFill>
                  <a:srgbClr val="111111"/>
                </a:solidFill>
                <a:latin typeface="Aptos"/>
                <a:ea typeface="Aptos"/>
                <a:cs typeface="Aptos"/>
              </a:rPr>
              <a:t>M</a:t>
            </a:r>
            <a:r>
              <a:rPr sz="2325" b="0" dirty="0">
                <a:solidFill>
                  <a:srgbClr val="111111"/>
                </a:solidFill>
                <a:latin typeface="Aptos"/>
                <a:ea typeface="Aptos"/>
                <a:cs typeface="Aptos"/>
              </a:rPr>
              <a:t> and </a:t>
            </a:r>
            <a:r>
              <a:rPr sz="2325" b="1" dirty="0">
                <a:solidFill>
                  <a:srgbClr val="111111"/>
                </a:solidFill>
                <a:latin typeface="Aptos"/>
                <a:ea typeface="Aptos"/>
                <a:cs typeface="Aptos"/>
              </a:rPr>
              <a:t>D</a:t>
            </a:r>
            <a:r>
              <a:rPr sz="2325" b="0" dirty="0">
                <a:solidFill>
                  <a:srgbClr val="111111"/>
                </a:solidFill>
                <a:latin typeface="Aptos"/>
                <a:ea typeface="Aptos"/>
                <a:cs typeface="Aptos"/>
              </a:rPr>
              <a:t>  Multiplication and division: equal priority, left to right</a:t>
            </a:r>
          </a:p>
          <a:p>
            <a:pPr marL="0" indent="0" algn="l">
              <a:lnSpc>
                <a:spcPct val="106000"/>
              </a:lnSpc>
              <a:spcAft>
                <a:spcPts val="6"/>
              </a:spcAft>
              <a:buNone/>
              <a:defRPr sz="2325" b="0">
                <a:solidFill>
                  <a:srgbClr val="111111"/>
                </a:solidFill>
                <a:latin typeface="Aptos"/>
                <a:ea typeface="Aptos"/>
                <a:cs typeface="Aptos"/>
              </a:defRPr>
            </a:pPr>
            <a:r>
              <a:rPr sz="2325" b="1" dirty="0">
                <a:solidFill>
                  <a:srgbClr val="111111"/>
                </a:solidFill>
                <a:latin typeface="Aptos"/>
                <a:ea typeface="Aptos"/>
                <a:cs typeface="Aptos"/>
              </a:rPr>
              <a:t>A</a:t>
            </a:r>
            <a:r>
              <a:rPr sz="2325" b="0" dirty="0">
                <a:solidFill>
                  <a:srgbClr val="111111"/>
                </a:solidFill>
                <a:latin typeface="Aptos"/>
                <a:ea typeface="Aptos"/>
                <a:cs typeface="Aptos"/>
              </a:rPr>
              <a:t> and </a:t>
            </a:r>
            <a:r>
              <a:rPr sz="2325" b="1" dirty="0">
                <a:solidFill>
                  <a:srgbClr val="111111"/>
                </a:solidFill>
                <a:latin typeface="Aptos"/>
                <a:ea typeface="Aptos"/>
                <a:cs typeface="Aptos"/>
              </a:rPr>
              <a:t>S</a:t>
            </a:r>
            <a:r>
              <a:rPr sz="2325" b="0" dirty="0">
                <a:solidFill>
                  <a:srgbClr val="111111"/>
                </a:solidFill>
                <a:latin typeface="Aptos"/>
                <a:ea typeface="Aptos"/>
                <a:cs typeface="Aptos"/>
              </a:rPr>
              <a:t>  Addition and subtraction: equal priority, left to right</a:t>
            </a:r>
          </a:p>
          <a:p>
            <a:pPr marL="0" indent="0" algn="l">
              <a:lnSpc>
                <a:spcPct val="106000"/>
              </a:lnSpc>
              <a:spcAft>
                <a:spcPts val="4"/>
              </a:spcAft>
              <a:buNone/>
              <a:defRPr sz="2325" b="0">
                <a:solidFill>
                  <a:srgbClr val="111111"/>
                </a:solidFill>
                <a:latin typeface="Aptos"/>
                <a:ea typeface="Aptos"/>
                <a:cs typeface="Aptos"/>
              </a:defRPr>
            </a:pPr>
            <a:endParaRPr sz="2325" b="0" dirty="0">
              <a:solidFill>
                <a:srgbClr val="111111"/>
              </a:solidFill>
              <a:latin typeface="Aptos"/>
              <a:ea typeface="Aptos"/>
              <a:cs typeface="Aptos"/>
            </a:endParaRPr>
          </a:p>
          <a:p>
            <a:pPr marL="0" indent="0" algn="l">
              <a:lnSpc>
                <a:spcPct val="106000"/>
              </a:lnSpc>
              <a:spcAft>
                <a:spcPts val="6"/>
              </a:spcAft>
              <a:buNone/>
              <a:defRPr sz="2325" b="0">
                <a:solidFill>
                  <a:srgbClr val="111111"/>
                </a:solidFill>
                <a:latin typeface="Aptos"/>
                <a:ea typeface="Aptos"/>
                <a:cs typeface="Aptos"/>
              </a:defRPr>
            </a:pPr>
            <a:r>
              <a:rPr sz="2325" b="1" dirty="0">
                <a:solidFill>
                  <a:srgbClr val="111111"/>
                </a:solidFill>
                <a:latin typeface="Aptos"/>
                <a:ea typeface="Aptos"/>
                <a:cs typeface="Aptos"/>
              </a:rPr>
              <a:t>PEMDAS</a:t>
            </a:r>
            <a:r>
              <a:rPr sz="2325" b="0" dirty="0">
                <a:solidFill>
                  <a:srgbClr val="111111"/>
                </a:solidFill>
                <a:latin typeface="Aptos"/>
                <a:ea typeface="Aptos"/>
                <a:cs typeface="Aptos"/>
              </a:rPr>
              <a:t> does not mean multiplication always comes before division.</a:t>
            </a:r>
          </a:p>
          <a:p>
            <a:pPr marL="0" indent="0" algn="l">
              <a:lnSpc>
                <a:spcPct val="106000"/>
              </a:lnSpc>
              <a:spcAft>
                <a:spcPts val="6"/>
              </a:spcAft>
              <a:buNone/>
              <a:defRPr sz="2325" b="0">
                <a:solidFill>
                  <a:srgbClr val="111111"/>
                </a:solidFill>
                <a:latin typeface="Aptos"/>
                <a:ea typeface="Aptos"/>
                <a:cs typeface="Aptos"/>
              </a:defRPr>
            </a:pPr>
            <a:r>
              <a:rPr sz="2325" b="1" dirty="0">
                <a:solidFill>
                  <a:srgbClr val="111111"/>
                </a:solidFill>
                <a:latin typeface="Aptos"/>
                <a:ea typeface="Aptos"/>
                <a:cs typeface="Aptos"/>
              </a:rPr>
              <a:t>PEMDAS</a:t>
            </a:r>
            <a:r>
              <a:rPr sz="2325" b="0" dirty="0">
                <a:solidFill>
                  <a:srgbClr val="111111"/>
                </a:solidFill>
                <a:latin typeface="Aptos"/>
                <a:ea typeface="Aptos"/>
                <a:cs typeface="Aptos"/>
              </a:rPr>
              <a:t> and </a:t>
            </a:r>
            <a:r>
              <a:rPr sz="2325" b="1" dirty="0">
                <a:solidFill>
                  <a:srgbClr val="111111"/>
                </a:solidFill>
                <a:latin typeface="Aptos"/>
                <a:ea typeface="Aptos"/>
                <a:cs typeface="Aptos"/>
              </a:rPr>
              <a:t>BODMAS</a:t>
            </a:r>
            <a:r>
              <a:rPr sz="2325" b="0" dirty="0">
                <a:solidFill>
                  <a:srgbClr val="111111"/>
                </a:solidFill>
                <a:latin typeface="Aptos"/>
                <a:ea typeface="Aptos"/>
                <a:cs typeface="Aptos"/>
              </a:rPr>
              <a:t> produce exactly the same calculation order.</a:t>
            </a:r>
          </a:p>
        </p:txBody>
      </p:sp>
      <p:sp>
        <p:nvSpPr>
          <p:cNvPr id="5" name="Rectangle 4">
            <a:extLst>
              <a:ext uri="{FF2B5EF4-FFF2-40B4-BE49-F238E27FC236}">
                <a16:creationId xmlns:a16="http://schemas.microsoft.com/office/drawing/2014/main" id="{F3B95196-C4F5-6199-B7C2-0A1F7EFE8D92}"/>
              </a:ext>
            </a:extLst>
          </p:cNvPr>
          <p:cNvSpPr>
            <a:spLocks noGrp="1"/>
          </p:cNvSpPr>
          <p:nvPr/>
        </p:nvSpPr>
        <p:spPr>
          <a:xfrm>
            <a:off x="1563624" y="246888"/>
            <a:ext cx="9468612" cy="5989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8100" tIns="0" rIns="38100" bIns="0" anchor="ctr"/>
          <a:lstStyle/>
          <a:p>
            <a:pPr marL="10" indent="0" algn="ctr">
              <a:lnSpc>
                <a:spcPct val="106000"/>
              </a:lnSpc>
              <a:spcAft>
                <a:spcPts val="6"/>
              </a:spcAft>
              <a:buNone/>
              <a:defRPr sz="2550">
                <a:solidFill>
                  <a:srgbClr val="FFFFFF"/>
                </a:solidFill>
                <a:latin typeface="Aptos"/>
                <a:ea typeface="Aptos"/>
                <a:cs typeface="Aptos"/>
              </a:defRPr>
            </a:pPr>
            <a:r>
              <a:rPr sz="2550">
                <a:solidFill>
                  <a:srgbClr val="FFFFFF"/>
                </a:solidFill>
                <a:latin typeface="Aptos"/>
                <a:ea typeface="Aptos"/>
                <a:cs typeface="Aptos"/>
              </a:rPr>
              <a:t>Please Excuse My Dear Aunt Sally</a:t>
            </a:r>
          </a:p>
        </p:txBody>
      </p:sp>
    </p:spTree>
    <p:extLst>
      <p:ext uri="{BB962C8B-B14F-4D97-AF65-F5344CB8AC3E}">
        <p14:creationId xmlns:p14="http://schemas.microsoft.com/office/powerpoint/2010/main" val="3217942731"/>
      </p:ext>
    </p:extLst>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PEMDAS: worked example 1</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330732"/>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Example 1</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1 + 2 × (3 + 4)²</a:t>
            </a:r>
          </a:p>
          <a:p>
            <a:pPr marL="42"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    = 1 + 2 × 7²</a:t>
            </a:r>
          </a:p>
          <a:p>
            <a:pPr marL="42"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    = 1 + 2 × 49</a:t>
            </a:r>
          </a:p>
          <a:p>
            <a:pPr marL="42"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 1 + 98</a:t>
            </a:r>
          </a:p>
          <a:p>
            <a:pPr marL="42"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    = 99</a:t>
            </a:r>
          </a:p>
        </p:txBody>
      </p:sp>
    </p:spTree>
    <p:extLst>
      <p:ext uri="{BB962C8B-B14F-4D97-AF65-F5344CB8AC3E}">
        <p14:creationId xmlns:p14="http://schemas.microsoft.com/office/powerpoint/2010/main" val="3386755825"/>
      </p:ext>
    </p:ext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PEMDAS: worked example 2</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330732"/>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Example 2</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3 + (3 + 3)³ ÷ 3 − 3 × 3</a:t>
            </a:r>
          </a:p>
          <a:p>
            <a:pPr marL="42"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    = 3 + 6³ ÷ 3 − 3 × 3</a:t>
            </a:r>
          </a:p>
          <a:p>
            <a:pPr marL="42"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    = 3 + 216 ÷ 3 − 3 × 3</a:t>
            </a:r>
          </a:p>
          <a:p>
            <a:pPr marL="42"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 3 + 72 − 3 × 3</a:t>
            </a:r>
          </a:p>
          <a:p>
            <a:pPr marL="42"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    = 3 + 72 − 9</a:t>
            </a:r>
          </a:p>
          <a:p>
            <a:pPr marL="42"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    = 75 − 9</a:t>
            </a:r>
          </a:p>
          <a:p>
            <a:pPr marL="42"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    = 66</a:t>
            </a:r>
          </a:p>
        </p:txBody>
      </p:sp>
    </p:spTree>
    <p:extLst>
      <p:ext uri="{BB962C8B-B14F-4D97-AF65-F5344CB8AC3E}">
        <p14:creationId xmlns:p14="http://schemas.microsoft.com/office/powerpoint/2010/main" val="3386755825"/>
      </p:ext>
    </p:ext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A10: Order-of-operations error clinic</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Find the first incorrect step, then correct it.</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  3 + 5 × 2 = 8 × 2 = 16</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  24 ÷ 6 × 2 = 24 ÷ 12 = 2</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  18 − 6 + 2 = 18 − 8 = 10</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7"/>
              </a:spcAft>
              <a:buNone/>
              <a:defRPr sz="2325" b="0">
                <a:solidFill>
                  <a:srgbClr val="111111"/>
                </a:solidFill>
                <a:latin typeface="Aptos"/>
                <a:ea typeface="Aptos"/>
                <a:cs typeface="Aptos"/>
              </a:defRPr>
            </a:pPr>
            <a:r>
              <a:rPr sz="2325" b="0">
                <a:solidFill>
                  <a:srgbClr val="111111"/>
                </a:solidFill>
                <a:latin typeface="Aptos"/>
                <a:ea typeface="Aptos"/>
                <a:cs typeface="Aptos"/>
              </a:rPr>
              <a:t>Explain each error using a complete sentence.</a:t>
            </a:r>
          </a:p>
        </p:txBody>
      </p:sp>
      <p:sp>
        <p:nvSpPr>
          <p:cNvPr id="4" name="Handout reference A10">
            <a:extLst>
              <a:ext uri="{FF2B5EF4-FFF2-40B4-BE49-F238E27FC236}">
                <a16:creationId xmlns:a16="http://schemas.microsoft.com/office/drawing/2014/main" id="{99054DB2-B24D-4BBB-B69E-D7ABCD78B797}"/>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10</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A10: Worked answers</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a:t>
            </a:r>
            <a:r>
              <a:rPr sz="2325" b="0">
                <a:solidFill>
                  <a:srgbClr val="111111"/>
                </a:solidFill>
                <a:latin typeface="Aptos"/>
                <a:ea typeface="Aptos"/>
                <a:cs typeface="Aptos"/>
              </a:rPr>
              <a:t>  Multiplication before addition: 3 + 5 × 2 = 3 + 10 = 13</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a:t>
            </a:r>
            <a:r>
              <a:rPr sz="2325" b="0">
                <a:solidFill>
                  <a:srgbClr val="111111"/>
                </a:solidFill>
                <a:latin typeface="Aptos"/>
                <a:ea typeface="Aptos"/>
                <a:cs typeface="Aptos"/>
              </a:rPr>
              <a:t>  Division and multiplication left to right: 24 ÷ 6 × 2 = 4 × 2 = 8</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a:t>
            </a:r>
            <a:r>
              <a:rPr sz="2325" b="0">
                <a:solidFill>
                  <a:srgbClr val="111111"/>
                </a:solidFill>
                <a:latin typeface="Aptos"/>
                <a:ea typeface="Aptos"/>
                <a:cs typeface="Aptos"/>
              </a:rPr>
              <a:t>  Subtraction and addition left to right: 18 − 6 + 2 = 12 + 2 = 14</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The letters D/M and A/S do not create priority within each pair.</a:t>
            </a:r>
          </a:p>
        </p:txBody>
      </p:sp>
      <p:sp>
        <p:nvSpPr>
          <p:cNvPr id="4" name="Handout reference A10">
            <a:extLst>
              <a:ext uri="{FF2B5EF4-FFF2-40B4-BE49-F238E27FC236}">
                <a16:creationId xmlns:a16="http://schemas.microsoft.com/office/drawing/2014/main" id="{A4F37D1B-3D7F-4B20-A4BE-BFD56E494A8E}"/>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10</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A11: PEMDAS challenge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794" y="1952374"/>
            <a:ext cx="11547846" cy="4330731"/>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No calculator. Show one operation per line.</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  36 ÷ 3 × (2 + 4) − 5²</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  5 + 3[8 − 2(3 + 1)]</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  120 − {4[3² + 6] − 8} ÷ 2</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a:t>
            </a:r>
          </a:p>
          <a:p>
            <a:pPr marL="0" indent="0" algn="l">
              <a:lnSpc>
                <a:spcPct val="106000"/>
              </a:lnSpc>
              <a:spcAft>
                <a:spcPts val="7"/>
              </a:spcAft>
              <a:buNone/>
              <a:defRPr sz="2325" b="0">
                <a:solidFill>
                  <a:srgbClr val="111111"/>
                </a:solidFill>
                <a:latin typeface="Aptos"/>
                <a:ea typeface="Aptos"/>
                <a:cs typeface="Aptos"/>
              </a:defRPr>
            </a:pPr>
            <a:r>
              <a:rPr sz="2325" b="0">
                <a:solidFill>
                  <a:srgbClr val="111111"/>
                </a:solidFill>
                <a:latin typeface="Aptos"/>
                <a:ea typeface="Aptos"/>
                <a:cs typeface="Aptos"/>
              </a:rPr>
              <a:t>Check brackets first and equal-priority operations left to right.</a:t>
            </a:r>
          </a:p>
        </p:txBody>
      </p:sp>
      <p:sp>
        <p:nvSpPr>
          <p:cNvPr id="4" name="Handout reference A11">
            <a:extLst>
              <a:ext uri="{FF2B5EF4-FFF2-40B4-BE49-F238E27FC236}">
                <a16:creationId xmlns:a16="http://schemas.microsoft.com/office/drawing/2014/main" id="{C708B920-51F5-4474-A39B-D6B8463A7C6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11</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A11: Q1 worked answer</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330732"/>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a:t>
            </a:r>
            <a:r>
              <a:rPr sz="2325" b="0">
                <a:solidFill>
                  <a:srgbClr val="111111"/>
                </a:solidFill>
                <a:latin typeface="Aptos"/>
                <a:ea typeface="Aptos"/>
                <a:cs typeface="Aptos"/>
              </a:rPr>
              <a:t>  36 ÷ 3 × (2 + 4) − 5²</a:t>
            </a:r>
          </a:p>
          <a:p>
            <a:pPr marL="42"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 36 ÷ 3 × 6 − 5²</a:t>
            </a:r>
          </a:p>
          <a:p>
            <a:pPr marL="42" indent="0" algn="l">
              <a:lnSpc>
                <a:spcPct val="106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    = 36 ÷ 3 × 6 − 25</a:t>
            </a:r>
          </a:p>
          <a:p>
            <a:pPr marL="42"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 12 × 6 − 25</a:t>
            </a:r>
          </a:p>
          <a:p>
            <a:pPr marL="42" indent="0" algn="l">
              <a:lnSpc>
                <a:spcPct val="106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    = 72 − 25</a:t>
            </a:r>
          </a:p>
          <a:p>
            <a:pPr marL="42"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    = 47</a:t>
            </a:r>
          </a:p>
        </p:txBody>
      </p:sp>
      <p:sp>
        <p:nvSpPr>
          <p:cNvPr id="4" name="Handout reference A11">
            <a:extLst>
              <a:ext uri="{FF2B5EF4-FFF2-40B4-BE49-F238E27FC236}">
                <a16:creationId xmlns:a16="http://schemas.microsoft.com/office/drawing/2014/main" id="{1AFDD8AE-BE2E-4247-93FA-A1F55D269810}"/>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11</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A11: Q2 worked answer</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330732"/>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a:t>
            </a:r>
            <a:r>
              <a:rPr sz="2325" b="0">
                <a:solidFill>
                  <a:srgbClr val="111111"/>
                </a:solidFill>
                <a:latin typeface="Aptos"/>
                <a:ea typeface="Aptos"/>
                <a:cs typeface="Aptos"/>
              </a:rPr>
              <a:t>  5 + 3[8 − 2(3 + 1)]</a:t>
            </a:r>
          </a:p>
          <a:p>
            <a:pPr marL="42"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 5 + 3[8 − 2(4)]</a:t>
            </a:r>
          </a:p>
          <a:p>
            <a:pPr marL="42" indent="0" algn="l">
              <a:lnSpc>
                <a:spcPct val="106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    = 5 + 3[8 − 8]</a:t>
            </a:r>
          </a:p>
          <a:p>
            <a:pPr marL="42"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 5 + 3(0)</a:t>
            </a:r>
          </a:p>
          <a:p>
            <a:pPr marL="42" indent="0" algn="l">
              <a:lnSpc>
                <a:spcPct val="106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    = 5 + 0</a:t>
            </a:r>
          </a:p>
          <a:p>
            <a:pPr marL="42"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    = 5</a:t>
            </a:r>
          </a:p>
        </p:txBody>
      </p:sp>
      <p:sp>
        <p:nvSpPr>
          <p:cNvPr id="4" name="Handout reference A11">
            <a:extLst>
              <a:ext uri="{FF2B5EF4-FFF2-40B4-BE49-F238E27FC236}">
                <a16:creationId xmlns:a16="http://schemas.microsoft.com/office/drawing/2014/main" id="{AA2B10F8-064D-4195-B8D3-F81E67B3CA55}"/>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11</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A11: Q3 worked answer</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330732"/>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a:t>
            </a:r>
            <a:r>
              <a:rPr sz="2325" b="0">
                <a:solidFill>
                  <a:srgbClr val="111111"/>
                </a:solidFill>
                <a:latin typeface="Aptos"/>
                <a:ea typeface="Aptos"/>
                <a:cs typeface="Aptos"/>
              </a:rPr>
              <a:t>  120 − {4[3² + 6] − 8} ÷ 2</a:t>
            </a:r>
          </a:p>
          <a:p>
            <a:pPr marL="42"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 120 − {4[9 + 6] − 8} ÷ 2</a:t>
            </a:r>
          </a:p>
          <a:p>
            <a:pPr marL="42" indent="0" algn="l">
              <a:lnSpc>
                <a:spcPct val="106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    = 120 − {4[15] − 8} ÷ 2</a:t>
            </a:r>
          </a:p>
          <a:p>
            <a:pPr marL="42"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 120 − {60 − 8} ÷ 2</a:t>
            </a:r>
          </a:p>
          <a:p>
            <a:pPr marL="42" indent="0" algn="l">
              <a:lnSpc>
                <a:spcPct val="106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    = 120 − 52 ÷ 2</a:t>
            </a:r>
          </a:p>
          <a:p>
            <a:pPr marL="42"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    = 120 − 26</a:t>
            </a:r>
          </a:p>
          <a:p>
            <a:pPr marL="42"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    = 94</a:t>
            </a:r>
          </a:p>
        </p:txBody>
      </p:sp>
      <p:sp>
        <p:nvSpPr>
          <p:cNvPr id="4" name="Handout reference A11">
            <a:extLst>
              <a:ext uri="{FF2B5EF4-FFF2-40B4-BE49-F238E27FC236}">
                <a16:creationId xmlns:a16="http://schemas.microsoft.com/office/drawing/2014/main" id="{195F8E90-0948-42BD-8C05-36E103CFD9BE}"/>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11</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A12: Optional brain-boiling challenge</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1524000"/>
          </a:xfrm>
        </p:spPr>
        <p:txBody>
          <a:bodyPr lIns="0" tIns="0" rIns="0" bIns="0" anchor="t">
            <a:noAutofit/>
          </a:bodyPr>
          <a:lstStyle/>
          <a:p>
            <a:pPr marL="0" indent="0" algn="l">
              <a:lnSpc>
                <a:spcPct val="106000"/>
              </a:lnSpc>
              <a:spcAft>
                <a:spcPts val="6"/>
              </a:spcAft>
              <a:buNone/>
              <a:defRPr sz="2325" b="0">
                <a:solidFill>
                  <a:srgbClr val="111111"/>
                </a:solidFill>
                <a:latin typeface="Aptos"/>
                <a:ea typeface="Aptos"/>
                <a:cs typeface="Aptos"/>
              </a:defRPr>
            </a:pPr>
            <a:r>
              <a:rPr sz="2325" b="0" dirty="0">
                <a:solidFill>
                  <a:srgbClr val="111111"/>
                </a:solidFill>
                <a:latin typeface="Aptos"/>
                <a:ea typeface="Aptos"/>
                <a:cs typeface="Aptos"/>
              </a:rPr>
              <a:t>Optional extension. No calculator.</a:t>
            </a:r>
          </a:p>
          <a:p>
            <a:pPr marL="0" indent="0" algn="l">
              <a:lnSpc>
                <a:spcPct val="106000"/>
              </a:lnSpc>
              <a:spcAft>
                <a:spcPts val="4"/>
              </a:spcAft>
              <a:buNone/>
              <a:defRPr sz="2325" b="0">
                <a:solidFill>
                  <a:srgbClr val="111111"/>
                </a:solidFill>
                <a:latin typeface="Aptos"/>
                <a:ea typeface="Aptos"/>
                <a:cs typeface="Aptos"/>
              </a:defRPr>
            </a:pPr>
            <a:endParaRPr sz="2325" b="0" dirty="0">
              <a:solidFill>
                <a:srgbClr val="111111"/>
              </a:solidFill>
              <a:latin typeface="Aptos"/>
              <a:ea typeface="Aptos"/>
              <a:cs typeface="Aptos"/>
            </a:endParaRPr>
          </a:p>
          <a:p>
            <a:pPr marL="0" indent="0" algn="l">
              <a:lnSpc>
                <a:spcPct val="106000"/>
              </a:lnSpc>
              <a:spcAft>
                <a:spcPts val="8"/>
              </a:spcAft>
              <a:buNone/>
              <a:defRPr sz="2325" b="0">
                <a:solidFill>
                  <a:srgbClr val="111111"/>
                </a:solidFill>
                <a:latin typeface="Aptos"/>
                <a:ea typeface="Aptos"/>
                <a:cs typeface="Aptos"/>
              </a:defRPr>
            </a:pPr>
            <a:r>
              <a:rPr sz="2325" b="1" dirty="0">
                <a:solidFill>
                  <a:srgbClr val="111111"/>
                </a:solidFill>
                <a:latin typeface="Aptos"/>
                <a:ea typeface="Aptos"/>
                <a:cs typeface="Aptos"/>
              </a:rPr>
              <a:t>Q1  Simplify. Show one operation per line.</a:t>
            </a:r>
          </a:p>
        </p:txBody>
      </p:sp>
      <p:sp>
        <p:nvSpPr>
          <p:cNvPr id="4" name="Native mathematics [(16 − 8) ÷ 2] + 5">
            <a:extLst>
              <a:ext uri="{FF2B5EF4-FFF2-40B4-BE49-F238E27FC236}">
                <a16:creationId xmlns:a16="http://schemas.microsoft.com/office/drawing/2014/main" id="{E8A831C7-6AAE-4BA7-93D9-3E22218D5380}"/>
              </a:ext>
            </a:extLst>
          </p:cNvPr>
          <p:cNvSpPr>
            <a:spLocks noGrp="1"/>
          </p:cNvSpPr>
          <p:nvPr/>
        </p:nvSpPr>
        <p:spPr>
          <a:xfrm>
            <a:off x="762000" y="3590925"/>
            <a:ext cx="4660346" cy="447675"/>
          </a:xfrm>
          <a:prstGeom prst="rect">
            <a:avLst/>
          </a:prstGeom>
          <a:noFill/>
          <a:ln w="0">
            <a:noFill/>
          </a:ln>
        </p:spPr>
        <p:txBody>
          <a:bodyPr wrap="none" lIns="0" tIns="0" rIns="0" bIns="0" anchor="t">
            <a:noAutofit/>
          </a:bodyPr>
          <a:lstStyle/>
          <a:p>
            <a:pPr marL="0" indent="0" algn="l">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[(16 − 8) ÷ 2] + 5 × 11 − 4² −</a:t>
            </a:r>
          </a:p>
        </p:txBody>
      </p:sp>
      <p:sp>
        <p:nvSpPr>
          <p:cNvPr id="5" name="Native mathematics √">
            <a:extLst>
              <a:ext uri="{FF2B5EF4-FFF2-40B4-BE49-F238E27FC236}">
                <a16:creationId xmlns:a16="http://schemas.microsoft.com/office/drawing/2014/main" id="{56D43C45-BFF8-4E52-B787-87C4BAFA2D0C}"/>
              </a:ext>
            </a:extLst>
          </p:cNvPr>
          <p:cNvSpPr>
            <a:spLocks noGrp="1"/>
          </p:cNvSpPr>
          <p:nvPr/>
        </p:nvSpPr>
        <p:spPr>
          <a:xfrm>
            <a:off x="4467003" y="3563588"/>
            <a:ext cx="291465" cy="466725"/>
          </a:xfrm>
          <a:prstGeom prst="rect">
            <a:avLst/>
          </a:prstGeom>
          <a:noFill/>
          <a:ln w="0">
            <a:noFill/>
          </a:ln>
        </p:spPr>
        <p:txBody>
          <a:bodyPr wrap="none" lIns="0" tIns="0" rIns="0" bIns="0" anchor="t">
            <a:noAutofit/>
          </a:bodyPr>
          <a:lstStyle/>
          <a:p>
            <a:pPr marL="0" indent="0" algn="l">
              <a:lnSpc>
                <a:spcPct val="100000"/>
              </a:lnSpc>
              <a:spcAft>
                <a:spcPts val="0"/>
              </a:spcAft>
              <a:buNone/>
              <a:defRPr sz="3225" b="0">
                <a:solidFill>
                  <a:srgbClr val="111111"/>
                </a:solidFill>
                <a:latin typeface="Aptos"/>
                <a:ea typeface="Aptos"/>
                <a:cs typeface="Aptos"/>
              </a:defRPr>
            </a:pPr>
            <a:r>
              <a:rPr sz="3225" b="0">
                <a:solidFill>
                  <a:srgbClr val="111111"/>
                </a:solidFill>
                <a:latin typeface="Aptos"/>
                <a:ea typeface="Aptos"/>
                <a:cs typeface="Aptos"/>
              </a:rPr>
              <a:t>√</a:t>
            </a:r>
          </a:p>
        </p:txBody>
      </p:sp>
      <p:sp>
        <p:nvSpPr>
          <p:cNvPr id="6" name="Native mathematics 8 × 2">
            <a:extLst>
              <a:ext uri="{FF2B5EF4-FFF2-40B4-BE49-F238E27FC236}">
                <a16:creationId xmlns:a16="http://schemas.microsoft.com/office/drawing/2014/main" id="{DB64F8A3-AC2F-4A34-888A-2B1012085291}"/>
              </a:ext>
            </a:extLst>
          </p:cNvPr>
          <p:cNvSpPr>
            <a:spLocks noGrp="1"/>
          </p:cNvSpPr>
          <p:nvPr/>
        </p:nvSpPr>
        <p:spPr>
          <a:xfrm>
            <a:off x="4700175" y="3611213"/>
            <a:ext cx="950199" cy="419100"/>
          </a:xfrm>
          <a:prstGeom prst="rect">
            <a:avLst/>
          </a:prstGeom>
          <a:noFill/>
          <a:ln w="0">
            <a:noFill/>
          </a:ln>
        </p:spPr>
        <p:txBody>
          <a:bodyPr wrap="none" lIns="0" tIns="0" rIns="0" bIns="0" anchor="t">
            <a:noAutofit/>
          </a:bodyPr>
          <a:lstStyle/>
          <a:p>
            <a:pPr marL="0" indent="0" algn="l">
              <a:lnSpc>
                <a:spcPct val="100000"/>
              </a:lnSpc>
              <a:spcAft>
                <a:spcPts val="0"/>
              </a:spcAft>
              <a:buNone/>
              <a:defRPr sz="2550" b="0">
                <a:solidFill>
                  <a:srgbClr val="111111"/>
                </a:solidFill>
                <a:latin typeface="Aptos"/>
                <a:ea typeface="Aptos"/>
                <a:cs typeface="Aptos"/>
              </a:defRPr>
            </a:pPr>
            <a:r>
              <a:rPr sz="2550" b="0">
                <a:solidFill>
                  <a:srgbClr val="111111"/>
                </a:solidFill>
                <a:latin typeface="Aptos"/>
                <a:ea typeface="Aptos"/>
                <a:cs typeface="Aptos"/>
              </a:rPr>
              <a:t>8 × 2</a:t>
            </a:r>
          </a:p>
        </p:txBody>
      </p:sp>
      <p:sp>
        <p:nvSpPr>
          <p:cNvPr id="7" name="Fraction or radical rule">
            <a:extLst>
              <a:ext uri="{FF2B5EF4-FFF2-40B4-BE49-F238E27FC236}">
                <a16:creationId xmlns:a16="http://schemas.microsoft.com/office/drawing/2014/main" id="{2989BB0B-8DA5-42AB-A987-BE78A33C29D8}"/>
              </a:ext>
            </a:extLst>
          </p:cNvPr>
          <p:cNvSpPr>
            <a:spLocks noGrp="1"/>
          </p:cNvSpPr>
          <p:nvPr/>
        </p:nvSpPr>
        <p:spPr>
          <a:xfrm>
            <a:off x="4700175" y="3626342"/>
            <a:ext cx="950199" cy="0"/>
          </a:xfrm>
          <a:prstGeom prst="line">
            <a:avLst/>
          </a:prstGeom>
          <a:ln w="28575">
            <a:solidFill>
              <a:srgbClr val="111111"/>
            </a:solidFill>
          </a:ln>
        </p:spPr>
        <p:txBody>
          <a:bodyPr/>
          <a:lstStyle/>
          <a:p>
            <a:endParaRPr lang="en-US" dirty="0"/>
          </a:p>
        </p:txBody>
      </p:sp>
      <p:sp>
        <p:nvSpPr>
          <p:cNvPr id="8" name="Handout reference A12">
            <a:extLst>
              <a:ext uri="{FF2B5EF4-FFF2-40B4-BE49-F238E27FC236}">
                <a16:creationId xmlns:a16="http://schemas.microsoft.com/office/drawing/2014/main" id="{F207F48B-4481-40D7-BD64-E5502F1BA8F1}"/>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12</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A12: Optional answer (1/2)</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28625"/>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a:t>
            </a:r>
            <a:r>
              <a:rPr sz="2325" b="0">
                <a:solidFill>
                  <a:srgbClr val="111111"/>
                </a:solidFill>
                <a:latin typeface="Aptos"/>
                <a:ea typeface="Aptos"/>
                <a:cs typeface="Aptos"/>
              </a:rPr>
              <a:t>  Brackets, then the power and root.</a:t>
            </a:r>
          </a:p>
        </p:txBody>
      </p:sp>
      <p:sp>
        <p:nvSpPr>
          <p:cNvPr id="4" name="Native mathematics [(16 − 8) ÷ 2] + 5">
            <a:extLst>
              <a:ext uri="{FF2B5EF4-FFF2-40B4-BE49-F238E27FC236}">
                <a16:creationId xmlns:a16="http://schemas.microsoft.com/office/drawing/2014/main" id="{86E633E1-3CAC-4C66-9790-7F7839D80C92}"/>
              </a:ext>
            </a:extLst>
          </p:cNvPr>
          <p:cNvSpPr>
            <a:spLocks noGrp="1"/>
          </p:cNvSpPr>
          <p:nvPr/>
        </p:nvSpPr>
        <p:spPr>
          <a:xfrm>
            <a:off x="762000" y="2705100"/>
            <a:ext cx="4261683"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[(16 − 8) ÷ 2] + 5 × 11 − 4² −</a:t>
            </a:r>
          </a:p>
        </p:txBody>
      </p:sp>
      <p:sp>
        <p:nvSpPr>
          <p:cNvPr id="5" name="Native mathematics √">
            <a:extLst>
              <a:ext uri="{FF2B5EF4-FFF2-40B4-BE49-F238E27FC236}">
                <a16:creationId xmlns:a16="http://schemas.microsoft.com/office/drawing/2014/main" id="{9E03A15A-DFF1-412B-BD01-3EEAF805C04A}"/>
              </a:ext>
            </a:extLst>
          </p:cNvPr>
          <p:cNvSpPr>
            <a:spLocks noGrp="1"/>
          </p:cNvSpPr>
          <p:nvPr/>
        </p:nvSpPr>
        <p:spPr>
          <a:xfrm>
            <a:off x="5023683" y="2657475"/>
            <a:ext cx="265748" cy="438150"/>
          </a:xfrm>
          <a:prstGeom prst="rect">
            <a:avLst/>
          </a:prstGeom>
          <a:noFill/>
          <a:ln w="0">
            <a:noFill/>
          </a:ln>
        </p:spPr>
        <p:txBody>
          <a:bodyPr wrap="none" lIns="0" tIns="0" rIns="0" bIns="0" anchor="t">
            <a:noAutofit/>
          </a:bodyPr>
          <a:lstStyle/>
          <a:p>
            <a:pPr marL="0" indent="0" algn="l">
              <a:lnSpc>
                <a:spcPct val="100000"/>
              </a:lnSpc>
              <a:spcAft>
                <a:spcPts val="0"/>
              </a:spcAft>
              <a:buNone/>
              <a:defRPr sz="3000" b="0">
                <a:solidFill>
                  <a:srgbClr val="111111"/>
                </a:solidFill>
                <a:latin typeface="Aptos"/>
                <a:ea typeface="Aptos"/>
                <a:cs typeface="Aptos"/>
              </a:defRPr>
            </a:pPr>
            <a:r>
              <a:rPr sz="3000" b="0">
                <a:solidFill>
                  <a:srgbClr val="111111"/>
                </a:solidFill>
                <a:latin typeface="Aptos"/>
                <a:ea typeface="Aptos"/>
                <a:cs typeface="Aptos"/>
              </a:rPr>
              <a:t>√</a:t>
            </a:r>
          </a:p>
        </p:txBody>
      </p:sp>
      <p:sp>
        <p:nvSpPr>
          <p:cNvPr id="6" name="Native mathematics 8 × 2">
            <a:extLst>
              <a:ext uri="{FF2B5EF4-FFF2-40B4-BE49-F238E27FC236}">
                <a16:creationId xmlns:a16="http://schemas.microsoft.com/office/drawing/2014/main" id="{70B7AB5B-E98A-4C56-8D85-544BC1E6836B}"/>
              </a:ext>
            </a:extLst>
          </p:cNvPr>
          <p:cNvSpPr>
            <a:spLocks noGrp="1"/>
          </p:cNvSpPr>
          <p:nvPr/>
        </p:nvSpPr>
        <p:spPr>
          <a:xfrm>
            <a:off x="5236281" y="2705100"/>
            <a:ext cx="878083" cy="3905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8 × 2</a:t>
            </a:r>
          </a:p>
        </p:txBody>
      </p:sp>
      <p:sp>
        <p:nvSpPr>
          <p:cNvPr id="7" name="Fraction or radical rule">
            <a:extLst>
              <a:ext uri="{FF2B5EF4-FFF2-40B4-BE49-F238E27FC236}">
                <a16:creationId xmlns:a16="http://schemas.microsoft.com/office/drawing/2014/main" id="{A5B1F42F-8F5D-4D94-B5BA-EDB40B47E98A}"/>
              </a:ext>
            </a:extLst>
          </p:cNvPr>
          <p:cNvSpPr>
            <a:spLocks noGrp="1"/>
          </p:cNvSpPr>
          <p:nvPr/>
        </p:nvSpPr>
        <p:spPr>
          <a:xfrm>
            <a:off x="5236281" y="2724150"/>
            <a:ext cx="878083" cy="0"/>
          </a:xfrm>
          <a:prstGeom prst="line">
            <a:avLst/>
          </a:prstGeom>
          <a:ln w="38100">
            <a:solidFill>
              <a:srgbClr val="111111"/>
            </a:solidFill>
          </a:ln>
        </p:spPr>
        <p:txBody>
          <a:bodyPr/>
          <a:lstStyle/>
          <a:p>
            <a:endParaRPr lang="en-US" b="1" dirty="0"/>
          </a:p>
        </p:txBody>
      </p:sp>
      <p:sp>
        <p:nvSpPr>
          <p:cNvPr id="8" name="Native mathematics = [8 ÷ 2] + 5 × 11">
            <a:extLst>
              <a:ext uri="{FF2B5EF4-FFF2-40B4-BE49-F238E27FC236}">
                <a16:creationId xmlns:a16="http://schemas.microsoft.com/office/drawing/2014/main" id="{9EFB44E8-E6F1-402A-B216-7328BB12CDAB}"/>
              </a:ext>
            </a:extLst>
          </p:cNvPr>
          <p:cNvSpPr>
            <a:spLocks noGrp="1"/>
          </p:cNvSpPr>
          <p:nvPr/>
        </p:nvSpPr>
        <p:spPr>
          <a:xfrm>
            <a:off x="762000" y="3248025"/>
            <a:ext cx="3581705"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[8 ÷ 2] + 5 × 11 − 4² −</a:t>
            </a:r>
          </a:p>
        </p:txBody>
      </p:sp>
      <p:sp>
        <p:nvSpPr>
          <p:cNvPr id="9" name="Native mathematics √">
            <a:extLst>
              <a:ext uri="{FF2B5EF4-FFF2-40B4-BE49-F238E27FC236}">
                <a16:creationId xmlns:a16="http://schemas.microsoft.com/office/drawing/2014/main" id="{A50C8450-59DA-4422-8E94-2ED4D3C4A0CD}"/>
              </a:ext>
            </a:extLst>
          </p:cNvPr>
          <p:cNvSpPr>
            <a:spLocks noGrp="1"/>
          </p:cNvSpPr>
          <p:nvPr/>
        </p:nvSpPr>
        <p:spPr>
          <a:xfrm>
            <a:off x="4343705" y="3200400"/>
            <a:ext cx="265748" cy="438150"/>
          </a:xfrm>
          <a:prstGeom prst="rect">
            <a:avLst/>
          </a:prstGeom>
          <a:noFill/>
          <a:ln w="0">
            <a:noFill/>
          </a:ln>
        </p:spPr>
        <p:txBody>
          <a:bodyPr wrap="none" lIns="0" tIns="0" rIns="0" bIns="0" anchor="t">
            <a:noAutofit/>
          </a:bodyPr>
          <a:lstStyle/>
          <a:p>
            <a:pPr marL="0" indent="0" algn="l">
              <a:lnSpc>
                <a:spcPct val="100000"/>
              </a:lnSpc>
              <a:spcAft>
                <a:spcPts val="0"/>
              </a:spcAft>
              <a:buNone/>
              <a:defRPr sz="3000" b="0">
                <a:solidFill>
                  <a:srgbClr val="111111"/>
                </a:solidFill>
                <a:latin typeface="Aptos"/>
                <a:ea typeface="Aptos"/>
                <a:cs typeface="Aptos"/>
              </a:defRPr>
            </a:pPr>
            <a:r>
              <a:rPr sz="3000" b="0">
                <a:solidFill>
                  <a:srgbClr val="111111"/>
                </a:solidFill>
                <a:latin typeface="Aptos"/>
                <a:ea typeface="Aptos"/>
                <a:cs typeface="Aptos"/>
              </a:rPr>
              <a:t>√</a:t>
            </a:r>
          </a:p>
        </p:txBody>
      </p:sp>
      <p:sp>
        <p:nvSpPr>
          <p:cNvPr id="10" name="Native mathematics 8 × 2">
            <a:extLst>
              <a:ext uri="{FF2B5EF4-FFF2-40B4-BE49-F238E27FC236}">
                <a16:creationId xmlns:a16="http://schemas.microsoft.com/office/drawing/2014/main" id="{A34D3AB9-2023-4048-869F-D5F96D417465}"/>
              </a:ext>
            </a:extLst>
          </p:cNvPr>
          <p:cNvSpPr>
            <a:spLocks noGrp="1"/>
          </p:cNvSpPr>
          <p:nvPr/>
        </p:nvSpPr>
        <p:spPr>
          <a:xfrm>
            <a:off x="4556303" y="3248025"/>
            <a:ext cx="878083" cy="3905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8 × 2</a:t>
            </a:r>
          </a:p>
        </p:txBody>
      </p:sp>
      <p:sp>
        <p:nvSpPr>
          <p:cNvPr id="11" name="Fraction or radical rule">
            <a:extLst>
              <a:ext uri="{FF2B5EF4-FFF2-40B4-BE49-F238E27FC236}">
                <a16:creationId xmlns:a16="http://schemas.microsoft.com/office/drawing/2014/main" id="{29E0A917-B60F-42F0-AEF1-32CFFEEF9DC5}"/>
              </a:ext>
            </a:extLst>
          </p:cNvPr>
          <p:cNvSpPr>
            <a:spLocks noGrp="1"/>
          </p:cNvSpPr>
          <p:nvPr/>
        </p:nvSpPr>
        <p:spPr>
          <a:xfrm>
            <a:off x="4556303" y="3267075"/>
            <a:ext cx="878083" cy="0"/>
          </a:xfrm>
          <a:prstGeom prst="line">
            <a:avLst/>
          </a:prstGeom>
          <a:ln w="14288">
            <a:solidFill>
              <a:srgbClr val="111111"/>
            </a:solidFill>
          </a:ln>
        </p:spPr>
        <p:txBody>
          <a:bodyPr/>
          <a:lstStyle/>
          <a:p>
            <a:endParaRPr lang="en-US"/>
          </a:p>
        </p:txBody>
      </p:sp>
      <p:sp>
        <p:nvSpPr>
          <p:cNvPr id="12" name="Native mathematics = 4 + 5 × 11 − 4² ">
            <a:extLst>
              <a:ext uri="{FF2B5EF4-FFF2-40B4-BE49-F238E27FC236}">
                <a16:creationId xmlns:a16="http://schemas.microsoft.com/office/drawing/2014/main" id="{1512ED3D-DBD5-4D05-A787-E9BC17EA74CB}"/>
              </a:ext>
            </a:extLst>
          </p:cNvPr>
          <p:cNvSpPr>
            <a:spLocks noGrp="1"/>
          </p:cNvSpPr>
          <p:nvPr/>
        </p:nvSpPr>
        <p:spPr>
          <a:xfrm>
            <a:off x="762000" y="3790950"/>
            <a:ext cx="2848813"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4 + 5 × 11 − 4² −</a:t>
            </a:r>
          </a:p>
        </p:txBody>
      </p:sp>
      <p:sp>
        <p:nvSpPr>
          <p:cNvPr id="13" name="Native mathematics √">
            <a:extLst>
              <a:ext uri="{FF2B5EF4-FFF2-40B4-BE49-F238E27FC236}">
                <a16:creationId xmlns:a16="http://schemas.microsoft.com/office/drawing/2014/main" id="{BBD24637-6713-438E-9813-40B860C8EA57}"/>
              </a:ext>
            </a:extLst>
          </p:cNvPr>
          <p:cNvSpPr>
            <a:spLocks noGrp="1"/>
          </p:cNvSpPr>
          <p:nvPr/>
        </p:nvSpPr>
        <p:spPr>
          <a:xfrm>
            <a:off x="3610813" y="3743325"/>
            <a:ext cx="265748" cy="438150"/>
          </a:xfrm>
          <a:prstGeom prst="rect">
            <a:avLst/>
          </a:prstGeom>
          <a:noFill/>
          <a:ln w="0">
            <a:noFill/>
          </a:ln>
        </p:spPr>
        <p:txBody>
          <a:bodyPr wrap="none" lIns="0" tIns="0" rIns="0" bIns="0" anchor="t">
            <a:noAutofit/>
          </a:bodyPr>
          <a:lstStyle/>
          <a:p>
            <a:pPr marL="0" indent="0" algn="l">
              <a:lnSpc>
                <a:spcPct val="100000"/>
              </a:lnSpc>
              <a:spcAft>
                <a:spcPts val="0"/>
              </a:spcAft>
              <a:buNone/>
              <a:defRPr sz="3000" b="0">
                <a:solidFill>
                  <a:srgbClr val="111111"/>
                </a:solidFill>
                <a:latin typeface="Aptos"/>
                <a:ea typeface="Aptos"/>
                <a:cs typeface="Aptos"/>
              </a:defRPr>
            </a:pPr>
            <a:r>
              <a:rPr sz="3000" b="0">
                <a:solidFill>
                  <a:srgbClr val="111111"/>
                </a:solidFill>
                <a:latin typeface="Aptos"/>
                <a:ea typeface="Aptos"/>
                <a:cs typeface="Aptos"/>
              </a:rPr>
              <a:t>√</a:t>
            </a:r>
          </a:p>
        </p:txBody>
      </p:sp>
      <p:sp>
        <p:nvSpPr>
          <p:cNvPr id="14" name="Native mathematics 8 × 2">
            <a:extLst>
              <a:ext uri="{FF2B5EF4-FFF2-40B4-BE49-F238E27FC236}">
                <a16:creationId xmlns:a16="http://schemas.microsoft.com/office/drawing/2014/main" id="{80B147B3-807C-4EB1-B7A7-FFC59A0059B7}"/>
              </a:ext>
            </a:extLst>
          </p:cNvPr>
          <p:cNvSpPr>
            <a:spLocks noGrp="1"/>
          </p:cNvSpPr>
          <p:nvPr/>
        </p:nvSpPr>
        <p:spPr>
          <a:xfrm>
            <a:off x="3823411" y="3790950"/>
            <a:ext cx="878083" cy="3905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8 × 2</a:t>
            </a:r>
          </a:p>
        </p:txBody>
      </p:sp>
      <p:sp>
        <p:nvSpPr>
          <p:cNvPr id="15" name="Fraction or radical rule">
            <a:extLst>
              <a:ext uri="{FF2B5EF4-FFF2-40B4-BE49-F238E27FC236}">
                <a16:creationId xmlns:a16="http://schemas.microsoft.com/office/drawing/2014/main" id="{46A200E3-BE30-4919-91BB-15D8C7F24645}"/>
              </a:ext>
            </a:extLst>
          </p:cNvPr>
          <p:cNvSpPr>
            <a:spLocks noGrp="1"/>
          </p:cNvSpPr>
          <p:nvPr/>
        </p:nvSpPr>
        <p:spPr>
          <a:xfrm>
            <a:off x="3823411" y="3810000"/>
            <a:ext cx="878083" cy="0"/>
          </a:xfrm>
          <a:prstGeom prst="line">
            <a:avLst/>
          </a:prstGeom>
          <a:ln w="14288">
            <a:solidFill>
              <a:srgbClr val="111111"/>
            </a:solidFill>
          </a:ln>
        </p:spPr>
        <p:txBody>
          <a:bodyPr/>
          <a:lstStyle/>
          <a:p>
            <a:endParaRPr lang="en-US"/>
          </a:p>
        </p:txBody>
      </p:sp>
      <p:sp>
        <p:nvSpPr>
          <p:cNvPr id="16" name="Native mathematics = 4 + 5 × 11 − 4² ">
            <a:extLst>
              <a:ext uri="{FF2B5EF4-FFF2-40B4-BE49-F238E27FC236}">
                <a16:creationId xmlns:a16="http://schemas.microsoft.com/office/drawing/2014/main" id="{4962CA4A-4507-498E-ABCF-AFE76034975A}"/>
              </a:ext>
            </a:extLst>
          </p:cNvPr>
          <p:cNvSpPr>
            <a:spLocks noGrp="1"/>
          </p:cNvSpPr>
          <p:nvPr/>
        </p:nvSpPr>
        <p:spPr>
          <a:xfrm>
            <a:off x="762000" y="4333875"/>
            <a:ext cx="2848813"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4 + 5 × 11 − 4² −</a:t>
            </a:r>
          </a:p>
        </p:txBody>
      </p:sp>
      <p:sp>
        <p:nvSpPr>
          <p:cNvPr id="17" name="Native mathematics √">
            <a:extLst>
              <a:ext uri="{FF2B5EF4-FFF2-40B4-BE49-F238E27FC236}">
                <a16:creationId xmlns:a16="http://schemas.microsoft.com/office/drawing/2014/main" id="{B02C96F6-A5C1-44DB-986A-EAE2F801C6E2}"/>
              </a:ext>
            </a:extLst>
          </p:cNvPr>
          <p:cNvSpPr>
            <a:spLocks noGrp="1"/>
          </p:cNvSpPr>
          <p:nvPr/>
        </p:nvSpPr>
        <p:spPr>
          <a:xfrm>
            <a:off x="3610813" y="4286250"/>
            <a:ext cx="265748" cy="438150"/>
          </a:xfrm>
          <a:prstGeom prst="rect">
            <a:avLst/>
          </a:prstGeom>
          <a:noFill/>
          <a:ln w="0">
            <a:noFill/>
          </a:ln>
        </p:spPr>
        <p:txBody>
          <a:bodyPr wrap="none" lIns="0" tIns="0" rIns="0" bIns="0" anchor="t">
            <a:noAutofit/>
          </a:bodyPr>
          <a:lstStyle/>
          <a:p>
            <a:pPr marL="0" indent="0" algn="l">
              <a:lnSpc>
                <a:spcPct val="100000"/>
              </a:lnSpc>
              <a:spcAft>
                <a:spcPts val="0"/>
              </a:spcAft>
              <a:buNone/>
              <a:defRPr sz="3000" b="0">
                <a:solidFill>
                  <a:srgbClr val="111111"/>
                </a:solidFill>
                <a:latin typeface="Aptos"/>
                <a:ea typeface="Aptos"/>
                <a:cs typeface="Aptos"/>
              </a:defRPr>
            </a:pPr>
            <a:r>
              <a:rPr sz="3000" b="0">
                <a:solidFill>
                  <a:srgbClr val="111111"/>
                </a:solidFill>
                <a:latin typeface="Aptos"/>
                <a:ea typeface="Aptos"/>
                <a:cs typeface="Aptos"/>
              </a:rPr>
              <a:t>√</a:t>
            </a:r>
          </a:p>
        </p:txBody>
      </p:sp>
      <p:sp>
        <p:nvSpPr>
          <p:cNvPr id="18" name="Native mathematics 16">
            <a:extLst>
              <a:ext uri="{FF2B5EF4-FFF2-40B4-BE49-F238E27FC236}">
                <a16:creationId xmlns:a16="http://schemas.microsoft.com/office/drawing/2014/main" id="{366C57EC-7056-4471-AFC9-A2CA3C48D3AF}"/>
              </a:ext>
            </a:extLst>
          </p:cNvPr>
          <p:cNvSpPr>
            <a:spLocks noGrp="1"/>
          </p:cNvSpPr>
          <p:nvPr/>
        </p:nvSpPr>
        <p:spPr>
          <a:xfrm>
            <a:off x="3823411" y="4333875"/>
            <a:ext cx="501183" cy="3905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16</a:t>
            </a:r>
          </a:p>
        </p:txBody>
      </p:sp>
      <p:sp>
        <p:nvSpPr>
          <p:cNvPr id="19" name="Fraction or radical rule">
            <a:extLst>
              <a:ext uri="{FF2B5EF4-FFF2-40B4-BE49-F238E27FC236}">
                <a16:creationId xmlns:a16="http://schemas.microsoft.com/office/drawing/2014/main" id="{4EE9D77F-72F6-482F-8DD7-98B2BE809B1B}"/>
              </a:ext>
            </a:extLst>
          </p:cNvPr>
          <p:cNvSpPr>
            <a:spLocks noGrp="1"/>
          </p:cNvSpPr>
          <p:nvPr/>
        </p:nvSpPr>
        <p:spPr>
          <a:xfrm>
            <a:off x="3823411" y="4352925"/>
            <a:ext cx="501183" cy="0"/>
          </a:xfrm>
          <a:prstGeom prst="line">
            <a:avLst/>
          </a:prstGeom>
          <a:ln w="14288">
            <a:solidFill>
              <a:srgbClr val="111111"/>
            </a:solidFill>
          </a:ln>
        </p:spPr>
        <p:txBody>
          <a:bodyPr/>
          <a:lstStyle/>
          <a:p>
            <a:endParaRPr lang="en-US"/>
          </a:p>
        </p:txBody>
      </p:sp>
      <p:sp>
        <p:nvSpPr>
          <p:cNvPr id="20" name="Native mathematics = 4 + 5 × 11 − 16 ">
            <a:extLst>
              <a:ext uri="{FF2B5EF4-FFF2-40B4-BE49-F238E27FC236}">
                <a16:creationId xmlns:a16="http://schemas.microsoft.com/office/drawing/2014/main" id="{E1A92DBA-B8EF-4BD3-AF3A-D35277BEE922}"/>
              </a:ext>
            </a:extLst>
          </p:cNvPr>
          <p:cNvSpPr>
            <a:spLocks noGrp="1"/>
          </p:cNvSpPr>
          <p:nvPr/>
        </p:nvSpPr>
        <p:spPr>
          <a:xfrm>
            <a:off x="762000" y="4876800"/>
            <a:ext cx="2922529"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4 + 5 × 11 − 16 −</a:t>
            </a:r>
          </a:p>
        </p:txBody>
      </p:sp>
      <p:sp>
        <p:nvSpPr>
          <p:cNvPr id="21" name="Native mathematics √">
            <a:extLst>
              <a:ext uri="{FF2B5EF4-FFF2-40B4-BE49-F238E27FC236}">
                <a16:creationId xmlns:a16="http://schemas.microsoft.com/office/drawing/2014/main" id="{1DF27AC9-0094-4980-ABC6-05DA4D35D832}"/>
              </a:ext>
            </a:extLst>
          </p:cNvPr>
          <p:cNvSpPr>
            <a:spLocks noGrp="1"/>
          </p:cNvSpPr>
          <p:nvPr/>
        </p:nvSpPr>
        <p:spPr>
          <a:xfrm>
            <a:off x="3684529" y="4829175"/>
            <a:ext cx="265748" cy="438150"/>
          </a:xfrm>
          <a:prstGeom prst="rect">
            <a:avLst/>
          </a:prstGeom>
          <a:noFill/>
          <a:ln w="0">
            <a:noFill/>
          </a:ln>
        </p:spPr>
        <p:txBody>
          <a:bodyPr wrap="none" lIns="0" tIns="0" rIns="0" bIns="0" anchor="t">
            <a:noAutofit/>
          </a:bodyPr>
          <a:lstStyle/>
          <a:p>
            <a:pPr marL="0" indent="0" algn="l">
              <a:lnSpc>
                <a:spcPct val="100000"/>
              </a:lnSpc>
              <a:spcAft>
                <a:spcPts val="0"/>
              </a:spcAft>
              <a:buNone/>
              <a:defRPr sz="3000" b="0">
                <a:solidFill>
                  <a:srgbClr val="111111"/>
                </a:solidFill>
                <a:latin typeface="Aptos"/>
                <a:ea typeface="Aptos"/>
                <a:cs typeface="Aptos"/>
              </a:defRPr>
            </a:pPr>
            <a:r>
              <a:rPr sz="3000" b="0">
                <a:solidFill>
                  <a:srgbClr val="111111"/>
                </a:solidFill>
                <a:latin typeface="Aptos"/>
                <a:ea typeface="Aptos"/>
                <a:cs typeface="Aptos"/>
              </a:rPr>
              <a:t>√</a:t>
            </a:r>
          </a:p>
        </p:txBody>
      </p:sp>
      <p:sp>
        <p:nvSpPr>
          <p:cNvPr id="22" name="Native mathematics 16">
            <a:extLst>
              <a:ext uri="{FF2B5EF4-FFF2-40B4-BE49-F238E27FC236}">
                <a16:creationId xmlns:a16="http://schemas.microsoft.com/office/drawing/2014/main" id="{792A5878-5DE2-4E7F-A333-3FC0674E2250}"/>
              </a:ext>
            </a:extLst>
          </p:cNvPr>
          <p:cNvSpPr>
            <a:spLocks noGrp="1"/>
          </p:cNvSpPr>
          <p:nvPr/>
        </p:nvSpPr>
        <p:spPr>
          <a:xfrm>
            <a:off x="3897127" y="4876800"/>
            <a:ext cx="501183" cy="39052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16</a:t>
            </a:r>
          </a:p>
        </p:txBody>
      </p:sp>
      <p:sp>
        <p:nvSpPr>
          <p:cNvPr id="23" name="Fraction or radical rule">
            <a:extLst>
              <a:ext uri="{FF2B5EF4-FFF2-40B4-BE49-F238E27FC236}">
                <a16:creationId xmlns:a16="http://schemas.microsoft.com/office/drawing/2014/main" id="{3B4E102B-F456-4ADF-9DED-694029574D3C}"/>
              </a:ext>
            </a:extLst>
          </p:cNvPr>
          <p:cNvSpPr>
            <a:spLocks noGrp="1"/>
          </p:cNvSpPr>
          <p:nvPr/>
        </p:nvSpPr>
        <p:spPr>
          <a:xfrm>
            <a:off x="3897127" y="4895850"/>
            <a:ext cx="501183" cy="0"/>
          </a:xfrm>
          <a:prstGeom prst="line">
            <a:avLst/>
          </a:prstGeom>
          <a:ln w="14288">
            <a:solidFill>
              <a:srgbClr val="111111"/>
            </a:solidFill>
          </a:ln>
        </p:spPr>
        <p:txBody>
          <a:bodyPr/>
          <a:lstStyle/>
          <a:p>
            <a:endParaRPr lang="en-US"/>
          </a:p>
        </p:txBody>
      </p:sp>
      <p:sp>
        <p:nvSpPr>
          <p:cNvPr id="24" name="Native mathematics = 4 + 5 × 11 − 16 ">
            <a:extLst>
              <a:ext uri="{FF2B5EF4-FFF2-40B4-BE49-F238E27FC236}">
                <a16:creationId xmlns:a16="http://schemas.microsoft.com/office/drawing/2014/main" id="{8FB0D669-8C2A-45FD-B145-C71356085B1F}"/>
              </a:ext>
            </a:extLst>
          </p:cNvPr>
          <p:cNvSpPr>
            <a:spLocks noGrp="1"/>
          </p:cNvSpPr>
          <p:nvPr/>
        </p:nvSpPr>
        <p:spPr>
          <a:xfrm>
            <a:off x="762000" y="5419725"/>
            <a:ext cx="3198404"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4 + 5 × 11 − 16 − 4</a:t>
            </a:r>
          </a:p>
        </p:txBody>
      </p:sp>
      <p:sp>
        <p:nvSpPr>
          <p:cNvPr id="25" name="Handout reference A12">
            <a:extLst>
              <a:ext uri="{FF2B5EF4-FFF2-40B4-BE49-F238E27FC236}">
                <a16:creationId xmlns:a16="http://schemas.microsoft.com/office/drawing/2014/main" id="{FD49F713-C709-48BA-91CE-ACF04AB2E220}"/>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12</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A12: Optional answer (2/2)</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28625"/>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a:t>
            </a:r>
            <a:r>
              <a:rPr sz="2325" b="0">
                <a:solidFill>
                  <a:srgbClr val="111111"/>
                </a:solidFill>
                <a:latin typeface="Aptos"/>
                <a:ea typeface="Aptos"/>
                <a:cs typeface="Aptos"/>
              </a:rPr>
              <a:t>  Continue: multiplication, then left to right.</a:t>
            </a:r>
          </a:p>
        </p:txBody>
      </p:sp>
      <p:sp>
        <p:nvSpPr>
          <p:cNvPr id="4" name="Native mathematics 4 + 5 × 11 − 16 − ">
            <a:extLst>
              <a:ext uri="{FF2B5EF4-FFF2-40B4-BE49-F238E27FC236}">
                <a16:creationId xmlns:a16="http://schemas.microsoft.com/office/drawing/2014/main" id="{4AB49490-D495-4369-91F2-97058B6796B4}"/>
              </a:ext>
            </a:extLst>
          </p:cNvPr>
          <p:cNvSpPr>
            <a:spLocks noGrp="1"/>
          </p:cNvSpPr>
          <p:nvPr/>
        </p:nvSpPr>
        <p:spPr>
          <a:xfrm>
            <a:off x="762000" y="2705100"/>
            <a:ext cx="2913355"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4 + 5 × 11 − 16 − 4</a:t>
            </a:r>
          </a:p>
        </p:txBody>
      </p:sp>
      <p:sp>
        <p:nvSpPr>
          <p:cNvPr id="5" name="Native mathematics = 4 + 55 − 16 − 4">
            <a:extLst>
              <a:ext uri="{FF2B5EF4-FFF2-40B4-BE49-F238E27FC236}">
                <a16:creationId xmlns:a16="http://schemas.microsoft.com/office/drawing/2014/main" id="{52B946A5-DECB-4FD0-B5EA-162AEE6162A2}"/>
              </a:ext>
            </a:extLst>
          </p:cNvPr>
          <p:cNvSpPr>
            <a:spLocks noGrp="1"/>
          </p:cNvSpPr>
          <p:nvPr/>
        </p:nvSpPr>
        <p:spPr>
          <a:xfrm>
            <a:off x="762000" y="3248025"/>
            <a:ext cx="2662123"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4 + 55 − 16 − 4</a:t>
            </a:r>
          </a:p>
        </p:txBody>
      </p:sp>
      <p:sp>
        <p:nvSpPr>
          <p:cNvPr id="6" name="Native mathematics = 59 − 16 − 4">
            <a:extLst>
              <a:ext uri="{FF2B5EF4-FFF2-40B4-BE49-F238E27FC236}">
                <a16:creationId xmlns:a16="http://schemas.microsoft.com/office/drawing/2014/main" id="{2C92A1CC-DA61-40A8-96BA-AF8A899A5A6B}"/>
              </a:ext>
            </a:extLst>
          </p:cNvPr>
          <p:cNvSpPr>
            <a:spLocks noGrp="1"/>
          </p:cNvSpPr>
          <p:nvPr/>
        </p:nvSpPr>
        <p:spPr>
          <a:xfrm>
            <a:off x="762000" y="3790950"/>
            <a:ext cx="2101306"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59 − 16 − 4</a:t>
            </a:r>
          </a:p>
        </p:txBody>
      </p:sp>
      <p:sp>
        <p:nvSpPr>
          <p:cNvPr id="7" name="Native mathematics = 43 − 4">
            <a:extLst>
              <a:ext uri="{FF2B5EF4-FFF2-40B4-BE49-F238E27FC236}">
                <a16:creationId xmlns:a16="http://schemas.microsoft.com/office/drawing/2014/main" id="{81459772-3580-4438-9DD9-73A7A7146931}"/>
              </a:ext>
            </a:extLst>
          </p:cNvPr>
          <p:cNvSpPr>
            <a:spLocks noGrp="1"/>
          </p:cNvSpPr>
          <p:nvPr/>
        </p:nvSpPr>
        <p:spPr>
          <a:xfrm>
            <a:off x="762000" y="4333875"/>
            <a:ext cx="1356573"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43 − 4</a:t>
            </a:r>
          </a:p>
        </p:txBody>
      </p:sp>
      <p:sp>
        <p:nvSpPr>
          <p:cNvPr id="8" name="Native mathematics = 39">
            <a:extLst>
              <a:ext uri="{FF2B5EF4-FFF2-40B4-BE49-F238E27FC236}">
                <a16:creationId xmlns:a16="http://schemas.microsoft.com/office/drawing/2014/main" id="{48652F41-9075-4976-AFFB-AF53A1A8F655}"/>
              </a:ext>
            </a:extLst>
          </p:cNvPr>
          <p:cNvSpPr>
            <a:spLocks noGrp="1"/>
          </p:cNvSpPr>
          <p:nvPr/>
        </p:nvSpPr>
        <p:spPr>
          <a:xfrm>
            <a:off x="762000" y="4876800"/>
            <a:ext cx="795757" cy="447675"/>
          </a:xfrm>
          <a:prstGeom prst="rect">
            <a:avLst/>
          </a:prstGeom>
          <a:noFill/>
          <a:ln w="0">
            <a:noFill/>
          </a:ln>
        </p:spPr>
        <p:txBody>
          <a:bodyPr wrap="none" lIns="0" tIns="0" rIns="0" bIns="0" anchor="t">
            <a:noAutofit/>
          </a:bodyPr>
          <a:lstStyle/>
          <a:p>
            <a:pPr marL="0" indent="0" algn="l">
              <a:lnSpc>
                <a:spcPct val="100000"/>
              </a:lnSpc>
              <a:spcAft>
                <a:spcPts val="0"/>
              </a:spcAft>
              <a:buNone/>
              <a:defRPr sz="2325" b="0">
                <a:solidFill>
                  <a:srgbClr val="111111"/>
                </a:solidFill>
                <a:latin typeface="Aptos"/>
                <a:ea typeface="Aptos"/>
                <a:cs typeface="Aptos"/>
              </a:defRPr>
            </a:pPr>
            <a:r>
              <a:rPr sz="2325" b="0">
                <a:solidFill>
                  <a:srgbClr val="111111"/>
                </a:solidFill>
                <a:latin typeface="Aptos"/>
                <a:ea typeface="Aptos"/>
                <a:cs typeface="Aptos"/>
              </a:rPr>
              <a:t>= 39</a:t>
            </a:r>
          </a:p>
        </p:txBody>
      </p:sp>
      <p:sp>
        <p:nvSpPr>
          <p:cNvPr id="9" name="Handout reference A12">
            <a:extLst>
              <a:ext uri="{FF2B5EF4-FFF2-40B4-BE49-F238E27FC236}">
                <a16:creationId xmlns:a16="http://schemas.microsoft.com/office/drawing/2014/main" id="{E20EFEBD-8FEA-4915-9D1E-2B3F3D71F990}"/>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12</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A13: Independent exit ticket</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330732"/>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  A = {1,2,4,8}, B = {2,3,4,6}. Find A ∪ B.</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  Choose and calculate: select 3 equal-role students from 8.</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  Simplify and classify √27.</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Q4  Calculate 48 ÷ [2 × (3 + 1)] + 5².</a:t>
            </a:r>
          </a:p>
          <a:p>
            <a:pPr marL="0" indent="0" algn="l">
              <a:lnSpc>
                <a:spcPct val="106000"/>
              </a:lnSpc>
              <a:spcAft>
                <a:spcPts val="4"/>
              </a:spcAft>
              <a:buNone/>
              <a:defRPr sz="2325" b="0">
                <a:solidFill>
                  <a:srgbClr val="111111"/>
                </a:solidFill>
                <a:latin typeface="Aptos"/>
                <a:ea typeface="Aptos"/>
                <a:cs typeface="Aptos"/>
              </a:defRPr>
            </a:pPr>
            <a:endParaRPr sz="2325" b="1">
              <a:solidFill>
                <a:srgbClr val="111111"/>
              </a:solidFill>
              <a:latin typeface="Aptos"/>
              <a:ea typeface="Aptos"/>
              <a:cs typeface="Aptos"/>
            </a:endParaRPr>
          </a:p>
          <a:p>
            <a:pPr marL="0" indent="0" algn="l">
              <a:lnSpc>
                <a:spcPct val="106000"/>
              </a:lnSpc>
              <a:spcAft>
                <a:spcPts val="7"/>
              </a:spcAft>
              <a:buNone/>
              <a:defRPr sz="2325" b="0">
                <a:solidFill>
                  <a:srgbClr val="111111"/>
                </a:solidFill>
                <a:latin typeface="Aptos"/>
                <a:ea typeface="Aptos"/>
                <a:cs typeface="Aptos"/>
              </a:defRPr>
            </a:pPr>
            <a:r>
              <a:rPr sz="2325" b="0">
                <a:solidFill>
                  <a:srgbClr val="111111"/>
                </a:solidFill>
                <a:latin typeface="Aptos"/>
                <a:ea typeface="Aptos"/>
                <a:cs typeface="Aptos"/>
              </a:rPr>
              <a:t>Write the method and the main calculation steps.</a:t>
            </a:r>
          </a:p>
        </p:txBody>
      </p:sp>
      <p:sp>
        <p:nvSpPr>
          <p:cNvPr id="4" name="Handout reference A13">
            <a:extLst>
              <a:ext uri="{FF2B5EF4-FFF2-40B4-BE49-F238E27FC236}">
                <a16:creationId xmlns:a16="http://schemas.microsoft.com/office/drawing/2014/main" id="{2BE4AB2A-2A2D-457B-B2EC-A328EB3C9F8A}"/>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13</a:t>
            </a:r>
          </a:p>
        </p:txBody>
      </p:sp>
    </p:spTree>
    <p:extLst>
      <p:ext uri="{BB962C8B-B14F-4D97-AF65-F5344CB8AC3E}">
        <p14:creationId xmlns:p14="http://schemas.microsoft.com/office/powerpoint/2010/main" val="4158798959"/>
      </p:ext>
    </p:extLst>
  </p:cSld>
  <p:clrMapOvr>
    <a:masterClrMapping/>
  </p:clrMapOvr>
  <p:transition spd="slow">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A432B-6C29-CECE-F753-22599BF6B9BE}"/>
              </a:ext>
            </a:extLst>
          </p:cNvPr>
          <p:cNvSpPr>
            <a:spLocks noGrp="1"/>
          </p:cNvSpPr>
          <p:nvPr>
            <p:ph type="title"/>
          </p:nvPr>
        </p:nvSpPr>
        <p:spPr>
          <a:xfrm>
            <a:off x="430816" y="1023080"/>
            <a:ext cx="11293412" cy="794385"/>
          </a:xfrm>
        </p:spPr>
        <p:txBody>
          <a:bodyPr lIns="0" tIns="0" rIns="0" bIns="0" anchor="ct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A13: Worked answers</a:t>
            </a:r>
          </a:p>
        </p:txBody>
      </p:sp>
      <p:sp>
        <p:nvSpPr>
          <p:cNvPr id="3" name="Content Placeholder 2">
            <a:extLst>
              <a:ext uri="{FF2B5EF4-FFF2-40B4-BE49-F238E27FC236}">
                <a16:creationId xmlns:a16="http://schemas.microsoft.com/office/drawing/2014/main" id="{687BD87F-0408-E997-042C-156B8CFB34A6}"/>
              </a:ext>
            </a:extLst>
          </p:cNvPr>
          <p:cNvSpPr>
            <a:spLocks noGrp="1"/>
          </p:cNvSpPr>
          <p:nvPr>
            <p:ph idx="1"/>
          </p:nvPr>
        </p:nvSpPr>
        <p:spPr>
          <a:xfrm>
            <a:off x="430816" y="1952339"/>
            <a:ext cx="7433024" cy="4422267"/>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Q1</a:t>
            </a:r>
            <a:r>
              <a:rPr sz="2325" b="0">
                <a:solidFill>
                  <a:srgbClr val="111111"/>
                </a:solidFill>
                <a:latin typeface="Aptos"/>
                <a:ea typeface="Aptos"/>
                <a:cs typeface="Aptos"/>
              </a:rPr>
              <a:t>  A ∪ B = {1,2,3,4,6,8}</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Q2</a:t>
            </a:r>
            <a:r>
              <a:rPr sz="2325" b="0">
                <a:solidFill>
                  <a:srgbClr val="111111"/>
                </a:solidFill>
                <a:latin typeface="Aptos"/>
                <a:ea typeface="Aptos"/>
                <a:cs typeface="Aptos"/>
              </a:rPr>
              <a:t>  Combination: C(8,3) = 56</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Q3</a:t>
            </a:r>
            <a:r>
              <a:rPr sz="2325" b="0">
                <a:solidFill>
                  <a:srgbClr val="111111"/>
                </a:solidFill>
                <a:latin typeface="Aptos"/>
                <a:ea typeface="Aptos"/>
                <a:cs typeface="Aptos"/>
              </a:rPr>
              <a:t>  √27 = 3√3 → irrational</a:t>
            </a:r>
          </a:p>
          <a:p>
            <a:pPr marL="0" indent="0" algn="l">
              <a:lnSpc>
                <a:spcPct val="106000"/>
              </a:lnSpc>
              <a:spcAft>
                <a:spcPts val="8"/>
              </a:spcAft>
              <a:buNone/>
              <a:defRPr sz="2325" b="0">
                <a:solidFill>
                  <a:srgbClr val="111111"/>
                </a:solidFill>
                <a:latin typeface="Aptos"/>
                <a:ea typeface="Aptos"/>
                <a:cs typeface="Aptos"/>
              </a:defRPr>
            </a:pPr>
            <a:r>
              <a:rPr sz="2325" b="1">
                <a:solidFill>
                  <a:srgbClr val="111111"/>
                </a:solidFill>
                <a:latin typeface="Aptos"/>
                <a:ea typeface="Aptos"/>
                <a:cs typeface="Aptos"/>
              </a:rPr>
              <a:t>Q4</a:t>
            </a:r>
            <a:r>
              <a:rPr sz="2325" b="0">
                <a:solidFill>
                  <a:srgbClr val="111111"/>
                </a:solidFill>
                <a:latin typeface="Aptos"/>
                <a:ea typeface="Aptos"/>
                <a:cs typeface="Aptos"/>
              </a:rPr>
              <a:t>  48 ÷ 8 + 25 = 6 + 25 = 31</a:t>
            </a:r>
          </a:p>
          <a:p>
            <a:pPr marL="0" indent="0" algn="l">
              <a:lnSpc>
                <a:spcPct val="106000"/>
              </a:lnSpc>
              <a:spcAft>
                <a:spcPts val="7"/>
              </a:spcAft>
              <a:buNone/>
              <a:defRPr sz="2325" b="0">
                <a:solidFill>
                  <a:srgbClr val="111111"/>
                </a:solidFill>
                <a:latin typeface="Aptos"/>
                <a:ea typeface="Aptos"/>
                <a:cs typeface="Aptos"/>
              </a:defRPr>
            </a:pPr>
            <a:endParaRPr sz="2325" b="0">
              <a:solidFill>
                <a:srgbClr val="111111"/>
              </a:solidFill>
              <a:latin typeface="Aptos"/>
              <a:ea typeface="Aptos"/>
              <a:cs typeface="Aptos"/>
            </a:endParaRP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Use set notation accurately.</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Read the story before selecting a formula.</a:t>
            </a:r>
          </a:p>
          <a:p>
            <a:pPr marL="0" indent="0" algn="l">
              <a:lnSpc>
                <a:spcPct val="106000"/>
              </a:lnSpc>
              <a:spcAft>
                <a:spcPts val="6"/>
              </a:spcAft>
              <a:buNone/>
              <a:defRPr sz="2325" b="0">
                <a:solidFill>
                  <a:srgbClr val="111111"/>
                </a:solidFill>
                <a:latin typeface="Aptos"/>
                <a:ea typeface="Aptos"/>
                <a:cs typeface="Aptos"/>
              </a:defRPr>
            </a:pPr>
            <a:r>
              <a:rPr sz="2325" b="0">
                <a:solidFill>
                  <a:srgbClr val="111111"/>
                </a:solidFill>
                <a:latin typeface="Aptos"/>
                <a:ea typeface="Aptos"/>
                <a:cs typeface="Aptos"/>
              </a:rPr>
              <a:t>Simplify numbers and use PEMDAS.</a:t>
            </a:r>
          </a:p>
        </p:txBody>
      </p:sp>
      <p:sp>
        <p:nvSpPr>
          <p:cNvPr id="4" name="Handout reference A13">
            <a:extLst>
              <a:ext uri="{FF2B5EF4-FFF2-40B4-BE49-F238E27FC236}">
                <a16:creationId xmlns:a16="http://schemas.microsoft.com/office/drawing/2014/main" id="{4F6D676C-2F6E-4914-908D-278CD2BDE4B9}"/>
              </a:ext>
            </a:extLst>
          </p:cNvPr>
          <p:cNvSpPr>
            <a:spLocks noGrp="1"/>
          </p:cNvSpPr>
          <p:nvPr/>
        </p:nvSpPr>
        <p:spPr>
          <a:xfrm>
            <a:off x="8734425" y="476250"/>
            <a:ext cx="3000375" cy="400050"/>
          </a:xfrm>
          <a:prstGeom prst="rect">
            <a:avLst/>
          </a:prstGeom>
          <a:solidFill>
            <a:srgbClr val="D6171D"/>
          </a:solidFill>
          <a:ln w="0">
            <a:noFill/>
          </a:ln>
        </p:spPr>
        <p:txBody>
          <a:bodyPr wrap="none" lIns="76200" tIns="0" rIns="76200" bIns="0" anchor="ctr">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 EXERCISE 13</a:t>
            </a:r>
          </a:p>
        </p:txBody>
      </p:sp>
    </p:spTree>
    <p:extLst>
      <p:ext uri="{BB962C8B-B14F-4D97-AF65-F5344CB8AC3E}">
        <p14:creationId xmlns:p14="http://schemas.microsoft.com/office/powerpoint/2010/main" val="1269358350"/>
      </p:ext>
    </p:extLst>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lIns="0" tIns="0" rIns="0" bIns="0" anchor="ctr">
            <a:normAutofit/>
          </a:bodyPr>
          <a:lstStyle/>
          <a:p>
            <a:pPr algn="l">
              <a:lnSpc>
                <a:spcPct val="90000"/>
              </a:lnSpc>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we can do now</a:t>
            </a:r>
          </a:p>
        </p:txBody>
      </p:sp>
      <p:sp>
        <p:nvSpPr>
          <p:cNvPr id="3" name="Content Placeholder 2">
            <a:extLst>
              <a:ext uri="{FF2B5EF4-FFF2-40B4-BE49-F238E27FC236}">
                <a16:creationId xmlns:a16="http://schemas.microsoft.com/office/drawing/2014/main" id="{7FC3AEA0-6F20-F309-9B03-BADF904C549E}"/>
              </a:ext>
            </a:extLst>
          </p:cNvPr>
          <p:cNvSpPr>
            <a:spLocks noGrp="1"/>
          </p:cNvSpPr>
          <p:nvPr>
            <p:ph idx="1"/>
          </p:nvPr>
        </p:nvSpPr>
        <p:spPr>
          <a:xfrm>
            <a:off x="430816" y="1952339"/>
            <a:ext cx="11293412" cy="4330732"/>
          </a:xfrm>
        </p:spPr>
        <p:txBody>
          <a:bodyPr lIns="0" tIns="0" rIns="0" bIns="0" anchor="t">
            <a:noAutofit/>
          </a:bodyPr>
          <a:lstStyle/>
          <a:p>
            <a:pPr marL="0" indent="0" algn="l">
              <a:lnSpc>
                <a:spcPct val="106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Use precise notation. Choose the method. Show the steps.</a:t>
            </a:r>
          </a:p>
          <a:p>
            <a:pPr marL="0" indent="0" algn="l">
              <a:lnSpc>
                <a:spcPct val="106000"/>
              </a:lnSpc>
              <a:spcAft>
                <a:spcPts val="8"/>
              </a:spcAft>
              <a:buNone/>
              <a:defRPr sz="2325" b="0">
                <a:solidFill>
                  <a:srgbClr val="111111"/>
                </a:solidFill>
                <a:latin typeface="Aptos"/>
                <a:ea typeface="Aptos"/>
                <a:cs typeface="Aptos"/>
              </a:defRPr>
            </a:pPr>
            <a:endParaRPr sz="2325" b="0">
              <a:solidFill>
                <a:srgbClr val="111111"/>
              </a:solidFill>
              <a:latin typeface="Aptos"/>
              <a:ea typeface="Aptos"/>
              <a:cs typeface="Aptos"/>
            </a:endParaRPr>
          </a:p>
          <a:p>
            <a:pPr marL="0" indent="0" algn="l">
              <a:lnSpc>
                <a:spcPct val="106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Sets — identify membership and combine or compare groups.</a:t>
            </a:r>
          </a:p>
          <a:p>
            <a:pPr marL="0" indent="0" algn="l">
              <a:lnSpc>
                <a:spcPct val="106000"/>
              </a:lnSpc>
              <a:spcAft>
                <a:spcPts val="8"/>
              </a:spcAft>
              <a:buNone/>
              <a:defRPr sz="2325" b="0">
                <a:solidFill>
                  <a:srgbClr val="111111"/>
                </a:solidFill>
                <a:latin typeface="Aptos"/>
                <a:ea typeface="Aptos"/>
                <a:cs typeface="Aptos"/>
              </a:defRPr>
            </a:pPr>
            <a:r>
              <a:rPr sz="2325" b="0">
                <a:solidFill>
                  <a:srgbClr val="111111"/>
                </a:solidFill>
                <a:latin typeface="Aptos"/>
                <a:ea typeface="Aptos"/>
                <a:cs typeface="Aptos"/>
              </a:rPr>
              <a:t>Counting — decide whether swapping changes the result.</a:t>
            </a:r>
          </a:p>
          <a:p>
            <a:pPr marL="0" indent="0" algn="l">
              <a:lnSpc>
                <a:spcPct val="106000"/>
              </a:lnSpc>
              <a:spcAft>
                <a:spcPts val="4"/>
              </a:spcAft>
              <a:buNone/>
              <a:defRPr sz="2325" b="0">
                <a:solidFill>
                  <a:srgbClr val="111111"/>
                </a:solidFill>
                <a:latin typeface="Aptos"/>
                <a:ea typeface="Aptos"/>
                <a:cs typeface="Aptos"/>
              </a:defRPr>
            </a:pPr>
            <a:r>
              <a:rPr sz="2325" b="0">
                <a:solidFill>
                  <a:srgbClr val="111111"/>
                </a:solidFill>
                <a:latin typeface="Aptos"/>
                <a:ea typeface="Aptos"/>
                <a:cs typeface="Aptos"/>
              </a:rPr>
              <a:t>Numbers — simplify before choosing a number family.</a:t>
            </a:r>
          </a:p>
          <a:p>
            <a:pPr marL="0" indent="0" algn="l">
              <a:lnSpc>
                <a:spcPct val="106000"/>
              </a:lnSpc>
              <a:spcAft>
                <a:spcPts val="7"/>
              </a:spcAft>
              <a:buNone/>
              <a:defRPr sz="2325" b="0">
                <a:solidFill>
                  <a:srgbClr val="111111"/>
                </a:solidFill>
                <a:latin typeface="Aptos"/>
                <a:ea typeface="Aptos"/>
                <a:cs typeface="Aptos"/>
              </a:defRPr>
            </a:pPr>
            <a:r>
              <a:rPr sz="2325" b="0">
                <a:solidFill>
                  <a:srgbClr val="111111"/>
                </a:solidFill>
                <a:latin typeface="Aptos"/>
                <a:ea typeface="Aptos"/>
                <a:cs typeface="Aptos"/>
              </a:rPr>
              <a:t>Arithmetic — apply brackets, powers and equal-priority order.</a:t>
            </a:r>
          </a:p>
          <a:p>
            <a:pPr marL="0" indent="0" algn="l">
              <a:lnSpc>
                <a:spcPct val="106000"/>
              </a:lnSpc>
              <a:spcAft>
                <a:spcPts val="7"/>
              </a:spcAft>
              <a:buNone/>
              <a:defRPr sz="2325" b="0">
                <a:solidFill>
                  <a:srgbClr val="111111"/>
                </a:solidFill>
                <a:latin typeface="Aptos"/>
                <a:ea typeface="Aptos"/>
                <a:cs typeface="Aptos"/>
              </a:defRPr>
            </a:pPr>
            <a:endParaRPr sz="2325" b="0">
              <a:solidFill>
                <a:srgbClr val="111111"/>
              </a:solidFill>
              <a:latin typeface="Aptos"/>
              <a:ea typeface="Aptos"/>
              <a:cs typeface="Aptos"/>
            </a:endParaRPr>
          </a:p>
          <a:p>
            <a:pPr marL="0" indent="0" algn="l">
              <a:lnSpc>
                <a:spcPct val="106000"/>
              </a:lnSpc>
              <a:spcAft>
                <a:spcPts val="7"/>
              </a:spcAft>
              <a:buNone/>
              <a:defRPr sz="2325" b="0">
                <a:solidFill>
                  <a:srgbClr val="111111"/>
                </a:solidFill>
                <a:latin typeface="Aptos"/>
                <a:ea typeface="Aptos"/>
                <a:cs typeface="Aptos"/>
              </a:defRPr>
            </a:pPr>
            <a:r>
              <a:rPr sz="2325" b="0">
                <a:solidFill>
                  <a:srgbClr val="111111"/>
                </a:solidFill>
                <a:latin typeface="Aptos"/>
                <a:ea typeface="Aptos"/>
                <a:cs typeface="Aptos"/>
              </a:rPr>
              <a:t>Next: use these foundations to solve equations,</a:t>
            </a:r>
          </a:p>
          <a:p>
            <a:pPr marL="0" indent="0" algn="l">
              <a:lnSpc>
                <a:spcPct val="106000"/>
              </a:lnSpc>
              <a:spcAft>
                <a:spcPts val="7"/>
              </a:spcAft>
              <a:buNone/>
              <a:defRPr sz="2325" b="0">
                <a:solidFill>
                  <a:srgbClr val="111111"/>
                </a:solidFill>
                <a:latin typeface="Aptos"/>
                <a:ea typeface="Aptos"/>
                <a:cs typeface="Aptos"/>
              </a:defRPr>
            </a:pPr>
            <a:r>
              <a:rPr sz="2325" b="0">
                <a:solidFill>
                  <a:srgbClr val="111111"/>
                </a:solidFill>
                <a:latin typeface="Aptos"/>
                <a:ea typeface="Aptos"/>
                <a:cs typeface="Aptos"/>
              </a:rPr>
              <a:t>convert units and compare quantities in Class B.</a:t>
            </a:r>
          </a:p>
        </p:txBody>
      </p:sp>
    </p:spTree>
    <p:extLst>
      <p:ext uri="{BB962C8B-B14F-4D97-AF65-F5344CB8AC3E}">
        <p14:creationId xmlns:p14="http://schemas.microsoft.com/office/powerpoint/2010/main" val="2463775365"/>
      </p:ext>
    </p:extLst>
  </p:cSld>
  <p:clrMapOvr>
    <a:masterClrMapping/>
  </p:clrMapOvr>
  <p:transition spd="slow">
    <p:push dir="u"/>
  </p:transition>
</p:sld>
</file>

<file path=ppt/theme/theme1.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TotalTime>
  <Words>8589</Words>
  <Application>Microsoft Office PowerPoint</Application>
  <DocSecurity>0</DocSecurity>
  <PresentationFormat>Widescreen</PresentationFormat>
  <Paragraphs>1082</Paragraphs>
  <Slides>69</Slides>
  <Notes>67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69</vt:i4>
      </vt:variant>
    </vt:vector>
  </HeadingPairs>
  <TitlesOfParts>
    <vt:vector size="73" baseType="lpstr">
      <vt:lpstr>Aptos</vt:lpstr>
      <vt:lpstr>Aptos Display</vt:lpstr>
      <vt:lpstr>Arial</vt:lpstr>
      <vt:lpstr>Office Theme</vt:lpstr>
      <vt:lpstr>IFY Statistics Semester 1 • Week 1 • Class A   Introduction to Statistics</vt:lpstr>
      <vt:lpstr>Your lecturer</vt:lpstr>
      <vt:lpstr>Outside the classroom</vt:lpstr>
      <vt:lpstr>The Mystery Bag</vt:lpstr>
      <vt:lpstr>What does our evidence suggest?</vt:lpstr>
      <vt:lpstr>The full result</vt:lpstr>
      <vt:lpstr>You just did statistics</vt:lpstr>
      <vt:lpstr>Course Learning Curve</vt:lpstr>
      <vt:lpstr>What will you need? </vt:lpstr>
      <vt:lpstr>Assessment Practice and final marks</vt:lpstr>
      <vt:lpstr>Formative and summative assessment</vt:lpstr>
      <vt:lpstr>Semester 1: assessment weeks</vt:lpstr>
      <vt:lpstr>Semester 2: assessment weeks</vt:lpstr>
      <vt:lpstr>Your final module mark</vt:lpstr>
      <vt:lpstr>Semester 2: presentation and portfolio</vt:lpstr>
      <vt:lpstr>IFY Statistics Semester 1 • Week 1 • Class A   Mathematical Foundations I Sets, Counting &amp; Arithmetic</vt:lpstr>
      <vt:lpstr>Learning objectives</vt:lpstr>
      <vt:lpstr>Quick revision</vt:lpstr>
      <vt:lpstr>Revision answers</vt:lpstr>
      <vt:lpstr>Section 1: Sets and Notation</vt:lpstr>
      <vt:lpstr>A set is a clear collection</vt:lpstr>
      <vt:lpstr>Essential set notation</vt:lpstr>
      <vt:lpstr>A1: Symbol Decoder</vt:lpstr>
      <vt:lpstr>A1: Worked answers</vt:lpstr>
      <vt:lpstr>Union, intersection and complement</vt:lpstr>
      <vt:lpstr>A2: Venn Detective</vt:lpstr>
      <vt:lpstr>A2: Worked answers</vt:lpstr>
      <vt:lpstr>A3: Class survey sets</vt:lpstr>
      <vt:lpstr>A3: Worked answers</vt:lpstr>
      <vt:lpstr>Section 2: Counting Methods</vt:lpstr>
      <vt:lpstr>List possibilities first</vt:lpstr>
      <vt:lpstr>Multiply choices at each stage</vt:lpstr>
      <vt:lpstr>A4: Basic counting practice</vt:lpstr>
      <vt:lpstr>A4: Worked answers</vt:lpstr>
      <vt:lpstr>Factorial arranges every item</vt:lpstr>
      <vt:lpstr>A5: Factorial practice</vt:lpstr>
      <vt:lpstr>A5: Worked answers</vt:lpstr>
      <vt:lpstr>Permutation: different roles</vt:lpstr>
      <vt:lpstr>Permutation: fill three roles</vt:lpstr>
      <vt:lpstr>A6: Permutation practice</vt:lpstr>
      <vt:lpstr>A6: Worked answers</vt:lpstr>
      <vt:lpstr>Combination: equal roles</vt:lpstr>
      <vt:lpstr>Combination: the group stays the same</vt:lpstr>
      <vt:lpstr>A7: Combination practice</vt:lpstr>
      <vt:lpstr>A7: Worked answers</vt:lpstr>
      <vt:lpstr>Choose the counting method</vt:lpstr>
      <vt:lpstr>A8: Choose, explain, calculate</vt:lpstr>
      <vt:lpstr>A8: Worked answers</vt:lpstr>
      <vt:lpstr>Section 3: Numbers and Arithmetic</vt:lpstr>
      <vt:lpstr>Types of real numbers</vt:lpstr>
      <vt:lpstr>Number families overlap</vt:lpstr>
      <vt:lpstr>A9: Simplify, then classify</vt:lpstr>
      <vt:lpstr>A9: Worked answers</vt:lpstr>
      <vt:lpstr>Arithmetic vocabulary</vt:lpstr>
      <vt:lpstr>PEMDAS and BODMAS</vt:lpstr>
      <vt:lpstr>PEMDAS: worked example 1</vt:lpstr>
      <vt:lpstr>PEMDAS: worked example 2</vt:lpstr>
      <vt:lpstr>A10: Order-of-operations error clinic</vt:lpstr>
      <vt:lpstr>A10: Worked answers</vt:lpstr>
      <vt:lpstr>A11: PEMDAS challenge</vt:lpstr>
      <vt:lpstr>A11: Q1 worked answer</vt:lpstr>
      <vt:lpstr>A11: Q2 worked answer</vt:lpstr>
      <vt:lpstr>A11: Q3 worked answer</vt:lpstr>
      <vt:lpstr>A12: Optional brain-boiling challenge</vt:lpstr>
      <vt:lpstr>A12: Optional answer (1/2)</vt:lpstr>
      <vt:lpstr>A12: Optional answer (2/2)</vt:lpstr>
      <vt:lpstr>A13: Independent exit ticket</vt:lpstr>
      <vt:lpstr>A13: Worked answers</vt:lpstr>
      <vt:lpstr>What we can do now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Jacob Mlynarski</cp:lastModifiedBy>
  <cp:revision>1</cp:revision>
  <dcterms:created xsi:type="dcterms:W3CDTF">2026-09-06T05:20:38Z</dcterms:created>
  <dcterms:modified xsi:type="dcterms:W3CDTF">2026-09-13T23:57:05Z</dcterms:modified>
</cp:coreProperties>
</file>