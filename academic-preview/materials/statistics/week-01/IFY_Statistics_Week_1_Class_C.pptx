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9C3ED0-BEAF-3847-9220-E13AF2CFB32F}" v="1" dt="2026-09-17T01:23:53.0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02" d="100"/>
          <a:sy n="102" d="100"/>
        </p:scale>
        <p:origin x="1400" y="4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ob Mlynarski" userId="5c8c5ce1edfe4dd6" providerId="LiveId" clId="{C91FEEE5-5543-5F5D-804A-A29147691C79}"/>
    <pc:docChg chg="custSel addSld delSld modSld sldOrd">
      <pc:chgData name="Jacob Mlynarski" userId="5c8c5ce1edfe4dd6" providerId="LiveId" clId="{C91FEEE5-5543-5F5D-804A-A29147691C79}" dt="2026-10-06T00:51:59.419" v="3" actId="2696"/>
      <pc:docMkLst>
        <pc:docMk/>
      </pc:docMkLst>
      <pc:sldChg chg="modSp mod">
        <pc:chgData name="Jacob Mlynarski" userId="5c8c5ce1edfe4dd6" providerId="LiveId" clId="{C91FEEE5-5543-5F5D-804A-A29147691C79}" dt="2026-09-17T01:23:53.155" v="1" actId="27636"/>
        <pc:sldMkLst>
          <pc:docMk/>
          <pc:sldMk cId="3742239900" sldId="256"/>
        </pc:sldMkLst>
        <pc:spChg chg="mod">
          <ac:chgData name="Jacob Mlynarski" userId="5c8c5ce1edfe4dd6" providerId="LiveId" clId="{C91FEEE5-5543-5F5D-804A-A29147691C79}" dt="2026-09-17T01:23:53.155" v="1" actId="27636"/>
          <ac:spMkLst>
            <pc:docMk/>
            <pc:sldMk cId="3742239900" sldId="256"/>
            <ac:spMk id="2" creationId="{5090EE20-CE2E-3013-3D7D-3F4166CBDECE}"/>
          </ac:spMkLst>
        </pc:spChg>
      </pc:sldChg>
      <pc:sldChg chg="add del ord">
        <pc:chgData name="Jacob Mlynarski" userId="5c8c5ce1edfe4dd6" providerId="LiveId" clId="{C91FEEE5-5543-5F5D-804A-A29147691C79}" dt="2026-10-06T00:51:59.419" v="3" actId="2696"/>
        <pc:sldMkLst>
          <pc:docMk/>
          <pc:sldMk cId="1601433022" sldId="316"/>
        </pc:sldMkLst>
      </pc:sldChg>
    </pc:docChg>
  </pc:docChgLst>
  <pc:docChgLst>
    <pc:chgData name="Jacob Mlynarski" userId="5c8c5ce1edfe4dd6" providerId="LiveId" clId="{EA34CD77-B017-48F4-80DC-E98A38773462}"/>
    <pc:docChg chg="modSld">
      <pc:chgData name="Jacob Mlynarski" userId="5c8c5ce1edfe4dd6" providerId="LiveId" clId="{EA34CD77-B017-48F4-80DC-E98A38773462}" dt="2026-09-16T13:59:16.514" v="1" actId="113"/>
      <pc:docMkLst>
        <pc:docMk/>
      </pc:docMkLst>
      <pc:sldChg chg="modSp mod">
        <pc:chgData name="Jacob Mlynarski" userId="5c8c5ce1edfe4dd6" providerId="LiveId" clId="{EA34CD77-B017-48F4-80DC-E98A38773462}" dt="2026-09-16T13:59:16.514" v="1" actId="113"/>
        <pc:sldMkLst>
          <pc:docMk/>
          <pc:sldMk cId="4158798959" sldId="275"/>
        </pc:sldMkLst>
        <pc:spChg chg="mod">
          <ac:chgData name="Jacob Mlynarski" userId="5c8c5ce1edfe4dd6" providerId="LiveId" clId="{EA34CD77-B017-48F4-80DC-E98A38773462}" dt="2026-09-16T13:59:16.514" v="1" actId="113"/>
          <ac:spMkLst>
            <pc:docMk/>
            <pc:sldMk cId="4158798959" sldId="275"/>
            <ac:spMk id="4" creationId="{FF1AAAE4-2A36-47D3-986E-F3A7833A3FC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90-minute core workshop. Core slides 1–47. Optional answer appendix follows. Added answer explanations do not add new student tasks. Use the existing handout task IDs. Opening 6 min; survey 11; choices 12; mass and packaging 17; production and washing 18; discounts 15; evidence 4; exit check 7. All GreenSip data are fictional.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0–6 min. Seated simultaneous finger vote. The poll is not a numbered handout exercise. Collect four nonoverlapping categories; a student checks the total. Do not claim the class represents all students.</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 live counts. Ask for the percentage selecting at least one; they choose the numerator and denominator. Follow with the fixed dataset.</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Survey stage: 6–17 min. C1A inverse Venn calculation, C1B changing denominator. Preserve simple language; do not introduce formal conditional probability yet.</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slide. Allow an independent attempt before pair checking. </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 the four mutually exclusive regions. Counts add to187. Inclusive totals119and97eachcontain52.</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slide. Allow an independent attempt before pair checking. </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denominator is the size of the group the question asks us to compare against. Q2 uses only the 119 students who chose leakproof. Q3 uses every surveyed student, so its denominator is 187. Both numerators are 52.</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17–29 min. C2A counting with restrictions; C2B two-stage selection. Optional Maya extension only after core is complete.</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slide. Allow an independent attempt before pair checking. </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slide. Allow an independent attempt before pair checking. Optional Maya question appears on the handout; answer appendix slide45. Fourtester groupsunordered butleader/reporterrolesordered.</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29–46 min. C3A 5min; C3B5min; C3C7min. Optional maximum-shipment and430cm2 formula questions can be completed later. The carton illustration is generic, not a literal count of eight bottles.</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slide. Allow an independent attempt before pair checking. Carry x=0.285048185941... into linked tasks. Report285g onlyasfinalroundedanswer,notworkingvalue.</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slide. Allow an independent attempt before pair checking. The number of cartons rounds UP. The mass comparison uses rounded conversionfactorasgiven. Optional maximum1158bottles answerappendix46.</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46–64 min. C4A successive losses6min; C4B ratios andsacks6min; C4C gallonlabel6min. Use calculator memory. Reserve any extras for fastfinishers.</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slide. Allow an independent attempt before pair checking. </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slide. Allow an independent attempt before pair checking. Use M=357.528723... independent of roundeddisplay. Uniformlossmeansrawmaterialratiosretained. UnusedA=3.22129kg. Optional extraappendix48.</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slide. Allow an independent attempt before pair checking. </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64–79min discounts;79–83evidence;83–90exit. Moneyreceivedonly: nofinancialprofitdefinitions. Precisechargingrulematters.</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slide. Allow an independent attempt before pair checking. Calculate independently beforeseeinganswers. Keepchargedpricesroundedtocentsasexplicitlystated. RemainingQ2/Q3onslide36.</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Q1 asks for the second discount only, using 113.44 as the base. Q2 asks for the overall reduction, using 137.50 as the base. The displayed prices are rounded, so both calculations describe estimates from those displayed prices.</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equivalent algebra method for Q1 is 113.44(1 − r/100) = 99.83. Divide by 113.44, subtract from 1, then multiply by 100 to obtain r ≈ 12.00. The new visible method computes the same rate by finding the money reduction first. The displayed prices are rounded, so r is an estimate.</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slide. Allow an independent attempt before pair checking. 7minindividual. No helpuntilstudentscommit. Includesnewnumbers,mixedunits,reversepercentage,ratioandinterpretation. Accept otherdefensibleassumptions aboutloss,sackmass,uniformmixture.</a:t>
            </a: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Concrete example: suppose one chosen team is Maya, Ana, Ben and Chen. The leader can be Ana, Ben or Chen, giving three choices. If Ana is leader, the reporter can be Maya, Ben or Chen, again three choices. The same count holds for either other leader. Therefore each team allows 3 × 3 = 9 assignments. There are 120 choices for the team because Maya is fixed and only three teammates are selected from the other ten volunteers.</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[Sources]</a:t>
            </a:r>
          </a:p>
          <a:p>
            <a:r>
              <a:t>Fictional GreenSip classroom data, revised for this workshop.</a:t>
            </a:r>
          </a:p>
          <a:p>
            <a:r>
              <a:t>Visual template: user-supplied IFY_Statistics_Week_1_Class_C(2).pptx.</a:t>
            </a:r>
          </a:p>
          <a:p>
            <a:r>
              <a:t>Conversion factors: NIST SP811 Appendix B.8 https://www.nist.gov/pml/special-publication-811/nist-guide-si-appendix-b-conversion-factors/nist-guide-si-appendix-b8 and NIST Handbook44 Appendix C https://www.nist.gov/document/2026-nist-handbook-44-appendix-c . Factors shown in questions are rounded where marked approximately.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Edi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Edi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der 3">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tx1"/>
                </a:solidFill>
              </a:defRPr>
            </a:lvl1pPr>
          </a:lstStyle>
          <a:p>
            <a:r>
              <a:t>Click to edit Master title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4">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5">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Image 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divider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1384914"/>
            <a:ext cx="5012602" cy="2387600"/>
          </a:xfrm>
        </p:spPr>
        <p:txBody>
          <a:bodyPr anchor="ctr">
            <a:normAutofit/>
          </a:bodyPr>
          <a:lstStyle>
            <a:lvl1pPr algn="l">
              <a:buNone/>
              <a:defRPr sz="5400">
                <a:solidFill>
                  <a:schemeClr val="tx1"/>
                </a:solidFill>
              </a:defRPr>
            </a:lvl1pPr>
          </a:lstStyle>
          <a:p>
            <a:r>
              <a:t>Click to edit Master 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ext and image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337079"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33707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ext and image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337079"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33707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ext and logo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11293444"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11293444" cy="4330731"/>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4" y="1979534"/>
            <a:ext cx="5589006"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1B27F821-23A1-E30C-4CF7-BCB0A54C884C}"/>
              </a:ext>
            </a:extLst>
          </p:cNvPr>
          <p:cNvSpPr>
            <a:spLocks noGrp="1"/>
          </p:cNvSpPr>
          <p:nvPr>
            <p:ph idx="2"/>
          </p:nvPr>
        </p:nvSpPr>
        <p:spPr>
          <a:xfrm>
            <a:off x="6172200" y="1979534"/>
            <a:ext cx="5552038"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3" y="1979534"/>
            <a:ext cx="360425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5" name="Content Placeholder 2">
            <a:extLst>
              <a:ext uri="{FF2B5EF4-FFF2-40B4-BE49-F238E27FC236}">
                <a16:creationId xmlns:a16="http://schemas.microsoft.com/office/drawing/2014/main" id="{39B8B3E1-3E22-853B-33F7-08DB9B6F05C9}"/>
              </a:ext>
            </a:extLst>
          </p:cNvPr>
          <p:cNvSpPr>
            <a:spLocks noGrp="1"/>
          </p:cNvSpPr>
          <p:nvPr>
            <p:ph idx="10"/>
          </p:nvPr>
        </p:nvSpPr>
        <p:spPr>
          <a:xfrm>
            <a:off x="4293873" y="1989591"/>
            <a:ext cx="360425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Content Placeholder 2">
            <a:extLst>
              <a:ext uri="{FF2B5EF4-FFF2-40B4-BE49-F238E27FC236}">
                <a16:creationId xmlns:a16="http://schemas.microsoft.com/office/drawing/2014/main" id="{03F7CAF5-096C-F6FE-105D-033F35B064E8}"/>
              </a:ext>
            </a:extLst>
          </p:cNvPr>
          <p:cNvSpPr>
            <a:spLocks noGrp="1"/>
          </p:cNvSpPr>
          <p:nvPr>
            <p:ph idx="11"/>
          </p:nvPr>
        </p:nvSpPr>
        <p:spPr>
          <a:xfrm>
            <a:off x="8119985" y="1979534"/>
            <a:ext cx="3604253"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ext and stat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8150498"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8150498"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ext and testimonia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411944"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41194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Column with Imag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4" y="1979534"/>
            <a:ext cx="5589006"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5" name="Picture Placeholder 4">
            <a:extLst>
              <a:ext uri="{FF2B5EF4-FFF2-40B4-BE49-F238E27FC236}">
                <a16:creationId xmlns:a16="http://schemas.microsoft.com/office/drawing/2014/main" id="{1D4466F3-6EF4-7C6C-700F-D82BD03B0915}"/>
              </a:ext>
            </a:extLst>
          </p:cNvPr>
          <p:cNvSpPr>
            <a:spLocks noGrp="1"/>
          </p:cNvSpPr>
          <p:nvPr>
            <p:ph type="pic" idx="10"/>
          </p:nvPr>
        </p:nvSpPr>
        <p:spPr>
          <a:xfrm>
            <a:off x="6096000" y="1979613"/>
            <a:ext cx="5627688" cy="4351337"/>
          </a:xfrm>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4" name="Chart Placeholder 3">
            <a:extLst>
              <a:ext uri="{FF2B5EF4-FFF2-40B4-BE49-F238E27FC236}">
                <a16:creationId xmlns:a16="http://schemas.microsoft.com/office/drawing/2014/main" id="{06F8C7EE-44FF-25E2-FD85-4A9A4E59F43C}"/>
              </a:ext>
            </a:extLst>
          </p:cNvPr>
          <p:cNvSpPr>
            <a:spLocks noGrp="1"/>
          </p:cNvSpPr>
          <p:nvPr>
            <p:ph type="chart" idx="10"/>
          </p:nvPr>
        </p:nvSpPr>
        <p:spPr>
          <a:xfrm>
            <a:off x="430213" y="1928813"/>
            <a:ext cx="11293475" cy="4354512"/>
          </a:xfrm>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3" name="Table Placeholder 2">
            <a:extLst>
              <a:ext uri="{FF2B5EF4-FFF2-40B4-BE49-F238E27FC236}">
                <a16:creationId xmlns:a16="http://schemas.microsoft.com/office/drawing/2014/main" id="{9F2E8F34-9DD5-6734-21E2-9B7CCAD9F297}"/>
              </a:ext>
            </a:extLst>
          </p:cNvPr>
          <p:cNvSpPr>
            <a:spLocks noGrp="1"/>
          </p:cNvSpPr>
          <p:nvPr>
            <p:ph type="tbl" idx="10"/>
          </p:nvPr>
        </p:nvSpPr>
        <p:spPr>
          <a:xfrm>
            <a:off x="430213" y="1919288"/>
            <a:ext cx="11293475" cy="4391025"/>
          </a:xfrm>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8C7BB9-ED14-2EE7-B747-6D3AC509C6F7}"/>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C5B5F42-1935-63EA-A56F-BCFFCC5F3844}"/>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4A4FD98-5FB3-0F33-190B-F09E379EA8D3}"/>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577B4DDA-DC7A-BA44-95F8-6F5B47B98114}" type="datetimeFigureOut">
              <a:t>10/6/26</a:t>
            </a:fld>
            <a:endParaRPr/>
          </a:p>
        </p:txBody>
      </p:sp>
      <p:sp>
        <p:nvSpPr>
          <p:cNvPr id="5" name="Footer Placeholder 4">
            <a:extLst>
              <a:ext uri="{FF2B5EF4-FFF2-40B4-BE49-F238E27FC236}">
                <a16:creationId xmlns:a16="http://schemas.microsoft.com/office/drawing/2014/main" id="{34199F5F-1ACA-4A1A-5173-27733EE4567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FB4C4A5E-3279-A2E1-BFFA-8259ABF8BC49}"/>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CF9A60C2-D39C-DE40-8B64-BE745D99ECE8}"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0EE20-CE2E-3013-3D7D-3F4166CBDECE}"/>
              </a:ext>
            </a:extLst>
          </p:cNvPr>
          <p:cNvSpPr>
            <a:spLocks noGrp="1"/>
          </p:cNvSpPr>
          <p:nvPr>
            <p:ph type="ctrTitle"/>
          </p:nvPr>
        </p:nvSpPr>
        <p:spPr>
          <a:xfrm>
            <a:off x="356102" y="2154457"/>
            <a:ext cx="5739898" cy="4050399"/>
          </a:xfrm>
        </p:spPr>
        <p:txBody>
          <a:bodyPr>
            <a:normAutofit fontScale="90000"/>
          </a:bodyPr>
          <a:lstStyle/>
          <a:p>
            <a:r>
              <a:rPr sz="4900"/>
              <a:t>IFY Statistics</a:t>
            </a:r>
          </a:p>
          <a:p>
            <a:r>
              <a:rPr sz="2700"/>
              <a:t>Semester 1 • Week 1 • Class C</a:t>
            </a:r>
          </a:p>
          <a:p>
            <a:endParaRPr sz="2700"/>
          </a:p>
          <a:p>
            <a:r>
              <a:rPr sz="4900"/>
              <a:t>Mathematical Foundations III</a:t>
            </a:r>
          </a:p>
          <a:p>
            <a:r>
              <a:rPr sz="4900"/>
              <a:t>GreenSip Case</a:t>
            </a:r>
          </a:p>
          <a:p>
            <a:r>
              <a:rPr sz="4900"/>
              <a:t>Workshop</a:t>
            </a:r>
          </a:p>
        </p:txBody>
      </p:sp>
    </p:spTree>
    <p:extLst>
      <p:ext uri="{BB962C8B-B14F-4D97-AF65-F5344CB8AC3E}">
        <p14:creationId xmlns:p14="http://schemas.microsoft.com/office/powerpoint/2010/main" val="3742239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Week 1 toolkit</a:t>
            </a:r>
          </a:p>
        </p:txBody>
      </p:sp>
      <p:sp>
        <p:nvSpPr>
          <p:cNvPr id="3" name="Content 1">
            <a:extLst>
              <a:ext uri="{FF2B5EF4-FFF2-40B4-BE49-F238E27FC236}">
                <a16:creationId xmlns:a16="http://schemas.microsoft.com/office/drawing/2014/main" id="{1F2C1B23-613A-4D46-ACF3-0F37B6F7FD49}"/>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Class A: sets, counting, permutations and combinations.</a:t>
            </a:r>
          </a:p>
        </p:txBody>
      </p:sp>
      <p:sp>
        <p:nvSpPr>
          <p:cNvPr id="4" name="Content 2">
            <a:extLst>
              <a:ext uri="{FF2B5EF4-FFF2-40B4-BE49-F238E27FC236}">
                <a16:creationId xmlns:a16="http://schemas.microsoft.com/office/drawing/2014/main" id="{77BDEB2C-2C74-4EBD-A735-47F389F492A6}"/>
              </a:ext>
            </a:extLst>
          </p:cNvPr>
          <p:cNvSpPr>
            <a:spLocks noGrp="1"/>
          </p:cNvSpPr>
          <p:nvPr/>
        </p:nvSpPr>
        <p:spPr>
          <a:xfrm>
            <a:off x="430816" y="2486311"/>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Class B: equations, quadratics, units, percentages and ratios.</a:t>
            </a:r>
          </a:p>
        </p:txBody>
      </p:sp>
      <p:sp>
        <p:nvSpPr>
          <p:cNvPr id="5" name="Content 3">
            <a:extLst>
              <a:ext uri="{FF2B5EF4-FFF2-40B4-BE49-F238E27FC236}">
                <a16:creationId xmlns:a16="http://schemas.microsoft.com/office/drawing/2014/main" id="{3508CE50-75FC-4B50-AD57-4BD93FF5ED79}"/>
              </a:ext>
            </a:extLst>
          </p:cNvPr>
          <p:cNvSpPr>
            <a:spLocks noGrp="1"/>
          </p:cNvSpPr>
          <p:nvPr/>
        </p:nvSpPr>
        <p:spPr>
          <a:xfrm>
            <a:off x="430816" y="301999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Choose your own method. Show working, units and a check.</a:t>
            </a:r>
          </a:p>
        </p:txBody>
      </p:sp>
      <p:sp>
        <p:nvSpPr>
          <p:cNvPr id="6" name="Content 4">
            <a:extLst>
              <a:ext uri="{FF2B5EF4-FFF2-40B4-BE49-F238E27FC236}">
                <a16:creationId xmlns:a16="http://schemas.microsoft.com/office/drawing/2014/main" id="{881A3491-BFCE-4284-ADA0-68EBE1075242}"/>
              </a:ext>
            </a:extLst>
          </p:cNvPr>
          <p:cNvSpPr>
            <a:spLocks noGrp="1"/>
          </p:cNvSpPr>
          <p:nvPr/>
        </p:nvSpPr>
        <p:spPr>
          <a:xfrm>
            <a:off x="430816" y="3553682"/>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Use a calculator. Keep unrounded values between linked tasks.</a:t>
            </a:r>
          </a:p>
        </p:txBody>
      </p:sp>
      <p:sp>
        <p:nvSpPr>
          <p:cNvPr id="7" name="Content 5">
            <a:extLst>
              <a:ext uri="{FF2B5EF4-FFF2-40B4-BE49-F238E27FC236}">
                <a16:creationId xmlns:a16="http://schemas.microsoft.com/office/drawing/2014/main" id="{43F93FEE-698B-4FFB-AA4C-A9A1EA7793BD}"/>
              </a:ext>
            </a:extLst>
          </p:cNvPr>
          <p:cNvSpPr>
            <a:spLocks noGrp="1"/>
          </p:cNvSpPr>
          <p:nvPr/>
        </p:nvSpPr>
        <p:spPr>
          <a:xfrm>
            <a:off x="430816" y="4087368"/>
            <a:ext cx="11293412" cy="72447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Round final masses to 1 decimal place and percentages to 1 decimal place unless</a:t>
            </a:r>
          </a:p>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the question says otherwise.</a:t>
            </a:r>
          </a:p>
        </p:txBody>
      </p:sp>
      <p:sp>
        <p:nvSpPr>
          <p:cNvPr id="8" name="Content 6">
            <a:extLst>
              <a:ext uri="{FF2B5EF4-FFF2-40B4-BE49-F238E27FC236}">
                <a16:creationId xmlns:a16="http://schemas.microsoft.com/office/drawing/2014/main" id="{36BD9306-13A5-45E2-9851-004643D85607}"/>
              </a:ext>
            </a:extLst>
          </p:cNvPr>
          <p:cNvSpPr>
            <a:spLocks noGrp="1"/>
          </p:cNvSpPr>
          <p:nvPr/>
        </p:nvSpPr>
        <p:spPr>
          <a:xfrm>
            <a:off x="430816" y="4954714"/>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Money: round each charged price to 2 decimal places.</a:t>
            </a:r>
          </a:p>
        </p:txBody>
      </p:sp>
    </p:spTree>
    <p:extLst>
      <p:ext uri="{BB962C8B-B14F-4D97-AF65-F5344CB8AC3E}">
        <p14:creationId xmlns:p14="http://schemas.microsoft.com/office/powerpoint/2010/main" val="3281361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Live poll: Choose your bottle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4330732"/>
          </a:xfrm>
        </p:spPr>
        <p:txBody>
          <a:bodyPr lIns="0" tIns="0" rIns="0" bIns="0" anchor="t">
            <a:noAutofit/>
          </a:bodyPr>
          <a:lstStyle/>
          <a:p>
            <a:pPr marL="0" indent="0" algn="l">
              <a:lnSpc>
                <a:spcPct val="106000"/>
              </a:lnSpc>
              <a:spcBef>
                <a:spcPts val="0"/>
              </a:spcBef>
              <a:spcAft>
                <a:spcPts val="0"/>
              </a:spcAft>
              <a:buNone/>
              <a:defRPr sz="2325" b="0">
                <a:solidFill>
                  <a:srgbClr val="111111"/>
                </a:solidFill>
                <a:latin typeface="Aptos"/>
                <a:ea typeface="Aptos"/>
                <a:cs typeface="Aptos"/>
              </a:defRPr>
            </a:pPr>
            <a:r>
              <a:rPr sz="2325" b="1">
                <a:solidFill>
                  <a:srgbClr val="111111"/>
                </a:solidFill>
                <a:latin typeface="Aptos"/>
                <a:ea typeface="Aptos"/>
                <a:cs typeface="Aptos"/>
              </a:rPr>
              <a:t>Which feature choice best describes you?</a:t>
            </a:r>
          </a:p>
          <a:p>
            <a:pPr marL="0" indent="0" algn="l">
              <a:lnSpc>
                <a:spcPct val="106000"/>
              </a:lnSpc>
              <a:spcBef>
                <a:spcPts val="8"/>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1  Leakproof only</a:t>
            </a:r>
          </a:p>
          <a:p>
            <a:pPr marL="0" indent="0" algn="l">
              <a:lnSpc>
                <a:spcPct val="106000"/>
              </a:lnSpc>
              <a:spcBef>
                <a:spcPts val="8"/>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2  Keeps drinks cold only</a:t>
            </a:r>
          </a:p>
          <a:p>
            <a:pPr marL="0" indent="0" algn="l">
              <a:lnSpc>
                <a:spcPct val="106000"/>
              </a:lnSpc>
              <a:spcBef>
                <a:spcPts val="8"/>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3  Both features</a:t>
            </a:r>
          </a:p>
          <a:p>
            <a:pPr marL="0" indent="0" algn="l">
              <a:lnSpc>
                <a:spcPct val="106000"/>
              </a:lnSpc>
              <a:spcBef>
                <a:spcPts val="8"/>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4  Neither feature</a:t>
            </a:r>
          </a:p>
          <a:p>
            <a:pPr marL="0" indent="0" algn="l">
              <a:lnSpc>
                <a:spcPct val="106000"/>
              </a:lnSpc>
              <a:spcBef>
                <a:spcPts val="16"/>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Choose silently. On 3, show 1–4 fingers.</a:t>
            </a:r>
          </a:p>
          <a:p>
            <a:pPr marL="0" indent="0" algn="l">
              <a:lnSpc>
                <a:spcPct val="106000"/>
              </a:lnSpc>
              <a:spcBef>
                <a:spcPts val="5"/>
              </a:spcBef>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These four responses are separate categories: choose one only.</a:t>
            </a:r>
          </a:p>
        </p:txBody>
      </p:sp>
    </p:spTree>
    <p:extLst>
      <p:ext uri="{BB962C8B-B14F-4D97-AF65-F5344CB8AC3E}">
        <p14:creationId xmlns:p14="http://schemas.microsoft.com/office/powerpoint/2010/main" val="4158798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Record our class data</a:t>
            </a:r>
          </a:p>
        </p:txBody>
      </p:sp>
      <p:graphicFrame>
        <p:nvGraphicFramePr>
          <p:cNvPr id="7" name="Bellerbys teaching table"/>
          <p:cNvGraphicFramePr/>
          <p:nvPr/>
        </p:nvGraphicFramePr>
        <p:xfrm>
          <a:off x="430816" y="1952625"/>
          <a:ext cx="11544300" cy="3714750"/>
        </p:xfrm>
        <a:graphic>
          <a:graphicData uri="http://schemas.openxmlformats.org/drawingml/2006/table">
            <a:tbl>
              <a:tblPr/>
              <a:tblGrid>
                <a:gridCol w="333375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686050">
                  <a:extLst>
                    <a:ext uri="{9D8B030D-6E8A-4147-A177-3AD203B41FA5}">
                      <a16:colId xmlns:a16="http://schemas.microsoft.com/office/drawing/2014/main" val="20003"/>
                    </a:ext>
                  </a:extLst>
                </a:gridCol>
              </a:tblGrid>
              <a:tr h="619125">
                <a:tc>
                  <a:txBody>
                    <a:bodyPr/>
                    <a:lstStyle/>
                    <a:p>
                      <a:pPr algn="l">
                        <a:buNone/>
                      </a:pPr>
                      <a:r>
                        <a:rPr sz="2100" b="1">
                          <a:solidFill>
                            <a:srgbClr val="FFFFFF"/>
                          </a:solidFill>
                          <a:latin typeface="Aptos"/>
                          <a:ea typeface="Aptos"/>
                          <a:cs typeface="Aptos"/>
                        </a:rPr>
                        <a:t>Response</a:t>
                      </a:r>
                    </a:p>
                  </a:txBody>
                  <a:tcPr anchor="ctr">
                    <a:solidFill>
                      <a:srgbClr val="D6171D"/>
                    </a:solidFill>
                  </a:tcPr>
                </a:tc>
                <a:tc>
                  <a:txBody>
                    <a:bodyPr/>
                    <a:lstStyle/>
                    <a:p>
                      <a:pPr algn="l">
                        <a:buNone/>
                      </a:pPr>
                      <a:r>
                        <a:rPr sz="2100" b="1">
                          <a:solidFill>
                            <a:srgbClr val="FFFFFF"/>
                          </a:solidFill>
                          <a:latin typeface="Aptos"/>
                          <a:ea typeface="Aptos"/>
                          <a:cs typeface="Aptos"/>
                        </a:rPr>
                        <a:t>Count</a:t>
                      </a:r>
                    </a:p>
                  </a:txBody>
                  <a:tcPr anchor="ctr">
                    <a:solidFill>
                      <a:srgbClr val="D6171D"/>
                    </a:solidFill>
                  </a:tcPr>
                </a:tc>
                <a:tc>
                  <a:txBody>
                    <a:bodyPr/>
                    <a:lstStyle/>
                    <a:p>
                      <a:pPr algn="l">
                        <a:buNone/>
                      </a:pPr>
                      <a:r>
                        <a:rPr sz="2100" b="1">
                          <a:solidFill>
                            <a:srgbClr val="FFFFFF"/>
                          </a:solidFill>
                          <a:latin typeface="Aptos"/>
                          <a:ea typeface="Aptos"/>
                          <a:cs typeface="Aptos"/>
                        </a:rPr>
                        <a:t>At least one?</a:t>
                      </a:r>
                    </a:p>
                  </a:txBody>
                  <a:tcPr anchor="ctr">
                    <a:solidFill>
                      <a:srgbClr val="D6171D"/>
                    </a:solidFill>
                  </a:tcPr>
                </a:tc>
                <a:tc>
                  <a:txBody>
                    <a:bodyPr/>
                    <a:lstStyle/>
                    <a:p>
                      <a:pPr algn="l">
                        <a:buNone/>
                      </a:pPr>
                      <a:r>
                        <a:rPr sz="2100" b="1">
                          <a:solidFill>
                            <a:srgbClr val="FFFFFF"/>
                          </a:solidFill>
                          <a:latin typeface="Aptos"/>
                          <a:ea typeface="Aptos"/>
                          <a:cs typeface="Aptos"/>
                        </a:rPr>
                        <a:t>Check</a:t>
                      </a:r>
                    </a:p>
                  </a:txBody>
                  <a:tcPr anchor="ctr">
                    <a:solidFill>
                      <a:srgbClr val="D6171D"/>
                    </a:solidFill>
                  </a:tcPr>
                </a:tc>
                <a:extLst>
                  <a:ext uri="{0D108BD9-81ED-4DB2-BD59-A6C34878D82A}">
                    <a16:rowId xmlns:a16="http://schemas.microsoft.com/office/drawing/2014/main" val="10000"/>
                  </a:ext>
                </a:extLst>
              </a:tr>
              <a:tr h="619125">
                <a:tc>
                  <a:txBody>
                    <a:bodyPr/>
                    <a:lstStyle/>
                    <a:p>
                      <a:pPr algn="l">
                        <a:buNone/>
                      </a:pPr>
                      <a:r>
                        <a:rPr sz="2100" b="0">
                          <a:solidFill>
                            <a:srgbClr val="111111"/>
                          </a:solidFill>
                          <a:latin typeface="Aptos"/>
                          <a:ea typeface="Aptos"/>
                          <a:cs typeface="Aptos"/>
                        </a:rPr>
                        <a:t>Leakproof only</a:t>
                      </a:r>
                    </a:p>
                  </a:txBody>
                  <a:tcPr anchor="ctr">
                    <a:solidFill>
                      <a:srgbClr val="FFFFFF"/>
                    </a:solidFill>
                  </a:tcPr>
                </a:tc>
                <a:tc>
                  <a:txBody>
                    <a:bodyPr/>
                    <a:lstStyle/>
                    <a:p>
                      <a:pPr algn="l">
                        <a:buNone/>
                      </a:pPr>
                      <a:r>
                        <a:rPr sz="2100" b="0">
                          <a:solidFill>
                            <a:srgbClr val="111111"/>
                          </a:solidFill>
                          <a:latin typeface="Aptos"/>
                          <a:ea typeface="Aptos"/>
                          <a:cs typeface="Aptos"/>
                        </a:rPr>
                        <a:t>___</a:t>
                      </a:r>
                    </a:p>
                  </a:txBody>
                  <a:tcPr anchor="ctr">
                    <a:solidFill>
                      <a:srgbClr val="FFFFFF"/>
                    </a:solidFill>
                  </a:tcPr>
                </a:tc>
                <a:tc>
                  <a:txBody>
                    <a:bodyPr/>
                    <a:lstStyle/>
                    <a:p>
                      <a:pPr algn="l">
                        <a:buNone/>
                      </a:pPr>
                      <a:r>
                        <a:rPr sz="2100" b="0">
                          <a:solidFill>
                            <a:srgbClr val="111111"/>
                          </a:solidFill>
                          <a:latin typeface="Aptos"/>
                          <a:ea typeface="Aptos"/>
                          <a:cs typeface="Aptos"/>
                        </a:rPr>
                        <a:t>Yes</a:t>
                      </a:r>
                    </a:p>
                  </a:txBody>
                  <a:tcPr anchor="ctr">
                    <a:solidFill>
                      <a:srgbClr val="FFFFFF"/>
                    </a:solidFill>
                  </a:tcPr>
                </a:tc>
                <a:tc>
                  <a:txBody>
                    <a:bodyPr/>
                    <a:lstStyle/>
                    <a:p>
                      <a:pPr algn="l">
                        <a:buNone/>
                      </a:pPr>
                      <a:endParaRPr/>
                    </a:p>
                  </a:txBody>
                  <a:tcPr anchor="ctr">
                    <a:solidFill>
                      <a:srgbClr val="FFFFFF"/>
                    </a:solidFill>
                  </a:tcPr>
                </a:tc>
                <a:extLst>
                  <a:ext uri="{0D108BD9-81ED-4DB2-BD59-A6C34878D82A}">
                    <a16:rowId xmlns:a16="http://schemas.microsoft.com/office/drawing/2014/main" val="10001"/>
                  </a:ext>
                </a:extLst>
              </a:tr>
              <a:tr h="619125">
                <a:tc>
                  <a:txBody>
                    <a:bodyPr/>
                    <a:lstStyle/>
                    <a:p>
                      <a:pPr algn="l">
                        <a:buNone/>
                      </a:pPr>
                      <a:r>
                        <a:rPr sz="2100" b="0">
                          <a:solidFill>
                            <a:srgbClr val="111111"/>
                          </a:solidFill>
                          <a:latin typeface="Aptos"/>
                          <a:ea typeface="Aptos"/>
                          <a:cs typeface="Aptos"/>
                        </a:rPr>
                        <a:t>Cold only</a:t>
                      </a:r>
                    </a:p>
                  </a:txBody>
                  <a:tcPr anchor="ctr">
                    <a:solidFill>
                      <a:srgbClr val="EFF8FF"/>
                    </a:solidFill>
                  </a:tcPr>
                </a:tc>
                <a:tc>
                  <a:txBody>
                    <a:bodyPr/>
                    <a:lstStyle/>
                    <a:p>
                      <a:pPr algn="l">
                        <a:buNone/>
                      </a:pPr>
                      <a:r>
                        <a:rPr sz="2100" b="0">
                          <a:solidFill>
                            <a:srgbClr val="111111"/>
                          </a:solidFill>
                          <a:latin typeface="Aptos"/>
                          <a:ea typeface="Aptos"/>
                          <a:cs typeface="Aptos"/>
                        </a:rPr>
                        <a:t>___</a:t>
                      </a:r>
                    </a:p>
                  </a:txBody>
                  <a:tcPr anchor="ctr">
                    <a:solidFill>
                      <a:srgbClr val="EFF8FF"/>
                    </a:solidFill>
                  </a:tcPr>
                </a:tc>
                <a:tc>
                  <a:txBody>
                    <a:bodyPr/>
                    <a:lstStyle/>
                    <a:p>
                      <a:pPr algn="l">
                        <a:buNone/>
                      </a:pPr>
                      <a:r>
                        <a:rPr sz="2100" b="0">
                          <a:solidFill>
                            <a:srgbClr val="111111"/>
                          </a:solidFill>
                          <a:latin typeface="Aptos"/>
                          <a:ea typeface="Aptos"/>
                          <a:cs typeface="Aptos"/>
                        </a:rPr>
                        <a:t>Yes</a:t>
                      </a:r>
                    </a:p>
                  </a:txBody>
                  <a:tcPr anchor="ctr">
                    <a:solidFill>
                      <a:srgbClr val="EFF8FF"/>
                    </a:solidFill>
                  </a:tcPr>
                </a:tc>
                <a:tc>
                  <a:txBody>
                    <a:bodyPr/>
                    <a:lstStyle/>
                    <a:p>
                      <a:pPr algn="l">
                        <a:buNone/>
                      </a:pPr>
                      <a:endParaRPr/>
                    </a:p>
                  </a:txBody>
                  <a:tcPr anchor="ctr">
                    <a:solidFill>
                      <a:srgbClr val="EFF8FF"/>
                    </a:solidFill>
                  </a:tcPr>
                </a:tc>
                <a:extLst>
                  <a:ext uri="{0D108BD9-81ED-4DB2-BD59-A6C34878D82A}">
                    <a16:rowId xmlns:a16="http://schemas.microsoft.com/office/drawing/2014/main" val="10002"/>
                  </a:ext>
                </a:extLst>
              </a:tr>
              <a:tr h="619125">
                <a:tc>
                  <a:txBody>
                    <a:bodyPr/>
                    <a:lstStyle/>
                    <a:p>
                      <a:pPr algn="l">
                        <a:buNone/>
                      </a:pPr>
                      <a:r>
                        <a:rPr sz="2100" b="0">
                          <a:solidFill>
                            <a:srgbClr val="111111"/>
                          </a:solidFill>
                          <a:latin typeface="Aptos"/>
                          <a:ea typeface="Aptos"/>
                          <a:cs typeface="Aptos"/>
                        </a:rPr>
                        <a:t>Both</a:t>
                      </a:r>
                    </a:p>
                  </a:txBody>
                  <a:tcPr anchor="ctr">
                    <a:solidFill>
                      <a:srgbClr val="FFFFFF"/>
                    </a:solidFill>
                  </a:tcPr>
                </a:tc>
                <a:tc>
                  <a:txBody>
                    <a:bodyPr/>
                    <a:lstStyle/>
                    <a:p>
                      <a:pPr algn="l">
                        <a:buNone/>
                      </a:pPr>
                      <a:r>
                        <a:rPr sz="2100" b="0">
                          <a:solidFill>
                            <a:srgbClr val="111111"/>
                          </a:solidFill>
                          <a:latin typeface="Aptos"/>
                          <a:ea typeface="Aptos"/>
                          <a:cs typeface="Aptos"/>
                        </a:rPr>
                        <a:t>___</a:t>
                      </a:r>
                    </a:p>
                  </a:txBody>
                  <a:tcPr anchor="ctr">
                    <a:solidFill>
                      <a:srgbClr val="FFFFFF"/>
                    </a:solidFill>
                  </a:tcPr>
                </a:tc>
                <a:tc>
                  <a:txBody>
                    <a:bodyPr/>
                    <a:lstStyle/>
                    <a:p>
                      <a:pPr algn="l">
                        <a:buNone/>
                      </a:pPr>
                      <a:r>
                        <a:rPr sz="2100" b="0">
                          <a:solidFill>
                            <a:srgbClr val="111111"/>
                          </a:solidFill>
                          <a:latin typeface="Aptos"/>
                          <a:ea typeface="Aptos"/>
                          <a:cs typeface="Aptos"/>
                        </a:rPr>
                        <a:t>Yes</a:t>
                      </a:r>
                    </a:p>
                  </a:txBody>
                  <a:tcPr anchor="ctr">
                    <a:solidFill>
                      <a:srgbClr val="FFFFFF"/>
                    </a:solidFill>
                  </a:tcPr>
                </a:tc>
                <a:tc>
                  <a:txBody>
                    <a:bodyPr/>
                    <a:lstStyle/>
                    <a:p>
                      <a:pPr algn="l">
                        <a:buNone/>
                      </a:pPr>
                      <a:endParaRPr/>
                    </a:p>
                  </a:txBody>
                  <a:tcPr anchor="ctr">
                    <a:solidFill>
                      <a:srgbClr val="FFFFFF"/>
                    </a:solidFill>
                  </a:tcPr>
                </a:tc>
                <a:extLst>
                  <a:ext uri="{0D108BD9-81ED-4DB2-BD59-A6C34878D82A}">
                    <a16:rowId xmlns:a16="http://schemas.microsoft.com/office/drawing/2014/main" val="10003"/>
                  </a:ext>
                </a:extLst>
              </a:tr>
              <a:tr h="619125">
                <a:tc>
                  <a:txBody>
                    <a:bodyPr/>
                    <a:lstStyle/>
                    <a:p>
                      <a:pPr algn="l">
                        <a:buNone/>
                      </a:pPr>
                      <a:r>
                        <a:rPr sz="2100" b="0">
                          <a:solidFill>
                            <a:srgbClr val="111111"/>
                          </a:solidFill>
                          <a:latin typeface="Aptos"/>
                          <a:ea typeface="Aptos"/>
                          <a:cs typeface="Aptos"/>
                        </a:rPr>
                        <a:t>Neither</a:t>
                      </a:r>
                    </a:p>
                  </a:txBody>
                  <a:tcPr anchor="ctr">
                    <a:solidFill>
                      <a:srgbClr val="EFF8FF"/>
                    </a:solidFill>
                  </a:tcPr>
                </a:tc>
                <a:tc>
                  <a:txBody>
                    <a:bodyPr/>
                    <a:lstStyle/>
                    <a:p>
                      <a:pPr algn="l">
                        <a:buNone/>
                      </a:pPr>
                      <a:r>
                        <a:rPr sz="2100" b="0">
                          <a:solidFill>
                            <a:srgbClr val="111111"/>
                          </a:solidFill>
                          <a:latin typeface="Aptos"/>
                          <a:ea typeface="Aptos"/>
                          <a:cs typeface="Aptos"/>
                        </a:rPr>
                        <a:t>___</a:t>
                      </a:r>
                    </a:p>
                  </a:txBody>
                  <a:tcPr anchor="ctr">
                    <a:solidFill>
                      <a:srgbClr val="EFF8FF"/>
                    </a:solidFill>
                  </a:tcPr>
                </a:tc>
                <a:tc>
                  <a:txBody>
                    <a:bodyPr/>
                    <a:lstStyle/>
                    <a:p>
                      <a:pPr algn="l">
                        <a:buNone/>
                      </a:pPr>
                      <a:r>
                        <a:rPr sz="2100" b="0">
                          <a:solidFill>
                            <a:srgbClr val="111111"/>
                          </a:solidFill>
                          <a:latin typeface="Aptos"/>
                          <a:ea typeface="Aptos"/>
                          <a:cs typeface="Aptos"/>
                        </a:rPr>
                        <a:t>No</a:t>
                      </a:r>
                    </a:p>
                  </a:txBody>
                  <a:tcPr anchor="ctr">
                    <a:solidFill>
                      <a:srgbClr val="EFF8FF"/>
                    </a:solidFill>
                  </a:tcPr>
                </a:tc>
                <a:tc>
                  <a:txBody>
                    <a:bodyPr/>
                    <a:lstStyle/>
                    <a:p>
                      <a:pPr algn="l">
                        <a:buNone/>
                      </a:pPr>
                      <a:endParaRPr/>
                    </a:p>
                  </a:txBody>
                  <a:tcPr anchor="ctr">
                    <a:solidFill>
                      <a:srgbClr val="EFF8FF"/>
                    </a:solidFill>
                  </a:tcPr>
                </a:tc>
                <a:extLst>
                  <a:ext uri="{0D108BD9-81ED-4DB2-BD59-A6C34878D82A}">
                    <a16:rowId xmlns:a16="http://schemas.microsoft.com/office/drawing/2014/main" val="10004"/>
                  </a:ext>
                </a:extLst>
              </a:tr>
              <a:tr h="619125">
                <a:tc>
                  <a:txBody>
                    <a:bodyPr/>
                    <a:lstStyle/>
                    <a:p>
                      <a:pPr algn="l">
                        <a:buNone/>
                      </a:pPr>
                      <a:r>
                        <a:rPr sz="2100" b="0">
                          <a:solidFill>
                            <a:srgbClr val="111111"/>
                          </a:solidFill>
                          <a:latin typeface="Aptos"/>
                          <a:ea typeface="Aptos"/>
                          <a:cs typeface="Aptos"/>
                        </a:rPr>
                        <a:t>TOTAL</a:t>
                      </a:r>
                    </a:p>
                  </a:txBody>
                  <a:tcPr anchor="ctr">
                    <a:solidFill>
                      <a:srgbClr val="FFFFFF"/>
                    </a:solidFill>
                  </a:tcPr>
                </a:tc>
                <a:tc>
                  <a:txBody>
                    <a:bodyPr/>
                    <a:lstStyle/>
                    <a:p>
                      <a:pPr algn="l">
                        <a:buNone/>
                      </a:pPr>
                      <a:r>
                        <a:rPr sz="2100" b="0">
                          <a:solidFill>
                            <a:srgbClr val="111111"/>
                          </a:solidFill>
                          <a:latin typeface="Aptos"/>
                          <a:ea typeface="Aptos"/>
                          <a:cs typeface="Aptos"/>
                        </a:rPr>
                        <a:t>___</a:t>
                      </a:r>
                    </a:p>
                  </a:txBody>
                  <a:tcPr anchor="ctr">
                    <a:solidFill>
                      <a:srgbClr val="FFFFFF"/>
                    </a:solidFill>
                  </a:tcPr>
                </a:tc>
                <a:tc>
                  <a:txBody>
                    <a:bodyPr/>
                    <a:lstStyle/>
                    <a:p>
                      <a:pPr algn="l">
                        <a:buNone/>
                      </a:pPr>
                      <a:r>
                        <a:rPr sz="2100" b="0">
                          <a:solidFill>
                            <a:srgbClr val="111111"/>
                          </a:solidFill>
                          <a:latin typeface="Aptos"/>
                          <a:ea typeface="Aptos"/>
                          <a:cs typeface="Aptos"/>
                        </a:rPr>
                        <a:t>—</a:t>
                      </a:r>
                    </a:p>
                  </a:txBody>
                  <a:tcPr anchor="ctr">
                    <a:solidFill>
                      <a:srgbClr val="FFFFFF"/>
                    </a:solidFill>
                  </a:tcPr>
                </a:tc>
                <a:tc>
                  <a:txBody>
                    <a:bodyPr/>
                    <a:lstStyle/>
                    <a:p>
                      <a:pPr algn="l">
                        <a:buNone/>
                      </a:pPr>
                      <a:r>
                        <a:rPr sz="2100" b="0">
                          <a:solidFill>
                            <a:srgbClr val="111111"/>
                          </a:solidFill>
                          <a:latin typeface="Aptos"/>
                          <a:ea typeface="Aptos"/>
                          <a:cs typeface="Aptos"/>
                        </a:rPr>
                        <a:t>= attendance</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4" name="Content 7">
            <a:extLst>
              <a:ext uri="{FF2B5EF4-FFF2-40B4-BE49-F238E27FC236}">
                <a16:creationId xmlns:a16="http://schemas.microsoft.com/office/drawing/2014/main" id="{5D81DDAF-EF57-44E1-9104-8B3F194EC003}"/>
              </a:ext>
            </a:extLst>
          </p:cNvPr>
          <p:cNvSpPr>
            <a:spLocks noGrp="1"/>
          </p:cNvSpPr>
          <p:nvPr/>
        </p:nvSpPr>
        <p:spPr>
          <a:xfrm>
            <a:off x="428625" y="5895975"/>
            <a:ext cx="11296650" cy="428625"/>
          </a:xfrm>
          <a:prstGeom prst="rect">
            <a:avLst/>
          </a:prstGeom>
          <a:noFill/>
          <a:ln w="0">
            <a:noFill/>
          </a:ln>
        </p:spPr>
        <p:txBody>
          <a:bodyPr wrap="square" lIns="0" tIns="0" rIns="0" bIns="0" anchor="t">
            <a:noAutofit/>
          </a:bodyPr>
          <a:lstStyle/>
          <a:p>
            <a:pPr algn="l">
              <a:lnSpc>
                <a:spcPct val="108000"/>
              </a:lnSpc>
              <a:buNone/>
              <a:defRPr sz="2175" b="1">
                <a:solidFill>
                  <a:srgbClr val="111111"/>
                </a:solidFill>
                <a:latin typeface="Aptos"/>
                <a:ea typeface="Aptos"/>
                <a:cs typeface="Aptos"/>
              </a:defRPr>
            </a:pPr>
            <a:r>
              <a:rPr sz="2175" b="1">
                <a:solidFill>
                  <a:srgbClr val="111111"/>
                </a:solidFill>
                <a:latin typeface="Aptos"/>
                <a:ea typeface="Aptos"/>
                <a:cs typeface="Aptos"/>
              </a:rPr>
              <a:t>What percentage selected at least one feature? What does it describe?</a:t>
            </a:r>
          </a:p>
        </p:txBody>
      </p:sp>
    </p:spTree>
    <p:extLst>
      <p:ext uri="{BB962C8B-B14F-4D97-AF65-F5344CB8AC3E}">
        <p14:creationId xmlns:p14="http://schemas.microsoft.com/office/powerpoint/2010/main" val="1680955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DFC3C-67FB-B165-3C59-7A316881487C}"/>
              </a:ext>
            </a:extLst>
          </p:cNvPr>
          <p:cNvSpPr>
            <a:spLocks noGrp="1"/>
          </p:cNvSpPr>
          <p:nvPr>
            <p:ph type="ctrTitle"/>
          </p:nvPr>
        </p:nvSpPr>
        <p:spPr>
          <a:xfrm>
            <a:off x="356101" y="2154457"/>
            <a:ext cx="5739899" cy="3488697"/>
          </a:xfrm>
        </p:spPr>
        <p:txBody>
          <a:bodyPr>
            <a:normAutofit/>
          </a:bodyPr>
          <a:lstStyle/>
          <a:p>
            <a:r>
              <a:t>Section 1:</a:t>
            </a:r>
          </a:p>
          <a:p>
            <a:r>
              <a:t>Customer</a:t>
            </a:r>
          </a:p>
          <a:p>
            <a:r>
              <a:t>Evidence</a:t>
            </a:r>
          </a:p>
        </p:txBody>
      </p:sp>
    </p:spTree>
    <p:extLst>
      <p:ext uri="{BB962C8B-B14F-4D97-AF65-F5344CB8AC3E}">
        <p14:creationId xmlns:p14="http://schemas.microsoft.com/office/powerpoint/2010/main" val="3422886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C1A: Recover the missing overlap</a:t>
            </a:r>
          </a:p>
        </p:txBody>
      </p:sp>
      <p:sp>
        <p:nvSpPr>
          <p:cNvPr id="3" name="Handout reference C1A">
            <a:extLst>
              <a:ext uri="{FF2B5EF4-FFF2-40B4-BE49-F238E27FC236}">
                <a16:creationId xmlns:a16="http://schemas.microsoft.com/office/drawing/2014/main" id="{E7DFA66B-E20F-477D-9E78-87CC42056E66}"/>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C1A</a:t>
            </a:r>
          </a:p>
        </p:txBody>
      </p:sp>
      <p:sp>
        <p:nvSpPr>
          <p:cNvPr id="4" name="Content 8">
            <a:extLst>
              <a:ext uri="{FF2B5EF4-FFF2-40B4-BE49-F238E27FC236}">
                <a16:creationId xmlns:a16="http://schemas.microsoft.com/office/drawing/2014/main" id="{4CE83C4C-2173-4931-A2EA-A1DFD69D1886}"/>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A survey asked 187 students. Students could select both features.</a:t>
            </a:r>
          </a:p>
        </p:txBody>
      </p:sp>
      <p:sp>
        <p:nvSpPr>
          <p:cNvPr id="5" name="Content 9">
            <a:extLst>
              <a:ext uri="{FF2B5EF4-FFF2-40B4-BE49-F238E27FC236}">
                <a16:creationId xmlns:a16="http://schemas.microsoft.com/office/drawing/2014/main" id="{6B31EA5B-AEE2-4F59-9477-8E400F1243D6}"/>
              </a:ext>
            </a:extLst>
          </p:cNvPr>
          <p:cNvSpPr>
            <a:spLocks noGrp="1"/>
          </p:cNvSpPr>
          <p:nvPr/>
        </p:nvSpPr>
        <p:spPr>
          <a:xfrm>
            <a:off x="430816" y="243868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119 selected leakproof (L), 97 selected keeps cold (C), and 23 selected neither.</a:t>
            </a:r>
          </a:p>
        </p:txBody>
      </p:sp>
      <p:sp>
        <p:nvSpPr>
          <p:cNvPr id="6" name="Content 10">
            <a:extLst>
              <a:ext uri="{FF2B5EF4-FFF2-40B4-BE49-F238E27FC236}">
                <a16:creationId xmlns:a16="http://schemas.microsoft.com/office/drawing/2014/main" id="{B75C92B1-629B-4E67-86BB-7C7A2629AD52}"/>
              </a:ext>
            </a:extLst>
          </p:cNvPr>
          <p:cNvSpPr>
            <a:spLocks noGrp="1"/>
          </p:cNvSpPr>
          <p:nvPr/>
        </p:nvSpPr>
        <p:spPr>
          <a:xfrm>
            <a:off x="430816" y="292474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Each feature total includes students who selected both.</a:t>
            </a:r>
          </a:p>
        </p:txBody>
      </p:sp>
      <p:sp>
        <p:nvSpPr>
          <p:cNvPr id="7" name="Content 11">
            <a:extLst>
              <a:ext uri="{FF2B5EF4-FFF2-40B4-BE49-F238E27FC236}">
                <a16:creationId xmlns:a16="http://schemas.microsoft.com/office/drawing/2014/main" id="{6537B595-EB56-4E74-8098-526884B23092}"/>
              </a:ext>
            </a:extLst>
          </p:cNvPr>
          <p:cNvSpPr>
            <a:spLocks noGrp="1"/>
          </p:cNvSpPr>
          <p:nvPr/>
        </p:nvSpPr>
        <p:spPr>
          <a:xfrm>
            <a:off x="430816" y="3410807"/>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Find the number who selected at least one feature.</a:t>
            </a:r>
          </a:p>
        </p:txBody>
      </p:sp>
      <p:sp>
        <p:nvSpPr>
          <p:cNvPr id="8" name="Content 12">
            <a:extLst>
              <a:ext uri="{FF2B5EF4-FFF2-40B4-BE49-F238E27FC236}">
                <a16:creationId xmlns:a16="http://schemas.microsoft.com/office/drawing/2014/main" id="{771F302E-E083-4652-A0E7-168C489F6D72}"/>
              </a:ext>
            </a:extLst>
          </p:cNvPr>
          <p:cNvSpPr>
            <a:spLocks noGrp="1"/>
          </p:cNvSpPr>
          <p:nvPr/>
        </p:nvSpPr>
        <p:spPr>
          <a:xfrm>
            <a:off x="430816" y="3896868"/>
            <a:ext cx="11293412" cy="72447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Find the number who selected both features. Draw and label all four</a:t>
            </a:r>
          </a:p>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Venn regions.</a:t>
            </a:r>
          </a:p>
        </p:txBody>
      </p:sp>
      <p:sp>
        <p:nvSpPr>
          <p:cNvPr id="9" name="Content 13">
            <a:extLst>
              <a:ext uri="{FF2B5EF4-FFF2-40B4-BE49-F238E27FC236}">
                <a16:creationId xmlns:a16="http://schemas.microsoft.com/office/drawing/2014/main" id="{54C9457F-B377-49C7-9A44-284B0D9A61CA}"/>
              </a:ext>
            </a:extLst>
          </p:cNvPr>
          <p:cNvSpPr>
            <a:spLocks noGrp="1"/>
          </p:cNvSpPr>
          <p:nvPr/>
        </p:nvSpPr>
        <p:spPr>
          <a:xfrm>
            <a:off x="430816" y="4716589"/>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Check that your regions account for all 187 students.</a:t>
            </a:r>
          </a:p>
        </p:txBody>
      </p:sp>
    </p:spTree>
    <p:extLst>
      <p:ext uri="{BB962C8B-B14F-4D97-AF65-F5344CB8AC3E}">
        <p14:creationId xmlns:p14="http://schemas.microsoft.com/office/powerpoint/2010/main" val="4158798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C1A: Venn answers</a:t>
            </a:r>
          </a:p>
        </p:txBody>
      </p:sp>
      <p:sp>
        <p:nvSpPr>
          <p:cNvPr id="3" name="Numbered Venn working">
            <a:extLst>
              <a:ext uri="{FF2B5EF4-FFF2-40B4-BE49-F238E27FC236}">
                <a16:creationId xmlns:a16="http://schemas.microsoft.com/office/drawing/2014/main" id="{9E8AE43F-BDC0-4F68-A5C1-BC7EEF80B115}"/>
              </a:ext>
            </a:extLst>
          </p:cNvPr>
          <p:cNvSpPr>
            <a:spLocks noGrp="1"/>
          </p:cNvSpPr>
          <p:nvPr/>
        </p:nvSpPr>
        <p:spPr>
          <a:xfrm>
            <a:off x="428625" y="2076450"/>
            <a:ext cx="5476875" cy="4000500"/>
          </a:xfrm>
          <a:prstGeom prst="rect">
            <a:avLst/>
          </a:prstGeom>
          <a:noFill/>
          <a:ln w="0">
            <a:noFill/>
          </a:ln>
        </p:spPr>
        <p:txBody>
          <a:bodyPr lIns="0" tIns="0" rIns="0" bIns="0" anchor="t">
            <a:noAutofit/>
          </a:bodyPr>
          <a:lstStyle/>
          <a:p>
            <a:pPr marL="0" indent="0" algn="l">
              <a:lnSpc>
                <a:spcPct val="115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  At least one: 187 − 23 = 164</a:t>
            </a:r>
          </a:p>
          <a:p>
            <a:pPr marL="0" indent="0" algn="l">
              <a:lnSpc>
                <a:spcPct val="115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Q2  Feature totals: 119 + 97 = 216</a:t>
            </a:r>
          </a:p>
          <a:p>
            <a:pPr marL="34" indent="0" algn="l">
              <a:lnSpc>
                <a:spcPct val="115000"/>
              </a:lnSpc>
              <a:spcAft>
                <a:spcPts val="8"/>
              </a:spcAft>
              <a:buNone/>
              <a:defRPr sz="2325" b="0">
                <a:solidFill>
                  <a:srgbClr val="111111"/>
                </a:solidFill>
                <a:latin typeface="Aptos"/>
                <a:ea typeface="Aptos"/>
                <a:cs typeface="Aptos"/>
              </a:defRPr>
            </a:pPr>
            <a:r>
              <a:rPr sz="2325" b="0">
                <a:solidFill>
                  <a:srgbClr val="111111"/>
                </a:solidFill>
                <a:latin typeface="Aptos"/>
                <a:ea typeface="Aptos"/>
                <a:cs typeface="Aptos"/>
              </a:rPr>
              <a:t>Both-feature students were counted twice.</a:t>
            </a:r>
          </a:p>
          <a:p>
            <a:pPr marL="0" indent="0" algn="l">
              <a:lnSpc>
                <a:spcPct val="115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The extra count is 216 − 164 = 52.</a:t>
            </a:r>
          </a:p>
          <a:p>
            <a:pPr marL="34" indent="0" algn="l">
              <a:lnSpc>
                <a:spcPct val="115000"/>
              </a:lnSpc>
              <a:spcAft>
                <a:spcPts val="8"/>
              </a:spcAft>
              <a:buNone/>
              <a:defRPr sz="2325" b="0">
                <a:solidFill>
                  <a:srgbClr val="111111"/>
                </a:solidFill>
                <a:latin typeface="Aptos"/>
                <a:ea typeface="Aptos"/>
                <a:cs typeface="Aptos"/>
              </a:defRPr>
            </a:pPr>
            <a:r>
              <a:rPr sz="2325" b="0">
                <a:solidFill>
                  <a:srgbClr val="111111"/>
                </a:solidFill>
                <a:latin typeface="Aptos"/>
                <a:ea typeface="Aptos"/>
                <a:cs typeface="Aptos"/>
              </a:rPr>
              <a:t>Leakproof only: 119 − 52 = 67</a:t>
            </a:r>
          </a:p>
          <a:p>
            <a:pPr marL="34" indent="0" algn="l">
              <a:lnSpc>
                <a:spcPct val="115000"/>
              </a:lnSpc>
              <a:spcAft>
                <a:spcPts val="8"/>
              </a:spcAft>
              <a:buNone/>
              <a:defRPr sz="2325" b="0">
                <a:solidFill>
                  <a:srgbClr val="111111"/>
                </a:solidFill>
                <a:latin typeface="Aptos"/>
                <a:ea typeface="Aptos"/>
                <a:cs typeface="Aptos"/>
              </a:defRPr>
            </a:pPr>
            <a:r>
              <a:rPr sz="2325" b="0">
                <a:solidFill>
                  <a:srgbClr val="111111"/>
                </a:solidFill>
                <a:latin typeface="Aptos"/>
                <a:ea typeface="Aptos"/>
                <a:cs typeface="Aptos"/>
              </a:rPr>
              <a:t>Keeps cold only: 97 − 52 = 45</a:t>
            </a:r>
          </a:p>
          <a:p>
            <a:pPr marL="34" indent="0" algn="l">
              <a:lnSpc>
                <a:spcPct val="115000"/>
              </a:lnSpc>
              <a:spcAft>
                <a:spcPts val="8"/>
              </a:spcAft>
              <a:buNone/>
              <a:defRPr sz="2325" b="0">
                <a:solidFill>
                  <a:srgbClr val="111111"/>
                </a:solidFill>
                <a:latin typeface="Aptos"/>
                <a:ea typeface="Aptos"/>
                <a:cs typeface="Aptos"/>
              </a:defRPr>
            </a:pPr>
            <a:r>
              <a:rPr sz="2325" b="0">
                <a:solidFill>
                  <a:srgbClr val="111111"/>
                </a:solidFill>
                <a:latin typeface="Aptos"/>
                <a:ea typeface="Aptos"/>
                <a:cs typeface="Aptos"/>
              </a:rPr>
              <a:t>Q3  67 + 52 + 45 + 23 = 187</a:t>
            </a:r>
          </a:p>
        </p:txBody>
      </p:sp>
      <p:sp>
        <p:nvSpPr>
          <p:cNvPr id="4" name="Survey universe U">
            <a:extLst>
              <a:ext uri="{FF2B5EF4-FFF2-40B4-BE49-F238E27FC236}">
                <a16:creationId xmlns:a16="http://schemas.microsoft.com/office/drawing/2014/main" id="{88E9FED1-D04B-4FB9-BDA2-F2E8B238DB66}"/>
              </a:ext>
            </a:extLst>
          </p:cNvPr>
          <p:cNvSpPr>
            <a:spLocks noGrp="1"/>
          </p:cNvSpPr>
          <p:nvPr/>
        </p:nvSpPr>
        <p:spPr>
          <a:xfrm>
            <a:off x="6143625" y="2362200"/>
            <a:ext cx="5410200" cy="3333750"/>
          </a:xfrm>
          <a:prstGeom prst="rect">
            <a:avLst/>
          </a:prstGeom>
          <a:noFill/>
          <a:ln w="19050">
            <a:solidFill>
              <a:srgbClr val="111111"/>
            </a:solidFill>
          </a:ln>
        </p:spPr>
        <p:txBody>
          <a:bodyPr/>
          <a:lstStyle/>
          <a:p>
            <a:endParaRPr lang="en-US"/>
          </a:p>
        </p:txBody>
      </p:sp>
      <p:sp>
        <p:nvSpPr>
          <p:cNvPr id="5" name="Universe label">
            <a:extLst>
              <a:ext uri="{FF2B5EF4-FFF2-40B4-BE49-F238E27FC236}">
                <a16:creationId xmlns:a16="http://schemas.microsoft.com/office/drawing/2014/main" id="{5B92C799-C653-4AAA-A5CC-1B4EAEA394E7}"/>
              </a:ext>
            </a:extLst>
          </p:cNvPr>
          <p:cNvSpPr>
            <a:spLocks noGrp="1"/>
          </p:cNvSpPr>
          <p:nvPr/>
        </p:nvSpPr>
        <p:spPr>
          <a:xfrm>
            <a:off x="6296025" y="2428875"/>
            <a:ext cx="1809750" cy="381000"/>
          </a:xfrm>
          <a:prstGeom prst="rect">
            <a:avLst/>
          </a:prstGeom>
          <a:noFill/>
          <a:ln w="0">
            <a:noFill/>
          </a:ln>
        </p:spPr>
        <p:txBody>
          <a:bodyPr lIns="0" tIns="0" rIns="0" bIns="0" anchor="ctr">
            <a:noAutofit/>
          </a:bodyPr>
          <a:lstStyle/>
          <a:p>
            <a:pPr algn="l">
              <a:lnSpc>
                <a:spcPct val="106000"/>
              </a:lnSpc>
              <a:buNone/>
              <a:defRPr sz="2325" b="1">
                <a:solidFill>
                  <a:srgbClr val="111111"/>
                </a:solidFill>
                <a:latin typeface="Aptos"/>
                <a:ea typeface="Aptos"/>
                <a:cs typeface="Aptos"/>
              </a:defRPr>
            </a:pPr>
            <a:r>
              <a:rPr sz="2325" b="1">
                <a:solidFill>
                  <a:srgbClr val="111111"/>
                </a:solidFill>
                <a:latin typeface="Aptos"/>
                <a:ea typeface="Aptos"/>
                <a:cs typeface="Aptos"/>
              </a:rPr>
              <a:t>n(U) = 187</a:t>
            </a:r>
          </a:p>
        </p:txBody>
      </p:sp>
      <p:sp>
        <p:nvSpPr>
          <p:cNvPr id="6" name="Leakproof label">
            <a:extLst>
              <a:ext uri="{FF2B5EF4-FFF2-40B4-BE49-F238E27FC236}">
                <a16:creationId xmlns:a16="http://schemas.microsoft.com/office/drawing/2014/main" id="{E401AE26-A791-4895-9392-45D8E4FD6D52}"/>
              </a:ext>
            </a:extLst>
          </p:cNvPr>
          <p:cNvSpPr>
            <a:spLocks noGrp="1"/>
          </p:cNvSpPr>
          <p:nvPr/>
        </p:nvSpPr>
        <p:spPr>
          <a:xfrm>
            <a:off x="6457950" y="2838450"/>
            <a:ext cx="2190750" cy="381000"/>
          </a:xfrm>
          <a:prstGeom prst="rect">
            <a:avLst/>
          </a:prstGeom>
          <a:noFill/>
          <a:ln w="0">
            <a:noFill/>
          </a:ln>
        </p:spPr>
        <p:txBody>
          <a:bodyPr lIns="0" tIns="0" rIns="0" bIns="0" anchor="ctr">
            <a:noAutofit/>
          </a:bodyPr>
          <a:lstStyle/>
          <a:p>
            <a:pPr algn="ctr">
              <a:lnSpc>
                <a:spcPct val="106000"/>
              </a:lnSpc>
              <a:buNone/>
              <a:defRPr sz="2325" b="1">
                <a:solidFill>
                  <a:srgbClr val="111111"/>
                </a:solidFill>
                <a:latin typeface="Aptos"/>
                <a:ea typeface="Aptos"/>
                <a:cs typeface="Aptos"/>
              </a:defRPr>
            </a:pPr>
            <a:r>
              <a:rPr sz="2325" b="1">
                <a:solidFill>
                  <a:srgbClr val="111111"/>
                </a:solidFill>
                <a:latin typeface="Aptos"/>
                <a:ea typeface="Aptos"/>
                <a:cs typeface="Aptos"/>
              </a:rPr>
              <a:t>Leakproof</a:t>
            </a:r>
          </a:p>
        </p:txBody>
      </p:sp>
      <p:sp>
        <p:nvSpPr>
          <p:cNvPr id="7" name="Keeps cold label">
            <a:extLst>
              <a:ext uri="{FF2B5EF4-FFF2-40B4-BE49-F238E27FC236}">
                <a16:creationId xmlns:a16="http://schemas.microsoft.com/office/drawing/2014/main" id="{239DB583-A48E-45C0-B9AD-10B9427E4E37}"/>
              </a:ext>
            </a:extLst>
          </p:cNvPr>
          <p:cNvSpPr>
            <a:spLocks noGrp="1"/>
          </p:cNvSpPr>
          <p:nvPr/>
        </p:nvSpPr>
        <p:spPr>
          <a:xfrm>
            <a:off x="8953500" y="2838450"/>
            <a:ext cx="2190750" cy="381000"/>
          </a:xfrm>
          <a:prstGeom prst="rect">
            <a:avLst/>
          </a:prstGeom>
          <a:noFill/>
          <a:ln w="0">
            <a:noFill/>
          </a:ln>
        </p:spPr>
        <p:txBody>
          <a:bodyPr lIns="0" tIns="0" rIns="0" bIns="0" anchor="ctr">
            <a:noAutofit/>
          </a:bodyPr>
          <a:lstStyle/>
          <a:p>
            <a:pPr algn="ctr">
              <a:lnSpc>
                <a:spcPct val="106000"/>
              </a:lnSpc>
              <a:buNone/>
              <a:defRPr sz="2325" b="1">
                <a:solidFill>
                  <a:srgbClr val="111111"/>
                </a:solidFill>
                <a:latin typeface="Aptos"/>
                <a:ea typeface="Aptos"/>
                <a:cs typeface="Aptos"/>
              </a:defRPr>
            </a:pPr>
            <a:r>
              <a:rPr sz="2325" b="1">
                <a:solidFill>
                  <a:srgbClr val="111111"/>
                </a:solidFill>
                <a:latin typeface="Aptos"/>
                <a:ea typeface="Aptos"/>
                <a:cs typeface="Aptos"/>
              </a:rPr>
              <a:t>Keeps cold</a:t>
            </a:r>
          </a:p>
        </p:txBody>
      </p:sp>
      <p:sp>
        <p:nvSpPr>
          <p:cNvPr id="8" name="Leakproof set">
            <a:extLst>
              <a:ext uri="{FF2B5EF4-FFF2-40B4-BE49-F238E27FC236}">
                <a16:creationId xmlns:a16="http://schemas.microsoft.com/office/drawing/2014/main" id="{C8A14624-F135-4F2A-A9CB-E02764A30D67}"/>
              </a:ext>
            </a:extLst>
          </p:cNvPr>
          <p:cNvSpPr>
            <a:spLocks noGrp="1"/>
          </p:cNvSpPr>
          <p:nvPr/>
        </p:nvSpPr>
        <p:spPr>
          <a:xfrm>
            <a:off x="6562725" y="3295650"/>
            <a:ext cx="2571750" cy="1943100"/>
          </a:xfrm>
          <a:prstGeom prst="ellipse">
            <a:avLst/>
          </a:prstGeom>
          <a:noFill/>
          <a:ln w="19050">
            <a:solidFill>
              <a:srgbClr val="111111"/>
            </a:solidFill>
          </a:ln>
        </p:spPr>
        <p:txBody>
          <a:bodyPr/>
          <a:lstStyle/>
          <a:p>
            <a:endParaRPr lang="en-US"/>
          </a:p>
        </p:txBody>
      </p:sp>
      <p:sp>
        <p:nvSpPr>
          <p:cNvPr id="9" name="Keeps cold set">
            <a:extLst>
              <a:ext uri="{FF2B5EF4-FFF2-40B4-BE49-F238E27FC236}">
                <a16:creationId xmlns:a16="http://schemas.microsoft.com/office/drawing/2014/main" id="{4C1C58DC-B144-499A-816C-10D196BF349F}"/>
              </a:ext>
            </a:extLst>
          </p:cNvPr>
          <p:cNvSpPr>
            <a:spLocks noGrp="1"/>
          </p:cNvSpPr>
          <p:nvPr/>
        </p:nvSpPr>
        <p:spPr>
          <a:xfrm>
            <a:off x="8524875" y="3295650"/>
            <a:ext cx="2571750" cy="1943100"/>
          </a:xfrm>
          <a:prstGeom prst="ellipse">
            <a:avLst/>
          </a:prstGeom>
          <a:noFill/>
          <a:ln w="19050">
            <a:solidFill>
              <a:srgbClr val="111111"/>
            </a:solidFill>
          </a:ln>
        </p:spPr>
        <p:txBody>
          <a:bodyPr/>
          <a:lstStyle/>
          <a:p>
            <a:endParaRPr lang="en-US"/>
          </a:p>
        </p:txBody>
      </p:sp>
      <p:sp>
        <p:nvSpPr>
          <p:cNvPr id="10" name="Leakproof only count">
            <a:extLst>
              <a:ext uri="{FF2B5EF4-FFF2-40B4-BE49-F238E27FC236}">
                <a16:creationId xmlns:a16="http://schemas.microsoft.com/office/drawing/2014/main" id="{D0493CF1-5C9B-45E2-BD80-0061626A7041}"/>
              </a:ext>
            </a:extLst>
          </p:cNvPr>
          <p:cNvSpPr>
            <a:spLocks noGrp="1"/>
          </p:cNvSpPr>
          <p:nvPr/>
        </p:nvSpPr>
        <p:spPr>
          <a:xfrm>
            <a:off x="7248525" y="3981450"/>
            <a:ext cx="571500" cy="476250"/>
          </a:xfrm>
          <a:prstGeom prst="rect">
            <a:avLst/>
          </a:prstGeom>
          <a:noFill/>
          <a:ln w="0">
            <a:noFill/>
          </a:ln>
        </p:spPr>
        <p:txBody>
          <a:bodyPr lIns="0" tIns="0" rIns="0" bIns="0" anchor="ctr">
            <a:noAutofit/>
          </a:bodyPr>
          <a:lstStyle/>
          <a:p>
            <a:pPr algn="ctr">
              <a:lnSpc>
                <a:spcPct val="106000"/>
              </a:lnSpc>
              <a:buNone/>
              <a:defRPr sz="2550" b="1">
                <a:solidFill>
                  <a:srgbClr val="111111"/>
                </a:solidFill>
                <a:latin typeface="Aptos"/>
                <a:ea typeface="Aptos"/>
                <a:cs typeface="Aptos"/>
              </a:defRPr>
            </a:pPr>
            <a:r>
              <a:rPr sz="2550" b="1">
                <a:solidFill>
                  <a:srgbClr val="111111"/>
                </a:solidFill>
                <a:latin typeface="Aptos"/>
                <a:ea typeface="Aptos"/>
                <a:cs typeface="Aptos"/>
              </a:rPr>
              <a:t>67</a:t>
            </a:r>
          </a:p>
        </p:txBody>
      </p:sp>
      <p:sp>
        <p:nvSpPr>
          <p:cNvPr id="11" name="Both count">
            <a:extLst>
              <a:ext uri="{FF2B5EF4-FFF2-40B4-BE49-F238E27FC236}">
                <a16:creationId xmlns:a16="http://schemas.microsoft.com/office/drawing/2014/main" id="{00E1BB8D-849F-4E5A-95A8-B71728A64AE3}"/>
              </a:ext>
            </a:extLst>
          </p:cNvPr>
          <p:cNvSpPr>
            <a:spLocks noGrp="1"/>
          </p:cNvSpPr>
          <p:nvPr/>
        </p:nvSpPr>
        <p:spPr>
          <a:xfrm>
            <a:off x="8667750" y="3981450"/>
            <a:ext cx="361950" cy="476250"/>
          </a:xfrm>
          <a:prstGeom prst="rect">
            <a:avLst/>
          </a:prstGeom>
          <a:noFill/>
          <a:ln w="0">
            <a:noFill/>
          </a:ln>
        </p:spPr>
        <p:txBody>
          <a:bodyPr lIns="0" tIns="0" rIns="0" bIns="0" anchor="ctr">
            <a:noAutofit/>
          </a:bodyPr>
          <a:lstStyle/>
          <a:p>
            <a:pPr algn="ctr">
              <a:lnSpc>
                <a:spcPct val="106000"/>
              </a:lnSpc>
              <a:buNone/>
              <a:defRPr sz="2550" b="1">
                <a:solidFill>
                  <a:srgbClr val="111111"/>
                </a:solidFill>
                <a:latin typeface="Aptos"/>
                <a:ea typeface="Aptos"/>
                <a:cs typeface="Aptos"/>
              </a:defRPr>
            </a:pPr>
            <a:r>
              <a:rPr sz="2550" b="1">
                <a:solidFill>
                  <a:srgbClr val="111111"/>
                </a:solidFill>
                <a:latin typeface="Aptos"/>
                <a:ea typeface="Aptos"/>
                <a:cs typeface="Aptos"/>
              </a:rPr>
              <a:t>52</a:t>
            </a:r>
          </a:p>
        </p:txBody>
      </p:sp>
      <p:sp>
        <p:nvSpPr>
          <p:cNvPr id="12" name="Cold only count">
            <a:extLst>
              <a:ext uri="{FF2B5EF4-FFF2-40B4-BE49-F238E27FC236}">
                <a16:creationId xmlns:a16="http://schemas.microsoft.com/office/drawing/2014/main" id="{0BE6F212-24AA-4D86-A1D9-D9937BF5B1D8}"/>
              </a:ext>
            </a:extLst>
          </p:cNvPr>
          <p:cNvSpPr>
            <a:spLocks noGrp="1"/>
          </p:cNvSpPr>
          <p:nvPr/>
        </p:nvSpPr>
        <p:spPr>
          <a:xfrm>
            <a:off x="9810750" y="3981450"/>
            <a:ext cx="571500" cy="476250"/>
          </a:xfrm>
          <a:prstGeom prst="rect">
            <a:avLst/>
          </a:prstGeom>
          <a:noFill/>
          <a:ln w="0">
            <a:noFill/>
          </a:ln>
        </p:spPr>
        <p:txBody>
          <a:bodyPr lIns="0" tIns="0" rIns="0" bIns="0" anchor="ctr">
            <a:noAutofit/>
          </a:bodyPr>
          <a:lstStyle/>
          <a:p>
            <a:pPr algn="ctr">
              <a:lnSpc>
                <a:spcPct val="106000"/>
              </a:lnSpc>
              <a:buNone/>
              <a:defRPr sz="2550" b="1">
                <a:solidFill>
                  <a:srgbClr val="111111"/>
                </a:solidFill>
                <a:latin typeface="Aptos"/>
                <a:ea typeface="Aptos"/>
                <a:cs typeface="Aptos"/>
              </a:defRPr>
            </a:pPr>
            <a:r>
              <a:rPr sz="2550" b="1">
                <a:solidFill>
                  <a:srgbClr val="111111"/>
                </a:solidFill>
                <a:latin typeface="Aptos"/>
                <a:ea typeface="Aptos"/>
                <a:cs typeface="Aptos"/>
              </a:rPr>
              <a:t>45</a:t>
            </a:r>
          </a:p>
        </p:txBody>
      </p:sp>
      <p:sp>
        <p:nvSpPr>
          <p:cNvPr id="13" name="Neither count">
            <a:extLst>
              <a:ext uri="{FF2B5EF4-FFF2-40B4-BE49-F238E27FC236}">
                <a16:creationId xmlns:a16="http://schemas.microsoft.com/office/drawing/2014/main" id="{6442FA56-146B-493C-A096-506E837D253D}"/>
              </a:ext>
            </a:extLst>
          </p:cNvPr>
          <p:cNvSpPr>
            <a:spLocks noGrp="1"/>
          </p:cNvSpPr>
          <p:nvPr/>
        </p:nvSpPr>
        <p:spPr>
          <a:xfrm>
            <a:off x="9382125" y="5276850"/>
            <a:ext cx="1962150" cy="361950"/>
          </a:xfrm>
          <a:prstGeom prst="rect">
            <a:avLst/>
          </a:prstGeom>
          <a:noFill/>
          <a:ln w="0">
            <a:noFill/>
          </a:ln>
        </p:spPr>
        <p:txBody>
          <a:bodyPr lIns="0" tIns="0" rIns="0" bIns="0" anchor="ctr">
            <a:noAutofit/>
          </a:bodyPr>
          <a:lstStyle/>
          <a:p>
            <a:pPr algn="r">
              <a:lnSpc>
                <a:spcPct val="106000"/>
              </a:lnSpc>
              <a:buNone/>
              <a:defRPr sz="2325" b="0">
                <a:solidFill>
                  <a:srgbClr val="111111"/>
                </a:solidFill>
                <a:latin typeface="Aptos"/>
                <a:ea typeface="Aptos"/>
                <a:cs typeface="Aptos"/>
              </a:defRPr>
            </a:pPr>
            <a:r>
              <a:rPr sz="2325" b="0">
                <a:solidFill>
                  <a:srgbClr val="111111"/>
                </a:solidFill>
                <a:latin typeface="Aptos"/>
                <a:ea typeface="Aptos"/>
                <a:cs typeface="Aptos"/>
              </a:rPr>
              <a:t>23 neither</a:t>
            </a:r>
          </a:p>
        </p:txBody>
      </p:sp>
      <p:sp>
        <p:nvSpPr>
          <p:cNvPr id="14" name="Handout reference C1A">
            <a:extLst>
              <a:ext uri="{FF2B5EF4-FFF2-40B4-BE49-F238E27FC236}">
                <a16:creationId xmlns:a16="http://schemas.microsoft.com/office/drawing/2014/main" id="{F1A1D7FB-0E9E-497D-89A6-008163AE1487}"/>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C1A</a:t>
            </a:r>
          </a:p>
        </p:txBody>
      </p:sp>
    </p:spTree>
    <p:extLst>
      <p:ext uri="{BB962C8B-B14F-4D97-AF65-F5344CB8AC3E}">
        <p14:creationId xmlns:p14="http://schemas.microsoft.com/office/powerpoint/2010/main" val="1680955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C1B: Same data, different denominator</a:t>
            </a:r>
          </a:p>
        </p:txBody>
      </p:sp>
      <p:sp>
        <p:nvSpPr>
          <p:cNvPr id="3" name="Handout reference C1B">
            <a:extLst>
              <a:ext uri="{FF2B5EF4-FFF2-40B4-BE49-F238E27FC236}">
                <a16:creationId xmlns:a16="http://schemas.microsoft.com/office/drawing/2014/main" id="{51951D2D-C6F7-4B6B-93F2-D1ABBD6FB7B5}"/>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C1B</a:t>
            </a:r>
          </a:p>
        </p:txBody>
      </p:sp>
      <p:sp>
        <p:nvSpPr>
          <p:cNvPr id="4" name="Content 14">
            <a:extLst>
              <a:ext uri="{FF2B5EF4-FFF2-40B4-BE49-F238E27FC236}">
                <a16:creationId xmlns:a16="http://schemas.microsoft.com/office/drawing/2014/main" id="{45D1C8B2-C797-40AE-BB72-CC038EC77F56}"/>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Use your completed survey diagram from C1A.</a:t>
            </a:r>
          </a:p>
        </p:txBody>
      </p:sp>
      <p:sp>
        <p:nvSpPr>
          <p:cNvPr id="5" name="Content 15">
            <a:extLst>
              <a:ext uri="{FF2B5EF4-FFF2-40B4-BE49-F238E27FC236}">
                <a16:creationId xmlns:a16="http://schemas.microsoft.com/office/drawing/2014/main" id="{1EFFDC47-AEE9-4543-A5F2-21940445A7D1}"/>
              </a:ext>
            </a:extLst>
          </p:cNvPr>
          <p:cNvSpPr>
            <a:spLocks noGrp="1"/>
          </p:cNvSpPr>
          <p:nvPr/>
        </p:nvSpPr>
        <p:spPr>
          <a:xfrm>
            <a:off x="430816" y="2438686"/>
            <a:ext cx="11293412" cy="72447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What percentage of all surveyed students selected at least one</a:t>
            </a:r>
          </a:p>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feature?</a:t>
            </a:r>
          </a:p>
        </p:txBody>
      </p:sp>
      <p:sp>
        <p:nvSpPr>
          <p:cNvPr id="6" name="Content 16">
            <a:extLst>
              <a:ext uri="{FF2B5EF4-FFF2-40B4-BE49-F238E27FC236}">
                <a16:creationId xmlns:a16="http://schemas.microsoft.com/office/drawing/2014/main" id="{F70F665F-653F-443B-A0E2-1923068CC7EE}"/>
              </a:ext>
            </a:extLst>
          </p:cNvPr>
          <p:cNvSpPr>
            <a:spLocks noGrp="1"/>
          </p:cNvSpPr>
          <p:nvPr/>
        </p:nvSpPr>
        <p:spPr>
          <a:xfrm>
            <a:off x="430816" y="3258407"/>
            <a:ext cx="11293412" cy="72447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Of the students who selected leakproof, what percentage also</a:t>
            </a:r>
          </a:p>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selected keeps cold?</a:t>
            </a:r>
          </a:p>
        </p:txBody>
      </p:sp>
      <p:sp>
        <p:nvSpPr>
          <p:cNvPr id="7" name="Content 17">
            <a:extLst>
              <a:ext uri="{FF2B5EF4-FFF2-40B4-BE49-F238E27FC236}">
                <a16:creationId xmlns:a16="http://schemas.microsoft.com/office/drawing/2014/main" id="{EB91E3BA-9AD7-4397-BE31-BBDAFAE39F56}"/>
              </a:ext>
            </a:extLst>
          </p:cNvPr>
          <p:cNvSpPr>
            <a:spLocks noGrp="1"/>
          </p:cNvSpPr>
          <p:nvPr/>
        </p:nvSpPr>
        <p:spPr>
          <a:xfrm>
            <a:off x="430816" y="4078129"/>
            <a:ext cx="11293412" cy="72447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What percentage of all surveyed students selected both? Explain why</a:t>
            </a:r>
          </a:p>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and Q3 have different denominators.</a:t>
            </a:r>
          </a:p>
        </p:txBody>
      </p:sp>
    </p:spTree>
    <p:extLst>
      <p:ext uri="{BB962C8B-B14F-4D97-AF65-F5344CB8AC3E}">
        <p14:creationId xmlns:p14="http://schemas.microsoft.com/office/powerpoint/2010/main" val="4158798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C1B: Three percentages</a:t>
            </a:r>
          </a:p>
        </p:txBody>
      </p:sp>
      <p:sp>
        <p:nvSpPr>
          <p:cNvPr id="3" name="Handout reference C1B">
            <a:extLst>
              <a:ext uri="{FF2B5EF4-FFF2-40B4-BE49-F238E27FC236}">
                <a16:creationId xmlns:a16="http://schemas.microsoft.com/office/drawing/2014/main" id="{47C74176-D2AF-4001-AB08-27C620BF10F8}"/>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C1B</a:t>
            </a:r>
          </a:p>
        </p:txBody>
      </p:sp>
      <p:sp>
        <p:nvSpPr>
          <p:cNvPr id="4" name="Clarified text 37">
            <a:extLst>
              <a:ext uri="{FF2B5EF4-FFF2-40B4-BE49-F238E27FC236}">
                <a16:creationId xmlns:a16="http://schemas.microsoft.com/office/drawing/2014/main" id="{A658B05C-2EF8-4859-A9FE-EF3C9A51906C}"/>
              </a:ext>
            </a:extLst>
          </p:cNvPr>
          <p:cNvSpPr>
            <a:spLocks noGrp="1"/>
          </p:cNvSpPr>
          <p:nvPr/>
        </p:nvSpPr>
        <p:spPr>
          <a:xfrm>
            <a:off x="428625" y="1952625"/>
            <a:ext cx="11296650" cy="428625"/>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164 selected at least one, out of all 187 students.</a:t>
            </a:r>
          </a:p>
        </p:txBody>
      </p:sp>
      <p:sp>
        <p:nvSpPr>
          <p:cNvPr id="5" name="Clarified text 38">
            <a:extLst>
              <a:ext uri="{FF2B5EF4-FFF2-40B4-BE49-F238E27FC236}">
                <a16:creationId xmlns:a16="http://schemas.microsoft.com/office/drawing/2014/main" id="{E037DB0A-20AB-4B87-935F-D74DD5233ECF}"/>
              </a:ext>
            </a:extLst>
          </p:cNvPr>
          <p:cNvSpPr>
            <a:spLocks noGrp="1"/>
          </p:cNvSpPr>
          <p:nvPr/>
        </p:nvSpPr>
        <p:spPr>
          <a:xfrm>
            <a:off x="685800" y="2619375"/>
            <a:ext cx="2000250"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Percentage =</a:t>
            </a:r>
          </a:p>
        </p:txBody>
      </p:sp>
      <p:sp>
        <p:nvSpPr>
          <p:cNvPr id="6" name="Clarified text 39">
            <a:extLst>
              <a:ext uri="{FF2B5EF4-FFF2-40B4-BE49-F238E27FC236}">
                <a16:creationId xmlns:a16="http://schemas.microsoft.com/office/drawing/2014/main" id="{EE097E9B-2124-41C4-849F-6DA50EA73CE3}"/>
              </a:ext>
            </a:extLst>
          </p:cNvPr>
          <p:cNvSpPr>
            <a:spLocks noGrp="1"/>
          </p:cNvSpPr>
          <p:nvPr/>
        </p:nvSpPr>
        <p:spPr>
          <a:xfrm>
            <a:off x="2686050" y="2371725"/>
            <a:ext cx="219075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164</a:t>
            </a:r>
          </a:p>
        </p:txBody>
      </p:sp>
      <p:sp>
        <p:nvSpPr>
          <p:cNvPr id="7" name="Fraction bar">
            <a:extLst>
              <a:ext uri="{FF2B5EF4-FFF2-40B4-BE49-F238E27FC236}">
                <a16:creationId xmlns:a16="http://schemas.microsoft.com/office/drawing/2014/main" id="{0AE1817D-BE3C-46E3-9668-ED9DF78B4361}"/>
              </a:ext>
            </a:extLst>
          </p:cNvPr>
          <p:cNvSpPr>
            <a:spLocks noGrp="1"/>
          </p:cNvSpPr>
          <p:nvPr/>
        </p:nvSpPr>
        <p:spPr>
          <a:xfrm>
            <a:off x="2686050" y="2781300"/>
            <a:ext cx="2190750" cy="0"/>
          </a:xfrm>
          <a:prstGeom prst="line">
            <a:avLst/>
          </a:prstGeom>
          <a:noFill/>
          <a:ln w="14288">
            <a:solidFill>
              <a:srgbClr val="111111"/>
            </a:solidFill>
          </a:ln>
        </p:spPr>
        <p:txBody>
          <a:bodyPr/>
          <a:lstStyle/>
          <a:p>
            <a:endParaRPr lang="en-US"/>
          </a:p>
        </p:txBody>
      </p:sp>
      <p:sp>
        <p:nvSpPr>
          <p:cNvPr id="8" name="Clarified text 40">
            <a:extLst>
              <a:ext uri="{FF2B5EF4-FFF2-40B4-BE49-F238E27FC236}">
                <a16:creationId xmlns:a16="http://schemas.microsoft.com/office/drawing/2014/main" id="{53DC77F6-1FD9-4B55-9F4D-8248B25FDF7A}"/>
              </a:ext>
            </a:extLst>
          </p:cNvPr>
          <p:cNvSpPr>
            <a:spLocks noGrp="1"/>
          </p:cNvSpPr>
          <p:nvPr/>
        </p:nvSpPr>
        <p:spPr>
          <a:xfrm>
            <a:off x="2686050" y="2819400"/>
            <a:ext cx="219075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187</a:t>
            </a:r>
          </a:p>
        </p:txBody>
      </p:sp>
      <p:sp>
        <p:nvSpPr>
          <p:cNvPr id="9" name="Clarified text 41">
            <a:extLst>
              <a:ext uri="{FF2B5EF4-FFF2-40B4-BE49-F238E27FC236}">
                <a16:creationId xmlns:a16="http://schemas.microsoft.com/office/drawing/2014/main" id="{C2DA4161-E5D3-49C4-A27C-B9D039185540}"/>
              </a:ext>
            </a:extLst>
          </p:cNvPr>
          <p:cNvSpPr>
            <a:spLocks noGrp="1"/>
          </p:cNvSpPr>
          <p:nvPr/>
        </p:nvSpPr>
        <p:spPr>
          <a:xfrm>
            <a:off x="5048250" y="2619375"/>
            <a:ext cx="6677025"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 100% ≈ 87.7%</a:t>
            </a:r>
          </a:p>
        </p:txBody>
      </p:sp>
      <p:sp>
        <p:nvSpPr>
          <p:cNvPr id="10" name="Clarified text 42">
            <a:extLst>
              <a:ext uri="{FF2B5EF4-FFF2-40B4-BE49-F238E27FC236}">
                <a16:creationId xmlns:a16="http://schemas.microsoft.com/office/drawing/2014/main" id="{B696605C-474E-4210-8D29-D986C8280666}"/>
              </a:ext>
            </a:extLst>
          </p:cNvPr>
          <p:cNvSpPr>
            <a:spLocks noGrp="1"/>
          </p:cNvSpPr>
          <p:nvPr/>
        </p:nvSpPr>
        <p:spPr>
          <a:xfrm>
            <a:off x="428625" y="3343275"/>
            <a:ext cx="11296650" cy="409575"/>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Of the 119 who selected leakproof, 52 selected both.</a:t>
            </a:r>
          </a:p>
        </p:txBody>
      </p:sp>
      <p:sp>
        <p:nvSpPr>
          <p:cNvPr id="11" name="Clarified text 43">
            <a:extLst>
              <a:ext uri="{FF2B5EF4-FFF2-40B4-BE49-F238E27FC236}">
                <a16:creationId xmlns:a16="http://schemas.microsoft.com/office/drawing/2014/main" id="{AF260DCB-55AD-49F8-A3E7-C2AD81EB7B92}"/>
              </a:ext>
            </a:extLst>
          </p:cNvPr>
          <p:cNvSpPr>
            <a:spLocks noGrp="1"/>
          </p:cNvSpPr>
          <p:nvPr/>
        </p:nvSpPr>
        <p:spPr>
          <a:xfrm>
            <a:off x="685800" y="4000500"/>
            <a:ext cx="2000250"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Percentage =</a:t>
            </a:r>
          </a:p>
        </p:txBody>
      </p:sp>
      <p:sp>
        <p:nvSpPr>
          <p:cNvPr id="12" name="Clarified text 44">
            <a:extLst>
              <a:ext uri="{FF2B5EF4-FFF2-40B4-BE49-F238E27FC236}">
                <a16:creationId xmlns:a16="http://schemas.microsoft.com/office/drawing/2014/main" id="{FF4EE286-8D57-47AF-BB5A-32D039EEF001}"/>
              </a:ext>
            </a:extLst>
          </p:cNvPr>
          <p:cNvSpPr>
            <a:spLocks noGrp="1"/>
          </p:cNvSpPr>
          <p:nvPr/>
        </p:nvSpPr>
        <p:spPr>
          <a:xfrm>
            <a:off x="2686050" y="3752850"/>
            <a:ext cx="219075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52</a:t>
            </a:r>
          </a:p>
        </p:txBody>
      </p:sp>
      <p:sp>
        <p:nvSpPr>
          <p:cNvPr id="13" name="Fraction bar">
            <a:extLst>
              <a:ext uri="{FF2B5EF4-FFF2-40B4-BE49-F238E27FC236}">
                <a16:creationId xmlns:a16="http://schemas.microsoft.com/office/drawing/2014/main" id="{0505FD71-5D9E-4D40-AA83-48F249F93F4E}"/>
              </a:ext>
            </a:extLst>
          </p:cNvPr>
          <p:cNvSpPr>
            <a:spLocks noGrp="1"/>
          </p:cNvSpPr>
          <p:nvPr/>
        </p:nvSpPr>
        <p:spPr>
          <a:xfrm>
            <a:off x="2686050" y="4162425"/>
            <a:ext cx="2190750" cy="0"/>
          </a:xfrm>
          <a:prstGeom prst="line">
            <a:avLst/>
          </a:prstGeom>
          <a:noFill/>
          <a:ln w="14288">
            <a:solidFill>
              <a:srgbClr val="111111"/>
            </a:solidFill>
          </a:ln>
        </p:spPr>
        <p:txBody>
          <a:bodyPr/>
          <a:lstStyle/>
          <a:p>
            <a:endParaRPr lang="en-US"/>
          </a:p>
        </p:txBody>
      </p:sp>
      <p:sp>
        <p:nvSpPr>
          <p:cNvPr id="14" name="Clarified text 45">
            <a:extLst>
              <a:ext uri="{FF2B5EF4-FFF2-40B4-BE49-F238E27FC236}">
                <a16:creationId xmlns:a16="http://schemas.microsoft.com/office/drawing/2014/main" id="{478EF781-C77A-44C1-B1B4-EB1EE25F0E96}"/>
              </a:ext>
            </a:extLst>
          </p:cNvPr>
          <p:cNvSpPr>
            <a:spLocks noGrp="1"/>
          </p:cNvSpPr>
          <p:nvPr/>
        </p:nvSpPr>
        <p:spPr>
          <a:xfrm>
            <a:off x="2686050" y="4200525"/>
            <a:ext cx="219075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119</a:t>
            </a:r>
          </a:p>
        </p:txBody>
      </p:sp>
      <p:sp>
        <p:nvSpPr>
          <p:cNvPr id="15" name="Clarified text 46">
            <a:extLst>
              <a:ext uri="{FF2B5EF4-FFF2-40B4-BE49-F238E27FC236}">
                <a16:creationId xmlns:a16="http://schemas.microsoft.com/office/drawing/2014/main" id="{B9E0239B-223C-45A8-B61D-759D286BD5C0}"/>
              </a:ext>
            </a:extLst>
          </p:cNvPr>
          <p:cNvSpPr>
            <a:spLocks noGrp="1"/>
          </p:cNvSpPr>
          <p:nvPr/>
        </p:nvSpPr>
        <p:spPr>
          <a:xfrm>
            <a:off x="5048250" y="4000500"/>
            <a:ext cx="6677025"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 100% ≈ 43.7%</a:t>
            </a:r>
          </a:p>
        </p:txBody>
      </p:sp>
      <p:sp>
        <p:nvSpPr>
          <p:cNvPr id="16" name="Clarified text 47">
            <a:extLst>
              <a:ext uri="{FF2B5EF4-FFF2-40B4-BE49-F238E27FC236}">
                <a16:creationId xmlns:a16="http://schemas.microsoft.com/office/drawing/2014/main" id="{1DACE1C0-0DD7-446C-9AA5-F21D6F160633}"/>
              </a:ext>
            </a:extLst>
          </p:cNvPr>
          <p:cNvSpPr>
            <a:spLocks noGrp="1"/>
          </p:cNvSpPr>
          <p:nvPr/>
        </p:nvSpPr>
        <p:spPr>
          <a:xfrm>
            <a:off x="428625" y="4724400"/>
            <a:ext cx="11296650" cy="409575"/>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Compare the same 52 with all 187 surveyed students.</a:t>
            </a:r>
          </a:p>
        </p:txBody>
      </p:sp>
      <p:sp>
        <p:nvSpPr>
          <p:cNvPr id="17" name="Clarified text 48">
            <a:extLst>
              <a:ext uri="{FF2B5EF4-FFF2-40B4-BE49-F238E27FC236}">
                <a16:creationId xmlns:a16="http://schemas.microsoft.com/office/drawing/2014/main" id="{F07D82E2-BA9D-44C1-A9A5-9BC94CCBC8C9}"/>
              </a:ext>
            </a:extLst>
          </p:cNvPr>
          <p:cNvSpPr>
            <a:spLocks noGrp="1"/>
          </p:cNvSpPr>
          <p:nvPr/>
        </p:nvSpPr>
        <p:spPr>
          <a:xfrm>
            <a:off x="685800" y="5381625"/>
            <a:ext cx="2000250"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Percentage =</a:t>
            </a:r>
          </a:p>
        </p:txBody>
      </p:sp>
      <p:sp>
        <p:nvSpPr>
          <p:cNvPr id="18" name="Clarified text 49">
            <a:extLst>
              <a:ext uri="{FF2B5EF4-FFF2-40B4-BE49-F238E27FC236}">
                <a16:creationId xmlns:a16="http://schemas.microsoft.com/office/drawing/2014/main" id="{CEF3E0B3-16A6-4FC2-A1E1-2FF4E2C785A4}"/>
              </a:ext>
            </a:extLst>
          </p:cNvPr>
          <p:cNvSpPr>
            <a:spLocks noGrp="1"/>
          </p:cNvSpPr>
          <p:nvPr/>
        </p:nvSpPr>
        <p:spPr>
          <a:xfrm>
            <a:off x="2686050" y="5133975"/>
            <a:ext cx="219075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52</a:t>
            </a:r>
          </a:p>
        </p:txBody>
      </p:sp>
      <p:sp>
        <p:nvSpPr>
          <p:cNvPr id="19" name="Fraction bar">
            <a:extLst>
              <a:ext uri="{FF2B5EF4-FFF2-40B4-BE49-F238E27FC236}">
                <a16:creationId xmlns:a16="http://schemas.microsoft.com/office/drawing/2014/main" id="{E93B97D6-929B-4A8D-928D-291EA26C02D7}"/>
              </a:ext>
            </a:extLst>
          </p:cNvPr>
          <p:cNvSpPr>
            <a:spLocks noGrp="1"/>
          </p:cNvSpPr>
          <p:nvPr/>
        </p:nvSpPr>
        <p:spPr>
          <a:xfrm>
            <a:off x="2686050" y="5543550"/>
            <a:ext cx="2190750" cy="0"/>
          </a:xfrm>
          <a:prstGeom prst="line">
            <a:avLst/>
          </a:prstGeom>
          <a:noFill/>
          <a:ln w="14288">
            <a:solidFill>
              <a:srgbClr val="111111"/>
            </a:solidFill>
          </a:ln>
        </p:spPr>
        <p:txBody>
          <a:bodyPr/>
          <a:lstStyle/>
          <a:p>
            <a:endParaRPr lang="en-US"/>
          </a:p>
        </p:txBody>
      </p:sp>
      <p:sp>
        <p:nvSpPr>
          <p:cNvPr id="20" name="Clarified text 50">
            <a:extLst>
              <a:ext uri="{FF2B5EF4-FFF2-40B4-BE49-F238E27FC236}">
                <a16:creationId xmlns:a16="http://schemas.microsoft.com/office/drawing/2014/main" id="{B048B09D-D291-4836-A3F7-5A6E992A3445}"/>
              </a:ext>
            </a:extLst>
          </p:cNvPr>
          <p:cNvSpPr>
            <a:spLocks noGrp="1"/>
          </p:cNvSpPr>
          <p:nvPr/>
        </p:nvSpPr>
        <p:spPr>
          <a:xfrm>
            <a:off x="2686050" y="5581650"/>
            <a:ext cx="219075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187</a:t>
            </a:r>
          </a:p>
        </p:txBody>
      </p:sp>
      <p:sp>
        <p:nvSpPr>
          <p:cNvPr id="21" name="Clarified text 51">
            <a:extLst>
              <a:ext uri="{FF2B5EF4-FFF2-40B4-BE49-F238E27FC236}">
                <a16:creationId xmlns:a16="http://schemas.microsoft.com/office/drawing/2014/main" id="{1A2FE91C-C1F4-4F33-BE2C-821D8E8520CF}"/>
              </a:ext>
            </a:extLst>
          </p:cNvPr>
          <p:cNvSpPr>
            <a:spLocks noGrp="1"/>
          </p:cNvSpPr>
          <p:nvPr/>
        </p:nvSpPr>
        <p:spPr>
          <a:xfrm>
            <a:off x="5048250" y="5381625"/>
            <a:ext cx="6677025"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 100% ≈ 27.8%</a:t>
            </a:r>
          </a:p>
        </p:txBody>
      </p:sp>
    </p:spTree>
    <p:extLst>
      <p:ext uri="{BB962C8B-B14F-4D97-AF65-F5344CB8AC3E}">
        <p14:creationId xmlns:p14="http://schemas.microsoft.com/office/powerpoint/2010/main" val="4158798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Think: What does the survey support?</a:t>
            </a:r>
          </a:p>
        </p:txBody>
      </p:sp>
      <p:sp>
        <p:nvSpPr>
          <p:cNvPr id="3" name="Handout reference C1B">
            <a:extLst>
              <a:ext uri="{FF2B5EF4-FFF2-40B4-BE49-F238E27FC236}">
                <a16:creationId xmlns:a16="http://schemas.microsoft.com/office/drawing/2014/main" id="{E8B6F543-18E9-4171-B171-6E2A8036DE1E}"/>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C1B</a:t>
            </a:r>
          </a:p>
        </p:txBody>
      </p:sp>
      <p:sp>
        <p:nvSpPr>
          <p:cNvPr id="4" name="Content 33">
            <a:extLst>
              <a:ext uri="{FF2B5EF4-FFF2-40B4-BE49-F238E27FC236}">
                <a16:creationId xmlns:a16="http://schemas.microsoft.com/office/drawing/2014/main" id="{ACE2B4C6-3DF3-411F-85D5-8B6EDC30A61F}"/>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The survey result is 87.7% selecting at least one feature.</a:t>
            </a:r>
          </a:p>
        </p:txBody>
      </p:sp>
      <p:sp>
        <p:nvSpPr>
          <p:cNvPr id="5" name="Content 34">
            <a:extLst>
              <a:ext uri="{FF2B5EF4-FFF2-40B4-BE49-F238E27FC236}">
                <a16:creationId xmlns:a16="http://schemas.microsoft.com/office/drawing/2014/main" id="{8CAAE96D-AF7B-42E8-9FB6-0A95F27A99ED}"/>
              </a:ext>
            </a:extLst>
          </p:cNvPr>
          <p:cNvSpPr>
            <a:spLocks noGrp="1"/>
          </p:cNvSpPr>
          <p:nvPr/>
        </p:nvSpPr>
        <p:spPr>
          <a:xfrm>
            <a:off x="430816" y="2552986"/>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A  This describes the 187 students surveyed.</a:t>
            </a:r>
          </a:p>
        </p:txBody>
      </p:sp>
      <p:sp>
        <p:nvSpPr>
          <p:cNvPr id="6" name="Content 35">
            <a:extLst>
              <a:ext uri="{FF2B5EF4-FFF2-40B4-BE49-F238E27FC236}">
                <a16:creationId xmlns:a16="http://schemas.microsoft.com/office/drawing/2014/main" id="{5B9282B6-A1E0-4FD9-994B-DE4DE3BD4C6B}"/>
              </a:ext>
            </a:extLst>
          </p:cNvPr>
          <p:cNvSpPr>
            <a:spLocks noGrp="1"/>
          </p:cNvSpPr>
          <p:nvPr/>
        </p:nvSpPr>
        <p:spPr>
          <a:xfrm>
            <a:off x="430816" y="3153346"/>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B  This establishes the percentage for every Bellerbys student.</a:t>
            </a:r>
          </a:p>
        </p:txBody>
      </p:sp>
      <p:sp>
        <p:nvSpPr>
          <p:cNvPr id="7" name="Content 36">
            <a:extLst>
              <a:ext uri="{FF2B5EF4-FFF2-40B4-BE49-F238E27FC236}">
                <a16:creationId xmlns:a16="http://schemas.microsoft.com/office/drawing/2014/main" id="{6B875A4C-8F6A-4815-8C2A-7F322B8D35DA}"/>
              </a:ext>
            </a:extLst>
          </p:cNvPr>
          <p:cNvSpPr>
            <a:spLocks noGrp="1"/>
          </p:cNvSpPr>
          <p:nvPr/>
        </p:nvSpPr>
        <p:spPr>
          <a:xfrm>
            <a:off x="430816" y="3753707"/>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Which statement is supported? Give one reason.</a:t>
            </a:r>
          </a:p>
        </p:txBody>
      </p:sp>
      <p:sp>
        <p:nvSpPr>
          <p:cNvPr id="8" name="Content 37">
            <a:extLst>
              <a:ext uri="{FF2B5EF4-FFF2-40B4-BE49-F238E27FC236}">
                <a16:creationId xmlns:a16="http://schemas.microsoft.com/office/drawing/2014/main" id="{0724D34D-E8F6-4F77-A920-1D2FFBD17795}"/>
              </a:ext>
            </a:extLst>
          </p:cNvPr>
          <p:cNvSpPr>
            <a:spLocks noGrp="1"/>
          </p:cNvSpPr>
          <p:nvPr/>
        </p:nvSpPr>
        <p:spPr>
          <a:xfrm>
            <a:off x="430816" y="4354068"/>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What would you need to know about how the 187 students were selected?</a:t>
            </a:r>
          </a:p>
        </p:txBody>
      </p:sp>
    </p:spTree>
    <p:extLst>
      <p:ext uri="{BB962C8B-B14F-4D97-AF65-F5344CB8AC3E}">
        <p14:creationId xmlns:p14="http://schemas.microsoft.com/office/powerpoint/2010/main" val="4158798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Think: Evidence and limits</a:t>
            </a:r>
          </a:p>
        </p:txBody>
      </p:sp>
      <p:sp>
        <p:nvSpPr>
          <p:cNvPr id="3" name="Handout reference C1B">
            <a:extLst>
              <a:ext uri="{FF2B5EF4-FFF2-40B4-BE49-F238E27FC236}">
                <a16:creationId xmlns:a16="http://schemas.microsoft.com/office/drawing/2014/main" id="{18601483-9378-44ED-BC5D-7D9BE86E636F}"/>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C1B</a:t>
            </a:r>
          </a:p>
        </p:txBody>
      </p:sp>
      <p:sp>
        <p:nvSpPr>
          <p:cNvPr id="4" name="Content 38">
            <a:extLst>
              <a:ext uri="{FF2B5EF4-FFF2-40B4-BE49-F238E27FC236}">
                <a16:creationId xmlns:a16="http://schemas.microsoft.com/office/drawing/2014/main" id="{EC4F442E-D1EE-4B59-8245-94D6FB723D2D}"/>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A is supported by the observed survey counts.</a:t>
            </a:r>
          </a:p>
        </p:txBody>
      </p:sp>
      <p:sp>
        <p:nvSpPr>
          <p:cNvPr id="5" name="Content 39">
            <a:extLst>
              <a:ext uri="{FF2B5EF4-FFF2-40B4-BE49-F238E27FC236}">
                <a16:creationId xmlns:a16="http://schemas.microsoft.com/office/drawing/2014/main" id="{50EA5969-F7B9-49FF-B1F2-5D4AAA006CFF}"/>
              </a:ext>
            </a:extLst>
          </p:cNvPr>
          <p:cNvSpPr>
            <a:spLocks noGrp="1"/>
          </p:cNvSpPr>
          <p:nvPr/>
        </p:nvSpPr>
        <p:spPr>
          <a:xfrm>
            <a:off x="430816" y="2562511"/>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The survey describes these 187 respondents.</a:t>
            </a:r>
          </a:p>
        </p:txBody>
      </p:sp>
      <p:sp>
        <p:nvSpPr>
          <p:cNvPr id="6" name="Content 40">
            <a:extLst>
              <a:ext uri="{FF2B5EF4-FFF2-40B4-BE49-F238E27FC236}">
                <a16:creationId xmlns:a16="http://schemas.microsoft.com/office/drawing/2014/main" id="{5FDD4854-A4F0-4CB0-96E3-441CB0185441}"/>
              </a:ext>
            </a:extLst>
          </p:cNvPr>
          <p:cNvSpPr>
            <a:spLocks noGrp="1"/>
          </p:cNvSpPr>
          <p:nvPr/>
        </p:nvSpPr>
        <p:spPr>
          <a:xfrm>
            <a:off x="430816" y="317239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B needs more evidence about who was included and how they were selected.</a:t>
            </a:r>
          </a:p>
        </p:txBody>
      </p:sp>
      <p:sp>
        <p:nvSpPr>
          <p:cNvPr id="7" name="Content 41">
            <a:extLst>
              <a:ext uri="{FF2B5EF4-FFF2-40B4-BE49-F238E27FC236}">
                <a16:creationId xmlns:a16="http://schemas.microsoft.com/office/drawing/2014/main" id="{C42BEA49-2A97-4BB8-BF8E-7F6D764307F4}"/>
              </a:ext>
            </a:extLst>
          </p:cNvPr>
          <p:cNvSpPr>
            <a:spLocks noGrp="1"/>
          </p:cNvSpPr>
          <p:nvPr/>
        </p:nvSpPr>
        <p:spPr>
          <a:xfrm>
            <a:off x="430816" y="3782282"/>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A larger number alone does not remove selection problems.</a:t>
            </a:r>
          </a:p>
        </p:txBody>
      </p:sp>
      <p:sp>
        <p:nvSpPr>
          <p:cNvPr id="8" name="Content 42">
            <a:extLst>
              <a:ext uri="{FF2B5EF4-FFF2-40B4-BE49-F238E27FC236}">
                <a16:creationId xmlns:a16="http://schemas.microsoft.com/office/drawing/2014/main" id="{E01C1C35-64ED-45A0-BCBF-4B88AA4AEB00}"/>
              </a:ext>
            </a:extLst>
          </p:cNvPr>
          <p:cNvSpPr>
            <a:spLocks noGrp="1"/>
          </p:cNvSpPr>
          <p:nvPr/>
        </p:nvSpPr>
        <p:spPr>
          <a:xfrm>
            <a:off x="430816" y="4392168"/>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Next week: collecting evidence that can support a wider conclusion.</a:t>
            </a:r>
          </a:p>
        </p:txBody>
      </p:sp>
    </p:spTree>
    <p:extLst>
      <p:ext uri="{BB962C8B-B14F-4D97-AF65-F5344CB8AC3E}">
        <p14:creationId xmlns:p14="http://schemas.microsoft.com/office/powerpoint/2010/main" val="4158798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DFC3C-67FB-B165-3C59-7A316881487C}"/>
              </a:ext>
            </a:extLst>
          </p:cNvPr>
          <p:cNvSpPr>
            <a:spLocks noGrp="1"/>
          </p:cNvSpPr>
          <p:nvPr>
            <p:ph type="ctrTitle"/>
          </p:nvPr>
        </p:nvSpPr>
        <p:spPr>
          <a:xfrm>
            <a:off x="356101" y="2154457"/>
            <a:ext cx="5739899" cy="3488697"/>
          </a:xfrm>
        </p:spPr>
        <p:txBody>
          <a:bodyPr>
            <a:normAutofit/>
          </a:bodyPr>
          <a:lstStyle/>
          <a:p>
            <a:r>
              <a:t>Section 2:</a:t>
            </a:r>
          </a:p>
          <a:p>
            <a:r>
              <a:t>Product</a:t>
            </a:r>
          </a:p>
          <a:p>
            <a:r>
              <a:t>Choices</a:t>
            </a:r>
          </a:p>
        </p:txBody>
      </p:sp>
    </p:spTree>
    <p:extLst>
      <p:ext uri="{BB962C8B-B14F-4D97-AF65-F5344CB8AC3E}">
        <p14:creationId xmlns:p14="http://schemas.microsoft.com/office/powerpoint/2010/main" val="3422886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C2A: Versions with restrictions</a:t>
            </a:r>
          </a:p>
        </p:txBody>
      </p:sp>
      <p:sp>
        <p:nvSpPr>
          <p:cNvPr id="3" name="Handout reference C2A">
            <a:extLst>
              <a:ext uri="{FF2B5EF4-FFF2-40B4-BE49-F238E27FC236}">
                <a16:creationId xmlns:a16="http://schemas.microsoft.com/office/drawing/2014/main" id="{4B87A90A-E893-41CE-BF08-49B6E16FEC0E}"/>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C2A</a:t>
            </a:r>
          </a:p>
        </p:txBody>
      </p:sp>
      <p:sp>
        <p:nvSpPr>
          <p:cNvPr id="4" name="Clarified text 1">
            <a:extLst>
              <a:ext uri="{FF2B5EF4-FFF2-40B4-BE49-F238E27FC236}">
                <a16:creationId xmlns:a16="http://schemas.microsoft.com/office/drawing/2014/main" id="{90F742B0-BD1D-4144-89E1-F9DA5B4C7F62}"/>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A bottle version uses one colour, one lid and one size.</a:t>
            </a:r>
          </a:p>
        </p:txBody>
      </p:sp>
      <p:sp>
        <p:nvSpPr>
          <p:cNvPr id="5" name="Clarified text 2">
            <a:extLst>
              <a:ext uri="{FF2B5EF4-FFF2-40B4-BE49-F238E27FC236}">
                <a16:creationId xmlns:a16="http://schemas.microsoft.com/office/drawing/2014/main" id="{AC8886C2-41E2-4AFF-B924-EB15B98D0E3F}"/>
              </a:ext>
            </a:extLst>
          </p:cNvPr>
          <p:cNvSpPr>
            <a:spLocks noGrp="1"/>
          </p:cNvSpPr>
          <p:nvPr/>
        </p:nvSpPr>
        <p:spPr>
          <a:xfrm>
            <a:off x="430816" y="243868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There are 5 colours, 4 lids and 3 sizes.</a:t>
            </a:r>
          </a:p>
        </p:txBody>
      </p:sp>
      <p:sp>
        <p:nvSpPr>
          <p:cNvPr id="6" name="Clarified text 3">
            <a:extLst>
              <a:ext uri="{FF2B5EF4-FFF2-40B4-BE49-F238E27FC236}">
                <a16:creationId xmlns:a16="http://schemas.microsoft.com/office/drawing/2014/main" id="{FCD3C3B6-6B31-4083-835D-2C35EA8B4F74}"/>
              </a:ext>
            </a:extLst>
          </p:cNvPr>
          <p:cNvSpPr>
            <a:spLocks noGrp="1"/>
          </p:cNvSpPr>
          <p:nvPr/>
        </p:nvSpPr>
        <p:spPr>
          <a:xfrm>
            <a:off x="430816" y="2924746"/>
            <a:ext cx="11293412" cy="72447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Two distinct colour–lid pairs cannot be made in the largest size. All other versions</a:t>
            </a:r>
          </a:p>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are available.</a:t>
            </a:r>
          </a:p>
        </p:txBody>
      </p:sp>
      <p:sp>
        <p:nvSpPr>
          <p:cNvPr id="7" name="Clarified text 4">
            <a:extLst>
              <a:ext uri="{FF2B5EF4-FFF2-40B4-BE49-F238E27FC236}">
                <a16:creationId xmlns:a16="http://schemas.microsoft.com/office/drawing/2014/main" id="{EEE0E971-7731-45FD-86B1-9FE50CDECE97}"/>
              </a:ext>
            </a:extLst>
          </p:cNvPr>
          <p:cNvSpPr>
            <a:spLocks noGrp="1"/>
          </p:cNvSpPr>
          <p:nvPr/>
        </p:nvSpPr>
        <p:spPr>
          <a:xfrm>
            <a:off x="430816" y="3744468"/>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How many different bottle versions can be made?</a:t>
            </a:r>
          </a:p>
        </p:txBody>
      </p:sp>
      <p:sp>
        <p:nvSpPr>
          <p:cNvPr id="8" name="Clarified text 5">
            <a:extLst>
              <a:ext uri="{FF2B5EF4-FFF2-40B4-BE49-F238E27FC236}">
                <a16:creationId xmlns:a16="http://schemas.microsoft.com/office/drawing/2014/main" id="{C78057C4-3911-45D9-88E5-534052F224E6}"/>
              </a:ext>
            </a:extLst>
          </p:cNvPr>
          <p:cNvSpPr>
            <a:spLocks noGrp="1"/>
          </p:cNvSpPr>
          <p:nvPr/>
        </p:nvSpPr>
        <p:spPr>
          <a:xfrm>
            <a:off x="430816" y="4230529"/>
            <a:ext cx="11293412" cy="72447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Share 1,137 bottles equally across these versions. What is the largest</a:t>
            </a:r>
          </a:p>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whole number per version, and how many are left?</a:t>
            </a:r>
          </a:p>
        </p:txBody>
      </p:sp>
      <p:sp>
        <p:nvSpPr>
          <p:cNvPr id="9" name="Clarified text 6">
            <a:extLst>
              <a:ext uri="{FF2B5EF4-FFF2-40B4-BE49-F238E27FC236}">
                <a16:creationId xmlns:a16="http://schemas.microsoft.com/office/drawing/2014/main" id="{85A09457-6357-4D4B-849B-E760B8193984}"/>
              </a:ext>
            </a:extLst>
          </p:cNvPr>
          <p:cNvSpPr>
            <a:spLocks noGrp="1"/>
          </p:cNvSpPr>
          <p:nvPr/>
        </p:nvSpPr>
        <p:spPr>
          <a:xfrm>
            <a:off x="430816" y="5050250"/>
            <a:ext cx="11293412" cy="72447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THINK: Do these counts show that customers want equal numbers of</a:t>
            </a:r>
          </a:p>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every version? Explain.</a:t>
            </a:r>
          </a:p>
        </p:txBody>
      </p:sp>
    </p:spTree>
    <p:extLst>
      <p:ext uri="{BB962C8B-B14F-4D97-AF65-F5344CB8AC3E}">
        <p14:creationId xmlns:p14="http://schemas.microsoft.com/office/powerpoint/2010/main" val="4158798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C2A: Restrictions and remainders</a:t>
            </a:r>
          </a:p>
        </p:txBody>
      </p:sp>
      <p:sp>
        <p:nvSpPr>
          <p:cNvPr id="3" name="Handout reference C2A">
            <a:extLst>
              <a:ext uri="{FF2B5EF4-FFF2-40B4-BE49-F238E27FC236}">
                <a16:creationId xmlns:a16="http://schemas.microsoft.com/office/drawing/2014/main" id="{7042A61B-8D36-443F-9735-44FC390B1F74}"/>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C2A</a:t>
            </a:r>
          </a:p>
        </p:txBody>
      </p:sp>
      <p:sp>
        <p:nvSpPr>
          <p:cNvPr id="4" name="Clarified text 52">
            <a:extLst>
              <a:ext uri="{FF2B5EF4-FFF2-40B4-BE49-F238E27FC236}">
                <a16:creationId xmlns:a16="http://schemas.microsoft.com/office/drawing/2014/main" id="{1FE01B47-4B76-4E8D-BFEB-F1749A75AA1C}"/>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Before restrictions: 5 × 4 × 3 = 60 versions.</a:t>
            </a:r>
          </a:p>
        </p:txBody>
      </p:sp>
      <p:sp>
        <p:nvSpPr>
          <p:cNvPr id="5" name="Clarified text 53">
            <a:extLst>
              <a:ext uri="{FF2B5EF4-FFF2-40B4-BE49-F238E27FC236}">
                <a16:creationId xmlns:a16="http://schemas.microsoft.com/office/drawing/2014/main" id="{E2830C8B-4633-476E-89AA-2D5A8988708A}"/>
              </a:ext>
            </a:extLst>
          </p:cNvPr>
          <p:cNvSpPr>
            <a:spLocks noGrp="1"/>
          </p:cNvSpPr>
          <p:nvPr/>
        </p:nvSpPr>
        <p:spPr>
          <a:xfrm>
            <a:off x="430816" y="243868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Each restricted colour–lid pair removes only its largest-size version.</a:t>
            </a:r>
          </a:p>
        </p:txBody>
      </p:sp>
      <p:sp>
        <p:nvSpPr>
          <p:cNvPr id="6" name="Clarified text 54">
            <a:extLst>
              <a:ext uri="{FF2B5EF4-FFF2-40B4-BE49-F238E27FC236}">
                <a16:creationId xmlns:a16="http://schemas.microsoft.com/office/drawing/2014/main" id="{E18BD92D-5A8A-4701-8B6E-D4BB8D13E8DD}"/>
              </a:ext>
            </a:extLst>
          </p:cNvPr>
          <p:cNvSpPr>
            <a:spLocks noGrp="1"/>
          </p:cNvSpPr>
          <p:nvPr/>
        </p:nvSpPr>
        <p:spPr>
          <a:xfrm>
            <a:off x="430816" y="292474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There are 2 such pairs, so 60 − 2 = 58 available versions.</a:t>
            </a:r>
          </a:p>
        </p:txBody>
      </p:sp>
      <p:sp>
        <p:nvSpPr>
          <p:cNvPr id="7" name="Clarified text 55">
            <a:extLst>
              <a:ext uri="{FF2B5EF4-FFF2-40B4-BE49-F238E27FC236}">
                <a16:creationId xmlns:a16="http://schemas.microsoft.com/office/drawing/2014/main" id="{1E53D4A8-3DEB-46F6-B509-A4FA2D9696AF}"/>
              </a:ext>
            </a:extLst>
          </p:cNvPr>
          <p:cNvSpPr>
            <a:spLocks noGrp="1"/>
          </p:cNvSpPr>
          <p:nvPr/>
        </p:nvSpPr>
        <p:spPr>
          <a:xfrm>
            <a:off x="430816" y="3410807"/>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1,137 ÷ 58 = 19 remainder 35.</a:t>
            </a:r>
          </a:p>
        </p:txBody>
      </p:sp>
      <p:sp>
        <p:nvSpPr>
          <p:cNvPr id="8" name="Clarified text 56">
            <a:extLst>
              <a:ext uri="{FF2B5EF4-FFF2-40B4-BE49-F238E27FC236}">
                <a16:creationId xmlns:a16="http://schemas.microsoft.com/office/drawing/2014/main" id="{C8E326F3-67BC-4ACF-BC6B-3127CA401D87}"/>
              </a:ext>
            </a:extLst>
          </p:cNvPr>
          <p:cNvSpPr>
            <a:spLocks noGrp="1"/>
          </p:cNvSpPr>
          <p:nvPr/>
        </p:nvSpPr>
        <p:spPr>
          <a:xfrm>
            <a:off x="430816" y="3896868"/>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Give each version 19 bottles: 58 × 19 = 1,102.</a:t>
            </a:r>
          </a:p>
        </p:txBody>
      </p:sp>
      <p:sp>
        <p:nvSpPr>
          <p:cNvPr id="9" name="Clarified text 57">
            <a:extLst>
              <a:ext uri="{FF2B5EF4-FFF2-40B4-BE49-F238E27FC236}">
                <a16:creationId xmlns:a16="http://schemas.microsoft.com/office/drawing/2014/main" id="{0E7C03CC-A894-4A03-9B3E-C648C7CFCC89}"/>
              </a:ext>
            </a:extLst>
          </p:cNvPr>
          <p:cNvSpPr>
            <a:spLocks noGrp="1"/>
          </p:cNvSpPr>
          <p:nvPr/>
        </p:nvSpPr>
        <p:spPr>
          <a:xfrm>
            <a:off x="430816" y="4382929"/>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Left over: 1,137 − 1,102 = 35 bottles.</a:t>
            </a:r>
          </a:p>
        </p:txBody>
      </p:sp>
      <p:sp>
        <p:nvSpPr>
          <p:cNvPr id="10" name="Clarified text 58">
            <a:extLst>
              <a:ext uri="{FF2B5EF4-FFF2-40B4-BE49-F238E27FC236}">
                <a16:creationId xmlns:a16="http://schemas.microsoft.com/office/drawing/2014/main" id="{AF66602E-BDDD-4671-B933-E3F438B058C1}"/>
              </a:ext>
            </a:extLst>
          </p:cNvPr>
          <p:cNvSpPr>
            <a:spLocks noGrp="1"/>
          </p:cNvSpPr>
          <p:nvPr/>
        </p:nvSpPr>
        <p:spPr>
          <a:xfrm>
            <a:off x="430816" y="4868989"/>
            <a:ext cx="11293412" cy="72447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No. A count of versions does not tell us how many customers want</a:t>
            </a:r>
          </a:p>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each one.</a:t>
            </a:r>
          </a:p>
        </p:txBody>
      </p:sp>
    </p:spTree>
    <p:extLst>
      <p:ext uri="{BB962C8B-B14F-4D97-AF65-F5344CB8AC3E}">
        <p14:creationId xmlns:p14="http://schemas.microsoft.com/office/powerpoint/2010/main" val="4158798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C2B: Testers and different roles</a:t>
            </a:r>
          </a:p>
        </p:txBody>
      </p:sp>
      <p:sp>
        <p:nvSpPr>
          <p:cNvPr id="3" name="Handout reference C2B">
            <a:extLst>
              <a:ext uri="{FF2B5EF4-FFF2-40B4-BE49-F238E27FC236}">
                <a16:creationId xmlns:a16="http://schemas.microsoft.com/office/drawing/2014/main" id="{B4BDF91D-7866-4984-8821-913212135390}"/>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C2B</a:t>
            </a:r>
          </a:p>
        </p:txBody>
      </p:sp>
      <p:sp>
        <p:nvSpPr>
          <p:cNvPr id="4" name="Clarified text 7">
            <a:extLst>
              <a:ext uri="{FF2B5EF4-FFF2-40B4-BE49-F238E27FC236}">
                <a16:creationId xmlns:a16="http://schemas.microsoft.com/office/drawing/2014/main" id="{FF272A7E-517D-4CCA-A491-8118D2DB2B8A}"/>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Choose 4 testers from 11 volunteers.</a:t>
            </a:r>
          </a:p>
        </p:txBody>
      </p:sp>
      <p:sp>
        <p:nvSpPr>
          <p:cNvPr id="5" name="Clarified text 8">
            <a:extLst>
              <a:ext uri="{FF2B5EF4-FFF2-40B4-BE49-F238E27FC236}">
                <a16:creationId xmlns:a16="http://schemas.microsoft.com/office/drawing/2014/main" id="{5FB8D30B-4BB4-48D6-8BB2-4899457A8C63}"/>
              </a:ext>
            </a:extLst>
          </p:cNvPr>
          <p:cNvSpPr>
            <a:spLocks noGrp="1"/>
          </p:cNvSpPr>
          <p:nvPr/>
        </p:nvSpPr>
        <p:spPr>
          <a:xfrm>
            <a:off x="430816" y="247678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From the chosen 4, appoint one leader and a different person as reporter.</a:t>
            </a:r>
          </a:p>
        </p:txBody>
      </p:sp>
      <p:sp>
        <p:nvSpPr>
          <p:cNvPr id="6" name="Clarified text 9">
            <a:extLst>
              <a:ext uri="{FF2B5EF4-FFF2-40B4-BE49-F238E27FC236}">
                <a16:creationId xmlns:a16="http://schemas.microsoft.com/office/drawing/2014/main" id="{5B61188F-D61F-4FEA-9BC9-54F3A3ED8ECA}"/>
              </a:ext>
            </a:extLst>
          </p:cNvPr>
          <p:cNvSpPr>
            <a:spLocks noGrp="1"/>
          </p:cNvSpPr>
          <p:nvPr/>
        </p:nvSpPr>
        <p:spPr>
          <a:xfrm>
            <a:off x="430816" y="3000946"/>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How many different groups of 4 testers can you choose?</a:t>
            </a:r>
          </a:p>
        </p:txBody>
      </p:sp>
      <p:sp>
        <p:nvSpPr>
          <p:cNvPr id="7" name="Clarified text 10">
            <a:extLst>
              <a:ext uri="{FF2B5EF4-FFF2-40B4-BE49-F238E27FC236}">
                <a16:creationId xmlns:a16="http://schemas.microsoft.com/office/drawing/2014/main" id="{03CF658B-53E4-4F9E-9622-63D84D22C39E}"/>
              </a:ext>
            </a:extLst>
          </p:cNvPr>
          <p:cNvSpPr>
            <a:spLocks noGrp="1"/>
          </p:cNvSpPr>
          <p:nvPr/>
        </p:nvSpPr>
        <p:spPr>
          <a:xfrm>
            <a:off x="430816" y="3525107"/>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For one chosen group, how many ways can you assign the two jobs?</a:t>
            </a:r>
          </a:p>
        </p:txBody>
      </p:sp>
      <p:sp>
        <p:nvSpPr>
          <p:cNvPr id="8" name="Clarified text 11">
            <a:extLst>
              <a:ext uri="{FF2B5EF4-FFF2-40B4-BE49-F238E27FC236}">
                <a16:creationId xmlns:a16="http://schemas.microsoft.com/office/drawing/2014/main" id="{1D862025-19AC-499E-9F38-66B3AC70B05B}"/>
              </a:ext>
            </a:extLst>
          </p:cNvPr>
          <p:cNvSpPr>
            <a:spLocks noGrp="1"/>
          </p:cNvSpPr>
          <p:nvPr/>
        </p:nvSpPr>
        <p:spPr>
          <a:xfrm>
            <a:off x="430816" y="4049268"/>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Count all possible results: the group of 4 AND who holds each job.</a:t>
            </a:r>
          </a:p>
        </p:txBody>
      </p:sp>
      <p:sp>
        <p:nvSpPr>
          <p:cNvPr id="9" name="Clarified text 12">
            <a:extLst>
              <a:ext uri="{FF2B5EF4-FFF2-40B4-BE49-F238E27FC236}">
                <a16:creationId xmlns:a16="http://schemas.microsoft.com/office/drawing/2014/main" id="{0F3A8C9E-7140-4319-8375-D9C743634B46}"/>
              </a:ext>
            </a:extLst>
          </p:cNvPr>
          <p:cNvSpPr>
            <a:spLocks noGrp="1"/>
          </p:cNvSpPr>
          <p:nvPr/>
        </p:nvSpPr>
        <p:spPr>
          <a:xfrm>
            <a:off x="430816" y="4573429"/>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Changing either the group or a job holder gives a different result.</a:t>
            </a:r>
          </a:p>
        </p:txBody>
      </p:sp>
    </p:spTree>
    <p:extLst>
      <p:ext uri="{BB962C8B-B14F-4D97-AF65-F5344CB8AC3E}">
        <p14:creationId xmlns:p14="http://schemas.microsoft.com/office/powerpoint/2010/main" val="4158798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C2B: Selection and role allocation</a:t>
            </a:r>
          </a:p>
        </p:txBody>
      </p:sp>
      <p:sp>
        <p:nvSpPr>
          <p:cNvPr id="3" name="Handout reference C2B">
            <a:extLst>
              <a:ext uri="{FF2B5EF4-FFF2-40B4-BE49-F238E27FC236}">
                <a16:creationId xmlns:a16="http://schemas.microsoft.com/office/drawing/2014/main" id="{080EB4FE-0142-4CCF-BDB7-FBF53D948A95}"/>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C2B</a:t>
            </a:r>
          </a:p>
        </p:txBody>
      </p:sp>
      <p:sp>
        <p:nvSpPr>
          <p:cNvPr id="4" name="Clarified text 59">
            <a:extLst>
              <a:ext uri="{FF2B5EF4-FFF2-40B4-BE49-F238E27FC236}">
                <a16:creationId xmlns:a16="http://schemas.microsoft.com/office/drawing/2014/main" id="{2D27E5E9-9CFC-4EFB-A774-EE5009C66EFC}"/>
              </a:ext>
            </a:extLst>
          </p:cNvPr>
          <p:cNvSpPr>
            <a:spLocks noGrp="1"/>
          </p:cNvSpPr>
          <p:nvPr/>
        </p:nvSpPr>
        <p:spPr>
          <a:xfrm>
            <a:off x="428625" y="1952625"/>
            <a:ext cx="11296650" cy="428625"/>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Choose 4 testers. The order of their names does not matter.</a:t>
            </a:r>
          </a:p>
        </p:txBody>
      </p:sp>
      <p:sp>
        <p:nvSpPr>
          <p:cNvPr id="5" name="Clarified text 60">
            <a:extLst>
              <a:ext uri="{FF2B5EF4-FFF2-40B4-BE49-F238E27FC236}">
                <a16:creationId xmlns:a16="http://schemas.microsoft.com/office/drawing/2014/main" id="{EF56EFEA-BD12-4A5B-800C-3C85E0EDBCD5}"/>
              </a:ext>
            </a:extLst>
          </p:cNvPr>
          <p:cNvSpPr>
            <a:spLocks noGrp="1"/>
          </p:cNvSpPr>
          <p:nvPr/>
        </p:nvSpPr>
        <p:spPr>
          <a:xfrm>
            <a:off x="685800" y="2638425"/>
            <a:ext cx="1524000"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C(n,r) =</a:t>
            </a:r>
          </a:p>
        </p:txBody>
      </p:sp>
      <p:sp>
        <p:nvSpPr>
          <p:cNvPr id="6" name="Clarified text 61">
            <a:extLst>
              <a:ext uri="{FF2B5EF4-FFF2-40B4-BE49-F238E27FC236}">
                <a16:creationId xmlns:a16="http://schemas.microsoft.com/office/drawing/2014/main" id="{1386DFDA-4111-45E1-9F1A-EFA8F313495D}"/>
              </a:ext>
            </a:extLst>
          </p:cNvPr>
          <p:cNvSpPr>
            <a:spLocks noGrp="1"/>
          </p:cNvSpPr>
          <p:nvPr/>
        </p:nvSpPr>
        <p:spPr>
          <a:xfrm>
            <a:off x="2209800" y="2390775"/>
            <a:ext cx="2047875"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n!</a:t>
            </a:r>
          </a:p>
        </p:txBody>
      </p:sp>
      <p:sp>
        <p:nvSpPr>
          <p:cNvPr id="7" name="Fraction bar">
            <a:extLst>
              <a:ext uri="{FF2B5EF4-FFF2-40B4-BE49-F238E27FC236}">
                <a16:creationId xmlns:a16="http://schemas.microsoft.com/office/drawing/2014/main" id="{C29F766B-2514-46F8-AE96-10C49B8FA969}"/>
              </a:ext>
            </a:extLst>
          </p:cNvPr>
          <p:cNvSpPr>
            <a:spLocks noGrp="1"/>
          </p:cNvSpPr>
          <p:nvPr/>
        </p:nvSpPr>
        <p:spPr>
          <a:xfrm>
            <a:off x="2209800" y="2800350"/>
            <a:ext cx="2047875" cy="0"/>
          </a:xfrm>
          <a:prstGeom prst="line">
            <a:avLst/>
          </a:prstGeom>
          <a:noFill/>
          <a:ln w="14288">
            <a:solidFill>
              <a:srgbClr val="111111"/>
            </a:solidFill>
          </a:ln>
        </p:spPr>
        <p:txBody>
          <a:bodyPr/>
          <a:lstStyle/>
          <a:p>
            <a:endParaRPr lang="en-US"/>
          </a:p>
        </p:txBody>
      </p:sp>
      <p:sp>
        <p:nvSpPr>
          <p:cNvPr id="8" name="Clarified text 62">
            <a:extLst>
              <a:ext uri="{FF2B5EF4-FFF2-40B4-BE49-F238E27FC236}">
                <a16:creationId xmlns:a16="http://schemas.microsoft.com/office/drawing/2014/main" id="{6E55E70D-1150-4697-B1BA-E7BECF60DA7D}"/>
              </a:ext>
            </a:extLst>
          </p:cNvPr>
          <p:cNvSpPr>
            <a:spLocks noGrp="1"/>
          </p:cNvSpPr>
          <p:nvPr/>
        </p:nvSpPr>
        <p:spPr>
          <a:xfrm>
            <a:off x="2209800" y="2838450"/>
            <a:ext cx="2047875"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r!(n − r)!</a:t>
            </a:r>
          </a:p>
        </p:txBody>
      </p:sp>
      <p:sp>
        <p:nvSpPr>
          <p:cNvPr id="9" name="Clarified text 63">
            <a:extLst>
              <a:ext uri="{FF2B5EF4-FFF2-40B4-BE49-F238E27FC236}">
                <a16:creationId xmlns:a16="http://schemas.microsoft.com/office/drawing/2014/main" id="{63687FE8-6D28-45FA-835F-11EF9305FDC1}"/>
              </a:ext>
            </a:extLst>
          </p:cNvPr>
          <p:cNvSpPr>
            <a:spLocks noGrp="1"/>
          </p:cNvSpPr>
          <p:nvPr/>
        </p:nvSpPr>
        <p:spPr>
          <a:xfrm>
            <a:off x="4429125" y="2638425"/>
            <a:ext cx="7296150" cy="609600"/>
          </a:xfrm>
          <a:prstGeom prst="rect">
            <a:avLst/>
          </a:prstGeom>
          <a:noFill/>
          <a:ln w="0">
            <a:noFill/>
          </a:ln>
        </p:spPr>
        <p:txBody>
          <a:bodyPr wrap="square" lIns="0" tIns="0" rIns="0" bIns="0" anchor="t">
            <a:noAutofit/>
          </a:bodyPr>
          <a:lstStyle/>
          <a:p>
            <a:endParaRPr/>
          </a:p>
        </p:txBody>
      </p:sp>
      <p:sp>
        <p:nvSpPr>
          <p:cNvPr id="10" name="Clarified text 64">
            <a:extLst>
              <a:ext uri="{FF2B5EF4-FFF2-40B4-BE49-F238E27FC236}">
                <a16:creationId xmlns:a16="http://schemas.microsoft.com/office/drawing/2014/main" id="{0D760C19-15C6-4ABE-9EE3-0A4E4A7E99ED}"/>
              </a:ext>
            </a:extLst>
          </p:cNvPr>
          <p:cNvSpPr>
            <a:spLocks noGrp="1"/>
          </p:cNvSpPr>
          <p:nvPr/>
        </p:nvSpPr>
        <p:spPr>
          <a:xfrm>
            <a:off x="5953125" y="2638425"/>
            <a:ext cx="1571625"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C(11,4) =</a:t>
            </a:r>
          </a:p>
        </p:txBody>
      </p:sp>
      <p:sp>
        <p:nvSpPr>
          <p:cNvPr id="11" name="Clarified text 65">
            <a:extLst>
              <a:ext uri="{FF2B5EF4-FFF2-40B4-BE49-F238E27FC236}">
                <a16:creationId xmlns:a16="http://schemas.microsoft.com/office/drawing/2014/main" id="{9AFE653C-B93F-453A-9A95-0EAC9A9DBA87}"/>
              </a:ext>
            </a:extLst>
          </p:cNvPr>
          <p:cNvSpPr>
            <a:spLocks noGrp="1"/>
          </p:cNvSpPr>
          <p:nvPr/>
        </p:nvSpPr>
        <p:spPr>
          <a:xfrm>
            <a:off x="7524750" y="2390775"/>
            <a:ext cx="171450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11!</a:t>
            </a:r>
          </a:p>
        </p:txBody>
      </p:sp>
      <p:sp>
        <p:nvSpPr>
          <p:cNvPr id="12" name="Fraction bar">
            <a:extLst>
              <a:ext uri="{FF2B5EF4-FFF2-40B4-BE49-F238E27FC236}">
                <a16:creationId xmlns:a16="http://schemas.microsoft.com/office/drawing/2014/main" id="{18D14EEB-88A3-4236-ABDD-14E4B8A6B0DD}"/>
              </a:ext>
            </a:extLst>
          </p:cNvPr>
          <p:cNvSpPr>
            <a:spLocks noGrp="1"/>
          </p:cNvSpPr>
          <p:nvPr/>
        </p:nvSpPr>
        <p:spPr>
          <a:xfrm>
            <a:off x="7524750" y="2800350"/>
            <a:ext cx="1714500" cy="0"/>
          </a:xfrm>
          <a:prstGeom prst="line">
            <a:avLst/>
          </a:prstGeom>
          <a:noFill/>
          <a:ln w="14288">
            <a:solidFill>
              <a:srgbClr val="111111"/>
            </a:solidFill>
          </a:ln>
        </p:spPr>
        <p:txBody>
          <a:bodyPr/>
          <a:lstStyle/>
          <a:p>
            <a:endParaRPr lang="en-US"/>
          </a:p>
        </p:txBody>
      </p:sp>
      <p:sp>
        <p:nvSpPr>
          <p:cNvPr id="13" name="Clarified text 66">
            <a:extLst>
              <a:ext uri="{FF2B5EF4-FFF2-40B4-BE49-F238E27FC236}">
                <a16:creationId xmlns:a16="http://schemas.microsoft.com/office/drawing/2014/main" id="{3A231BDE-B149-495C-9CE8-962D76AC9091}"/>
              </a:ext>
            </a:extLst>
          </p:cNvPr>
          <p:cNvSpPr>
            <a:spLocks noGrp="1"/>
          </p:cNvSpPr>
          <p:nvPr/>
        </p:nvSpPr>
        <p:spPr>
          <a:xfrm>
            <a:off x="7524750" y="2838450"/>
            <a:ext cx="171450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4!7!</a:t>
            </a:r>
          </a:p>
        </p:txBody>
      </p:sp>
      <p:sp>
        <p:nvSpPr>
          <p:cNvPr id="14" name="Clarified text 67">
            <a:extLst>
              <a:ext uri="{FF2B5EF4-FFF2-40B4-BE49-F238E27FC236}">
                <a16:creationId xmlns:a16="http://schemas.microsoft.com/office/drawing/2014/main" id="{056069F0-8FA9-49C3-A70D-0F7A96E3A036}"/>
              </a:ext>
            </a:extLst>
          </p:cNvPr>
          <p:cNvSpPr>
            <a:spLocks noGrp="1"/>
          </p:cNvSpPr>
          <p:nvPr/>
        </p:nvSpPr>
        <p:spPr>
          <a:xfrm>
            <a:off x="9410700" y="2638425"/>
            <a:ext cx="2314575"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 330 groups</a:t>
            </a:r>
          </a:p>
        </p:txBody>
      </p:sp>
      <p:sp>
        <p:nvSpPr>
          <p:cNvPr id="15" name="Clarified text 68">
            <a:extLst>
              <a:ext uri="{FF2B5EF4-FFF2-40B4-BE49-F238E27FC236}">
                <a16:creationId xmlns:a16="http://schemas.microsoft.com/office/drawing/2014/main" id="{23C5EB73-11A5-430D-8789-765B27E3855F}"/>
              </a:ext>
            </a:extLst>
          </p:cNvPr>
          <p:cNvSpPr>
            <a:spLocks noGrp="1"/>
          </p:cNvSpPr>
          <p:nvPr/>
        </p:nvSpPr>
        <p:spPr>
          <a:xfrm>
            <a:off x="428625" y="3333750"/>
            <a:ext cx="11296650" cy="428625"/>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dirty="0">
                <a:solidFill>
                  <a:srgbClr val="111111"/>
                </a:solidFill>
                <a:latin typeface="Aptos"/>
                <a:ea typeface="Aptos"/>
                <a:cs typeface="Aptos"/>
              </a:rPr>
              <a:t>Q2  Leader: 4 choices. Reporter: 3 people left after choosing the leader.</a:t>
            </a:r>
          </a:p>
        </p:txBody>
      </p:sp>
      <p:sp>
        <p:nvSpPr>
          <p:cNvPr id="16" name="Clarified text 69">
            <a:extLst>
              <a:ext uri="{FF2B5EF4-FFF2-40B4-BE49-F238E27FC236}">
                <a16:creationId xmlns:a16="http://schemas.microsoft.com/office/drawing/2014/main" id="{13B9B76B-2DDF-4CB0-995E-629766C0035A}"/>
              </a:ext>
            </a:extLst>
          </p:cNvPr>
          <p:cNvSpPr>
            <a:spLocks noGrp="1"/>
          </p:cNvSpPr>
          <p:nvPr/>
        </p:nvSpPr>
        <p:spPr>
          <a:xfrm>
            <a:off x="685800" y="4067175"/>
            <a:ext cx="1524000"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P(n,r) =</a:t>
            </a:r>
          </a:p>
        </p:txBody>
      </p:sp>
      <p:sp>
        <p:nvSpPr>
          <p:cNvPr id="17" name="Clarified text 70">
            <a:extLst>
              <a:ext uri="{FF2B5EF4-FFF2-40B4-BE49-F238E27FC236}">
                <a16:creationId xmlns:a16="http://schemas.microsoft.com/office/drawing/2014/main" id="{0ECCC9D1-A582-4465-B3B2-E9B5BF2CD103}"/>
              </a:ext>
            </a:extLst>
          </p:cNvPr>
          <p:cNvSpPr>
            <a:spLocks noGrp="1"/>
          </p:cNvSpPr>
          <p:nvPr/>
        </p:nvSpPr>
        <p:spPr>
          <a:xfrm>
            <a:off x="2209800" y="3819525"/>
            <a:ext cx="2047875"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n!</a:t>
            </a:r>
          </a:p>
        </p:txBody>
      </p:sp>
      <p:sp>
        <p:nvSpPr>
          <p:cNvPr id="18" name="Fraction bar">
            <a:extLst>
              <a:ext uri="{FF2B5EF4-FFF2-40B4-BE49-F238E27FC236}">
                <a16:creationId xmlns:a16="http://schemas.microsoft.com/office/drawing/2014/main" id="{B17C8D15-0DA1-4249-BC77-74E3EE73D56D}"/>
              </a:ext>
            </a:extLst>
          </p:cNvPr>
          <p:cNvSpPr>
            <a:spLocks noGrp="1"/>
          </p:cNvSpPr>
          <p:nvPr/>
        </p:nvSpPr>
        <p:spPr>
          <a:xfrm>
            <a:off x="2209800" y="4229100"/>
            <a:ext cx="2047875" cy="0"/>
          </a:xfrm>
          <a:prstGeom prst="line">
            <a:avLst/>
          </a:prstGeom>
          <a:noFill/>
          <a:ln w="14288">
            <a:solidFill>
              <a:srgbClr val="111111"/>
            </a:solidFill>
          </a:ln>
        </p:spPr>
        <p:txBody>
          <a:bodyPr/>
          <a:lstStyle/>
          <a:p>
            <a:endParaRPr lang="en-US"/>
          </a:p>
        </p:txBody>
      </p:sp>
      <p:sp>
        <p:nvSpPr>
          <p:cNvPr id="19" name="Clarified text 71">
            <a:extLst>
              <a:ext uri="{FF2B5EF4-FFF2-40B4-BE49-F238E27FC236}">
                <a16:creationId xmlns:a16="http://schemas.microsoft.com/office/drawing/2014/main" id="{01635EBC-E8C1-4B46-A4B2-E733D898D78D}"/>
              </a:ext>
            </a:extLst>
          </p:cNvPr>
          <p:cNvSpPr>
            <a:spLocks noGrp="1"/>
          </p:cNvSpPr>
          <p:nvPr/>
        </p:nvSpPr>
        <p:spPr>
          <a:xfrm>
            <a:off x="2209800" y="4267200"/>
            <a:ext cx="2047875"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(n − r)!</a:t>
            </a:r>
          </a:p>
        </p:txBody>
      </p:sp>
      <p:sp>
        <p:nvSpPr>
          <p:cNvPr id="20" name="Clarified text 72">
            <a:extLst>
              <a:ext uri="{FF2B5EF4-FFF2-40B4-BE49-F238E27FC236}">
                <a16:creationId xmlns:a16="http://schemas.microsoft.com/office/drawing/2014/main" id="{8C602132-A432-4FC3-8462-366038806034}"/>
              </a:ext>
            </a:extLst>
          </p:cNvPr>
          <p:cNvSpPr>
            <a:spLocks noGrp="1"/>
          </p:cNvSpPr>
          <p:nvPr/>
        </p:nvSpPr>
        <p:spPr>
          <a:xfrm>
            <a:off x="4429125" y="4067175"/>
            <a:ext cx="7296150" cy="609600"/>
          </a:xfrm>
          <a:prstGeom prst="rect">
            <a:avLst/>
          </a:prstGeom>
          <a:noFill/>
          <a:ln w="0">
            <a:noFill/>
          </a:ln>
        </p:spPr>
        <p:txBody>
          <a:bodyPr wrap="square" lIns="0" tIns="0" rIns="0" bIns="0" anchor="t">
            <a:noAutofit/>
          </a:bodyPr>
          <a:lstStyle/>
          <a:p>
            <a:endParaRPr/>
          </a:p>
        </p:txBody>
      </p:sp>
      <p:sp>
        <p:nvSpPr>
          <p:cNvPr id="21" name="Clarified text 73">
            <a:extLst>
              <a:ext uri="{FF2B5EF4-FFF2-40B4-BE49-F238E27FC236}">
                <a16:creationId xmlns:a16="http://schemas.microsoft.com/office/drawing/2014/main" id="{DDA8B42A-6074-4E9B-AA95-1F398EA719B1}"/>
              </a:ext>
            </a:extLst>
          </p:cNvPr>
          <p:cNvSpPr>
            <a:spLocks noGrp="1"/>
          </p:cNvSpPr>
          <p:nvPr/>
        </p:nvSpPr>
        <p:spPr>
          <a:xfrm>
            <a:off x="5953125" y="4067175"/>
            <a:ext cx="1571625"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P(4,2) =</a:t>
            </a:r>
          </a:p>
        </p:txBody>
      </p:sp>
      <p:sp>
        <p:nvSpPr>
          <p:cNvPr id="22" name="Clarified text 74">
            <a:extLst>
              <a:ext uri="{FF2B5EF4-FFF2-40B4-BE49-F238E27FC236}">
                <a16:creationId xmlns:a16="http://schemas.microsoft.com/office/drawing/2014/main" id="{0F4537AC-B41E-4D84-B95B-E3B70BD2AD0B}"/>
              </a:ext>
            </a:extLst>
          </p:cNvPr>
          <p:cNvSpPr>
            <a:spLocks noGrp="1"/>
          </p:cNvSpPr>
          <p:nvPr/>
        </p:nvSpPr>
        <p:spPr>
          <a:xfrm>
            <a:off x="7524750" y="3819525"/>
            <a:ext cx="171450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4!</a:t>
            </a:r>
          </a:p>
        </p:txBody>
      </p:sp>
      <p:sp>
        <p:nvSpPr>
          <p:cNvPr id="23" name="Fraction bar">
            <a:extLst>
              <a:ext uri="{FF2B5EF4-FFF2-40B4-BE49-F238E27FC236}">
                <a16:creationId xmlns:a16="http://schemas.microsoft.com/office/drawing/2014/main" id="{BE4DC74F-6311-4427-84BC-1D6E993E8DDC}"/>
              </a:ext>
            </a:extLst>
          </p:cNvPr>
          <p:cNvSpPr>
            <a:spLocks noGrp="1"/>
          </p:cNvSpPr>
          <p:nvPr/>
        </p:nvSpPr>
        <p:spPr>
          <a:xfrm>
            <a:off x="7524750" y="4229100"/>
            <a:ext cx="1714500" cy="0"/>
          </a:xfrm>
          <a:prstGeom prst="line">
            <a:avLst/>
          </a:prstGeom>
          <a:noFill/>
          <a:ln w="14288">
            <a:solidFill>
              <a:srgbClr val="111111"/>
            </a:solidFill>
          </a:ln>
        </p:spPr>
        <p:txBody>
          <a:bodyPr/>
          <a:lstStyle/>
          <a:p>
            <a:endParaRPr lang="en-US"/>
          </a:p>
        </p:txBody>
      </p:sp>
      <p:sp>
        <p:nvSpPr>
          <p:cNvPr id="24" name="Clarified text 75">
            <a:extLst>
              <a:ext uri="{FF2B5EF4-FFF2-40B4-BE49-F238E27FC236}">
                <a16:creationId xmlns:a16="http://schemas.microsoft.com/office/drawing/2014/main" id="{F48164A5-05A5-4F95-93C5-CFB9786C993C}"/>
              </a:ext>
            </a:extLst>
          </p:cNvPr>
          <p:cNvSpPr>
            <a:spLocks noGrp="1"/>
          </p:cNvSpPr>
          <p:nvPr/>
        </p:nvSpPr>
        <p:spPr>
          <a:xfrm>
            <a:off x="7524750" y="4267200"/>
            <a:ext cx="171450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2!</a:t>
            </a:r>
          </a:p>
        </p:txBody>
      </p:sp>
      <p:sp>
        <p:nvSpPr>
          <p:cNvPr id="25" name="Clarified text 76">
            <a:extLst>
              <a:ext uri="{FF2B5EF4-FFF2-40B4-BE49-F238E27FC236}">
                <a16:creationId xmlns:a16="http://schemas.microsoft.com/office/drawing/2014/main" id="{37B38E01-7056-4347-A334-B73D0F42CE41}"/>
              </a:ext>
            </a:extLst>
          </p:cNvPr>
          <p:cNvSpPr>
            <a:spLocks noGrp="1"/>
          </p:cNvSpPr>
          <p:nvPr/>
        </p:nvSpPr>
        <p:spPr>
          <a:xfrm>
            <a:off x="9410700" y="4067175"/>
            <a:ext cx="2314575"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 4 × 3 = 12</a:t>
            </a:r>
          </a:p>
        </p:txBody>
      </p:sp>
      <p:sp>
        <p:nvSpPr>
          <p:cNvPr id="26" name="Clarified text 77">
            <a:extLst>
              <a:ext uri="{FF2B5EF4-FFF2-40B4-BE49-F238E27FC236}">
                <a16:creationId xmlns:a16="http://schemas.microsoft.com/office/drawing/2014/main" id="{972C5D24-A77E-499F-8F4D-0A3D36C178F8}"/>
              </a:ext>
            </a:extLst>
          </p:cNvPr>
          <p:cNvSpPr>
            <a:spLocks noGrp="1"/>
          </p:cNvSpPr>
          <p:nvPr/>
        </p:nvSpPr>
        <p:spPr>
          <a:xfrm>
            <a:off x="430816" y="498157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dirty="0">
                <a:solidFill>
                  <a:srgbClr val="111111"/>
                </a:solidFill>
                <a:latin typeface="Aptos"/>
                <a:ea typeface="Aptos"/>
                <a:cs typeface="Aptos"/>
              </a:rPr>
              <a:t>Q3  Each of the 330 groups has 12 possible job assignments.</a:t>
            </a:r>
          </a:p>
        </p:txBody>
      </p:sp>
      <p:sp>
        <p:nvSpPr>
          <p:cNvPr id="27" name="Clarified text 78">
            <a:extLst>
              <a:ext uri="{FF2B5EF4-FFF2-40B4-BE49-F238E27FC236}">
                <a16:creationId xmlns:a16="http://schemas.microsoft.com/office/drawing/2014/main" id="{C716A072-6311-444A-BD43-8182A36AAAE3}"/>
              </a:ext>
            </a:extLst>
          </p:cNvPr>
          <p:cNvSpPr>
            <a:spLocks noGrp="1"/>
          </p:cNvSpPr>
          <p:nvPr/>
        </p:nvSpPr>
        <p:spPr>
          <a:xfrm>
            <a:off x="430816" y="554383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Total: 330 × 12 = 3,960 different group-and-job results.</a:t>
            </a:r>
          </a:p>
        </p:txBody>
      </p:sp>
    </p:spTree>
    <p:extLst>
      <p:ext uri="{BB962C8B-B14F-4D97-AF65-F5344CB8AC3E}">
        <p14:creationId xmlns:p14="http://schemas.microsoft.com/office/powerpoint/2010/main" val="4158798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DFC3C-67FB-B165-3C59-7A316881487C}"/>
              </a:ext>
            </a:extLst>
          </p:cNvPr>
          <p:cNvSpPr>
            <a:spLocks noGrp="1"/>
          </p:cNvSpPr>
          <p:nvPr>
            <p:ph type="ctrTitle"/>
          </p:nvPr>
        </p:nvSpPr>
        <p:spPr>
          <a:xfrm>
            <a:off x="356101" y="2154457"/>
            <a:ext cx="5739899" cy="3488697"/>
          </a:xfrm>
        </p:spPr>
        <p:txBody>
          <a:bodyPr>
            <a:normAutofit/>
          </a:bodyPr>
          <a:lstStyle/>
          <a:p>
            <a:r>
              <a:t>Section 3:</a:t>
            </a:r>
          </a:p>
          <a:p>
            <a:r>
              <a:t>Production and</a:t>
            </a:r>
          </a:p>
          <a:p>
            <a:r>
              <a:t>Packaging</a:t>
            </a:r>
          </a:p>
        </p:txBody>
      </p:sp>
    </p:spTree>
    <p:extLst>
      <p:ext uri="{BB962C8B-B14F-4D97-AF65-F5344CB8AC3E}">
        <p14:creationId xmlns:p14="http://schemas.microsoft.com/office/powerpoint/2010/main" val="3422886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marL="0" indent="0" algn="l">
              <a:lnSpc>
                <a:spcPct val="90000"/>
              </a:lnSpc>
              <a:spcBef>
                <a:spcPts val="0"/>
              </a:spcBef>
              <a:spcAft>
                <a:spcPts val="0"/>
              </a:spcAft>
              <a:buChar char=" "/>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C3A: A mixed-unit packing equation</a:t>
            </a:r>
          </a:p>
        </p:txBody>
      </p:sp>
      <p:pic>
        <p:nvPicPr>
          <p:cNvPr id="14" name="Picture 4"/>
          <p:cNvPicPr>
            <a:picLocks noChangeAspect="1"/>
          </p:cNvPicPr>
          <p:nvPr/>
        </p:nvPicPr>
        <p:blipFill>
          <a:blip r:embed="rId3"/>
          <a:srcRect/>
          <a:stretch>
            <a:fillRect/>
          </a:stretch>
        </p:blipFill>
        <p:spPr>
          <a:xfrm>
            <a:off x="8477250" y="4667250"/>
            <a:ext cx="3107531" cy="1381125"/>
          </a:xfrm>
          <a:prstGeom prst="rect">
            <a:avLst/>
          </a:prstGeom>
          <a:ln w="19050">
            <a:solidFill>
              <a:schemeClr val="accent1"/>
            </a:solidFill>
          </a:ln>
        </p:spPr>
      </p:pic>
      <p:sp>
        <p:nvSpPr>
          <p:cNvPr id="7" name="Handout reference C3A">
            <a:extLst>
              <a:ext uri="{FF2B5EF4-FFF2-40B4-BE49-F238E27FC236}">
                <a16:creationId xmlns:a16="http://schemas.microsoft.com/office/drawing/2014/main" id="{D87A3CFA-707C-4A89-B97D-370A3913C073}"/>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C3A</a:t>
            </a:r>
          </a:p>
        </p:txBody>
      </p:sp>
      <p:sp>
        <p:nvSpPr>
          <p:cNvPr id="8" name="Content 80">
            <a:extLst>
              <a:ext uri="{FF2B5EF4-FFF2-40B4-BE49-F238E27FC236}">
                <a16:creationId xmlns:a16="http://schemas.microsoft.com/office/drawing/2014/main" id="{D231C581-B48A-44DA-86F2-7D53CB1D08D6}"/>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Eight identical bottles + a 0.35 kg carton weigh 5.8 lb.</a:t>
            </a:r>
          </a:p>
        </p:txBody>
      </p:sp>
      <p:sp>
        <p:nvSpPr>
          <p:cNvPr id="9" name="Content 81">
            <a:extLst>
              <a:ext uri="{FF2B5EF4-FFF2-40B4-BE49-F238E27FC236}">
                <a16:creationId xmlns:a16="http://schemas.microsoft.com/office/drawing/2014/main" id="{F7A3D86F-8AAF-458D-864A-71A86B956750}"/>
              </a:ext>
            </a:extLst>
          </p:cNvPr>
          <p:cNvSpPr>
            <a:spLocks noGrp="1"/>
          </p:cNvSpPr>
          <p:nvPr/>
        </p:nvSpPr>
        <p:spPr>
          <a:xfrm>
            <a:off x="430816" y="243868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Use 1 kg ≈ 2.205 lb. Let x be one bottle’s mass in kilograms.</a:t>
            </a:r>
          </a:p>
        </p:txBody>
      </p:sp>
      <p:sp>
        <p:nvSpPr>
          <p:cNvPr id="10" name="Content 82">
            <a:extLst>
              <a:ext uri="{FF2B5EF4-FFF2-40B4-BE49-F238E27FC236}">
                <a16:creationId xmlns:a16="http://schemas.microsoft.com/office/drawing/2014/main" id="{821F37D3-0B63-4C65-8198-5A5A8A73854E}"/>
              </a:ext>
            </a:extLst>
          </p:cNvPr>
          <p:cNvSpPr>
            <a:spLocks noGrp="1"/>
          </p:cNvSpPr>
          <p:nvPr/>
        </p:nvSpPr>
        <p:spPr>
          <a:xfrm>
            <a:off x="430816" y="2924746"/>
            <a:ext cx="11293412" cy="72447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Form an equation and find one bottle's mass in grams, to the nearest</a:t>
            </a:r>
          </a:p>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gram.</a:t>
            </a:r>
          </a:p>
        </p:txBody>
      </p:sp>
      <p:sp>
        <p:nvSpPr>
          <p:cNvPr id="11" name="Content 83">
            <a:extLst>
              <a:ext uri="{FF2B5EF4-FFF2-40B4-BE49-F238E27FC236}">
                <a16:creationId xmlns:a16="http://schemas.microsoft.com/office/drawing/2014/main" id="{57651481-3CF0-447B-A7DF-9A9B02128961}"/>
              </a:ext>
            </a:extLst>
          </p:cNvPr>
          <p:cNvSpPr>
            <a:spLocks noGrp="1"/>
          </p:cNvSpPr>
          <p:nvPr/>
        </p:nvSpPr>
        <p:spPr>
          <a:xfrm>
            <a:off x="430816" y="3744468"/>
            <a:ext cx="11293412" cy="72447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Check your result against the packed mass. Keep the unrounded</a:t>
            </a:r>
          </a:p>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value of x for C3B and C4A.</a:t>
            </a:r>
          </a:p>
        </p:txBody>
      </p:sp>
    </p:spTree>
    <p:extLst>
      <p:ext uri="{BB962C8B-B14F-4D97-AF65-F5344CB8AC3E}">
        <p14:creationId xmlns:p14="http://schemas.microsoft.com/office/powerpoint/2010/main" val="3281361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C3A: Equation and conversion</a:t>
            </a:r>
          </a:p>
        </p:txBody>
      </p:sp>
      <p:sp>
        <p:nvSpPr>
          <p:cNvPr id="3" name="Handout reference C3A">
            <a:extLst>
              <a:ext uri="{FF2B5EF4-FFF2-40B4-BE49-F238E27FC236}">
                <a16:creationId xmlns:a16="http://schemas.microsoft.com/office/drawing/2014/main" id="{F2DBE599-2896-4BE7-B4B6-5C1A04B64E92}"/>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C3A</a:t>
            </a:r>
          </a:p>
        </p:txBody>
      </p:sp>
      <p:sp>
        <p:nvSpPr>
          <p:cNvPr id="4" name="Clarified text 79">
            <a:extLst>
              <a:ext uri="{FF2B5EF4-FFF2-40B4-BE49-F238E27FC236}">
                <a16:creationId xmlns:a16="http://schemas.microsoft.com/office/drawing/2014/main" id="{5B7C8D5C-7B69-4AA8-B416-50D767E5DCFB}"/>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8x is the mass of the eight bottles, in kilograms.</a:t>
            </a:r>
          </a:p>
        </p:txBody>
      </p:sp>
      <p:sp>
        <p:nvSpPr>
          <p:cNvPr id="5" name="Clarified text 80">
            <a:extLst>
              <a:ext uri="{FF2B5EF4-FFF2-40B4-BE49-F238E27FC236}">
                <a16:creationId xmlns:a16="http://schemas.microsoft.com/office/drawing/2014/main" id="{7005ED60-8614-4D8D-9ED6-7133AAFB24BE}"/>
              </a:ext>
            </a:extLst>
          </p:cNvPr>
          <p:cNvSpPr>
            <a:spLocks noGrp="1"/>
          </p:cNvSpPr>
          <p:nvPr/>
        </p:nvSpPr>
        <p:spPr>
          <a:xfrm>
            <a:off x="430816" y="245773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Add the 0.35 kg carton. Convert the packed 5.8 lb to kg.</a:t>
            </a:r>
          </a:p>
        </p:txBody>
      </p:sp>
      <p:sp>
        <p:nvSpPr>
          <p:cNvPr id="6" name="Clarified text 81">
            <a:extLst>
              <a:ext uri="{FF2B5EF4-FFF2-40B4-BE49-F238E27FC236}">
                <a16:creationId xmlns:a16="http://schemas.microsoft.com/office/drawing/2014/main" id="{59642373-BD52-4503-9B4C-B389A33B8499}"/>
              </a:ext>
            </a:extLst>
          </p:cNvPr>
          <p:cNvSpPr>
            <a:spLocks noGrp="1"/>
          </p:cNvSpPr>
          <p:nvPr/>
        </p:nvSpPr>
        <p:spPr>
          <a:xfrm>
            <a:off x="685800" y="3228975"/>
            <a:ext cx="2381250"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8x + 0.35 =</a:t>
            </a:r>
          </a:p>
        </p:txBody>
      </p:sp>
      <p:sp>
        <p:nvSpPr>
          <p:cNvPr id="7" name="Clarified text 82">
            <a:extLst>
              <a:ext uri="{FF2B5EF4-FFF2-40B4-BE49-F238E27FC236}">
                <a16:creationId xmlns:a16="http://schemas.microsoft.com/office/drawing/2014/main" id="{C6BB599A-0C1E-4FC1-B1A3-77C3EFB308C6}"/>
              </a:ext>
            </a:extLst>
          </p:cNvPr>
          <p:cNvSpPr>
            <a:spLocks noGrp="1"/>
          </p:cNvSpPr>
          <p:nvPr/>
        </p:nvSpPr>
        <p:spPr>
          <a:xfrm>
            <a:off x="3067050" y="2981325"/>
            <a:ext cx="180975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5.8</a:t>
            </a:r>
          </a:p>
        </p:txBody>
      </p:sp>
      <p:sp>
        <p:nvSpPr>
          <p:cNvPr id="8" name="Fraction bar">
            <a:extLst>
              <a:ext uri="{FF2B5EF4-FFF2-40B4-BE49-F238E27FC236}">
                <a16:creationId xmlns:a16="http://schemas.microsoft.com/office/drawing/2014/main" id="{913F1F20-4762-49A3-BCA0-C32188A1E260}"/>
              </a:ext>
            </a:extLst>
          </p:cNvPr>
          <p:cNvSpPr>
            <a:spLocks noGrp="1"/>
          </p:cNvSpPr>
          <p:nvPr/>
        </p:nvSpPr>
        <p:spPr>
          <a:xfrm>
            <a:off x="3067050" y="3390900"/>
            <a:ext cx="1809750" cy="0"/>
          </a:xfrm>
          <a:prstGeom prst="line">
            <a:avLst/>
          </a:prstGeom>
          <a:noFill/>
          <a:ln w="14288">
            <a:solidFill>
              <a:srgbClr val="111111"/>
            </a:solidFill>
          </a:ln>
        </p:spPr>
        <p:txBody>
          <a:bodyPr/>
          <a:lstStyle/>
          <a:p>
            <a:endParaRPr lang="en-US"/>
          </a:p>
        </p:txBody>
      </p:sp>
      <p:sp>
        <p:nvSpPr>
          <p:cNvPr id="9" name="Clarified text 83">
            <a:extLst>
              <a:ext uri="{FF2B5EF4-FFF2-40B4-BE49-F238E27FC236}">
                <a16:creationId xmlns:a16="http://schemas.microsoft.com/office/drawing/2014/main" id="{D6030F48-1B8E-45DC-AE16-C0918708732C}"/>
              </a:ext>
            </a:extLst>
          </p:cNvPr>
          <p:cNvSpPr>
            <a:spLocks noGrp="1"/>
          </p:cNvSpPr>
          <p:nvPr/>
        </p:nvSpPr>
        <p:spPr>
          <a:xfrm>
            <a:off x="3067050" y="3429000"/>
            <a:ext cx="180975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2.205</a:t>
            </a:r>
          </a:p>
        </p:txBody>
      </p:sp>
      <p:sp>
        <p:nvSpPr>
          <p:cNvPr id="10" name="Clarified text 84">
            <a:extLst>
              <a:ext uri="{FF2B5EF4-FFF2-40B4-BE49-F238E27FC236}">
                <a16:creationId xmlns:a16="http://schemas.microsoft.com/office/drawing/2014/main" id="{B864286F-99EE-4025-882B-DA3F5E0589BF}"/>
              </a:ext>
            </a:extLst>
          </p:cNvPr>
          <p:cNvSpPr>
            <a:spLocks noGrp="1"/>
          </p:cNvSpPr>
          <p:nvPr/>
        </p:nvSpPr>
        <p:spPr>
          <a:xfrm>
            <a:off x="5048250" y="3228975"/>
            <a:ext cx="6677025"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 2.630385487… kg</a:t>
            </a:r>
          </a:p>
        </p:txBody>
      </p:sp>
      <p:sp>
        <p:nvSpPr>
          <p:cNvPr id="11" name="Clarified text 85">
            <a:extLst>
              <a:ext uri="{FF2B5EF4-FFF2-40B4-BE49-F238E27FC236}">
                <a16:creationId xmlns:a16="http://schemas.microsoft.com/office/drawing/2014/main" id="{125B5DAA-48E7-49F6-8D7F-7372306E908E}"/>
              </a:ext>
            </a:extLst>
          </p:cNvPr>
          <p:cNvSpPr>
            <a:spLocks noGrp="1"/>
          </p:cNvSpPr>
          <p:nvPr/>
        </p:nvSpPr>
        <p:spPr>
          <a:xfrm>
            <a:off x="430816" y="3962400"/>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Remove the carton, then divide equally among 8 bottles.</a:t>
            </a:r>
          </a:p>
        </p:txBody>
      </p:sp>
      <p:sp>
        <p:nvSpPr>
          <p:cNvPr id="12" name="Clarified text 86">
            <a:extLst>
              <a:ext uri="{FF2B5EF4-FFF2-40B4-BE49-F238E27FC236}">
                <a16:creationId xmlns:a16="http://schemas.microsoft.com/office/drawing/2014/main" id="{93067552-B110-4AEE-AA20-49710882B71B}"/>
              </a:ext>
            </a:extLst>
          </p:cNvPr>
          <p:cNvSpPr>
            <a:spLocks noGrp="1"/>
          </p:cNvSpPr>
          <p:nvPr/>
        </p:nvSpPr>
        <p:spPr>
          <a:xfrm>
            <a:off x="430816" y="443893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x = (2.630385487… − 0.35) ÷ 8 = 0.2850481859… kg</a:t>
            </a:r>
          </a:p>
        </p:txBody>
      </p:sp>
      <p:sp>
        <p:nvSpPr>
          <p:cNvPr id="13" name="Clarified text 87">
            <a:extLst>
              <a:ext uri="{FF2B5EF4-FFF2-40B4-BE49-F238E27FC236}">
                <a16:creationId xmlns:a16="http://schemas.microsoft.com/office/drawing/2014/main" id="{139DB2B1-2FB4-41CF-9E86-1BEF29257CEA}"/>
              </a:ext>
            </a:extLst>
          </p:cNvPr>
          <p:cNvSpPr>
            <a:spLocks noGrp="1"/>
          </p:cNvSpPr>
          <p:nvPr/>
        </p:nvSpPr>
        <p:spPr>
          <a:xfrm>
            <a:off x="430816" y="4915471"/>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dirty="0">
                <a:solidFill>
                  <a:srgbClr val="111111"/>
                </a:solidFill>
                <a:latin typeface="Aptos"/>
                <a:ea typeface="Aptos"/>
                <a:cs typeface="Aptos"/>
              </a:rPr>
              <a:t>Bottle mass in grams: 1,000x ≈ 285 g.</a:t>
            </a:r>
          </a:p>
        </p:txBody>
      </p:sp>
      <p:sp>
        <p:nvSpPr>
          <p:cNvPr id="14" name="Clarified text 88">
            <a:extLst>
              <a:ext uri="{FF2B5EF4-FFF2-40B4-BE49-F238E27FC236}">
                <a16:creationId xmlns:a16="http://schemas.microsoft.com/office/drawing/2014/main" id="{71A20871-159F-4396-9062-7E40DABCDC2D}"/>
              </a:ext>
            </a:extLst>
          </p:cNvPr>
          <p:cNvSpPr>
            <a:spLocks noGrp="1"/>
          </p:cNvSpPr>
          <p:nvPr/>
        </p:nvSpPr>
        <p:spPr>
          <a:xfrm>
            <a:off x="430816" y="5392007"/>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Check with unrounded x: (8x + 0.35) × 2.205 = 5.8 lb.</a:t>
            </a:r>
          </a:p>
        </p:txBody>
      </p:sp>
    </p:spTree>
    <p:extLst>
      <p:ext uri="{BB962C8B-B14F-4D97-AF65-F5344CB8AC3E}">
        <p14:creationId xmlns:p14="http://schemas.microsoft.com/office/powerpoint/2010/main" val="4158798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C3B: The packed shipment</a:t>
            </a:r>
          </a:p>
        </p:txBody>
      </p:sp>
      <p:sp>
        <p:nvSpPr>
          <p:cNvPr id="3" name="Handout reference C3B">
            <a:extLst>
              <a:ext uri="{FF2B5EF4-FFF2-40B4-BE49-F238E27FC236}">
                <a16:creationId xmlns:a16="http://schemas.microsoft.com/office/drawing/2014/main" id="{B175A710-DF7C-4BB6-A5FB-B982D459309D}"/>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C3B</a:t>
            </a:r>
          </a:p>
        </p:txBody>
      </p:sp>
      <p:sp>
        <p:nvSpPr>
          <p:cNvPr id="4" name="Clarified text 13">
            <a:extLst>
              <a:ext uri="{FF2B5EF4-FFF2-40B4-BE49-F238E27FC236}">
                <a16:creationId xmlns:a16="http://schemas.microsoft.com/office/drawing/2014/main" id="{FF1AAAE4-2A36-47D3-986E-F3A7833A3FCC}"/>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dirty="0">
                <a:solidFill>
                  <a:srgbClr val="111111"/>
                </a:solidFill>
                <a:latin typeface="Aptos"/>
                <a:ea typeface="Aptos"/>
                <a:cs typeface="Aptos"/>
              </a:rPr>
              <a:t>Ship 1,137 bottles. Use the </a:t>
            </a:r>
            <a:r>
              <a:rPr sz="2325" b="1" dirty="0">
                <a:solidFill>
                  <a:srgbClr val="FF0000"/>
                </a:solidFill>
                <a:latin typeface="Aptos"/>
                <a:ea typeface="Aptos"/>
                <a:cs typeface="Aptos"/>
              </a:rPr>
              <a:t>unrounded bottle mass </a:t>
            </a:r>
            <a:r>
              <a:rPr sz="2325" b="0" dirty="0">
                <a:solidFill>
                  <a:srgbClr val="111111"/>
                </a:solidFill>
                <a:latin typeface="Aptos"/>
                <a:ea typeface="Aptos"/>
                <a:cs typeface="Aptos"/>
              </a:rPr>
              <a:t>x from C3A.</a:t>
            </a:r>
          </a:p>
        </p:txBody>
      </p:sp>
      <p:sp>
        <p:nvSpPr>
          <p:cNvPr id="5" name="Clarified text 14">
            <a:extLst>
              <a:ext uri="{FF2B5EF4-FFF2-40B4-BE49-F238E27FC236}">
                <a16:creationId xmlns:a16="http://schemas.microsoft.com/office/drawing/2014/main" id="{30689076-F8AF-4B94-93C2-D01D78BED20C}"/>
              </a:ext>
            </a:extLst>
          </p:cNvPr>
          <p:cNvSpPr>
            <a:spLocks noGrp="1"/>
          </p:cNvSpPr>
          <p:nvPr/>
        </p:nvSpPr>
        <p:spPr>
          <a:xfrm>
            <a:off x="430816" y="2457736"/>
            <a:ext cx="11293412" cy="72447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Each carton holds up to 8 bottles. The carton itself weighs 0.35 kg, regardless of</a:t>
            </a:r>
          </a:p>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how many bottles it contains.</a:t>
            </a:r>
          </a:p>
        </p:txBody>
      </p:sp>
      <p:sp>
        <p:nvSpPr>
          <p:cNvPr id="6" name="Clarified text 15">
            <a:extLst>
              <a:ext uri="{FF2B5EF4-FFF2-40B4-BE49-F238E27FC236}">
                <a16:creationId xmlns:a16="http://schemas.microsoft.com/office/drawing/2014/main" id="{6AB63FDB-2C16-4172-86E8-84BE04C5A7CD}"/>
              </a:ext>
            </a:extLst>
          </p:cNvPr>
          <p:cNvSpPr>
            <a:spLocks noGrp="1"/>
          </p:cNvSpPr>
          <p:nvPr/>
        </p:nvSpPr>
        <p:spPr>
          <a:xfrm>
            <a:off x="430816" y="3296507"/>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dirty="0">
                <a:solidFill>
                  <a:srgbClr val="111111"/>
                </a:solidFill>
                <a:latin typeface="Aptos"/>
                <a:ea typeface="Aptos"/>
                <a:cs typeface="Aptos"/>
              </a:rPr>
              <a:t>Mass limit: 60 stone. Use 1 stone = 14 </a:t>
            </a:r>
            <a:r>
              <a:rPr sz="2325" b="0" dirty="0" err="1">
                <a:solidFill>
                  <a:srgbClr val="111111"/>
                </a:solidFill>
                <a:latin typeface="Aptos"/>
                <a:ea typeface="Aptos"/>
                <a:cs typeface="Aptos"/>
              </a:rPr>
              <a:t>lb</a:t>
            </a:r>
            <a:r>
              <a:rPr sz="2325" b="0" dirty="0">
                <a:solidFill>
                  <a:srgbClr val="111111"/>
                </a:solidFill>
                <a:latin typeface="Aptos"/>
                <a:ea typeface="Aptos"/>
                <a:cs typeface="Aptos"/>
              </a:rPr>
              <a:t> and 1 kg ≈ 2.205 lb.</a:t>
            </a:r>
          </a:p>
        </p:txBody>
      </p:sp>
      <p:sp>
        <p:nvSpPr>
          <p:cNvPr id="7" name="Clarified text 16">
            <a:extLst>
              <a:ext uri="{FF2B5EF4-FFF2-40B4-BE49-F238E27FC236}">
                <a16:creationId xmlns:a16="http://schemas.microsoft.com/office/drawing/2014/main" id="{C0D074C0-6920-4799-AF98-5F7626A675B3}"/>
              </a:ext>
            </a:extLst>
          </p:cNvPr>
          <p:cNvSpPr>
            <a:spLocks noGrp="1"/>
          </p:cNvSpPr>
          <p:nvPr/>
        </p:nvSpPr>
        <p:spPr>
          <a:xfrm>
            <a:off x="430816" y="3801618"/>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dirty="0">
                <a:solidFill>
                  <a:srgbClr val="111111"/>
                </a:solidFill>
                <a:latin typeface="Aptos"/>
                <a:ea typeface="Aptos"/>
                <a:cs typeface="Aptos"/>
              </a:rPr>
              <a:t>Q1  What is the smallest number of cartons needed?</a:t>
            </a:r>
          </a:p>
        </p:txBody>
      </p:sp>
      <p:sp>
        <p:nvSpPr>
          <p:cNvPr id="8" name="Clarified text 17">
            <a:extLst>
              <a:ext uri="{FF2B5EF4-FFF2-40B4-BE49-F238E27FC236}">
                <a16:creationId xmlns:a16="http://schemas.microsoft.com/office/drawing/2014/main" id="{5CD19954-CFEB-4164-A205-8691E1A93864}"/>
              </a:ext>
            </a:extLst>
          </p:cNvPr>
          <p:cNvSpPr>
            <a:spLocks noGrp="1"/>
          </p:cNvSpPr>
          <p:nvPr/>
        </p:nvSpPr>
        <p:spPr>
          <a:xfrm>
            <a:off x="430816" y="4306729"/>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dirty="0">
                <a:solidFill>
                  <a:srgbClr val="111111"/>
                </a:solidFill>
                <a:latin typeface="Aptos"/>
                <a:ea typeface="Aptos"/>
                <a:cs typeface="Aptos"/>
              </a:rPr>
              <a:t>Q2  Find the total mass of the bottles AND all cartons, in pounds.</a:t>
            </a:r>
          </a:p>
        </p:txBody>
      </p:sp>
      <p:sp>
        <p:nvSpPr>
          <p:cNvPr id="9" name="Clarified text 18">
            <a:extLst>
              <a:ext uri="{FF2B5EF4-FFF2-40B4-BE49-F238E27FC236}">
                <a16:creationId xmlns:a16="http://schemas.microsoft.com/office/drawing/2014/main" id="{077DBCDC-771F-409A-A9B8-D74F2A18F210}"/>
              </a:ext>
            </a:extLst>
          </p:cNvPr>
          <p:cNvSpPr>
            <a:spLocks noGrp="1"/>
          </p:cNvSpPr>
          <p:nvPr/>
        </p:nvSpPr>
        <p:spPr>
          <a:xfrm>
            <a:off x="430816" y="4811839"/>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Is this below or above the limit? By how many pounds?</a:t>
            </a:r>
          </a:p>
        </p:txBody>
      </p:sp>
    </p:spTree>
    <p:extLst>
      <p:ext uri="{BB962C8B-B14F-4D97-AF65-F5344CB8AC3E}">
        <p14:creationId xmlns:p14="http://schemas.microsoft.com/office/powerpoint/2010/main" val="41587989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C3B: Gross mass and stone limit</a:t>
            </a:r>
          </a:p>
        </p:txBody>
      </p:sp>
      <p:sp>
        <p:nvSpPr>
          <p:cNvPr id="3" name="Handout reference C3B">
            <a:extLst>
              <a:ext uri="{FF2B5EF4-FFF2-40B4-BE49-F238E27FC236}">
                <a16:creationId xmlns:a16="http://schemas.microsoft.com/office/drawing/2014/main" id="{BF2662EF-89F4-4A43-8475-5776FF76D744}"/>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C3B</a:t>
            </a:r>
          </a:p>
        </p:txBody>
      </p:sp>
      <p:sp>
        <p:nvSpPr>
          <p:cNvPr id="4" name="Content 100">
            <a:extLst>
              <a:ext uri="{FF2B5EF4-FFF2-40B4-BE49-F238E27FC236}">
                <a16:creationId xmlns:a16="http://schemas.microsoft.com/office/drawing/2014/main" id="{6A7415AB-AB51-4BC5-9D26-EF773FC864B9}"/>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1,137 ÷ 8 = 142 remainder 1</a:t>
            </a:r>
          </a:p>
        </p:txBody>
      </p:sp>
      <p:sp>
        <p:nvSpPr>
          <p:cNvPr id="5" name="Content 101">
            <a:extLst>
              <a:ext uri="{FF2B5EF4-FFF2-40B4-BE49-F238E27FC236}">
                <a16:creationId xmlns:a16="http://schemas.microsoft.com/office/drawing/2014/main" id="{98FDED05-130A-4D9D-8486-93154795711E}"/>
              </a:ext>
            </a:extLst>
          </p:cNvPr>
          <p:cNvSpPr>
            <a:spLocks noGrp="1"/>
          </p:cNvSpPr>
          <p:nvPr/>
        </p:nvSpPr>
        <p:spPr>
          <a:xfrm>
            <a:off x="430816" y="2448211"/>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143 cartons are needed, including the partly filled final carton.</a:t>
            </a:r>
          </a:p>
        </p:txBody>
      </p:sp>
      <p:sp>
        <p:nvSpPr>
          <p:cNvPr id="6" name="Content 102">
            <a:extLst>
              <a:ext uri="{FF2B5EF4-FFF2-40B4-BE49-F238E27FC236}">
                <a16:creationId xmlns:a16="http://schemas.microsoft.com/office/drawing/2014/main" id="{6919A302-E3B7-4058-B8E2-9C4B1C2034AC}"/>
              </a:ext>
            </a:extLst>
          </p:cNvPr>
          <p:cNvSpPr>
            <a:spLocks noGrp="1"/>
          </p:cNvSpPr>
          <p:nvPr/>
        </p:nvSpPr>
        <p:spPr>
          <a:xfrm>
            <a:off x="430816" y="2943796"/>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Bottles: 1,137x = 324.099787… kg</a:t>
            </a:r>
          </a:p>
        </p:txBody>
      </p:sp>
      <p:sp>
        <p:nvSpPr>
          <p:cNvPr id="7" name="Content 103">
            <a:extLst>
              <a:ext uri="{FF2B5EF4-FFF2-40B4-BE49-F238E27FC236}">
                <a16:creationId xmlns:a16="http://schemas.microsoft.com/office/drawing/2014/main" id="{C7433E62-5A8E-4D77-A09A-86C80C832BE0}"/>
              </a:ext>
            </a:extLst>
          </p:cNvPr>
          <p:cNvSpPr>
            <a:spLocks noGrp="1"/>
          </p:cNvSpPr>
          <p:nvPr/>
        </p:nvSpPr>
        <p:spPr>
          <a:xfrm>
            <a:off x="430816" y="3439382"/>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Cartons: 143 × 0.35 = 50.05 kg</a:t>
            </a:r>
          </a:p>
        </p:txBody>
      </p:sp>
      <p:sp>
        <p:nvSpPr>
          <p:cNvPr id="8" name="Content 104">
            <a:extLst>
              <a:ext uri="{FF2B5EF4-FFF2-40B4-BE49-F238E27FC236}">
                <a16:creationId xmlns:a16="http://schemas.microsoft.com/office/drawing/2014/main" id="{0589B5C7-3796-402E-943D-9D790554E889}"/>
              </a:ext>
            </a:extLst>
          </p:cNvPr>
          <p:cNvSpPr>
            <a:spLocks noGrp="1"/>
          </p:cNvSpPr>
          <p:nvPr/>
        </p:nvSpPr>
        <p:spPr>
          <a:xfrm>
            <a:off x="430816" y="3934968"/>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Gross: (324.099787… + 50.05) × 2.205 ≈ 825.0 lb</a:t>
            </a:r>
          </a:p>
        </p:txBody>
      </p:sp>
      <p:sp>
        <p:nvSpPr>
          <p:cNvPr id="9" name="Content 105">
            <a:extLst>
              <a:ext uri="{FF2B5EF4-FFF2-40B4-BE49-F238E27FC236}">
                <a16:creationId xmlns:a16="http://schemas.microsoft.com/office/drawing/2014/main" id="{45B5DF8C-5A9D-4EC4-AE72-34AFC8556024}"/>
              </a:ext>
            </a:extLst>
          </p:cNvPr>
          <p:cNvSpPr>
            <a:spLocks noGrp="1"/>
          </p:cNvSpPr>
          <p:nvPr/>
        </p:nvSpPr>
        <p:spPr>
          <a:xfrm>
            <a:off x="430816" y="4430554"/>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Limit: 60 × 14 = 840 lb</a:t>
            </a:r>
          </a:p>
        </p:txBody>
      </p:sp>
      <p:sp>
        <p:nvSpPr>
          <p:cNvPr id="10" name="Content 106">
            <a:extLst>
              <a:ext uri="{FF2B5EF4-FFF2-40B4-BE49-F238E27FC236}">
                <a16:creationId xmlns:a16="http://schemas.microsoft.com/office/drawing/2014/main" id="{5FBB992B-2CD5-4D93-BE3B-0B07EEE1032C}"/>
              </a:ext>
            </a:extLst>
          </p:cNvPr>
          <p:cNvSpPr>
            <a:spLocks noGrp="1"/>
          </p:cNvSpPr>
          <p:nvPr/>
        </p:nvSpPr>
        <p:spPr>
          <a:xfrm>
            <a:off x="430816" y="4926139"/>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840 − 825.000281… ≈ 15.0 lb below the limit.</a:t>
            </a:r>
          </a:p>
        </p:txBody>
      </p:sp>
    </p:spTree>
    <p:extLst>
      <p:ext uri="{BB962C8B-B14F-4D97-AF65-F5344CB8AC3E}">
        <p14:creationId xmlns:p14="http://schemas.microsoft.com/office/powerpoint/2010/main" val="41587989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C3C: The border equation</a:t>
            </a:r>
          </a:p>
        </p:txBody>
      </p:sp>
      <p:sp>
        <p:nvSpPr>
          <p:cNvPr id="3" name="Handout reference C3C">
            <a:extLst>
              <a:ext uri="{FF2B5EF4-FFF2-40B4-BE49-F238E27FC236}">
                <a16:creationId xmlns:a16="http://schemas.microsoft.com/office/drawing/2014/main" id="{D474997E-7644-48F8-8C05-65BB88AD765F}"/>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C3C</a:t>
            </a:r>
          </a:p>
        </p:txBody>
      </p:sp>
      <p:sp>
        <p:nvSpPr>
          <p:cNvPr id="9" name="Rectangle 8">
            <a:extLst>
              <a:ext uri="{FF2B5EF4-FFF2-40B4-BE49-F238E27FC236}">
                <a16:creationId xmlns:a16="http://schemas.microsoft.com/office/drawing/2014/main" id="{CF82DCFD-34EA-4BEE-BD6E-F973AD7840AB}"/>
              </a:ext>
            </a:extLst>
          </p:cNvPr>
          <p:cNvSpPr>
            <a:spLocks noGrp="1"/>
          </p:cNvSpPr>
          <p:nvPr/>
        </p:nvSpPr>
        <p:spPr>
          <a:xfrm>
            <a:off x="7705725" y="2752725"/>
            <a:ext cx="3524250" cy="2762250"/>
          </a:xfrm>
          <a:prstGeom prst="rect">
            <a:avLst/>
          </a:prstGeom>
          <a:noFill/>
          <a:ln w="12383">
            <a:solidFill>
              <a:srgbClr val="111111"/>
            </a:solidFill>
          </a:ln>
        </p:spPr>
        <p:txBody>
          <a:bodyPr/>
          <a:lstStyle/>
          <a:p>
            <a:endParaRPr lang="en-US"/>
          </a:p>
        </p:txBody>
      </p:sp>
      <p:sp>
        <p:nvSpPr>
          <p:cNvPr id="10" name="Rectangle 9">
            <a:extLst>
              <a:ext uri="{FF2B5EF4-FFF2-40B4-BE49-F238E27FC236}">
                <a16:creationId xmlns:a16="http://schemas.microsoft.com/office/drawing/2014/main" id="{F168D091-D442-4CF1-8F90-10C310CCD15F}"/>
              </a:ext>
            </a:extLst>
          </p:cNvPr>
          <p:cNvSpPr>
            <a:spLocks noGrp="1"/>
          </p:cNvSpPr>
          <p:nvPr/>
        </p:nvSpPr>
        <p:spPr>
          <a:xfrm>
            <a:off x="8134350" y="3181350"/>
            <a:ext cx="2667000" cy="1905000"/>
          </a:xfrm>
          <a:prstGeom prst="rect">
            <a:avLst/>
          </a:prstGeom>
          <a:noFill/>
          <a:ln w="12383">
            <a:solidFill>
              <a:srgbClr val="111111"/>
            </a:solidFill>
          </a:ln>
        </p:spPr>
        <p:txBody>
          <a:bodyPr/>
          <a:lstStyle/>
          <a:p>
            <a:endParaRPr lang="en-US"/>
          </a:p>
        </p:txBody>
      </p:sp>
      <p:sp>
        <p:nvSpPr>
          <p:cNvPr id="11" name="Content 112">
            <a:extLst>
              <a:ext uri="{FF2B5EF4-FFF2-40B4-BE49-F238E27FC236}">
                <a16:creationId xmlns:a16="http://schemas.microsoft.com/office/drawing/2014/main" id="{2DC65CCD-15A2-486A-ADA3-3EC24C81161D}"/>
              </a:ext>
            </a:extLst>
          </p:cNvPr>
          <p:cNvSpPr>
            <a:spLocks noGrp="1"/>
          </p:cNvSpPr>
          <p:nvPr/>
        </p:nvSpPr>
        <p:spPr>
          <a:xfrm>
            <a:off x="8229600" y="2257425"/>
            <a:ext cx="2476500" cy="409575"/>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28 cm</a:t>
            </a:r>
          </a:p>
        </p:txBody>
      </p:sp>
      <p:sp>
        <p:nvSpPr>
          <p:cNvPr id="12" name="Content 113">
            <a:extLst>
              <a:ext uri="{FF2B5EF4-FFF2-40B4-BE49-F238E27FC236}">
                <a16:creationId xmlns:a16="http://schemas.microsoft.com/office/drawing/2014/main" id="{A37F4D75-ACF3-4ECE-A37C-40D41C0DF673}"/>
              </a:ext>
            </a:extLst>
          </p:cNvPr>
          <p:cNvSpPr>
            <a:spLocks noGrp="1"/>
          </p:cNvSpPr>
          <p:nvPr/>
        </p:nvSpPr>
        <p:spPr>
          <a:xfrm>
            <a:off x="6772275" y="4476750"/>
            <a:ext cx="904875" cy="381000"/>
          </a:xfrm>
          <a:prstGeom prst="rect">
            <a:avLst/>
          </a:prstGeom>
          <a:noFill/>
          <a:ln w="0">
            <a:noFill/>
          </a:ln>
        </p:spPr>
        <p:txBody>
          <a:bodyPr wrap="square" lIns="0" tIns="0" rIns="0" bIns="0" anchor="t">
            <a:noAutofit/>
          </a:bodyPr>
          <a:lstStyle/>
          <a:p>
            <a:pPr algn="l">
              <a:lnSpc>
                <a:spcPct val="108000"/>
              </a:lnSpc>
              <a:buNone/>
              <a:defRPr sz="2175" b="0">
                <a:solidFill>
                  <a:srgbClr val="111111"/>
                </a:solidFill>
                <a:latin typeface="Aptos"/>
                <a:ea typeface="Aptos"/>
                <a:cs typeface="Aptos"/>
              </a:defRPr>
            </a:pPr>
            <a:r>
              <a:rPr sz="2175" b="0">
                <a:solidFill>
                  <a:srgbClr val="111111"/>
                </a:solidFill>
                <a:latin typeface="Aptos"/>
                <a:ea typeface="Aptos"/>
                <a:cs typeface="Aptos"/>
              </a:rPr>
              <a:t>22 cm</a:t>
            </a:r>
          </a:p>
        </p:txBody>
      </p:sp>
      <p:sp>
        <p:nvSpPr>
          <p:cNvPr id="13" name="Content 114">
            <a:extLst>
              <a:ext uri="{FF2B5EF4-FFF2-40B4-BE49-F238E27FC236}">
                <a16:creationId xmlns:a16="http://schemas.microsoft.com/office/drawing/2014/main" id="{D4309E1B-03BB-4910-B43E-18B551F0D340}"/>
              </a:ext>
            </a:extLst>
          </p:cNvPr>
          <p:cNvSpPr>
            <a:spLocks noGrp="1"/>
          </p:cNvSpPr>
          <p:nvPr/>
        </p:nvSpPr>
        <p:spPr>
          <a:xfrm>
            <a:off x="8382000" y="3790950"/>
            <a:ext cx="2190750" cy="428625"/>
          </a:xfrm>
          <a:prstGeom prst="rect">
            <a:avLst/>
          </a:prstGeom>
          <a:noFill/>
          <a:ln w="0">
            <a:noFill/>
          </a:ln>
        </p:spPr>
        <p:txBody>
          <a:bodyPr wrap="square" lIns="0" tIns="0" rIns="0" bIns="0" anchor="t">
            <a:noAutofit/>
          </a:bodyPr>
          <a:lstStyle/>
          <a:p>
            <a:pPr algn="ctr">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432 cm²</a:t>
            </a:r>
          </a:p>
        </p:txBody>
      </p:sp>
      <p:sp>
        <p:nvSpPr>
          <p:cNvPr id="14" name="Content 115">
            <a:extLst>
              <a:ext uri="{FF2B5EF4-FFF2-40B4-BE49-F238E27FC236}">
                <a16:creationId xmlns:a16="http://schemas.microsoft.com/office/drawing/2014/main" id="{111A32F2-B606-4481-8EA2-E6975108F404}"/>
              </a:ext>
            </a:extLst>
          </p:cNvPr>
          <p:cNvSpPr>
            <a:spLocks noGrp="1"/>
          </p:cNvSpPr>
          <p:nvPr/>
        </p:nvSpPr>
        <p:spPr>
          <a:xfrm>
            <a:off x="7762875" y="3819525"/>
            <a:ext cx="409575" cy="4191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x</a:t>
            </a:r>
          </a:p>
        </p:txBody>
      </p:sp>
      <p:sp>
        <p:nvSpPr>
          <p:cNvPr id="15" name="Content 116">
            <a:extLst>
              <a:ext uri="{FF2B5EF4-FFF2-40B4-BE49-F238E27FC236}">
                <a16:creationId xmlns:a16="http://schemas.microsoft.com/office/drawing/2014/main" id="{66B0B0E0-75BA-4BAC-BF70-8737345E5483}"/>
              </a:ext>
            </a:extLst>
          </p:cNvPr>
          <p:cNvSpPr>
            <a:spLocks noGrp="1"/>
          </p:cNvSpPr>
          <p:nvPr/>
        </p:nvSpPr>
        <p:spPr>
          <a:xfrm>
            <a:off x="7477125" y="5953125"/>
            <a:ext cx="4238625" cy="333375"/>
          </a:xfrm>
          <a:prstGeom prst="rect">
            <a:avLst/>
          </a:prstGeom>
          <a:noFill/>
          <a:ln w="0">
            <a:noFill/>
          </a:ln>
        </p:spPr>
        <p:txBody>
          <a:bodyPr wrap="square" lIns="0" tIns="0" rIns="0" bIns="0" anchor="t">
            <a:noAutofit/>
          </a:bodyPr>
          <a:lstStyle/>
          <a:p>
            <a:pPr algn="l">
              <a:lnSpc>
                <a:spcPct val="108000"/>
              </a:lnSpc>
              <a:buNone/>
              <a:defRPr sz="1875" b="0">
                <a:solidFill>
                  <a:srgbClr val="111111"/>
                </a:solidFill>
                <a:latin typeface="Aptos"/>
                <a:ea typeface="Aptos"/>
                <a:cs typeface="Aptos"/>
              </a:defRPr>
            </a:pPr>
            <a:r>
              <a:rPr sz="1875" b="0">
                <a:solidFill>
                  <a:srgbClr val="111111"/>
                </a:solidFill>
                <a:latin typeface="Aptos"/>
                <a:ea typeface="Aptos"/>
                <a:cs typeface="Aptos"/>
              </a:rPr>
              <a:t>Border width x on every side</a:t>
            </a:r>
          </a:p>
        </p:txBody>
      </p:sp>
      <p:sp>
        <p:nvSpPr>
          <p:cNvPr id="16" name="Clarified text 19">
            <a:extLst>
              <a:ext uri="{FF2B5EF4-FFF2-40B4-BE49-F238E27FC236}">
                <a16:creationId xmlns:a16="http://schemas.microsoft.com/office/drawing/2014/main" id="{47882571-4C1A-4D20-8745-C6C783649812}"/>
              </a:ext>
            </a:extLst>
          </p:cNvPr>
          <p:cNvSpPr>
            <a:spLocks noGrp="1"/>
          </p:cNvSpPr>
          <p:nvPr/>
        </p:nvSpPr>
        <p:spPr>
          <a:xfrm>
            <a:off x="430816" y="1952625"/>
            <a:ext cx="6286500"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The whole card is 28 cm by 22 cm.</a:t>
            </a:r>
          </a:p>
        </p:txBody>
      </p:sp>
      <p:sp>
        <p:nvSpPr>
          <p:cNvPr id="17" name="Clarified text 20">
            <a:extLst>
              <a:ext uri="{FF2B5EF4-FFF2-40B4-BE49-F238E27FC236}">
                <a16:creationId xmlns:a16="http://schemas.microsoft.com/office/drawing/2014/main" id="{E143F572-9B97-43F7-A2CC-6CC38C004913}"/>
              </a:ext>
            </a:extLst>
          </p:cNvPr>
          <p:cNvSpPr>
            <a:spLocks noGrp="1"/>
          </p:cNvSpPr>
          <p:nvPr/>
        </p:nvSpPr>
        <p:spPr>
          <a:xfrm>
            <a:off x="430816" y="2457736"/>
            <a:ext cx="6286500" cy="72447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The border has the same width x on all four</a:t>
            </a:r>
          </a:p>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sides. The printed area is 432 cm².</a:t>
            </a:r>
          </a:p>
        </p:txBody>
      </p:sp>
      <p:sp>
        <p:nvSpPr>
          <p:cNvPr id="18" name="Clarified text 21">
            <a:extLst>
              <a:ext uri="{FF2B5EF4-FFF2-40B4-BE49-F238E27FC236}">
                <a16:creationId xmlns:a16="http://schemas.microsoft.com/office/drawing/2014/main" id="{4AFD1521-58F3-4A69-9A1F-635541CDBF9C}"/>
              </a:ext>
            </a:extLst>
          </p:cNvPr>
          <p:cNvSpPr>
            <a:spLocks noGrp="1"/>
          </p:cNvSpPr>
          <p:nvPr/>
        </p:nvSpPr>
        <p:spPr>
          <a:xfrm>
            <a:off x="430816" y="3296507"/>
            <a:ext cx="6286500"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Find the border width x in cm.</a:t>
            </a:r>
          </a:p>
        </p:txBody>
      </p:sp>
      <p:sp>
        <p:nvSpPr>
          <p:cNvPr id="19" name="Clarified text 22">
            <a:extLst>
              <a:ext uri="{FF2B5EF4-FFF2-40B4-BE49-F238E27FC236}">
                <a16:creationId xmlns:a16="http://schemas.microsoft.com/office/drawing/2014/main" id="{D99D6EC1-5614-44ED-9C6D-1FB28675A9B6}"/>
              </a:ext>
            </a:extLst>
          </p:cNvPr>
          <p:cNvSpPr>
            <a:spLocks noGrp="1"/>
          </p:cNvSpPr>
          <p:nvPr/>
        </p:nvSpPr>
        <p:spPr>
          <a:xfrm>
            <a:off x="430816" y="3801618"/>
            <a:ext cx="6286500" cy="72447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Form an equation. Find both roots and</a:t>
            </a:r>
          </a:p>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explain which one fits the card.</a:t>
            </a:r>
          </a:p>
        </p:txBody>
      </p:sp>
      <p:sp>
        <p:nvSpPr>
          <p:cNvPr id="20" name="Clarified text 23">
            <a:extLst>
              <a:ext uri="{FF2B5EF4-FFF2-40B4-BE49-F238E27FC236}">
                <a16:creationId xmlns:a16="http://schemas.microsoft.com/office/drawing/2014/main" id="{ECF1A25F-13C5-4BC2-8E18-F816F8235193}"/>
              </a:ext>
            </a:extLst>
          </p:cNvPr>
          <p:cNvSpPr>
            <a:spLocks noGrp="1"/>
          </p:cNvSpPr>
          <p:nvPr/>
        </p:nvSpPr>
        <p:spPr>
          <a:xfrm>
            <a:off x="430816" y="4640389"/>
            <a:ext cx="6286500" cy="72447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Find the printed length and width.</a:t>
            </a:r>
          </a:p>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Check their area.</a:t>
            </a:r>
          </a:p>
        </p:txBody>
      </p:sp>
    </p:spTree>
    <p:extLst>
      <p:ext uri="{BB962C8B-B14F-4D97-AF65-F5344CB8AC3E}">
        <p14:creationId xmlns:p14="http://schemas.microsoft.com/office/powerpoint/2010/main" val="41587989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C3C: Building the quadratic equation</a:t>
            </a:r>
          </a:p>
        </p:txBody>
      </p:sp>
      <p:sp>
        <p:nvSpPr>
          <p:cNvPr id="3" name="Handout reference C3C">
            <a:extLst>
              <a:ext uri="{FF2B5EF4-FFF2-40B4-BE49-F238E27FC236}">
                <a16:creationId xmlns:a16="http://schemas.microsoft.com/office/drawing/2014/main" id="{CF8D65F5-CFC2-4F2D-B33D-FD92E774CCC7}"/>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C3C</a:t>
            </a:r>
          </a:p>
        </p:txBody>
      </p:sp>
      <p:sp>
        <p:nvSpPr>
          <p:cNvPr id="4" name="Clarified text 89">
            <a:extLst>
              <a:ext uri="{FF2B5EF4-FFF2-40B4-BE49-F238E27FC236}">
                <a16:creationId xmlns:a16="http://schemas.microsoft.com/office/drawing/2014/main" id="{9D6F652D-7536-4A0B-A708-780A415C6178}"/>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The border takes x from each end of a dimension.</a:t>
            </a:r>
          </a:p>
        </p:txBody>
      </p:sp>
      <p:sp>
        <p:nvSpPr>
          <p:cNvPr id="5" name="Clarified text 90">
            <a:extLst>
              <a:ext uri="{FF2B5EF4-FFF2-40B4-BE49-F238E27FC236}">
                <a16:creationId xmlns:a16="http://schemas.microsoft.com/office/drawing/2014/main" id="{BE29AF34-A655-46A9-BB9D-F29B7F6AA17E}"/>
              </a:ext>
            </a:extLst>
          </p:cNvPr>
          <p:cNvSpPr>
            <a:spLocks noGrp="1"/>
          </p:cNvSpPr>
          <p:nvPr/>
        </p:nvSpPr>
        <p:spPr>
          <a:xfrm>
            <a:off x="430816" y="2429161"/>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Printed length = 28 − 2x. Printed width = 22 − 2x.</a:t>
            </a:r>
          </a:p>
        </p:txBody>
      </p:sp>
      <p:sp>
        <p:nvSpPr>
          <p:cNvPr id="6" name="Clarified text 91">
            <a:extLst>
              <a:ext uri="{FF2B5EF4-FFF2-40B4-BE49-F238E27FC236}">
                <a16:creationId xmlns:a16="http://schemas.microsoft.com/office/drawing/2014/main" id="{18C7E13F-5527-4104-8FEB-C14CBC3B5146}"/>
              </a:ext>
            </a:extLst>
          </p:cNvPr>
          <p:cNvSpPr>
            <a:spLocks noGrp="1"/>
          </p:cNvSpPr>
          <p:nvPr/>
        </p:nvSpPr>
        <p:spPr>
          <a:xfrm>
            <a:off x="430816" y="2905697"/>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Area = length × width, so (28 − 2x)(22 − 2x) = 432.</a:t>
            </a:r>
          </a:p>
        </p:txBody>
      </p:sp>
      <p:sp>
        <p:nvSpPr>
          <p:cNvPr id="7" name="Clarified text 92">
            <a:extLst>
              <a:ext uri="{FF2B5EF4-FFF2-40B4-BE49-F238E27FC236}">
                <a16:creationId xmlns:a16="http://schemas.microsoft.com/office/drawing/2014/main" id="{CB09D692-8294-4DF4-B6F2-4525730FFC9F}"/>
              </a:ext>
            </a:extLst>
          </p:cNvPr>
          <p:cNvSpPr>
            <a:spLocks noGrp="1"/>
          </p:cNvSpPr>
          <p:nvPr/>
        </p:nvSpPr>
        <p:spPr>
          <a:xfrm>
            <a:off x="430816" y="3382232"/>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Expand: 616 − 100x + 4x² = 432.</a:t>
            </a:r>
          </a:p>
        </p:txBody>
      </p:sp>
      <p:sp>
        <p:nvSpPr>
          <p:cNvPr id="8" name="Clarified text 93">
            <a:extLst>
              <a:ext uri="{FF2B5EF4-FFF2-40B4-BE49-F238E27FC236}">
                <a16:creationId xmlns:a16="http://schemas.microsoft.com/office/drawing/2014/main" id="{F46A7B0D-DF4B-4498-81A4-D2FDE8061D67}"/>
              </a:ext>
            </a:extLst>
          </p:cNvPr>
          <p:cNvSpPr>
            <a:spLocks noGrp="1"/>
          </p:cNvSpPr>
          <p:nvPr/>
        </p:nvSpPr>
        <p:spPr>
          <a:xfrm>
            <a:off x="430816" y="3858768"/>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Subtract 432: 4x² − 100x + 184 = 0.</a:t>
            </a:r>
          </a:p>
        </p:txBody>
      </p:sp>
      <p:sp>
        <p:nvSpPr>
          <p:cNvPr id="9" name="Clarified text 94">
            <a:extLst>
              <a:ext uri="{FF2B5EF4-FFF2-40B4-BE49-F238E27FC236}">
                <a16:creationId xmlns:a16="http://schemas.microsoft.com/office/drawing/2014/main" id="{2D324B24-3B1F-4509-92FA-69C7D24186EB}"/>
              </a:ext>
            </a:extLst>
          </p:cNvPr>
          <p:cNvSpPr>
            <a:spLocks noGrp="1"/>
          </p:cNvSpPr>
          <p:nvPr/>
        </p:nvSpPr>
        <p:spPr>
          <a:xfrm>
            <a:off x="430816" y="4335304"/>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Divide every term by 4: x² − 25x + 46 = 0.</a:t>
            </a:r>
          </a:p>
        </p:txBody>
      </p:sp>
      <p:sp>
        <p:nvSpPr>
          <p:cNvPr id="10" name="Clarified text 95">
            <a:extLst>
              <a:ext uri="{FF2B5EF4-FFF2-40B4-BE49-F238E27FC236}">
                <a16:creationId xmlns:a16="http://schemas.microsoft.com/office/drawing/2014/main" id="{59007AD9-E554-4207-91CD-E513E3FF3001}"/>
              </a:ext>
            </a:extLst>
          </p:cNvPr>
          <p:cNvSpPr>
            <a:spLocks noGrp="1"/>
          </p:cNvSpPr>
          <p:nvPr/>
        </p:nvSpPr>
        <p:spPr>
          <a:xfrm>
            <a:off x="430816" y="4811839"/>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Factor: (x − 2)(x − 23) = 0.</a:t>
            </a:r>
          </a:p>
        </p:txBody>
      </p:sp>
      <p:sp>
        <p:nvSpPr>
          <p:cNvPr id="11" name="Clarified text 96">
            <a:extLst>
              <a:ext uri="{FF2B5EF4-FFF2-40B4-BE49-F238E27FC236}">
                <a16:creationId xmlns:a16="http://schemas.microsoft.com/office/drawing/2014/main" id="{25DAB7C1-FC72-4D1C-A412-E91D6F2D7D26}"/>
              </a:ext>
            </a:extLst>
          </p:cNvPr>
          <p:cNvSpPr>
            <a:spLocks noGrp="1"/>
          </p:cNvSpPr>
          <p:nvPr/>
        </p:nvSpPr>
        <p:spPr>
          <a:xfrm>
            <a:off x="430816" y="528837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The two mathematical answers are x = 2 and x = 23.</a:t>
            </a:r>
          </a:p>
        </p:txBody>
      </p:sp>
    </p:spTree>
    <p:extLst>
      <p:ext uri="{BB962C8B-B14F-4D97-AF65-F5344CB8AC3E}">
        <p14:creationId xmlns:p14="http://schemas.microsoft.com/office/powerpoint/2010/main" val="4158798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C3C: Which root fits the card?</a:t>
            </a:r>
          </a:p>
        </p:txBody>
      </p:sp>
      <p:sp>
        <p:nvSpPr>
          <p:cNvPr id="3" name="Handout reference C3C">
            <a:extLst>
              <a:ext uri="{FF2B5EF4-FFF2-40B4-BE49-F238E27FC236}">
                <a16:creationId xmlns:a16="http://schemas.microsoft.com/office/drawing/2014/main" id="{CF8D65F5-CFC2-4F2D-B33D-FD92E774CCC7}"/>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C3C</a:t>
            </a:r>
          </a:p>
        </p:txBody>
      </p:sp>
      <p:sp>
        <p:nvSpPr>
          <p:cNvPr id="4" name="Clarified text 97">
            <a:extLst>
              <a:ext uri="{FF2B5EF4-FFF2-40B4-BE49-F238E27FC236}">
                <a16:creationId xmlns:a16="http://schemas.microsoft.com/office/drawing/2014/main" id="{EF7E8E30-3DFF-4558-895B-56DC65C1E1B5}"/>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The printed width must be greater than zero.</a:t>
            </a:r>
          </a:p>
        </p:txBody>
      </p:sp>
      <p:sp>
        <p:nvSpPr>
          <p:cNvPr id="5" name="Clarified text 98">
            <a:extLst>
              <a:ext uri="{FF2B5EF4-FFF2-40B4-BE49-F238E27FC236}">
                <a16:creationId xmlns:a16="http://schemas.microsoft.com/office/drawing/2014/main" id="{22720DD0-82C4-4F49-ACDB-AC4481087FD6}"/>
              </a:ext>
            </a:extLst>
          </p:cNvPr>
          <p:cNvSpPr>
            <a:spLocks noGrp="1"/>
          </p:cNvSpPr>
          <p:nvPr/>
        </p:nvSpPr>
        <p:spPr>
          <a:xfrm>
            <a:off x="430816" y="2429161"/>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22 − 2x &gt; 0, so 2x &lt; 22 and x &lt; 11.</a:t>
            </a:r>
          </a:p>
        </p:txBody>
      </p:sp>
      <p:sp>
        <p:nvSpPr>
          <p:cNvPr id="6" name="Clarified text 99">
            <a:extLst>
              <a:ext uri="{FF2B5EF4-FFF2-40B4-BE49-F238E27FC236}">
                <a16:creationId xmlns:a16="http://schemas.microsoft.com/office/drawing/2014/main" id="{B6A9CBD7-C561-4A43-8E2B-2C8B3F7F737A}"/>
              </a:ext>
            </a:extLst>
          </p:cNvPr>
          <p:cNvSpPr>
            <a:spLocks noGrp="1"/>
          </p:cNvSpPr>
          <p:nvPr/>
        </p:nvSpPr>
        <p:spPr>
          <a:xfrm>
            <a:off x="430816" y="2905697"/>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If x = 23, the printed width is 22 − 46 = −24 cm.</a:t>
            </a:r>
          </a:p>
        </p:txBody>
      </p:sp>
      <p:sp>
        <p:nvSpPr>
          <p:cNvPr id="7" name="Clarified text 100">
            <a:extLst>
              <a:ext uri="{FF2B5EF4-FFF2-40B4-BE49-F238E27FC236}">
                <a16:creationId xmlns:a16="http://schemas.microsoft.com/office/drawing/2014/main" id="{2128D760-BAD5-46DE-A0A0-A2C1D0C1EDBF}"/>
              </a:ext>
            </a:extLst>
          </p:cNvPr>
          <p:cNvSpPr>
            <a:spLocks noGrp="1"/>
          </p:cNvSpPr>
          <p:nvPr/>
        </p:nvSpPr>
        <p:spPr>
          <a:xfrm>
            <a:off x="430816" y="3382232"/>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A negative width is impossible, so reject x = 23.</a:t>
            </a:r>
          </a:p>
        </p:txBody>
      </p:sp>
      <p:sp>
        <p:nvSpPr>
          <p:cNvPr id="8" name="Clarified text 101">
            <a:extLst>
              <a:ext uri="{FF2B5EF4-FFF2-40B4-BE49-F238E27FC236}">
                <a16:creationId xmlns:a16="http://schemas.microsoft.com/office/drawing/2014/main" id="{3A09F498-0890-4097-98E6-CA3F975409D3}"/>
              </a:ext>
            </a:extLst>
          </p:cNvPr>
          <p:cNvSpPr>
            <a:spLocks noGrp="1"/>
          </p:cNvSpPr>
          <p:nvPr/>
        </p:nvSpPr>
        <p:spPr>
          <a:xfrm>
            <a:off x="430816" y="3858768"/>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The valid border width is x = 2 cm.</a:t>
            </a:r>
          </a:p>
        </p:txBody>
      </p:sp>
      <p:sp>
        <p:nvSpPr>
          <p:cNvPr id="9" name="Clarified text 102">
            <a:extLst>
              <a:ext uri="{FF2B5EF4-FFF2-40B4-BE49-F238E27FC236}">
                <a16:creationId xmlns:a16="http://schemas.microsoft.com/office/drawing/2014/main" id="{789BA0BF-63DB-443A-96FD-C79DAFA9EDBD}"/>
              </a:ext>
            </a:extLst>
          </p:cNvPr>
          <p:cNvSpPr>
            <a:spLocks noGrp="1"/>
          </p:cNvSpPr>
          <p:nvPr/>
        </p:nvSpPr>
        <p:spPr>
          <a:xfrm>
            <a:off x="430816" y="4335304"/>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Printed length: 28 − 2(2) = 24 cm.</a:t>
            </a:r>
          </a:p>
        </p:txBody>
      </p:sp>
      <p:sp>
        <p:nvSpPr>
          <p:cNvPr id="10" name="Clarified text 103">
            <a:extLst>
              <a:ext uri="{FF2B5EF4-FFF2-40B4-BE49-F238E27FC236}">
                <a16:creationId xmlns:a16="http://schemas.microsoft.com/office/drawing/2014/main" id="{039C53F4-278C-4347-B042-7C3687A6BC2B}"/>
              </a:ext>
            </a:extLst>
          </p:cNvPr>
          <p:cNvSpPr>
            <a:spLocks noGrp="1"/>
          </p:cNvSpPr>
          <p:nvPr/>
        </p:nvSpPr>
        <p:spPr>
          <a:xfrm>
            <a:off x="430816" y="4811839"/>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Printed width: 22 − 2(2) = 18 cm.</a:t>
            </a:r>
          </a:p>
        </p:txBody>
      </p:sp>
      <p:sp>
        <p:nvSpPr>
          <p:cNvPr id="11" name="Clarified text 104">
            <a:extLst>
              <a:ext uri="{FF2B5EF4-FFF2-40B4-BE49-F238E27FC236}">
                <a16:creationId xmlns:a16="http://schemas.microsoft.com/office/drawing/2014/main" id="{145398E8-8A9A-4EB4-929F-0B9A9E30A974}"/>
              </a:ext>
            </a:extLst>
          </p:cNvPr>
          <p:cNvSpPr>
            <a:spLocks noGrp="1"/>
          </p:cNvSpPr>
          <p:nvPr/>
        </p:nvSpPr>
        <p:spPr>
          <a:xfrm>
            <a:off x="430816" y="5288375"/>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Check the area: 24 × 18 = 432 cm².</a:t>
            </a:r>
          </a:p>
        </p:txBody>
      </p:sp>
    </p:spTree>
    <p:extLst>
      <p:ext uri="{BB962C8B-B14F-4D97-AF65-F5344CB8AC3E}">
        <p14:creationId xmlns:p14="http://schemas.microsoft.com/office/powerpoint/2010/main" val="41587989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C3C: Feet, inches and the opening</a:t>
            </a:r>
          </a:p>
        </p:txBody>
      </p:sp>
      <p:sp>
        <p:nvSpPr>
          <p:cNvPr id="3" name="Handout reference C3C">
            <a:extLst>
              <a:ext uri="{FF2B5EF4-FFF2-40B4-BE49-F238E27FC236}">
                <a16:creationId xmlns:a16="http://schemas.microsoft.com/office/drawing/2014/main" id="{F3BFD9F9-E7E0-44C0-B45B-7D4C9E325753}"/>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C3C</a:t>
            </a:r>
          </a:p>
        </p:txBody>
      </p:sp>
      <p:sp>
        <p:nvSpPr>
          <p:cNvPr id="4" name="Content 124">
            <a:extLst>
              <a:ext uri="{FF2B5EF4-FFF2-40B4-BE49-F238E27FC236}">
                <a16:creationId xmlns:a16="http://schemas.microsoft.com/office/drawing/2014/main" id="{9F4E5B96-E4DC-4134-96E2-E6E2330E254E}"/>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The whole card is 28 cm by 22 cm.</a:t>
            </a:r>
          </a:p>
        </p:txBody>
      </p:sp>
      <p:sp>
        <p:nvSpPr>
          <p:cNvPr id="5" name="Content 125">
            <a:extLst>
              <a:ext uri="{FF2B5EF4-FFF2-40B4-BE49-F238E27FC236}">
                <a16:creationId xmlns:a16="http://schemas.microsoft.com/office/drawing/2014/main" id="{AB89318F-2E89-4111-8B8A-80EA75897E94}"/>
              </a:ext>
            </a:extLst>
          </p:cNvPr>
          <p:cNvSpPr>
            <a:spLocks noGrp="1"/>
          </p:cNvSpPr>
          <p:nvPr/>
        </p:nvSpPr>
        <p:spPr>
          <a:xfrm>
            <a:off x="430816" y="2524411"/>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The opening is 0.9 ft by 8.5 in.</a:t>
            </a:r>
          </a:p>
        </p:txBody>
      </p:sp>
      <p:sp>
        <p:nvSpPr>
          <p:cNvPr id="6" name="Content 126">
            <a:extLst>
              <a:ext uri="{FF2B5EF4-FFF2-40B4-BE49-F238E27FC236}">
                <a16:creationId xmlns:a16="http://schemas.microsoft.com/office/drawing/2014/main" id="{7796EBDB-FEDC-46A3-85A1-B08508067603}"/>
              </a:ext>
            </a:extLst>
          </p:cNvPr>
          <p:cNvSpPr>
            <a:spLocks noGrp="1"/>
          </p:cNvSpPr>
          <p:nvPr/>
        </p:nvSpPr>
        <p:spPr>
          <a:xfrm>
            <a:off x="430816" y="309619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The card stays flat, with corresponding edges parallel.</a:t>
            </a:r>
          </a:p>
        </p:txBody>
      </p:sp>
      <p:sp>
        <p:nvSpPr>
          <p:cNvPr id="7" name="Content 127">
            <a:extLst>
              <a:ext uri="{FF2B5EF4-FFF2-40B4-BE49-F238E27FC236}">
                <a16:creationId xmlns:a16="http://schemas.microsoft.com/office/drawing/2014/main" id="{08CB297D-F1FC-47FD-8E90-67FB9BCD45C9}"/>
              </a:ext>
            </a:extLst>
          </p:cNvPr>
          <p:cNvSpPr>
            <a:spLocks noGrp="1"/>
          </p:cNvSpPr>
          <p:nvPr/>
        </p:nvSpPr>
        <p:spPr>
          <a:xfrm>
            <a:off x="430816" y="3667982"/>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Use 1 ft = 12 in and 1 in = 2.54 cm.</a:t>
            </a:r>
          </a:p>
        </p:txBody>
      </p:sp>
      <p:sp>
        <p:nvSpPr>
          <p:cNvPr id="8" name="Content 128">
            <a:extLst>
              <a:ext uri="{FF2B5EF4-FFF2-40B4-BE49-F238E27FC236}">
                <a16:creationId xmlns:a16="http://schemas.microsoft.com/office/drawing/2014/main" id="{283AE6C5-1D1C-472B-82B8-5E3208C18A15}"/>
              </a:ext>
            </a:extLst>
          </p:cNvPr>
          <p:cNvSpPr>
            <a:spLocks noGrp="1"/>
          </p:cNvSpPr>
          <p:nvPr/>
        </p:nvSpPr>
        <p:spPr>
          <a:xfrm>
            <a:off x="430816" y="4239768"/>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Will the whole card fit without folding?</a:t>
            </a:r>
          </a:p>
        </p:txBody>
      </p:sp>
      <p:sp>
        <p:nvSpPr>
          <p:cNvPr id="9" name="Content 129">
            <a:extLst>
              <a:ext uri="{FF2B5EF4-FFF2-40B4-BE49-F238E27FC236}">
                <a16:creationId xmlns:a16="http://schemas.microsoft.com/office/drawing/2014/main" id="{5C9241E0-3AD6-4830-8B68-A8697C6ABAC8}"/>
              </a:ext>
            </a:extLst>
          </p:cNvPr>
          <p:cNvSpPr>
            <a:spLocks noGrp="1"/>
          </p:cNvSpPr>
          <p:nvPr/>
        </p:nvSpPr>
        <p:spPr>
          <a:xfrm>
            <a:off x="430816" y="4811554"/>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Show the two dimension comparisons.</a:t>
            </a:r>
          </a:p>
        </p:txBody>
      </p:sp>
    </p:spTree>
    <p:extLst>
      <p:ext uri="{BB962C8B-B14F-4D97-AF65-F5344CB8AC3E}">
        <p14:creationId xmlns:p14="http://schemas.microsoft.com/office/powerpoint/2010/main" val="41587989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C3C: The two dimension checks</a:t>
            </a:r>
          </a:p>
        </p:txBody>
      </p:sp>
      <p:sp>
        <p:nvSpPr>
          <p:cNvPr id="3" name="Handout reference C3C">
            <a:extLst>
              <a:ext uri="{FF2B5EF4-FFF2-40B4-BE49-F238E27FC236}">
                <a16:creationId xmlns:a16="http://schemas.microsoft.com/office/drawing/2014/main" id="{20F78A95-148A-467F-AAB6-37B0F1093371}"/>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C3C</a:t>
            </a:r>
          </a:p>
        </p:txBody>
      </p:sp>
      <p:sp>
        <p:nvSpPr>
          <p:cNvPr id="4" name="Content 130">
            <a:extLst>
              <a:ext uri="{FF2B5EF4-FFF2-40B4-BE49-F238E27FC236}">
                <a16:creationId xmlns:a16="http://schemas.microsoft.com/office/drawing/2014/main" id="{BF17AA30-C572-4C0A-B2F6-91B5C04BFC1A}"/>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Opening length: 0.9 × 12 × 2.54 = 27.432 cm</a:t>
            </a:r>
          </a:p>
        </p:txBody>
      </p:sp>
      <p:sp>
        <p:nvSpPr>
          <p:cNvPr id="5" name="Content 131">
            <a:extLst>
              <a:ext uri="{FF2B5EF4-FFF2-40B4-BE49-F238E27FC236}">
                <a16:creationId xmlns:a16="http://schemas.microsoft.com/office/drawing/2014/main" id="{75C94270-8806-4B62-A86E-B30318F6C5EB}"/>
              </a:ext>
            </a:extLst>
          </p:cNvPr>
          <p:cNvSpPr>
            <a:spLocks noGrp="1"/>
          </p:cNvSpPr>
          <p:nvPr/>
        </p:nvSpPr>
        <p:spPr>
          <a:xfrm>
            <a:off x="430816" y="2505361"/>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Opening width: 8.5 × 2.54 = 21.59 cm</a:t>
            </a:r>
          </a:p>
        </p:txBody>
      </p:sp>
      <p:sp>
        <p:nvSpPr>
          <p:cNvPr id="6" name="Content 132">
            <a:extLst>
              <a:ext uri="{FF2B5EF4-FFF2-40B4-BE49-F238E27FC236}">
                <a16:creationId xmlns:a16="http://schemas.microsoft.com/office/drawing/2014/main" id="{0F9F77FF-9C61-4ADB-B12C-41CD1AD68A24}"/>
              </a:ext>
            </a:extLst>
          </p:cNvPr>
          <p:cNvSpPr>
            <a:spLocks noGrp="1"/>
          </p:cNvSpPr>
          <p:nvPr/>
        </p:nvSpPr>
        <p:spPr>
          <a:xfrm>
            <a:off x="430816" y="305809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Card length: 28 cm &gt; 27.432 cm</a:t>
            </a:r>
          </a:p>
        </p:txBody>
      </p:sp>
      <p:sp>
        <p:nvSpPr>
          <p:cNvPr id="7" name="Content 133">
            <a:extLst>
              <a:ext uri="{FF2B5EF4-FFF2-40B4-BE49-F238E27FC236}">
                <a16:creationId xmlns:a16="http://schemas.microsoft.com/office/drawing/2014/main" id="{50B73CE6-8637-45D3-BED9-3B8EFA55F273}"/>
              </a:ext>
            </a:extLst>
          </p:cNvPr>
          <p:cNvSpPr>
            <a:spLocks noGrp="1"/>
          </p:cNvSpPr>
          <p:nvPr/>
        </p:nvSpPr>
        <p:spPr>
          <a:xfrm>
            <a:off x="430816" y="3610832"/>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Card width: 22 cm &gt; 21.59 cm</a:t>
            </a:r>
          </a:p>
        </p:txBody>
      </p:sp>
      <p:sp>
        <p:nvSpPr>
          <p:cNvPr id="8" name="Content 134">
            <a:extLst>
              <a:ext uri="{FF2B5EF4-FFF2-40B4-BE49-F238E27FC236}">
                <a16:creationId xmlns:a16="http://schemas.microsoft.com/office/drawing/2014/main" id="{07C3A6DC-E99C-481D-A597-B0D6EAF3EB8B}"/>
              </a:ext>
            </a:extLst>
          </p:cNvPr>
          <p:cNvSpPr>
            <a:spLocks noGrp="1"/>
          </p:cNvSpPr>
          <p:nvPr/>
        </p:nvSpPr>
        <p:spPr>
          <a:xfrm>
            <a:off x="430816" y="4163568"/>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The whole card does not fit under the stated conditions.</a:t>
            </a:r>
          </a:p>
        </p:txBody>
      </p:sp>
      <p:sp>
        <p:nvSpPr>
          <p:cNvPr id="9" name="Content 135">
            <a:extLst>
              <a:ext uri="{FF2B5EF4-FFF2-40B4-BE49-F238E27FC236}">
                <a16:creationId xmlns:a16="http://schemas.microsoft.com/office/drawing/2014/main" id="{B44CC3E2-DF76-4976-9AC6-48C1DE26A66C}"/>
              </a:ext>
            </a:extLst>
          </p:cNvPr>
          <p:cNvSpPr>
            <a:spLocks noGrp="1"/>
          </p:cNvSpPr>
          <p:nvPr/>
        </p:nvSpPr>
        <p:spPr>
          <a:xfrm>
            <a:off x="430816" y="4716304"/>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The 24 cm × 18 cm printed area is not the size of the whole card.</a:t>
            </a:r>
          </a:p>
        </p:txBody>
      </p:sp>
    </p:spTree>
    <p:extLst>
      <p:ext uri="{BB962C8B-B14F-4D97-AF65-F5344CB8AC3E}">
        <p14:creationId xmlns:p14="http://schemas.microsoft.com/office/powerpoint/2010/main" val="41587989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DFC3C-67FB-B165-3C59-7A316881487C}"/>
              </a:ext>
            </a:extLst>
          </p:cNvPr>
          <p:cNvSpPr>
            <a:spLocks noGrp="1"/>
          </p:cNvSpPr>
          <p:nvPr>
            <p:ph type="ctrTitle"/>
          </p:nvPr>
        </p:nvSpPr>
        <p:spPr>
          <a:xfrm>
            <a:off x="356101" y="2154457"/>
            <a:ext cx="5739899" cy="3488697"/>
          </a:xfrm>
        </p:spPr>
        <p:txBody>
          <a:bodyPr>
            <a:normAutofit/>
          </a:bodyPr>
          <a:lstStyle/>
          <a:p>
            <a:r>
              <a:t>Section 4:</a:t>
            </a:r>
          </a:p>
          <a:p>
            <a:r>
              <a:t>Materials and</a:t>
            </a:r>
          </a:p>
          <a:p>
            <a:r>
              <a:t>Proportion</a:t>
            </a:r>
          </a:p>
        </p:txBody>
      </p:sp>
    </p:spTree>
    <p:extLst>
      <p:ext uri="{BB962C8B-B14F-4D97-AF65-F5344CB8AC3E}">
        <p14:creationId xmlns:p14="http://schemas.microsoft.com/office/powerpoint/2010/main" val="3422886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C4A: Two stages of material loss</a:t>
            </a:r>
          </a:p>
        </p:txBody>
      </p:sp>
      <p:sp>
        <p:nvSpPr>
          <p:cNvPr id="3" name="Handout reference C4A">
            <a:extLst>
              <a:ext uri="{FF2B5EF4-FFF2-40B4-BE49-F238E27FC236}">
                <a16:creationId xmlns:a16="http://schemas.microsoft.com/office/drawing/2014/main" id="{B8181C8B-197F-4951-BCEC-A7687DAE686B}"/>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C4A</a:t>
            </a:r>
          </a:p>
        </p:txBody>
      </p:sp>
      <p:sp>
        <p:nvSpPr>
          <p:cNvPr id="4" name="Clarified text 24">
            <a:extLst>
              <a:ext uri="{FF2B5EF4-FFF2-40B4-BE49-F238E27FC236}">
                <a16:creationId xmlns:a16="http://schemas.microsoft.com/office/drawing/2014/main" id="{DCF0DDCB-3767-464B-9DE1-45BFFF3E4D42}"/>
              </a:ext>
            </a:extLst>
          </p:cNvPr>
          <p:cNvSpPr>
            <a:spLocks noGrp="1"/>
          </p:cNvSpPr>
          <p:nvPr/>
        </p:nvSpPr>
        <p:spPr>
          <a:xfrm>
            <a:off x="430816" y="1952625"/>
            <a:ext cx="11293412" cy="72447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GreenSip needs 1,137 bottles that pass inspection. Use the unrounded mass of one</a:t>
            </a:r>
          </a:p>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bottle from C3A.</a:t>
            </a:r>
          </a:p>
        </p:txBody>
      </p:sp>
      <p:sp>
        <p:nvSpPr>
          <p:cNvPr id="5" name="Clarified text 25">
            <a:extLst>
              <a:ext uri="{FF2B5EF4-FFF2-40B4-BE49-F238E27FC236}">
                <a16:creationId xmlns:a16="http://schemas.microsoft.com/office/drawing/2014/main" id="{A2662EEA-91C8-4672-BCBB-F7D702B001E8}"/>
              </a:ext>
            </a:extLst>
          </p:cNvPr>
          <p:cNvSpPr>
            <a:spLocks noGrp="1"/>
          </p:cNvSpPr>
          <p:nvPr/>
        </p:nvSpPr>
        <p:spPr>
          <a:xfrm>
            <a:off x="430816" y="2800922"/>
            <a:ext cx="11293412" cy="72447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Manufacturing loses 7.5% of the starting material. Inspection rejects 2% of the</a:t>
            </a:r>
          </a:p>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mass left after manufacturing.</a:t>
            </a:r>
          </a:p>
        </p:txBody>
      </p:sp>
      <p:sp>
        <p:nvSpPr>
          <p:cNvPr id="6" name="Clarified text 26">
            <a:extLst>
              <a:ext uri="{FF2B5EF4-FFF2-40B4-BE49-F238E27FC236}">
                <a16:creationId xmlns:a16="http://schemas.microsoft.com/office/drawing/2014/main" id="{0C9FD1A3-35E7-4232-8287-4C923402DB8A}"/>
              </a:ext>
            </a:extLst>
          </p:cNvPr>
          <p:cNvSpPr>
            <a:spLocks noGrp="1"/>
          </p:cNvSpPr>
          <p:nvPr/>
        </p:nvSpPr>
        <p:spPr>
          <a:xfrm>
            <a:off x="430816" y="3649218"/>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Find the total mass of bottles that pass inspection, in kg.</a:t>
            </a:r>
          </a:p>
        </p:txBody>
      </p:sp>
      <p:sp>
        <p:nvSpPr>
          <p:cNvPr id="7" name="Clarified text 27">
            <a:extLst>
              <a:ext uri="{FF2B5EF4-FFF2-40B4-BE49-F238E27FC236}">
                <a16:creationId xmlns:a16="http://schemas.microsoft.com/office/drawing/2014/main" id="{691A7A1C-7778-49CD-8FB5-F40B2FB8E1F2}"/>
              </a:ext>
            </a:extLst>
          </p:cNvPr>
          <p:cNvSpPr>
            <a:spLocks noGrp="1"/>
          </p:cNvSpPr>
          <p:nvPr/>
        </p:nvSpPr>
        <p:spPr>
          <a:xfrm>
            <a:off x="430816" y="4163854"/>
            <a:ext cx="11293412" cy="72447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How much material must GreenSip start with? How much is lost or</a:t>
            </a:r>
          </a:p>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rejected in total?</a:t>
            </a:r>
          </a:p>
        </p:txBody>
      </p:sp>
      <p:sp>
        <p:nvSpPr>
          <p:cNvPr id="8" name="Clarified text 28">
            <a:extLst>
              <a:ext uri="{FF2B5EF4-FFF2-40B4-BE49-F238E27FC236}">
                <a16:creationId xmlns:a16="http://schemas.microsoft.com/office/drawing/2014/main" id="{2FE3B385-9D8B-436A-80E1-AF07E28373CC}"/>
              </a:ext>
            </a:extLst>
          </p:cNvPr>
          <p:cNvSpPr>
            <a:spLocks noGrp="1"/>
          </p:cNvSpPr>
          <p:nvPr/>
        </p:nvSpPr>
        <p:spPr>
          <a:xfrm>
            <a:off x="430816" y="5012150"/>
            <a:ext cx="11293412" cy="72447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Is the overall loss 7.5% + 2% = 9.5%? Calculate the correct percentage</a:t>
            </a:r>
          </a:p>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to 2 decimal places and explain.</a:t>
            </a:r>
          </a:p>
        </p:txBody>
      </p:sp>
    </p:spTree>
    <p:extLst>
      <p:ext uri="{BB962C8B-B14F-4D97-AF65-F5344CB8AC3E}">
        <p14:creationId xmlns:p14="http://schemas.microsoft.com/office/powerpoint/2010/main" val="41587989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C4A: Working back to the input</a:t>
            </a:r>
          </a:p>
        </p:txBody>
      </p:sp>
      <p:sp>
        <p:nvSpPr>
          <p:cNvPr id="3" name="Handout reference C4A">
            <a:extLst>
              <a:ext uri="{FF2B5EF4-FFF2-40B4-BE49-F238E27FC236}">
                <a16:creationId xmlns:a16="http://schemas.microsoft.com/office/drawing/2014/main" id="{DB4C23EE-4875-415A-B190-98BA2CDDA39E}"/>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C4A</a:t>
            </a:r>
          </a:p>
        </p:txBody>
      </p:sp>
      <p:sp>
        <p:nvSpPr>
          <p:cNvPr id="4" name="Clarified text 105">
            <a:extLst>
              <a:ext uri="{FF2B5EF4-FFF2-40B4-BE49-F238E27FC236}">
                <a16:creationId xmlns:a16="http://schemas.microsoft.com/office/drawing/2014/main" id="{652CEA32-51A2-473E-BB64-B76AFEB94525}"/>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dirty="0">
                <a:solidFill>
                  <a:srgbClr val="111111"/>
                </a:solidFill>
                <a:latin typeface="Aptos"/>
                <a:ea typeface="Aptos"/>
                <a:cs typeface="Aptos"/>
              </a:rPr>
              <a:t>Q1  Accepted mass F = 1,137x ≈ 324.1 kg.</a:t>
            </a:r>
          </a:p>
        </p:txBody>
      </p:sp>
      <p:sp>
        <p:nvSpPr>
          <p:cNvPr id="5" name="Clarified text 106">
            <a:extLst>
              <a:ext uri="{FF2B5EF4-FFF2-40B4-BE49-F238E27FC236}">
                <a16:creationId xmlns:a16="http://schemas.microsoft.com/office/drawing/2014/main" id="{4C25DE1B-AC34-49EB-91D7-F62ADDA7EA8E}"/>
              </a:ext>
            </a:extLst>
          </p:cNvPr>
          <p:cNvSpPr>
            <a:spLocks noGrp="1"/>
          </p:cNvSpPr>
          <p:nvPr/>
        </p:nvSpPr>
        <p:spPr>
          <a:xfrm>
            <a:off x="430816" y="2429161"/>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Keep the unrounded F = 324.099787… kg in the next calculation.</a:t>
            </a:r>
          </a:p>
        </p:txBody>
      </p:sp>
      <p:sp>
        <p:nvSpPr>
          <p:cNvPr id="6" name="Clarified text 107">
            <a:extLst>
              <a:ext uri="{FF2B5EF4-FFF2-40B4-BE49-F238E27FC236}">
                <a16:creationId xmlns:a16="http://schemas.microsoft.com/office/drawing/2014/main" id="{C59346AF-41B7-47D5-8E02-A0F9FEE78F13}"/>
              </a:ext>
            </a:extLst>
          </p:cNvPr>
          <p:cNvSpPr>
            <a:spLocks noGrp="1"/>
          </p:cNvSpPr>
          <p:nvPr/>
        </p:nvSpPr>
        <p:spPr>
          <a:xfrm>
            <a:off x="430816" y="2905697"/>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Let M be the starting mass, before either loss.</a:t>
            </a:r>
          </a:p>
        </p:txBody>
      </p:sp>
      <p:sp>
        <p:nvSpPr>
          <p:cNvPr id="7" name="Clarified text 108">
            <a:extLst>
              <a:ext uri="{FF2B5EF4-FFF2-40B4-BE49-F238E27FC236}">
                <a16:creationId xmlns:a16="http://schemas.microsoft.com/office/drawing/2014/main" id="{8350770A-8D2D-4E62-86C4-6FECF1D7D100}"/>
              </a:ext>
            </a:extLst>
          </p:cNvPr>
          <p:cNvSpPr>
            <a:spLocks noGrp="1"/>
          </p:cNvSpPr>
          <p:nvPr/>
        </p:nvSpPr>
        <p:spPr>
          <a:xfrm>
            <a:off x="430816" y="3382232"/>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Stage 1 keeps 100% − 7.5% = 92.5%, or 0.925.</a:t>
            </a:r>
          </a:p>
        </p:txBody>
      </p:sp>
      <p:sp>
        <p:nvSpPr>
          <p:cNvPr id="8" name="Clarified text 109">
            <a:extLst>
              <a:ext uri="{FF2B5EF4-FFF2-40B4-BE49-F238E27FC236}">
                <a16:creationId xmlns:a16="http://schemas.microsoft.com/office/drawing/2014/main" id="{43D659A5-C216-49FF-9772-FEA871BA2955}"/>
              </a:ext>
            </a:extLst>
          </p:cNvPr>
          <p:cNvSpPr>
            <a:spLocks noGrp="1"/>
          </p:cNvSpPr>
          <p:nvPr/>
        </p:nvSpPr>
        <p:spPr>
          <a:xfrm>
            <a:off x="430816" y="3858768"/>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Stage 2 keeps 100% − 2% = 98%, or 0.98, of what remains.</a:t>
            </a:r>
          </a:p>
        </p:txBody>
      </p:sp>
      <p:sp>
        <p:nvSpPr>
          <p:cNvPr id="9" name="Clarified text 110">
            <a:extLst>
              <a:ext uri="{FF2B5EF4-FFF2-40B4-BE49-F238E27FC236}">
                <a16:creationId xmlns:a16="http://schemas.microsoft.com/office/drawing/2014/main" id="{68ECD728-BB29-44B0-9ABF-DDBBE9946815}"/>
              </a:ext>
            </a:extLst>
          </p:cNvPr>
          <p:cNvSpPr>
            <a:spLocks noGrp="1"/>
          </p:cNvSpPr>
          <p:nvPr/>
        </p:nvSpPr>
        <p:spPr>
          <a:xfrm>
            <a:off x="430816" y="4335304"/>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Therefore F = M × 0.925 × 0.98.</a:t>
            </a:r>
          </a:p>
        </p:txBody>
      </p:sp>
      <p:sp>
        <p:nvSpPr>
          <p:cNvPr id="10" name="Clarified text 111">
            <a:extLst>
              <a:ext uri="{FF2B5EF4-FFF2-40B4-BE49-F238E27FC236}">
                <a16:creationId xmlns:a16="http://schemas.microsoft.com/office/drawing/2014/main" id="{AC393D97-2A9A-4766-A2A6-60DF8D8325AF}"/>
              </a:ext>
            </a:extLst>
          </p:cNvPr>
          <p:cNvSpPr>
            <a:spLocks noGrp="1"/>
          </p:cNvSpPr>
          <p:nvPr/>
        </p:nvSpPr>
        <p:spPr>
          <a:xfrm>
            <a:off x="685800" y="5295900"/>
            <a:ext cx="904875"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M =</a:t>
            </a:r>
          </a:p>
        </p:txBody>
      </p:sp>
      <p:sp>
        <p:nvSpPr>
          <p:cNvPr id="11" name="Clarified text 112">
            <a:extLst>
              <a:ext uri="{FF2B5EF4-FFF2-40B4-BE49-F238E27FC236}">
                <a16:creationId xmlns:a16="http://schemas.microsoft.com/office/drawing/2014/main" id="{F49CFCAD-7A6B-4183-8239-D37A2D87368E}"/>
              </a:ext>
            </a:extLst>
          </p:cNvPr>
          <p:cNvSpPr>
            <a:spLocks noGrp="1"/>
          </p:cNvSpPr>
          <p:nvPr/>
        </p:nvSpPr>
        <p:spPr>
          <a:xfrm>
            <a:off x="1590675" y="5048250"/>
            <a:ext cx="257175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324.099787…</a:t>
            </a:r>
          </a:p>
        </p:txBody>
      </p:sp>
      <p:sp>
        <p:nvSpPr>
          <p:cNvPr id="12" name="Fraction bar">
            <a:extLst>
              <a:ext uri="{FF2B5EF4-FFF2-40B4-BE49-F238E27FC236}">
                <a16:creationId xmlns:a16="http://schemas.microsoft.com/office/drawing/2014/main" id="{DAC725E2-0B54-47B1-8317-2EA874853FB3}"/>
              </a:ext>
            </a:extLst>
          </p:cNvPr>
          <p:cNvSpPr>
            <a:spLocks noGrp="1"/>
          </p:cNvSpPr>
          <p:nvPr/>
        </p:nvSpPr>
        <p:spPr>
          <a:xfrm>
            <a:off x="1590675" y="5457825"/>
            <a:ext cx="2571750" cy="0"/>
          </a:xfrm>
          <a:prstGeom prst="line">
            <a:avLst/>
          </a:prstGeom>
          <a:noFill/>
          <a:ln w="14288">
            <a:solidFill>
              <a:srgbClr val="111111"/>
            </a:solidFill>
          </a:ln>
        </p:spPr>
        <p:txBody>
          <a:bodyPr/>
          <a:lstStyle/>
          <a:p>
            <a:endParaRPr lang="en-US"/>
          </a:p>
        </p:txBody>
      </p:sp>
      <p:sp>
        <p:nvSpPr>
          <p:cNvPr id="13" name="Clarified text 113">
            <a:extLst>
              <a:ext uri="{FF2B5EF4-FFF2-40B4-BE49-F238E27FC236}">
                <a16:creationId xmlns:a16="http://schemas.microsoft.com/office/drawing/2014/main" id="{6121A18B-845A-42F2-A96A-820BB0AB012A}"/>
              </a:ext>
            </a:extLst>
          </p:cNvPr>
          <p:cNvSpPr>
            <a:spLocks noGrp="1"/>
          </p:cNvSpPr>
          <p:nvPr/>
        </p:nvSpPr>
        <p:spPr>
          <a:xfrm>
            <a:off x="1590675" y="5495925"/>
            <a:ext cx="257175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0.925 × 0.98</a:t>
            </a:r>
          </a:p>
        </p:txBody>
      </p:sp>
      <p:sp>
        <p:nvSpPr>
          <p:cNvPr id="14" name="Clarified text 114">
            <a:extLst>
              <a:ext uri="{FF2B5EF4-FFF2-40B4-BE49-F238E27FC236}">
                <a16:creationId xmlns:a16="http://schemas.microsoft.com/office/drawing/2014/main" id="{6FB7CBD0-8247-4871-9F9A-FC8022CED238}"/>
              </a:ext>
            </a:extLst>
          </p:cNvPr>
          <p:cNvSpPr>
            <a:spLocks noGrp="1"/>
          </p:cNvSpPr>
          <p:nvPr/>
        </p:nvSpPr>
        <p:spPr>
          <a:xfrm>
            <a:off x="4333875" y="5295900"/>
            <a:ext cx="7391400"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 357.528723… ≈ 357.5 kg</a:t>
            </a:r>
          </a:p>
        </p:txBody>
      </p:sp>
    </p:spTree>
    <p:extLst>
      <p:ext uri="{BB962C8B-B14F-4D97-AF65-F5344CB8AC3E}">
        <p14:creationId xmlns:p14="http://schemas.microsoft.com/office/powerpoint/2010/main" val="41587989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C4A: How much material is lost?</a:t>
            </a:r>
          </a:p>
        </p:txBody>
      </p:sp>
      <p:sp>
        <p:nvSpPr>
          <p:cNvPr id="3" name="Handout reference C4A">
            <a:extLst>
              <a:ext uri="{FF2B5EF4-FFF2-40B4-BE49-F238E27FC236}">
                <a16:creationId xmlns:a16="http://schemas.microsoft.com/office/drawing/2014/main" id="{DB4C23EE-4875-415A-B190-98BA2CDDA39E}"/>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C4A</a:t>
            </a:r>
          </a:p>
        </p:txBody>
      </p:sp>
      <p:sp>
        <p:nvSpPr>
          <p:cNvPr id="4" name="Clarified text 115">
            <a:extLst>
              <a:ext uri="{FF2B5EF4-FFF2-40B4-BE49-F238E27FC236}">
                <a16:creationId xmlns:a16="http://schemas.microsoft.com/office/drawing/2014/main" id="{C9B30292-A980-4A85-B55F-F54685F7D99D}"/>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Total lost or rejected = starting mass − accepted mass.</a:t>
            </a:r>
          </a:p>
        </p:txBody>
      </p:sp>
      <p:sp>
        <p:nvSpPr>
          <p:cNvPr id="5" name="Clarified text 116">
            <a:extLst>
              <a:ext uri="{FF2B5EF4-FFF2-40B4-BE49-F238E27FC236}">
                <a16:creationId xmlns:a16="http://schemas.microsoft.com/office/drawing/2014/main" id="{20A0E230-E8BD-4DB1-8CF8-A4B3D7B07D6E}"/>
              </a:ext>
            </a:extLst>
          </p:cNvPr>
          <p:cNvSpPr>
            <a:spLocks noGrp="1"/>
          </p:cNvSpPr>
          <p:nvPr/>
        </p:nvSpPr>
        <p:spPr>
          <a:xfrm>
            <a:off x="430816" y="245773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357.528723… − 324.099787… ≈ 33.4 kg.</a:t>
            </a:r>
          </a:p>
        </p:txBody>
      </p:sp>
      <p:sp>
        <p:nvSpPr>
          <p:cNvPr id="6" name="Clarified text 117">
            <a:extLst>
              <a:ext uri="{FF2B5EF4-FFF2-40B4-BE49-F238E27FC236}">
                <a16:creationId xmlns:a16="http://schemas.microsoft.com/office/drawing/2014/main" id="{8B234150-EA1E-4F22-BE55-8CA3A49AC3CA}"/>
              </a:ext>
            </a:extLst>
          </p:cNvPr>
          <p:cNvSpPr>
            <a:spLocks noGrp="1"/>
          </p:cNvSpPr>
          <p:nvPr/>
        </p:nvSpPr>
        <p:spPr>
          <a:xfrm>
            <a:off x="430816" y="2962846"/>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Test the percentages with an imaginary 100 kg input.</a:t>
            </a:r>
          </a:p>
        </p:txBody>
      </p:sp>
      <p:sp>
        <p:nvSpPr>
          <p:cNvPr id="7" name="Clarified text 118">
            <a:extLst>
              <a:ext uri="{FF2B5EF4-FFF2-40B4-BE49-F238E27FC236}">
                <a16:creationId xmlns:a16="http://schemas.microsoft.com/office/drawing/2014/main" id="{CD223332-FA95-4B81-9F9F-9FB6A586B9C5}"/>
              </a:ext>
            </a:extLst>
          </p:cNvPr>
          <p:cNvSpPr>
            <a:spLocks noGrp="1"/>
          </p:cNvSpPr>
          <p:nvPr/>
        </p:nvSpPr>
        <p:spPr>
          <a:xfrm>
            <a:off x="430816" y="3467957"/>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Stage 1 loses 7.5 kg, leaving 92.5 kg.</a:t>
            </a:r>
          </a:p>
        </p:txBody>
      </p:sp>
      <p:sp>
        <p:nvSpPr>
          <p:cNvPr id="8" name="Clarified text 119">
            <a:extLst>
              <a:ext uri="{FF2B5EF4-FFF2-40B4-BE49-F238E27FC236}">
                <a16:creationId xmlns:a16="http://schemas.microsoft.com/office/drawing/2014/main" id="{44CBAB8C-506E-431A-9A1C-CE919AECDF27}"/>
              </a:ext>
            </a:extLst>
          </p:cNvPr>
          <p:cNvSpPr>
            <a:spLocks noGrp="1"/>
          </p:cNvSpPr>
          <p:nvPr/>
        </p:nvSpPr>
        <p:spPr>
          <a:xfrm>
            <a:off x="430816" y="3973068"/>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Stage 2 loses 2% of 92.5 kg: 0.02 × 92.5 = 1.85 kg.</a:t>
            </a:r>
          </a:p>
        </p:txBody>
      </p:sp>
      <p:sp>
        <p:nvSpPr>
          <p:cNvPr id="9" name="Clarified text 120">
            <a:extLst>
              <a:ext uri="{FF2B5EF4-FFF2-40B4-BE49-F238E27FC236}">
                <a16:creationId xmlns:a16="http://schemas.microsoft.com/office/drawing/2014/main" id="{B28C44DB-476A-47E7-AC29-B7E7E6232B90}"/>
              </a:ext>
            </a:extLst>
          </p:cNvPr>
          <p:cNvSpPr>
            <a:spLocks noGrp="1"/>
          </p:cNvSpPr>
          <p:nvPr/>
        </p:nvSpPr>
        <p:spPr>
          <a:xfrm>
            <a:off x="430816" y="4478179"/>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Total loss: 7.5 + 1.85 = 9.35 kg out of 100 kg.</a:t>
            </a:r>
          </a:p>
        </p:txBody>
      </p:sp>
      <p:sp>
        <p:nvSpPr>
          <p:cNvPr id="10" name="Clarified text 121">
            <a:extLst>
              <a:ext uri="{FF2B5EF4-FFF2-40B4-BE49-F238E27FC236}">
                <a16:creationId xmlns:a16="http://schemas.microsoft.com/office/drawing/2014/main" id="{E08098C3-DAA2-4183-9C16-E386381856D7}"/>
              </a:ext>
            </a:extLst>
          </p:cNvPr>
          <p:cNvSpPr>
            <a:spLocks noGrp="1"/>
          </p:cNvSpPr>
          <p:nvPr/>
        </p:nvSpPr>
        <p:spPr>
          <a:xfrm>
            <a:off x="430816" y="4983289"/>
            <a:ext cx="11293412" cy="72447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The combined loss is 9.35%, because the second loss acts on a smaller</a:t>
            </a:r>
          </a:p>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mass.</a:t>
            </a:r>
          </a:p>
        </p:txBody>
      </p:sp>
    </p:spTree>
    <p:extLst>
      <p:ext uri="{BB962C8B-B14F-4D97-AF65-F5344CB8AC3E}">
        <p14:creationId xmlns:p14="http://schemas.microsoft.com/office/powerpoint/2010/main" val="41587989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C4B: A three-material mixture</a:t>
            </a:r>
          </a:p>
        </p:txBody>
      </p:sp>
      <p:sp>
        <p:nvSpPr>
          <p:cNvPr id="3" name="Handout reference C4B">
            <a:extLst>
              <a:ext uri="{FF2B5EF4-FFF2-40B4-BE49-F238E27FC236}">
                <a16:creationId xmlns:a16="http://schemas.microsoft.com/office/drawing/2014/main" id="{856F544D-FBD7-4F73-B4D6-103C7D51623A}"/>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C4B</a:t>
            </a:r>
          </a:p>
        </p:txBody>
      </p:sp>
      <p:sp>
        <p:nvSpPr>
          <p:cNvPr id="4" name="Content 151">
            <a:extLst>
              <a:ext uri="{FF2B5EF4-FFF2-40B4-BE49-F238E27FC236}">
                <a16:creationId xmlns:a16="http://schemas.microsoft.com/office/drawing/2014/main" id="{78103C02-B4DD-4B98-BA7B-BF5B7151FA72}"/>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Split the unrounded input mass from C4A in the ratio A:B:C = 7:5:3.</a:t>
            </a:r>
          </a:p>
        </p:txBody>
      </p:sp>
      <p:sp>
        <p:nvSpPr>
          <p:cNvPr id="5" name="Content 152">
            <a:extLst>
              <a:ext uri="{FF2B5EF4-FFF2-40B4-BE49-F238E27FC236}">
                <a16:creationId xmlns:a16="http://schemas.microsoft.com/office/drawing/2014/main" id="{BC28B003-7D8B-4690-ADD8-C0307D66C2F4}"/>
              </a:ext>
            </a:extLst>
          </p:cNvPr>
          <p:cNvSpPr>
            <a:spLocks noGrp="1"/>
          </p:cNvSpPr>
          <p:nvPr/>
        </p:nvSpPr>
        <p:spPr>
          <a:xfrm>
            <a:off x="430816" y="243868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Assume both loss stages affect all three materials proportionally.</a:t>
            </a:r>
          </a:p>
        </p:txBody>
      </p:sp>
      <p:sp>
        <p:nvSpPr>
          <p:cNvPr id="6" name="Content 153">
            <a:extLst>
              <a:ext uri="{FF2B5EF4-FFF2-40B4-BE49-F238E27FC236}">
                <a16:creationId xmlns:a16="http://schemas.microsoft.com/office/drawing/2014/main" id="{7CA77261-9FD9-4DDB-B20B-63F0ED032D52}"/>
              </a:ext>
            </a:extLst>
          </p:cNvPr>
          <p:cNvSpPr>
            <a:spLocks noGrp="1"/>
          </p:cNvSpPr>
          <p:nvPr/>
        </p:nvSpPr>
        <p:spPr>
          <a:xfrm>
            <a:off x="430816" y="292474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Material A comes in full 25 lb sacks. Use 1 kg ≈ 2.205 lb.</a:t>
            </a:r>
          </a:p>
        </p:txBody>
      </p:sp>
      <p:sp>
        <p:nvSpPr>
          <p:cNvPr id="7" name="Content 154">
            <a:extLst>
              <a:ext uri="{FF2B5EF4-FFF2-40B4-BE49-F238E27FC236}">
                <a16:creationId xmlns:a16="http://schemas.microsoft.com/office/drawing/2014/main" id="{BF075EFD-6F47-4268-AA1F-7F5F6C358D51}"/>
              </a:ext>
            </a:extLst>
          </p:cNvPr>
          <p:cNvSpPr>
            <a:spLocks noGrp="1"/>
          </p:cNvSpPr>
          <p:nvPr/>
        </p:nvSpPr>
        <p:spPr>
          <a:xfrm>
            <a:off x="430816" y="3410807"/>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Calculate the required mass of A, B and C in kilograms.</a:t>
            </a:r>
          </a:p>
        </p:txBody>
      </p:sp>
      <p:sp>
        <p:nvSpPr>
          <p:cNvPr id="8" name="Content 155">
            <a:extLst>
              <a:ext uri="{FF2B5EF4-FFF2-40B4-BE49-F238E27FC236}">
                <a16:creationId xmlns:a16="http://schemas.microsoft.com/office/drawing/2014/main" id="{6B93EE4F-E35A-48AE-9F8C-3A41D59B9C8E}"/>
              </a:ext>
            </a:extLst>
          </p:cNvPr>
          <p:cNvSpPr>
            <a:spLocks noGrp="1"/>
          </p:cNvSpPr>
          <p:nvPr/>
        </p:nvSpPr>
        <p:spPr>
          <a:xfrm>
            <a:off x="430816" y="3896868"/>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Find the minimum number of sacks of A to order.</a:t>
            </a:r>
          </a:p>
        </p:txBody>
      </p:sp>
      <p:sp>
        <p:nvSpPr>
          <p:cNvPr id="9" name="Content 156">
            <a:extLst>
              <a:ext uri="{FF2B5EF4-FFF2-40B4-BE49-F238E27FC236}">
                <a16:creationId xmlns:a16="http://schemas.microsoft.com/office/drawing/2014/main" id="{B2F6E2D8-2826-4A5D-A96B-334322ECC227}"/>
              </a:ext>
            </a:extLst>
          </p:cNvPr>
          <p:cNvSpPr>
            <a:spLocks noGrp="1"/>
          </p:cNvSpPr>
          <p:nvPr/>
        </p:nvSpPr>
        <p:spPr>
          <a:xfrm>
            <a:off x="430816" y="4382929"/>
            <a:ext cx="11293412" cy="72447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How much unused A remains after making the exact mixture? Give</a:t>
            </a:r>
          </a:p>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your answer in kilograms.</a:t>
            </a:r>
          </a:p>
        </p:txBody>
      </p:sp>
    </p:spTree>
    <p:extLst>
      <p:ext uri="{BB962C8B-B14F-4D97-AF65-F5344CB8AC3E}">
        <p14:creationId xmlns:p14="http://schemas.microsoft.com/office/powerpoint/2010/main" val="41587989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C4B: Mixture and whole sacks</a:t>
            </a:r>
          </a:p>
        </p:txBody>
      </p:sp>
      <p:sp>
        <p:nvSpPr>
          <p:cNvPr id="3" name="Handout reference C4B">
            <a:extLst>
              <a:ext uri="{FF2B5EF4-FFF2-40B4-BE49-F238E27FC236}">
                <a16:creationId xmlns:a16="http://schemas.microsoft.com/office/drawing/2014/main" id="{18965BD2-0926-46CD-8553-B194F486FDA0}"/>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C4B</a:t>
            </a:r>
          </a:p>
        </p:txBody>
      </p:sp>
      <p:sp>
        <p:nvSpPr>
          <p:cNvPr id="4" name="Clarified text 122">
            <a:extLst>
              <a:ext uri="{FF2B5EF4-FFF2-40B4-BE49-F238E27FC236}">
                <a16:creationId xmlns:a16="http://schemas.microsoft.com/office/drawing/2014/main" id="{597B7AD0-5063-4699-90AA-AE5289DF50CA}"/>
              </a:ext>
            </a:extLst>
          </p:cNvPr>
          <p:cNvSpPr>
            <a:spLocks noGrp="1"/>
          </p:cNvSpPr>
          <p:nvPr/>
        </p:nvSpPr>
        <p:spPr>
          <a:xfrm>
            <a:off x="428625" y="1952625"/>
            <a:ext cx="11296650" cy="428625"/>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The mixture has 7 + 5 + 3 = 15 equal parts. Use unrounded M.</a:t>
            </a:r>
          </a:p>
        </p:txBody>
      </p:sp>
      <p:sp>
        <p:nvSpPr>
          <p:cNvPr id="5" name="Clarified text 123">
            <a:extLst>
              <a:ext uri="{FF2B5EF4-FFF2-40B4-BE49-F238E27FC236}">
                <a16:creationId xmlns:a16="http://schemas.microsoft.com/office/drawing/2014/main" id="{133E7E1A-D2A3-44D9-A4C0-DC4E498BB3DD}"/>
              </a:ext>
            </a:extLst>
          </p:cNvPr>
          <p:cNvSpPr>
            <a:spLocks noGrp="1"/>
          </p:cNvSpPr>
          <p:nvPr/>
        </p:nvSpPr>
        <p:spPr>
          <a:xfrm>
            <a:off x="428625" y="2714625"/>
            <a:ext cx="571500"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A =</a:t>
            </a:r>
          </a:p>
        </p:txBody>
      </p:sp>
      <p:sp>
        <p:nvSpPr>
          <p:cNvPr id="6" name="Clarified text 124">
            <a:extLst>
              <a:ext uri="{FF2B5EF4-FFF2-40B4-BE49-F238E27FC236}">
                <a16:creationId xmlns:a16="http://schemas.microsoft.com/office/drawing/2014/main" id="{C92DBC46-42A9-46B0-B277-97D4B7585FD1}"/>
              </a:ext>
            </a:extLst>
          </p:cNvPr>
          <p:cNvSpPr>
            <a:spLocks noGrp="1"/>
          </p:cNvSpPr>
          <p:nvPr/>
        </p:nvSpPr>
        <p:spPr>
          <a:xfrm>
            <a:off x="1000125" y="2466975"/>
            <a:ext cx="714375"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7</a:t>
            </a:r>
          </a:p>
        </p:txBody>
      </p:sp>
      <p:sp>
        <p:nvSpPr>
          <p:cNvPr id="7" name="Fraction bar">
            <a:extLst>
              <a:ext uri="{FF2B5EF4-FFF2-40B4-BE49-F238E27FC236}">
                <a16:creationId xmlns:a16="http://schemas.microsoft.com/office/drawing/2014/main" id="{05B33950-6D7A-4523-AD95-28B53E52C679}"/>
              </a:ext>
            </a:extLst>
          </p:cNvPr>
          <p:cNvSpPr>
            <a:spLocks noGrp="1"/>
          </p:cNvSpPr>
          <p:nvPr/>
        </p:nvSpPr>
        <p:spPr>
          <a:xfrm>
            <a:off x="1000125" y="2876550"/>
            <a:ext cx="714375" cy="0"/>
          </a:xfrm>
          <a:prstGeom prst="line">
            <a:avLst/>
          </a:prstGeom>
          <a:noFill/>
          <a:ln w="14288">
            <a:solidFill>
              <a:srgbClr val="111111"/>
            </a:solidFill>
          </a:ln>
        </p:spPr>
        <p:txBody>
          <a:bodyPr/>
          <a:lstStyle/>
          <a:p>
            <a:endParaRPr lang="en-US"/>
          </a:p>
        </p:txBody>
      </p:sp>
      <p:sp>
        <p:nvSpPr>
          <p:cNvPr id="8" name="Clarified text 125">
            <a:extLst>
              <a:ext uri="{FF2B5EF4-FFF2-40B4-BE49-F238E27FC236}">
                <a16:creationId xmlns:a16="http://schemas.microsoft.com/office/drawing/2014/main" id="{0023C552-E89A-4F37-A5E7-71AA26D259F5}"/>
              </a:ext>
            </a:extLst>
          </p:cNvPr>
          <p:cNvSpPr>
            <a:spLocks noGrp="1"/>
          </p:cNvSpPr>
          <p:nvPr/>
        </p:nvSpPr>
        <p:spPr>
          <a:xfrm>
            <a:off x="1000125" y="2914650"/>
            <a:ext cx="714375"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15</a:t>
            </a:r>
          </a:p>
        </p:txBody>
      </p:sp>
      <p:sp>
        <p:nvSpPr>
          <p:cNvPr id="9" name="Clarified text 126">
            <a:extLst>
              <a:ext uri="{FF2B5EF4-FFF2-40B4-BE49-F238E27FC236}">
                <a16:creationId xmlns:a16="http://schemas.microsoft.com/office/drawing/2014/main" id="{F8FDA884-205D-428E-BB9E-A348A07E47A2}"/>
              </a:ext>
            </a:extLst>
          </p:cNvPr>
          <p:cNvSpPr>
            <a:spLocks noGrp="1"/>
          </p:cNvSpPr>
          <p:nvPr/>
        </p:nvSpPr>
        <p:spPr>
          <a:xfrm>
            <a:off x="1885950" y="2714625"/>
            <a:ext cx="9839325"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M ≈ 166.8 kg</a:t>
            </a:r>
          </a:p>
        </p:txBody>
      </p:sp>
      <p:sp>
        <p:nvSpPr>
          <p:cNvPr id="10" name="Clarified text 127">
            <a:extLst>
              <a:ext uri="{FF2B5EF4-FFF2-40B4-BE49-F238E27FC236}">
                <a16:creationId xmlns:a16="http://schemas.microsoft.com/office/drawing/2014/main" id="{17778DC8-0D4A-4800-9B42-D17B1CF8E370}"/>
              </a:ext>
            </a:extLst>
          </p:cNvPr>
          <p:cNvSpPr>
            <a:spLocks noGrp="1"/>
          </p:cNvSpPr>
          <p:nvPr/>
        </p:nvSpPr>
        <p:spPr>
          <a:xfrm>
            <a:off x="4238625" y="2714625"/>
            <a:ext cx="571500"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B =</a:t>
            </a:r>
          </a:p>
        </p:txBody>
      </p:sp>
      <p:sp>
        <p:nvSpPr>
          <p:cNvPr id="11" name="Clarified text 128">
            <a:extLst>
              <a:ext uri="{FF2B5EF4-FFF2-40B4-BE49-F238E27FC236}">
                <a16:creationId xmlns:a16="http://schemas.microsoft.com/office/drawing/2014/main" id="{4E4A2A68-063A-4DFB-BC56-7D715CA6BA8A}"/>
              </a:ext>
            </a:extLst>
          </p:cNvPr>
          <p:cNvSpPr>
            <a:spLocks noGrp="1"/>
          </p:cNvSpPr>
          <p:nvPr/>
        </p:nvSpPr>
        <p:spPr>
          <a:xfrm>
            <a:off x="4810125" y="2466975"/>
            <a:ext cx="714375"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5</a:t>
            </a:r>
          </a:p>
        </p:txBody>
      </p:sp>
      <p:sp>
        <p:nvSpPr>
          <p:cNvPr id="12" name="Fraction bar">
            <a:extLst>
              <a:ext uri="{FF2B5EF4-FFF2-40B4-BE49-F238E27FC236}">
                <a16:creationId xmlns:a16="http://schemas.microsoft.com/office/drawing/2014/main" id="{C6104E93-9E44-497B-AA59-7C2207E44C0F}"/>
              </a:ext>
            </a:extLst>
          </p:cNvPr>
          <p:cNvSpPr>
            <a:spLocks noGrp="1"/>
          </p:cNvSpPr>
          <p:nvPr/>
        </p:nvSpPr>
        <p:spPr>
          <a:xfrm>
            <a:off x="4810125" y="2876550"/>
            <a:ext cx="714375" cy="0"/>
          </a:xfrm>
          <a:prstGeom prst="line">
            <a:avLst/>
          </a:prstGeom>
          <a:noFill/>
          <a:ln w="14288">
            <a:solidFill>
              <a:srgbClr val="111111"/>
            </a:solidFill>
          </a:ln>
        </p:spPr>
        <p:txBody>
          <a:bodyPr/>
          <a:lstStyle/>
          <a:p>
            <a:endParaRPr lang="en-US"/>
          </a:p>
        </p:txBody>
      </p:sp>
      <p:sp>
        <p:nvSpPr>
          <p:cNvPr id="13" name="Clarified text 129">
            <a:extLst>
              <a:ext uri="{FF2B5EF4-FFF2-40B4-BE49-F238E27FC236}">
                <a16:creationId xmlns:a16="http://schemas.microsoft.com/office/drawing/2014/main" id="{E5F9A07B-278D-4207-9A08-8F6E85D1918B}"/>
              </a:ext>
            </a:extLst>
          </p:cNvPr>
          <p:cNvSpPr>
            <a:spLocks noGrp="1"/>
          </p:cNvSpPr>
          <p:nvPr/>
        </p:nvSpPr>
        <p:spPr>
          <a:xfrm>
            <a:off x="4810125" y="2914650"/>
            <a:ext cx="714375"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15</a:t>
            </a:r>
          </a:p>
        </p:txBody>
      </p:sp>
      <p:sp>
        <p:nvSpPr>
          <p:cNvPr id="14" name="Clarified text 130">
            <a:extLst>
              <a:ext uri="{FF2B5EF4-FFF2-40B4-BE49-F238E27FC236}">
                <a16:creationId xmlns:a16="http://schemas.microsoft.com/office/drawing/2014/main" id="{8254694B-1288-40D5-8599-B4D37C69E17F}"/>
              </a:ext>
            </a:extLst>
          </p:cNvPr>
          <p:cNvSpPr>
            <a:spLocks noGrp="1"/>
          </p:cNvSpPr>
          <p:nvPr/>
        </p:nvSpPr>
        <p:spPr>
          <a:xfrm>
            <a:off x="5695950" y="2714625"/>
            <a:ext cx="6029325"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M ≈ 119.2 kg</a:t>
            </a:r>
          </a:p>
        </p:txBody>
      </p:sp>
      <p:sp>
        <p:nvSpPr>
          <p:cNvPr id="15" name="Clarified text 131">
            <a:extLst>
              <a:ext uri="{FF2B5EF4-FFF2-40B4-BE49-F238E27FC236}">
                <a16:creationId xmlns:a16="http://schemas.microsoft.com/office/drawing/2014/main" id="{4774D5B0-39B0-48A4-B6A2-5AB36A2FAECC}"/>
              </a:ext>
            </a:extLst>
          </p:cNvPr>
          <p:cNvSpPr>
            <a:spLocks noGrp="1"/>
          </p:cNvSpPr>
          <p:nvPr/>
        </p:nvSpPr>
        <p:spPr>
          <a:xfrm>
            <a:off x="8096250" y="2714625"/>
            <a:ext cx="571500"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C =</a:t>
            </a:r>
          </a:p>
        </p:txBody>
      </p:sp>
      <p:sp>
        <p:nvSpPr>
          <p:cNvPr id="16" name="Clarified text 132">
            <a:extLst>
              <a:ext uri="{FF2B5EF4-FFF2-40B4-BE49-F238E27FC236}">
                <a16:creationId xmlns:a16="http://schemas.microsoft.com/office/drawing/2014/main" id="{FC817CDD-7A61-426B-BADE-B71A5D132806}"/>
              </a:ext>
            </a:extLst>
          </p:cNvPr>
          <p:cNvSpPr>
            <a:spLocks noGrp="1"/>
          </p:cNvSpPr>
          <p:nvPr/>
        </p:nvSpPr>
        <p:spPr>
          <a:xfrm>
            <a:off x="8667750" y="2466975"/>
            <a:ext cx="714375"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3</a:t>
            </a:r>
          </a:p>
        </p:txBody>
      </p:sp>
      <p:sp>
        <p:nvSpPr>
          <p:cNvPr id="17" name="Fraction bar">
            <a:extLst>
              <a:ext uri="{FF2B5EF4-FFF2-40B4-BE49-F238E27FC236}">
                <a16:creationId xmlns:a16="http://schemas.microsoft.com/office/drawing/2014/main" id="{F87CF5AD-AE79-41D2-BB96-4636EB351B7D}"/>
              </a:ext>
            </a:extLst>
          </p:cNvPr>
          <p:cNvSpPr>
            <a:spLocks noGrp="1"/>
          </p:cNvSpPr>
          <p:nvPr/>
        </p:nvSpPr>
        <p:spPr>
          <a:xfrm>
            <a:off x="8667750" y="2876550"/>
            <a:ext cx="714375" cy="0"/>
          </a:xfrm>
          <a:prstGeom prst="line">
            <a:avLst/>
          </a:prstGeom>
          <a:noFill/>
          <a:ln w="14288">
            <a:solidFill>
              <a:srgbClr val="111111"/>
            </a:solidFill>
          </a:ln>
        </p:spPr>
        <p:txBody>
          <a:bodyPr/>
          <a:lstStyle/>
          <a:p>
            <a:endParaRPr lang="en-US"/>
          </a:p>
        </p:txBody>
      </p:sp>
      <p:sp>
        <p:nvSpPr>
          <p:cNvPr id="18" name="Clarified text 133">
            <a:extLst>
              <a:ext uri="{FF2B5EF4-FFF2-40B4-BE49-F238E27FC236}">
                <a16:creationId xmlns:a16="http://schemas.microsoft.com/office/drawing/2014/main" id="{FC807C34-B366-4451-A7B5-2CB36CED663E}"/>
              </a:ext>
            </a:extLst>
          </p:cNvPr>
          <p:cNvSpPr>
            <a:spLocks noGrp="1"/>
          </p:cNvSpPr>
          <p:nvPr/>
        </p:nvSpPr>
        <p:spPr>
          <a:xfrm>
            <a:off x="8667750" y="2914650"/>
            <a:ext cx="714375"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15</a:t>
            </a:r>
          </a:p>
        </p:txBody>
      </p:sp>
      <p:sp>
        <p:nvSpPr>
          <p:cNvPr id="19" name="Clarified text 134">
            <a:extLst>
              <a:ext uri="{FF2B5EF4-FFF2-40B4-BE49-F238E27FC236}">
                <a16:creationId xmlns:a16="http://schemas.microsoft.com/office/drawing/2014/main" id="{E0952133-AF66-4C87-8604-AEB6095818D1}"/>
              </a:ext>
            </a:extLst>
          </p:cNvPr>
          <p:cNvSpPr>
            <a:spLocks noGrp="1"/>
          </p:cNvSpPr>
          <p:nvPr/>
        </p:nvSpPr>
        <p:spPr>
          <a:xfrm>
            <a:off x="9553575" y="2714625"/>
            <a:ext cx="2171700"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M ≈ 71.5 kg</a:t>
            </a:r>
          </a:p>
        </p:txBody>
      </p:sp>
      <p:sp>
        <p:nvSpPr>
          <p:cNvPr id="20" name="Clarified text 135">
            <a:extLst>
              <a:ext uri="{FF2B5EF4-FFF2-40B4-BE49-F238E27FC236}">
                <a16:creationId xmlns:a16="http://schemas.microsoft.com/office/drawing/2014/main" id="{07783369-6D79-42BE-AFB2-3A8F0F6DC84E}"/>
              </a:ext>
            </a:extLst>
          </p:cNvPr>
          <p:cNvSpPr>
            <a:spLocks noGrp="1"/>
          </p:cNvSpPr>
          <p:nvPr/>
        </p:nvSpPr>
        <p:spPr>
          <a:xfrm>
            <a:off x="428625" y="3533775"/>
            <a:ext cx="11296650" cy="419100"/>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Convert A to pounds, then divide by 25 lb per sack.</a:t>
            </a:r>
          </a:p>
        </p:txBody>
      </p:sp>
      <p:sp>
        <p:nvSpPr>
          <p:cNvPr id="21" name="Clarified text 136">
            <a:extLst>
              <a:ext uri="{FF2B5EF4-FFF2-40B4-BE49-F238E27FC236}">
                <a16:creationId xmlns:a16="http://schemas.microsoft.com/office/drawing/2014/main" id="{4655CF73-5989-4EDA-B9AB-856CAFCF7373}"/>
              </a:ext>
            </a:extLst>
          </p:cNvPr>
          <p:cNvSpPr>
            <a:spLocks noGrp="1"/>
          </p:cNvSpPr>
          <p:nvPr/>
        </p:nvSpPr>
        <p:spPr>
          <a:xfrm>
            <a:off x="685800" y="4257675"/>
            <a:ext cx="1095375" cy="495300"/>
          </a:xfrm>
          <a:prstGeom prst="rect">
            <a:avLst/>
          </a:prstGeom>
          <a:noFill/>
          <a:ln w="0">
            <a:noFill/>
          </a:ln>
        </p:spPr>
        <p:txBody>
          <a:bodyPr wrap="square" lIns="0" tIns="0" rIns="0" bIns="0" anchor="t">
            <a:noAutofit/>
          </a:bodyPr>
          <a:lstStyle/>
          <a:p>
            <a:pPr algn="l">
              <a:lnSpc>
                <a:spcPct val="108000"/>
              </a:lnSpc>
              <a:buNone/>
              <a:defRPr sz="2250" b="0">
                <a:solidFill>
                  <a:srgbClr val="111111"/>
                </a:solidFill>
                <a:latin typeface="Aptos"/>
                <a:ea typeface="Aptos"/>
                <a:cs typeface="Aptos"/>
              </a:defRPr>
            </a:pPr>
            <a:r>
              <a:rPr sz="2250" b="0">
                <a:solidFill>
                  <a:srgbClr val="111111"/>
                </a:solidFill>
                <a:latin typeface="Aptos"/>
                <a:ea typeface="Aptos"/>
                <a:cs typeface="Aptos"/>
              </a:rPr>
              <a:t>Sacks =</a:t>
            </a:r>
          </a:p>
        </p:txBody>
      </p:sp>
      <p:sp>
        <p:nvSpPr>
          <p:cNvPr id="22" name="Clarified text 137">
            <a:extLst>
              <a:ext uri="{FF2B5EF4-FFF2-40B4-BE49-F238E27FC236}">
                <a16:creationId xmlns:a16="http://schemas.microsoft.com/office/drawing/2014/main" id="{65AB0F58-FB9F-4164-979D-E868A55AFB7A}"/>
              </a:ext>
            </a:extLst>
          </p:cNvPr>
          <p:cNvSpPr>
            <a:spLocks noGrp="1"/>
          </p:cNvSpPr>
          <p:nvPr/>
        </p:nvSpPr>
        <p:spPr>
          <a:xfrm>
            <a:off x="1781175" y="4010025"/>
            <a:ext cx="3714750" cy="400050"/>
          </a:xfrm>
          <a:prstGeom prst="rect">
            <a:avLst/>
          </a:prstGeom>
          <a:noFill/>
          <a:ln w="0">
            <a:noFill/>
          </a:ln>
        </p:spPr>
        <p:txBody>
          <a:bodyPr wrap="square" lIns="0" tIns="0" rIns="0" bIns="0" anchor="t">
            <a:noAutofit/>
          </a:bodyPr>
          <a:lstStyle/>
          <a:p>
            <a:pPr algn="ctr">
              <a:lnSpc>
                <a:spcPct val="108000"/>
              </a:lnSpc>
              <a:buNone/>
              <a:defRPr sz="2250" b="0">
                <a:solidFill>
                  <a:srgbClr val="111111"/>
                </a:solidFill>
                <a:latin typeface="Aptos"/>
                <a:ea typeface="Aptos"/>
                <a:cs typeface="Aptos"/>
              </a:defRPr>
            </a:pPr>
            <a:r>
              <a:rPr sz="2250" b="0">
                <a:solidFill>
                  <a:srgbClr val="111111"/>
                </a:solidFill>
                <a:latin typeface="Aptos"/>
                <a:ea typeface="Aptos"/>
                <a:cs typeface="Aptos"/>
              </a:rPr>
              <a:t>166.846737… × 2.205</a:t>
            </a:r>
          </a:p>
        </p:txBody>
      </p:sp>
      <p:sp>
        <p:nvSpPr>
          <p:cNvPr id="23" name="Fraction bar">
            <a:extLst>
              <a:ext uri="{FF2B5EF4-FFF2-40B4-BE49-F238E27FC236}">
                <a16:creationId xmlns:a16="http://schemas.microsoft.com/office/drawing/2014/main" id="{FDA952A8-C825-4945-B029-CB64346C5F70}"/>
              </a:ext>
            </a:extLst>
          </p:cNvPr>
          <p:cNvSpPr>
            <a:spLocks noGrp="1"/>
          </p:cNvSpPr>
          <p:nvPr/>
        </p:nvSpPr>
        <p:spPr>
          <a:xfrm>
            <a:off x="1781175" y="4419600"/>
            <a:ext cx="3714750" cy="0"/>
          </a:xfrm>
          <a:prstGeom prst="line">
            <a:avLst/>
          </a:prstGeom>
          <a:noFill/>
          <a:ln w="14288">
            <a:solidFill>
              <a:srgbClr val="111111"/>
            </a:solidFill>
          </a:ln>
        </p:spPr>
        <p:txBody>
          <a:bodyPr/>
          <a:lstStyle/>
          <a:p>
            <a:endParaRPr lang="en-US"/>
          </a:p>
        </p:txBody>
      </p:sp>
      <p:sp>
        <p:nvSpPr>
          <p:cNvPr id="24" name="Clarified text 138">
            <a:extLst>
              <a:ext uri="{FF2B5EF4-FFF2-40B4-BE49-F238E27FC236}">
                <a16:creationId xmlns:a16="http://schemas.microsoft.com/office/drawing/2014/main" id="{5B1A3D44-D90F-448E-9108-D1204A8D560C}"/>
              </a:ext>
            </a:extLst>
          </p:cNvPr>
          <p:cNvSpPr>
            <a:spLocks noGrp="1"/>
          </p:cNvSpPr>
          <p:nvPr/>
        </p:nvSpPr>
        <p:spPr>
          <a:xfrm>
            <a:off x="1781175" y="4457700"/>
            <a:ext cx="3714750" cy="400050"/>
          </a:xfrm>
          <a:prstGeom prst="rect">
            <a:avLst/>
          </a:prstGeom>
          <a:noFill/>
          <a:ln w="0">
            <a:noFill/>
          </a:ln>
        </p:spPr>
        <p:txBody>
          <a:bodyPr wrap="square" lIns="0" tIns="0" rIns="0" bIns="0" anchor="t">
            <a:noAutofit/>
          </a:bodyPr>
          <a:lstStyle/>
          <a:p>
            <a:pPr algn="ctr">
              <a:lnSpc>
                <a:spcPct val="108000"/>
              </a:lnSpc>
              <a:buNone/>
              <a:defRPr sz="2250" b="0">
                <a:solidFill>
                  <a:srgbClr val="111111"/>
                </a:solidFill>
                <a:latin typeface="Aptos"/>
                <a:ea typeface="Aptos"/>
                <a:cs typeface="Aptos"/>
              </a:defRPr>
            </a:pPr>
            <a:r>
              <a:rPr sz="2250" b="0">
                <a:solidFill>
                  <a:srgbClr val="111111"/>
                </a:solidFill>
                <a:latin typeface="Aptos"/>
                <a:ea typeface="Aptos"/>
                <a:cs typeface="Aptos"/>
              </a:rPr>
              <a:t>25</a:t>
            </a:r>
          </a:p>
        </p:txBody>
      </p:sp>
      <p:sp>
        <p:nvSpPr>
          <p:cNvPr id="25" name="Clarified text 139">
            <a:extLst>
              <a:ext uri="{FF2B5EF4-FFF2-40B4-BE49-F238E27FC236}">
                <a16:creationId xmlns:a16="http://schemas.microsoft.com/office/drawing/2014/main" id="{07438A3C-4EDF-4FB0-91B3-0FCD3308FEAF}"/>
              </a:ext>
            </a:extLst>
          </p:cNvPr>
          <p:cNvSpPr>
            <a:spLocks noGrp="1"/>
          </p:cNvSpPr>
          <p:nvPr/>
        </p:nvSpPr>
        <p:spPr>
          <a:xfrm>
            <a:off x="5667375" y="4257675"/>
            <a:ext cx="6057900" cy="609600"/>
          </a:xfrm>
          <a:prstGeom prst="rect">
            <a:avLst/>
          </a:prstGeom>
          <a:noFill/>
          <a:ln w="0">
            <a:noFill/>
          </a:ln>
        </p:spPr>
        <p:txBody>
          <a:bodyPr wrap="square" lIns="0" tIns="0" rIns="0" bIns="0" anchor="t">
            <a:noAutofit/>
          </a:bodyPr>
          <a:lstStyle/>
          <a:p>
            <a:pPr algn="l">
              <a:lnSpc>
                <a:spcPct val="108000"/>
              </a:lnSpc>
              <a:buNone/>
              <a:defRPr sz="2250" b="0">
                <a:solidFill>
                  <a:srgbClr val="111111"/>
                </a:solidFill>
                <a:latin typeface="Aptos"/>
                <a:ea typeface="Aptos"/>
                <a:cs typeface="Aptos"/>
              </a:defRPr>
            </a:pPr>
            <a:r>
              <a:rPr sz="2250" b="0">
                <a:solidFill>
                  <a:srgbClr val="111111"/>
                </a:solidFill>
                <a:latin typeface="Aptos"/>
                <a:ea typeface="Aptos"/>
                <a:cs typeface="Aptos"/>
              </a:rPr>
              <a:t>≈ 14.716, so buy 15 whole sacks.</a:t>
            </a:r>
          </a:p>
        </p:txBody>
      </p:sp>
      <p:sp>
        <p:nvSpPr>
          <p:cNvPr id="26" name="Clarified text 140">
            <a:extLst>
              <a:ext uri="{FF2B5EF4-FFF2-40B4-BE49-F238E27FC236}">
                <a16:creationId xmlns:a16="http://schemas.microsoft.com/office/drawing/2014/main" id="{CD95287F-4547-4477-B94B-D714014F28D2}"/>
              </a:ext>
            </a:extLst>
          </p:cNvPr>
          <p:cNvSpPr>
            <a:spLocks noGrp="1"/>
          </p:cNvSpPr>
          <p:nvPr/>
        </p:nvSpPr>
        <p:spPr>
          <a:xfrm>
            <a:off x="428625" y="5057775"/>
            <a:ext cx="11296650" cy="419100"/>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Bought: 15 × 25 ÷ 2.205 = 170.068027… kg of A.</a:t>
            </a:r>
          </a:p>
        </p:txBody>
      </p:sp>
      <p:sp>
        <p:nvSpPr>
          <p:cNvPr id="27" name="Clarified text 141">
            <a:extLst>
              <a:ext uri="{FF2B5EF4-FFF2-40B4-BE49-F238E27FC236}">
                <a16:creationId xmlns:a16="http://schemas.microsoft.com/office/drawing/2014/main" id="{C5577EE2-111D-4F3B-A209-5B263F6D285C}"/>
              </a:ext>
            </a:extLst>
          </p:cNvPr>
          <p:cNvSpPr>
            <a:spLocks noGrp="1"/>
          </p:cNvSpPr>
          <p:nvPr/>
        </p:nvSpPr>
        <p:spPr>
          <a:xfrm>
            <a:off x="428625" y="5572125"/>
            <a:ext cx="11296650" cy="733425"/>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Unused A = bought − required = 170.068027… − 166.846737… ≈ 3.2 kg.</a:t>
            </a:r>
          </a:p>
        </p:txBody>
      </p:sp>
    </p:spTree>
    <p:extLst>
      <p:ext uri="{BB962C8B-B14F-4D97-AF65-F5344CB8AC3E}">
        <p14:creationId xmlns:p14="http://schemas.microsoft.com/office/powerpoint/2010/main" val="41587989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C4C: Which gallon?</a:t>
            </a:r>
          </a:p>
        </p:txBody>
      </p:sp>
      <p:sp>
        <p:nvSpPr>
          <p:cNvPr id="3" name="Handout reference C4C">
            <a:extLst>
              <a:ext uri="{FF2B5EF4-FFF2-40B4-BE49-F238E27FC236}">
                <a16:creationId xmlns:a16="http://schemas.microsoft.com/office/drawing/2014/main" id="{BEC3C83A-39C0-4113-8F18-7D70C244F4FB}"/>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C4C</a:t>
            </a:r>
          </a:p>
        </p:txBody>
      </p:sp>
      <p:sp>
        <p:nvSpPr>
          <p:cNvPr id="4" name="Content 177">
            <a:extLst>
              <a:ext uri="{FF2B5EF4-FFF2-40B4-BE49-F238E27FC236}">
                <a16:creationId xmlns:a16="http://schemas.microsoft.com/office/drawing/2014/main" id="{3820AFA1-AB8B-46D9-A6EF-5C2F6A431102}"/>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Wash station: 8.5 US liquid gallons. Before use, 5% spills.</a:t>
            </a:r>
          </a:p>
        </p:txBody>
      </p:sp>
      <p:sp>
        <p:nvSpPr>
          <p:cNvPr id="5" name="Content 178">
            <a:extLst>
              <a:ext uri="{FF2B5EF4-FFF2-40B4-BE49-F238E27FC236}">
                <a16:creationId xmlns:a16="http://schemas.microsoft.com/office/drawing/2014/main" id="{D22A14CB-DB3D-4155-BB52-1A4C1B7CF45F}"/>
              </a:ext>
            </a:extLst>
          </p:cNvPr>
          <p:cNvSpPr>
            <a:spLocks noGrp="1"/>
          </p:cNvSpPr>
          <p:nvPr/>
        </p:nvSpPr>
        <p:spPr>
          <a:xfrm>
            <a:off x="430816" y="243868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Each complete bottle wash uses 125 mL.</a:t>
            </a:r>
          </a:p>
        </p:txBody>
      </p:sp>
      <p:sp>
        <p:nvSpPr>
          <p:cNvPr id="6" name="Content 179">
            <a:extLst>
              <a:ext uri="{FF2B5EF4-FFF2-40B4-BE49-F238E27FC236}">
                <a16:creationId xmlns:a16="http://schemas.microsoft.com/office/drawing/2014/main" id="{0791D597-C75A-4660-8572-E203E3AA7EB6}"/>
              </a:ext>
            </a:extLst>
          </p:cNvPr>
          <p:cNvSpPr>
            <a:spLocks noGrp="1"/>
          </p:cNvSpPr>
          <p:nvPr/>
        </p:nvSpPr>
        <p:spPr>
          <a:xfrm>
            <a:off x="430816" y="292474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1 US liquid gal ≈ 3.78541 L; 1 Imperial gal ≈ 4.54609 L; 1 L = 1,000 mL.</a:t>
            </a:r>
          </a:p>
        </p:txBody>
      </p:sp>
      <p:sp>
        <p:nvSpPr>
          <p:cNvPr id="7" name="Content 180">
            <a:extLst>
              <a:ext uri="{FF2B5EF4-FFF2-40B4-BE49-F238E27FC236}">
                <a16:creationId xmlns:a16="http://schemas.microsoft.com/office/drawing/2014/main" id="{9AE7D8FD-890B-4198-A5B6-CAC204ACB1A4}"/>
              </a:ext>
            </a:extLst>
          </p:cNvPr>
          <p:cNvSpPr>
            <a:spLocks noGrp="1"/>
          </p:cNvSpPr>
          <p:nvPr/>
        </p:nvSpPr>
        <p:spPr>
          <a:xfrm>
            <a:off x="430816" y="3410807"/>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How many complete bottle washes can the station supply?</a:t>
            </a:r>
          </a:p>
        </p:txBody>
      </p:sp>
      <p:sp>
        <p:nvSpPr>
          <p:cNvPr id="8" name="Content 181">
            <a:extLst>
              <a:ext uri="{FF2B5EF4-FFF2-40B4-BE49-F238E27FC236}">
                <a16:creationId xmlns:a16="http://schemas.microsoft.com/office/drawing/2014/main" id="{75C68639-F93D-4D49-8A9D-1FE829F12639}"/>
              </a:ext>
            </a:extLst>
          </p:cNvPr>
          <p:cNvSpPr>
            <a:spLocks noGrp="1"/>
          </p:cNvSpPr>
          <p:nvPr/>
        </p:nvSpPr>
        <p:spPr>
          <a:xfrm>
            <a:off x="430816" y="3896868"/>
            <a:ext cx="11293412" cy="1058132"/>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A colleague reads the label as 8.5 Imperial gallons. How many</a:t>
            </a:r>
          </a:p>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complete washes would they predict? By how many would they</a:t>
            </a:r>
          </a:p>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overestimate?</a:t>
            </a:r>
          </a:p>
        </p:txBody>
      </p:sp>
      <p:sp>
        <p:nvSpPr>
          <p:cNvPr id="9" name="Content 182">
            <a:extLst>
              <a:ext uri="{FF2B5EF4-FFF2-40B4-BE49-F238E27FC236}">
                <a16:creationId xmlns:a16="http://schemas.microsoft.com/office/drawing/2014/main" id="{4B62A08D-5F78-4AAA-A0A2-C5AA67EE9FD6}"/>
              </a:ext>
            </a:extLst>
          </p:cNvPr>
          <p:cNvSpPr>
            <a:spLocks noGrp="1"/>
          </p:cNvSpPr>
          <p:nvPr/>
        </p:nvSpPr>
        <p:spPr>
          <a:xfrm>
            <a:off x="430816" y="5050250"/>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Explain why the label '8.5 gallons' is not precise enough.</a:t>
            </a:r>
          </a:p>
        </p:txBody>
      </p:sp>
    </p:spTree>
    <p:extLst>
      <p:ext uri="{BB962C8B-B14F-4D97-AF65-F5344CB8AC3E}">
        <p14:creationId xmlns:p14="http://schemas.microsoft.com/office/powerpoint/2010/main" val="41587989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C4C: Capacity and complete washes</a:t>
            </a:r>
          </a:p>
        </p:txBody>
      </p:sp>
      <p:sp>
        <p:nvSpPr>
          <p:cNvPr id="3" name="Handout reference C4C">
            <a:extLst>
              <a:ext uri="{FF2B5EF4-FFF2-40B4-BE49-F238E27FC236}">
                <a16:creationId xmlns:a16="http://schemas.microsoft.com/office/drawing/2014/main" id="{6DFD9ECE-77A3-4EF7-BB18-BC24E57947EE}"/>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C4C</a:t>
            </a:r>
          </a:p>
        </p:txBody>
      </p:sp>
      <p:sp>
        <p:nvSpPr>
          <p:cNvPr id="4" name="Clarified text 142">
            <a:extLst>
              <a:ext uri="{FF2B5EF4-FFF2-40B4-BE49-F238E27FC236}">
                <a16:creationId xmlns:a16="http://schemas.microsoft.com/office/drawing/2014/main" id="{32D35F5F-E6D7-4F7C-88F6-5E0EB81BC6BB}"/>
              </a:ext>
            </a:extLst>
          </p:cNvPr>
          <p:cNvSpPr>
            <a:spLocks noGrp="1"/>
          </p:cNvSpPr>
          <p:nvPr/>
        </p:nvSpPr>
        <p:spPr>
          <a:xfrm>
            <a:off x="428625" y="1952625"/>
            <a:ext cx="11296650" cy="428625"/>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5% spills, so 95% remains. Convert that liquid to mL.</a:t>
            </a:r>
          </a:p>
        </p:txBody>
      </p:sp>
      <p:sp>
        <p:nvSpPr>
          <p:cNvPr id="5" name="Clarified text 143">
            <a:extLst>
              <a:ext uri="{FF2B5EF4-FFF2-40B4-BE49-F238E27FC236}">
                <a16:creationId xmlns:a16="http://schemas.microsoft.com/office/drawing/2014/main" id="{69B0DF02-13CE-4CBC-AD24-02D422DE8077}"/>
              </a:ext>
            </a:extLst>
          </p:cNvPr>
          <p:cNvSpPr>
            <a:spLocks noGrp="1"/>
          </p:cNvSpPr>
          <p:nvPr/>
        </p:nvSpPr>
        <p:spPr>
          <a:xfrm>
            <a:off x="685800" y="2695575"/>
            <a:ext cx="1428750" cy="495300"/>
          </a:xfrm>
          <a:prstGeom prst="rect">
            <a:avLst/>
          </a:prstGeom>
          <a:noFill/>
          <a:ln w="0">
            <a:noFill/>
          </a:ln>
        </p:spPr>
        <p:txBody>
          <a:bodyPr wrap="square" lIns="0" tIns="0" rIns="0" bIns="0" anchor="t">
            <a:noAutofit/>
          </a:bodyPr>
          <a:lstStyle/>
          <a:p>
            <a:pPr algn="l">
              <a:lnSpc>
                <a:spcPct val="108000"/>
              </a:lnSpc>
              <a:buNone/>
              <a:defRPr sz="2250" b="0">
                <a:solidFill>
                  <a:srgbClr val="111111"/>
                </a:solidFill>
                <a:latin typeface="Aptos"/>
                <a:ea typeface="Aptos"/>
                <a:cs typeface="Aptos"/>
              </a:defRPr>
            </a:pPr>
            <a:r>
              <a:rPr sz="2250" b="0">
                <a:solidFill>
                  <a:srgbClr val="111111"/>
                </a:solidFill>
                <a:latin typeface="Aptos"/>
                <a:ea typeface="Aptos"/>
                <a:cs typeface="Aptos"/>
              </a:rPr>
              <a:t>Washes =</a:t>
            </a:r>
          </a:p>
        </p:txBody>
      </p:sp>
      <p:sp>
        <p:nvSpPr>
          <p:cNvPr id="6" name="Clarified text 144">
            <a:extLst>
              <a:ext uri="{FF2B5EF4-FFF2-40B4-BE49-F238E27FC236}">
                <a16:creationId xmlns:a16="http://schemas.microsoft.com/office/drawing/2014/main" id="{E5F02B2C-979A-44F1-84D4-8BB9139FA666}"/>
              </a:ext>
            </a:extLst>
          </p:cNvPr>
          <p:cNvSpPr>
            <a:spLocks noGrp="1"/>
          </p:cNvSpPr>
          <p:nvPr/>
        </p:nvSpPr>
        <p:spPr>
          <a:xfrm>
            <a:off x="2114550" y="2447925"/>
            <a:ext cx="4857750" cy="400050"/>
          </a:xfrm>
          <a:prstGeom prst="rect">
            <a:avLst/>
          </a:prstGeom>
          <a:noFill/>
          <a:ln w="0">
            <a:noFill/>
          </a:ln>
        </p:spPr>
        <p:txBody>
          <a:bodyPr wrap="square" lIns="0" tIns="0" rIns="0" bIns="0" anchor="t">
            <a:noAutofit/>
          </a:bodyPr>
          <a:lstStyle/>
          <a:p>
            <a:pPr algn="ctr">
              <a:lnSpc>
                <a:spcPct val="108000"/>
              </a:lnSpc>
              <a:buNone/>
              <a:defRPr sz="2250" b="0">
                <a:solidFill>
                  <a:srgbClr val="111111"/>
                </a:solidFill>
                <a:latin typeface="Aptos"/>
                <a:ea typeface="Aptos"/>
                <a:cs typeface="Aptos"/>
              </a:defRPr>
            </a:pPr>
            <a:r>
              <a:rPr sz="2250" b="0">
                <a:solidFill>
                  <a:srgbClr val="111111"/>
                </a:solidFill>
                <a:latin typeface="Aptos"/>
                <a:ea typeface="Aptos"/>
                <a:cs typeface="Aptos"/>
              </a:rPr>
              <a:t>8.5 × 3.78541 × 0.95 × 1,000</a:t>
            </a:r>
          </a:p>
        </p:txBody>
      </p:sp>
      <p:sp>
        <p:nvSpPr>
          <p:cNvPr id="7" name="Fraction bar">
            <a:extLst>
              <a:ext uri="{FF2B5EF4-FFF2-40B4-BE49-F238E27FC236}">
                <a16:creationId xmlns:a16="http://schemas.microsoft.com/office/drawing/2014/main" id="{744AC8D3-02F5-4329-A4C4-8F85755D24DF}"/>
              </a:ext>
            </a:extLst>
          </p:cNvPr>
          <p:cNvSpPr>
            <a:spLocks noGrp="1"/>
          </p:cNvSpPr>
          <p:nvPr/>
        </p:nvSpPr>
        <p:spPr>
          <a:xfrm>
            <a:off x="2114550" y="2857500"/>
            <a:ext cx="4857750" cy="0"/>
          </a:xfrm>
          <a:prstGeom prst="line">
            <a:avLst/>
          </a:prstGeom>
          <a:noFill/>
          <a:ln w="14288">
            <a:solidFill>
              <a:srgbClr val="111111"/>
            </a:solidFill>
          </a:ln>
        </p:spPr>
        <p:txBody>
          <a:bodyPr/>
          <a:lstStyle/>
          <a:p>
            <a:endParaRPr lang="en-US"/>
          </a:p>
        </p:txBody>
      </p:sp>
      <p:sp>
        <p:nvSpPr>
          <p:cNvPr id="8" name="Clarified text 145">
            <a:extLst>
              <a:ext uri="{FF2B5EF4-FFF2-40B4-BE49-F238E27FC236}">
                <a16:creationId xmlns:a16="http://schemas.microsoft.com/office/drawing/2014/main" id="{35848608-67A7-4839-88EE-9A617A8CA768}"/>
              </a:ext>
            </a:extLst>
          </p:cNvPr>
          <p:cNvSpPr>
            <a:spLocks noGrp="1"/>
          </p:cNvSpPr>
          <p:nvPr/>
        </p:nvSpPr>
        <p:spPr>
          <a:xfrm>
            <a:off x="2114550" y="2895600"/>
            <a:ext cx="4857750" cy="400050"/>
          </a:xfrm>
          <a:prstGeom prst="rect">
            <a:avLst/>
          </a:prstGeom>
          <a:noFill/>
          <a:ln w="0">
            <a:noFill/>
          </a:ln>
        </p:spPr>
        <p:txBody>
          <a:bodyPr wrap="square" lIns="0" tIns="0" rIns="0" bIns="0" anchor="t">
            <a:noAutofit/>
          </a:bodyPr>
          <a:lstStyle/>
          <a:p>
            <a:pPr algn="ctr">
              <a:lnSpc>
                <a:spcPct val="108000"/>
              </a:lnSpc>
              <a:buNone/>
              <a:defRPr sz="2250" b="0">
                <a:solidFill>
                  <a:srgbClr val="111111"/>
                </a:solidFill>
                <a:latin typeface="Aptos"/>
                <a:ea typeface="Aptos"/>
                <a:cs typeface="Aptos"/>
              </a:defRPr>
            </a:pPr>
            <a:r>
              <a:rPr sz="2250" b="0">
                <a:solidFill>
                  <a:srgbClr val="111111"/>
                </a:solidFill>
                <a:latin typeface="Aptos"/>
                <a:ea typeface="Aptos"/>
                <a:cs typeface="Aptos"/>
              </a:rPr>
              <a:t>125</a:t>
            </a:r>
          </a:p>
        </p:txBody>
      </p:sp>
      <p:sp>
        <p:nvSpPr>
          <p:cNvPr id="9" name="Clarified text 146">
            <a:extLst>
              <a:ext uri="{FF2B5EF4-FFF2-40B4-BE49-F238E27FC236}">
                <a16:creationId xmlns:a16="http://schemas.microsoft.com/office/drawing/2014/main" id="{3EF276D5-3E5F-4B3A-B0C3-EC61519ABF60}"/>
              </a:ext>
            </a:extLst>
          </p:cNvPr>
          <p:cNvSpPr>
            <a:spLocks noGrp="1"/>
          </p:cNvSpPr>
          <p:nvPr/>
        </p:nvSpPr>
        <p:spPr>
          <a:xfrm>
            <a:off x="7143750" y="2695575"/>
            <a:ext cx="4581525" cy="609600"/>
          </a:xfrm>
          <a:prstGeom prst="rect">
            <a:avLst/>
          </a:prstGeom>
          <a:noFill/>
          <a:ln w="0">
            <a:noFill/>
          </a:ln>
        </p:spPr>
        <p:txBody>
          <a:bodyPr wrap="square" lIns="0" tIns="0" rIns="0" bIns="0" anchor="t">
            <a:noAutofit/>
          </a:bodyPr>
          <a:lstStyle/>
          <a:p>
            <a:pPr algn="l">
              <a:lnSpc>
                <a:spcPct val="108000"/>
              </a:lnSpc>
              <a:buNone/>
              <a:defRPr sz="2250" b="0">
                <a:solidFill>
                  <a:srgbClr val="111111"/>
                </a:solidFill>
                <a:latin typeface="Aptos"/>
                <a:ea typeface="Aptos"/>
                <a:cs typeface="Aptos"/>
              </a:defRPr>
            </a:pPr>
            <a:r>
              <a:rPr sz="2250" b="0">
                <a:solidFill>
                  <a:srgbClr val="111111"/>
                </a:solidFill>
                <a:latin typeface="Aptos"/>
                <a:ea typeface="Aptos"/>
                <a:cs typeface="Aptos"/>
              </a:rPr>
              <a:t>= 244.537…</a:t>
            </a:r>
          </a:p>
        </p:txBody>
      </p:sp>
      <p:sp>
        <p:nvSpPr>
          <p:cNvPr id="10" name="Clarified text 147">
            <a:extLst>
              <a:ext uri="{FF2B5EF4-FFF2-40B4-BE49-F238E27FC236}">
                <a16:creationId xmlns:a16="http://schemas.microsoft.com/office/drawing/2014/main" id="{F52013CF-67FA-450A-9218-BCD46527095E}"/>
              </a:ext>
            </a:extLst>
          </p:cNvPr>
          <p:cNvSpPr>
            <a:spLocks noGrp="1"/>
          </p:cNvSpPr>
          <p:nvPr/>
        </p:nvSpPr>
        <p:spPr>
          <a:xfrm>
            <a:off x="428625" y="3438525"/>
            <a:ext cx="11296650" cy="419100"/>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Round down: enough liquid for 244 complete washes.</a:t>
            </a:r>
          </a:p>
        </p:txBody>
      </p:sp>
      <p:sp>
        <p:nvSpPr>
          <p:cNvPr id="11" name="Clarified text 148">
            <a:extLst>
              <a:ext uri="{FF2B5EF4-FFF2-40B4-BE49-F238E27FC236}">
                <a16:creationId xmlns:a16="http://schemas.microsoft.com/office/drawing/2014/main" id="{A2084070-AF69-4D8A-93B6-41CD3DAA2A8C}"/>
              </a:ext>
            </a:extLst>
          </p:cNvPr>
          <p:cNvSpPr>
            <a:spLocks noGrp="1"/>
          </p:cNvSpPr>
          <p:nvPr/>
        </p:nvSpPr>
        <p:spPr>
          <a:xfrm>
            <a:off x="428625" y="3952875"/>
            <a:ext cx="11296650" cy="419100"/>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Repeat with the Imperial gallon conversion factor.</a:t>
            </a:r>
          </a:p>
        </p:txBody>
      </p:sp>
      <p:sp>
        <p:nvSpPr>
          <p:cNvPr id="12" name="Clarified text 149">
            <a:extLst>
              <a:ext uri="{FF2B5EF4-FFF2-40B4-BE49-F238E27FC236}">
                <a16:creationId xmlns:a16="http://schemas.microsoft.com/office/drawing/2014/main" id="{99C92DB1-52E1-4905-A104-58862FCE0539}"/>
              </a:ext>
            </a:extLst>
          </p:cNvPr>
          <p:cNvSpPr>
            <a:spLocks noGrp="1"/>
          </p:cNvSpPr>
          <p:nvPr/>
        </p:nvSpPr>
        <p:spPr>
          <a:xfrm>
            <a:off x="685800" y="4619625"/>
            <a:ext cx="1428750" cy="495300"/>
          </a:xfrm>
          <a:prstGeom prst="rect">
            <a:avLst/>
          </a:prstGeom>
          <a:noFill/>
          <a:ln w="0">
            <a:noFill/>
          </a:ln>
        </p:spPr>
        <p:txBody>
          <a:bodyPr wrap="square" lIns="0" tIns="0" rIns="0" bIns="0" anchor="t">
            <a:noAutofit/>
          </a:bodyPr>
          <a:lstStyle/>
          <a:p>
            <a:pPr algn="l">
              <a:lnSpc>
                <a:spcPct val="108000"/>
              </a:lnSpc>
              <a:buNone/>
              <a:defRPr sz="2250" b="0">
                <a:solidFill>
                  <a:srgbClr val="111111"/>
                </a:solidFill>
                <a:latin typeface="Aptos"/>
                <a:ea typeface="Aptos"/>
                <a:cs typeface="Aptos"/>
              </a:defRPr>
            </a:pPr>
            <a:r>
              <a:rPr sz="2250" b="0">
                <a:solidFill>
                  <a:srgbClr val="111111"/>
                </a:solidFill>
                <a:latin typeface="Aptos"/>
                <a:ea typeface="Aptos"/>
                <a:cs typeface="Aptos"/>
              </a:rPr>
              <a:t>Washes =</a:t>
            </a:r>
          </a:p>
        </p:txBody>
      </p:sp>
      <p:sp>
        <p:nvSpPr>
          <p:cNvPr id="13" name="Clarified text 150">
            <a:extLst>
              <a:ext uri="{FF2B5EF4-FFF2-40B4-BE49-F238E27FC236}">
                <a16:creationId xmlns:a16="http://schemas.microsoft.com/office/drawing/2014/main" id="{6CB862FB-32C5-4931-B571-DC177B2D44AA}"/>
              </a:ext>
            </a:extLst>
          </p:cNvPr>
          <p:cNvSpPr>
            <a:spLocks noGrp="1"/>
          </p:cNvSpPr>
          <p:nvPr/>
        </p:nvSpPr>
        <p:spPr>
          <a:xfrm>
            <a:off x="2114550" y="4371975"/>
            <a:ext cx="4857750" cy="400050"/>
          </a:xfrm>
          <a:prstGeom prst="rect">
            <a:avLst/>
          </a:prstGeom>
          <a:noFill/>
          <a:ln w="0">
            <a:noFill/>
          </a:ln>
        </p:spPr>
        <p:txBody>
          <a:bodyPr wrap="square" lIns="0" tIns="0" rIns="0" bIns="0" anchor="t">
            <a:noAutofit/>
          </a:bodyPr>
          <a:lstStyle/>
          <a:p>
            <a:pPr algn="ctr">
              <a:lnSpc>
                <a:spcPct val="108000"/>
              </a:lnSpc>
              <a:buNone/>
              <a:defRPr sz="2250" b="0">
                <a:solidFill>
                  <a:srgbClr val="111111"/>
                </a:solidFill>
                <a:latin typeface="Aptos"/>
                <a:ea typeface="Aptos"/>
                <a:cs typeface="Aptos"/>
              </a:defRPr>
            </a:pPr>
            <a:r>
              <a:rPr sz="2250" b="0">
                <a:solidFill>
                  <a:srgbClr val="111111"/>
                </a:solidFill>
                <a:latin typeface="Aptos"/>
                <a:ea typeface="Aptos"/>
                <a:cs typeface="Aptos"/>
              </a:rPr>
              <a:t>8.5 × 4.54609 × 0.95 × 1,000</a:t>
            </a:r>
          </a:p>
        </p:txBody>
      </p:sp>
      <p:sp>
        <p:nvSpPr>
          <p:cNvPr id="14" name="Fraction bar">
            <a:extLst>
              <a:ext uri="{FF2B5EF4-FFF2-40B4-BE49-F238E27FC236}">
                <a16:creationId xmlns:a16="http://schemas.microsoft.com/office/drawing/2014/main" id="{14387497-8503-4B7B-9C11-2EA1337E0C87}"/>
              </a:ext>
            </a:extLst>
          </p:cNvPr>
          <p:cNvSpPr>
            <a:spLocks noGrp="1"/>
          </p:cNvSpPr>
          <p:nvPr/>
        </p:nvSpPr>
        <p:spPr>
          <a:xfrm>
            <a:off x="2114550" y="4781550"/>
            <a:ext cx="4857750" cy="0"/>
          </a:xfrm>
          <a:prstGeom prst="line">
            <a:avLst/>
          </a:prstGeom>
          <a:noFill/>
          <a:ln w="14288">
            <a:solidFill>
              <a:srgbClr val="111111"/>
            </a:solidFill>
          </a:ln>
        </p:spPr>
        <p:txBody>
          <a:bodyPr/>
          <a:lstStyle/>
          <a:p>
            <a:endParaRPr lang="en-US"/>
          </a:p>
        </p:txBody>
      </p:sp>
      <p:sp>
        <p:nvSpPr>
          <p:cNvPr id="15" name="Clarified text 151">
            <a:extLst>
              <a:ext uri="{FF2B5EF4-FFF2-40B4-BE49-F238E27FC236}">
                <a16:creationId xmlns:a16="http://schemas.microsoft.com/office/drawing/2014/main" id="{BA81B3FE-612A-4778-9285-CA16BBBC87D5}"/>
              </a:ext>
            </a:extLst>
          </p:cNvPr>
          <p:cNvSpPr>
            <a:spLocks noGrp="1"/>
          </p:cNvSpPr>
          <p:nvPr/>
        </p:nvSpPr>
        <p:spPr>
          <a:xfrm>
            <a:off x="2114550" y="4819650"/>
            <a:ext cx="4857750" cy="400050"/>
          </a:xfrm>
          <a:prstGeom prst="rect">
            <a:avLst/>
          </a:prstGeom>
          <a:noFill/>
          <a:ln w="0">
            <a:noFill/>
          </a:ln>
        </p:spPr>
        <p:txBody>
          <a:bodyPr wrap="square" lIns="0" tIns="0" rIns="0" bIns="0" anchor="t">
            <a:noAutofit/>
          </a:bodyPr>
          <a:lstStyle/>
          <a:p>
            <a:pPr algn="ctr">
              <a:lnSpc>
                <a:spcPct val="108000"/>
              </a:lnSpc>
              <a:buNone/>
              <a:defRPr sz="2250" b="0">
                <a:solidFill>
                  <a:srgbClr val="111111"/>
                </a:solidFill>
                <a:latin typeface="Aptos"/>
                <a:ea typeface="Aptos"/>
                <a:cs typeface="Aptos"/>
              </a:defRPr>
            </a:pPr>
            <a:r>
              <a:rPr sz="2250" b="0">
                <a:solidFill>
                  <a:srgbClr val="111111"/>
                </a:solidFill>
                <a:latin typeface="Aptos"/>
                <a:ea typeface="Aptos"/>
                <a:cs typeface="Aptos"/>
              </a:rPr>
              <a:t>125</a:t>
            </a:r>
          </a:p>
        </p:txBody>
      </p:sp>
      <p:sp>
        <p:nvSpPr>
          <p:cNvPr id="16" name="Clarified text 152">
            <a:extLst>
              <a:ext uri="{FF2B5EF4-FFF2-40B4-BE49-F238E27FC236}">
                <a16:creationId xmlns:a16="http://schemas.microsoft.com/office/drawing/2014/main" id="{21E4FB40-04CA-4138-95FA-57B564ABCED9}"/>
              </a:ext>
            </a:extLst>
          </p:cNvPr>
          <p:cNvSpPr>
            <a:spLocks noGrp="1"/>
          </p:cNvSpPr>
          <p:nvPr/>
        </p:nvSpPr>
        <p:spPr>
          <a:xfrm>
            <a:off x="7143750" y="4619625"/>
            <a:ext cx="4581525" cy="609600"/>
          </a:xfrm>
          <a:prstGeom prst="rect">
            <a:avLst/>
          </a:prstGeom>
          <a:noFill/>
          <a:ln w="0">
            <a:noFill/>
          </a:ln>
        </p:spPr>
        <p:txBody>
          <a:bodyPr wrap="square" lIns="0" tIns="0" rIns="0" bIns="0" anchor="t">
            <a:noAutofit/>
          </a:bodyPr>
          <a:lstStyle/>
          <a:p>
            <a:pPr algn="l">
              <a:lnSpc>
                <a:spcPct val="108000"/>
              </a:lnSpc>
              <a:buNone/>
              <a:defRPr sz="2250" b="0">
                <a:solidFill>
                  <a:srgbClr val="111111"/>
                </a:solidFill>
                <a:latin typeface="Aptos"/>
                <a:ea typeface="Aptos"/>
                <a:cs typeface="Aptos"/>
              </a:defRPr>
            </a:pPr>
            <a:r>
              <a:rPr sz="2250" b="0">
                <a:solidFill>
                  <a:srgbClr val="111111"/>
                </a:solidFill>
                <a:latin typeface="Aptos"/>
                <a:ea typeface="Aptos"/>
                <a:cs typeface="Aptos"/>
              </a:rPr>
              <a:t>= 293.677…</a:t>
            </a:r>
          </a:p>
        </p:txBody>
      </p:sp>
      <p:sp>
        <p:nvSpPr>
          <p:cNvPr id="17" name="Clarified text 153">
            <a:extLst>
              <a:ext uri="{FF2B5EF4-FFF2-40B4-BE49-F238E27FC236}">
                <a16:creationId xmlns:a16="http://schemas.microsoft.com/office/drawing/2014/main" id="{F77E23B5-58CF-4F4E-8E5F-B9AE5C4B17DD}"/>
              </a:ext>
            </a:extLst>
          </p:cNvPr>
          <p:cNvSpPr>
            <a:spLocks noGrp="1"/>
          </p:cNvSpPr>
          <p:nvPr/>
        </p:nvSpPr>
        <p:spPr>
          <a:xfrm>
            <a:off x="428625" y="5334000"/>
            <a:ext cx="11296650" cy="428625"/>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293 complete washes predicted. Overestimate: 293 − 244 = 49.</a:t>
            </a:r>
          </a:p>
        </p:txBody>
      </p:sp>
      <p:sp>
        <p:nvSpPr>
          <p:cNvPr id="18" name="Clarified text 154">
            <a:extLst>
              <a:ext uri="{FF2B5EF4-FFF2-40B4-BE49-F238E27FC236}">
                <a16:creationId xmlns:a16="http://schemas.microsoft.com/office/drawing/2014/main" id="{2705329A-F156-4CB2-B613-814234810462}"/>
              </a:ext>
            </a:extLst>
          </p:cNvPr>
          <p:cNvSpPr>
            <a:spLocks noGrp="1"/>
          </p:cNvSpPr>
          <p:nvPr/>
        </p:nvSpPr>
        <p:spPr>
          <a:xfrm>
            <a:off x="428625" y="5857875"/>
            <a:ext cx="11296650" cy="419100"/>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US and Imperial gallons hold different volumes.</a:t>
            </a:r>
          </a:p>
        </p:txBody>
      </p:sp>
    </p:spTree>
    <p:extLst>
      <p:ext uri="{BB962C8B-B14F-4D97-AF65-F5344CB8AC3E}">
        <p14:creationId xmlns:p14="http://schemas.microsoft.com/office/powerpoint/2010/main" val="41587989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DFC3C-67FB-B165-3C59-7A316881487C}"/>
              </a:ext>
            </a:extLst>
          </p:cNvPr>
          <p:cNvSpPr>
            <a:spLocks noGrp="1"/>
          </p:cNvSpPr>
          <p:nvPr>
            <p:ph type="ctrTitle"/>
          </p:nvPr>
        </p:nvSpPr>
        <p:spPr>
          <a:xfrm>
            <a:off x="356101" y="2154457"/>
            <a:ext cx="5739899" cy="3488697"/>
          </a:xfrm>
        </p:spPr>
        <p:txBody>
          <a:bodyPr>
            <a:normAutofit/>
          </a:bodyPr>
          <a:lstStyle/>
          <a:p>
            <a:r>
              <a:t>Section 5:</a:t>
            </a:r>
          </a:p>
          <a:p>
            <a:r>
              <a:t>Discounts and</a:t>
            </a:r>
          </a:p>
          <a:p>
            <a:r>
              <a:t>Decision</a:t>
            </a:r>
          </a:p>
        </p:txBody>
      </p:sp>
    </p:spTree>
    <p:extLst>
      <p:ext uri="{BB962C8B-B14F-4D97-AF65-F5344CB8AC3E}">
        <p14:creationId xmlns:p14="http://schemas.microsoft.com/office/powerpoint/2010/main" val="34228864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C5A: Orders and charged prices</a:t>
            </a:r>
          </a:p>
        </p:txBody>
      </p:sp>
      <p:sp>
        <p:nvSpPr>
          <p:cNvPr id="3" name="Handout reference C5A">
            <a:extLst>
              <a:ext uri="{FF2B5EF4-FFF2-40B4-BE49-F238E27FC236}">
                <a16:creationId xmlns:a16="http://schemas.microsoft.com/office/drawing/2014/main" id="{5424142E-DED3-4FB7-AB44-ADD57F9EBFB3}"/>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C5A</a:t>
            </a:r>
          </a:p>
        </p:txBody>
      </p:sp>
      <p:sp>
        <p:nvSpPr>
          <p:cNvPr id="4" name="Content 195">
            <a:extLst>
              <a:ext uri="{FF2B5EF4-FFF2-40B4-BE49-F238E27FC236}">
                <a16:creationId xmlns:a16="http://schemas.microsoft.com/office/drawing/2014/main" id="{2E5901EE-6BE3-4C09-BEBE-BEC712A78077}"/>
              </a:ext>
            </a:extLst>
          </p:cNvPr>
          <p:cNvSpPr>
            <a:spLocks noGrp="1"/>
          </p:cNvSpPr>
          <p:nvPr/>
        </p:nvSpPr>
        <p:spPr>
          <a:xfrm>
            <a:off x="430816" y="1952625"/>
            <a:ext cx="11293412" cy="72447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Of the planned stock, GreenSip has 660 confirmed one-bottle orders. Student:staff</a:t>
            </a:r>
          </a:p>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 7:4.</a:t>
            </a:r>
          </a:p>
        </p:txBody>
      </p:sp>
      <p:sp>
        <p:nvSpPr>
          <p:cNvPr id="5" name="Content 196">
            <a:extLst>
              <a:ext uri="{FF2B5EF4-FFF2-40B4-BE49-F238E27FC236}">
                <a16:creationId xmlns:a16="http://schemas.microsoft.com/office/drawing/2014/main" id="{8EB415B1-2695-4535-9FEB-4B0B47F6C563}"/>
              </a:ext>
            </a:extLst>
          </p:cNvPr>
          <p:cNvSpPr>
            <a:spLocks noGrp="1"/>
          </p:cNvSpPr>
          <p:nvPr/>
        </p:nvSpPr>
        <p:spPr>
          <a:xfrm>
            <a:off x="430816" y="2772347"/>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List price: ¥137.50. Student discount: 17.5%. Staff discount: 8%.</a:t>
            </a:r>
          </a:p>
        </p:txBody>
      </p:sp>
      <p:sp>
        <p:nvSpPr>
          <p:cNvPr id="6" name="Content 197">
            <a:extLst>
              <a:ext uri="{FF2B5EF4-FFF2-40B4-BE49-F238E27FC236}">
                <a16:creationId xmlns:a16="http://schemas.microsoft.com/office/drawing/2014/main" id="{F3802F83-7F1C-4E4D-A9FD-CAE2D5BE9CC6}"/>
              </a:ext>
            </a:extLst>
          </p:cNvPr>
          <p:cNvSpPr>
            <a:spLocks noGrp="1"/>
          </p:cNvSpPr>
          <p:nvPr/>
        </p:nvSpPr>
        <p:spPr>
          <a:xfrm>
            <a:off x="430816" y="3258407"/>
            <a:ext cx="11293412" cy="72447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Assume all orders are paid. Round EACH final selling price to 2 decimal places</a:t>
            </a:r>
          </a:p>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before multiplying by the number of orders.</a:t>
            </a:r>
          </a:p>
        </p:txBody>
      </p:sp>
      <p:sp>
        <p:nvSpPr>
          <p:cNvPr id="7" name="Content 198">
            <a:extLst>
              <a:ext uri="{FF2B5EF4-FFF2-40B4-BE49-F238E27FC236}">
                <a16:creationId xmlns:a16="http://schemas.microsoft.com/office/drawing/2014/main" id="{BDF9F21D-F3F2-4523-8C70-D50B15E5A586}"/>
              </a:ext>
            </a:extLst>
          </p:cNvPr>
          <p:cNvSpPr>
            <a:spLocks noGrp="1"/>
          </p:cNvSpPr>
          <p:nvPr/>
        </p:nvSpPr>
        <p:spPr>
          <a:xfrm>
            <a:off x="430816" y="4078129"/>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Find the number of student and staff orders and each charged price.</a:t>
            </a:r>
          </a:p>
        </p:txBody>
      </p:sp>
    </p:spTree>
    <p:extLst>
      <p:ext uri="{BB962C8B-B14F-4D97-AF65-F5344CB8AC3E}">
        <p14:creationId xmlns:p14="http://schemas.microsoft.com/office/powerpoint/2010/main" val="41587989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C5A: Order split and prices</a:t>
            </a:r>
          </a:p>
        </p:txBody>
      </p:sp>
      <p:sp>
        <p:nvSpPr>
          <p:cNvPr id="3" name="Handout reference C5A">
            <a:extLst>
              <a:ext uri="{FF2B5EF4-FFF2-40B4-BE49-F238E27FC236}">
                <a16:creationId xmlns:a16="http://schemas.microsoft.com/office/drawing/2014/main" id="{63E5811D-7A15-44E5-8FED-400899E2AF04}"/>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C5A</a:t>
            </a:r>
          </a:p>
        </p:txBody>
      </p:sp>
      <p:sp>
        <p:nvSpPr>
          <p:cNvPr id="4" name="Content 199">
            <a:extLst>
              <a:ext uri="{FF2B5EF4-FFF2-40B4-BE49-F238E27FC236}">
                <a16:creationId xmlns:a16="http://schemas.microsoft.com/office/drawing/2014/main" id="{496BF94B-6DEE-43B4-9FA8-66600220C664}"/>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7 + 4 = 11 parts; 660 ÷ 11 = 60 per part.</a:t>
            </a:r>
          </a:p>
        </p:txBody>
      </p:sp>
      <p:sp>
        <p:nvSpPr>
          <p:cNvPr id="5" name="Content 200">
            <a:extLst>
              <a:ext uri="{FF2B5EF4-FFF2-40B4-BE49-F238E27FC236}">
                <a16:creationId xmlns:a16="http://schemas.microsoft.com/office/drawing/2014/main" id="{8EC4D16A-A7B7-4148-9BC3-B333ECB5FB32}"/>
              </a:ext>
            </a:extLst>
          </p:cNvPr>
          <p:cNvSpPr>
            <a:spLocks noGrp="1"/>
          </p:cNvSpPr>
          <p:nvPr/>
        </p:nvSpPr>
        <p:spPr>
          <a:xfrm>
            <a:off x="430816" y="251488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Students: 7 × 60 = 420. Staff: 4 × 60 = 240.</a:t>
            </a:r>
          </a:p>
        </p:txBody>
      </p:sp>
      <p:sp>
        <p:nvSpPr>
          <p:cNvPr id="6" name="Content 201">
            <a:extLst>
              <a:ext uri="{FF2B5EF4-FFF2-40B4-BE49-F238E27FC236}">
                <a16:creationId xmlns:a16="http://schemas.microsoft.com/office/drawing/2014/main" id="{6D3EB499-9C9F-41DB-A5B6-C8158CB5013B}"/>
              </a:ext>
            </a:extLst>
          </p:cNvPr>
          <p:cNvSpPr>
            <a:spLocks noGrp="1"/>
          </p:cNvSpPr>
          <p:nvPr/>
        </p:nvSpPr>
        <p:spPr>
          <a:xfrm>
            <a:off x="430816" y="3077146"/>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Student price: ¥137.50 × 0.825 = ¥113.4375</a:t>
            </a:r>
          </a:p>
        </p:txBody>
      </p:sp>
      <p:sp>
        <p:nvSpPr>
          <p:cNvPr id="7" name="Content 202">
            <a:extLst>
              <a:ext uri="{FF2B5EF4-FFF2-40B4-BE49-F238E27FC236}">
                <a16:creationId xmlns:a16="http://schemas.microsoft.com/office/drawing/2014/main" id="{1136BF9C-E2FB-4A75-9DAF-7F6AD70A6521}"/>
              </a:ext>
            </a:extLst>
          </p:cNvPr>
          <p:cNvSpPr>
            <a:spLocks noGrp="1"/>
          </p:cNvSpPr>
          <p:nvPr/>
        </p:nvSpPr>
        <p:spPr>
          <a:xfrm>
            <a:off x="430816" y="3639407"/>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Round to the charged price: ¥113.44.</a:t>
            </a:r>
          </a:p>
        </p:txBody>
      </p:sp>
      <p:sp>
        <p:nvSpPr>
          <p:cNvPr id="8" name="Content 203">
            <a:extLst>
              <a:ext uri="{FF2B5EF4-FFF2-40B4-BE49-F238E27FC236}">
                <a16:creationId xmlns:a16="http://schemas.microsoft.com/office/drawing/2014/main" id="{89B47F6C-0719-43E9-B256-DE311A0F0A75}"/>
              </a:ext>
            </a:extLst>
          </p:cNvPr>
          <p:cNvSpPr>
            <a:spLocks noGrp="1"/>
          </p:cNvSpPr>
          <p:nvPr/>
        </p:nvSpPr>
        <p:spPr>
          <a:xfrm>
            <a:off x="430816" y="4201668"/>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Staff price: ¥137.50 × 0.92 = ¥126.50</a:t>
            </a:r>
          </a:p>
        </p:txBody>
      </p:sp>
      <p:sp>
        <p:nvSpPr>
          <p:cNvPr id="9" name="Content 204">
            <a:extLst>
              <a:ext uri="{FF2B5EF4-FFF2-40B4-BE49-F238E27FC236}">
                <a16:creationId xmlns:a16="http://schemas.microsoft.com/office/drawing/2014/main" id="{1FB7B47E-B9DD-45FD-BA13-40D7CC322DFE}"/>
              </a:ext>
            </a:extLst>
          </p:cNvPr>
          <p:cNvSpPr>
            <a:spLocks noGrp="1"/>
          </p:cNvSpPr>
          <p:nvPr/>
        </p:nvSpPr>
        <p:spPr>
          <a:xfrm>
            <a:off x="430816" y="4763929"/>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Check: 420 + 240 = 660 orders.</a:t>
            </a:r>
          </a:p>
        </p:txBody>
      </p:sp>
    </p:spTree>
    <p:extLst>
      <p:ext uri="{BB962C8B-B14F-4D97-AF65-F5344CB8AC3E}">
        <p14:creationId xmlns:p14="http://schemas.microsoft.com/office/powerpoint/2010/main" val="41587989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C5A: The ¥78,000 target</a:t>
            </a:r>
          </a:p>
        </p:txBody>
      </p:sp>
      <p:sp>
        <p:nvSpPr>
          <p:cNvPr id="3" name="Handout reference C5A">
            <a:extLst>
              <a:ext uri="{FF2B5EF4-FFF2-40B4-BE49-F238E27FC236}">
                <a16:creationId xmlns:a16="http://schemas.microsoft.com/office/drawing/2014/main" id="{4EB2D2FB-B821-4547-8ED2-0DDE93928964}"/>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C5A</a:t>
            </a:r>
          </a:p>
        </p:txBody>
      </p:sp>
      <p:sp>
        <p:nvSpPr>
          <p:cNvPr id="4" name="Content 205">
            <a:extLst>
              <a:ext uri="{FF2B5EF4-FFF2-40B4-BE49-F238E27FC236}">
                <a16:creationId xmlns:a16="http://schemas.microsoft.com/office/drawing/2014/main" id="{985BD851-7B1D-4392-9F59-378300A5656E}"/>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420 student orders at ¥113.44 each.</a:t>
            </a:r>
          </a:p>
        </p:txBody>
      </p:sp>
      <p:sp>
        <p:nvSpPr>
          <p:cNvPr id="5" name="Content 206">
            <a:extLst>
              <a:ext uri="{FF2B5EF4-FFF2-40B4-BE49-F238E27FC236}">
                <a16:creationId xmlns:a16="http://schemas.microsoft.com/office/drawing/2014/main" id="{21F4860B-87CF-42E4-A7BF-984C16093932}"/>
              </a:ext>
            </a:extLst>
          </p:cNvPr>
          <p:cNvSpPr>
            <a:spLocks noGrp="1"/>
          </p:cNvSpPr>
          <p:nvPr/>
        </p:nvSpPr>
        <p:spPr>
          <a:xfrm>
            <a:off x="430816" y="2486311"/>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240 staff orders at ¥126.50 each. Assume all are paid.</a:t>
            </a:r>
          </a:p>
        </p:txBody>
      </p:sp>
      <p:sp>
        <p:nvSpPr>
          <p:cNvPr id="6" name="Content 207">
            <a:extLst>
              <a:ext uri="{FF2B5EF4-FFF2-40B4-BE49-F238E27FC236}">
                <a16:creationId xmlns:a16="http://schemas.microsoft.com/office/drawing/2014/main" id="{75FBBEAA-E023-46E4-B57D-2D4E34D53A28}"/>
              </a:ext>
            </a:extLst>
          </p:cNvPr>
          <p:cNvSpPr>
            <a:spLocks noGrp="1"/>
          </p:cNvSpPr>
          <p:nvPr/>
        </p:nvSpPr>
        <p:spPr>
          <a:xfrm>
            <a:off x="430816" y="3019996"/>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Find the total money received and compare it with ¥78,000.</a:t>
            </a:r>
          </a:p>
        </p:txBody>
      </p:sp>
      <p:sp>
        <p:nvSpPr>
          <p:cNvPr id="7" name="Content 208">
            <a:extLst>
              <a:ext uri="{FF2B5EF4-FFF2-40B4-BE49-F238E27FC236}">
                <a16:creationId xmlns:a16="http://schemas.microsoft.com/office/drawing/2014/main" id="{27314231-13AB-4EDA-B60A-3EF552300B7E}"/>
              </a:ext>
            </a:extLst>
          </p:cNvPr>
          <p:cNvSpPr>
            <a:spLocks noGrp="1"/>
          </p:cNvSpPr>
          <p:nvPr/>
        </p:nvSpPr>
        <p:spPr>
          <a:xfrm>
            <a:off x="430816" y="3553682"/>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Give the difference and percentage above/below target to 3 decimal places.</a:t>
            </a:r>
          </a:p>
        </p:txBody>
      </p:sp>
      <p:sp>
        <p:nvSpPr>
          <p:cNvPr id="8" name="Content 209">
            <a:extLst>
              <a:ext uri="{FF2B5EF4-FFF2-40B4-BE49-F238E27FC236}">
                <a16:creationId xmlns:a16="http://schemas.microsoft.com/office/drawing/2014/main" id="{0168F8EB-D38A-4C83-9C60-A18FAAF00BD6}"/>
              </a:ext>
            </a:extLst>
          </p:cNvPr>
          <p:cNvSpPr>
            <a:spLocks noGrp="1"/>
          </p:cNvSpPr>
          <p:nvPr/>
        </p:nvSpPr>
        <p:spPr>
          <a:xfrm>
            <a:off x="430816" y="4087368"/>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Recalculate using unrounded prices until the final total.</a:t>
            </a:r>
          </a:p>
        </p:txBody>
      </p:sp>
      <p:sp>
        <p:nvSpPr>
          <p:cNvPr id="9" name="Content 210">
            <a:extLst>
              <a:ext uri="{FF2B5EF4-FFF2-40B4-BE49-F238E27FC236}">
                <a16:creationId xmlns:a16="http://schemas.microsoft.com/office/drawing/2014/main" id="{F4D554E3-1CA0-421B-80A4-54A430AD6348}"/>
              </a:ext>
            </a:extLst>
          </p:cNvPr>
          <p:cNvSpPr>
            <a:spLocks noGrp="1"/>
          </p:cNvSpPr>
          <p:nvPr/>
        </p:nvSpPr>
        <p:spPr>
          <a:xfrm>
            <a:off x="430816" y="4621054"/>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How different is the answer? Which follows the charging rule?</a:t>
            </a:r>
          </a:p>
        </p:txBody>
      </p:sp>
    </p:spTree>
    <p:extLst>
      <p:ext uri="{BB962C8B-B14F-4D97-AF65-F5344CB8AC3E}">
        <p14:creationId xmlns:p14="http://schemas.microsoft.com/office/powerpoint/2010/main" val="41587989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C5A: Total money and the target</a:t>
            </a:r>
          </a:p>
        </p:txBody>
      </p:sp>
      <p:sp>
        <p:nvSpPr>
          <p:cNvPr id="3" name="Handout reference C5A">
            <a:extLst>
              <a:ext uri="{FF2B5EF4-FFF2-40B4-BE49-F238E27FC236}">
                <a16:creationId xmlns:a16="http://schemas.microsoft.com/office/drawing/2014/main" id="{643684DE-96C3-4A3E-849A-503BCFC6EF4A}"/>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C5A</a:t>
            </a:r>
          </a:p>
        </p:txBody>
      </p:sp>
      <p:graphicFrame>
        <p:nvGraphicFramePr>
          <p:cNvPr id="23" name="Table 22"/>
          <p:cNvGraphicFramePr/>
          <p:nvPr/>
        </p:nvGraphicFramePr>
        <p:xfrm>
          <a:off x="430816" y="1981200"/>
          <a:ext cx="11293412" cy="1943100"/>
        </p:xfrm>
        <a:graphic>
          <a:graphicData uri="http://schemas.openxmlformats.org/drawingml/2006/table">
            <a:tbl>
              <a:tblPr/>
              <a:tblGrid>
                <a:gridCol w="3619500">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gridCol w="2381250">
                  <a:extLst>
                    <a:ext uri="{9D8B030D-6E8A-4147-A177-3AD203B41FA5}">
                      <a16:colId xmlns:a16="http://schemas.microsoft.com/office/drawing/2014/main" val="20002"/>
                    </a:ext>
                  </a:extLst>
                </a:gridCol>
                <a:gridCol w="3721037">
                  <a:extLst>
                    <a:ext uri="{9D8B030D-6E8A-4147-A177-3AD203B41FA5}">
                      <a16:colId xmlns:a16="http://schemas.microsoft.com/office/drawing/2014/main" val="20003"/>
                    </a:ext>
                  </a:extLst>
                </a:gridCol>
              </a:tblGrid>
              <a:tr h="457200">
                <a:tc>
                  <a:txBody>
                    <a:bodyPr/>
                    <a:lstStyle/>
                    <a:p>
                      <a:r>
                        <a:rPr sz="2175" b="1">
                          <a:solidFill>
                            <a:srgbClr val="FFFFFF"/>
                          </a:solidFill>
                          <a:latin typeface="Aptos"/>
                          <a:ea typeface="Aptos"/>
                          <a:cs typeface="Aptos"/>
                        </a:rPr>
                        <a:t>Group</a:t>
                      </a:r>
                    </a:p>
                  </a:txBody>
                  <a:tcPr marL="114300" marR="114300" marT="76200" marB="76200" anchor="ctr">
                    <a:solidFill>
                      <a:srgbClr val="D6171D"/>
                    </a:solidFill>
                  </a:tcPr>
                </a:tc>
                <a:tc>
                  <a:txBody>
                    <a:bodyPr/>
                    <a:lstStyle/>
                    <a:p>
                      <a:r>
                        <a:rPr sz="2175" b="1">
                          <a:solidFill>
                            <a:srgbClr val="FFFFFF"/>
                          </a:solidFill>
                          <a:latin typeface="Aptos"/>
                          <a:ea typeface="Aptos"/>
                          <a:cs typeface="Aptos"/>
                        </a:rPr>
                        <a:t>Orders</a:t>
                      </a:r>
                    </a:p>
                  </a:txBody>
                  <a:tcPr marL="114300" marR="114300" marT="76200" marB="76200" anchor="ctr">
                    <a:solidFill>
                      <a:srgbClr val="D6171D"/>
                    </a:solidFill>
                  </a:tcPr>
                </a:tc>
                <a:tc>
                  <a:txBody>
                    <a:bodyPr/>
                    <a:lstStyle/>
                    <a:p>
                      <a:r>
                        <a:rPr sz="2175" b="1">
                          <a:solidFill>
                            <a:srgbClr val="FFFFFF"/>
                          </a:solidFill>
                          <a:latin typeface="Aptos"/>
                          <a:ea typeface="Aptos"/>
                          <a:cs typeface="Aptos"/>
                        </a:rPr>
                        <a:t>Charged price</a:t>
                      </a:r>
                    </a:p>
                  </a:txBody>
                  <a:tcPr marL="114300" marR="114300" marT="76200" marB="76200" anchor="ctr">
                    <a:solidFill>
                      <a:srgbClr val="D6171D"/>
                    </a:solidFill>
                  </a:tcPr>
                </a:tc>
                <a:tc>
                  <a:txBody>
                    <a:bodyPr/>
                    <a:lstStyle/>
                    <a:p>
                      <a:r>
                        <a:rPr sz="2175" b="1">
                          <a:solidFill>
                            <a:srgbClr val="FFFFFF"/>
                          </a:solidFill>
                          <a:latin typeface="Aptos"/>
                          <a:ea typeface="Aptos"/>
                          <a:cs typeface="Aptos"/>
                        </a:rPr>
                        <a:t>Money received</a:t>
                      </a:r>
                    </a:p>
                  </a:txBody>
                  <a:tcPr marL="114300" marR="114300" marT="76200" marB="76200" anchor="ctr">
                    <a:solidFill>
                      <a:srgbClr val="D6171D"/>
                    </a:solidFill>
                  </a:tcPr>
                </a:tc>
                <a:extLst>
                  <a:ext uri="{0D108BD9-81ED-4DB2-BD59-A6C34878D82A}">
                    <a16:rowId xmlns:a16="http://schemas.microsoft.com/office/drawing/2014/main" val="10000"/>
                  </a:ext>
                </a:extLst>
              </a:tr>
              <a:tr h="495300">
                <a:tc>
                  <a:txBody>
                    <a:bodyPr/>
                    <a:lstStyle/>
                    <a:p>
                      <a:r>
                        <a:rPr sz="2175" b="0">
                          <a:solidFill>
                            <a:srgbClr val="111111"/>
                          </a:solidFill>
                          <a:latin typeface="Aptos"/>
                          <a:ea typeface="Aptos"/>
                          <a:cs typeface="Aptos"/>
                        </a:rPr>
                        <a:t>Students</a:t>
                      </a:r>
                    </a:p>
                  </a:txBody>
                  <a:tcPr marL="114300" marR="114300" marT="76200" marB="76200" anchor="ctr">
                    <a:solidFill>
                      <a:srgbClr val="FFFFFF"/>
                    </a:solidFill>
                  </a:tcPr>
                </a:tc>
                <a:tc>
                  <a:txBody>
                    <a:bodyPr/>
                    <a:lstStyle/>
                    <a:p>
                      <a:r>
                        <a:rPr sz="2175" b="0">
                          <a:solidFill>
                            <a:srgbClr val="111111"/>
                          </a:solidFill>
                          <a:latin typeface="Aptos"/>
                          <a:ea typeface="Aptos"/>
                          <a:cs typeface="Aptos"/>
                        </a:rPr>
                        <a:t>420</a:t>
                      </a:r>
                    </a:p>
                  </a:txBody>
                  <a:tcPr marL="114300" marR="114300" marT="76200" marB="76200" anchor="ctr">
                    <a:solidFill>
                      <a:srgbClr val="FFFFFF"/>
                    </a:solidFill>
                  </a:tcPr>
                </a:tc>
                <a:tc>
                  <a:txBody>
                    <a:bodyPr/>
                    <a:lstStyle/>
                    <a:p>
                      <a:r>
                        <a:rPr sz="2175" b="0">
                          <a:solidFill>
                            <a:srgbClr val="111111"/>
                          </a:solidFill>
                          <a:latin typeface="Aptos"/>
                          <a:ea typeface="Aptos"/>
                          <a:cs typeface="Aptos"/>
                        </a:rPr>
                        <a:t>¥113.44</a:t>
                      </a:r>
                    </a:p>
                  </a:txBody>
                  <a:tcPr marL="114300" marR="114300" marT="76200" marB="76200" anchor="ctr">
                    <a:solidFill>
                      <a:srgbClr val="FFFFFF"/>
                    </a:solidFill>
                  </a:tcPr>
                </a:tc>
                <a:tc>
                  <a:txBody>
                    <a:bodyPr/>
                    <a:lstStyle/>
                    <a:p>
                      <a:r>
                        <a:rPr sz="2175" b="0">
                          <a:solidFill>
                            <a:srgbClr val="111111"/>
                          </a:solidFill>
                          <a:latin typeface="Aptos"/>
                          <a:ea typeface="Aptos"/>
                          <a:cs typeface="Aptos"/>
                        </a:rPr>
                        <a:t>¥47,644.80</a:t>
                      </a:r>
                    </a:p>
                  </a:txBody>
                  <a:tcPr marL="114300" marR="114300" marT="76200" marB="76200" anchor="ctr">
                    <a:solidFill>
                      <a:srgbClr val="FFFFFF"/>
                    </a:solidFill>
                  </a:tcPr>
                </a:tc>
                <a:extLst>
                  <a:ext uri="{0D108BD9-81ED-4DB2-BD59-A6C34878D82A}">
                    <a16:rowId xmlns:a16="http://schemas.microsoft.com/office/drawing/2014/main" val="10001"/>
                  </a:ext>
                </a:extLst>
              </a:tr>
              <a:tr h="495300">
                <a:tc>
                  <a:txBody>
                    <a:bodyPr/>
                    <a:lstStyle/>
                    <a:p>
                      <a:r>
                        <a:rPr sz="2175" b="0">
                          <a:solidFill>
                            <a:srgbClr val="111111"/>
                          </a:solidFill>
                          <a:latin typeface="Aptos"/>
                          <a:ea typeface="Aptos"/>
                          <a:cs typeface="Aptos"/>
                        </a:rPr>
                        <a:t>Staff</a:t>
                      </a:r>
                    </a:p>
                  </a:txBody>
                  <a:tcPr marL="114300" marR="114300" marT="76200" marB="76200" anchor="ctr">
                    <a:solidFill>
                      <a:srgbClr val="EEF8FF"/>
                    </a:solidFill>
                  </a:tcPr>
                </a:tc>
                <a:tc>
                  <a:txBody>
                    <a:bodyPr/>
                    <a:lstStyle/>
                    <a:p>
                      <a:r>
                        <a:rPr sz="2175" b="0">
                          <a:solidFill>
                            <a:srgbClr val="111111"/>
                          </a:solidFill>
                          <a:latin typeface="Aptos"/>
                          <a:ea typeface="Aptos"/>
                          <a:cs typeface="Aptos"/>
                        </a:rPr>
                        <a:t>240</a:t>
                      </a:r>
                    </a:p>
                  </a:txBody>
                  <a:tcPr marL="114300" marR="114300" marT="76200" marB="76200" anchor="ctr">
                    <a:solidFill>
                      <a:srgbClr val="EEF8FF"/>
                    </a:solidFill>
                  </a:tcPr>
                </a:tc>
                <a:tc>
                  <a:txBody>
                    <a:bodyPr/>
                    <a:lstStyle/>
                    <a:p>
                      <a:r>
                        <a:rPr sz="2175" b="0">
                          <a:solidFill>
                            <a:srgbClr val="111111"/>
                          </a:solidFill>
                          <a:latin typeface="Aptos"/>
                          <a:ea typeface="Aptos"/>
                          <a:cs typeface="Aptos"/>
                        </a:rPr>
                        <a:t>¥126.50</a:t>
                      </a:r>
                    </a:p>
                  </a:txBody>
                  <a:tcPr marL="114300" marR="114300" marT="76200" marB="76200" anchor="ctr">
                    <a:solidFill>
                      <a:srgbClr val="EEF8FF"/>
                    </a:solidFill>
                  </a:tcPr>
                </a:tc>
                <a:tc>
                  <a:txBody>
                    <a:bodyPr/>
                    <a:lstStyle/>
                    <a:p>
                      <a:r>
                        <a:rPr sz="2175" b="0">
                          <a:solidFill>
                            <a:srgbClr val="111111"/>
                          </a:solidFill>
                          <a:latin typeface="Aptos"/>
                          <a:ea typeface="Aptos"/>
                          <a:cs typeface="Aptos"/>
                        </a:rPr>
                        <a:t>¥30,360.00</a:t>
                      </a:r>
                    </a:p>
                  </a:txBody>
                  <a:tcPr marL="114300" marR="114300" marT="76200" marB="76200" anchor="ctr">
                    <a:solidFill>
                      <a:srgbClr val="EEF8FF"/>
                    </a:solidFill>
                  </a:tcPr>
                </a:tc>
                <a:extLst>
                  <a:ext uri="{0D108BD9-81ED-4DB2-BD59-A6C34878D82A}">
                    <a16:rowId xmlns:a16="http://schemas.microsoft.com/office/drawing/2014/main" val="10002"/>
                  </a:ext>
                </a:extLst>
              </a:tr>
              <a:tr h="495300">
                <a:tc>
                  <a:txBody>
                    <a:bodyPr/>
                    <a:lstStyle/>
                    <a:p>
                      <a:r>
                        <a:rPr sz="2175" b="0">
                          <a:solidFill>
                            <a:srgbClr val="111111"/>
                          </a:solidFill>
                          <a:latin typeface="Aptos"/>
                          <a:ea typeface="Aptos"/>
                          <a:cs typeface="Aptos"/>
                        </a:rPr>
                        <a:t>TOTAL</a:t>
                      </a:r>
                    </a:p>
                  </a:txBody>
                  <a:tcPr marL="114300" marR="114300" marT="76200" marB="76200" anchor="ctr">
                    <a:solidFill>
                      <a:srgbClr val="FFFFFF"/>
                    </a:solidFill>
                  </a:tcPr>
                </a:tc>
                <a:tc>
                  <a:txBody>
                    <a:bodyPr/>
                    <a:lstStyle/>
                    <a:p>
                      <a:r>
                        <a:rPr sz="2175" b="0">
                          <a:solidFill>
                            <a:srgbClr val="111111"/>
                          </a:solidFill>
                          <a:latin typeface="Aptos"/>
                          <a:ea typeface="Aptos"/>
                          <a:cs typeface="Aptos"/>
                        </a:rPr>
                        <a:t>660</a:t>
                      </a:r>
                    </a:p>
                  </a:txBody>
                  <a:tcPr marL="114300" marR="114300" marT="76200" marB="76200" anchor="ctr">
                    <a:solidFill>
                      <a:srgbClr val="FFFFFF"/>
                    </a:solidFill>
                  </a:tcPr>
                </a:tc>
                <a:tc>
                  <a:txBody>
                    <a:bodyPr/>
                    <a:lstStyle/>
                    <a:p>
                      <a:r>
                        <a:rPr sz="2175" b="0">
                          <a:solidFill>
                            <a:srgbClr val="111111"/>
                          </a:solidFill>
                          <a:latin typeface="Aptos"/>
                          <a:ea typeface="Aptos"/>
                          <a:cs typeface="Aptos"/>
                        </a:rPr>
                        <a:t>—</a:t>
                      </a:r>
                    </a:p>
                  </a:txBody>
                  <a:tcPr marL="114300" marR="114300" marT="76200" marB="76200" anchor="ctr">
                    <a:solidFill>
                      <a:srgbClr val="FFFFFF"/>
                    </a:solidFill>
                  </a:tcPr>
                </a:tc>
                <a:tc>
                  <a:txBody>
                    <a:bodyPr/>
                    <a:lstStyle/>
                    <a:p>
                      <a:r>
                        <a:rPr sz="2175" b="0">
                          <a:solidFill>
                            <a:srgbClr val="111111"/>
                          </a:solidFill>
                          <a:latin typeface="Aptos"/>
                          <a:ea typeface="Aptos"/>
                          <a:cs typeface="Aptos"/>
                        </a:rPr>
                        <a:t>¥78,004.80</a:t>
                      </a:r>
                    </a:p>
                  </a:txBody>
                  <a:tcPr marL="114300" marR="114300" marT="76200" marB="76200" anchor="ctr">
                    <a:solidFill>
                      <a:srgbClr val="FFFFFF"/>
                    </a:solidFill>
                  </a:tcPr>
                </a:tc>
                <a:extLst>
                  <a:ext uri="{0D108BD9-81ED-4DB2-BD59-A6C34878D82A}">
                    <a16:rowId xmlns:a16="http://schemas.microsoft.com/office/drawing/2014/main" val="10003"/>
                  </a:ext>
                </a:extLst>
              </a:tr>
            </a:tbl>
          </a:graphicData>
        </a:graphic>
      </p:graphicFrame>
      <p:sp>
        <p:nvSpPr>
          <p:cNvPr id="14" name="Clarified text 155">
            <a:extLst>
              <a:ext uri="{FF2B5EF4-FFF2-40B4-BE49-F238E27FC236}">
                <a16:creationId xmlns:a16="http://schemas.microsoft.com/office/drawing/2014/main" id="{957F44A6-9C47-4571-90E4-D576375350EA}"/>
              </a:ext>
            </a:extLst>
          </p:cNvPr>
          <p:cNvSpPr>
            <a:spLocks noGrp="1"/>
          </p:cNvSpPr>
          <p:nvPr/>
        </p:nvSpPr>
        <p:spPr>
          <a:xfrm>
            <a:off x="428625" y="4105275"/>
            <a:ext cx="11296650" cy="428625"/>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Multiply each charged price by the number of orders.</a:t>
            </a:r>
          </a:p>
        </p:txBody>
      </p:sp>
      <p:sp>
        <p:nvSpPr>
          <p:cNvPr id="15" name="Clarified text 156">
            <a:extLst>
              <a:ext uri="{FF2B5EF4-FFF2-40B4-BE49-F238E27FC236}">
                <a16:creationId xmlns:a16="http://schemas.microsoft.com/office/drawing/2014/main" id="{959DCEFD-7136-47C7-ABD7-D783378F94D2}"/>
              </a:ext>
            </a:extLst>
          </p:cNvPr>
          <p:cNvSpPr>
            <a:spLocks noGrp="1"/>
          </p:cNvSpPr>
          <p:nvPr/>
        </p:nvSpPr>
        <p:spPr>
          <a:xfrm>
            <a:off x="428625" y="4600575"/>
            <a:ext cx="11296650" cy="428625"/>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¥78,004.80 − ¥78,000 = ¥4.80 above target.</a:t>
            </a:r>
          </a:p>
        </p:txBody>
      </p:sp>
      <p:sp>
        <p:nvSpPr>
          <p:cNvPr id="16" name="Clarified text 157">
            <a:extLst>
              <a:ext uri="{FF2B5EF4-FFF2-40B4-BE49-F238E27FC236}">
                <a16:creationId xmlns:a16="http://schemas.microsoft.com/office/drawing/2014/main" id="{15037482-036D-4390-9C9B-9366C0FA57A7}"/>
              </a:ext>
            </a:extLst>
          </p:cNvPr>
          <p:cNvSpPr>
            <a:spLocks noGrp="1"/>
          </p:cNvSpPr>
          <p:nvPr/>
        </p:nvSpPr>
        <p:spPr>
          <a:xfrm>
            <a:off x="685800" y="5400675"/>
            <a:ext cx="2333625" cy="495300"/>
          </a:xfrm>
          <a:prstGeom prst="rect">
            <a:avLst/>
          </a:prstGeom>
          <a:noFill/>
          <a:ln w="0">
            <a:noFill/>
          </a:ln>
        </p:spPr>
        <p:txBody>
          <a:bodyPr wrap="square" lIns="0" tIns="0" rIns="0" bIns="0" anchor="t">
            <a:noAutofit/>
          </a:bodyPr>
          <a:lstStyle/>
          <a:p>
            <a:pPr algn="l">
              <a:lnSpc>
                <a:spcPct val="108000"/>
              </a:lnSpc>
              <a:buNone/>
              <a:defRPr sz="2250" b="0">
                <a:solidFill>
                  <a:srgbClr val="111111"/>
                </a:solidFill>
                <a:latin typeface="Aptos"/>
                <a:ea typeface="Aptos"/>
                <a:cs typeface="Aptos"/>
              </a:defRPr>
            </a:pPr>
            <a:r>
              <a:rPr sz="2250" b="0">
                <a:solidFill>
                  <a:srgbClr val="111111"/>
                </a:solidFill>
                <a:latin typeface="Aptos"/>
                <a:ea typeface="Aptos"/>
                <a:cs typeface="Aptos"/>
              </a:rPr>
              <a:t>Above target =</a:t>
            </a:r>
          </a:p>
        </p:txBody>
      </p:sp>
      <p:sp>
        <p:nvSpPr>
          <p:cNvPr id="17" name="Clarified text 158">
            <a:extLst>
              <a:ext uri="{FF2B5EF4-FFF2-40B4-BE49-F238E27FC236}">
                <a16:creationId xmlns:a16="http://schemas.microsoft.com/office/drawing/2014/main" id="{846566A4-7EC0-4231-AC59-25F647E9D2CE}"/>
              </a:ext>
            </a:extLst>
          </p:cNvPr>
          <p:cNvSpPr>
            <a:spLocks noGrp="1"/>
          </p:cNvSpPr>
          <p:nvPr/>
        </p:nvSpPr>
        <p:spPr>
          <a:xfrm>
            <a:off x="3019425" y="5153025"/>
            <a:ext cx="1714500" cy="400050"/>
          </a:xfrm>
          <a:prstGeom prst="rect">
            <a:avLst/>
          </a:prstGeom>
          <a:noFill/>
          <a:ln w="0">
            <a:noFill/>
          </a:ln>
        </p:spPr>
        <p:txBody>
          <a:bodyPr wrap="square" lIns="0" tIns="0" rIns="0" bIns="0" anchor="t">
            <a:noAutofit/>
          </a:bodyPr>
          <a:lstStyle/>
          <a:p>
            <a:pPr algn="ctr">
              <a:lnSpc>
                <a:spcPct val="108000"/>
              </a:lnSpc>
              <a:buNone/>
              <a:defRPr sz="2250" b="0">
                <a:solidFill>
                  <a:srgbClr val="111111"/>
                </a:solidFill>
                <a:latin typeface="Aptos"/>
                <a:ea typeface="Aptos"/>
                <a:cs typeface="Aptos"/>
              </a:defRPr>
            </a:pPr>
            <a:r>
              <a:rPr sz="2250" b="0">
                <a:solidFill>
                  <a:srgbClr val="111111"/>
                </a:solidFill>
                <a:latin typeface="Aptos"/>
                <a:ea typeface="Aptos"/>
                <a:cs typeface="Aptos"/>
              </a:rPr>
              <a:t>4.80</a:t>
            </a:r>
          </a:p>
        </p:txBody>
      </p:sp>
      <p:sp>
        <p:nvSpPr>
          <p:cNvPr id="18" name="Fraction bar">
            <a:extLst>
              <a:ext uri="{FF2B5EF4-FFF2-40B4-BE49-F238E27FC236}">
                <a16:creationId xmlns:a16="http://schemas.microsoft.com/office/drawing/2014/main" id="{E201D294-9099-45B4-80BF-0C1379AEC05F}"/>
              </a:ext>
            </a:extLst>
          </p:cNvPr>
          <p:cNvSpPr>
            <a:spLocks noGrp="1"/>
          </p:cNvSpPr>
          <p:nvPr/>
        </p:nvSpPr>
        <p:spPr>
          <a:xfrm>
            <a:off x="3019425" y="5562600"/>
            <a:ext cx="1714500" cy="0"/>
          </a:xfrm>
          <a:prstGeom prst="line">
            <a:avLst/>
          </a:prstGeom>
          <a:noFill/>
          <a:ln w="14288">
            <a:solidFill>
              <a:srgbClr val="111111"/>
            </a:solidFill>
          </a:ln>
        </p:spPr>
        <p:txBody>
          <a:bodyPr/>
          <a:lstStyle/>
          <a:p>
            <a:endParaRPr lang="en-US"/>
          </a:p>
        </p:txBody>
      </p:sp>
      <p:sp>
        <p:nvSpPr>
          <p:cNvPr id="19" name="Clarified text 159">
            <a:extLst>
              <a:ext uri="{FF2B5EF4-FFF2-40B4-BE49-F238E27FC236}">
                <a16:creationId xmlns:a16="http://schemas.microsoft.com/office/drawing/2014/main" id="{E63A63D8-E095-4231-95BF-37A66C61A3F0}"/>
              </a:ext>
            </a:extLst>
          </p:cNvPr>
          <p:cNvSpPr>
            <a:spLocks noGrp="1"/>
          </p:cNvSpPr>
          <p:nvPr/>
        </p:nvSpPr>
        <p:spPr>
          <a:xfrm>
            <a:off x="3019425" y="5600700"/>
            <a:ext cx="1714500" cy="400050"/>
          </a:xfrm>
          <a:prstGeom prst="rect">
            <a:avLst/>
          </a:prstGeom>
          <a:noFill/>
          <a:ln w="0">
            <a:noFill/>
          </a:ln>
        </p:spPr>
        <p:txBody>
          <a:bodyPr wrap="square" lIns="0" tIns="0" rIns="0" bIns="0" anchor="t">
            <a:noAutofit/>
          </a:bodyPr>
          <a:lstStyle/>
          <a:p>
            <a:pPr algn="ctr">
              <a:lnSpc>
                <a:spcPct val="108000"/>
              </a:lnSpc>
              <a:buNone/>
              <a:defRPr sz="2250" b="0">
                <a:solidFill>
                  <a:srgbClr val="111111"/>
                </a:solidFill>
                <a:latin typeface="Aptos"/>
                <a:ea typeface="Aptos"/>
                <a:cs typeface="Aptos"/>
              </a:defRPr>
            </a:pPr>
            <a:r>
              <a:rPr sz="2250" b="0">
                <a:solidFill>
                  <a:srgbClr val="111111"/>
                </a:solidFill>
                <a:latin typeface="Aptos"/>
                <a:ea typeface="Aptos"/>
                <a:cs typeface="Aptos"/>
              </a:rPr>
              <a:t>78,000</a:t>
            </a:r>
          </a:p>
        </p:txBody>
      </p:sp>
      <p:sp>
        <p:nvSpPr>
          <p:cNvPr id="20" name="Clarified text 160">
            <a:extLst>
              <a:ext uri="{FF2B5EF4-FFF2-40B4-BE49-F238E27FC236}">
                <a16:creationId xmlns:a16="http://schemas.microsoft.com/office/drawing/2014/main" id="{84E1C70B-C405-47F4-8692-D32CD63BB90A}"/>
              </a:ext>
            </a:extLst>
          </p:cNvPr>
          <p:cNvSpPr>
            <a:spLocks noGrp="1"/>
          </p:cNvSpPr>
          <p:nvPr/>
        </p:nvSpPr>
        <p:spPr>
          <a:xfrm>
            <a:off x="4905375" y="5400675"/>
            <a:ext cx="6819900" cy="609600"/>
          </a:xfrm>
          <a:prstGeom prst="rect">
            <a:avLst/>
          </a:prstGeom>
          <a:noFill/>
          <a:ln w="0">
            <a:noFill/>
          </a:ln>
        </p:spPr>
        <p:txBody>
          <a:bodyPr wrap="square" lIns="0" tIns="0" rIns="0" bIns="0" anchor="t">
            <a:noAutofit/>
          </a:bodyPr>
          <a:lstStyle/>
          <a:p>
            <a:pPr algn="l">
              <a:lnSpc>
                <a:spcPct val="108000"/>
              </a:lnSpc>
              <a:buNone/>
              <a:defRPr sz="2250" b="0">
                <a:solidFill>
                  <a:srgbClr val="111111"/>
                </a:solidFill>
                <a:latin typeface="Aptos"/>
                <a:ea typeface="Aptos"/>
                <a:cs typeface="Aptos"/>
              </a:defRPr>
            </a:pPr>
            <a:r>
              <a:rPr sz="2250" b="0">
                <a:solidFill>
                  <a:srgbClr val="111111"/>
                </a:solidFill>
                <a:latin typeface="Aptos"/>
                <a:ea typeface="Aptos"/>
                <a:cs typeface="Aptos"/>
              </a:rPr>
              <a:t>× 100% ≈ 0.006%</a:t>
            </a:r>
          </a:p>
        </p:txBody>
      </p:sp>
    </p:spTree>
    <p:extLst>
      <p:ext uri="{BB962C8B-B14F-4D97-AF65-F5344CB8AC3E}">
        <p14:creationId xmlns:p14="http://schemas.microsoft.com/office/powerpoint/2010/main" val="41587989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C5A: Why the rounding rule matters</a:t>
            </a:r>
          </a:p>
        </p:txBody>
      </p:sp>
      <p:sp>
        <p:nvSpPr>
          <p:cNvPr id="3" name="Handout reference C5A">
            <a:extLst>
              <a:ext uri="{FF2B5EF4-FFF2-40B4-BE49-F238E27FC236}">
                <a16:creationId xmlns:a16="http://schemas.microsoft.com/office/drawing/2014/main" id="{4EB2D2FB-B821-4547-8ED2-0DDE93928964}"/>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C5A</a:t>
            </a:r>
          </a:p>
        </p:txBody>
      </p:sp>
      <p:sp>
        <p:nvSpPr>
          <p:cNvPr id="4" name="Clarified text 161">
            <a:extLst>
              <a:ext uri="{FF2B5EF4-FFF2-40B4-BE49-F238E27FC236}">
                <a16:creationId xmlns:a16="http://schemas.microsoft.com/office/drawing/2014/main" id="{198AC68C-B744-4854-8C5F-4D07B0515D6A}"/>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The question says to round each price before charging.</a:t>
            </a:r>
          </a:p>
        </p:txBody>
      </p:sp>
      <p:sp>
        <p:nvSpPr>
          <p:cNvPr id="5" name="Clarified text 162">
            <a:extLst>
              <a:ext uri="{FF2B5EF4-FFF2-40B4-BE49-F238E27FC236}">
                <a16:creationId xmlns:a16="http://schemas.microsoft.com/office/drawing/2014/main" id="{2F6C0B6D-52DB-4C30-9489-6D036D324684}"/>
              </a:ext>
            </a:extLst>
          </p:cNvPr>
          <p:cNvSpPr>
            <a:spLocks noGrp="1"/>
          </p:cNvSpPr>
          <p:nvPr/>
        </p:nvSpPr>
        <p:spPr>
          <a:xfrm>
            <a:off x="430816" y="2448211"/>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Each student pays ¥113.44. Each staff member pays ¥126.50.</a:t>
            </a:r>
          </a:p>
        </p:txBody>
      </p:sp>
      <p:sp>
        <p:nvSpPr>
          <p:cNvPr id="6" name="Clarified text 163">
            <a:extLst>
              <a:ext uri="{FF2B5EF4-FFF2-40B4-BE49-F238E27FC236}">
                <a16:creationId xmlns:a16="http://schemas.microsoft.com/office/drawing/2014/main" id="{A3383ACB-2478-41F3-9A5F-A1473DD6DB84}"/>
              </a:ext>
            </a:extLst>
          </p:cNvPr>
          <p:cNvSpPr>
            <a:spLocks noGrp="1"/>
          </p:cNvSpPr>
          <p:nvPr/>
        </p:nvSpPr>
        <p:spPr>
          <a:xfrm>
            <a:off x="430816" y="294379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420 × ¥113.44 + 240 × ¥126.50 = ¥78,004.80.</a:t>
            </a:r>
          </a:p>
        </p:txBody>
      </p:sp>
      <p:sp>
        <p:nvSpPr>
          <p:cNvPr id="7" name="Clarified text 164">
            <a:extLst>
              <a:ext uri="{FF2B5EF4-FFF2-40B4-BE49-F238E27FC236}">
                <a16:creationId xmlns:a16="http://schemas.microsoft.com/office/drawing/2014/main" id="{2D533EE0-9299-4922-9F75-34D8410EC76C}"/>
              </a:ext>
            </a:extLst>
          </p:cNvPr>
          <p:cNvSpPr>
            <a:spLocks noGrp="1"/>
          </p:cNvSpPr>
          <p:nvPr/>
        </p:nvSpPr>
        <p:spPr>
          <a:xfrm>
            <a:off x="430816" y="3439382"/>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Alternative: keep the student price as ¥113.4375.</a:t>
            </a:r>
          </a:p>
        </p:txBody>
      </p:sp>
      <p:sp>
        <p:nvSpPr>
          <p:cNvPr id="8" name="Clarified text 165">
            <a:extLst>
              <a:ext uri="{FF2B5EF4-FFF2-40B4-BE49-F238E27FC236}">
                <a16:creationId xmlns:a16="http://schemas.microsoft.com/office/drawing/2014/main" id="{7C8AE206-6F43-4E20-826C-27DA86504C46}"/>
              </a:ext>
            </a:extLst>
          </p:cNvPr>
          <p:cNvSpPr>
            <a:spLocks noGrp="1"/>
          </p:cNvSpPr>
          <p:nvPr/>
        </p:nvSpPr>
        <p:spPr>
          <a:xfrm>
            <a:off x="430816" y="3934968"/>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420 × ¥113.4375 + 240 × ¥126.50 = ¥78,003.75.</a:t>
            </a:r>
          </a:p>
        </p:txBody>
      </p:sp>
      <p:sp>
        <p:nvSpPr>
          <p:cNvPr id="9" name="Clarified text 166">
            <a:extLst>
              <a:ext uri="{FF2B5EF4-FFF2-40B4-BE49-F238E27FC236}">
                <a16:creationId xmlns:a16="http://schemas.microsoft.com/office/drawing/2014/main" id="{4161F852-7DF9-442A-B45B-029507F2D39A}"/>
              </a:ext>
            </a:extLst>
          </p:cNvPr>
          <p:cNvSpPr>
            <a:spLocks noGrp="1"/>
          </p:cNvSpPr>
          <p:nvPr/>
        </p:nvSpPr>
        <p:spPr>
          <a:xfrm>
            <a:off x="430816" y="4430554"/>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Difference: ¥78,004.80 − ¥78,003.75 = ¥1.05.</a:t>
            </a:r>
          </a:p>
        </p:txBody>
      </p:sp>
      <p:sp>
        <p:nvSpPr>
          <p:cNvPr id="10" name="Clarified text 167">
            <a:extLst>
              <a:ext uri="{FF2B5EF4-FFF2-40B4-BE49-F238E27FC236}">
                <a16:creationId xmlns:a16="http://schemas.microsoft.com/office/drawing/2014/main" id="{F86770BA-5251-4ED9-8D56-7D8732B65156}"/>
              </a:ext>
            </a:extLst>
          </p:cNvPr>
          <p:cNvSpPr>
            <a:spLocks noGrp="1"/>
          </p:cNvSpPr>
          <p:nvPr/>
        </p:nvSpPr>
        <p:spPr>
          <a:xfrm>
            <a:off x="430816" y="4926139"/>
            <a:ext cx="11293412" cy="72447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The alternative is ¥1.05 below the amount actually charged. The first</a:t>
            </a:r>
          </a:p>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calculation follows the stated rule.</a:t>
            </a:r>
          </a:p>
        </p:txBody>
      </p:sp>
    </p:spTree>
    <p:extLst>
      <p:ext uri="{BB962C8B-B14F-4D97-AF65-F5344CB8AC3E}">
        <p14:creationId xmlns:p14="http://schemas.microsoft.com/office/powerpoint/2010/main" val="41587989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C5B: Two discounts on one bottle</a:t>
            </a:r>
          </a:p>
        </p:txBody>
      </p:sp>
      <p:sp>
        <p:nvSpPr>
          <p:cNvPr id="3" name="Handout reference C5B">
            <a:extLst>
              <a:ext uri="{FF2B5EF4-FFF2-40B4-BE49-F238E27FC236}">
                <a16:creationId xmlns:a16="http://schemas.microsoft.com/office/drawing/2014/main" id="{E9B4CD99-D995-4E84-88AE-B555B3435D6D}"/>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C5B</a:t>
            </a:r>
          </a:p>
        </p:txBody>
      </p:sp>
      <p:sp>
        <p:nvSpPr>
          <p:cNvPr id="4" name="Clarified text 29">
            <a:extLst>
              <a:ext uri="{FF2B5EF4-FFF2-40B4-BE49-F238E27FC236}">
                <a16:creationId xmlns:a16="http://schemas.microsoft.com/office/drawing/2014/main" id="{BDC70F13-6DA8-4797-B14C-AF3DD1AFE65F}"/>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Original price: ¥137.50.</a:t>
            </a:r>
          </a:p>
        </p:txBody>
      </p:sp>
      <p:sp>
        <p:nvSpPr>
          <p:cNvPr id="5" name="Clarified text 30">
            <a:extLst>
              <a:ext uri="{FF2B5EF4-FFF2-40B4-BE49-F238E27FC236}">
                <a16:creationId xmlns:a16="http://schemas.microsoft.com/office/drawing/2014/main" id="{B117F15E-6E70-4D01-AA85-EB65D1F65E07}"/>
              </a:ext>
            </a:extLst>
          </p:cNvPr>
          <p:cNvSpPr>
            <a:spLocks noGrp="1"/>
          </p:cNvSpPr>
          <p:nvPr/>
        </p:nvSpPr>
        <p:spPr>
          <a:xfrm>
            <a:off x="430816" y="2429161"/>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First discount: 17.5%. Price after rounding: ¥113.44.</a:t>
            </a:r>
          </a:p>
        </p:txBody>
      </p:sp>
      <p:sp>
        <p:nvSpPr>
          <p:cNvPr id="6" name="Clarified text 31">
            <a:extLst>
              <a:ext uri="{FF2B5EF4-FFF2-40B4-BE49-F238E27FC236}">
                <a16:creationId xmlns:a16="http://schemas.microsoft.com/office/drawing/2014/main" id="{11E27D9B-3095-4526-AEB2-F210247C99E1}"/>
              </a:ext>
            </a:extLst>
          </p:cNvPr>
          <p:cNvSpPr>
            <a:spLocks noGrp="1"/>
          </p:cNvSpPr>
          <p:nvPr/>
        </p:nvSpPr>
        <p:spPr>
          <a:xfrm>
            <a:off x="430816" y="2905697"/>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A second discount reduces ¥113.44 to the final price of ¥99.83.</a:t>
            </a:r>
          </a:p>
        </p:txBody>
      </p:sp>
      <p:sp>
        <p:nvSpPr>
          <p:cNvPr id="7" name="Clarified text 32">
            <a:extLst>
              <a:ext uri="{FF2B5EF4-FFF2-40B4-BE49-F238E27FC236}">
                <a16:creationId xmlns:a16="http://schemas.microsoft.com/office/drawing/2014/main" id="{64B81B03-8895-4CBC-A1ED-AB4C475CAC93}"/>
              </a:ext>
            </a:extLst>
          </p:cNvPr>
          <p:cNvSpPr>
            <a:spLocks noGrp="1"/>
          </p:cNvSpPr>
          <p:nvPr/>
        </p:nvSpPr>
        <p:spPr>
          <a:xfrm>
            <a:off x="430816" y="3382232"/>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What is the second discount percentage, r?</a:t>
            </a:r>
          </a:p>
        </p:txBody>
      </p:sp>
      <p:sp>
        <p:nvSpPr>
          <p:cNvPr id="8" name="Clarified text 33">
            <a:extLst>
              <a:ext uri="{FF2B5EF4-FFF2-40B4-BE49-F238E27FC236}">
                <a16:creationId xmlns:a16="http://schemas.microsoft.com/office/drawing/2014/main" id="{0ECF4975-7081-48C2-8C19-7C39059319FF}"/>
              </a:ext>
            </a:extLst>
          </p:cNvPr>
          <p:cNvSpPr>
            <a:spLocks noGrp="1"/>
          </p:cNvSpPr>
          <p:nvPr/>
        </p:nvSpPr>
        <p:spPr>
          <a:xfrm>
            <a:off x="430816" y="3858768"/>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This is the reduction from ¥113.44 to ¥99.83.</a:t>
            </a:r>
          </a:p>
        </p:txBody>
      </p:sp>
      <p:sp>
        <p:nvSpPr>
          <p:cNvPr id="9" name="Clarified text 34">
            <a:extLst>
              <a:ext uri="{FF2B5EF4-FFF2-40B4-BE49-F238E27FC236}">
                <a16:creationId xmlns:a16="http://schemas.microsoft.com/office/drawing/2014/main" id="{9C21FDDF-A503-4DDA-AFDB-865F6BC32BD6}"/>
              </a:ext>
            </a:extLst>
          </p:cNvPr>
          <p:cNvSpPr>
            <a:spLocks noGrp="1"/>
          </p:cNvSpPr>
          <p:nvPr/>
        </p:nvSpPr>
        <p:spPr>
          <a:xfrm>
            <a:off x="430816" y="4335304"/>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What is the total percentage reduction from ¥137.50 to ¥99.83?</a:t>
            </a:r>
          </a:p>
        </p:txBody>
      </p:sp>
      <p:sp>
        <p:nvSpPr>
          <p:cNvPr id="10" name="Clarified text 35">
            <a:extLst>
              <a:ext uri="{FF2B5EF4-FFF2-40B4-BE49-F238E27FC236}">
                <a16:creationId xmlns:a16="http://schemas.microsoft.com/office/drawing/2014/main" id="{2044BCAE-3A35-4358-8538-C4D50BEAFF07}"/>
              </a:ext>
            </a:extLst>
          </p:cNvPr>
          <p:cNvSpPr>
            <a:spLocks noGrp="1"/>
          </p:cNvSpPr>
          <p:nvPr/>
        </p:nvSpPr>
        <p:spPr>
          <a:xfrm>
            <a:off x="430816" y="4811839"/>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Use the displayed prices. Give both percentages to 2 decimal places.</a:t>
            </a:r>
          </a:p>
        </p:txBody>
      </p:sp>
      <p:sp>
        <p:nvSpPr>
          <p:cNvPr id="11" name="Clarified text 36">
            <a:extLst>
              <a:ext uri="{FF2B5EF4-FFF2-40B4-BE49-F238E27FC236}">
                <a16:creationId xmlns:a16="http://schemas.microsoft.com/office/drawing/2014/main" id="{8BBDBD64-6F3A-4609-9BAE-DB7FCBDA053C}"/>
              </a:ext>
            </a:extLst>
          </p:cNvPr>
          <p:cNvSpPr>
            <a:spLocks noGrp="1"/>
          </p:cNvSpPr>
          <p:nvPr/>
        </p:nvSpPr>
        <p:spPr>
          <a:xfrm>
            <a:off x="430816" y="528837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Why can we not add 17.5% and r% to answer Q2?</a:t>
            </a:r>
          </a:p>
        </p:txBody>
      </p:sp>
    </p:spTree>
    <p:extLst>
      <p:ext uri="{BB962C8B-B14F-4D97-AF65-F5344CB8AC3E}">
        <p14:creationId xmlns:p14="http://schemas.microsoft.com/office/powerpoint/2010/main" val="41587989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C5B: The two different starting prices</a:t>
            </a:r>
          </a:p>
        </p:txBody>
      </p:sp>
      <p:sp>
        <p:nvSpPr>
          <p:cNvPr id="3" name="Handout reference C5B">
            <a:extLst>
              <a:ext uri="{FF2B5EF4-FFF2-40B4-BE49-F238E27FC236}">
                <a16:creationId xmlns:a16="http://schemas.microsoft.com/office/drawing/2014/main" id="{40F829CD-6489-4110-8E32-86BD97A385F5}"/>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C5B</a:t>
            </a:r>
          </a:p>
        </p:txBody>
      </p:sp>
      <p:sp>
        <p:nvSpPr>
          <p:cNvPr id="4" name="Clarified text 168">
            <a:extLst>
              <a:ext uri="{FF2B5EF4-FFF2-40B4-BE49-F238E27FC236}">
                <a16:creationId xmlns:a16="http://schemas.microsoft.com/office/drawing/2014/main" id="{E702D0DC-5CCB-4303-840D-708A5A6AE348}"/>
              </a:ext>
            </a:extLst>
          </p:cNvPr>
          <p:cNvSpPr>
            <a:spLocks noGrp="1"/>
          </p:cNvSpPr>
          <p:nvPr/>
        </p:nvSpPr>
        <p:spPr>
          <a:xfrm>
            <a:off x="428625" y="1952625"/>
            <a:ext cx="11296650" cy="428625"/>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Second reduction: ¥113.44 − ¥99.83 = ¥13.61.</a:t>
            </a:r>
          </a:p>
        </p:txBody>
      </p:sp>
      <p:sp>
        <p:nvSpPr>
          <p:cNvPr id="5" name="Clarified text 169">
            <a:extLst>
              <a:ext uri="{FF2B5EF4-FFF2-40B4-BE49-F238E27FC236}">
                <a16:creationId xmlns:a16="http://schemas.microsoft.com/office/drawing/2014/main" id="{E96A7B05-48B8-4BC6-89CA-A477965D5146}"/>
              </a:ext>
            </a:extLst>
          </p:cNvPr>
          <p:cNvSpPr>
            <a:spLocks noGrp="1"/>
          </p:cNvSpPr>
          <p:nvPr/>
        </p:nvSpPr>
        <p:spPr>
          <a:xfrm>
            <a:off x="685800" y="2724150"/>
            <a:ext cx="2714625"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Second discount =</a:t>
            </a:r>
          </a:p>
        </p:txBody>
      </p:sp>
      <p:sp>
        <p:nvSpPr>
          <p:cNvPr id="6" name="Clarified text 170">
            <a:extLst>
              <a:ext uri="{FF2B5EF4-FFF2-40B4-BE49-F238E27FC236}">
                <a16:creationId xmlns:a16="http://schemas.microsoft.com/office/drawing/2014/main" id="{3F1A5F16-B5B3-4FCB-9722-FCD6BA81F834}"/>
              </a:ext>
            </a:extLst>
          </p:cNvPr>
          <p:cNvSpPr>
            <a:spLocks noGrp="1"/>
          </p:cNvSpPr>
          <p:nvPr/>
        </p:nvSpPr>
        <p:spPr>
          <a:xfrm>
            <a:off x="3400425" y="2476500"/>
            <a:ext cx="171450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13.61</a:t>
            </a:r>
          </a:p>
        </p:txBody>
      </p:sp>
      <p:sp>
        <p:nvSpPr>
          <p:cNvPr id="7" name="Fraction bar">
            <a:extLst>
              <a:ext uri="{FF2B5EF4-FFF2-40B4-BE49-F238E27FC236}">
                <a16:creationId xmlns:a16="http://schemas.microsoft.com/office/drawing/2014/main" id="{B8EB1BBD-8F51-4DCC-A78D-6E89AF7B427D}"/>
              </a:ext>
            </a:extLst>
          </p:cNvPr>
          <p:cNvSpPr>
            <a:spLocks noGrp="1"/>
          </p:cNvSpPr>
          <p:nvPr/>
        </p:nvSpPr>
        <p:spPr>
          <a:xfrm>
            <a:off x="3400425" y="2886075"/>
            <a:ext cx="1714500" cy="0"/>
          </a:xfrm>
          <a:prstGeom prst="line">
            <a:avLst/>
          </a:prstGeom>
          <a:noFill/>
          <a:ln w="14288">
            <a:solidFill>
              <a:srgbClr val="111111"/>
            </a:solidFill>
          </a:ln>
        </p:spPr>
        <p:txBody>
          <a:bodyPr/>
          <a:lstStyle/>
          <a:p>
            <a:endParaRPr lang="en-US"/>
          </a:p>
        </p:txBody>
      </p:sp>
      <p:sp>
        <p:nvSpPr>
          <p:cNvPr id="8" name="Clarified text 171">
            <a:extLst>
              <a:ext uri="{FF2B5EF4-FFF2-40B4-BE49-F238E27FC236}">
                <a16:creationId xmlns:a16="http://schemas.microsoft.com/office/drawing/2014/main" id="{419DAEC4-4999-429B-A63B-4566C18EB152}"/>
              </a:ext>
            </a:extLst>
          </p:cNvPr>
          <p:cNvSpPr>
            <a:spLocks noGrp="1"/>
          </p:cNvSpPr>
          <p:nvPr/>
        </p:nvSpPr>
        <p:spPr>
          <a:xfrm>
            <a:off x="3400425" y="2924175"/>
            <a:ext cx="171450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113.44</a:t>
            </a:r>
          </a:p>
        </p:txBody>
      </p:sp>
      <p:sp>
        <p:nvSpPr>
          <p:cNvPr id="9" name="Clarified text 172">
            <a:extLst>
              <a:ext uri="{FF2B5EF4-FFF2-40B4-BE49-F238E27FC236}">
                <a16:creationId xmlns:a16="http://schemas.microsoft.com/office/drawing/2014/main" id="{49F874AB-7990-41DB-A710-3FBD2460AF55}"/>
              </a:ext>
            </a:extLst>
          </p:cNvPr>
          <p:cNvSpPr>
            <a:spLocks noGrp="1"/>
          </p:cNvSpPr>
          <p:nvPr/>
        </p:nvSpPr>
        <p:spPr>
          <a:xfrm>
            <a:off x="5286375" y="2724150"/>
            <a:ext cx="6438900"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 100% ≈ 12.00%</a:t>
            </a:r>
          </a:p>
        </p:txBody>
      </p:sp>
      <p:sp>
        <p:nvSpPr>
          <p:cNvPr id="10" name="Clarified text 173">
            <a:extLst>
              <a:ext uri="{FF2B5EF4-FFF2-40B4-BE49-F238E27FC236}">
                <a16:creationId xmlns:a16="http://schemas.microsoft.com/office/drawing/2014/main" id="{80EB479F-EEE3-41ED-BA43-CB077DD1D29A}"/>
              </a:ext>
            </a:extLst>
          </p:cNvPr>
          <p:cNvSpPr>
            <a:spLocks noGrp="1"/>
          </p:cNvSpPr>
          <p:nvPr/>
        </p:nvSpPr>
        <p:spPr>
          <a:xfrm>
            <a:off x="428625" y="3619500"/>
            <a:ext cx="11296650" cy="428625"/>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Total reduction: ¥137.50 − ¥99.83 = ¥37.67.</a:t>
            </a:r>
          </a:p>
        </p:txBody>
      </p:sp>
      <p:sp>
        <p:nvSpPr>
          <p:cNvPr id="11" name="Clarified text 174">
            <a:extLst>
              <a:ext uri="{FF2B5EF4-FFF2-40B4-BE49-F238E27FC236}">
                <a16:creationId xmlns:a16="http://schemas.microsoft.com/office/drawing/2014/main" id="{52CF1575-B25B-4544-93C8-997CA04AC86B}"/>
              </a:ext>
            </a:extLst>
          </p:cNvPr>
          <p:cNvSpPr>
            <a:spLocks noGrp="1"/>
          </p:cNvSpPr>
          <p:nvPr/>
        </p:nvSpPr>
        <p:spPr>
          <a:xfrm>
            <a:off x="685800" y="4391025"/>
            <a:ext cx="2714625"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Overall discount =</a:t>
            </a:r>
          </a:p>
        </p:txBody>
      </p:sp>
      <p:sp>
        <p:nvSpPr>
          <p:cNvPr id="12" name="Clarified text 175">
            <a:extLst>
              <a:ext uri="{FF2B5EF4-FFF2-40B4-BE49-F238E27FC236}">
                <a16:creationId xmlns:a16="http://schemas.microsoft.com/office/drawing/2014/main" id="{460180AC-EF4D-48DC-AF09-64565A903F31}"/>
              </a:ext>
            </a:extLst>
          </p:cNvPr>
          <p:cNvSpPr>
            <a:spLocks noGrp="1"/>
          </p:cNvSpPr>
          <p:nvPr/>
        </p:nvSpPr>
        <p:spPr>
          <a:xfrm>
            <a:off x="3400425" y="4143375"/>
            <a:ext cx="171450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37.67</a:t>
            </a:r>
          </a:p>
        </p:txBody>
      </p:sp>
      <p:sp>
        <p:nvSpPr>
          <p:cNvPr id="13" name="Fraction bar">
            <a:extLst>
              <a:ext uri="{FF2B5EF4-FFF2-40B4-BE49-F238E27FC236}">
                <a16:creationId xmlns:a16="http://schemas.microsoft.com/office/drawing/2014/main" id="{7ED9A067-79AB-49EB-BDA6-7DEE31BAFCDF}"/>
              </a:ext>
            </a:extLst>
          </p:cNvPr>
          <p:cNvSpPr>
            <a:spLocks noGrp="1"/>
          </p:cNvSpPr>
          <p:nvPr/>
        </p:nvSpPr>
        <p:spPr>
          <a:xfrm>
            <a:off x="3400425" y="4552950"/>
            <a:ext cx="1714500" cy="0"/>
          </a:xfrm>
          <a:prstGeom prst="line">
            <a:avLst/>
          </a:prstGeom>
          <a:noFill/>
          <a:ln w="14288">
            <a:solidFill>
              <a:srgbClr val="111111"/>
            </a:solidFill>
          </a:ln>
        </p:spPr>
        <p:txBody>
          <a:bodyPr/>
          <a:lstStyle/>
          <a:p>
            <a:endParaRPr lang="en-US"/>
          </a:p>
        </p:txBody>
      </p:sp>
      <p:sp>
        <p:nvSpPr>
          <p:cNvPr id="14" name="Clarified text 176">
            <a:extLst>
              <a:ext uri="{FF2B5EF4-FFF2-40B4-BE49-F238E27FC236}">
                <a16:creationId xmlns:a16="http://schemas.microsoft.com/office/drawing/2014/main" id="{D759AA4F-CBDE-4D5B-A48F-9D1D8682D7AD}"/>
              </a:ext>
            </a:extLst>
          </p:cNvPr>
          <p:cNvSpPr>
            <a:spLocks noGrp="1"/>
          </p:cNvSpPr>
          <p:nvPr/>
        </p:nvSpPr>
        <p:spPr>
          <a:xfrm>
            <a:off x="3400425" y="4591050"/>
            <a:ext cx="171450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137.50</a:t>
            </a:r>
          </a:p>
        </p:txBody>
      </p:sp>
      <p:sp>
        <p:nvSpPr>
          <p:cNvPr id="15" name="Clarified text 177">
            <a:extLst>
              <a:ext uri="{FF2B5EF4-FFF2-40B4-BE49-F238E27FC236}">
                <a16:creationId xmlns:a16="http://schemas.microsoft.com/office/drawing/2014/main" id="{28FB1994-4EAB-4701-9B00-E5C883039448}"/>
              </a:ext>
            </a:extLst>
          </p:cNvPr>
          <p:cNvSpPr>
            <a:spLocks noGrp="1"/>
          </p:cNvSpPr>
          <p:nvPr/>
        </p:nvSpPr>
        <p:spPr>
          <a:xfrm>
            <a:off x="5286375" y="4391025"/>
            <a:ext cx="6438900"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 100% ≈ 27.40%</a:t>
            </a:r>
          </a:p>
        </p:txBody>
      </p:sp>
      <p:sp>
        <p:nvSpPr>
          <p:cNvPr id="16" name="Clarified text 178">
            <a:extLst>
              <a:ext uri="{FF2B5EF4-FFF2-40B4-BE49-F238E27FC236}">
                <a16:creationId xmlns:a16="http://schemas.microsoft.com/office/drawing/2014/main" id="{2C6826CC-D655-4FEB-88F8-0D2B080CFA2B}"/>
              </a:ext>
            </a:extLst>
          </p:cNvPr>
          <p:cNvSpPr>
            <a:spLocks noGrp="1"/>
          </p:cNvSpPr>
          <p:nvPr/>
        </p:nvSpPr>
        <p:spPr>
          <a:xfrm>
            <a:off x="430816" y="524827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The percentages use different starting prices.</a:t>
            </a:r>
          </a:p>
        </p:txBody>
      </p:sp>
      <p:sp>
        <p:nvSpPr>
          <p:cNvPr id="17" name="Clarified text 179">
            <a:extLst>
              <a:ext uri="{FF2B5EF4-FFF2-40B4-BE49-F238E27FC236}">
                <a16:creationId xmlns:a16="http://schemas.microsoft.com/office/drawing/2014/main" id="{10723257-BB4B-4540-B165-11C3720A8EB4}"/>
              </a:ext>
            </a:extLst>
          </p:cNvPr>
          <p:cNvSpPr>
            <a:spLocks noGrp="1"/>
          </p:cNvSpPr>
          <p:nvPr/>
        </p:nvSpPr>
        <p:spPr>
          <a:xfrm>
            <a:off x="430816" y="5762911"/>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17.5% is taken from ¥137.50. The second rate is taken from ¥113.44.</a:t>
            </a:r>
          </a:p>
        </p:txBody>
      </p:sp>
    </p:spTree>
    <p:extLst>
      <p:ext uri="{BB962C8B-B14F-4D97-AF65-F5344CB8AC3E}">
        <p14:creationId xmlns:p14="http://schemas.microsoft.com/office/powerpoint/2010/main" val="41587989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Think: What can the numbers establish?</a:t>
            </a:r>
          </a:p>
        </p:txBody>
      </p:sp>
      <p:sp>
        <p:nvSpPr>
          <p:cNvPr id="3" name="Handout reference C5B">
            <a:extLst>
              <a:ext uri="{FF2B5EF4-FFF2-40B4-BE49-F238E27FC236}">
                <a16:creationId xmlns:a16="http://schemas.microsoft.com/office/drawing/2014/main" id="{F97A9670-432F-4E1E-8659-4A33F48D51F2}"/>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C5B</a:t>
            </a:r>
          </a:p>
        </p:txBody>
      </p:sp>
      <p:sp>
        <p:nvSpPr>
          <p:cNvPr id="4" name="Content 236">
            <a:extLst>
              <a:ext uri="{FF2B5EF4-FFF2-40B4-BE49-F238E27FC236}">
                <a16:creationId xmlns:a16="http://schemas.microsoft.com/office/drawing/2014/main" id="{66616ABB-1686-4B2D-86B8-63D7938785D3}"/>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A  The 660 paid orders collect ¥78,004.80 under the stated rule.</a:t>
            </a:r>
          </a:p>
        </p:txBody>
      </p:sp>
      <p:sp>
        <p:nvSpPr>
          <p:cNvPr id="5" name="Content 237">
            <a:extLst>
              <a:ext uri="{FF2B5EF4-FFF2-40B4-BE49-F238E27FC236}">
                <a16:creationId xmlns:a16="http://schemas.microsoft.com/office/drawing/2014/main" id="{C47D4B9C-BFB1-4A25-BEA9-58076CBB61B4}"/>
              </a:ext>
            </a:extLst>
          </p:cNvPr>
          <p:cNvSpPr>
            <a:spLocks noGrp="1"/>
          </p:cNvSpPr>
          <p:nvPr/>
        </p:nvSpPr>
        <p:spPr>
          <a:xfrm>
            <a:off x="430816" y="2562511"/>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B  Every future batch will collect the same total.</a:t>
            </a:r>
          </a:p>
        </p:txBody>
      </p:sp>
      <p:sp>
        <p:nvSpPr>
          <p:cNvPr id="6" name="Content 238">
            <a:extLst>
              <a:ext uri="{FF2B5EF4-FFF2-40B4-BE49-F238E27FC236}">
                <a16:creationId xmlns:a16="http://schemas.microsoft.com/office/drawing/2014/main" id="{752F8AD8-9EFA-455F-AB87-A42044E8C28B}"/>
              </a:ext>
            </a:extLst>
          </p:cNvPr>
          <p:cNvSpPr>
            <a:spLocks noGrp="1"/>
          </p:cNvSpPr>
          <p:nvPr/>
        </p:nvSpPr>
        <p:spPr>
          <a:xfrm>
            <a:off x="430816" y="3172396"/>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C  All 1,137 bottles will sell.</a:t>
            </a:r>
          </a:p>
        </p:txBody>
      </p:sp>
      <p:sp>
        <p:nvSpPr>
          <p:cNvPr id="7" name="Content 239">
            <a:extLst>
              <a:ext uri="{FF2B5EF4-FFF2-40B4-BE49-F238E27FC236}">
                <a16:creationId xmlns:a16="http://schemas.microsoft.com/office/drawing/2014/main" id="{482765CC-6FC6-4EAA-9E47-C9D58C9991A9}"/>
              </a:ext>
            </a:extLst>
          </p:cNvPr>
          <p:cNvSpPr>
            <a:spLocks noGrp="1"/>
          </p:cNvSpPr>
          <p:nvPr/>
        </p:nvSpPr>
        <p:spPr>
          <a:xfrm>
            <a:off x="430816" y="3782282"/>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Which claims are supported? Explain using what we know.</a:t>
            </a:r>
          </a:p>
        </p:txBody>
      </p:sp>
      <p:sp>
        <p:nvSpPr>
          <p:cNvPr id="8" name="Content 240">
            <a:extLst>
              <a:ext uri="{FF2B5EF4-FFF2-40B4-BE49-F238E27FC236}">
                <a16:creationId xmlns:a16="http://schemas.microsoft.com/office/drawing/2014/main" id="{6A7F7589-BE39-40D2-BF66-C72647544196}"/>
              </a:ext>
            </a:extLst>
          </p:cNvPr>
          <p:cNvSpPr>
            <a:spLocks noGrp="1"/>
          </p:cNvSpPr>
          <p:nvPr/>
        </p:nvSpPr>
        <p:spPr>
          <a:xfrm>
            <a:off x="430816" y="4392168"/>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Name one additional piece of evidence that would help.</a:t>
            </a:r>
          </a:p>
        </p:txBody>
      </p:sp>
    </p:spTree>
    <p:extLst>
      <p:ext uri="{BB962C8B-B14F-4D97-AF65-F5344CB8AC3E}">
        <p14:creationId xmlns:p14="http://schemas.microsoft.com/office/powerpoint/2010/main" val="41587989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Think: Calculations and uncertainty</a:t>
            </a:r>
          </a:p>
        </p:txBody>
      </p:sp>
      <p:sp>
        <p:nvSpPr>
          <p:cNvPr id="3" name="Handout reference C5B">
            <a:extLst>
              <a:ext uri="{FF2B5EF4-FFF2-40B4-BE49-F238E27FC236}">
                <a16:creationId xmlns:a16="http://schemas.microsoft.com/office/drawing/2014/main" id="{EBA4E584-3DC2-4AD2-84E2-72EF2355B64E}"/>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C5B</a:t>
            </a:r>
          </a:p>
        </p:txBody>
      </p:sp>
      <p:sp>
        <p:nvSpPr>
          <p:cNvPr id="4" name="Content 241">
            <a:extLst>
              <a:ext uri="{FF2B5EF4-FFF2-40B4-BE49-F238E27FC236}">
                <a16:creationId xmlns:a16="http://schemas.microsoft.com/office/drawing/2014/main" id="{A6AA6FD1-67C7-435C-BC23-52509DC8E46C}"/>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A is supported under the stated payment assumption.</a:t>
            </a:r>
          </a:p>
        </p:txBody>
      </p:sp>
      <p:sp>
        <p:nvSpPr>
          <p:cNvPr id="5" name="Content 242">
            <a:extLst>
              <a:ext uri="{FF2B5EF4-FFF2-40B4-BE49-F238E27FC236}">
                <a16:creationId xmlns:a16="http://schemas.microsoft.com/office/drawing/2014/main" id="{4256321A-8C11-459D-8E5B-609AE78334D0}"/>
              </a:ext>
            </a:extLst>
          </p:cNvPr>
          <p:cNvSpPr>
            <a:spLocks noGrp="1"/>
          </p:cNvSpPr>
          <p:nvPr/>
        </p:nvSpPr>
        <p:spPr>
          <a:xfrm>
            <a:off x="430816" y="2552986"/>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B is not established. Future prices and order numbers may differ.</a:t>
            </a:r>
          </a:p>
        </p:txBody>
      </p:sp>
      <p:sp>
        <p:nvSpPr>
          <p:cNvPr id="6" name="Content 243">
            <a:extLst>
              <a:ext uri="{FF2B5EF4-FFF2-40B4-BE49-F238E27FC236}">
                <a16:creationId xmlns:a16="http://schemas.microsoft.com/office/drawing/2014/main" id="{E975E5E5-3FE1-4290-A108-A6A29CCA83B9}"/>
              </a:ext>
            </a:extLst>
          </p:cNvPr>
          <p:cNvSpPr>
            <a:spLocks noGrp="1"/>
          </p:cNvSpPr>
          <p:nvPr/>
        </p:nvSpPr>
        <p:spPr>
          <a:xfrm>
            <a:off x="430816" y="3153346"/>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C is not established. There are only 660 confirmed orders.</a:t>
            </a:r>
          </a:p>
        </p:txBody>
      </p:sp>
      <p:sp>
        <p:nvSpPr>
          <p:cNvPr id="7" name="Content 244">
            <a:extLst>
              <a:ext uri="{FF2B5EF4-FFF2-40B4-BE49-F238E27FC236}">
                <a16:creationId xmlns:a16="http://schemas.microsoft.com/office/drawing/2014/main" id="{3E04E12B-07DB-4EBF-97FB-594E8562D3BF}"/>
              </a:ext>
            </a:extLst>
          </p:cNvPr>
          <p:cNvSpPr>
            <a:spLocks noGrp="1"/>
          </p:cNvSpPr>
          <p:nvPr/>
        </p:nvSpPr>
        <p:spPr>
          <a:xfrm>
            <a:off x="430816" y="3753707"/>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1,137 − 660 = 477 planned bottles have no confirmed order yet.</a:t>
            </a:r>
          </a:p>
        </p:txBody>
      </p:sp>
      <p:sp>
        <p:nvSpPr>
          <p:cNvPr id="8" name="Content 245">
            <a:extLst>
              <a:ext uri="{FF2B5EF4-FFF2-40B4-BE49-F238E27FC236}">
                <a16:creationId xmlns:a16="http://schemas.microsoft.com/office/drawing/2014/main" id="{E007394E-A974-414A-9C61-B79A00E2352F}"/>
              </a:ext>
            </a:extLst>
          </p:cNvPr>
          <p:cNvSpPr>
            <a:spLocks noGrp="1"/>
          </p:cNvSpPr>
          <p:nvPr/>
        </p:nvSpPr>
        <p:spPr>
          <a:xfrm>
            <a:off x="430816" y="4354068"/>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A useful next step is to collect orders and preferences for the remaining stock.</a:t>
            </a:r>
          </a:p>
        </p:txBody>
      </p:sp>
    </p:spTree>
    <p:extLst>
      <p:ext uri="{BB962C8B-B14F-4D97-AF65-F5344CB8AC3E}">
        <p14:creationId xmlns:p14="http://schemas.microsoft.com/office/powerpoint/2010/main" val="41587989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C6: Individual exit check</a:t>
            </a:r>
          </a:p>
        </p:txBody>
      </p:sp>
      <p:sp>
        <p:nvSpPr>
          <p:cNvPr id="3" name="Handout reference C6">
            <a:extLst>
              <a:ext uri="{FF2B5EF4-FFF2-40B4-BE49-F238E27FC236}">
                <a16:creationId xmlns:a16="http://schemas.microsoft.com/office/drawing/2014/main" id="{FE7910B8-A759-40D2-92D7-2BEFBF6029DC}"/>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C6</a:t>
            </a:r>
          </a:p>
        </p:txBody>
      </p:sp>
      <p:sp>
        <p:nvSpPr>
          <p:cNvPr id="4" name="Content 246">
            <a:extLst>
              <a:ext uri="{FF2B5EF4-FFF2-40B4-BE49-F238E27FC236}">
                <a16:creationId xmlns:a16="http://schemas.microsoft.com/office/drawing/2014/main" id="{85253670-55AE-4114-85BA-DA80F8C96FC1}"/>
              </a:ext>
            </a:extLst>
          </p:cNvPr>
          <p:cNvSpPr>
            <a:spLocks noGrp="1"/>
          </p:cNvSpPr>
          <p:nvPr/>
        </p:nvSpPr>
        <p:spPr>
          <a:xfrm>
            <a:off x="430816" y="1952625"/>
            <a:ext cx="11293412" cy="72447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EcoCup needs 417.3 kg of accepted material. Production loses 9% of its input</a:t>
            </a:r>
          </a:p>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mass.</a:t>
            </a:r>
          </a:p>
        </p:txBody>
      </p:sp>
      <p:sp>
        <p:nvSpPr>
          <p:cNvPr id="5" name="Content 247">
            <a:extLst>
              <a:ext uri="{FF2B5EF4-FFF2-40B4-BE49-F238E27FC236}">
                <a16:creationId xmlns:a16="http://schemas.microsoft.com/office/drawing/2014/main" id="{3A39517C-A839-43A2-A108-D2A97EEE7984}"/>
              </a:ext>
            </a:extLst>
          </p:cNvPr>
          <p:cNvSpPr>
            <a:spLocks noGrp="1"/>
          </p:cNvSpPr>
          <p:nvPr/>
        </p:nvSpPr>
        <p:spPr>
          <a:xfrm>
            <a:off x="430816" y="2772347"/>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The input ratio is A:B:C = 5:3:2. Loss affects the materials proportionally.</a:t>
            </a:r>
          </a:p>
        </p:txBody>
      </p:sp>
      <p:sp>
        <p:nvSpPr>
          <p:cNvPr id="6" name="Content 248">
            <a:extLst>
              <a:ext uri="{FF2B5EF4-FFF2-40B4-BE49-F238E27FC236}">
                <a16:creationId xmlns:a16="http://schemas.microsoft.com/office/drawing/2014/main" id="{E1836EB1-CD05-4068-A12D-C4919449573B}"/>
              </a:ext>
            </a:extLst>
          </p:cNvPr>
          <p:cNvSpPr>
            <a:spLocks noGrp="1"/>
          </p:cNvSpPr>
          <p:nvPr/>
        </p:nvSpPr>
        <p:spPr>
          <a:xfrm>
            <a:off x="430816" y="3258407"/>
            <a:ext cx="11293412" cy="72447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The supplier offers 30 sacks, each containing 35 lb of input mixture. Use 1 kg ≈</a:t>
            </a:r>
          </a:p>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2.205 lb.</a:t>
            </a:r>
          </a:p>
        </p:txBody>
      </p:sp>
      <p:sp>
        <p:nvSpPr>
          <p:cNvPr id="7" name="Content 249">
            <a:extLst>
              <a:ext uri="{FF2B5EF4-FFF2-40B4-BE49-F238E27FC236}">
                <a16:creationId xmlns:a16="http://schemas.microsoft.com/office/drawing/2014/main" id="{8A9091D7-32D3-49AB-B556-44E57DFC0CB5}"/>
              </a:ext>
            </a:extLst>
          </p:cNvPr>
          <p:cNvSpPr>
            <a:spLocks noGrp="1"/>
          </p:cNvSpPr>
          <p:nvPr/>
        </p:nvSpPr>
        <p:spPr>
          <a:xfrm>
            <a:off x="430816" y="4078129"/>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Q1  Find the required input mass and the mass of each material.</a:t>
            </a:r>
          </a:p>
        </p:txBody>
      </p:sp>
      <p:sp>
        <p:nvSpPr>
          <p:cNvPr id="8" name="Content 250">
            <a:extLst>
              <a:ext uri="{FF2B5EF4-FFF2-40B4-BE49-F238E27FC236}">
                <a16:creationId xmlns:a16="http://schemas.microsoft.com/office/drawing/2014/main" id="{BEA76F9B-47AF-481D-A413-D133D25DA195}"/>
              </a:ext>
            </a:extLst>
          </p:cNvPr>
          <p:cNvSpPr>
            <a:spLocks noGrp="1"/>
          </p:cNvSpPr>
          <p:nvPr/>
        </p:nvSpPr>
        <p:spPr>
          <a:xfrm>
            <a:off x="430816" y="4564189"/>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Q2  Are 30 sacks enough? Show the surplus or shortage in kilograms.</a:t>
            </a:r>
          </a:p>
        </p:txBody>
      </p:sp>
      <p:sp>
        <p:nvSpPr>
          <p:cNvPr id="9" name="Content 251">
            <a:extLst>
              <a:ext uri="{FF2B5EF4-FFF2-40B4-BE49-F238E27FC236}">
                <a16:creationId xmlns:a16="http://schemas.microsoft.com/office/drawing/2014/main" id="{0C9F60F3-927E-4FBC-9B28-BB75ED86A8FC}"/>
              </a:ext>
            </a:extLst>
          </p:cNvPr>
          <p:cNvSpPr>
            <a:spLocks noGrp="1"/>
          </p:cNvSpPr>
          <p:nvPr/>
        </p:nvSpPr>
        <p:spPr>
          <a:xfrm>
            <a:off x="430816" y="5050250"/>
            <a:ext cx="11293412" cy="72447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Q3  State one assumption you would check before using these</a:t>
            </a:r>
          </a:p>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calculations as a production plan.</a:t>
            </a:r>
          </a:p>
        </p:txBody>
      </p:sp>
    </p:spTree>
    <p:extLst>
      <p:ext uri="{BB962C8B-B14F-4D97-AF65-F5344CB8AC3E}">
        <p14:creationId xmlns:p14="http://schemas.microsoft.com/office/powerpoint/2010/main" val="41587989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C6: Independent check answers</a:t>
            </a:r>
          </a:p>
        </p:txBody>
      </p:sp>
      <p:sp>
        <p:nvSpPr>
          <p:cNvPr id="3" name="Handout reference C6">
            <a:extLst>
              <a:ext uri="{FF2B5EF4-FFF2-40B4-BE49-F238E27FC236}">
                <a16:creationId xmlns:a16="http://schemas.microsoft.com/office/drawing/2014/main" id="{DA2AAE74-93E9-46CE-8FD9-3F9C39A3DA18}"/>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C6</a:t>
            </a:r>
          </a:p>
        </p:txBody>
      </p:sp>
      <p:sp>
        <p:nvSpPr>
          <p:cNvPr id="4" name="Clarified text 180">
            <a:extLst>
              <a:ext uri="{FF2B5EF4-FFF2-40B4-BE49-F238E27FC236}">
                <a16:creationId xmlns:a16="http://schemas.microsoft.com/office/drawing/2014/main" id="{95A112A2-11E5-4A29-BF08-3A78CAEF48B9}"/>
              </a:ext>
            </a:extLst>
          </p:cNvPr>
          <p:cNvSpPr>
            <a:spLocks noGrp="1"/>
          </p:cNvSpPr>
          <p:nvPr/>
        </p:nvSpPr>
        <p:spPr>
          <a:xfrm>
            <a:off x="685800" y="2200275"/>
            <a:ext cx="1809750"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Q1  Input =</a:t>
            </a:r>
          </a:p>
        </p:txBody>
      </p:sp>
      <p:sp>
        <p:nvSpPr>
          <p:cNvPr id="5" name="Clarified text 181">
            <a:extLst>
              <a:ext uri="{FF2B5EF4-FFF2-40B4-BE49-F238E27FC236}">
                <a16:creationId xmlns:a16="http://schemas.microsoft.com/office/drawing/2014/main" id="{BB1B578A-624F-4C56-A40A-684106813AD2}"/>
              </a:ext>
            </a:extLst>
          </p:cNvPr>
          <p:cNvSpPr>
            <a:spLocks noGrp="1"/>
          </p:cNvSpPr>
          <p:nvPr/>
        </p:nvSpPr>
        <p:spPr>
          <a:xfrm>
            <a:off x="2495550" y="1952625"/>
            <a:ext cx="171450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417.3</a:t>
            </a:r>
          </a:p>
        </p:txBody>
      </p:sp>
      <p:sp>
        <p:nvSpPr>
          <p:cNvPr id="6" name="Fraction bar">
            <a:extLst>
              <a:ext uri="{FF2B5EF4-FFF2-40B4-BE49-F238E27FC236}">
                <a16:creationId xmlns:a16="http://schemas.microsoft.com/office/drawing/2014/main" id="{4061D4A2-FBC5-465D-86F3-BFD76C08197F}"/>
              </a:ext>
            </a:extLst>
          </p:cNvPr>
          <p:cNvSpPr>
            <a:spLocks noGrp="1"/>
          </p:cNvSpPr>
          <p:nvPr/>
        </p:nvSpPr>
        <p:spPr>
          <a:xfrm>
            <a:off x="2495550" y="2362200"/>
            <a:ext cx="1714500" cy="0"/>
          </a:xfrm>
          <a:prstGeom prst="line">
            <a:avLst/>
          </a:prstGeom>
          <a:noFill/>
          <a:ln w="14288">
            <a:solidFill>
              <a:srgbClr val="111111"/>
            </a:solidFill>
          </a:ln>
        </p:spPr>
        <p:txBody>
          <a:bodyPr/>
          <a:lstStyle/>
          <a:p>
            <a:endParaRPr lang="en-US"/>
          </a:p>
        </p:txBody>
      </p:sp>
      <p:sp>
        <p:nvSpPr>
          <p:cNvPr id="7" name="Clarified text 182">
            <a:extLst>
              <a:ext uri="{FF2B5EF4-FFF2-40B4-BE49-F238E27FC236}">
                <a16:creationId xmlns:a16="http://schemas.microsoft.com/office/drawing/2014/main" id="{FD95D713-8502-47C0-805E-9E1DE72F3AAB}"/>
              </a:ext>
            </a:extLst>
          </p:cNvPr>
          <p:cNvSpPr>
            <a:spLocks noGrp="1"/>
          </p:cNvSpPr>
          <p:nvPr/>
        </p:nvSpPr>
        <p:spPr>
          <a:xfrm>
            <a:off x="2495550" y="2400300"/>
            <a:ext cx="171450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0.91</a:t>
            </a:r>
          </a:p>
        </p:txBody>
      </p:sp>
      <p:sp>
        <p:nvSpPr>
          <p:cNvPr id="8" name="Clarified text 183">
            <a:extLst>
              <a:ext uri="{FF2B5EF4-FFF2-40B4-BE49-F238E27FC236}">
                <a16:creationId xmlns:a16="http://schemas.microsoft.com/office/drawing/2014/main" id="{B8E9B315-B236-4D4F-9623-39AFC61134E1}"/>
              </a:ext>
            </a:extLst>
          </p:cNvPr>
          <p:cNvSpPr>
            <a:spLocks noGrp="1"/>
          </p:cNvSpPr>
          <p:nvPr/>
        </p:nvSpPr>
        <p:spPr>
          <a:xfrm>
            <a:off x="4381500" y="2200275"/>
            <a:ext cx="7343775"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 458.571429… ≈ 458.6 kg</a:t>
            </a:r>
          </a:p>
        </p:txBody>
      </p:sp>
      <p:sp>
        <p:nvSpPr>
          <p:cNvPr id="9" name="Clarified text 184">
            <a:extLst>
              <a:ext uri="{FF2B5EF4-FFF2-40B4-BE49-F238E27FC236}">
                <a16:creationId xmlns:a16="http://schemas.microsoft.com/office/drawing/2014/main" id="{2B0DC5C3-0D61-4BB0-AE1E-F32BA38B53DD}"/>
              </a:ext>
            </a:extLst>
          </p:cNvPr>
          <p:cNvSpPr>
            <a:spLocks noGrp="1"/>
          </p:cNvSpPr>
          <p:nvPr/>
        </p:nvSpPr>
        <p:spPr>
          <a:xfrm>
            <a:off x="430816" y="2924175"/>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9% is lost, so the accepted material is 91% of the input.</a:t>
            </a:r>
          </a:p>
        </p:txBody>
      </p:sp>
      <p:sp>
        <p:nvSpPr>
          <p:cNvPr id="10" name="Clarified text 185">
            <a:extLst>
              <a:ext uri="{FF2B5EF4-FFF2-40B4-BE49-F238E27FC236}">
                <a16:creationId xmlns:a16="http://schemas.microsoft.com/office/drawing/2014/main" id="{F994875A-A5C3-4BA7-BF5B-E84F29E28C23}"/>
              </a:ext>
            </a:extLst>
          </p:cNvPr>
          <p:cNvSpPr>
            <a:spLocks noGrp="1"/>
          </p:cNvSpPr>
          <p:nvPr/>
        </p:nvSpPr>
        <p:spPr>
          <a:xfrm>
            <a:off x="430816" y="341023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There are 5 + 3 + 2 = 10 parts. One part = 458.571429… ÷ 10.</a:t>
            </a:r>
          </a:p>
        </p:txBody>
      </p:sp>
      <p:sp>
        <p:nvSpPr>
          <p:cNvPr id="11" name="Clarified text 186">
            <a:extLst>
              <a:ext uri="{FF2B5EF4-FFF2-40B4-BE49-F238E27FC236}">
                <a16:creationId xmlns:a16="http://schemas.microsoft.com/office/drawing/2014/main" id="{1543C4C9-3C22-413B-9C7B-FE23A762222B}"/>
              </a:ext>
            </a:extLst>
          </p:cNvPr>
          <p:cNvSpPr>
            <a:spLocks noGrp="1"/>
          </p:cNvSpPr>
          <p:nvPr/>
        </p:nvSpPr>
        <p:spPr>
          <a:xfrm>
            <a:off x="430816" y="389629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A = 5 parts ≈ 229.3 kg. B = 3 parts ≈ 137.6 kg. C = 2 parts ≈ 91.7 kg.</a:t>
            </a:r>
          </a:p>
        </p:txBody>
      </p:sp>
      <p:sp>
        <p:nvSpPr>
          <p:cNvPr id="12" name="Clarified text 187">
            <a:extLst>
              <a:ext uri="{FF2B5EF4-FFF2-40B4-BE49-F238E27FC236}">
                <a16:creationId xmlns:a16="http://schemas.microsoft.com/office/drawing/2014/main" id="{E2122E66-44A6-443A-B1F8-3D89882EC015}"/>
              </a:ext>
            </a:extLst>
          </p:cNvPr>
          <p:cNvSpPr>
            <a:spLocks noGrp="1"/>
          </p:cNvSpPr>
          <p:nvPr/>
        </p:nvSpPr>
        <p:spPr>
          <a:xfrm>
            <a:off x="685800" y="4724400"/>
            <a:ext cx="2095500"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Q2  Supply =</a:t>
            </a:r>
          </a:p>
        </p:txBody>
      </p:sp>
      <p:sp>
        <p:nvSpPr>
          <p:cNvPr id="13" name="Clarified text 188">
            <a:extLst>
              <a:ext uri="{FF2B5EF4-FFF2-40B4-BE49-F238E27FC236}">
                <a16:creationId xmlns:a16="http://schemas.microsoft.com/office/drawing/2014/main" id="{FDF1B5B8-103C-4FEA-AA7B-3168B7D169E1}"/>
              </a:ext>
            </a:extLst>
          </p:cNvPr>
          <p:cNvSpPr>
            <a:spLocks noGrp="1"/>
          </p:cNvSpPr>
          <p:nvPr/>
        </p:nvSpPr>
        <p:spPr>
          <a:xfrm>
            <a:off x="2781300" y="4476750"/>
            <a:ext cx="180975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30 × 35</a:t>
            </a:r>
          </a:p>
        </p:txBody>
      </p:sp>
      <p:sp>
        <p:nvSpPr>
          <p:cNvPr id="14" name="Fraction bar">
            <a:extLst>
              <a:ext uri="{FF2B5EF4-FFF2-40B4-BE49-F238E27FC236}">
                <a16:creationId xmlns:a16="http://schemas.microsoft.com/office/drawing/2014/main" id="{984D87CE-B6A2-4ED0-89F8-4EBE33A4FDF7}"/>
              </a:ext>
            </a:extLst>
          </p:cNvPr>
          <p:cNvSpPr>
            <a:spLocks noGrp="1"/>
          </p:cNvSpPr>
          <p:nvPr/>
        </p:nvSpPr>
        <p:spPr>
          <a:xfrm>
            <a:off x="2781300" y="4886325"/>
            <a:ext cx="1809750" cy="0"/>
          </a:xfrm>
          <a:prstGeom prst="line">
            <a:avLst/>
          </a:prstGeom>
          <a:noFill/>
          <a:ln w="14288">
            <a:solidFill>
              <a:srgbClr val="111111"/>
            </a:solidFill>
          </a:ln>
        </p:spPr>
        <p:txBody>
          <a:bodyPr/>
          <a:lstStyle/>
          <a:p>
            <a:endParaRPr lang="en-US"/>
          </a:p>
        </p:txBody>
      </p:sp>
      <p:sp>
        <p:nvSpPr>
          <p:cNvPr id="15" name="Clarified text 189">
            <a:extLst>
              <a:ext uri="{FF2B5EF4-FFF2-40B4-BE49-F238E27FC236}">
                <a16:creationId xmlns:a16="http://schemas.microsoft.com/office/drawing/2014/main" id="{9E1A3B3C-47ED-472C-B197-B25976D7F389}"/>
              </a:ext>
            </a:extLst>
          </p:cNvPr>
          <p:cNvSpPr>
            <a:spLocks noGrp="1"/>
          </p:cNvSpPr>
          <p:nvPr/>
        </p:nvSpPr>
        <p:spPr>
          <a:xfrm>
            <a:off x="2781300" y="4924425"/>
            <a:ext cx="180975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2.205</a:t>
            </a:r>
          </a:p>
        </p:txBody>
      </p:sp>
      <p:sp>
        <p:nvSpPr>
          <p:cNvPr id="16" name="Clarified text 190">
            <a:extLst>
              <a:ext uri="{FF2B5EF4-FFF2-40B4-BE49-F238E27FC236}">
                <a16:creationId xmlns:a16="http://schemas.microsoft.com/office/drawing/2014/main" id="{DD2D1061-76BE-41E5-AC13-65112B7A1624}"/>
              </a:ext>
            </a:extLst>
          </p:cNvPr>
          <p:cNvSpPr>
            <a:spLocks noGrp="1"/>
          </p:cNvSpPr>
          <p:nvPr/>
        </p:nvSpPr>
        <p:spPr>
          <a:xfrm>
            <a:off x="4762500" y="4724400"/>
            <a:ext cx="6962775"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 476.190476… kg</a:t>
            </a:r>
          </a:p>
        </p:txBody>
      </p:sp>
      <p:sp>
        <p:nvSpPr>
          <p:cNvPr id="17" name="Clarified text 191">
            <a:extLst>
              <a:ext uri="{FF2B5EF4-FFF2-40B4-BE49-F238E27FC236}">
                <a16:creationId xmlns:a16="http://schemas.microsoft.com/office/drawing/2014/main" id="{263A28E3-6877-41E5-BF6B-0900A48E3D80}"/>
              </a:ext>
            </a:extLst>
          </p:cNvPr>
          <p:cNvSpPr>
            <a:spLocks noGrp="1"/>
          </p:cNvSpPr>
          <p:nvPr/>
        </p:nvSpPr>
        <p:spPr>
          <a:xfrm>
            <a:off x="430816" y="5467350"/>
            <a:ext cx="11293412" cy="380048"/>
          </a:xfrm>
          <a:prstGeom prst="rect">
            <a:avLst/>
          </a:prstGeom>
          <a:noFill/>
          <a:ln w="0">
            <a:noFill/>
          </a:ln>
        </p:spPr>
        <p:txBody>
          <a:bodyPr wrap="square" lIns="0" tIns="0" rIns="0" bIns="0" anchor="t">
            <a:noAutofit/>
          </a:bodyPr>
          <a:lstStyle/>
          <a:p>
            <a:pPr algn="l">
              <a:lnSpc>
                <a:spcPct val="108000"/>
              </a:lnSpc>
              <a:buNone/>
              <a:defRPr sz="2250" b="1">
                <a:solidFill>
                  <a:srgbClr val="111111"/>
                </a:solidFill>
                <a:latin typeface="Aptos"/>
                <a:ea typeface="Aptos"/>
                <a:cs typeface="Aptos"/>
              </a:defRPr>
            </a:pPr>
            <a:r>
              <a:rPr sz="2250" b="1">
                <a:solidFill>
                  <a:srgbClr val="111111"/>
                </a:solidFill>
                <a:latin typeface="Aptos"/>
                <a:ea typeface="Aptos"/>
                <a:cs typeface="Aptos"/>
              </a:rPr>
              <a:t>Supply − required = 476.190476… − 458.571429… ≈ 17.6 kg spare.</a:t>
            </a:r>
          </a:p>
        </p:txBody>
      </p:sp>
      <p:sp>
        <p:nvSpPr>
          <p:cNvPr id="18" name="Clarified text 192">
            <a:extLst>
              <a:ext uri="{FF2B5EF4-FFF2-40B4-BE49-F238E27FC236}">
                <a16:creationId xmlns:a16="http://schemas.microsoft.com/office/drawing/2014/main" id="{3FE08947-996B-44F1-A694-C14FADDADCBA}"/>
              </a:ext>
            </a:extLst>
          </p:cNvPr>
          <p:cNvSpPr>
            <a:spLocks noGrp="1"/>
          </p:cNvSpPr>
          <p:nvPr/>
        </p:nvSpPr>
        <p:spPr>
          <a:xfrm>
            <a:off x="430816" y="5923598"/>
            <a:ext cx="11293412" cy="380048"/>
          </a:xfrm>
          <a:prstGeom prst="rect">
            <a:avLst/>
          </a:prstGeom>
          <a:noFill/>
          <a:ln w="0">
            <a:noFill/>
          </a:ln>
        </p:spPr>
        <p:txBody>
          <a:bodyPr wrap="square" lIns="0" tIns="0" rIns="0" bIns="0" anchor="t">
            <a:noAutofit/>
          </a:bodyPr>
          <a:lstStyle/>
          <a:p>
            <a:pPr algn="l">
              <a:lnSpc>
                <a:spcPct val="108000"/>
              </a:lnSpc>
              <a:buNone/>
              <a:defRPr sz="2250" b="0">
                <a:solidFill>
                  <a:srgbClr val="111111"/>
                </a:solidFill>
                <a:latin typeface="Aptos"/>
                <a:ea typeface="Aptos"/>
                <a:cs typeface="Aptos"/>
              </a:defRPr>
            </a:pPr>
            <a:r>
              <a:rPr sz="2250" b="0">
                <a:solidFill>
                  <a:srgbClr val="111111"/>
                </a:solidFill>
                <a:latin typeface="Aptos"/>
                <a:ea typeface="Aptos"/>
                <a:cs typeface="Aptos"/>
              </a:rPr>
              <a:t>Q3  Check whether the actual loss is 9%, for example.</a:t>
            </a:r>
          </a:p>
        </p:txBody>
      </p:sp>
    </p:spTree>
    <p:extLst>
      <p:ext uri="{BB962C8B-B14F-4D97-AF65-F5344CB8AC3E}">
        <p14:creationId xmlns:p14="http://schemas.microsoft.com/office/powerpoint/2010/main" val="41587989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What we can do now</a:t>
            </a:r>
          </a:p>
        </p:txBody>
      </p:sp>
      <p:sp>
        <p:nvSpPr>
          <p:cNvPr id="3" name="Content 264">
            <a:extLst>
              <a:ext uri="{FF2B5EF4-FFF2-40B4-BE49-F238E27FC236}">
                <a16:creationId xmlns:a16="http://schemas.microsoft.com/office/drawing/2014/main" id="{FFF9FCCB-AC8A-4F6E-B203-B2E6235C816B}"/>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Choose a method without step-by-step prompts.</a:t>
            </a:r>
          </a:p>
        </p:txBody>
      </p:sp>
      <p:sp>
        <p:nvSpPr>
          <p:cNvPr id="4" name="Content 265">
            <a:extLst>
              <a:ext uri="{FF2B5EF4-FFF2-40B4-BE49-F238E27FC236}">
                <a16:creationId xmlns:a16="http://schemas.microsoft.com/office/drawing/2014/main" id="{3232B228-82DE-4891-B142-4B2CE8BA91F8}"/>
              </a:ext>
            </a:extLst>
          </p:cNvPr>
          <p:cNvSpPr>
            <a:spLocks noGrp="1"/>
          </p:cNvSpPr>
          <p:nvPr/>
        </p:nvSpPr>
        <p:spPr>
          <a:xfrm>
            <a:off x="430816" y="251488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Reconstruct missing data and choose the correct denominator.</a:t>
            </a:r>
          </a:p>
        </p:txBody>
      </p:sp>
      <p:sp>
        <p:nvSpPr>
          <p:cNvPr id="5" name="Content 266">
            <a:extLst>
              <a:ext uri="{FF2B5EF4-FFF2-40B4-BE49-F238E27FC236}">
                <a16:creationId xmlns:a16="http://schemas.microsoft.com/office/drawing/2014/main" id="{55270206-291F-4816-92B1-232F8566E7C0}"/>
              </a:ext>
            </a:extLst>
          </p:cNvPr>
          <p:cNvSpPr>
            <a:spLocks noGrp="1"/>
          </p:cNvSpPr>
          <p:nvPr/>
        </p:nvSpPr>
        <p:spPr>
          <a:xfrm>
            <a:off x="430816" y="307714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Combine counting methods and apply real restrictions.</a:t>
            </a:r>
          </a:p>
        </p:txBody>
      </p:sp>
      <p:sp>
        <p:nvSpPr>
          <p:cNvPr id="6" name="Content 267">
            <a:extLst>
              <a:ext uri="{FF2B5EF4-FFF2-40B4-BE49-F238E27FC236}">
                <a16:creationId xmlns:a16="http://schemas.microsoft.com/office/drawing/2014/main" id="{5B61D0CD-CA68-4D76-BEF8-6A9C99D6103F}"/>
              </a:ext>
            </a:extLst>
          </p:cNvPr>
          <p:cNvSpPr>
            <a:spLocks noGrp="1"/>
          </p:cNvSpPr>
          <p:nvPr/>
        </p:nvSpPr>
        <p:spPr>
          <a:xfrm>
            <a:off x="430816" y="3639407"/>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Build equations, convert mixed units and justify rounding.</a:t>
            </a:r>
          </a:p>
        </p:txBody>
      </p:sp>
      <p:sp>
        <p:nvSpPr>
          <p:cNvPr id="7" name="Content 268">
            <a:extLst>
              <a:ext uri="{FF2B5EF4-FFF2-40B4-BE49-F238E27FC236}">
                <a16:creationId xmlns:a16="http://schemas.microsoft.com/office/drawing/2014/main" id="{CFB6E282-8EB3-4CA3-B1ED-1819CFCBE999}"/>
              </a:ext>
            </a:extLst>
          </p:cNvPr>
          <p:cNvSpPr>
            <a:spLocks noGrp="1"/>
          </p:cNvSpPr>
          <p:nvPr/>
        </p:nvSpPr>
        <p:spPr>
          <a:xfrm>
            <a:off x="430816" y="4201668"/>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Work backwards through losses and discounts.</a:t>
            </a:r>
          </a:p>
        </p:txBody>
      </p:sp>
      <p:sp>
        <p:nvSpPr>
          <p:cNvPr id="8" name="Content 269">
            <a:extLst>
              <a:ext uri="{FF2B5EF4-FFF2-40B4-BE49-F238E27FC236}">
                <a16:creationId xmlns:a16="http://schemas.microsoft.com/office/drawing/2014/main" id="{0DAEA810-7C24-4080-B86B-AA7812626A0D}"/>
              </a:ext>
            </a:extLst>
          </p:cNvPr>
          <p:cNvSpPr>
            <a:spLocks noGrp="1"/>
          </p:cNvSpPr>
          <p:nvPr/>
        </p:nvSpPr>
        <p:spPr>
          <a:xfrm>
            <a:off x="430816" y="4763929"/>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Use evidence to judge what a result supports.</a:t>
            </a:r>
          </a:p>
        </p:txBody>
      </p:sp>
      <p:sp>
        <p:nvSpPr>
          <p:cNvPr id="9" name="Content 270">
            <a:extLst>
              <a:ext uri="{FF2B5EF4-FFF2-40B4-BE49-F238E27FC236}">
                <a16:creationId xmlns:a16="http://schemas.microsoft.com/office/drawing/2014/main" id="{4FAFB0BB-2AA6-4E9E-9A4A-06927A1A20E4}"/>
              </a:ext>
            </a:extLst>
          </p:cNvPr>
          <p:cNvSpPr>
            <a:spLocks noGrp="1"/>
          </p:cNvSpPr>
          <p:nvPr/>
        </p:nvSpPr>
        <p:spPr>
          <a:xfrm>
            <a:off x="428625" y="5857875"/>
            <a:ext cx="11296650" cy="333375"/>
          </a:xfrm>
          <a:prstGeom prst="rect">
            <a:avLst/>
          </a:prstGeom>
          <a:noFill/>
          <a:ln w="0">
            <a:noFill/>
          </a:ln>
        </p:spPr>
        <p:txBody>
          <a:bodyPr wrap="square" lIns="0" tIns="0" rIns="0" bIns="0" anchor="t">
            <a:noAutofit/>
          </a:bodyPr>
          <a:lstStyle/>
          <a:p>
            <a:pPr algn="l">
              <a:lnSpc>
                <a:spcPct val="108000"/>
              </a:lnSpc>
              <a:buNone/>
              <a:defRPr sz="1875" b="0">
                <a:solidFill>
                  <a:srgbClr val="111111"/>
                </a:solidFill>
                <a:latin typeface="Aptos"/>
                <a:ea typeface="Aptos"/>
                <a:cs typeface="Aptos"/>
              </a:defRPr>
            </a:pPr>
            <a:r>
              <a:rPr sz="1875" b="0">
                <a:solidFill>
                  <a:srgbClr val="111111"/>
                </a:solidFill>
                <a:latin typeface="Aptos"/>
                <a:ea typeface="Aptos"/>
                <a:cs typeface="Aptos"/>
              </a:rPr>
              <a:t>Optional challenge answers follow. Core lesson ends here.</a:t>
            </a:r>
          </a:p>
        </p:txBody>
      </p:sp>
    </p:spTree>
    <p:extLst>
      <p:ext uri="{BB962C8B-B14F-4D97-AF65-F5344CB8AC3E}">
        <p14:creationId xmlns:p14="http://schemas.microsoft.com/office/powerpoint/2010/main" val="41587989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Optional C2B: Why 120 × 3 × 3?</a:t>
            </a:r>
          </a:p>
        </p:txBody>
      </p:sp>
      <p:sp>
        <p:nvSpPr>
          <p:cNvPr id="3" name="Handout reference C2B">
            <a:extLst>
              <a:ext uri="{FF2B5EF4-FFF2-40B4-BE49-F238E27FC236}">
                <a16:creationId xmlns:a16="http://schemas.microsoft.com/office/drawing/2014/main" id="{64172E8E-295B-4AD5-A89C-8B32471195FC}"/>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C2B</a:t>
            </a:r>
          </a:p>
        </p:txBody>
      </p:sp>
      <p:sp>
        <p:nvSpPr>
          <p:cNvPr id="4" name="Clarified text 193">
            <a:extLst>
              <a:ext uri="{FF2B5EF4-FFF2-40B4-BE49-F238E27FC236}">
                <a16:creationId xmlns:a16="http://schemas.microsoft.com/office/drawing/2014/main" id="{54D0C26E-A706-40F0-A86C-D138CA30CDA5}"/>
              </a:ext>
            </a:extLst>
          </p:cNvPr>
          <p:cNvSpPr>
            <a:spLocks noGrp="1"/>
          </p:cNvSpPr>
          <p:nvPr/>
        </p:nvSpPr>
        <p:spPr>
          <a:xfrm>
            <a:off x="428625" y="1952625"/>
            <a:ext cx="11296650" cy="428625"/>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1. Maya already fills one tester place. Choose 3 others from 10.</a:t>
            </a:r>
          </a:p>
        </p:txBody>
      </p:sp>
      <p:sp>
        <p:nvSpPr>
          <p:cNvPr id="5" name="Clarified text 194">
            <a:extLst>
              <a:ext uri="{FF2B5EF4-FFF2-40B4-BE49-F238E27FC236}">
                <a16:creationId xmlns:a16="http://schemas.microsoft.com/office/drawing/2014/main" id="{7DF75DFB-2D35-4BDC-817D-701920CA0D6A}"/>
              </a:ext>
            </a:extLst>
          </p:cNvPr>
          <p:cNvSpPr>
            <a:spLocks noGrp="1"/>
          </p:cNvSpPr>
          <p:nvPr/>
        </p:nvSpPr>
        <p:spPr>
          <a:xfrm>
            <a:off x="685800" y="2695575"/>
            <a:ext cx="1714500"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Teams =</a:t>
            </a:r>
          </a:p>
        </p:txBody>
      </p:sp>
      <p:sp>
        <p:nvSpPr>
          <p:cNvPr id="6" name="Clarified text 195">
            <a:extLst>
              <a:ext uri="{FF2B5EF4-FFF2-40B4-BE49-F238E27FC236}">
                <a16:creationId xmlns:a16="http://schemas.microsoft.com/office/drawing/2014/main" id="{8B569752-3F5F-4493-A916-0F07FDDA701F}"/>
              </a:ext>
            </a:extLst>
          </p:cNvPr>
          <p:cNvSpPr>
            <a:spLocks noGrp="1"/>
          </p:cNvSpPr>
          <p:nvPr/>
        </p:nvSpPr>
        <p:spPr>
          <a:xfrm>
            <a:off x="2400300" y="2447925"/>
            <a:ext cx="161925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10!</a:t>
            </a:r>
          </a:p>
        </p:txBody>
      </p:sp>
      <p:sp>
        <p:nvSpPr>
          <p:cNvPr id="7" name="Fraction bar">
            <a:extLst>
              <a:ext uri="{FF2B5EF4-FFF2-40B4-BE49-F238E27FC236}">
                <a16:creationId xmlns:a16="http://schemas.microsoft.com/office/drawing/2014/main" id="{C6AF9E03-22D1-40DD-B73B-D48398D5E472}"/>
              </a:ext>
            </a:extLst>
          </p:cNvPr>
          <p:cNvSpPr>
            <a:spLocks noGrp="1"/>
          </p:cNvSpPr>
          <p:nvPr/>
        </p:nvSpPr>
        <p:spPr>
          <a:xfrm>
            <a:off x="2400300" y="2857500"/>
            <a:ext cx="1619250" cy="0"/>
          </a:xfrm>
          <a:prstGeom prst="line">
            <a:avLst/>
          </a:prstGeom>
          <a:noFill/>
          <a:ln w="14288">
            <a:solidFill>
              <a:srgbClr val="111111"/>
            </a:solidFill>
          </a:ln>
        </p:spPr>
        <p:txBody>
          <a:bodyPr/>
          <a:lstStyle/>
          <a:p>
            <a:endParaRPr lang="en-US"/>
          </a:p>
        </p:txBody>
      </p:sp>
      <p:sp>
        <p:nvSpPr>
          <p:cNvPr id="8" name="Clarified text 196">
            <a:extLst>
              <a:ext uri="{FF2B5EF4-FFF2-40B4-BE49-F238E27FC236}">
                <a16:creationId xmlns:a16="http://schemas.microsoft.com/office/drawing/2014/main" id="{7CBBAB29-D8CD-453B-BA56-3F367AC951B1}"/>
              </a:ext>
            </a:extLst>
          </p:cNvPr>
          <p:cNvSpPr>
            <a:spLocks noGrp="1"/>
          </p:cNvSpPr>
          <p:nvPr/>
        </p:nvSpPr>
        <p:spPr>
          <a:xfrm>
            <a:off x="2400300" y="2895600"/>
            <a:ext cx="161925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3!7!</a:t>
            </a:r>
          </a:p>
        </p:txBody>
      </p:sp>
      <p:sp>
        <p:nvSpPr>
          <p:cNvPr id="9" name="Clarified text 197">
            <a:extLst>
              <a:ext uri="{FF2B5EF4-FFF2-40B4-BE49-F238E27FC236}">
                <a16:creationId xmlns:a16="http://schemas.microsoft.com/office/drawing/2014/main" id="{787BAD8A-F517-496C-9651-2B7A6EF0C4F5}"/>
              </a:ext>
            </a:extLst>
          </p:cNvPr>
          <p:cNvSpPr>
            <a:spLocks noGrp="1"/>
          </p:cNvSpPr>
          <p:nvPr/>
        </p:nvSpPr>
        <p:spPr>
          <a:xfrm>
            <a:off x="4191000" y="2695575"/>
            <a:ext cx="7534275"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 120 possible teams</a:t>
            </a:r>
          </a:p>
        </p:txBody>
      </p:sp>
      <p:sp>
        <p:nvSpPr>
          <p:cNvPr id="10" name="Clarified text 198">
            <a:extLst>
              <a:ext uri="{FF2B5EF4-FFF2-40B4-BE49-F238E27FC236}">
                <a16:creationId xmlns:a16="http://schemas.microsoft.com/office/drawing/2014/main" id="{A1357FE4-BA9E-49A7-A968-14D0AEDD8329}"/>
              </a:ext>
            </a:extLst>
          </p:cNvPr>
          <p:cNvSpPr>
            <a:spLocks noGrp="1"/>
          </p:cNvSpPr>
          <p:nvPr/>
        </p:nvSpPr>
        <p:spPr>
          <a:xfrm>
            <a:off x="430816" y="3543300"/>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2. Choose the leader: 3 choices, because Maya is excluded.</a:t>
            </a:r>
          </a:p>
        </p:txBody>
      </p:sp>
      <p:sp>
        <p:nvSpPr>
          <p:cNvPr id="11" name="Clarified text 199">
            <a:extLst>
              <a:ext uri="{FF2B5EF4-FFF2-40B4-BE49-F238E27FC236}">
                <a16:creationId xmlns:a16="http://schemas.microsoft.com/office/drawing/2014/main" id="{AD7DCEEE-3F86-4907-B1E9-743DB6BE20E5}"/>
              </a:ext>
            </a:extLst>
          </p:cNvPr>
          <p:cNvSpPr>
            <a:spLocks noGrp="1"/>
          </p:cNvSpPr>
          <p:nvPr/>
        </p:nvSpPr>
        <p:spPr>
          <a:xfrm>
            <a:off x="430816" y="4038886"/>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3. Choose the reporter: 4 − 1 = 3 people remain.</a:t>
            </a:r>
          </a:p>
        </p:txBody>
      </p:sp>
      <p:sp>
        <p:nvSpPr>
          <p:cNvPr id="12" name="Clarified text 200">
            <a:extLst>
              <a:ext uri="{FF2B5EF4-FFF2-40B4-BE49-F238E27FC236}">
                <a16:creationId xmlns:a16="http://schemas.microsoft.com/office/drawing/2014/main" id="{A0CB6C01-C6EF-4E50-A115-EF557E2293F2}"/>
              </a:ext>
            </a:extLst>
          </p:cNvPr>
          <p:cNvSpPr>
            <a:spLocks noGrp="1"/>
          </p:cNvSpPr>
          <p:nvPr/>
        </p:nvSpPr>
        <p:spPr>
          <a:xfrm>
            <a:off x="430816" y="4534471"/>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Exclude the chosen leader. Maya is allowed to be reporter.</a:t>
            </a:r>
          </a:p>
        </p:txBody>
      </p:sp>
      <p:sp>
        <p:nvSpPr>
          <p:cNvPr id="13" name="Clarified text 201">
            <a:extLst>
              <a:ext uri="{FF2B5EF4-FFF2-40B4-BE49-F238E27FC236}">
                <a16:creationId xmlns:a16="http://schemas.microsoft.com/office/drawing/2014/main" id="{4413BCE9-C350-4048-AA7B-B6F64A770044}"/>
              </a:ext>
            </a:extLst>
          </p:cNvPr>
          <p:cNvSpPr>
            <a:spLocks noGrp="1"/>
          </p:cNvSpPr>
          <p:nvPr/>
        </p:nvSpPr>
        <p:spPr>
          <a:xfrm>
            <a:off x="430816" y="5030057"/>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Each team therefore has 3 × 3 = 9 possible job assignments.</a:t>
            </a:r>
          </a:p>
        </p:txBody>
      </p:sp>
      <p:sp>
        <p:nvSpPr>
          <p:cNvPr id="14" name="Clarified text 202">
            <a:extLst>
              <a:ext uri="{FF2B5EF4-FFF2-40B4-BE49-F238E27FC236}">
                <a16:creationId xmlns:a16="http://schemas.microsoft.com/office/drawing/2014/main" id="{5C7E6130-69C6-4D2D-B7E3-7D2D82F24716}"/>
              </a:ext>
            </a:extLst>
          </p:cNvPr>
          <p:cNvSpPr>
            <a:spLocks noGrp="1"/>
          </p:cNvSpPr>
          <p:nvPr/>
        </p:nvSpPr>
        <p:spPr>
          <a:xfrm>
            <a:off x="430816" y="5525643"/>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Total = 120 teams × 9 assignments = 1,080 outcomes.</a:t>
            </a:r>
          </a:p>
        </p:txBody>
      </p:sp>
    </p:spTree>
    <p:extLst>
      <p:ext uri="{BB962C8B-B14F-4D97-AF65-F5344CB8AC3E}">
        <p14:creationId xmlns:p14="http://schemas.microsoft.com/office/powerpoint/2010/main" val="41587989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Optional C3B: Full cartons first</a:t>
            </a:r>
          </a:p>
        </p:txBody>
      </p:sp>
      <p:sp>
        <p:nvSpPr>
          <p:cNvPr id="3" name="Handout reference C3B">
            <a:extLst>
              <a:ext uri="{FF2B5EF4-FFF2-40B4-BE49-F238E27FC236}">
                <a16:creationId xmlns:a16="http://schemas.microsoft.com/office/drawing/2014/main" id="{880E419A-152B-4890-BE08-E69D2042295C}"/>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C3B</a:t>
            </a:r>
          </a:p>
        </p:txBody>
      </p:sp>
      <p:sp>
        <p:nvSpPr>
          <p:cNvPr id="4" name="Clarified text 203">
            <a:extLst>
              <a:ext uri="{FF2B5EF4-FFF2-40B4-BE49-F238E27FC236}">
                <a16:creationId xmlns:a16="http://schemas.microsoft.com/office/drawing/2014/main" id="{5BFA15DA-6219-4B59-AD30-7E1811D176F4}"/>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The 60 stone limit is 60 × 14 = 840 lb.</a:t>
            </a:r>
          </a:p>
        </p:txBody>
      </p:sp>
      <p:sp>
        <p:nvSpPr>
          <p:cNvPr id="5" name="Clarified text 204">
            <a:extLst>
              <a:ext uri="{FF2B5EF4-FFF2-40B4-BE49-F238E27FC236}">
                <a16:creationId xmlns:a16="http://schemas.microsoft.com/office/drawing/2014/main" id="{E19DB2DD-C60C-4CBF-B5EE-AA049A72903D}"/>
              </a:ext>
            </a:extLst>
          </p:cNvPr>
          <p:cNvSpPr>
            <a:spLocks noGrp="1"/>
          </p:cNvSpPr>
          <p:nvPr/>
        </p:nvSpPr>
        <p:spPr>
          <a:xfrm>
            <a:off x="430816" y="2448211"/>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A full carton of eight bottles weighs 5.8 lb.</a:t>
            </a:r>
          </a:p>
        </p:txBody>
      </p:sp>
      <p:sp>
        <p:nvSpPr>
          <p:cNvPr id="6" name="Clarified text 205">
            <a:extLst>
              <a:ext uri="{FF2B5EF4-FFF2-40B4-BE49-F238E27FC236}">
                <a16:creationId xmlns:a16="http://schemas.microsoft.com/office/drawing/2014/main" id="{F0ABE4C2-EE6F-41C8-84BB-F4738196851C}"/>
              </a:ext>
            </a:extLst>
          </p:cNvPr>
          <p:cNvSpPr>
            <a:spLocks noGrp="1"/>
          </p:cNvSpPr>
          <p:nvPr/>
        </p:nvSpPr>
        <p:spPr>
          <a:xfrm>
            <a:off x="430816" y="2943796"/>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840 ÷ 5.8 = 144.827…: 144 full cartons fit.</a:t>
            </a:r>
          </a:p>
        </p:txBody>
      </p:sp>
      <p:sp>
        <p:nvSpPr>
          <p:cNvPr id="7" name="Clarified text 206">
            <a:extLst>
              <a:ext uri="{FF2B5EF4-FFF2-40B4-BE49-F238E27FC236}">
                <a16:creationId xmlns:a16="http://schemas.microsoft.com/office/drawing/2014/main" id="{39D1CF72-2FCC-439A-85A9-4A7AEC3094CD}"/>
              </a:ext>
            </a:extLst>
          </p:cNvPr>
          <p:cNvSpPr>
            <a:spLocks noGrp="1"/>
          </p:cNvSpPr>
          <p:nvPr/>
        </p:nvSpPr>
        <p:spPr>
          <a:xfrm>
            <a:off x="430816" y="3439382"/>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Those cartons hold 144 × 8 = 1,152 bottles.</a:t>
            </a:r>
          </a:p>
        </p:txBody>
      </p:sp>
      <p:sp>
        <p:nvSpPr>
          <p:cNvPr id="8" name="Clarified text 207">
            <a:extLst>
              <a:ext uri="{FF2B5EF4-FFF2-40B4-BE49-F238E27FC236}">
                <a16:creationId xmlns:a16="http://schemas.microsoft.com/office/drawing/2014/main" id="{E400A923-5753-4BDF-892C-E5698AE42063}"/>
              </a:ext>
            </a:extLst>
          </p:cNvPr>
          <p:cNvSpPr>
            <a:spLocks noGrp="1"/>
          </p:cNvSpPr>
          <p:nvPr/>
        </p:nvSpPr>
        <p:spPr>
          <a:xfrm>
            <a:off x="430816" y="3934968"/>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Their mass is 144 × 5.8 = 835.2 lb.</a:t>
            </a:r>
          </a:p>
        </p:txBody>
      </p:sp>
      <p:sp>
        <p:nvSpPr>
          <p:cNvPr id="9" name="Clarified text 208">
            <a:extLst>
              <a:ext uri="{FF2B5EF4-FFF2-40B4-BE49-F238E27FC236}">
                <a16:creationId xmlns:a16="http://schemas.microsoft.com/office/drawing/2014/main" id="{FA90638A-1B42-4236-90C6-BE0B96CA38DD}"/>
              </a:ext>
            </a:extLst>
          </p:cNvPr>
          <p:cNvSpPr>
            <a:spLocks noGrp="1"/>
          </p:cNvSpPr>
          <p:nvPr/>
        </p:nvSpPr>
        <p:spPr>
          <a:xfrm>
            <a:off x="430816" y="4430554"/>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Unused mass allowance: 840 − 835.2 = 4.8 lb.</a:t>
            </a:r>
          </a:p>
        </p:txBody>
      </p:sp>
      <p:sp>
        <p:nvSpPr>
          <p:cNvPr id="10" name="Clarified text 209">
            <a:extLst>
              <a:ext uri="{FF2B5EF4-FFF2-40B4-BE49-F238E27FC236}">
                <a16:creationId xmlns:a16="http://schemas.microsoft.com/office/drawing/2014/main" id="{CB1E96F3-B70F-4134-8521-24DC09F5AD3E}"/>
              </a:ext>
            </a:extLst>
          </p:cNvPr>
          <p:cNvSpPr>
            <a:spLocks noGrp="1"/>
          </p:cNvSpPr>
          <p:nvPr/>
        </p:nvSpPr>
        <p:spPr>
          <a:xfrm>
            <a:off x="430816" y="4926139"/>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Can we add a partly filled carton within that 4.8 lb?</a:t>
            </a:r>
          </a:p>
        </p:txBody>
      </p:sp>
      <p:sp>
        <p:nvSpPr>
          <p:cNvPr id="11" name="Clarified text 210">
            <a:extLst>
              <a:ext uri="{FF2B5EF4-FFF2-40B4-BE49-F238E27FC236}">
                <a16:creationId xmlns:a16="http://schemas.microsoft.com/office/drawing/2014/main" id="{FB7E8194-4004-4FF3-A23C-1880215A2B25}"/>
              </a:ext>
            </a:extLst>
          </p:cNvPr>
          <p:cNvSpPr>
            <a:spLocks noGrp="1"/>
          </p:cNvSpPr>
          <p:nvPr/>
        </p:nvSpPr>
        <p:spPr>
          <a:xfrm>
            <a:off x="430816" y="5421725"/>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Its empty carton weighs 0.35 × 2.205 = 0.77175 lb.</a:t>
            </a:r>
          </a:p>
        </p:txBody>
      </p:sp>
    </p:spTree>
    <p:extLst>
      <p:ext uri="{BB962C8B-B14F-4D97-AF65-F5344CB8AC3E}">
        <p14:creationId xmlns:p14="http://schemas.microsoft.com/office/powerpoint/2010/main" val="41587989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Optional C3B: The partly filled carton</a:t>
            </a:r>
          </a:p>
        </p:txBody>
      </p:sp>
      <p:sp>
        <p:nvSpPr>
          <p:cNvPr id="3" name="Handout reference C3B">
            <a:extLst>
              <a:ext uri="{FF2B5EF4-FFF2-40B4-BE49-F238E27FC236}">
                <a16:creationId xmlns:a16="http://schemas.microsoft.com/office/drawing/2014/main" id="{880E419A-152B-4890-BE08-E69D2042295C}"/>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C3B</a:t>
            </a:r>
          </a:p>
        </p:txBody>
      </p:sp>
      <p:sp>
        <p:nvSpPr>
          <p:cNvPr id="4" name="Clarified text 211">
            <a:extLst>
              <a:ext uri="{FF2B5EF4-FFF2-40B4-BE49-F238E27FC236}">
                <a16:creationId xmlns:a16="http://schemas.microsoft.com/office/drawing/2014/main" id="{B4A0AD16-2D82-44E3-9597-BCBF923DFCE2}"/>
              </a:ext>
            </a:extLst>
          </p:cNvPr>
          <p:cNvSpPr>
            <a:spLocks noGrp="1"/>
          </p:cNvSpPr>
          <p:nvPr/>
        </p:nvSpPr>
        <p:spPr>
          <a:xfrm>
            <a:off x="428625" y="1952625"/>
            <a:ext cx="11296650" cy="428625"/>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Find one bottle’s mass by removing the carton from a full pack.</a:t>
            </a:r>
          </a:p>
        </p:txBody>
      </p:sp>
      <p:sp>
        <p:nvSpPr>
          <p:cNvPr id="5" name="Clarified text 212">
            <a:extLst>
              <a:ext uri="{FF2B5EF4-FFF2-40B4-BE49-F238E27FC236}">
                <a16:creationId xmlns:a16="http://schemas.microsoft.com/office/drawing/2014/main" id="{1DD636C8-F15E-46D2-A3C4-0C8B656F3DE3}"/>
              </a:ext>
            </a:extLst>
          </p:cNvPr>
          <p:cNvSpPr>
            <a:spLocks noGrp="1"/>
          </p:cNvSpPr>
          <p:nvPr/>
        </p:nvSpPr>
        <p:spPr>
          <a:xfrm>
            <a:off x="685800" y="2705100"/>
            <a:ext cx="2095500"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Bottle mass =</a:t>
            </a:r>
          </a:p>
        </p:txBody>
      </p:sp>
      <p:sp>
        <p:nvSpPr>
          <p:cNvPr id="6" name="Clarified text 213">
            <a:extLst>
              <a:ext uri="{FF2B5EF4-FFF2-40B4-BE49-F238E27FC236}">
                <a16:creationId xmlns:a16="http://schemas.microsoft.com/office/drawing/2014/main" id="{91D929F1-4BEC-47A2-AFE2-B3870AB107AC}"/>
              </a:ext>
            </a:extLst>
          </p:cNvPr>
          <p:cNvSpPr>
            <a:spLocks noGrp="1"/>
          </p:cNvSpPr>
          <p:nvPr/>
        </p:nvSpPr>
        <p:spPr>
          <a:xfrm>
            <a:off x="2781300" y="2457450"/>
            <a:ext cx="266700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5.8 − 0.77175</a:t>
            </a:r>
          </a:p>
        </p:txBody>
      </p:sp>
      <p:sp>
        <p:nvSpPr>
          <p:cNvPr id="7" name="Fraction bar">
            <a:extLst>
              <a:ext uri="{FF2B5EF4-FFF2-40B4-BE49-F238E27FC236}">
                <a16:creationId xmlns:a16="http://schemas.microsoft.com/office/drawing/2014/main" id="{B39F7360-090E-4207-AEFC-593622FEE7D8}"/>
              </a:ext>
            </a:extLst>
          </p:cNvPr>
          <p:cNvSpPr>
            <a:spLocks noGrp="1"/>
          </p:cNvSpPr>
          <p:nvPr/>
        </p:nvSpPr>
        <p:spPr>
          <a:xfrm>
            <a:off x="2781300" y="2867025"/>
            <a:ext cx="2667000" cy="0"/>
          </a:xfrm>
          <a:prstGeom prst="line">
            <a:avLst/>
          </a:prstGeom>
          <a:noFill/>
          <a:ln w="14288">
            <a:solidFill>
              <a:srgbClr val="111111"/>
            </a:solidFill>
          </a:ln>
        </p:spPr>
        <p:txBody>
          <a:bodyPr/>
          <a:lstStyle/>
          <a:p>
            <a:endParaRPr lang="en-US"/>
          </a:p>
        </p:txBody>
      </p:sp>
      <p:sp>
        <p:nvSpPr>
          <p:cNvPr id="8" name="Clarified text 214">
            <a:extLst>
              <a:ext uri="{FF2B5EF4-FFF2-40B4-BE49-F238E27FC236}">
                <a16:creationId xmlns:a16="http://schemas.microsoft.com/office/drawing/2014/main" id="{0B1F1026-EEFD-4AE4-8EDF-A832340E00E1}"/>
              </a:ext>
            </a:extLst>
          </p:cNvPr>
          <p:cNvSpPr>
            <a:spLocks noGrp="1"/>
          </p:cNvSpPr>
          <p:nvPr/>
        </p:nvSpPr>
        <p:spPr>
          <a:xfrm>
            <a:off x="2781300" y="2905125"/>
            <a:ext cx="266700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8</a:t>
            </a:r>
          </a:p>
        </p:txBody>
      </p:sp>
      <p:sp>
        <p:nvSpPr>
          <p:cNvPr id="9" name="Clarified text 215">
            <a:extLst>
              <a:ext uri="{FF2B5EF4-FFF2-40B4-BE49-F238E27FC236}">
                <a16:creationId xmlns:a16="http://schemas.microsoft.com/office/drawing/2014/main" id="{9D933698-EB63-4BD7-8D6E-2077F126647D}"/>
              </a:ext>
            </a:extLst>
          </p:cNvPr>
          <p:cNvSpPr>
            <a:spLocks noGrp="1"/>
          </p:cNvSpPr>
          <p:nvPr/>
        </p:nvSpPr>
        <p:spPr>
          <a:xfrm>
            <a:off x="5619750" y="2705100"/>
            <a:ext cx="6105525"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 0.62853125 lb</a:t>
            </a:r>
          </a:p>
        </p:txBody>
      </p:sp>
      <p:sp>
        <p:nvSpPr>
          <p:cNvPr id="10" name="Clarified text 216">
            <a:extLst>
              <a:ext uri="{FF2B5EF4-FFF2-40B4-BE49-F238E27FC236}">
                <a16:creationId xmlns:a16="http://schemas.microsoft.com/office/drawing/2014/main" id="{B461F481-E486-4ACF-A4B8-FBB6BC3744B5}"/>
              </a:ext>
            </a:extLst>
          </p:cNvPr>
          <p:cNvSpPr>
            <a:spLocks noGrp="1"/>
          </p:cNvSpPr>
          <p:nvPr/>
        </p:nvSpPr>
        <p:spPr>
          <a:xfrm>
            <a:off x="428625" y="3514725"/>
            <a:ext cx="11296650" cy="428625"/>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The spare 4.8 lb must cover the new carton AND its bottles.</a:t>
            </a:r>
          </a:p>
        </p:txBody>
      </p:sp>
      <p:sp>
        <p:nvSpPr>
          <p:cNvPr id="11" name="Clarified text 217">
            <a:extLst>
              <a:ext uri="{FF2B5EF4-FFF2-40B4-BE49-F238E27FC236}">
                <a16:creationId xmlns:a16="http://schemas.microsoft.com/office/drawing/2014/main" id="{84B4F3F1-C243-4499-9176-C0A420C12849}"/>
              </a:ext>
            </a:extLst>
          </p:cNvPr>
          <p:cNvSpPr>
            <a:spLocks noGrp="1"/>
          </p:cNvSpPr>
          <p:nvPr/>
        </p:nvSpPr>
        <p:spPr>
          <a:xfrm>
            <a:off x="685800" y="4238625"/>
            <a:ext cx="2095500"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Extra bottles =</a:t>
            </a:r>
          </a:p>
        </p:txBody>
      </p:sp>
      <p:sp>
        <p:nvSpPr>
          <p:cNvPr id="12" name="Clarified text 218">
            <a:extLst>
              <a:ext uri="{FF2B5EF4-FFF2-40B4-BE49-F238E27FC236}">
                <a16:creationId xmlns:a16="http://schemas.microsoft.com/office/drawing/2014/main" id="{1F999B72-A032-4903-985C-D9719A6AE2C7}"/>
              </a:ext>
            </a:extLst>
          </p:cNvPr>
          <p:cNvSpPr>
            <a:spLocks noGrp="1"/>
          </p:cNvSpPr>
          <p:nvPr/>
        </p:nvSpPr>
        <p:spPr>
          <a:xfrm>
            <a:off x="2781300" y="3990975"/>
            <a:ext cx="266700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4.8 − 0.77175</a:t>
            </a:r>
          </a:p>
        </p:txBody>
      </p:sp>
      <p:sp>
        <p:nvSpPr>
          <p:cNvPr id="13" name="Fraction bar">
            <a:extLst>
              <a:ext uri="{FF2B5EF4-FFF2-40B4-BE49-F238E27FC236}">
                <a16:creationId xmlns:a16="http://schemas.microsoft.com/office/drawing/2014/main" id="{1CC7311E-C0D7-4625-AC6F-F30483976D26}"/>
              </a:ext>
            </a:extLst>
          </p:cNvPr>
          <p:cNvSpPr>
            <a:spLocks noGrp="1"/>
          </p:cNvSpPr>
          <p:nvPr/>
        </p:nvSpPr>
        <p:spPr>
          <a:xfrm>
            <a:off x="2781300" y="4400550"/>
            <a:ext cx="2667000" cy="0"/>
          </a:xfrm>
          <a:prstGeom prst="line">
            <a:avLst/>
          </a:prstGeom>
          <a:noFill/>
          <a:ln w="14288">
            <a:solidFill>
              <a:srgbClr val="111111"/>
            </a:solidFill>
          </a:ln>
        </p:spPr>
        <p:txBody>
          <a:bodyPr/>
          <a:lstStyle/>
          <a:p>
            <a:endParaRPr lang="en-US"/>
          </a:p>
        </p:txBody>
      </p:sp>
      <p:sp>
        <p:nvSpPr>
          <p:cNvPr id="14" name="Clarified text 219">
            <a:extLst>
              <a:ext uri="{FF2B5EF4-FFF2-40B4-BE49-F238E27FC236}">
                <a16:creationId xmlns:a16="http://schemas.microsoft.com/office/drawing/2014/main" id="{D3F28752-7649-473A-9ED8-514FE658DC53}"/>
              </a:ext>
            </a:extLst>
          </p:cNvPr>
          <p:cNvSpPr>
            <a:spLocks noGrp="1"/>
          </p:cNvSpPr>
          <p:nvPr/>
        </p:nvSpPr>
        <p:spPr>
          <a:xfrm>
            <a:off x="2781300" y="4438650"/>
            <a:ext cx="2667000"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0.62853125</a:t>
            </a:r>
          </a:p>
        </p:txBody>
      </p:sp>
      <p:sp>
        <p:nvSpPr>
          <p:cNvPr id="15" name="Clarified text 220">
            <a:extLst>
              <a:ext uri="{FF2B5EF4-FFF2-40B4-BE49-F238E27FC236}">
                <a16:creationId xmlns:a16="http://schemas.microsoft.com/office/drawing/2014/main" id="{789ED12C-5522-45CA-90D9-57AA9E078467}"/>
              </a:ext>
            </a:extLst>
          </p:cNvPr>
          <p:cNvSpPr>
            <a:spLocks noGrp="1"/>
          </p:cNvSpPr>
          <p:nvPr/>
        </p:nvSpPr>
        <p:spPr>
          <a:xfrm>
            <a:off x="5619750" y="4238625"/>
            <a:ext cx="6105525"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 6.408989…: at most 6 bottles</a:t>
            </a:r>
          </a:p>
        </p:txBody>
      </p:sp>
      <p:sp>
        <p:nvSpPr>
          <p:cNvPr id="16" name="Clarified text 221">
            <a:extLst>
              <a:ext uri="{FF2B5EF4-FFF2-40B4-BE49-F238E27FC236}">
                <a16:creationId xmlns:a16="http://schemas.microsoft.com/office/drawing/2014/main" id="{E63F8441-D794-4C88-9612-570E3B7C3299}"/>
              </a:ext>
            </a:extLst>
          </p:cNvPr>
          <p:cNvSpPr>
            <a:spLocks noGrp="1"/>
          </p:cNvSpPr>
          <p:nvPr/>
        </p:nvSpPr>
        <p:spPr>
          <a:xfrm>
            <a:off x="430816" y="511492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Maximum = 1,152 + 6 = 1,158 bottles.</a:t>
            </a:r>
          </a:p>
        </p:txBody>
      </p:sp>
      <p:sp>
        <p:nvSpPr>
          <p:cNvPr id="17" name="Clarified text 222">
            <a:extLst>
              <a:ext uri="{FF2B5EF4-FFF2-40B4-BE49-F238E27FC236}">
                <a16:creationId xmlns:a16="http://schemas.microsoft.com/office/drawing/2014/main" id="{DE7F8F09-3ABB-4F1E-AF49-8B8668D2EDFE}"/>
              </a:ext>
            </a:extLst>
          </p:cNvPr>
          <p:cNvSpPr>
            <a:spLocks noGrp="1"/>
          </p:cNvSpPr>
          <p:nvPr/>
        </p:nvSpPr>
        <p:spPr>
          <a:xfrm>
            <a:off x="430816" y="565813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Check: 1,158 bottles weigh 839.743 lb. One more gives 840.371 lb.</a:t>
            </a:r>
          </a:p>
        </p:txBody>
      </p:sp>
    </p:spTree>
    <p:extLst>
      <p:ext uri="{BB962C8B-B14F-4D97-AF65-F5344CB8AC3E}">
        <p14:creationId xmlns:p14="http://schemas.microsoft.com/office/powerpoint/2010/main" val="41587989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Optional C3C: A non-integer border</a:t>
            </a:r>
          </a:p>
        </p:txBody>
      </p:sp>
      <p:sp>
        <p:nvSpPr>
          <p:cNvPr id="3" name="Handout reference C3C">
            <a:extLst>
              <a:ext uri="{FF2B5EF4-FFF2-40B4-BE49-F238E27FC236}">
                <a16:creationId xmlns:a16="http://schemas.microsoft.com/office/drawing/2014/main" id="{536B237C-521D-46E9-9D68-6D3A872E6A0C}"/>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C3C</a:t>
            </a:r>
          </a:p>
        </p:txBody>
      </p:sp>
      <p:sp>
        <p:nvSpPr>
          <p:cNvPr id="4" name="Clarified text 223">
            <a:extLst>
              <a:ext uri="{FF2B5EF4-FFF2-40B4-BE49-F238E27FC236}">
                <a16:creationId xmlns:a16="http://schemas.microsoft.com/office/drawing/2014/main" id="{A1685D4E-18FF-4A3E-BDD7-555A105D845E}"/>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The new printed area is 430 cm².</a:t>
            </a:r>
          </a:p>
        </p:txBody>
      </p:sp>
      <p:sp>
        <p:nvSpPr>
          <p:cNvPr id="5" name="Clarified text 224">
            <a:extLst>
              <a:ext uri="{FF2B5EF4-FFF2-40B4-BE49-F238E27FC236}">
                <a16:creationId xmlns:a16="http://schemas.microsoft.com/office/drawing/2014/main" id="{CF621F48-A39F-4D3E-BF55-5AABCA6885D8}"/>
              </a:ext>
            </a:extLst>
          </p:cNvPr>
          <p:cNvSpPr>
            <a:spLocks noGrp="1"/>
          </p:cNvSpPr>
          <p:nvPr/>
        </p:nvSpPr>
        <p:spPr>
          <a:xfrm>
            <a:off x="430816" y="243868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(28 − 2x)(22 − 2x) = 430 gives 4x² − 100x + 186 = 0.</a:t>
            </a:r>
          </a:p>
        </p:txBody>
      </p:sp>
      <p:sp>
        <p:nvSpPr>
          <p:cNvPr id="6" name="Clarified text 225">
            <a:extLst>
              <a:ext uri="{FF2B5EF4-FFF2-40B4-BE49-F238E27FC236}">
                <a16:creationId xmlns:a16="http://schemas.microsoft.com/office/drawing/2014/main" id="{0D2AEA49-E00C-42F0-AD3D-22FA04B0B9DC}"/>
              </a:ext>
            </a:extLst>
          </p:cNvPr>
          <p:cNvSpPr>
            <a:spLocks noGrp="1"/>
          </p:cNvSpPr>
          <p:nvPr/>
        </p:nvSpPr>
        <p:spPr>
          <a:xfrm>
            <a:off x="430816" y="292474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Divide by 4: x² − 25x + 46.5 = 0.</a:t>
            </a:r>
          </a:p>
        </p:txBody>
      </p:sp>
      <p:sp>
        <p:nvSpPr>
          <p:cNvPr id="7" name="Clarified text 226">
            <a:extLst>
              <a:ext uri="{FF2B5EF4-FFF2-40B4-BE49-F238E27FC236}">
                <a16:creationId xmlns:a16="http://schemas.microsoft.com/office/drawing/2014/main" id="{6925E85F-BFAB-4DB2-85E9-AE868F5949A9}"/>
              </a:ext>
            </a:extLst>
          </p:cNvPr>
          <p:cNvSpPr>
            <a:spLocks noGrp="1"/>
          </p:cNvSpPr>
          <p:nvPr/>
        </p:nvSpPr>
        <p:spPr>
          <a:xfrm>
            <a:off x="430816" y="3410807"/>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In the quadratic formula, a = 1, b = −25 and c = 46.5.</a:t>
            </a:r>
          </a:p>
        </p:txBody>
      </p:sp>
      <p:sp>
        <p:nvSpPr>
          <p:cNvPr id="8" name="Clarified text 227">
            <a:extLst>
              <a:ext uri="{FF2B5EF4-FFF2-40B4-BE49-F238E27FC236}">
                <a16:creationId xmlns:a16="http://schemas.microsoft.com/office/drawing/2014/main" id="{A7A66B64-4C64-44F2-9F68-C0F6F218D38D}"/>
              </a:ext>
            </a:extLst>
          </p:cNvPr>
          <p:cNvSpPr>
            <a:spLocks noGrp="1"/>
          </p:cNvSpPr>
          <p:nvPr/>
        </p:nvSpPr>
        <p:spPr>
          <a:xfrm>
            <a:off x="685800" y="4257675"/>
            <a:ext cx="857250" cy="495300"/>
          </a:xfrm>
          <a:prstGeom prst="rect">
            <a:avLst/>
          </a:prstGeom>
          <a:noFill/>
          <a:ln w="0">
            <a:noFill/>
          </a:ln>
        </p:spPr>
        <p:txBody>
          <a:bodyPr wrap="square" lIns="0" tIns="0" rIns="0" bIns="0" anchor="t">
            <a:noAutofit/>
          </a:bodyPr>
          <a:lstStyle/>
          <a:p>
            <a:pPr algn="l">
              <a:lnSpc>
                <a:spcPct val="108000"/>
              </a:lnSpc>
              <a:buNone/>
              <a:defRPr sz="2400" b="0">
                <a:solidFill>
                  <a:srgbClr val="111111"/>
                </a:solidFill>
                <a:latin typeface="Aptos"/>
                <a:ea typeface="Aptos"/>
                <a:cs typeface="Aptos"/>
              </a:defRPr>
            </a:pPr>
            <a:r>
              <a:rPr sz="2400" b="0">
                <a:solidFill>
                  <a:srgbClr val="111111"/>
                </a:solidFill>
                <a:latin typeface="Aptos"/>
                <a:ea typeface="Aptos"/>
                <a:cs typeface="Aptos"/>
              </a:rPr>
              <a:t>x =</a:t>
            </a:r>
          </a:p>
        </p:txBody>
      </p:sp>
      <p:sp>
        <p:nvSpPr>
          <p:cNvPr id="9" name="Clarified text 228">
            <a:extLst>
              <a:ext uri="{FF2B5EF4-FFF2-40B4-BE49-F238E27FC236}">
                <a16:creationId xmlns:a16="http://schemas.microsoft.com/office/drawing/2014/main" id="{F029F2FC-1AE7-4FEF-9AFE-741D43ECA398}"/>
              </a:ext>
            </a:extLst>
          </p:cNvPr>
          <p:cNvSpPr>
            <a:spLocks noGrp="1"/>
          </p:cNvSpPr>
          <p:nvPr/>
        </p:nvSpPr>
        <p:spPr>
          <a:xfrm>
            <a:off x="1543050" y="4010025"/>
            <a:ext cx="5429250" cy="400050"/>
          </a:xfrm>
          <a:prstGeom prst="rect">
            <a:avLst/>
          </a:prstGeom>
          <a:noFill/>
          <a:ln w="0">
            <a:noFill/>
          </a:ln>
        </p:spPr>
        <p:txBody>
          <a:bodyPr wrap="square" lIns="0" tIns="0" rIns="0" bIns="0" anchor="t">
            <a:noAutofit/>
          </a:bodyPr>
          <a:lstStyle/>
          <a:p>
            <a:pPr algn="ctr">
              <a:lnSpc>
                <a:spcPct val="108000"/>
              </a:lnSpc>
              <a:buNone/>
              <a:defRPr sz="2400" b="0">
                <a:solidFill>
                  <a:srgbClr val="111111"/>
                </a:solidFill>
                <a:latin typeface="Aptos"/>
                <a:ea typeface="Aptos"/>
                <a:cs typeface="Aptos"/>
              </a:defRPr>
            </a:pPr>
            <a:r>
              <a:rPr sz="2400" b="0">
                <a:solidFill>
                  <a:srgbClr val="111111"/>
                </a:solidFill>
                <a:latin typeface="Aptos"/>
                <a:ea typeface="Aptos"/>
                <a:cs typeface="Aptos"/>
              </a:rPr>
              <a:t>25 ± √(25² − 4 × 1 × 46.5)</a:t>
            </a:r>
          </a:p>
        </p:txBody>
      </p:sp>
      <p:sp>
        <p:nvSpPr>
          <p:cNvPr id="10" name="Fraction bar">
            <a:extLst>
              <a:ext uri="{FF2B5EF4-FFF2-40B4-BE49-F238E27FC236}">
                <a16:creationId xmlns:a16="http://schemas.microsoft.com/office/drawing/2014/main" id="{666F88EA-BEE8-4F6E-9A0D-0F12386FB1EC}"/>
              </a:ext>
            </a:extLst>
          </p:cNvPr>
          <p:cNvSpPr>
            <a:spLocks noGrp="1"/>
          </p:cNvSpPr>
          <p:nvPr/>
        </p:nvSpPr>
        <p:spPr>
          <a:xfrm>
            <a:off x="1543050" y="4419600"/>
            <a:ext cx="5429250" cy="0"/>
          </a:xfrm>
          <a:prstGeom prst="line">
            <a:avLst/>
          </a:prstGeom>
          <a:noFill/>
          <a:ln w="14288">
            <a:solidFill>
              <a:srgbClr val="111111"/>
            </a:solidFill>
          </a:ln>
        </p:spPr>
        <p:txBody>
          <a:bodyPr/>
          <a:lstStyle/>
          <a:p>
            <a:endParaRPr lang="en-US"/>
          </a:p>
        </p:txBody>
      </p:sp>
      <p:sp>
        <p:nvSpPr>
          <p:cNvPr id="11" name="Clarified text 229">
            <a:extLst>
              <a:ext uri="{FF2B5EF4-FFF2-40B4-BE49-F238E27FC236}">
                <a16:creationId xmlns:a16="http://schemas.microsoft.com/office/drawing/2014/main" id="{2328D27F-A0D5-4DEE-B1BF-17B9348FAE97}"/>
              </a:ext>
            </a:extLst>
          </p:cNvPr>
          <p:cNvSpPr>
            <a:spLocks noGrp="1"/>
          </p:cNvSpPr>
          <p:nvPr/>
        </p:nvSpPr>
        <p:spPr>
          <a:xfrm>
            <a:off x="1543050" y="4457700"/>
            <a:ext cx="5429250" cy="400050"/>
          </a:xfrm>
          <a:prstGeom prst="rect">
            <a:avLst/>
          </a:prstGeom>
          <a:noFill/>
          <a:ln w="0">
            <a:noFill/>
          </a:ln>
        </p:spPr>
        <p:txBody>
          <a:bodyPr wrap="square" lIns="0" tIns="0" rIns="0" bIns="0" anchor="t">
            <a:noAutofit/>
          </a:bodyPr>
          <a:lstStyle/>
          <a:p>
            <a:pPr algn="ctr">
              <a:lnSpc>
                <a:spcPct val="108000"/>
              </a:lnSpc>
              <a:buNone/>
              <a:defRPr sz="2400" b="0">
                <a:solidFill>
                  <a:srgbClr val="111111"/>
                </a:solidFill>
                <a:latin typeface="Aptos"/>
                <a:ea typeface="Aptos"/>
                <a:cs typeface="Aptos"/>
              </a:defRPr>
            </a:pPr>
            <a:r>
              <a:rPr sz="2400" b="0">
                <a:solidFill>
                  <a:srgbClr val="111111"/>
                </a:solidFill>
                <a:latin typeface="Aptos"/>
                <a:ea typeface="Aptos"/>
                <a:cs typeface="Aptos"/>
              </a:rPr>
              <a:t>2 × 1</a:t>
            </a:r>
          </a:p>
        </p:txBody>
      </p:sp>
      <p:sp>
        <p:nvSpPr>
          <p:cNvPr id="12" name="Clarified text 230">
            <a:extLst>
              <a:ext uri="{FF2B5EF4-FFF2-40B4-BE49-F238E27FC236}">
                <a16:creationId xmlns:a16="http://schemas.microsoft.com/office/drawing/2014/main" id="{E86EFEE6-B220-44F1-962A-6C620EAA297B}"/>
              </a:ext>
            </a:extLst>
          </p:cNvPr>
          <p:cNvSpPr>
            <a:spLocks noGrp="1"/>
          </p:cNvSpPr>
          <p:nvPr/>
        </p:nvSpPr>
        <p:spPr>
          <a:xfrm>
            <a:off x="7143750" y="4257675"/>
            <a:ext cx="4581525" cy="609600"/>
          </a:xfrm>
          <a:prstGeom prst="rect">
            <a:avLst/>
          </a:prstGeom>
          <a:noFill/>
          <a:ln w="0">
            <a:noFill/>
          </a:ln>
        </p:spPr>
        <p:txBody>
          <a:bodyPr wrap="square" lIns="0" tIns="0" rIns="0" bIns="0" anchor="t">
            <a:noAutofit/>
          </a:bodyPr>
          <a:lstStyle/>
          <a:p>
            <a:endParaRPr/>
          </a:p>
        </p:txBody>
      </p:sp>
      <p:sp>
        <p:nvSpPr>
          <p:cNvPr id="13" name="Clarified text 231">
            <a:extLst>
              <a:ext uri="{FF2B5EF4-FFF2-40B4-BE49-F238E27FC236}">
                <a16:creationId xmlns:a16="http://schemas.microsoft.com/office/drawing/2014/main" id="{F543DDC5-700E-4604-A1EF-FEDD3E780C96}"/>
              </a:ext>
            </a:extLst>
          </p:cNvPr>
          <p:cNvSpPr>
            <a:spLocks noGrp="1"/>
          </p:cNvSpPr>
          <p:nvPr/>
        </p:nvSpPr>
        <p:spPr>
          <a:xfrm>
            <a:off x="430816" y="5114925"/>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Roots: x ≈ 2.023836 or 22.976164.</a:t>
            </a:r>
          </a:p>
        </p:txBody>
      </p:sp>
      <p:sp>
        <p:nvSpPr>
          <p:cNvPr id="14" name="Clarified text 232">
            <a:extLst>
              <a:ext uri="{FF2B5EF4-FFF2-40B4-BE49-F238E27FC236}">
                <a16:creationId xmlns:a16="http://schemas.microsoft.com/office/drawing/2014/main" id="{222C4C75-78BA-4F6D-88EB-B4D26C69A4F9}"/>
              </a:ext>
            </a:extLst>
          </p:cNvPr>
          <p:cNvSpPr>
            <a:spLocks noGrp="1"/>
          </p:cNvSpPr>
          <p:nvPr/>
        </p:nvSpPr>
        <p:spPr>
          <a:xfrm>
            <a:off x="430816" y="5639086"/>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The printed width requires x &lt; 11. Choose x ≈ 2.02 cm.</a:t>
            </a:r>
          </a:p>
        </p:txBody>
      </p:sp>
    </p:spTree>
    <p:extLst>
      <p:ext uri="{BB962C8B-B14F-4D97-AF65-F5344CB8AC3E}">
        <p14:creationId xmlns:p14="http://schemas.microsoft.com/office/powerpoint/2010/main" val="41587989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none" lIns="0" tIns="0" rIns="0" bIns="0" anchor="ctr">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Optional C4B: Extra B and C</a:t>
            </a:r>
          </a:p>
        </p:txBody>
      </p:sp>
      <p:sp>
        <p:nvSpPr>
          <p:cNvPr id="3" name="Handout reference C4B">
            <a:extLst>
              <a:ext uri="{FF2B5EF4-FFF2-40B4-BE49-F238E27FC236}">
                <a16:creationId xmlns:a16="http://schemas.microsoft.com/office/drawing/2014/main" id="{DAFF74D2-01C3-480E-BD16-568A25099583}"/>
              </a:ext>
            </a:extLst>
          </p:cNvPr>
          <p:cNvSpPr>
            <a:spLocks noGrp="1"/>
          </p:cNvSpPr>
          <p:nvPr/>
        </p:nvSpPr>
        <p:spPr>
          <a:xfrm>
            <a:off x="8734425" y="476250"/>
            <a:ext cx="3000375" cy="400050"/>
          </a:xfrm>
          <a:prstGeom prst="rect">
            <a:avLst/>
          </a:prstGeom>
          <a:solidFill>
            <a:srgbClr val="D6171D"/>
          </a:solidFill>
          <a:ln w="0">
            <a:noFill/>
          </a:ln>
        </p:spPr>
        <p:txBody>
          <a:bodyPr lIns="28575" tIns="0" rIns="28575" bIns="0" anchor="ctr">
            <a:noAutofit/>
          </a:bodyPr>
          <a:lstStyle/>
          <a:p>
            <a:pPr algn="ctr">
              <a:buNone/>
              <a:defRPr sz="1725" b="1">
                <a:solidFill>
                  <a:srgbClr val="FFFFFF"/>
                </a:solidFill>
                <a:latin typeface="Aptos"/>
                <a:ea typeface="Aptos"/>
                <a:cs typeface="Aptos"/>
              </a:defRPr>
            </a:pPr>
            <a:r>
              <a:rPr sz="1725" b="1">
                <a:solidFill>
                  <a:srgbClr val="FFFFFF"/>
                </a:solidFill>
                <a:latin typeface="Aptos"/>
                <a:ea typeface="Aptos"/>
                <a:cs typeface="Aptos"/>
              </a:rPr>
              <a:t>WORKSHOP TASK C4B</a:t>
            </a:r>
          </a:p>
        </p:txBody>
      </p:sp>
      <p:sp>
        <p:nvSpPr>
          <p:cNvPr id="4" name="Clarified text 233">
            <a:extLst>
              <a:ext uri="{FF2B5EF4-FFF2-40B4-BE49-F238E27FC236}">
                <a16:creationId xmlns:a16="http://schemas.microsoft.com/office/drawing/2014/main" id="{2131AC6E-7BA1-4419-83AA-C0ED89D61AA6}"/>
              </a:ext>
            </a:extLst>
          </p:cNvPr>
          <p:cNvSpPr>
            <a:spLocks noGrp="1"/>
          </p:cNvSpPr>
          <p:nvPr/>
        </p:nvSpPr>
        <p:spPr>
          <a:xfrm>
            <a:off x="430816" y="1952625"/>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All 15 sacks give A = 15 × 25 ÷ 2.205 = 170.068027… kg.</a:t>
            </a:r>
          </a:p>
        </p:txBody>
      </p:sp>
      <p:sp>
        <p:nvSpPr>
          <p:cNvPr id="5" name="Clarified text 234">
            <a:extLst>
              <a:ext uri="{FF2B5EF4-FFF2-40B4-BE49-F238E27FC236}">
                <a16:creationId xmlns:a16="http://schemas.microsoft.com/office/drawing/2014/main" id="{CE4CE0F0-525D-4BAC-8AF2-5A2E4DB3802F}"/>
              </a:ext>
            </a:extLst>
          </p:cNvPr>
          <p:cNvSpPr>
            <a:spLocks noGrp="1"/>
          </p:cNvSpPr>
          <p:nvPr/>
        </p:nvSpPr>
        <p:spPr>
          <a:xfrm>
            <a:off x="430816" y="245773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A represents 7 ratio parts. B needs 5 parts and C needs 3 parts.</a:t>
            </a:r>
          </a:p>
        </p:txBody>
      </p:sp>
      <p:sp>
        <p:nvSpPr>
          <p:cNvPr id="6" name="Clarified text 235">
            <a:extLst>
              <a:ext uri="{FF2B5EF4-FFF2-40B4-BE49-F238E27FC236}">
                <a16:creationId xmlns:a16="http://schemas.microsoft.com/office/drawing/2014/main" id="{260EAC1E-FC18-449F-AD42-DA5FA89EBFF5}"/>
              </a:ext>
            </a:extLst>
          </p:cNvPr>
          <p:cNvSpPr>
            <a:spLocks noGrp="1"/>
          </p:cNvSpPr>
          <p:nvPr/>
        </p:nvSpPr>
        <p:spPr>
          <a:xfrm>
            <a:off x="685800" y="3200400"/>
            <a:ext cx="1714500"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B needed =</a:t>
            </a:r>
          </a:p>
        </p:txBody>
      </p:sp>
      <p:sp>
        <p:nvSpPr>
          <p:cNvPr id="7" name="Clarified text 236">
            <a:extLst>
              <a:ext uri="{FF2B5EF4-FFF2-40B4-BE49-F238E27FC236}">
                <a16:creationId xmlns:a16="http://schemas.microsoft.com/office/drawing/2014/main" id="{E87EC5D1-D9F4-45CE-864D-6C3F67E04475}"/>
              </a:ext>
            </a:extLst>
          </p:cNvPr>
          <p:cNvSpPr>
            <a:spLocks noGrp="1"/>
          </p:cNvSpPr>
          <p:nvPr/>
        </p:nvSpPr>
        <p:spPr>
          <a:xfrm>
            <a:off x="2400300" y="2952750"/>
            <a:ext cx="714375"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5</a:t>
            </a:r>
          </a:p>
        </p:txBody>
      </p:sp>
      <p:sp>
        <p:nvSpPr>
          <p:cNvPr id="8" name="Fraction bar">
            <a:extLst>
              <a:ext uri="{FF2B5EF4-FFF2-40B4-BE49-F238E27FC236}">
                <a16:creationId xmlns:a16="http://schemas.microsoft.com/office/drawing/2014/main" id="{A71A20C6-8F84-4305-A209-AE43D66C2CE6}"/>
              </a:ext>
            </a:extLst>
          </p:cNvPr>
          <p:cNvSpPr>
            <a:spLocks noGrp="1"/>
          </p:cNvSpPr>
          <p:nvPr/>
        </p:nvSpPr>
        <p:spPr>
          <a:xfrm>
            <a:off x="2400300" y="3362325"/>
            <a:ext cx="714375" cy="0"/>
          </a:xfrm>
          <a:prstGeom prst="line">
            <a:avLst/>
          </a:prstGeom>
          <a:noFill/>
          <a:ln w="14288">
            <a:solidFill>
              <a:srgbClr val="111111"/>
            </a:solidFill>
          </a:ln>
        </p:spPr>
        <p:txBody>
          <a:bodyPr/>
          <a:lstStyle/>
          <a:p>
            <a:endParaRPr lang="en-US"/>
          </a:p>
        </p:txBody>
      </p:sp>
      <p:sp>
        <p:nvSpPr>
          <p:cNvPr id="9" name="Clarified text 237">
            <a:extLst>
              <a:ext uri="{FF2B5EF4-FFF2-40B4-BE49-F238E27FC236}">
                <a16:creationId xmlns:a16="http://schemas.microsoft.com/office/drawing/2014/main" id="{D1A4D806-5A46-4180-9536-714CCD8206FD}"/>
              </a:ext>
            </a:extLst>
          </p:cNvPr>
          <p:cNvSpPr>
            <a:spLocks noGrp="1"/>
          </p:cNvSpPr>
          <p:nvPr/>
        </p:nvSpPr>
        <p:spPr>
          <a:xfrm>
            <a:off x="2400300" y="3400425"/>
            <a:ext cx="714375"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7</a:t>
            </a:r>
          </a:p>
        </p:txBody>
      </p:sp>
      <p:sp>
        <p:nvSpPr>
          <p:cNvPr id="10" name="Clarified text 238">
            <a:extLst>
              <a:ext uri="{FF2B5EF4-FFF2-40B4-BE49-F238E27FC236}">
                <a16:creationId xmlns:a16="http://schemas.microsoft.com/office/drawing/2014/main" id="{7AFA3CB2-3E0B-449B-8053-27E0629D117B}"/>
              </a:ext>
            </a:extLst>
          </p:cNvPr>
          <p:cNvSpPr>
            <a:spLocks noGrp="1"/>
          </p:cNvSpPr>
          <p:nvPr/>
        </p:nvSpPr>
        <p:spPr>
          <a:xfrm>
            <a:off x="3286125" y="3200400"/>
            <a:ext cx="8439150"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 170.068027… = 121.477162… kg</a:t>
            </a:r>
          </a:p>
        </p:txBody>
      </p:sp>
      <p:sp>
        <p:nvSpPr>
          <p:cNvPr id="11" name="Clarified text 239">
            <a:extLst>
              <a:ext uri="{FF2B5EF4-FFF2-40B4-BE49-F238E27FC236}">
                <a16:creationId xmlns:a16="http://schemas.microsoft.com/office/drawing/2014/main" id="{B7DE4605-B8F4-430F-B432-39AFB85E233E}"/>
              </a:ext>
            </a:extLst>
          </p:cNvPr>
          <p:cNvSpPr>
            <a:spLocks noGrp="1"/>
          </p:cNvSpPr>
          <p:nvPr/>
        </p:nvSpPr>
        <p:spPr>
          <a:xfrm>
            <a:off x="685800" y="4191000"/>
            <a:ext cx="1714500" cy="4953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C needed =</a:t>
            </a:r>
          </a:p>
        </p:txBody>
      </p:sp>
      <p:sp>
        <p:nvSpPr>
          <p:cNvPr id="12" name="Clarified text 240">
            <a:extLst>
              <a:ext uri="{FF2B5EF4-FFF2-40B4-BE49-F238E27FC236}">
                <a16:creationId xmlns:a16="http://schemas.microsoft.com/office/drawing/2014/main" id="{0D2BCC00-F318-4990-8C63-705F033D1855}"/>
              </a:ext>
            </a:extLst>
          </p:cNvPr>
          <p:cNvSpPr>
            <a:spLocks noGrp="1"/>
          </p:cNvSpPr>
          <p:nvPr/>
        </p:nvSpPr>
        <p:spPr>
          <a:xfrm>
            <a:off x="2400300" y="3943350"/>
            <a:ext cx="714375"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3</a:t>
            </a:r>
          </a:p>
        </p:txBody>
      </p:sp>
      <p:sp>
        <p:nvSpPr>
          <p:cNvPr id="13" name="Fraction bar">
            <a:extLst>
              <a:ext uri="{FF2B5EF4-FFF2-40B4-BE49-F238E27FC236}">
                <a16:creationId xmlns:a16="http://schemas.microsoft.com/office/drawing/2014/main" id="{9F586207-8F4E-4CD1-9EC5-C8C1CF9C9F68}"/>
              </a:ext>
            </a:extLst>
          </p:cNvPr>
          <p:cNvSpPr>
            <a:spLocks noGrp="1"/>
          </p:cNvSpPr>
          <p:nvPr/>
        </p:nvSpPr>
        <p:spPr>
          <a:xfrm>
            <a:off x="2400300" y="4352925"/>
            <a:ext cx="714375" cy="0"/>
          </a:xfrm>
          <a:prstGeom prst="line">
            <a:avLst/>
          </a:prstGeom>
          <a:noFill/>
          <a:ln w="14288">
            <a:solidFill>
              <a:srgbClr val="111111"/>
            </a:solidFill>
          </a:ln>
        </p:spPr>
        <p:txBody>
          <a:bodyPr/>
          <a:lstStyle/>
          <a:p>
            <a:endParaRPr lang="en-US"/>
          </a:p>
        </p:txBody>
      </p:sp>
      <p:sp>
        <p:nvSpPr>
          <p:cNvPr id="14" name="Clarified text 241">
            <a:extLst>
              <a:ext uri="{FF2B5EF4-FFF2-40B4-BE49-F238E27FC236}">
                <a16:creationId xmlns:a16="http://schemas.microsoft.com/office/drawing/2014/main" id="{E9AA3C8E-19AF-4554-8F32-65D40687C864}"/>
              </a:ext>
            </a:extLst>
          </p:cNvPr>
          <p:cNvSpPr>
            <a:spLocks noGrp="1"/>
          </p:cNvSpPr>
          <p:nvPr/>
        </p:nvSpPr>
        <p:spPr>
          <a:xfrm>
            <a:off x="2400300" y="4391025"/>
            <a:ext cx="714375" cy="400050"/>
          </a:xfrm>
          <a:prstGeom prst="rect">
            <a:avLst/>
          </a:prstGeom>
          <a:noFill/>
          <a:ln w="0">
            <a:noFill/>
          </a:ln>
        </p:spPr>
        <p:txBody>
          <a:bodyPr wrap="square" lIns="0" tIns="0" rIns="0" bIns="0" anchor="t">
            <a:noAutofit/>
          </a:bodyPr>
          <a:lstStyle/>
          <a:p>
            <a:pPr algn="ctr">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7</a:t>
            </a:r>
          </a:p>
        </p:txBody>
      </p:sp>
      <p:sp>
        <p:nvSpPr>
          <p:cNvPr id="15" name="Clarified text 242">
            <a:extLst>
              <a:ext uri="{FF2B5EF4-FFF2-40B4-BE49-F238E27FC236}">
                <a16:creationId xmlns:a16="http://schemas.microsoft.com/office/drawing/2014/main" id="{92A63302-FA2D-4BE3-902A-F408495C702F}"/>
              </a:ext>
            </a:extLst>
          </p:cNvPr>
          <p:cNvSpPr>
            <a:spLocks noGrp="1"/>
          </p:cNvSpPr>
          <p:nvPr/>
        </p:nvSpPr>
        <p:spPr>
          <a:xfrm>
            <a:off x="3286125" y="4191000"/>
            <a:ext cx="8439150" cy="609600"/>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 170.068027… = 72.886297… kg</a:t>
            </a:r>
          </a:p>
        </p:txBody>
      </p:sp>
      <p:sp>
        <p:nvSpPr>
          <p:cNvPr id="16" name="Clarified text 243">
            <a:extLst>
              <a:ext uri="{FF2B5EF4-FFF2-40B4-BE49-F238E27FC236}">
                <a16:creationId xmlns:a16="http://schemas.microsoft.com/office/drawing/2014/main" id="{F488B998-E949-44ED-9E71-ED9FE9372F4E}"/>
              </a:ext>
            </a:extLst>
          </p:cNvPr>
          <p:cNvSpPr>
            <a:spLocks noGrp="1"/>
          </p:cNvSpPr>
          <p:nvPr/>
        </p:nvSpPr>
        <p:spPr>
          <a:xfrm>
            <a:off x="430816" y="4905375"/>
            <a:ext cx="11293412" cy="390811"/>
          </a:xfrm>
          <a:prstGeom prst="rect">
            <a:avLst/>
          </a:prstGeom>
          <a:noFill/>
          <a:ln w="0">
            <a:noFill/>
          </a:ln>
        </p:spPr>
        <p:txBody>
          <a:bodyPr wrap="square" lIns="0" tIns="0" rIns="0" bIns="0" anchor="t">
            <a:noAutofit/>
          </a:bodyPr>
          <a:lstStyle/>
          <a:p>
            <a:pPr algn="l">
              <a:lnSpc>
                <a:spcPct val="108000"/>
              </a:lnSpc>
              <a:buNone/>
              <a:defRPr sz="2325" b="1">
                <a:solidFill>
                  <a:srgbClr val="111111"/>
                </a:solidFill>
                <a:latin typeface="Aptos"/>
                <a:ea typeface="Aptos"/>
                <a:cs typeface="Aptos"/>
              </a:defRPr>
            </a:pPr>
            <a:r>
              <a:rPr sz="2325" b="1">
                <a:solidFill>
                  <a:srgbClr val="111111"/>
                </a:solidFill>
                <a:latin typeface="Aptos"/>
                <a:ea typeface="Aptos"/>
                <a:cs typeface="Aptos"/>
              </a:rPr>
              <a:t>Subtract the amounts already calculated in C4B Q1:</a:t>
            </a:r>
          </a:p>
        </p:txBody>
      </p:sp>
      <p:sp>
        <p:nvSpPr>
          <p:cNvPr id="17" name="Clarified text 244">
            <a:extLst>
              <a:ext uri="{FF2B5EF4-FFF2-40B4-BE49-F238E27FC236}">
                <a16:creationId xmlns:a16="http://schemas.microsoft.com/office/drawing/2014/main" id="{3FB28CDA-6AE4-4AE5-98BA-16FFFE29EA14}"/>
              </a:ext>
            </a:extLst>
          </p:cNvPr>
          <p:cNvSpPr>
            <a:spLocks noGrp="1"/>
          </p:cNvSpPr>
          <p:nvPr/>
        </p:nvSpPr>
        <p:spPr>
          <a:xfrm>
            <a:off x="430816" y="539143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Extra B = 121.477162… − 119.176241… ≈ 2.3 kg.</a:t>
            </a:r>
          </a:p>
        </p:txBody>
      </p:sp>
      <p:sp>
        <p:nvSpPr>
          <p:cNvPr id="18" name="Clarified text 245">
            <a:extLst>
              <a:ext uri="{FF2B5EF4-FFF2-40B4-BE49-F238E27FC236}">
                <a16:creationId xmlns:a16="http://schemas.microsoft.com/office/drawing/2014/main" id="{1007A290-2B11-4F70-9F53-01ADD33DCE49}"/>
              </a:ext>
            </a:extLst>
          </p:cNvPr>
          <p:cNvSpPr>
            <a:spLocks noGrp="1"/>
          </p:cNvSpPr>
          <p:nvPr/>
        </p:nvSpPr>
        <p:spPr>
          <a:xfrm>
            <a:off x="430816" y="5877496"/>
            <a:ext cx="11293412" cy="390811"/>
          </a:xfrm>
          <a:prstGeom prst="rect">
            <a:avLst/>
          </a:prstGeom>
          <a:noFill/>
          <a:ln w="0">
            <a:noFill/>
          </a:ln>
        </p:spPr>
        <p:txBody>
          <a:bodyPr wrap="square" lIns="0" tIns="0" rIns="0" bIns="0" anchor="t">
            <a:noAutofit/>
          </a:bodyPr>
          <a:lstStyle/>
          <a:p>
            <a:pPr algn="l">
              <a:lnSpc>
                <a:spcPct val="108000"/>
              </a:lnSpc>
              <a:buNone/>
              <a:defRPr sz="2325" b="0">
                <a:solidFill>
                  <a:srgbClr val="111111"/>
                </a:solidFill>
                <a:latin typeface="Aptos"/>
                <a:ea typeface="Aptos"/>
                <a:cs typeface="Aptos"/>
              </a:defRPr>
            </a:pPr>
            <a:r>
              <a:rPr sz="2325" b="0">
                <a:solidFill>
                  <a:srgbClr val="111111"/>
                </a:solidFill>
                <a:latin typeface="Aptos"/>
                <a:ea typeface="Aptos"/>
                <a:cs typeface="Aptos"/>
              </a:rPr>
              <a:t>Extra C = 72.886297… − 71.505745… ≈ 1.4 kg.</a:t>
            </a:r>
          </a:p>
        </p:txBody>
      </p:sp>
    </p:spTree>
    <p:extLst>
      <p:ext uri="{BB962C8B-B14F-4D97-AF65-F5344CB8AC3E}">
        <p14:creationId xmlns:p14="http://schemas.microsoft.com/office/powerpoint/2010/main" val="4158798959"/>
      </p:ext>
    </p:extLst>
  </p:cSld>
  <p:clrMapOvr>
    <a:masterClrMapping/>
  </p:clrMapOvr>
</p:sld>
</file>

<file path=ppt/theme/theme1.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8872</Words>
  <Application>Microsoft Macintosh PowerPoint</Application>
  <DocSecurity>0</DocSecurity>
  <PresentationFormat>Widescreen</PresentationFormat>
  <Paragraphs>877</Paragraphs>
  <Slides>52</Slides>
  <Notes>52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Aptos</vt:lpstr>
      <vt:lpstr>Aptos Display</vt:lpstr>
      <vt:lpstr>Arial</vt:lpstr>
      <vt:lpstr>Office Theme</vt:lpstr>
      <vt:lpstr>IFY Statistics Semester 1 • Week 1 • Class C  Mathematical Foundations III GreenSip Case Workshop</vt:lpstr>
      <vt:lpstr>Your Week 1 toolkit</vt:lpstr>
      <vt:lpstr>Live poll: Choose your bottle</vt:lpstr>
      <vt:lpstr>Record our class data</vt:lpstr>
      <vt:lpstr>Section 1: Customer Evidence</vt:lpstr>
      <vt:lpstr>C1A: Recover the missing overlap</vt:lpstr>
      <vt:lpstr>C1A: Venn answers</vt:lpstr>
      <vt:lpstr>C1B: Same data, different denominator</vt:lpstr>
      <vt:lpstr>C1B: Three percentages</vt:lpstr>
      <vt:lpstr>Think: What does the survey support?</vt:lpstr>
      <vt:lpstr>Think: Evidence and limits</vt:lpstr>
      <vt:lpstr>Section 2: Product Choices</vt:lpstr>
      <vt:lpstr>C2A: Versions with restrictions</vt:lpstr>
      <vt:lpstr>C2A: Restrictions and remainders</vt:lpstr>
      <vt:lpstr>C2B: Testers and different roles</vt:lpstr>
      <vt:lpstr>C2B: Selection and role allocation</vt:lpstr>
      <vt:lpstr>Section 3: Production and Packaging</vt:lpstr>
      <vt:lpstr>C3A: A mixed-unit packing equation</vt:lpstr>
      <vt:lpstr>C3A: Equation and conversion</vt:lpstr>
      <vt:lpstr>C3B: The packed shipment</vt:lpstr>
      <vt:lpstr>C3B: Gross mass and stone limit</vt:lpstr>
      <vt:lpstr>C3C: The border equation</vt:lpstr>
      <vt:lpstr>C3C: Building the quadratic equation</vt:lpstr>
      <vt:lpstr>C3C: Which root fits the card?</vt:lpstr>
      <vt:lpstr>C3C: Feet, inches and the opening</vt:lpstr>
      <vt:lpstr>C3C: The two dimension checks</vt:lpstr>
      <vt:lpstr>Section 4: Materials and Proportion</vt:lpstr>
      <vt:lpstr>C4A: Two stages of material loss</vt:lpstr>
      <vt:lpstr>C4A: Working back to the input</vt:lpstr>
      <vt:lpstr>C4A: How much material is lost?</vt:lpstr>
      <vt:lpstr>C4B: A three-material mixture</vt:lpstr>
      <vt:lpstr>C4B: Mixture and whole sacks</vt:lpstr>
      <vt:lpstr>C4C: Which gallon?</vt:lpstr>
      <vt:lpstr>C4C: Capacity and complete washes</vt:lpstr>
      <vt:lpstr>Section 5: Discounts and Decision</vt:lpstr>
      <vt:lpstr>C5A: Orders and charged prices</vt:lpstr>
      <vt:lpstr>C5A: Order split and prices</vt:lpstr>
      <vt:lpstr>C5A: The ¥78,000 target</vt:lpstr>
      <vt:lpstr>C5A: Total money and the target</vt:lpstr>
      <vt:lpstr>C5A: Why the rounding rule matters</vt:lpstr>
      <vt:lpstr>C5B: Two discounts on one bottle</vt:lpstr>
      <vt:lpstr>C5B: The two different starting prices</vt:lpstr>
      <vt:lpstr>Think: What can the numbers establish?</vt:lpstr>
      <vt:lpstr>Think: Calculations and uncertainty</vt:lpstr>
      <vt:lpstr>C6: Individual exit check</vt:lpstr>
      <vt:lpstr>C6: Independent check answers</vt:lpstr>
      <vt:lpstr>What we can do now</vt:lpstr>
      <vt:lpstr>Optional C2B: Why 120 × 3 × 3?</vt:lpstr>
      <vt:lpstr>Optional C3B: Full cartons first</vt:lpstr>
      <vt:lpstr>Optional C3B: The partly filled carton</vt:lpstr>
      <vt:lpstr>Optional C3C: A non-integer border</vt:lpstr>
      <vt:lpstr>Optional C4B: Extra B and 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Jacob Mlynarski</cp:lastModifiedBy>
  <cp:revision>1</cp:revision>
  <dcterms:created xsi:type="dcterms:W3CDTF">2026-09-16T11:19:52Z</dcterms:created>
  <dcterms:modified xsi:type="dcterms:W3CDTF">2026-10-06T00:52:02Z</dcterms:modified>
</cp:coreProperties>
</file>